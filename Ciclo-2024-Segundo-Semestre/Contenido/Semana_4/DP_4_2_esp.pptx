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DC35C34-6192-4DC3-BF6A-42042170C1E8}">
  <a:tblStyle styleId="{3DC35C34-6192-4DC3-BF6A-42042170C1E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2034c7be4f_0_71:notes"/>
          <p:cNvSpPr/>
          <p:nvPr>
            <p:ph idx="2" type="sldImg"/>
          </p:nvPr>
        </p:nvSpPr>
        <p:spPr>
          <a:xfrm>
            <a:off x="1524400" y="514350"/>
            <a:ext cx="6096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2034c7be4f_0_7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13:50:21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uso de la función ROUND con fechas se tratará en una lección posterior.</a:t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13:50:22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uso de la función TRUNC con fechas se tratará en una lección posterior.</a:t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13:50:22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Nota: el operador de módulo se utiliza en muchos lenguajes de programación, y devuelve el resto de una operación de división.</a:t>
            </a:r>
            <a:endParaRPr/>
          </a:p>
        </p:txBody>
      </p:sp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92112" y="748031"/>
            <a:ext cx="36582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3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83552" y="1393401"/>
            <a:ext cx="8124900" cy="26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5172119" y="6589648"/>
            <a:ext cx="32232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2855904" y="6510552"/>
            <a:ext cx="9639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showMasterSp="0" type="obj">
  <p:cSld name="OBJEC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6858000" w="9144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DFE1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" name="Google Shape;5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023" y="192023"/>
            <a:ext cx="8759950" cy="91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3" y="5751576"/>
            <a:ext cx="8759950" cy="91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34895" y="2514600"/>
            <a:ext cx="5474207" cy="182879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5172119" y="6589648"/>
            <a:ext cx="32232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2855904" y="6510552"/>
            <a:ext cx="9639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69" name="Google Shape;69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" name="Google Shape;70;p15"/>
            <p:cNvSpPr/>
            <p:nvPr/>
          </p:nvSpPr>
          <p:spPr>
            <a:xfrm>
              <a:off x="560831" y="702563"/>
              <a:ext cx="8022590" cy="5453380"/>
            </a:xfrm>
            <a:custGeom>
              <a:rect b="b" l="l" r="r" t="t"/>
              <a:pathLst>
                <a:path extrusionOk="0" h="5453380" w="802259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DFE1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1" name="Google Shape;71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0787" y="5570219"/>
              <a:ext cx="1258823" cy="420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" name="Google Shape;72;p15"/>
          <p:cNvSpPr txBox="1"/>
          <p:nvPr/>
        </p:nvSpPr>
        <p:spPr>
          <a:xfrm>
            <a:off x="5057819" y="6562597"/>
            <a:ext cx="3223260" cy="15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CEFD9"/>
                </a:solidFill>
                <a:latin typeface="Calibri"/>
                <a:ea typeface="Calibri"/>
                <a:cs typeface="Calibri"/>
                <a:sym typeface="Calibri"/>
              </a:rPr>
              <a:t>Copyright © 2020, Oracle y/o sus filiales. Todos los derechos reservados.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 txBox="1"/>
          <p:nvPr>
            <p:ph type="title"/>
          </p:nvPr>
        </p:nvSpPr>
        <p:spPr>
          <a:xfrm>
            <a:off x="958315" y="862895"/>
            <a:ext cx="70479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3650">
            <a:spAutoFit/>
          </a:bodyPr>
          <a:lstStyle/>
          <a:p>
            <a:pPr indent="0" lvl="0" marL="12700" marR="5080" rtl="0" algn="l">
              <a:lnSpc>
                <a:spcPct val="96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Database Programming with SQL</a:t>
            </a:r>
            <a:endParaRPr sz="4800"/>
          </a:p>
        </p:txBody>
      </p:sp>
      <p:sp>
        <p:nvSpPr>
          <p:cNvPr id="74" name="Google Shape;74;p15"/>
          <p:cNvSpPr txBox="1"/>
          <p:nvPr/>
        </p:nvSpPr>
        <p:spPr>
          <a:xfrm>
            <a:off x="962879" y="2400950"/>
            <a:ext cx="2713990" cy="888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4-2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Funciones Numéricas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89378" y="3500213"/>
            <a:ext cx="5058157" cy="2965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Persistencia VS Almacenamiento de datos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2325233"/>
            <a:ext cx="3909000" cy="45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refiere a la característica de los datos que garantiza que estos se mantengan disponibles y no se pierdan después de la finalización del programa que los generó o manipuló.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Es el acto de almacenar datos de manera que sobrevivan al cierre de la aplicación que los creó.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311700" y="1574300"/>
            <a:ext cx="256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8DB63"/>
                </a:solidFill>
                <a:latin typeface="Consolas"/>
                <a:ea typeface="Consolas"/>
                <a:cs typeface="Consolas"/>
                <a:sym typeface="Consolas"/>
              </a:rPr>
              <a:t>PERSISTENCIA</a:t>
            </a:r>
            <a:endParaRPr b="1" sz="1800">
              <a:solidFill>
                <a:srgbClr val="D8DB6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4716325" y="1574300"/>
            <a:ext cx="256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8DB63"/>
                </a:solidFill>
                <a:latin typeface="Consolas"/>
                <a:ea typeface="Consolas"/>
                <a:cs typeface="Consolas"/>
                <a:sym typeface="Consolas"/>
              </a:rPr>
              <a:t>ALMACENAMIENTO DE DATOS</a:t>
            </a:r>
            <a:endParaRPr b="1" sz="1800">
              <a:solidFill>
                <a:srgbClr val="D8DB6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4716325" y="2325233"/>
            <a:ext cx="3909000" cy="45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refiere al acto físico de guardar datos en un medio de almacenamiento, como discos duros, unidades SSD, memorias flash, o cualquier otro dispositivo físico o virtual que pueda almacenar datos.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92112" y="748031"/>
            <a:ext cx="3658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Objetivos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483552" y="1393401"/>
            <a:ext cx="8124900" cy="29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3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/>
              <a:t>En esta lección se abordan los siguientes objetivos:</a:t>
            </a:r>
            <a:endParaRPr/>
          </a:p>
          <a:p>
            <a:pPr indent="-175260" lvl="0" marL="530860" marR="114935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Seleccionar y aplicar las funciones numéricas de una sola fila ROUND TRUNC y MOD en una consulta SQL</a:t>
            </a:r>
            <a:endParaRPr sz="2400"/>
          </a:p>
          <a:p>
            <a:pPr indent="-175260" lvl="0" marL="530860" marR="25654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Distinguir entre los resultados obtenidos al aplicar TRUNC a un valor numérico y aplicar ROUND a un valor numérico</a:t>
            </a:r>
            <a:endParaRPr sz="2400"/>
          </a:p>
          <a:p>
            <a:pPr indent="-175260" lvl="0" marL="530860" marR="5080" rtl="0" algn="l">
              <a:lnSpc>
                <a:spcPct val="107916"/>
              </a:lnSpc>
              <a:spcBef>
                <a:spcPts val="400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Las consecuencias de negocio al aplicar los valores numéricos TRUNC y ROUND</a:t>
            </a:r>
            <a:endParaRPr sz="2400"/>
          </a:p>
        </p:txBody>
      </p:sp>
      <p:grpSp>
        <p:nvGrpSpPr>
          <p:cNvPr id="91" name="Google Shape;91;p17"/>
          <p:cNvGrpSpPr/>
          <p:nvPr/>
        </p:nvGrpSpPr>
        <p:grpSpPr>
          <a:xfrm>
            <a:off x="5173979" y="3732276"/>
            <a:ext cx="3337559" cy="2638043"/>
            <a:chOff x="5173979" y="3732276"/>
            <a:chExt cx="3337559" cy="2638043"/>
          </a:xfrm>
        </p:grpSpPr>
        <p:pic>
          <p:nvPicPr>
            <p:cNvPr id="92" name="Google Shape;92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73979" y="3732276"/>
              <a:ext cx="3337559" cy="26380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66003" y="3924300"/>
              <a:ext cx="2953511" cy="22539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17"/>
          <p:cNvSpPr txBox="1"/>
          <p:nvPr>
            <p:ph idx="10" type="dt"/>
          </p:nvPr>
        </p:nvSpPr>
        <p:spPr>
          <a:xfrm>
            <a:off x="2855904" y="6510552"/>
            <a:ext cx="963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Numéricas</a:t>
            </a:r>
            <a:endParaRPr/>
          </a:p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92112" y="748031"/>
            <a:ext cx="3658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</a:t>
            </a:r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483552" y="1415417"/>
            <a:ext cx="7865109" cy="2960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Uno de los motivos por los que ponemos nuestro 	dinero en un banco es para aprovechar el interés que 	acumula a lo largo del tiempo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252729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Los bancos ajustan el tipo de interés con diversos 	indicadores económicos como la inflación y la bolsa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44195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Normalmente, los tipos de interés se expresan en 	forma de porcentaje, como 3,45 %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" name="Google Shape;103;p18"/>
          <p:cNvGrpSpPr/>
          <p:nvPr/>
        </p:nvGrpSpPr>
        <p:grpSpPr>
          <a:xfrm>
            <a:off x="6056376" y="4154424"/>
            <a:ext cx="2772155" cy="1990343"/>
            <a:chOff x="6056376" y="4154424"/>
            <a:chExt cx="2772155" cy="1990343"/>
          </a:xfrm>
        </p:grpSpPr>
        <p:pic>
          <p:nvPicPr>
            <p:cNvPr id="104" name="Google Shape;104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56376" y="5548884"/>
              <a:ext cx="2772155" cy="5958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Google Shape;105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30568" y="4154424"/>
              <a:ext cx="1920238" cy="191260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8"/>
          <p:cNvSpPr txBox="1"/>
          <p:nvPr>
            <p:ph idx="10" type="dt"/>
          </p:nvPr>
        </p:nvSpPr>
        <p:spPr>
          <a:xfrm>
            <a:off x="2855904" y="6510552"/>
            <a:ext cx="963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Numéricas</a:t>
            </a:r>
            <a:endParaRPr/>
          </a:p>
        </p:txBody>
      </p:sp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8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392112" y="748031"/>
            <a:ext cx="3658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</a:t>
            </a:r>
            <a:endParaRPr/>
          </a:p>
        </p:txBody>
      </p:sp>
      <p:sp>
        <p:nvSpPr>
          <p:cNvPr id="114" name="Google Shape;114;p19"/>
          <p:cNvSpPr txBox="1"/>
          <p:nvPr/>
        </p:nvSpPr>
        <p:spPr>
          <a:xfrm>
            <a:off x="483552" y="1415417"/>
            <a:ext cx="7944484" cy="3344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un banco decidiera redondear la tasa de porcentaje 	al 3,5 %, ¿representaría una ventaja para usted?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1308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decidiera tan solo borrar los valores decimales y 	calcular el interés a un 3 %, ¿le haría feliz?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112395" rtl="0" algn="l">
              <a:lnSpc>
                <a:spcPct val="108214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El truncado y el redondeo de números juegan una 	parte importante en los negocios y, a su vez, en las 	bases de datos que soportan dichos negocios, ya que 	almacenan y acceden a datos numéricos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p19"/>
          <p:cNvGrpSpPr/>
          <p:nvPr/>
        </p:nvGrpSpPr>
        <p:grpSpPr>
          <a:xfrm>
            <a:off x="6068567" y="4453128"/>
            <a:ext cx="2772155" cy="1990343"/>
            <a:chOff x="6068567" y="4453128"/>
            <a:chExt cx="2772155" cy="1990343"/>
          </a:xfrm>
        </p:grpSpPr>
        <p:pic>
          <p:nvPicPr>
            <p:cNvPr id="116" name="Google Shape;116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68567" y="5847588"/>
              <a:ext cx="2772155" cy="5958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42759" y="4453128"/>
              <a:ext cx="1920227" cy="19126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8" name="Google Shape;118;p19"/>
          <p:cNvSpPr txBox="1"/>
          <p:nvPr>
            <p:ph idx="10" type="dt"/>
          </p:nvPr>
        </p:nvSpPr>
        <p:spPr>
          <a:xfrm>
            <a:off x="2855904" y="6510552"/>
            <a:ext cx="963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Numéricas</a:t>
            </a:r>
            <a:endParaRPr/>
          </a:p>
        </p:txBody>
      </p:sp>
      <p:sp>
        <p:nvSpPr>
          <p:cNvPr id="119" name="Google Shape;119;p19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9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392112" y="748031"/>
            <a:ext cx="3658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Numéricas</a:t>
            </a:r>
            <a:endParaRPr/>
          </a:p>
        </p:txBody>
      </p:sp>
      <p:sp>
        <p:nvSpPr>
          <p:cNvPr id="126" name="Google Shape;126;p20"/>
          <p:cNvSpPr txBox="1"/>
          <p:nvPr/>
        </p:nvSpPr>
        <p:spPr>
          <a:xfrm>
            <a:off x="483552" y="1393401"/>
            <a:ext cx="5043170" cy="1617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3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tres funciones numéricas son: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ROUND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TRUNC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MOD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Google Shape;127;p20"/>
          <p:cNvGrpSpPr/>
          <p:nvPr/>
        </p:nvGrpSpPr>
        <p:grpSpPr>
          <a:xfrm>
            <a:off x="5049011" y="2540520"/>
            <a:ext cx="3541775" cy="3540238"/>
            <a:chOff x="5049011" y="2540520"/>
            <a:chExt cx="3541775" cy="3540238"/>
          </a:xfrm>
        </p:grpSpPr>
        <p:pic>
          <p:nvPicPr>
            <p:cNvPr id="128" name="Google Shape;12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49011" y="2540520"/>
              <a:ext cx="3541775" cy="35402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1035" y="2732531"/>
              <a:ext cx="3155154" cy="31522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" name="Google Shape;130;p20"/>
          <p:cNvSpPr txBox="1"/>
          <p:nvPr>
            <p:ph idx="10" type="dt"/>
          </p:nvPr>
        </p:nvSpPr>
        <p:spPr>
          <a:xfrm>
            <a:off x="2855904" y="6510552"/>
            <a:ext cx="963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Numéricas</a:t>
            </a:r>
            <a:endParaRPr/>
          </a:p>
        </p:txBody>
      </p:sp>
      <p:sp>
        <p:nvSpPr>
          <p:cNvPr id="131" name="Google Shape;131;p20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0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392112" y="748031"/>
            <a:ext cx="3658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ROUND</a:t>
            </a:r>
            <a:endParaRPr/>
          </a:p>
        </p:txBody>
      </p:sp>
      <p:sp>
        <p:nvSpPr>
          <p:cNvPr id="138" name="Google Shape;138;p21"/>
          <p:cNvSpPr txBox="1"/>
          <p:nvPr>
            <p:ph idx="10" type="dt"/>
          </p:nvPr>
        </p:nvSpPr>
        <p:spPr>
          <a:xfrm>
            <a:off x="2855904" y="6510552"/>
            <a:ext cx="963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Numéricas</a:t>
            </a:r>
            <a:endParaRPr/>
          </a:p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1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41" name="Google Shape;141;p21"/>
          <p:cNvSpPr txBox="1"/>
          <p:nvPr/>
        </p:nvSpPr>
        <p:spPr>
          <a:xfrm>
            <a:off x="483552" y="1359029"/>
            <a:ext cx="7562215" cy="2289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2075">
            <a:spAutoFit/>
          </a:bodyPr>
          <a:lstStyle/>
          <a:p>
            <a:pPr indent="-172720" lvl="0" marL="184785" marR="7366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ROUND se puede utilizar tanto con números como con fechas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085" lvl="0" marL="184785" rtl="0" algn="l">
              <a:lnSpc>
                <a:spcPct val="96538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Se utiliza principalmente para redondear números a un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184785" rtl="0" algn="l">
              <a:lnSpc>
                <a:spcPct val="84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número especificado de posiciones decimales, pero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184785" marR="19685" rtl="0" algn="l">
              <a:lnSpc>
                <a:spcPct val="70000"/>
              </a:lnSpc>
              <a:spcBef>
                <a:spcPts val="465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también se puede utilizar para redondear números a la izquierda de la coma decimal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247015" lvl="0" marL="259715" rtl="0" algn="l">
              <a:lnSpc>
                <a:spcPct val="114807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Sintaxis: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483552" y="3983357"/>
            <a:ext cx="8169275" cy="1736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2075">
            <a:spAutoFit/>
          </a:bodyPr>
          <a:lstStyle/>
          <a:p>
            <a:pPr indent="-172720" lvl="0" marL="184785" marR="50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Tenga en cuenta que si el número de posiciones decimales no está especificado o es cero, el número se redondeará sin decimales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085" lvl="0" marL="184785" rtl="0" algn="l">
              <a:lnSpc>
                <a:spcPct val="112307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ROUND(45.926)	46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085" lvl="0" marL="184785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ROUND(45.926, 0) 46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393191" y="3636264"/>
            <a:ext cx="8345805" cy="39814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ROUND(column|expression, decimal places)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392112" y="748031"/>
            <a:ext cx="3658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ROUND</a:t>
            </a:r>
            <a:endParaRPr/>
          </a:p>
        </p:txBody>
      </p:sp>
      <p:sp>
        <p:nvSpPr>
          <p:cNvPr id="149" name="Google Shape;149;p22"/>
          <p:cNvSpPr txBox="1"/>
          <p:nvPr>
            <p:ph idx="10" type="dt"/>
          </p:nvPr>
        </p:nvSpPr>
        <p:spPr>
          <a:xfrm>
            <a:off x="2855904" y="6510552"/>
            <a:ext cx="963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Numéricas</a:t>
            </a:r>
            <a:endParaRPr/>
          </a:p>
        </p:txBody>
      </p:sp>
      <p:sp>
        <p:nvSpPr>
          <p:cNvPr id="150" name="Google Shape;150;p22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2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52" name="Google Shape;152;p22"/>
          <p:cNvSpPr txBox="1"/>
          <p:nvPr/>
        </p:nvSpPr>
        <p:spPr>
          <a:xfrm>
            <a:off x="483552" y="1415417"/>
            <a:ext cx="8084184" cy="344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1574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el número de posiciones decimales es un número 	positivo, el número se redondea a ese número de 	posiciones decimales a la derecha de la coma decimal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3515" rtl="0" algn="l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ROUND(45.926, 2)	45.93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080" rtl="0" algn="l">
              <a:lnSpc>
                <a:spcPct val="108214"/>
              </a:lnSpc>
              <a:spcBef>
                <a:spcPts val="844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el número de posiciones decimales es un número 	negativo, el número se redondea a ese número de 	posiciones decimales a la izquierda de la coma decimal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3515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ROUND(45.926, -1)	50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392112" y="748031"/>
            <a:ext cx="3658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TRUNC</a:t>
            </a:r>
            <a:endParaRPr/>
          </a:p>
        </p:txBody>
      </p:sp>
      <p:sp>
        <p:nvSpPr>
          <p:cNvPr id="158" name="Google Shape;158;p23"/>
          <p:cNvSpPr txBox="1"/>
          <p:nvPr>
            <p:ph idx="10" type="dt"/>
          </p:nvPr>
        </p:nvSpPr>
        <p:spPr>
          <a:xfrm>
            <a:off x="2855904" y="6510552"/>
            <a:ext cx="963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Numéricas</a:t>
            </a:r>
            <a:endParaRPr/>
          </a:p>
        </p:txBody>
      </p:sp>
      <p:sp>
        <p:nvSpPr>
          <p:cNvPr id="159" name="Google Shape;159;p23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3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61" name="Google Shape;161;p23"/>
          <p:cNvSpPr txBox="1"/>
          <p:nvPr/>
        </p:nvSpPr>
        <p:spPr>
          <a:xfrm>
            <a:off x="483552" y="1381889"/>
            <a:ext cx="8045450" cy="3385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-177800" lvl="0" marL="182880" marR="50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función TRUNC se puede utilizar tanto con números 	como con fechas. Principalmente se utiliza para 	terminar la columna, la expresión o el valor en un 	número especificado de posiciones decimales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219075" rtl="0" algn="l">
              <a:lnSpc>
                <a:spcPct val="80000"/>
              </a:lnSpc>
              <a:spcBef>
                <a:spcPts val="81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Cuando se usa TRUNC, si el número de posiciones 	decimales no se ha especificado, entonces, tal como 	ocurre con ROUND, el número especificado se define 	por defecto en cero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3515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Sintaxis: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3"/>
          <p:cNvSpPr txBox="1"/>
          <p:nvPr/>
        </p:nvSpPr>
        <p:spPr>
          <a:xfrm>
            <a:off x="483552" y="5202557"/>
            <a:ext cx="398780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800" lvl="0" marL="183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TRUNC (45.926, 2)	45.92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3"/>
          <p:cNvSpPr txBox="1"/>
          <p:nvPr/>
        </p:nvSpPr>
        <p:spPr>
          <a:xfrm>
            <a:off x="405384" y="4828032"/>
            <a:ext cx="8345805" cy="33845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4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TRUNC(column|expression, decimal places)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type="title"/>
          </p:nvPr>
        </p:nvSpPr>
        <p:spPr>
          <a:xfrm>
            <a:off x="392112" y="748031"/>
            <a:ext cx="3658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TRUNC</a:t>
            </a:r>
            <a:endParaRPr/>
          </a:p>
        </p:txBody>
      </p:sp>
      <p:sp>
        <p:nvSpPr>
          <p:cNvPr id="169" name="Google Shape;169;p24"/>
          <p:cNvSpPr txBox="1"/>
          <p:nvPr>
            <p:ph idx="10" type="dt"/>
          </p:nvPr>
        </p:nvSpPr>
        <p:spPr>
          <a:xfrm>
            <a:off x="2855904" y="6510552"/>
            <a:ext cx="963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Numéricas</a:t>
            </a:r>
            <a:endParaRPr/>
          </a:p>
        </p:txBody>
      </p:sp>
      <p:sp>
        <p:nvSpPr>
          <p:cNvPr id="170" name="Google Shape;170;p24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4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72" name="Google Shape;172;p24"/>
          <p:cNvSpPr txBox="1"/>
          <p:nvPr/>
        </p:nvSpPr>
        <p:spPr>
          <a:xfrm>
            <a:off x="483552" y="1415417"/>
            <a:ext cx="7416165" cy="3931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Al igual que con ROUND, si la expresión TRUNC no 	especifica el número de posiciones decimales o 	especifica un cero, el número se trunca en cero 	posiciones decimales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3515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TRUNC (45.926, 0)	45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3515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TRUNC (45.926)	45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3515" rtl="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Recuerde que TRUNC no redondea el número.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698500" rtl="0" algn="l">
              <a:lnSpc>
                <a:spcPct val="108214"/>
              </a:lnSpc>
              <a:spcBef>
                <a:spcPts val="84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Simplemente termina el número en un punto 	determinado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/>
          <p:nvPr>
            <p:ph type="title"/>
          </p:nvPr>
        </p:nvSpPr>
        <p:spPr>
          <a:xfrm>
            <a:off x="392112" y="748031"/>
            <a:ext cx="3658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</a:t>
            </a:r>
            <a:endParaRPr/>
          </a:p>
        </p:txBody>
      </p:sp>
      <p:sp>
        <p:nvSpPr>
          <p:cNvPr id="178" name="Google Shape;178;p25"/>
          <p:cNvSpPr txBox="1"/>
          <p:nvPr>
            <p:ph idx="10" type="dt"/>
          </p:nvPr>
        </p:nvSpPr>
        <p:spPr>
          <a:xfrm>
            <a:off x="2855904" y="6510552"/>
            <a:ext cx="963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Numéricas</a:t>
            </a:r>
            <a:endParaRPr/>
          </a:p>
        </p:txBody>
      </p:sp>
      <p:sp>
        <p:nvSpPr>
          <p:cNvPr id="179" name="Google Shape;179;p25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5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81" name="Google Shape;181;p25"/>
          <p:cNvSpPr txBox="1"/>
          <p:nvPr/>
        </p:nvSpPr>
        <p:spPr>
          <a:xfrm>
            <a:off x="483552" y="1415417"/>
            <a:ext cx="8033384" cy="344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función MOD encuentra el resto después de que un 	valor se divida entre otro valor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3515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Por ejemplo, el MOD de 5 dividido entre 2 es 1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251460" rtl="0" algn="l">
              <a:lnSpc>
                <a:spcPct val="108214"/>
              </a:lnSpc>
              <a:spcBef>
                <a:spcPts val="844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MOD se puede utilizar para determinar si un valor es 	par o impar. Si se divide un valor entre 2 y no hay 	ningún resto, el número debe ser un número par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755015" rtl="0" algn="l">
              <a:lnSpc>
                <a:spcPct val="108214"/>
              </a:lnSpc>
              <a:spcBef>
                <a:spcPts val="77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Por ejemplo, si el MOD de x dividido entre 2 es 0, 	entonces, x debe ser un número par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title"/>
          </p:nvPr>
        </p:nvSpPr>
        <p:spPr>
          <a:xfrm>
            <a:off x="392112" y="748031"/>
            <a:ext cx="3658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</a:t>
            </a:r>
            <a:endParaRPr/>
          </a:p>
        </p:txBody>
      </p:sp>
      <p:sp>
        <p:nvSpPr>
          <p:cNvPr id="187" name="Google Shape;187;p26"/>
          <p:cNvSpPr txBox="1"/>
          <p:nvPr>
            <p:ph idx="10" type="dt"/>
          </p:nvPr>
        </p:nvSpPr>
        <p:spPr>
          <a:xfrm>
            <a:off x="2855904" y="6510552"/>
            <a:ext cx="963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Numéricas</a:t>
            </a:r>
            <a:endParaRPr/>
          </a:p>
        </p:txBody>
      </p:sp>
      <p:sp>
        <p:nvSpPr>
          <p:cNvPr id="188" name="Google Shape;188;p26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90" name="Google Shape;190;p26"/>
          <p:cNvSpPr txBox="1"/>
          <p:nvPr/>
        </p:nvSpPr>
        <p:spPr>
          <a:xfrm>
            <a:off x="483552" y="1415417"/>
            <a:ext cx="7654290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columna "Mod Demo" mostrará si el número de 	aeropuertos de cada país es un número par o impar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 txBox="1"/>
          <p:nvPr/>
        </p:nvSpPr>
        <p:spPr>
          <a:xfrm>
            <a:off x="483552" y="3742565"/>
            <a:ext cx="4233545" cy="122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1 Significa que el número es 	impar, y cero significa que 	es par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2" name="Google Shape;192;p26"/>
          <p:cNvGraphicFramePr/>
          <p:nvPr/>
        </p:nvGraphicFramePr>
        <p:xfrm>
          <a:off x="5417779" y="24110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{3DC35C34-6192-4DC3-BF6A-42042170C1E8}</a:tableStyleId>
              </a:tblPr>
              <a:tblGrid>
                <a:gridCol w="2089775"/>
                <a:gridCol w="1099175"/>
              </a:tblGrid>
              <a:tr h="4114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COUNTRY_NAME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1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 Demo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1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Canada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Republic of Costa Rica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Republic of Cape Verde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Greenland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Dominican Republic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 of Eritrea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3" name="Google Shape;193;p26"/>
          <p:cNvSpPr txBox="1"/>
          <p:nvPr/>
        </p:nvSpPr>
        <p:spPr>
          <a:xfrm>
            <a:off x="405384" y="2417064"/>
            <a:ext cx="4944110" cy="110045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111125">
            <a:spAutoFit/>
          </a:bodyPr>
          <a:lstStyle/>
          <a:p>
            <a:pPr indent="0" lvl="0" marL="0" marR="215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country_name, MOD(airports,2) AS "Mod Demo"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wf_countries;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/>
          <p:nvPr>
            <p:ph type="title"/>
          </p:nvPr>
        </p:nvSpPr>
        <p:spPr>
          <a:xfrm>
            <a:off x="392112" y="748031"/>
            <a:ext cx="3658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Terminología</a:t>
            </a:r>
            <a:endParaRPr/>
          </a:p>
        </p:txBody>
      </p:sp>
      <p:sp>
        <p:nvSpPr>
          <p:cNvPr id="199" name="Google Shape;199;p27"/>
          <p:cNvSpPr txBox="1"/>
          <p:nvPr>
            <p:ph idx="10" type="dt"/>
          </p:nvPr>
        </p:nvSpPr>
        <p:spPr>
          <a:xfrm>
            <a:off x="2855904" y="6510552"/>
            <a:ext cx="963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Numéricas</a:t>
            </a:r>
            <a:endParaRPr/>
          </a:p>
        </p:txBody>
      </p:sp>
      <p:sp>
        <p:nvSpPr>
          <p:cNvPr id="200" name="Google Shape;200;p27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7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02" name="Google Shape;202;p27"/>
          <p:cNvSpPr txBox="1"/>
          <p:nvPr/>
        </p:nvSpPr>
        <p:spPr>
          <a:xfrm>
            <a:off x="483552" y="1415417"/>
            <a:ext cx="7704455" cy="2360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Entre los términos clave utilizados en esta lección se 	incluyen: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Funciones de número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MOD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ROUND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TRUNC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 txBox="1"/>
          <p:nvPr>
            <p:ph type="title"/>
          </p:nvPr>
        </p:nvSpPr>
        <p:spPr>
          <a:xfrm>
            <a:off x="392112" y="748031"/>
            <a:ext cx="3658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Resumen</a:t>
            </a:r>
            <a:endParaRPr/>
          </a:p>
        </p:txBody>
      </p:sp>
      <p:sp>
        <p:nvSpPr>
          <p:cNvPr id="208" name="Google Shape;208;p28"/>
          <p:cNvSpPr txBox="1"/>
          <p:nvPr>
            <p:ph idx="1" type="body"/>
          </p:nvPr>
        </p:nvSpPr>
        <p:spPr>
          <a:xfrm>
            <a:off x="483552" y="1393401"/>
            <a:ext cx="8124900" cy="29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3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/>
              <a:t>En esta lección, debe haber aprendido lo siguiente:</a:t>
            </a:r>
            <a:endParaRPr/>
          </a:p>
          <a:p>
            <a:pPr indent="-175260" lvl="0" marL="530860" marR="114935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Seleccionar y aplicar las funciones numéricas de una sola fila ROUND TRUNC y MOD en una consulta SQL</a:t>
            </a:r>
            <a:endParaRPr sz="2400"/>
          </a:p>
          <a:p>
            <a:pPr indent="-175260" lvl="0" marL="530860" marR="25654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Distinguir entre los resultados obtenidos al aplicar TRUNC a un valor numérico y aplicar ROUND a un valor numérico</a:t>
            </a:r>
            <a:endParaRPr sz="2400"/>
          </a:p>
          <a:p>
            <a:pPr indent="-175260" lvl="0" marL="530860" marR="5080" rtl="0" algn="l">
              <a:lnSpc>
                <a:spcPct val="107916"/>
              </a:lnSpc>
              <a:spcBef>
                <a:spcPts val="400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Las consecuencias de negocio al aplicar los valores numéricos TRUNC y ROUND</a:t>
            </a:r>
            <a:endParaRPr sz="2400"/>
          </a:p>
        </p:txBody>
      </p:sp>
      <p:grpSp>
        <p:nvGrpSpPr>
          <p:cNvPr id="209" name="Google Shape;209;p28"/>
          <p:cNvGrpSpPr/>
          <p:nvPr/>
        </p:nvGrpSpPr>
        <p:grpSpPr>
          <a:xfrm>
            <a:off x="4669548" y="3997452"/>
            <a:ext cx="4140694" cy="2261615"/>
            <a:chOff x="4669548" y="3997452"/>
            <a:chExt cx="4140694" cy="2261615"/>
          </a:xfrm>
        </p:grpSpPr>
        <p:pic>
          <p:nvPicPr>
            <p:cNvPr id="210" name="Google Shape;21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69548" y="3997452"/>
              <a:ext cx="4140694" cy="22616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61560" y="4189476"/>
              <a:ext cx="3756659" cy="187756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2" name="Google Shape;212;p28"/>
          <p:cNvSpPr txBox="1"/>
          <p:nvPr>
            <p:ph idx="10" type="dt"/>
          </p:nvPr>
        </p:nvSpPr>
        <p:spPr>
          <a:xfrm>
            <a:off x="2855904" y="6510552"/>
            <a:ext cx="963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Numéricas</a:t>
            </a:r>
            <a:endParaRPr/>
          </a:p>
        </p:txBody>
      </p:sp>
      <p:sp>
        <p:nvSpPr>
          <p:cNvPr id="213" name="Google Shape;213;p28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8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