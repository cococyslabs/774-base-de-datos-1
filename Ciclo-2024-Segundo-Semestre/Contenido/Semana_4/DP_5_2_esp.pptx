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5E3C50-BC13-41F1-A54B-A67574026CEC}">
  <a:tblStyle styleId="{6A5E3C50-BC13-41F1-A54B-A67574026CEC}"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13:52:04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Gran parte de la potencia de SQL se dedica a emular las decisiones que tenemos que tomar cada día. Necesitamos el formato de fecha cambiado para cumplir con el formato de escritura de otro país.  Es necesario emitir cheques de nóminas que incluyan signos de monedas en lugar de solo números. </a:t>
            </a:r>
            <a:endParaRPr/>
          </a:p>
        </p:txBody>
      </p:sp>
      <p:sp>
        <p:nvSpPr>
          <p:cNvPr id="82" name="Google Shape;8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13:52:06</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Las funciones anidadas se evalúan a partir de la función más profunda, continuando hacia la  menos profunda.</a:t>
            </a:r>
            <a:endParaRPr/>
          </a:p>
        </p:txBody>
      </p:sp>
      <p:sp>
        <p:nvSpPr>
          <p:cNvPr id="113" name="Google Shape;113;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13:52:09</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Los valores NULL de las tablas se han sustituido mediante la función NVL (resaltada en rojo).</a:t>
            </a:r>
            <a:endParaRPr/>
          </a:p>
        </p:txBody>
      </p:sp>
      <p:sp>
        <p:nvSpPr>
          <p:cNvPr id="164" name="Google Shape;164;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13:52:11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LONG es un tipo de dato de caracteres de longitud variable de hasta 2 GB de tamaño. Los tipos de dato se tratan más detalladamente más adelante en el curso.</a:t>
            </a:r>
            <a:endParaRPr/>
          </a:p>
        </p:txBody>
      </p:sp>
      <p:sp>
        <p:nvSpPr>
          <p:cNvPr id="194" name="Google Shape;194;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13:52:11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NVL2 comprueba si la expresión 1 (commission_pct) tiene un valor. Si tiene un valor, se devuelve  la expresión 2 (salary + (salary * commission_pct). Si la expresión 1 es NULL, se devuelve la  expresión 3 (salary).</a:t>
            </a:r>
            <a:endParaRPr/>
          </a:p>
        </p:txBody>
      </p:sp>
      <p:sp>
        <p:nvSpPr>
          <p:cNvPr id="214" name="Google Shape;214;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13:52:13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A menudo se utilizan funciones NULLIF después de realizar proyectos de migración de datos para probar si los datos del sistema de destino son los mismos que en los sistemas de origen iniciales. Por lo tanto,  se utiliza NULLIF para buscar excepciones, no coincidencias, normalmente valores nulos como resultado  de un valor NULLIF correcto, ya que desea que los datos de los sistemas de origen y destino sean exactamente los mismos.</a:t>
            </a:r>
            <a:endParaRPr/>
          </a:p>
        </p:txBody>
      </p:sp>
      <p:sp>
        <p:nvSpPr>
          <p:cNvPr id="235" name="Google Shape;235;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748031"/>
            <a:ext cx="67089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74027" y="1393401"/>
            <a:ext cx="8196000" cy="44031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2874191" y="6516395"/>
            <a:ext cx="7263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lvl1pPr indent="0" lvl="0" marL="38100">
              <a:lnSpc>
                <a:spcPct val="104500"/>
              </a:lnSpc>
              <a:spcBef>
                <a:spcPts val="0"/>
              </a:spcBef>
              <a:buNone/>
              <a:defRPr b="1" i="0" sz="1000">
                <a:solidFill>
                  <a:srgbClr val="4E3629"/>
                </a:solidFill>
                <a:latin typeface="Calibri"/>
                <a:ea typeface="Calibri"/>
                <a:cs typeface="Calibri"/>
                <a:sym typeface="Calibri"/>
              </a:defRPr>
            </a:lvl1pPr>
            <a:lvl2pPr indent="0" lvl="1" marL="38100">
              <a:lnSpc>
                <a:spcPct val="104500"/>
              </a:lnSpc>
              <a:spcBef>
                <a:spcPts val="0"/>
              </a:spcBef>
              <a:buNone/>
              <a:defRPr b="1" i="0" sz="1000">
                <a:solidFill>
                  <a:srgbClr val="4E3629"/>
                </a:solidFill>
                <a:latin typeface="Calibri"/>
                <a:ea typeface="Calibri"/>
                <a:cs typeface="Calibri"/>
                <a:sym typeface="Calibri"/>
              </a:defRPr>
            </a:lvl2pPr>
            <a:lvl3pPr indent="0" lvl="2" marL="38100">
              <a:lnSpc>
                <a:spcPct val="104500"/>
              </a:lnSpc>
              <a:spcBef>
                <a:spcPts val="0"/>
              </a:spcBef>
              <a:buNone/>
              <a:defRPr b="1" i="0" sz="1000">
                <a:solidFill>
                  <a:srgbClr val="4E3629"/>
                </a:solidFill>
                <a:latin typeface="Calibri"/>
                <a:ea typeface="Calibri"/>
                <a:cs typeface="Calibri"/>
                <a:sym typeface="Calibri"/>
              </a:defRPr>
            </a:lvl3pPr>
            <a:lvl4pPr indent="0" lvl="3" marL="38100">
              <a:lnSpc>
                <a:spcPct val="104500"/>
              </a:lnSpc>
              <a:spcBef>
                <a:spcPts val="0"/>
              </a:spcBef>
              <a:buNone/>
              <a:defRPr b="1" i="0" sz="1000">
                <a:solidFill>
                  <a:srgbClr val="4E3629"/>
                </a:solidFill>
                <a:latin typeface="Calibri"/>
                <a:ea typeface="Calibri"/>
                <a:cs typeface="Calibri"/>
                <a:sym typeface="Calibri"/>
              </a:defRPr>
            </a:lvl4pPr>
            <a:lvl5pPr indent="0" lvl="4" marL="38100">
              <a:lnSpc>
                <a:spcPct val="104500"/>
              </a:lnSpc>
              <a:spcBef>
                <a:spcPts val="0"/>
              </a:spcBef>
              <a:buNone/>
              <a:defRPr b="1" i="0" sz="1000">
                <a:solidFill>
                  <a:srgbClr val="4E3629"/>
                </a:solidFill>
                <a:latin typeface="Calibri"/>
                <a:ea typeface="Calibri"/>
                <a:cs typeface="Calibri"/>
                <a:sym typeface="Calibri"/>
              </a:defRPr>
            </a:lvl5pPr>
            <a:lvl6pPr indent="0" lvl="5" marL="38100">
              <a:lnSpc>
                <a:spcPct val="104500"/>
              </a:lnSpc>
              <a:spcBef>
                <a:spcPts val="0"/>
              </a:spcBef>
              <a:buNone/>
              <a:defRPr b="1" i="0" sz="1000">
                <a:solidFill>
                  <a:srgbClr val="4E3629"/>
                </a:solidFill>
                <a:latin typeface="Calibri"/>
                <a:ea typeface="Calibri"/>
                <a:cs typeface="Calibri"/>
                <a:sym typeface="Calibri"/>
              </a:defRPr>
            </a:lvl6pPr>
            <a:lvl7pPr indent="0" lvl="6" marL="38100">
              <a:lnSpc>
                <a:spcPct val="104500"/>
              </a:lnSpc>
              <a:spcBef>
                <a:spcPts val="0"/>
              </a:spcBef>
              <a:buNone/>
              <a:defRPr b="1" i="0" sz="1000">
                <a:solidFill>
                  <a:srgbClr val="4E3629"/>
                </a:solidFill>
                <a:latin typeface="Calibri"/>
                <a:ea typeface="Calibri"/>
                <a:cs typeface="Calibri"/>
                <a:sym typeface="Calibri"/>
              </a:defRPr>
            </a:lvl7pPr>
            <a:lvl8pPr indent="0" lvl="7" marL="38100">
              <a:lnSpc>
                <a:spcPct val="104500"/>
              </a:lnSpc>
              <a:spcBef>
                <a:spcPts val="0"/>
              </a:spcBef>
              <a:buNone/>
              <a:defRPr b="1" i="0" sz="1000">
                <a:solidFill>
                  <a:srgbClr val="4E3629"/>
                </a:solidFill>
                <a:latin typeface="Calibri"/>
                <a:ea typeface="Calibri"/>
                <a:cs typeface="Calibri"/>
                <a:sym typeface="Calibri"/>
              </a:defRPr>
            </a:lvl8pPr>
            <a:lvl9pPr indent="0" lvl="8" marL="38100">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62895"/>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14"/>
          <p:cNvSpPr txBox="1"/>
          <p:nvPr/>
        </p:nvSpPr>
        <p:spPr>
          <a:xfrm>
            <a:off x="962879" y="2400950"/>
            <a:ext cx="2025650"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5-2</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Funciones NULL</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479802" y="3484988"/>
            <a:ext cx="5059680" cy="2971798"/>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73" name="Google Shape;73;p15"/>
          <p:cNvSpPr txBox="1"/>
          <p:nvPr>
            <p:ph idx="1" type="body"/>
          </p:nvPr>
        </p:nvSpPr>
        <p:spPr>
          <a:xfrm>
            <a:off x="474027" y="1393401"/>
            <a:ext cx="8196000" cy="4965600"/>
          </a:xfrm>
          <a:prstGeom prst="rect">
            <a:avLst/>
          </a:prstGeom>
          <a:noFill/>
          <a:ln>
            <a:noFill/>
          </a:ln>
        </p:spPr>
        <p:txBody>
          <a:bodyPr anchorCtr="0" anchor="t" bIns="0" lIns="0" spcFirstLastPara="1" rIns="0" wrap="square" tIns="34275">
            <a:spAutoFit/>
          </a:bodyPr>
          <a:lstStyle/>
          <a:p>
            <a:pPr indent="-177800" lvl="0" marL="193040" rtl="0" algn="l">
              <a:lnSpc>
                <a:spcPct val="100000"/>
              </a:lnSpc>
              <a:spcBef>
                <a:spcPts val="0"/>
              </a:spcBef>
              <a:spcAft>
                <a:spcPts val="0"/>
              </a:spcAft>
              <a:buClr>
                <a:srgbClr val="D1350F"/>
              </a:buClr>
              <a:buSzPts val="2800"/>
              <a:buFont typeface="Arial"/>
              <a:buChar char="•"/>
            </a:pPr>
            <a:r>
              <a:rPr lang="en-US"/>
              <a:t>En esta lección se abordan los siguientes objetivos:</a:t>
            </a:r>
            <a:endParaRPr/>
          </a:p>
          <a:p>
            <a:pPr indent="0" lvl="0" marL="365125" rtl="0" algn="l">
              <a:lnSpc>
                <a:spcPct val="100000"/>
              </a:lnSpc>
              <a:spcBef>
                <a:spcPts val="145"/>
              </a:spcBef>
              <a:spcAft>
                <a:spcPts val="0"/>
              </a:spcAft>
              <a:buNone/>
            </a:pPr>
            <a:r>
              <a:rPr lang="en-US" sz="2400">
                <a:solidFill>
                  <a:srgbClr val="D1350F"/>
                </a:solidFill>
              </a:rPr>
              <a:t>−</a:t>
            </a:r>
            <a:r>
              <a:rPr lang="en-US" sz="2400"/>
              <a:t>Mostrar y explicar la evaluación de una función anidada</a:t>
            </a:r>
            <a:endParaRPr sz="2400"/>
          </a:p>
          <a:p>
            <a:pPr indent="-175260" lvl="0" marL="540385" marR="5080" rtl="0" algn="l">
              <a:lnSpc>
                <a:spcPct val="107916"/>
              </a:lnSpc>
              <a:spcBef>
                <a:spcPts val="434"/>
              </a:spcBef>
              <a:spcAft>
                <a:spcPts val="0"/>
              </a:spcAft>
              <a:buNone/>
            </a:pPr>
            <a:r>
              <a:rPr lang="en-US" sz="2400">
                <a:solidFill>
                  <a:srgbClr val="D1350F"/>
                </a:solidFill>
              </a:rPr>
              <a:t>−</a:t>
            </a:r>
            <a:r>
              <a:rPr lang="en-US" sz="2400"/>
              <a:t>Enumerar al menos cuatro funciones generales que funcionan con cualquier tipo de dato y están relacionadas con el tratamiento de valores nulos</a:t>
            </a:r>
            <a:endParaRPr sz="2400"/>
          </a:p>
          <a:p>
            <a:pPr indent="0" lvl="0" marL="365125" rtl="0" algn="l">
              <a:lnSpc>
                <a:spcPct val="100000"/>
              </a:lnSpc>
              <a:spcBef>
                <a:spcPts val="75"/>
              </a:spcBef>
              <a:spcAft>
                <a:spcPts val="0"/>
              </a:spcAft>
              <a:buNone/>
            </a:pPr>
            <a:r>
              <a:rPr lang="en-US" sz="2400">
                <a:solidFill>
                  <a:srgbClr val="D1350F"/>
                </a:solidFill>
              </a:rPr>
              <a:t>−</a:t>
            </a:r>
            <a:r>
              <a:rPr lang="en-US" sz="2400"/>
              <a:t>Explicar el uso de las funciones COALESCE y NVL</a:t>
            </a:r>
            <a:endParaRPr sz="2400"/>
          </a:p>
          <a:p>
            <a:pPr indent="-175260" lvl="0" marL="540385" marR="121920" rtl="0" algn="l">
              <a:lnSpc>
                <a:spcPct val="107916"/>
              </a:lnSpc>
              <a:spcBef>
                <a:spcPts val="450"/>
              </a:spcBef>
              <a:spcAft>
                <a:spcPts val="0"/>
              </a:spcAft>
              <a:buNone/>
            </a:pPr>
            <a:r>
              <a:rPr lang="en-US" sz="2400">
                <a:solidFill>
                  <a:srgbClr val="D1350F"/>
                </a:solidFill>
              </a:rPr>
              <a:t>−</a:t>
            </a:r>
            <a:r>
              <a:rPr lang="en-US" sz="2400"/>
              <a:t>Explicar el uso de funciones generales para tratar con valores nulos en los datos</a:t>
            </a:r>
            <a:endParaRPr sz="2400"/>
          </a:p>
          <a:p>
            <a:pPr indent="-175260" lvl="0" marL="540385" marR="3499485" rtl="0" algn="l">
              <a:lnSpc>
                <a:spcPct val="107916"/>
              </a:lnSpc>
              <a:spcBef>
                <a:spcPts val="400"/>
              </a:spcBef>
              <a:spcAft>
                <a:spcPts val="0"/>
              </a:spcAft>
              <a:buNone/>
            </a:pPr>
            <a:r>
              <a:rPr lang="en-US" sz="2400">
                <a:solidFill>
                  <a:srgbClr val="D1350F"/>
                </a:solidFill>
              </a:rPr>
              <a:t>−</a:t>
            </a:r>
            <a:r>
              <a:rPr lang="en-US" sz="2400"/>
              <a:t>Crear y ejecutar una consulta SQL que aplica correctamente las funciones NVL NVL2, NULLIF y</a:t>
            </a:r>
            <a:endParaRPr sz="2400"/>
          </a:p>
          <a:p>
            <a:pPr indent="0" lvl="0" marL="365125" rtl="0" algn="l">
              <a:lnSpc>
                <a:spcPct val="100000"/>
              </a:lnSpc>
              <a:spcBef>
                <a:spcPts val="75"/>
              </a:spcBef>
              <a:spcAft>
                <a:spcPts val="1200"/>
              </a:spcAft>
              <a:buNone/>
            </a:pPr>
            <a:r>
              <a:rPr lang="en-US" sz="2400">
                <a:solidFill>
                  <a:srgbClr val="D1350F"/>
                </a:solidFill>
              </a:rPr>
              <a:t>−</a:t>
            </a:r>
            <a:r>
              <a:rPr lang="en-US" sz="2400"/>
              <a:t>COALESCE de una sola fila</a:t>
            </a:r>
            <a:endParaRPr sz="2400"/>
          </a:p>
        </p:txBody>
      </p:sp>
      <p:grpSp>
        <p:nvGrpSpPr>
          <p:cNvPr id="74" name="Google Shape;74;p15"/>
          <p:cNvGrpSpPr/>
          <p:nvPr/>
        </p:nvGrpSpPr>
        <p:grpSpPr>
          <a:xfrm>
            <a:off x="5620511" y="4066032"/>
            <a:ext cx="3076943" cy="2438399"/>
            <a:chOff x="5620511" y="4066032"/>
            <a:chExt cx="3076943" cy="2438399"/>
          </a:xfrm>
        </p:grpSpPr>
        <p:pic>
          <p:nvPicPr>
            <p:cNvPr id="75" name="Google Shape;75;p15"/>
            <p:cNvPicPr preferRelativeResize="0"/>
            <p:nvPr/>
          </p:nvPicPr>
          <p:blipFill rotWithShape="1">
            <a:blip r:embed="rId3">
              <a:alphaModFix/>
            </a:blip>
            <a:srcRect b="0" l="0" r="0" t="0"/>
            <a:stretch/>
          </p:blipFill>
          <p:spPr>
            <a:xfrm>
              <a:off x="5620511" y="4066032"/>
              <a:ext cx="3076943" cy="2438399"/>
            </a:xfrm>
            <a:prstGeom prst="rect">
              <a:avLst/>
            </a:prstGeom>
            <a:noFill/>
            <a:ln>
              <a:noFill/>
            </a:ln>
          </p:spPr>
        </p:pic>
        <p:pic>
          <p:nvPicPr>
            <p:cNvPr id="76" name="Google Shape;76;p15"/>
            <p:cNvPicPr preferRelativeResize="0"/>
            <p:nvPr/>
          </p:nvPicPr>
          <p:blipFill rotWithShape="1">
            <a:blip r:embed="rId4">
              <a:alphaModFix/>
            </a:blip>
            <a:srcRect b="0" l="0" r="0" t="0"/>
            <a:stretch/>
          </p:blipFill>
          <p:spPr>
            <a:xfrm>
              <a:off x="5812535" y="4258056"/>
              <a:ext cx="2692907" cy="2054351"/>
            </a:xfrm>
            <a:prstGeom prst="rect">
              <a:avLst/>
            </a:prstGeom>
            <a:noFill/>
            <a:ln>
              <a:noFill/>
            </a:ln>
          </p:spPr>
        </p:pic>
      </p:grpSp>
      <p:sp>
        <p:nvSpPr>
          <p:cNvPr id="77" name="Google Shape;77;p15"/>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78" name="Google Shape;78;p1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79" name="Google Shape;79;p1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85" name="Google Shape;85;p16"/>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86" name="Google Shape;86;p1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7" name="Google Shape;87;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8" name="Google Shape;88;p16"/>
          <p:cNvSpPr txBox="1"/>
          <p:nvPr/>
        </p:nvSpPr>
        <p:spPr>
          <a:xfrm>
            <a:off x="483552" y="1381889"/>
            <a:ext cx="7866380" cy="4511675"/>
          </a:xfrm>
          <a:prstGeom prst="rect">
            <a:avLst/>
          </a:prstGeom>
          <a:noFill/>
          <a:ln>
            <a:noFill/>
          </a:ln>
        </p:spPr>
        <p:txBody>
          <a:bodyPr anchorCtr="0" anchor="t" bIns="0" lIns="0" spcFirstLastPara="1" rIns="0" wrap="square" tIns="97150">
            <a:spAutoFit/>
          </a:bodyPr>
          <a:lstStyle/>
          <a:p>
            <a:pPr indent="-177800" lvl="0" marL="182880"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Además de las funciones que controlan cómo se 	formatean los datos o se convierten en otro tipo, SQL 	utiliza un juego de funciones generales diseñado 	específicamente para tratar valores nulos</a:t>
            </a:r>
            <a:endParaRPr sz="2800">
              <a:latin typeface="Calibri"/>
              <a:ea typeface="Calibri"/>
              <a:cs typeface="Calibri"/>
              <a:sym typeface="Calibri"/>
            </a:endParaRPr>
          </a:p>
          <a:p>
            <a:pPr indent="-177800" lvl="0" marL="182880" marR="434975" rtl="0" algn="just">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que se pregunte cómo un valor que no está 	disponible, sin asignar, desconocido o no aplicable 	pueda merecer tanta atención</a:t>
            </a:r>
            <a:endParaRPr sz="2800">
              <a:latin typeface="Calibri"/>
              <a:ea typeface="Calibri"/>
              <a:cs typeface="Calibri"/>
              <a:sym typeface="Calibri"/>
            </a:endParaRPr>
          </a:p>
          <a:p>
            <a:pPr indent="-177800" lvl="0" marL="182880" marR="109220" rtl="0" algn="l">
              <a:lnSpc>
                <a:spcPct val="80000"/>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 nulo puede ser "nada", pero puede afectar a la 	forma en que las expresiones se evalúan, ¿cómo se 	calculan las medias y dónde aparece un valor en una 	lista ordenada</a:t>
            </a:r>
            <a:endParaRPr sz="2800">
              <a:latin typeface="Calibri"/>
              <a:ea typeface="Calibri"/>
              <a:cs typeface="Calibri"/>
              <a:sym typeface="Calibri"/>
            </a:endParaRPr>
          </a:p>
          <a:p>
            <a:pPr indent="-177800" lvl="0" marL="183515" rtl="0" algn="l">
              <a:lnSpc>
                <a:spcPct val="100000"/>
              </a:lnSpc>
              <a:spcBef>
                <a:spcPts val="13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 lección trata sobre el manejo de valores nulos</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Método de Evaluación de las Funciones</a:t>
            </a:r>
            <a:endParaRPr/>
          </a:p>
        </p:txBody>
      </p:sp>
      <p:sp>
        <p:nvSpPr>
          <p:cNvPr id="94" name="Google Shape;94;p17"/>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95" name="Google Shape;95;p1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6" name="Google Shape;96;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7" name="Google Shape;97;p17"/>
          <p:cNvSpPr txBox="1"/>
          <p:nvPr/>
        </p:nvSpPr>
        <p:spPr>
          <a:xfrm>
            <a:off x="483552" y="1419989"/>
            <a:ext cx="8163559" cy="4495800"/>
          </a:xfrm>
          <a:prstGeom prst="rect">
            <a:avLst/>
          </a:prstGeom>
          <a:noFill/>
          <a:ln>
            <a:noFill/>
          </a:ln>
        </p:spPr>
        <p:txBody>
          <a:bodyPr anchorCtr="0" anchor="t" bIns="0" lIns="0" spcFirstLastPara="1" rIns="0" wrap="square" tIns="57775">
            <a:spAutoFit/>
          </a:bodyPr>
          <a:lstStyle/>
          <a:p>
            <a:pPr indent="-172720" lvl="0" marL="184785" marR="796290" rtl="0" algn="l">
              <a:lnSpc>
                <a:spcPct val="108076"/>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Hasta ahora, ha aplicado funciones de una sola fila en sentencias simples</a:t>
            </a:r>
            <a:endParaRPr sz="2600">
              <a:latin typeface="Calibri"/>
              <a:ea typeface="Calibri"/>
              <a:cs typeface="Calibri"/>
              <a:sym typeface="Calibri"/>
            </a:endParaRPr>
          </a:p>
          <a:p>
            <a:pPr indent="-172720" lvl="0" marL="184785" marR="2274570" rtl="0" algn="l">
              <a:lnSpc>
                <a:spcPct val="108076"/>
              </a:lnSpc>
              <a:spcBef>
                <a:spcPts val="80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Sin embargo, es posible anidar funciones a cualquier profundidad</a:t>
            </a:r>
            <a:endParaRPr sz="2600">
              <a:latin typeface="Calibri"/>
              <a:ea typeface="Calibri"/>
              <a:cs typeface="Calibri"/>
              <a:sym typeface="Calibri"/>
            </a:endParaRPr>
          </a:p>
          <a:p>
            <a:pPr indent="-172720" lvl="0" marL="184785" marR="1151890" rtl="0" algn="l">
              <a:lnSpc>
                <a:spcPct val="108076"/>
              </a:lnSpc>
              <a:spcBef>
                <a:spcPts val="78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Es importante saber cómo se evalúan las funciones anidadas</a:t>
            </a:r>
            <a:endParaRPr sz="2600">
              <a:latin typeface="Calibri"/>
              <a:ea typeface="Calibri"/>
              <a:cs typeface="Calibri"/>
              <a:sym typeface="Calibri"/>
            </a:endParaRPr>
          </a:p>
          <a:p>
            <a:pPr indent="-172720" lvl="0" marL="184785" marR="5080" rtl="0" algn="l">
              <a:lnSpc>
                <a:spcPct val="108076"/>
              </a:lnSpc>
              <a:spcBef>
                <a:spcPts val="80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"Anidación" hace referencia a una cosa que está incluida en otra cosa (como un huevo dentro de un nido)</a:t>
            </a:r>
            <a:endParaRPr sz="2600">
              <a:latin typeface="Calibri"/>
              <a:ea typeface="Calibri"/>
              <a:cs typeface="Calibri"/>
              <a:sym typeface="Calibri"/>
            </a:endParaRPr>
          </a:p>
          <a:p>
            <a:pPr indent="-172085" lvl="0" marL="184785" rtl="0" algn="l">
              <a:lnSpc>
                <a:spcPct val="100000"/>
              </a:lnSpc>
              <a:spcBef>
                <a:spcPts val="44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El siguiente ejemplo muestra una función anidada</a:t>
            </a:r>
            <a:endParaRPr sz="2600">
              <a:latin typeface="Calibri"/>
              <a:ea typeface="Calibri"/>
              <a:cs typeface="Calibri"/>
              <a:sym typeface="Calibri"/>
            </a:endParaRPr>
          </a:p>
          <a:p>
            <a:pPr indent="-172720" lvl="0" marL="184785" marR="951230" rtl="0" algn="l">
              <a:lnSpc>
                <a:spcPct val="108076"/>
              </a:lnSpc>
              <a:spcBef>
                <a:spcPts val="83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El proceso de evaluación empieza desde el nivel más profundo hasta el nivel menos profundo</a:t>
            </a:r>
            <a:endParaRPr sz="26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Método de Evaluación de las Funciones</a:t>
            </a:r>
            <a:endParaRPr/>
          </a:p>
        </p:txBody>
      </p:sp>
      <p:sp>
        <p:nvSpPr>
          <p:cNvPr id="103" name="Google Shape;103;p18"/>
          <p:cNvSpPr txBox="1"/>
          <p:nvPr/>
        </p:nvSpPr>
        <p:spPr>
          <a:xfrm>
            <a:off x="483552" y="2850345"/>
            <a:ext cx="4102735" cy="858519"/>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resultados son:</a:t>
            </a:r>
            <a:endParaRPr sz="2800">
              <a:latin typeface="Calibri"/>
              <a:ea typeface="Calibri"/>
              <a:cs typeface="Calibri"/>
              <a:sym typeface="Calibri"/>
            </a:endParaRPr>
          </a:p>
          <a:p>
            <a:pPr indent="0" lvl="0" marL="35560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Friday, December 18th, 1987</a:t>
            </a:r>
            <a:endParaRPr sz="2400">
              <a:latin typeface="Calibri"/>
              <a:ea typeface="Calibri"/>
              <a:cs typeface="Calibri"/>
              <a:sym typeface="Calibri"/>
            </a:endParaRPr>
          </a:p>
        </p:txBody>
      </p:sp>
      <p:sp>
        <p:nvSpPr>
          <p:cNvPr id="104" name="Google Shape;104;p18"/>
          <p:cNvSpPr txBox="1"/>
          <p:nvPr/>
        </p:nvSpPr>
        <p:spPr>
          <a:xfrm>
            <a:off x="405384" y="1336547"/>
            <a:ext cx="8345805" cy="1341120"/>
          </a:xfrm>
          <a:prstGeom prst="rect">
            <a:avLst/>
          </a:prstGeom>
          <a:solidFill>
            <a:srgbClr val="9DBDC4">
              <a:alpha val="49804"/>
            </a:srgbClr>
          </a:solidFill>
          <a:ln>
            <a:noFill/>
          </a:ln>
        </p:spPr>
        <p:txBody>
          <a:bodyPr anchorCtr="0" anchor="t" bIns="0" lIns="0" spcFirstLastPara="1" rIns="0" wrap="square" tIns="946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TO_CHAR(NEXT_DAY(ADD_MONTHS(hire_date, 6), 'FRIDAY'),</a:t>
            </a:r>
            <a:endParaRPr sz="1800">
              <a:latin typeface="Courier New"/>
              <a:ea typeface="Courier New"/>
              <a:cs typeface="Courier New"/>
              <a:sym typeface="Courier New"/>
            </a:endParaRPr>
          </a:p>
          <a:p>
            <a:pPr indent="0" lvl="0" marL="0" marR="192214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'fmDay, Month ddth, YYYY') AS "Next Evaluation" 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employee_id = 100;</a:t>
            </a:r>
            <a:endParaRPr sz="1800">
              <a:latin typeface="Courier New"/>
              <a:ea typeface="Courier New"/>
              <a:cs typeface="Courier New"/>
              <a:sym typeface="Courier New"/>
            </a:endParaRPr>
          </a:p>
        </p:txBody>
      </p:sp>
      <p:grpSp>
        <p:nvGrpSpPr>
          <p:cNvPr id="105" name="Google Shape;105;p18"/>
          <p:cNvGrpSpPr/>
          <p:nvPr/>
        </p:nvGrpSpPr>
        <p:grpSpPr>
          <a:xfrm>
            <a:off x="5387340" y="3561588"/>
            <a:ext cx="3185159" cy="2427731"/>
            <a:chOff x="5387340" y="3561588"/>
            <a:chExt cx="3185159" cy="2427731"/>
          </a:xfrm>
        </p:grpSpPr>
        <p:pic>
          <p:nvPicPr>
            <p:cNvPr id="106" name="Google Shape;106;p18"/>
            <p:cNvPicPr preferRelativeResize="0"/>
            <p:nvPr/>
          </p:nvPicPr>
          <p:blipFill rotWithShape="1">
            <a:blip r:embed="rId3">
              <a:alphaModFix/>
            </a:blip>
            <a:srcRect b="0" l="0" r="0" t="0"/>
            <a:stretch/>
          </p:blipFill>
          <p:spPr>
            <a:xfrm>
              <a:off x="5387340" y="3561588"/>
              <a:ext cx="3185159" cy="2427731"/>
            </a:xfrm>
            <a:prstGeom prst="rect">
              <a:avLst/>
            </a:prstGeom>
            <a:noFill/>
            <a:ln>
              <a:noFill/>
            </a:ln>
          </p:spPr>
        </p:pic>
        <p:pic>
          <p:nvPicPr>
            <p:cNvPr id="107" name="Google Shape;107;p18"/>
            <p:cNvPicPr preferRelativeResize="0"/>
            <p:nvPr/>
          </p:nvPicPr>
          <p:blipFill rotWithShape="1">
            <a:blip r:embed="rId4">
              <a:alphaModFix/>
            </a:blip>
            <a:srcRect b="0" l="0" r="0" t="0"/>
            <a:stretch/>
          </p:blipFill>
          <p:spPr>
            <a:xfrm>
              <a:off x="5483352" y="3649980"/>
              <a:ext cx="2993135" cy="2250947"/>
            </a:xfrm>
            <a:prstGeom prst="rect">
              <a:avLst/>
            </a:prstGeom>
            <a:noFill/>
            <a:ln>
              <a:noFill/>
            </a:ln>
          </p:spPr>
        </p:pic>
      </p:grpSp>
      <p:sp>
        <p:nvSpPr>
          <p:cNvPr id="108" name="Google Shape;108;p18"/>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109" name="Google Shape;109;p1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0" name="Google Shape;110;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Método de Evaluación de las Funciones</a:t>
            </a:r>
            <a:endParaRPr/>
          </a:p>
        </p:txBody>
      </p:sp>
      <p:sp>
        <p:nvSpPr>
          <p:cNvPr id="116" name="Google Shape;116;p19"/>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117" name="Google Shape;117;p1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8" name="Google Shape;118;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9" name="Google Shape;119;p19"/>
          <p:cNvSpPr txBox="1"/>
          <p:nvPr/>
        </p:nvSpPr>
        <p:spPr>
          <a:xfrm>
            <a:off x="483552" y="2643761"/>
            <a:ext cx="8046084" cy="3161665"/>
          </a:xfrm>
          <a:prstGeom prst="rect">
            <a:avLst/>
          </a:prstGeom>
          <a:noFill/>
          <a:ln>
            <a:noFill/>
          </a:ln>
        </p:spPr>
        <p:txBody>
          <a:bodyPr anchorCtr="0" anchor="t" bIns="0" lIns="0" spcFirstLastPara="1" rIns="0" wrap="square" tIns="89525">
            <a:spAutoFit/>
          </a:bodyPr>
          <a:lstStyle/>
          <a:p>
            <a:pPr indent="-172720" lvl="0" marL="184785" marR="220979" rtl="0" algn="l">
              <a:lnSpc>
                <a:spcPct val="96153"/>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Paso 1: A la fecha de contratación se le van a agregar seis meses</a:t>
            </a:r>
            <a:endParaRPr sz="2600">
              <a:latin typeface="Calibri"/>
              <a:ea typeface="Calibri"/>
              <a:cs typeface="Calibri"/>
              <a:sym typeface="Calibri"/>
            </a:endParaRPr>
          </a:p>
          <a:p>
            <a:pPr indent="-172720" lvl="0" marL="184785" marR="500380" rtl="0" algn="l">
              <a:lnSpc>
                <a:spcPct val="96153"/>
              </a:lnSpc>
              <a:spcBef>
                <a:spcPts val="79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Paso 2: Se identificará el primer viernes siguiente al día devuelto en el paso 1</a:t>
            </a:r>
            <a:endParaRPr sz="2600">
              <a:latin typeface="Calibri"/>
              <a:ea typeface="Calibri"/>
              <a:cs typeface="Calibri"/>
              <a:sym typeface="Calibri"/>
            </a:endParaRPr>
          </a:p>
          <a:p>
            <a:pPr indent="-172720" lvl="0" marL="184785" marR="5080" rtl="0" algn="l">
              <a:lnSpc>
                <a:spcPct val="96153"/>
              </a:lnSpc>
              <a:spcBef>
                <a:spcPts val="78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Paso 3: Al formato de fecha por defecto se le aplicará formato para que muestre la fecha devuelta por el paso 2 en un formato similar a: Viernes, 18 de diciembre de 1987, y aparecerá en la salida bajo el nombre de la columna "Next Evaluation"</a:t>
            </a:r>
            <a:endParaRPr sz="2600">
              <a:latin typeface="Calibri"/>
              <a:ea typeface="Calibri"/>
              <a:cs typeface="Calibri"/>
              <a:sym typeface="Calibri"/>
            </a:endParaRPr>
          </a:p>
        </p:txBody>
      </p:sp>
      <p:sp>
        <p:nvSpPr>
          <p:cNvPr id="120" name="Google Shape;120;p19"/>
          <p:cNvSpPr txBox="1"/>
          <p:nvPr/>
        </p:nvSpPr>
        <p:spPr>
          <a:xfrm>
            <a:off x="405384" y="1336547"/>
            <a:ext cx="8345805" cy="1196340"/>
          </a:xfrm>
          <a:prstGeom prst="rect">
            <a:avLst/>
          </a:prstGeom>
          <a:solidFill>
            <a:srgbClr val="9DBDC4">
              <a:alpha val="49804"/>
            </a:srgbClr>
          </a:solidFill>
          <a:ln>
            <a:noFill/>
          </a:ln>
        </p:spPr>
        <p:txBody>
          <a:bodyPr anchorCtr="0" anchor="t" bIns="0" lIns="0" spcFirstLastPara="1" rIns="0" wrap="square" tIns="21575">
            <a:spAutoFit/>
          </a:bodyPr>
          <a:lstStyle/>
          <a:p>
            <a:pPr indent="0" lvl="0" marL="10287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a:t>
            </a:r>
            <a:r>
              <a:rPr b="1" lang="en-US" sz="1800">
                <a:solidFill>
                  <a:srgbClr val="00AF50"/>
                </a:solidFill>
                <a:latin typeface="Courier New"/>
                <a:ea typeface="Courier New"/>
                <a:cs typeface="Courier New"/>
                <a:sym typeface="Courier New"/>
              </a:rPr>
              <a:t>TO_CHAR(</a:t>
            </a:r>
            <a:r>
              <a:rPr b="1" lang="en-US" sz="1800">
                <a:solidFill>
                  <a:srgbClr val="00AFEF"/>
                </a:solidFill>
                <a:latin typeface="Courier New"/>
                <a:ea typeface="Courier New"/>
                <a:cs typeface="Courier New"/>
                <a:sym typeface="Courier New"/>
              </a:rPr>
              <a:t>NEXT_DAY(</a:t>
            </a:r>
            <a:r>
              <a:rPr b="1" lang="en-US" sz="1800">
                <a:solidFill>
                  <a:srgbClr val="D1350F"/>
                </a:solidFill>
                <a:latin typeface="Courier New"/>
                <a:ea typeface="Courier New"/>
                <a:cs typeface="Courier New"/>
                <a:sym typeface="Courier New"/>
              </a:rPr>
              <a:t>ADD_MONTHS(</a:t>
            </a:r>
            <a:r>
              <a:rPr b="1" lang="en-US" sz="1800">
                <a:solidFill>
                  <a:srgbClr val="4E3629"/>
                </a:solidFill>
                <a:latin typeface="Courier New"/>
                <a:ea typeface="Courier New"/>
                <a:cs typeface="Courier New"/>
                <a:sym typeface="Courier New"/>
              </a:rPr>
              <a:t>hire_date, 6</a:t>
            </a:r>
            <a:r>
              <a:rPr b="1" lang="en-US" sz="1800">
                <a:solidFill>
                  <a:srgbClr val="D1350F"/>
                </a:solidFill>
                <a:latin typeface="Courier New"/>
                <a:ea typeface="Courier New"/>
                <a:cs typeface="Courier New"/>
                <a:sym typeface="Courier New"/>
              </a:rPr>
              <a:t>)</a:t>
            </a:r>
            <a:r>
              <a:rPr b="1" lang="en-US" sz="1800">
                <a:solidFill>
                  <a:srgbClr val="4E3629"/>
                </a:solidFill>
                <a:latin typeface="Courier New"/>
                <a:ea typeface="Courier New"/>
                <a:cs typeface="Courier New"/>
                <a:sym typeface="Courier New"/>
              </a:rPr>
              <a:t>, 'FRIDAY’</a:t>
            </a:r>
            <a:r>
              <a:rPr b="1" lang="en-US" sz="1800">
                <a:solidFill>
                  <a:srgbClr val="00AFEF"/>
                </a:solidFill>
                <a:latin typeface="Courier New"/>
                <a:ea typeface="Courier New"/>
                <a:cs typeface="Courier New"/>
                <a:sym typeface="Courier New"/>
              </a:rPr>
              <a:t>)</a:t>
            </a: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a:p>
            <a:pPr indent="235585" lvl="0" marL="102870" marR="158242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'fmDay, Month ddth, YYYY') AS "Next Evaluation" FROM employees</a:t>
            </a:r>
            <a:endParaRPr sz="1800">
              <a:latin typeface="Courier New"/>
              <a:ea typeface="Courier New"/>
              <a:cs typeface="Courier New"/>
              <a:sym typeface="Courier New"/>
            </a:endParaRPr>
          </a:p>
          <a:p>
            <a:pPr indent="0" lvl="0" marL="10287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employee_id = 100;</a:t>
            </a:r>
            <a:endParaRPr sz="1800">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ph type="title"/>
          </p:nvPr>
        </p:nvSpPr>
        <p:spPr>
          <a:xfrm>
            <a:off x="392112" y="748031"/>
            <a:ext cx="7760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 Relacionadas con los Valores Nulos</a:t>
            </a:r>
            <a:endParaRPr/>
          </a:p>
        </p:txBody>
      </p:sp>
      <p:sp>
        <p:nvSpPr>
          <p:cNvPr id="126" name="Google Shape;126;p20"/>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127" name="Google Shape;127;p2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8" name="Google Shape;128;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9" name="Google Shape;129;p20"/>
          <p:cNvSpPr txBox="1"/>
          <p:nvPr/>
        </p:nvSpPr>
        <p:spPr>
          <a:xfrm>
            <a:off x="483552" y="1355371"/>
            <a:ext cx="7732395" cy="3991610"/>
          </a:xfrm>
          <a:prstGeom prst="rect">
            <a:avLst/>
          </a:prstGeom>
          <a:noFill/>
          <a:ln>
            <a:noFill/>
          </a:ln>
        </p:spPr>
        <p:txBody>
          <a:bodyPr anchorCtr="0" anchor="t" bIns="0" lIns="0" spcFirstLastPara="1" rIns="0" wrap="square" tIns="717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principio del curso, se presentó el término "nulo"</a:t>
            </a:r>
            <a:endParaRPr sz="2800">
              <a:latin typeface="Calibri"/>
              <a:ea typeface="Calibri"/>
              <a:cs typeface="Calibri"/>
              <a:sym typeface="Calibri"/>
            </a:endParaRPr>
          </a:p>
          <a:p>
            <a:pPr indent="-177800" lvl="0" marL="182880" marR="9525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Nulo es el valor que no está disponible, que está sin 	asignar, es desconocido o que no es aplicable</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resultado, no podemos comprobar si es el 	mismo que otro valor, porque no sabemos qué valor 	tiene</a:t>
            </a:r>
            <a:endParaRPr sz="2800">
              <a:latin typeface="Calibri"/>
              <a:ea typeface="Calibri"/>
              <a:cs typeface="Calibri"/>
              <a:sym typeface="Calibri"/>
            </a:endParaRPr>
          </a:p>
          <a:p>
            <a:pPr indent="-177800" lvl="0" marL="183515" rtl="0" algn="l">
              <a:lnSpc>
                <a:spcPct val="100000"/>
              </a:lnSpc>
              <a:spcBef>
                <a:spcPts val="3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es igual a nada, ni siquiera a cero</a:t>
            </a:r>
            <a:endParaRPr sz="2800">
              <a:latin typeface="Calibri"/>
              <a:ea typeface="Calibri"/>
              <a:cs typeface="Calibri"/>
              <a:sym typeface="Calibri"/>
            </a:endParaRPr>
          </a:p>
          <a:p>
            <a:pPr indent="-177800" lvl="0" marL="182880" marR="81915"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Pero que no sea realmente nada no significa que no 	sea importante</a:t>
            </a:r>
            <a:endParaRPr sz="28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392112" y="748031"/>
            <a:ext cx="7760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Funciones Relacionadas con los Valores Nulos</a:t>
            </a:r>
            <a:endParaRPr/>
          </a:p>
        </p:txBody>
      </p:sp>
      <p:sp>
        <p:nvSpPr>
          <p:cNvPr id="135" name="Google Shape;135;p21"/>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136" name="Google Shape;136;p2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7" name="Google Shape;137;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8" name="Google Shape;138;p21"/>
          <p:cNvSpPr txBox="1"/>
          <p:nvPr/>
        </p:nvSpPr>
        <p:spPr>
          <a:xfrm>
            <a:off x="483552" y="1355371"/>
            <a:ext cx="8159115" cy="3877310"/>
          </a:xfrm>
          <a:prstGeom prst="rect">
            <a:avLst/>
          </a:prstGeom>
          <a:noFill/>
          <a:ln>
            <a:noFill/>
          </a:ln>
        </p:spPr>
        <p:txBody>
          <a:bodyPr anchorCtr="0" anchor="t" bIns="0" lIns="0" spcFirstLastPara="1" rIns="0" wrap="square" tIns="717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Imagine esta pregunta: ¿Es cierto que X = Y?</a:t>
            </a:r>
            <a:endParaRPr sz="2800">
              <a:latin typeface="Calibri"/>
              <a:ea typeface="Calibri"/>
              <a:cs typeface="Calibri"/>
              <a:sym typeface="Calibri"/>
            </a:endParaRPr>
          </a:p>
          <a:p>
            <a:pPr indent="-177800" lvl="0" marL="183515" rtl="0" algn="l">
              <a:lnSpc>
                <a:spcPct val="100000"/>
              </a:lnSpc>
              <a:spcBef>
                <a:spcPts val="47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responderla tiene que conocer los valores de X e Y</a:t>
            </a:r>
            <a:endParaRPr sz="2800">
              <a:latin typeface="Calibri"/>
              <a:ea typeface="Calibri"/>
              <a:cs typeface="Calibri"/>
              <a:sym typeface="Calibri"/>
            </a:endParaRPr>
          </a:p>
          <a:p>
            <a:pPr indent="-177800" lvl="0" marL="182880" marR="353695"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Oracle tiene cuatro funciones generales relacionadas 	con el uso de valores nulos</a:t>
            </a:r>
            <a:endParaRPr sz="2800">
              <a:latin typeface="Calibri"/>
              <a:ea typeface="Calibri"/>
              <a:cs typeface="Calibri"/>
              <a:sym typeface="Calibri"/>
            </a:endParaRPr>
          </a:p>
          <a:p>
            <a:pPr indent="-177800" lvl="0" marL="183515" rtl="0" algn="l">
              <a:lnSpc>
                <a:spcPct val="100000"/>
              </a:lnSpc>
              <a:spcBef>
                <a:spcPts val="4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cuatro funciones son:</a:t>
            </a:r>
            <a:endParaRPr sz="2800">
              <a:latin typeface="Calibri"/>
              <a:ea typeface="Calibri"/>
              <a:cs typeface="Calibri"/>
              <a:sym typeface="Calibri"/>
            </a:endParaRPr>
          </a:p>
          <a:p>
            <a:pPr indent="0" lvl="0" marL="35560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NVL</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NVL2</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NULLIF</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COALESCE</a:t>
            </a:r>
            <a:endParaRPr sz="24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Función NVL</a:t>
            </a:r>
            <a:endParaRPr/>
          </a:p>
        </p:txBody>
      </p:sp>
      <p:sp>
        <p:nvSpPr>
          <p:cNvPr id="144" name="Google Shape;144;p22"/>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145" name="Google Shape;145;p2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6" name="Google Shape;146;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7" name="Google Shape;147;p22"/>
          <p:cNvSpPr txBox="1"/>
          <p:nvPr/>
        </p:nvSpPr>
        <p:spPr>
          <a:xfrm>
            <a:off x="483552" y="1415417"/>
            <a:ext cx="7454900" cy="25761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función NVL convierte un valor nulo en un valor 	conocido de un tipo de dato fijo, ya sea de fecha, 	carácter o numérico</a:t>
            </a:r>
            <a:endParaRPr sz="2800">
              <a:latin typeface="Calibri"/>
              <a:ea typeface="Calibri"/>
              <a:cs typeface="Calibri"/>
              <a:sym typeface="Calibri"/>
            </a:endParaRPr>
          </a:p>
          <a:p>
            <a:pPr indent="-177800" lvl="0" marL="182880" marR="16065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tipos de dato de la columna de valor nulo y el 	nuevo valor deben ser los mismos</a:t>
            </a:r>
            <a:endParaRPr sz="2800">
              <a:latin typeface="Calibri"/>
              <a:ea typeface="Calibri"/>
              <a:cs typeface="Calibri"/>
              <a:sym typeface="Calibri"/>
            </a:endParaRPr>
          </a:p>
          <a:p>
            <a:pPr indent="-177800" lvl="0" marL="183515" rtl="0" algn="l">
              <a:lnSpc>
                <a:spcPct val="100000"/>
              </a:lnSpc>
              <a:spcBef>
                <a:spcPts val="42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función NVL es:</a:t>
            </a:r>
            <a:endParaRPr sz="2800">
              <a:latin typeface="Calibri"/>
              <a:ea typeface="Calibri"/>
              <a:cs typeface="Calibri"/>
              <a:sym typeface="Calibri"/>
            </a:endParaRPr>
          </a:p>
        </p:txBody>
      </p:sp>
      <p:sp>
        <p:nvSpPr>
          <p:cNvPr id="148" name="Google Shape;148;p22"/>
          <p:cNvSpPr txBox="1"/>
          <p:nvPr/>
        </p:nvSpPr>
        <p:spPr>
          <a:xfrm>
            <a:off x="483552" y="4510661"/>
            <a:ext cx="7725409"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NVL (valor o columna que pueden contener un valor 	nulo, el valor para sustituir un valor nulo)</a:t>
            </a:r>
            <a:endParaRPr sz="2800">
              <a:latin typeface="Calibri"/>
              <a:ea typeface="Calibri"/>
              <a:cs typeface="Calibri"/>
              <a:sym typeface="Calibri"/>
            </a:endParaRPr>
          </a:p>
        </p:txBody>
      </p:sp>
      <p:sp>
        <p:nvSpPr>
          <p:cNvPr id="149" name="Google Shape;149;p22"/>
          <p:cNvSpPr txBox="1"/>
          <p:nvPr/>
        </p:nvSpPr>
        <p:spPr>
          <a:xfrm>
            <a:off x="405384" y="3982211"/>
            <a:ext cx="8345805" cy="56388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1666"/>
              </a:lnSpc>
              <a:spcBef>
                <a:spcPts val="0"/>
              </a:spcBef>
              <a:spcAft>
                <a:spcPts val="0"/>
              </a:spcAft>
              <a:buNone/>
            </a:pPr>
            <a:r>
              <a:rPr b="1" lang="en-US" sz="1800">
                <a:solidFill>
                  <a:srgbClr val="4E3629"/>
                </a:solidFill>
                <a:latin typeface="Courier New"/>
                <a:ea typeface="Courier New"/>
                <a:cs typeface="Courier New"/>
                <a:sym typeface="Courier New"/>
              </a:rPr>
              <a:t>NVL (expression 1 value that may contain a null, expression 2</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value to substitute for null)</a:t>
            </a:r>
            <a:endParaRPr sz="1800">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Función NVL</a:t>
            </a:r>
            <a:endParaRPr/>
          </a:p>
        </p:txBody>
      </p:sp>
      <p:sp>
        <p:nvSpPr>
          <p:cNvPr id="155" name="Google Shape;155;p23"/>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156" name="Google Shape;156;p2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7" name="Google Shape;157;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58" name="Google Shape;158;p23"/>
          <p:cNvSpPr txBox="1"/>
          <p:nvPr/>
        </p:nvSpPr>
        <p:spPr>
          <a:xfrm>
            <a:off x="483552" y="1415417"/>
            <a:ext cx="767270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 siguiente consulta se utiliza la función NVL con 	tipos de dato de carácter:</a:t>
            </a:r>
            <a:endParaRPr sz="2800">
              <a:latin typeface="Calibri"/>
              <a:ea typeface="Calibri"/>
              <a:cs typeface="Calibri"/>
              <a:sym typeface="Calibri"/>
            </a:endParaRPr>
          </a:p>
        </p:txBody>
      </p:sp>
      <p:sp>
        <p:nvSpPr>
          <p:cNvPr id="159" name="Google Shape;159;p23"/>
          <p:cNvSpPr txBox="1"/>
          <p:nvPr/>
        </p:nvSpPr>
        <p:spPr>
          <a:xfrm>
            <a:off x="483552" y="3742565"/>
            <a:ext cx="460756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valores nulos se sustituyen 	por el texto 'None'</a:t>
            </a:r>
            <a:endParaRPr sz="2800">
              <a:latin typeface="Calibri"/>
              <a:ea typeface="Calibri"/>
              <a:cs typeface="Calibri"/>
              <a:sym typeface="Calibri"/>
            </a:endParaRPr>
          </a:p>
        </p:txBody>
      </p:sp>
      <p:graphicFrame>
        <p:nvGraphicFramePr>
          <p:cNvPr id="160" name="Google Shape;160;p23"/>
          <p:cNvGraphicFramePr/>
          <p:nvPr/>
        </p:nvGraphicFramePr>
        <p:xfrm>
          <a:off x="5254949" y="3868157"/>
          <a:ext cx="3000000" cy="3000000"/>
        </p:xfrm>
        <a:graphic>
          <a:graphicData uri="http://schemas.openxmlformats.org/drawingml/2006/table">
            <a:tbl>
              <a:tblPr bandRow="1" firstRow="1">
                <a:noFill/>
                <a:tableStyleId>{6A5E3C50-BC13-41F1-A54B-A67574026CEC}</a:tableStyleId>
              </a:tblPr>
              <a:tblGrid>
                <a:gridCol w="2167250"/>
                <a:gridCol w="1310650"/>
              </a:tblGrid>
              <a:tr h="4641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COUNTRY_NAME</a:t>
                      </a:r>
                      <a:endParaRPr sz="1600" u="none" cap="none" strike="noStrike">
                        <a:latin typeface="Calibri"/>
                        <a:ea typeface="Calibri"/>
                        <a:cs typeface="Calibri"/>
                        <a:sym typeface="Calibri"/>
                      </a:endParaRPr>
                    </a:p>
                  </a:txBody>
                  <a:tcPr marT="9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Internet extn</a:t>
                      </a:r>
                      <a:endParaRPr sz="1600" u="none" cap="none" strike="noStrike">
                        <a:latin typeface="Calibri"/>
                        <a:ea typeface="Calibri"/>
                        <a:cs typeface="Calibri"/>
                        <a:sym typeface="Calibri"/>
                      </a:endParaRPr>
                    </a:p>
                  </a:txBody>
                  <a:tcPr marT="9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708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Juan de Nova Island</a:t>
                      </a:r>
                      <a:endParaRPr sz="1600" u="none" cap="none" strike="noStrike">
                        <a:latin typeface="Calibri"/>
                        <a:ea typeface="Calibri"/>
                        <a:cs typeface="Calibri"/>
                        <a:sym typeface="Calibri"/>
                      </a:endParaRPr>
                    </a:p>
                  </a:txBody>
                  <a:tcPr marT="50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None</a:t>
                      </a:r>
                      <a:endParaRPr sz="1600" u="none" cap="none" strike="noStrike">
                        <a:latin typeface="Calibri"/>
                        <a:ea typeface="Calibri"/>
                        <a:cs typeface="Calibri"/>
                        <a:sym typeface="Calibri"/>
                      </a:endParaRPr>
                    </a:p>
                  </a:txBody>
                  <a:tcPr marT="508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810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Europa Island</a:t>
                      </a:r>
                      <a:endParaRPr sz="1600" u="none" cap="none" strike="noStrike">
                        <a:latin typeface="Calibri"/>
                        <a:ea typeface="Calibri"/>
                        <a:cs typeface="Calibri"/>
                        <a:sym typeface="Calibri"/>
                      </a:endParaRPr>
                    </a:p>
                  </a:txBody>
                  <a:tcPr marT="5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None</a:t>
                      </a:r>
                      <a:endParaRPr sz="1600" u="none" cap="none" strike="noStrike">
                        <a:latin typeface="Calibri"/>
                        <a:ea typeface="Calibri"/>
                        <a:cs typeface="Calibri"/>
                        <a:sym typeface="Calibri"/>
                      </a:endParaRPr>
                    </a:p>
                  </a:txBody>
                  <a:tcPr marT="5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02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Republic of Zimbabwe</a:t>
                      </a:r>
                      <a:endParaRPr sz="1600" u="none" cap="none" strike="noStrike">
                        <a:latin typeface="Calibri"/>
                        <a:ea typeface="Calibri"/>
                        <a:cs typeface="Calibri"/>
                        <a:sym typeface="Calibri"/>
                      </a:endParaRPr>
                    </a:p>
                  </a:txBody>
                  <a:tcPr marT="66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.zw</a:t>
                      </a:r>
                      <a:endParaRPr sz="1600" u="none" cap="none" strike="noStrike">
                        <a:latin typeface="Calibri"/>
                        <a:ea typeface="Calibri"/>
                        <a:cs typeface="Calibri"/>
                        <a:sym typeface="Calibri"/>
                      </a:endParaRPr>
                    </a:p>
                  </a:txBody>
                  <a:tcPr marT="66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133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Republic of Zambia</a:t>
                      </a:r>
                      <a:endParaRPr sz="1600" u="none" cap="none" strike="noStrike">
                        <a:latin typeface="Calibri"/>
                        <a:ea typeface="Calibri"/>
                        <a:cs typeface="Calibri"/>
                        <a:sym typeface="Calibri"/>
                      </a:endParaRPr>
                    </a:p>
                  </a:txBody>
                  <a:tcPr marT="71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.zm</a:t>
                      </a:r>
                      <a:endParaRPr sz="1600" u="none" cap="none" strike="noStrike">
                        <a:latin typeface="Calibri"/>
                        <a:ea typeface="Calibri"/>
                        <a:cs typeface="Calibri"/>
                        <a:sym typeface="Calibri"/>
                      </a:endParaRPr>
                    </a:p>
                  </a:txBody>
                  <a:tcPr marT="71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810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Republic of South Africa</a:t>
                      </a:r>
                      <a:endParaRPr sz="1600" u="none" cap="none" strike="noStrike">
                        <a:latin typeface="Calibri"/>
                        <a:ea typeface="Calibri"/>
                        <a:cs typeface="Calibri"/>
                        <a:sym typeface="Calibri"/>
                      </a:endParaRPr>
                    </a:p>
                  </a:txBody>
                  <a:tcPr marT="5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.za</a:t>
                      </a:r>
                      <a:endParaRPr sz="1600" u="none" cap="none" strike="noStrike">
                        <a:latin typeface="Calibri"/>
                        <a:ea typeface="Calibri"/>
                        <a:cs typeface="Calibri"/>
                        <a:sym typeface="Calibri"/>
                      </a:endParaRPr>
                    </a:p>
                  </a:txBody>
                  <a:tcPr marT="558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61" name="Google Shape;161;p23"/>
          <p:cNvSpPr txBox="1"/>
          <p:nvPr/>
        </p:nvSpPr>
        <p:spPr>
          <a:xfrm>
            <a:off x="405384" y="2253995"/>
            <a:ext cx="8345805" cy="1442085"/>
          </a:xfrm>
          <a:prstGeom prst="rect">
            <a:avLst/>
          </a:prstGeom>
          <a:solidFill>
            <a:srgbClr val="9DBDC4">
              <a:alpha val="49804"/>
            </a:srgbClr>
          </a:solidFill>
          <a:ln>
            <a:noFill/>
          </a:ln>
        </p:spPr>
        <p:txBody>
          <a:bodyPr anchorCtr="0" anchor="t" bIns="0" lIns="0" spcFirstLastPara="1" rIns="0" wrap="square" tIns="7600">
            <a:spAutoFit/>
          </a:bodyPr>
          <a:lstStyle/>
          <a:p>
            <a:pPr indent="-273685" lvl="0" marL="273685" marR="123952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country_name, NVL(internet_extension, 'None') AS "Internet extn"</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wf_countries</a:t>
            </a:r>
            <a:endParaRPr sz="1800">
              <a:latin typeface="Courier New"/>
              <a:ea typeface="Courier New"/>
              <a:cs typeface="Courier New"/>
              <a:sym typeface="Courier New"/>
            </a:endParaRPr>
          </a:p>
          <a:p>
            <a:pPr indent="0" lvl="0" marL="0" marR="369697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location = 'Southern Africa' ORDER BY internet_extension DESC;</a:t>
            </a:r>
            <a:endParaRPr sz="1800">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4"/>
          <p:cNvSpPr txBox="1"/>
          <p:nvPr/>
        </p:nvSpPr>
        <p:spPr>
          <a:xfrm>
            <a:off x="51721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4E362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167" name="Google Shape;167;p24"/>
          <p:cNvSpPr txBox="1"/>
          <p:nvPr/>
        </p:nvSpPr>
        <p:spPr>
          <a:xfrm>
            <a:off x="2874191" y="6489343"/>
            <a:ext cx="726440" cy="271145"/>
          </a:xfrm>
          <a:prstGeom prst="rect">
            <a:avLst/>
          </a:prstGeom>
          <a:noFill/>
          <a:ln>
            <a:noFill/>
          </a:ln>
        </p:spPr>
        <p:txBody>
          <a:bodyPr anchorCtr="0" anchor="t" bIns="0" lIns="0" spcFirstLastPara="1" rIns="0" wrap="square" tIns="12700">
            <a:spAutoFit/>
          </a:bodyPr>
          <a:lstStyle/>
          <a:p>
            <a:pPr indent="0" lvl="0" marL="12700" rtl="0" algn="l">
              <a:lnSpc>
                <a:spcPct val="113529"/>
              </a:lnSpc>
              <a:spcBef>
                <a:spcPts val="0"/>
              </a:spcBef>
              <a:spcAft>
                <a:spcPts val="0"/>
              </a:spcAft>
              <a:buNone/>
            </a:pPr>
            <a:r>
              <a:rPr lang="en-US" sz="850">
                <a:solidFill>
                  <a:srgbClr val="4E3629"/>
                </a:solidFill>
                <a:latin typeface="Calibri"/>
                <a:ea typeface="Calibri"/>
                <a:cs typeface="Calibri"/>
                <a:sym typeface="Calibri"/>
              </a:rPr>
              <a:t>DP 5-2</a:t>
            </a:r>
            <a:endParaRPr sz="850">
              <a:latin typeface="Calibri"/>
              <a:ea typeface="Calibri"/>
              <a:cs typeface="Calibri"/>
              <a:sym typeface="Calibri"/>
            </a:endParaRPr>
          </a:p>
          <a:p>
            <a:pPr indent="0" lvl="0" marL="12700" rtl="0" algn="l">
              <a:lnSpc>
                <a:spcPct val="113529"/>
              </a:lnSpc>
              <a:spcBef>
                <a:spcPts val="0"/>
              </a:spcBef>
              <a:spcAft>
                <a:spcPts val="0"/>
              </a:spcAft>
              <a:buNone/>
            </a:pPr>
            <a:r>
              <a:rPr lang="en-US" sz="850">
                <a:solidFill>
                  <a:srgbClr val="4E3629"/>
                </a:solidFill>
                <a:latin typeface="Calibri"/>
                <a:ea typeface="Calibri"/>
                <a:cs typeface="Calibri"/>
                <a:sym typeface="Calibri"/>
              </a:rPr>
              <a:t>Funciones NULL</a:t>
            </a:r>
            <a:endParaRPr sz="850">
              <a:latin typeface="Calibri"/>
              <a:ea typeface="Calibri"/>
              <a:cs typeface="Calibri"/>
              <a:sym typeface="Calibri"/>
            </a:endParaRPr>
          </a:p>
        </p:txBody>
      </p:sp>
      <p:sp>
        <p:nvSpPr>
          <p:cNvPr id="168" name="Google Shape;168;p24"/>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Función NVL</a:t>
            </a:r>
            <a:endParaRPr/>
          </a:p>
        </p:txBody>
      </p:sp>
      <p:sp>
        <p:nvSpPr>
          <p:cNvPr id="169" name="Google Shape;169;p24"/>
          <p:cNvSpPr txBox="1"/>
          <p:nvPr/>
        </p:nvSpPr>
        <p:spPr>
          <a:xfrm>
            <a:off x="483552" y="1415417"/>
            <a:ext cx="8031480"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tipos de dato de la columna de valor nulo y el 	nuevo valor deben ser el mismo que se muestra en los 	ejemplos siguientes:</a:t>
            </a:r>
            <a:endParaRPr sz="2800">
              <a:latin typeface="Calibri"/>
              <a:ea typeface="Calibri"/>
              <a:cs typeface="Calibri"/>
              <a:sym typeface="Calibri"/>
            </a:endParaRPr>
          </a:p>
        </p:txBody>
      </p:sp>
      <p:sp>
        <p:nvSpPr>
          <p:cNvPr id="170" name="Google Shape;170;p24"/>
          <p:cNvSpPr txBox="1"/>
          <p:nvPr/>
        </p:nvSpPr>
        <p:spPr>
          <a:xfrm>
            <a:off x="8626856" y="6562597"/>
            <a:ext cx="135255"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4E3629"/>
                </a:solidFill>
                <a:latin typeface="Calibri"/>
                <a:ea typeface="Calibri"/>
                <a:cs typeface="Calibri"/>
                <a:sym typeface="Calibri"/>
              </a:rPr>
              <a:t>12</a:t>
            </a:r>
            <a:endParaRPr sz="850">
              <a:latin typeface="Calibri"/>
              <a:ea typeface="Calibri"/>
              <a:cs typeface="Calibri"/>
              <a:sym typeface="Calibri"/>
            </a:endParaRPr>
          </a:p>
        </p:txBody>
      </p:sp>
      <p:graphicFrame>
        <p:nvGraphicFramePr>
          <p:cNvPr id="171" name="Google Shape;171;p24"/>
          <p:cNvGraphicFramePr/>
          <p:nvPr/>
        </p:nvGraphicFramePr>
        <p:xfrm>
          <a:off x="398462" y="2948953"/>
          <a:ext cx="3000000" cy="3000000"/>
        </p:xfrm>
        <a:graphic>
          <a:graphicData uri="http://schemas.openxmlformats.org/drawingml/2006/table">
            <a:tbl>
              <a:tblPr bandRow="1" firstRow="1">
                <a:noFill/>
                <a:tableStyleId>{6A5E3C50-BC13-41F1-A54B-A67574026CEC}</a:tableStyleId>
              </a:tblPr>
              <a:tblGrid>
                <a:gridCol w="5795000"/>
                <a:gridCol w="1396375"/>
                <a:gridCol w="1155700"/>
              </a:tblGrid>
              <a:tr h="395600">
                <a:tc>
                  <a:txBody>
                    <a:bodyPr/>
                    <a:lstStyle/>
                    <a:p>
                      <a:pPr indent="0" lvl="0" marL="92710" marR="0" rtl="0" algn="l">
                        <a:lnSpc>
                          <a:spcPct val="100000"/>
                        </a:lnSpc>
                        <a:spcBef>
                          <a:spcPts val="0"/>
                        </a:spcBef>
                        <a:spcAft>
                          <a:spcPts val="0"/>
                        </a:spcAft>
                        <a:buNone/>
                      </a:pPr>
                      <a:r>
                        <a:rPr lang="en-US" sz="2000" u="none" cap="none" strike="noStrike">
                          <a:solidFill>
                            <a:srgbClr val="4E3629"/>
                          </a:solidFill>
                          <a:latin typeface="Calibri"/>
                          <a:ea typeface="Calibri"/>
                          <a:cs typeface="Calibri"/>
                          <a:sym typeface="Calibri"/>
                        </a:rPr>
                        <a:t>Ejemplos:</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gridSpan="2">
                  <a:txBody>
                    <a:bodyPr/>
                    <a:lstStyle/>
                    <a:p>
                      <a:pPr indent="0" lvl="0" marL="92710" marR="0" rtl="0" algn="l">
                        <a:lnSpc>
                          <a:spcPct val="100000"/>
                        </a:lnSpc>
                        <a:spcBef>
                          <a:spcPts val="0"/>
                        </a:spcBef>
                        <a:spcAft>
                          <a:spcPts val="0"/>
                        </a:spcAft>
                        <a:buNone/>
                      </a:pPr>
                      <a:r>
                        <a:rPr lang="en-US" sz="2000" u="none" cap="none" strike="noStrike">
                          <a:solidFill>
                            <a:srgbClr val="4E3629"/>
                          </a:solidFill>
                          <a:latin typeface="Calibri"/>
                          <a:ea typeface="Calibri"/>
                          <a:cs typeface="Calibri"/>
                          <a:sym typeface="Calibri"/>
                        </a:rPr>
                        <a:t>Salida</a:t>
                      </a:r>
                      <a:endParaRPr sz="20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hMerge="1"/>
              </a:tr>
              <a:tr h="1026150">
                <a:tc>
                  <a:txBody>
                    <a:bodyPr/>
                    <a:lstStyle/>
                    <a:p>
                      <a:pPr indent="-635" lvl="0" marL="92710" marR="2112645" rtl="0" algn="l">
                        <a:lnSpc>
                          <a:spcPct val="143750"/>
                        </a:lnSpc>
                        <a:spcBef>
                          <a:spcPts val="0"/>
                        </a:spcBef>
                        <a:spcAft>
                          <a:spcPts val="0"/>
                        </a:spcAft>
                        <a:buNone/>
                      </a:pPr>
                      <a:r>
                        <a:rPr lang="en-US" sz="1600" u="none" cap="none" strike="noStrike">
                          <a:solidFill>
                            <a:srgbClr val="4E3629"/>
                          </a:solidFill>
                          <a:latin typeface="Calibri"/>
                          <a:ea typeface="Calibri"/>
                          <a:cs typeface="Calibri"/>
                          <a:sym typeface="Calibri"/>
                        </a:rPr>
                        <a:t>SELECT last_name, NVL(commission_pct, 0) FROM employees</a:t>
                      </a:r>
                      <a:endParaRPr sz="1600" u="none" cap="none" strike="noStrike">
                        <a:latin typeface="Calibri"/>
                        <a:ea typeface="Calibri"/>
                        <a:cs typeface="Calibri"/>
                        <a:sym typeface="Calibri"/>
                      </a:endParaRPr>
                    </a:p>
                    <a:p>
                      <a:pPr indent="0" lvl="0" marL="92710" marR="0" rtl="0" algn="l">
                        <a:lnSpc>
                          <a:spcPct val="100000"/>
                        </a:lnSpc>
                        <a:spcBef>
                          <a:spcPts val="175"/>
                        </a:spcBef>
                        <a:spcAft>
                          <a:spcPts val="0"/>
                        </a:spcAft>
                        <a:buNone/>
                      </a:pPr>
                      <a:r>
                        <a:rPr lang="en-US" sz="1600" u="none" cap="none" strike="noStrike">
                          <a:solidFill>
                            <a:srgbClr val="4E3629"/>
                          </a:solidFill>
                          <a:latin typeface="Calibri"/>
                          <a:ea typeface="Calibri"/>
                          <a:cs typeface="Calibri"/>
                          <a:sym typeface="Calibri"/>
                        </a:rPr>
                        <a:t>WHERE department_id IN(80,90);</a:t>
                      </a:r>
                      <a:endParaRPr sz="16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tcPr>
                </a:tc>
                <a:tc>
                  <a:txBody>
                    <a:bodyPr/>
                    <a:lstStyle/>
                    <a:p>
                      <a:pPr indent="0" lvl="0" marL="9271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Zlotkey</a:t>
                      </a:r>
                      <a:endParaRPr sz="1800" u="none" cap="none" strike="noStrike">
                        <a:latin typeface="Calibri"/>
                        <a:ea typeface="Calibri"/>
                        <a:cs typeface="Calibri"/>
                        <a:sym typeface="Calibri"/>
                      </a:endParaRPr>
                    </a:p>
                    <a:p>
                      <a:pPr indent="0" lvl="0" marL="92710" marR="741680" rtl="0" algn="l">
                        <a:lnSpc>
                          <a:spcPct val="120000"/>
                        </a:lnSpc>
                        <a:spcBef>
                          <a:spcPts val="0"/>
                        </a:spcBef>
                        <a:spcAft>
                          <a:spcPts val="0"/>
                        </a:spcAft>
                        <a:buNone/>
                      </a:pPr>
                      <a:r>
                        <a:rPr lang="en-US" sz="1800" u="none" cap="none" strike="noStrike">
                          <a:solidFill>
                            <a:srgbClr val="4E3629"/>
                          </a:solidFill>
                          <a:latin typeface="Calibri"/>
                          <a:ea typeface="Calibri"/>
                          <a:cs typeface="Calibri"/>
                          <a:sym typeface="Calibri"/>
                        </a:rPr>
                        <a:t>Abel Taylor</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tcPr>
                </a:tc>
                <a:tc rowSpan="2">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6400">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B cap="flat" cmpd="sng" w="12700">
                      <a:solidFill>
                        <a:srgbClr val="D1350F"/>
                      </a:solidFill>
                      <a:prstDash val="solid"/>
                      <a:round/>
                      <a:headEnd len="sm" w="sm" type="none"/>
                      <a:tailEnd len="sm" w="sm" type="none"/>
                    </a:lnB>
                  </a:tcPr>
                </a:tc>
                <a:tc>
                  <a:txBody>
                    <a:bodyPr/>
                    <a:lstStyle/>
                    <a:p>
                      <a:pPr indent="0" lvl="0" marL="92710" marR="0" rtl="0" algn="l">
                        <a:lnSpc>
                          <a:spcPct val="117777"/>
                        </a:lnSpc>
                        <a:spcBef>
                          <a:spcPts val="0"/>
                        </a:spcBef>
                        <a:spcAft>
                          <a:spcPts val="0"/>
                        </a:spcAft>
                        <a:buNone/>
                      </a:pPr>
                      <a:r>
                        <a:rPr lang="en-US" sz="1800" u="none" cap="none" strike="noStrike">
                          <a:solidFill>
                            <a:srgbClr val="4E3629"/>
                          </a:solidFill>
                          <a:latin typeface="Calibri"/>
                          <a:ea typeface="Calibri"/>
                          <a:cs typeface="Calibri"/>
                          <a:sym typeface="Calibri"/>
                        </a:rPr>
                        <a:t>King</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B cap="flat" cmpd="sng" w="12700">
                      <a:solidFill>
                        <a:srgbClr val="D1350F"/>
                      </a:solidFill>
                      <a:prstDash val="solid"/>
                      <a:round/>
                      <a:headEnd len="sm" w="sm" type="none"/>
                      <a:tailEnd len="sm" w="sm" type="none"/>
                    </a:lnB>
                  </a:tcPr>
                </a:tc>
                <a:tc vMerge="1"/>
              </a:tr>
              <a:tr h="346075">
                <a:tc>
                  <a:txBody>
                    <a:bodyPr/>
                    <a:lstStyle/>
                    <a:p>
                      <a:pPr indent="0" lvl="0" marL="9271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SELECT NVL(date_of_independence, 'No date')</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tcPr>
                </a:tc>
                <a:tc gridSpan="2">
                  <a:txBody>
                    <a:bodyPr/>
                    <a:lstStyle/>
                    <a:p>
                      <a:pPr indent="0" lvl="0" marL="9271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1-Jul-1867</a:t>
                      </a:r>
                      <a:endParaRPr sz="1800" u="none" cap="none" strike="noStrike">
                        <a:latin typeface="Calibri"/>
                        <a:ea typeface="Calibri"/>
                        <a:cs typeface="Calibri"/>
                        <a:sym typeface="Calibri"/>
                      </a:endParaRPr>
                    </a:p>
                  </a:txBody>
                  <a:tcPr marT="3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tcPr>
                </a:tc>
                <a:tc hMerge="1"/>
              </a:tr>
              <a:tr h="348625">
                <a:tc>
                  <a:txBody>
                    <a:bodyPr/>
                    <a:lstStyle/>
                    <a:p>
                      <a:pPr indent="0" lvl="0" marL="92710" marR="0" rtl="0" algn="l">
                        <a:lnSpc>
                          <a:spcPct val="109687"/>
                        </a:lnSpc>
                        <a:spcBef>
                          <a:spcPts val="0"/>
                        </a:spcBef>
                        <a:spcAft>
                          <a:spcPts val="0"/>
                        </a:spcAft>
                        <a:buNone/>
                      </a:pPr>
                      <a:r>
                        <a:rPr lang="en-US" sz="1600" u="none" cap="none" strike="noStrike">
                          <a:solidFill>
                            <a:srgbClr val="4E3629"/>
                          </a:solidFill>
                          <a:latin typeface="Calibri"/>
                          <a:ea typeface="Calibri"/>
                          <a:cs typeface="Calibri"/>
                          <a:sym typeface="Calibri"/>
                        </a:rPr>
                        <a:t>FROM wf_countries;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tcPr>
                </a:tc>
                <a:tc gridSpan="2">
                  <a:txBody>
                    <a:bodyPr/>
                    <a:lstStyle/>
                    <a:p>
                      <a:pPr indent="0" lvl="0" marL="92710" marR="0" rtl="0" algn="l">
                        <a:lnSpc>
                          <a:spcPct val="100000"/>
                        </a:lnSpc>
                        <a:spcBef>
                          <a:spcPts val="0"/>
                        </a:spcBef>
                        <a:spcAft>
                          <a:spcPts val="0"/>
                        </a:spcAft>
                        <a:buNone/>
                      </a:pPr>
                      <a:r>
                        <a:rPr lang="en-US" sz="1800" u="none" cap="none" strike="noStrike">
                          <a:solidFill>
                            <a:srgbClr val="4E3629"/>
                          </a:solidFill>
                          <a:latin typeface="Calibri"/>
                          <a:ea typeface="Calibri"/>
                          <a:cs typeface="Calibri"/>
                          <a:sym typeface="Calibri"/>
                        </a:rPr>
                        <a:t>15-Sep-1821</a:t>
                      </a:r>
                      <a:endParaRPr sz="1800" u="none" cap="none" strike="noStrike">
                        <a:latin typeface="Calibri"/>
                        <a:ea typeface="Calibri"/>
                        <a:cs typeface="Calibri"/>
                        <a:sym typeface="Calibri"/>
                      </a:endParaRPr>
                    </a:p>
                  </a:txBody>
                  <a:tcPr marT="127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tcPr>
                </a:tc>
                <a:tc hMerge="1"/>
              </a:tr>
              <a:tr h="657225">
                <a:tc>
                  <a:txBody>
                    <a:bodyPr/>
                    <a:lstStyle/>
                    <a:p>
                      <a:pPr indent="0" lvl="0" marL="9271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r>
                        <a:rPr lang="en-US" sz="1600" u="none" cap="none" strike="noStrike">
                          <a:solidFill>
                            <a:srgbClr val="FF0000"/>
                          </a:solidFill>
                          <a:latin typeface="Calibri"/>
                          <a:ea typeface="Calibri"/>
                          <a:cs typeface="Calibri"/>
                          <a:sym typeface="Calibri"/>
                        </a:rPr>
                        <a:t>Tipo de datos de date_of_independence es Varchar2</a:t>
                      </a:r>
                      <a:endParaRPr sz="1600" u="none" cap="none" strike="noStrike">
                        <a:latin typeface="Calibri"/>
                        <a:ea typeface="Calibri"/>
                        <a:cs typeface="Calibri"/>
                        <a:sym typeface="Calibri"/>
                      </a:endParaRPr>
                    </a:p>
                  </a:txBody>
                  <a:tcPr marT="205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B cap="flat" cmpd="sng" w="12700">
                      <a:solidFill>
                        <a:srgbClr val="D1350F"/>
                      </a:solidFill>
                      <a:prstDash val="solid"/>
                      <a:round/>
                      <a:headEnd len="sm" w="sm" type="none"/>
                      <a:tailEnd len="sm" w="sm" type="none"/>
                    </a:lnB>
                  </a:tcPr>
                </a:tc>
                <a:tc gridSpan="2">
                  <a:txBody>
                    <a:bodyPr/>
                    <a:lstStyle/>
                    <a:p>
                      <a:pPr indent="0" lvl="0" marL="92710" marR="0" rtl="0" algn="l">
                        <a:lnSpc>
                          <a:spcPct val="116944"/>
                        </a:lnSpc>
                        <a:spcBef>
                          <a:spcPts val="0"/>
                        </a:spcBef>
                        <a:spcAft>
                          <a:spcPts val="0"/>
                        </a:spcAft>
                        <a:buNone/>
                      </a:pPr>
                      <a:r>
                        <a:rPr lang="en-US" sz="1800" u="none" cap="none" strike="noStrike">
                          <a:solidFill>
                            <a:srgbClr val="4E3629"/>
                          </a:solidFill>
                          <a:latin typeface="Calibri"/>
                          <a:ea typeface="Calibri"/>
                          <a:cs typeface="Calibri"/>
                          <a:sym typeface="Calibri"/>
                        </a:rPr>
                        <a:t>5-Jul-1975</a:t>
                      </a:r>
                      <a:endParaRPr sz="1800" u="none" cap="none" strike="noStrike">
                        <a:latin typeface="Calibri"/>
                        <a:ea typeface="Calibri"/>
                        <a:cs typeface="Calibri"/>
                        <a:sym typeface="Calibri"/>
                      </a:endParaRPr>
                    </a:p>
                    <a:p>
                      <a:pPr indent="0" lvl="0" marL="92710" marR="0" rtl="0" algn="l">
                        <a:lnSpc>
                          <a:spcPct val="100000"/>
                        </a:lnSpc>
                        <a:spcBef>
                          <a:spcPts val="455"/>
                        </a:spcBef>
                        <a:spcAft>
                          <a:spcPts val="0"/>
                        </a:spcAft>
                        <a:buNone/>
                      </a:pPr>
                      <a:r>
                        <a:rPr lang="en-US" sz="1800" u="none" cap="none" strike="noStrike">
                          <a:solidFill>
                            <a:srgbClr val="FF0000"/>
                          </a:solidFill>
                          <a:latin typeface="Calibri"/>
                          <a:ea typeface="Calibri"/>
                          <a:cs typeface="Calibri"/>
                          <a:sym typeface="Calibri"/>
                        </a:rPr>
                        <a:t>No date</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B cap="flat" cmpd="sng" w="12700">
                      <a:solidFill>
                        <a:srgbClr val="D1350F"/>
                      </a:solidFill>
                      <a:prstDash val="solid"/>
                      <a:round/>
                      <a:headEnd len="sm" w="sm" type="none"/>
                      <a:tailEnd len="sm" w="sm" type="none"/>
                    </a:lnB>
                  </a:tcPr>
                </a:tc>
                <a:tc hMerge="1"/>
              </a:tr>
            </a:tbl>
          </a:graphicData>
        </a:graphic>
      </p:graphicFrame>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5"/>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Función NVL</a:t>
            </a:r>
            <a:endParaRPr/>
          </a:p>
        </p:txBody>
      </p:sp>
      <p:sp>
        <p:nvSpPr>
          <p:cNvPr id="177" name="Google Shape;177;p25"/>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178" name="Google Shape;178;p2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79" name="Google Shape;179;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0" name="Google Shape;180;p25"/>
          <p:cNvSpPr txBox="1"/>
          <p:nvPr/>
        </p:nvSpPr>
        <p:spPr>
          <a:xfrm>
            <a:off x="483552" y="1415417"/>
            <a:ext cx="8032750" cy="33445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utilizar la función NVL para convertir los valores 	de columna que contengan valores nulos en un 	número antes de realizar los cálculos</a:t>
            </a:r>
            <a:endParaRPr sz="2800">
              <a:latin typeface="Calibri"/>
              <a:ea typeface="Calibri"/>
              <a:cs typeface="Calibri"/>
              <a:sym typeface="Calibri"/>
            </a:endParaRPr>
          </a:p>
          <a:p>
            <a:pPr indent="-177800" lvl="0" marL="182880" marR="35433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Cuando se realiza un cálculo aritmético con un valor 	nulo, el resultado es nulo</a:t>
            </a:r>
            <a:endParaRPr sz="2800">
              <a:latin typeface="Calibri"/>
              <a:ea typeface="Calibri"/>
              <a:cs typeface="Calibri"/>
              <a:sym typeface="Calibri"/>
            </a:endParaRPr>
          </a:p>
          <a:p>
            <a:pPr indent="-177800" lvl="0" marL="182880" marR="66230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función NVL puede convertir el valor null en un 	número antes de que se realicen los cálculos 	aritméticos para evitar un resultado nulo</a:t>
            </a:r>
            <a:endParaRPr sz="28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6"/>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Función NVL</a:t>
            </a:r>
            <a:endParaRPr/>
          </a:p>
        </p:txBody>
      </p:sp>
      <p:sp>
        <p:nvSpPr>
          <p:cNvPr id="186" name="Google Shape;186;p26"/>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187" name="Google Shape;187;p26"/>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8" name="Google Shape;188;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9" name="Google Shape;189;p26"/>
          <p:cNvSpPr txBox="1"/>
          <p:nvPr/>
        </p:nvSpPr>
        <p:spPr>
          <a:xfrm>
            <a:off x="483552" y="1415417"/>
            <a:ext cx="7908925" cy="17062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la columna commission_pct de la tabla 	employees contiene valores nulos</a:t>
            </a:r>
            <a:endParaRPr sz="2800">
              <a:latin typeface="Calibri"/>
              <a:ea typeface="Calibri"/>
              <a:cs typeface="Calibri"/>
              <a:sym typeface="Calibri"/>
            </a:endParaRPr>
          </a:p>
          <a:p>
            <a:pPr indent="-177800" lvl="0" marL="182880" marR="15430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función NVL se utiliza para cambiar el valor nulo a 	cero antes de los cálculos aritméticos</a:t>
            </a:r>
            <a:endParaRPr sz="2800">
              <a:latin typeface="Calibri"/>
              <a:ea typeface="Calibri"/>
              <a:cs typeface="Calibri"/>
              <a:sym typeface="Calibri"/>
            </a:endParaRPr>
          </a:p>
        </p:txBody>
      </p:sp>
      <p:graphicFrame>
        <p:nvGraphicFramePr>
          <p:cNvPr id="190" name="Google Shape;190;p26"/>
          <p:cNvGraphicFramePr/>
          <p:nvPr/>
        </p:nvGraphicFramePr>
        <p:xfrm>
          <a:off x="5791908" y="3751324"/>
          <a:ext cx="3000000" cy="3000000"/>
        </p:xfrm>
        <a:graphic>
          <a:graphicData uri="http://schemas.openxmlformats.org/drawingml/2006/table">
            <a:tbl>
              <a:tblPr bandRow="1" firstRow="1">
                <a:noFill/>
                <a:tableStyleId>{6A5E3C50-BC13-41F1-A54B-A67574026CEC}</a:tableStyleId>
              </a:tblPr>
              <a:tblGrid>
                <a:gridCol w="1407800"/>
                <a:gridCol w="1407800"/>
              </a:tblGrid>
              <a:tr h="34352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368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Commission</a:t>
                      </a:r>
                      <a:endParaRPr sz="1600" u="none" cap="none" strike="noStrike">
                        <a:latin typeface="Calibri"/>
                        <a:ea typeface="Calibri"/>
                        <a:cs typeface="Calibri"/>
                        <a:sym typeface="Calibri"/>
                      </a:endParaRPr>
                    </a:p>
                  </a:txBody>
                  <a:tcPr marT="368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079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Zlotkey</a:t>
                      </a:r>
                      <a:endParaRPr sz="1600" u="none" cap="none" strike="noStrike">
                        <a:latin typeface="Calibri"/>
                        <a:ea typeface="Calibri"/>
                        <a:cs typeface="Calibri"/>
                        <a:sym typeface="Calibri"/>
                      </a:endParaRPr>
                    </a:p>
                  </a:txBody>
                  <a:tcPr marT="1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Abel</a:t>
                      </a:r>
                      <a:endParaRPr sz="1600" u="none" cap="none" strike="noStrike">
                        <a:latin typeface="Calibri"/>
                        <a:ea typeface="Calibri"/>
                        <a:cs typeface="Calibri"/>
                        <a:sym typeface="Calibri"/>
                      </a:endParaRPr>
                    </a:p>
                  </a:txBody>
                  <a:tcPr marT="228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75</a:t>
                      </a:r>
                      <a:endParaRPr sz="1600" u="none" cap="none" strike="noStrike">
                        <a:latin typeface="Calibri"/>
                        <a:ea typeface="Calibri"/>
                        <a:cs typeface="Calibri"/>
                        <a:sym typeface="Calibri"/>
                      </a:endParaRPr>
                    </a:p>
                  </a:txBody>
                  <a:tcPr marT="228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41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Taylor</a:t>
                      </a:r>
                      <a:endParaRPr sz="1600" u="none" cap="none" strike="noStrike">
                        <a:latin typeface="Calibri"/>
                        <a:ea typeface="Calibri"/>
                        <a:cs typeface="Calibri"/>
                        <a:sym typeface="Calibri"/>
                      </a:endParaRPr>
                    </a:p>
                  </a:txBody>
                  <a:tcPr marT="17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7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48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17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0</a:t>
                      </a:r>
                      <a:endParaRPr sz="1600" u="none" cap="none" strike="noStrike">
                        <a:latin typeface="Calibri"/>
                        <a:ea typeface="Calibri"/>
                        <a:cs typeface="Calibri"/>
                        <a:sym typeface="Calibri"/>
                      </a:endParaRPr>
                    </a:p>
                  </a:txBody>
                  <a:tcPr marT="17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1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228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0</a:t>
                      </a:r>
                      <a:endParaRPr sz="1600" u="none" cap="none" strike="noStrike">
                        <a:latin typeface="Calibri"/>
                        <a:ea typeface="Calibri"/>
                        <a:cs typeface="Calibri"/>
                        <a:sym typeface="Calibri"/>
                      </a:endParaRPr>
                    </a:p>
                  </a:txBody>
                  <a:tcPr marT="228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25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0</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91" name="Google Shape;191;p26"/>
          <p:cNvSpPr txBox="1"/>
          <p:nvPr/>
        </p:nvSpPr>
        <p:spPr>
          <a:xfrm>
            <a:off x="405384" y="3758184"/>
            <a:ext cx="4707890" cy="1442085"/>
          </a:xfrm>
          <a:prstGeom prst="rect">
            <a:avLst/>
          </a:prstGeom>
          <a:solidFill>
            <a:srgbClr val="9DBDC4">
              <a:alpha val="49804"/>
            </a:srgbClr>
          </a:solidFill>
          <a:ln>
            <a:noFill/>
          </a:ln>
        </p:spPr>
        <p:txBody>
          <a:bodyPr anchorCtr="0" anchor="t" bIns="0" lIns="0" spcFirstLastPara="1" rIns="0" wrap="square" tIns="6975">
            <a:spAutoFit/>
          </a:bodyPr>
          <a:lstStyle/>
          <a:p>
            <a:pPr indent="0" lvl="0" marL="0" marR="11525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last_name, NVL(commission_pct, 0)*250</a:t>
            </a:r>
            <a:endParaRPr sz="1800">
              <a:latin typeface="Courier New"/>
              <a:ea typeface="Courier New"/>
              <a:cs typeface="Courier New"/>
              <a:sym typeface="Courier New"/>
            </a:endParaRPr>
          </a:p>
          <a:p>
            <a:pPr indent="274320" lvl="0" marL="0" marR="237934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AS "Commission" 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IN(80,90);</a:t>
            </a:r>
            <a:endParaRPr sz="1800">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7"/>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Función NVL2</a:t>
            </a:r>
            <a:endParaRPr/>
          </a:p>
        </p:txBody>
      </p:sp>
      <p:sp>
        <p:nvSpPr>
          <p:cNvPr id="197" name="Google Shape;197;p27"/>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198" name="Google Shape;198;p27"/>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99" name="Google Shape;199;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0" name="Google Shape;200;p27"/>
          <p:cNvSpPr txBox="1"/>
          <p:nvPr/>
        </p:nvSpPr>
        <p:spPr>
          <a:xfrm>
            <a:off x="483552" y="1365735"/>
            <a:ext cx="8088630" cy="4439920"/>
          </a:xfrm>
          <a:prstGeom prst="rect">
            <a:avLst/>
          </a:prstGeom>
          <a:noFill/>
          <a:ln>
            <a:noFill/>
          </a:ln>
        </p:spPr>
        <p:txBody>
          <a:bodyPr anchorCtr="0" anchor="t" bIns="0" lIns="0" spcFirstLastPara="1" rIns="0" wrap="square" tIns="35550">
            <a:spAutoFit/>
          </a:bodyPr>
          <a:lstStyle/>
          <a:p>
            <a:pPr indent="-172085" lvl="0" marL="184785" rtl="0" algn="l">
              <a:lnSpc>
                <a:spcPct val="100000"/>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La función NVL2 evalúa una expresión con tres valores</a:t>
            </a:r>
            <a:endParaRPr sz="2600">
              <a:latin typeface="Calibri"/>
              <a:ea typeface="Calibri"/>
              <a:cs typeface="Calibri"/>
              <a:sym typeface="Calibri"/>
            </a:endParaRPr>
          </a:p>
          <a:p>
            <a:pPr indent="-172720" lvl="0" marL="184785" marR="324485" rtl="0" algn="l">
              <a:lnSpc>
                <a:spcPct val="96153"/>
              </a:lnSpc>
              <a:spcBef>
                <a:spcPts val="78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Si el primer valor no es nulo, la función NVL2 devuelve la segunda expresión</a:t>
            </a:r>
            <a:endParaRPr sz="2600">
              <a:latin typeface="Calibri"/>
              <a:ea typeface="Calibri"/>
              <a:cs typeface="Calibri"/>
              <a:sym typeface="Calibri"/>
            </a:endParaRPr>
          </a:p>
          <a:p>
            <a:pPr indent="-172085" lvl="0" marL="184785" rtl="0" algn="l">
              <a:lnSpc>
                <a:spcPct val="100000"/>
              </a:lnSpc>
              <a:spcBef>
                <a:spcPts val="18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Si el primer valor es nulo, se devolverá la tercera expresión</a:t>
            </a:r>
            <a:endParaRPr sz="2600">
              <a:latin typeface="Calibri"/>
              <a:ea typeface="Calibri"/>
              <a:cs typeface="Calibri"/>
              <a:sym typeface="Calibri"/>
            </a:endParaRPr>
          </a:p>
          <a:p>
            <a:pPr indent="-172720" lvl="0" marL="184785" marR="259079" rtl="0" algn="l">
              <a:lnSpc>
                <a:spcPct val="96153"/>
              </a:lnSpc>
              <a:spcBef>
                <a:spcPts val="78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Los valores de la expresión 1 pueden tener cualquier tipo de dato</a:t>
            </a:r>
            <a:endParaRPr sz="2600">
              <a:latin typeface="Calibri"/>
              <a:ea typeface="Calibri"/>
              <a:cs typeface="Calibri"/>
              <a:sym typeface="Calibri"/>
            </a:endParaRPr>
          </a:p>
          <a:p>
            <a:pPr indent="-172720" lvl="0" marL="184785" marR="5080" rtl="0" algn="l">
              <a:lnSpc>
                <a:spcPct val="96153"/>
              </a:lnSpc>
              <a:spcBef>
                <a:spcPts val="80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La expresión 2 y la expresión 3 pueden tener cualquier tipo de dato, excepto LONG</a:t>
            </a:r>
            <a:endParaRPr sz="2600">
              <a:latin typeface="Calibri"/>
              <a:ea typeface="Calibri"/>
              <a:cs typeface="Calibri"/>
              <a:sym typeface="Calibri"/>
            </a:endParaRPr>
          </a:p>
          <a:p>
            <a:pPr indent="-172720" lvl="0" marL="184785" marR="41275" rtl="0" algn="l">
              <a:lnSpc>
                <a:spcPct val="96153"/>
              </a:lnSpc>
              <a:spcBef>
                <a:spcPts val="78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El tipo de dato del valor devuelto siempre es el mismo que el tipo de dato de la expresión 2, a menos que la expresión 2 sean datos de caracteres, en cuyo caso, el tipo devuelto es VARCHAR2</a:t>
            </a:r>
            <a:endParaRPr sz="26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8"/>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Función NVL2</a:t>
            </a:r>
            <a:endParaRPr/>
          </a:p>
        </p:txBody>
      </p:sp>
      <p:sp>
        <p:nvSpPr>
          <p:cNvPr id="206" name="Google Shape;206;p28"/>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207" name="Google Shape;207;p28"/>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8" name="Google Shape;208;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9" name="Google Shape;209;p28"/>
          <p:cNvSpPr txBox="1"/>
          <p:nvPr/>
        </p:nvSpPr>
        <p:spPr>
          <a:xfrm>
            <a:off x="483552" y="1415417"/>
            <a:ext cx="3020695"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función NVL2 es:</a:t>
            </a:r>
            <a:endParaRPr sz="2800">
              <a:latin typeface="Calibri"/>
              <a:ea typeface="Calibri"/>
              <a:cs typeface="Calibri"/>
              <a:sym typeface="Calibri"/>
            </a:endParaRPr>
          </a:p>
        </p:txBody>
      </p:sp>
      <p:sp>
        <p:nvSpPr>
          <p:cNvPr id="210" name="Google Shape;210;p28"/>
          <p:cNvSpPr txBox="1"/>
          <p:nvPr/>
        </p:nvSpPr>
        <p:spPr>
          <a:xfrm>
            <a:off x="483552" y="2872361"/>
            <a:ext cx="7723505"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manera fácil de recordar NVL2 es pensar: "si la 	expresión 1 tiene un valor, sustituir expresión 2; si la 	expresión 1 es nula, sustituir expresión 3"</a:t>
            </a:r>
            <a:endParaRPr sz="2800">
              <a:latin typeface="Calibri"/>
              <a:ea typeface="Calibri"/>
              <a:cs typeface="Calibri"/>
              <a:sym typeface="Calibri"/>
            </a:endParaRPr>
          </a:p>
        </p:txBody>
      </p:sp>
      <p:sp>
        <p:nvSpPr>
          <p:cNvPr id="211" name="Google Shape;211;p28"/>
          <p:cNvSpPr txBox="1"/>
          <p:nvPr/>
        </p:nvSpPr>
        <p:spPr>
          <a:xfrm>
            <a:off x="405384" y="1865376"/>
            <a:ext cx="8345805" cy="970915"/>
          </a:xfrm>
          <a:prstGeom prst="rect">
            <a:avLst/>
          </a:prstGeom>
          <a:solidFill>
            <a:srgbClr val="9DBDC4">
              <a:alpha val="49804"/>
            </a:srgbClr>
          </a:solidFill>
          <a:ln>
            <a:noFill/>
          </a:ln>
        </p:spPr>
        <p:txBody>
          <a:bodyPr anchorCtr="0" anchor="t" bIns="0" lIns="0" spcFirstLastPara="1" rIns="0" wrap="square" tIns="457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NVL2 (expression 1 value that may contain a null, expression</a:t>
            </a:r>
            <a:endParaRPr sz="1800">
              <a:latin typeface="Courier New"/>
              <a:ea typeface="Courier New"/>
              <a:cs typeface="Courier New"/>
              <a:sym typeface="Courier New"/>
            </a:endParaRPr>
          </a:p>
          <a:p>
            <a:pPr indent="0" lvl="0" marL="0" marR="28575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2 value to return if expression 1 is not null, expression 3 value to replace if expression 1 is null)</a:t>
            </a:r>
            <a:endParaRPr sz="1800">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9"/>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Función NVL2</a:t>
            </a:r>
            <a:endParaRPr/>
          </a:p>
        </p:txBody>
      </p:sp>
      <p:sp>
        <p:nvSpPr>
          <p:cNvPr id="217" name="Google Shape;217;p29"/>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218" name="Google Shape;218;p29"/>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9" name="Google Shape;219;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0" name="Google Shape;220;p29"/>
          <p:cNvSpPr txBox="1"/>
          <p:nvPr/>
        </p:nvSpPr>
        <p:spPr>
          <a:xfrm>
            <a:off x="483552" y="1415417"/>
            <a:ext cx="689229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función NVL2 mostrada utiliza tipos de dato 	numéricos para las expresiones 1, 2 y 3</a:t>
            </a:r>
            <a:endParaRPr sz="2800">
              <a:latin typeface="Calibri"/>
              <a:ea typeface="Calibri"/>
              <a:cs typeface="Calibri"/>
              <a:sym typeface="Calibri"/>
            </a:endParaRPr>
          </a:p>
        </p:txBody>
      </p:sp>
      <p:sp>
        <p:nvSpPr>
          <p:cNvPr id="221" name="Google Shape;221;p29"/>
          <p:cNvSpPr txBox="1"/>
          <p:nvPr/>
        </p:nvSpPr>
        <p:spPr>
          <a:xfrm>
            <a:off x="405384" y="2266188"/>
            <a:ext cx="8345805" cy="1666239"/>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2500"/>
              </a:lnSpc>
              <a:spcBef>
                <a:spcPts val="0"/>
              </a:spcBef>
              <a:spcAft>
                <a:spcPts val="0"/>
              </a:spcAft>
              <a:buNone/>
            </a:pPr>
            <a:r>
              <a:rPr b="1" lang="en-US" sz="1800">
                <a:solidFill>
                  <a:srgbClr val="4E3629"/>
                </a:solidFill>
                <a:latin typeface="Courier New"/>
                <a:ea typeface="Courier New"/>
                <a:cs typeface="Courier New"/>
                <a:sym typeface="Courier New"/>
              </a:rPr>
              <a:t>SELECT last_name, salary,</a:t>
            </a:r>
            <a:endParaRPr sz="1800">
              <a:latin typeface="Courier New"/>
              <a:ea typeface="Courier New"/>
              <a:cs typeface="Courier New"/>
              <a:sym typeface="Courier New"/>
            </a:endParaRPr>
          </a:p>
          <a:p>
            <a:pPr indent="274320" lvl="0" marL="0" marR="42100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NVL2(commission_pct, salary + (salary * commission_pct), salary)</a:t>
            </a:r>
            <a:endParaRPr sz="1800">
              <a:latin typeface="Courier New"/>
              <a:ea typeface="Courier New"/>
              <a:cs typeface="Courier New"/>
              <a:sym typeface="Courier New"/>
            </a:endParaRPr>
          </a:p>
          <a:p>
            <a:pPr indent="274320" lvl="0" marL="0" marR="642556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AS income 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IN(80,90);</a:t>
            </a:r>
            <a:endParaRPr sz="1800">
              <a:latin typeface="Courier New"/>
              <a:ea typeface="Courier New"/>
              <a:cs typeface="Courier New"/>
              <a:sym typeface="Courier New"/>
            </a:endParaRPr>
          </a:p>
        </p:txBody>
      </p:sp>
      <p:graphicFrame>
        <p:nvGraphicFramePr>
          <p:cNvPr id="222" name="Google Shape;222;p29"/>
          <p:cNvGraphicFramePr/>
          <p:nvPr/>
        </p:nvGraphicFramePr>
        <p:xfrm>
          <a:off x="4893047" y="4106771"/>
          <a:ext cx="3000000" cy="3000000"/>
        </p:xfrm>
        <a:graphic>
          <a:graphicData uri="http://schemas.openxmlformats.org/drawingml/2006/table">
            <a:tbl>
              <a:tblPr bandRow="1" firstRow="1">
                <a:noFill/>
                <a:tableStyleId>{6A5E3C50-BC13-41F1-A54B-A67574026CEC}</a:tableStyleId>
              </a:tblPr>
              <a:tblGrid>
                <a:gridCol w="1280150"/>
                <a:gridCol w="1280150"/>
                <a:gridCol w="1280150"/>
              </a:tblGrid>
              <a:tr h="39942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INCOME</a:t>
                      </a:r>
                      <a:endParaRPr sz="16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467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Zlotkey</a:t>
                      </a:r>
                      <a:endParaRPr sz="16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10500</a:t>
                      </a:r>
                      <a:endParaRPr sz="16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12600</a:t>
                      </a:r>
                      <a:endParaRPr sz="1600" u="none" cap="none" strike="noStrike">
                        <a:latin typeface="Calibri"/>
                        <a:ea typeface="Calibri"/>
                        <a:cs typeface="Calibri"/>
                        <a:sym typeface="Calibri"/>
                      </a:endParaRPr>
                    </a:p>
                  </a:txBody>
                  <a:tcPr marT="387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7175">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Abel</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11000</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14300</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37175">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Taylor</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8600</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10320</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6400">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6400">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04800">
                <a:tc>
                  <a:txBody>
                    <a:bodyPr/>
                    <a:lstStyle/>
                    <a:p>
                      <a:pPr indent="0" lvl="0" marL="7302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0"/>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Función NULLIF</a:t>
            </a:r>
            <a:endParaRPr/>
          </a:p>
        </p:txBody>
      </p:sp>
      <p:sp>
        <p:nvSpPr>
          <p:cNvPr id="228" name="Google Shape;228;p30"/>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229" name="Google Shape;229;p30"/>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0" name="Google Shape;230;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1" name="Google Shape;231;p30"/>
          <p:cNvSpPr txBox="1"/>
          <p:nvPr/>
        </p:nvSpPr>
        <p:spPr>
          <a:xfrm>
            <a:off x="483552" y="1355371"/>
            <a:ext cx="7096125" cy="2352675"/>
          </a:xfrm>
          <a:prstGeom prst="rect">
            <a:avLst/>
          </a:prstGeom>
          <a:noFill/>
          <a:ln>
            <a:noFill/>
          </a:ln>
        </p:spPr>
        <p:txBody>
          <a:bodyPr anchorCtr="0" anchor="t" bIns="0" lIns="0" spcFirstLastPara="1" rIns="0" wrap="square" tIns="717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función NULLIF compara dos expresiones</a:t>
            </a:r>
            <a:endParaRPr sz="2800">
              <a:latin typeface="Calibri"/>
              <a:ea typeface="Calibri"/>
              <a:cs typeface="Calibri"/>
              <a:sym typeface="Calibri"/>
            </a:endParaRPr>
          </a:p>
          <a:p>
            <a:pPr indent="-177800" lvl="0" marL="183515" rtl="0" algn="l">
              <a:lnSpc>
                <a:spcPct val="100000"/>
              </a:lnSpc>
              <a:spcBef>
                <a:spcPts val="47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son iguales, la función devuelve un valor nulo</a:t>
            </a:r>
            <a:endParaRPr sz="2800">
              <a:latin typeface="Calibri"/>
              <a:ea typeface="Calibri"/>
              <a:cs typeface="Calibri"/>
              <a:sym typeface="Calibri"/>
            </a:endParaRPr>
          </a:p>
          <a:p>
            <a:pPr indent="-177800" lvl="0" marL="182880" marR="508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no son iguales, la función devuelve la primera 	expresión</a:t>
            </a:r>
            <a:endParaRPr sz="2800">
              <a:latin typeface="Calibri"/>
              <a:ea typeface="Calibri"/>
              <a:cs typeface="Calibri"/>
              <a:sym typeface="Calibri"/>
            </a:endParaRPr>
          </a:p>
          <a:p>
            <a:pPr indent="-177800" lvl="0" marL="183515" rtl="0" algn="l">
              <a:lnSpc>
                <a:spcPct val="100000"/>
              </a:lnSpc>
              <a:spcBef>
                <a:spcPts val="4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función NULLIF es:</a:t>
            </a:r>
            <a:endParaRPr sz="2800">
              <a:latin typeface="Calibri"/>
              <a:ea typeface="Calibri"/>
              <a:cs typeface="Calibri"/>
              <a:sym typeface="Calibri"/>
            </a:endParaRPr>
          </a:p>
        </p:txBody>
      </p:sp>
      <p:sp>
        <p:nvSpPr>
          <p:cNvPr id="232" name="Google Shape;232;p30"/>
          <p:cNvSpPr txBox="1"/>
          <p:nvPr/>
        </p:nvSpPr>
        <p:spPr>
          <a:xfrm>
            <a:off x="405384" y="3913632"/>
            <a:ext cx="8345805" cy="367665"/>
          </a:xfrm>
          <a:prstGeom prst="rect">
            <a:avLst/>
          </a:prstGeom>
          <a:solidFill>
            <a:srgbClr val="9DBDC4">
              <a:alpha val="49804"/>
            </a:srgbClr>
          </a:solidFill>
          <a:ln>
            <a:noFill/>
          </a:ln>
        </p:spPr>
        <p:txBody>
          <a:bodyPr anchorCtr="0" anchor="t" bIns="0" lIns="0" spcFirstLastPara="1" rIns="0" wrap="square" tIns="184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NULLIF(expression 1, expression 2)</a:t>
            </a:r>
            <a:endParaRPr sz="1800">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1"/>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Función NULLIF</a:t>
            </a:r>
            <a:endParaRPr/>
          </a:p>
        </p:txBody>
      </p:sp>
      <p:sp>
        <p:nvSpPr>
          <p:cNvPr id="238" name="Google Shape;238;p31"/>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239" name="Google Shape;239;p31"/>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0" name="Google Shape;240;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1" name="Google Shape;241;p31"/>
          <p:cNvSpPr txBox="1"/>
          <p:nvPr/>
        </p:nvSpPr>
        <p:spPr>
          <a:xfrm>
            <a:off x="483552" y="1415417"/>
            <a:ext cx="8094345" cy="2474595"/>
          </a:xfrm>
          <a:prstGeom prst="rect">
            <a:avLst/>
          </a:prstGeom>
          <a:noFill/>
          <a:ln>
            <a:noFill/>
          </a:ln>
        </p:spPr>
        <p:txBody>
          <a:bodyPr anchorCtr="0" anchor="t" bIns="0" lIns="0" spcFirstLastPara="1" rIns="0" wrap="square" tIns="59675">
            <a:spAutoFit/>
          </a:bodyPr>
          <a:lstStyle/>
          <a:p>
            <a:pPr indent="-177800" lvl="0" marL="182880" marR="53975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NULLIF compara la longitud de los 	nombres y apellidos de los empleados</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la longitud de ambos elementos es la misma, NULLIF 	devuelve NULL (como en la fila 2 Curtis Davies); de lo 	contrario, se devuelve el valor LENGTH de la expresión 	1 de first_name</a:t>
            </a:r>
            <a:endParaRPr sz="2800">
              <a:latin typeface="Calibri"/>
              <a:ea typeface="Calibri"/>
              <a:cs typeface="Calibri"/>
              <a:sym typeface="Calibri"/>
            </a:endParaRPr>
          </a:p>
        </p:txBody>
      </p:sp>
      <p:graphicFrame>
        <p:nvGraphicFramePr>
          <p:cNvPr id="242" name="Google Shape;242;p31"/>
          <p:cNvGraphicFramePr/>
          <p:nvPr/>
        </p:nvGraphicFramePr>
        <p:xfrm>
          <a:off x="782637" y="4917904"/>
          <a:ext cx="3000000" cy="3000000"/>
        </p:xfrm>
        <a:graphic>
          <a:graphicData uri="http://schemas.openxmlformats.org/drawingml/2006/table">
            <a:tbl>
              <a:tblPr bandRow="1" firstRow="1">
                <a:noFill/>
                <a:tableStyleId>{6A5E3C50-BC13-41F1-A54B-A67574026CEC}</a:tableStyleId>
              </a:tblPr>
              <a:tblGrid>
                <a:gridCol w="1414775"/>
                <a:gridCol w="1330950"/>
                <a:gridCol w="1402725"/>
                <a:gridCol w="1176025"/>
                <a:gridCol w="2246000"/>
              </a:tblGrid>
              <a:tr h="3352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Length FN</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Length LN</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Compare Them</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692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Ellen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Abel</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Curtis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Davies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9250">
                <a:tc>
                  <a:txBody>
                    <a:bodyPr/>
                    <a:lstStyle/>
                    <a:p>
                      <a:pPr indent="0" lvl="0" marL="71755"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Lex</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20000"/>
                        </a:lnSpc>
                        <a:spcBef>
                          <a:spcPts val="0"/>
                        </a:spcBef>
                        <a:spcAft>
                          <a:spcPts val="0"/>
                        </a:spcAft>
                        <a:buNone/>
                      </a:pPr>
                      <a:r>
                        <a:rPr lang="en-US" sz="1600" u="none" cap="none" strike="noStrike">
                          <a:solidFill>
                            <a:srgbClr val="4E3629"/>
                          </a:solidFill>
                          <a:latin typeface="Calibri"/>
                          <a:ea typeface="Calibri"/>
                          <a:cs typeface="Calibri"/>
                          <a:sym typeface="Calibri"/>
                        </a:rPr>
                        <a:t>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43" name="Google Shape;243;p31"/>
          <p:cNvSpPr txBox="1"/>
          <p:nvPr/>
        </p:nvSpPr>
        <p:spPr>
          <a:xfrm>
            <a:off x="405384" y="3918203"/>
            <a:ext cx="8345805" cy="100584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1176"/>
              </a:lnSpc>
              <a:spcBef>
                <a:spcPts val="0"/>
              </a:spcBef>
              <a:spcAft>
                <a:spcPts val="0"/>
              </a:spcAft>
              <a:buNone/>
            </a:pPr>
            <a:r>
              <a:rPr b="1" lang="en-US" sz="1700">
                <a:solidFill>
                  <a:srgbClr val="4E3629"/>
                </a:solidFill>
                <a:latin typeface="Courier New"/>
                <a:ea typeface="Courier New"/>
                <a:cs typeface="Courier New"/>
                <a:sym typeface="Courier New"/>
              </a:rPr>
              <a:t>SELECT first_name, LENGTH(first_name) AS "Length FN", last_name,</a:t>
            </a:r>
            <a:endParaRPr sz="1700">
              <a:latin typeface="Courier New"/>
              <a:ea typeface="Courier New"/>
              <a:cs typeface="Courier New"/>
              <a:sym typeface="Courier New"/>
            </a:endParaRPr>
          </a:p>
          <a:p>
            <a:pPr indent="0" lvl="0" marL="258445" marR="264795" rtl="0" algn="l">
              <a:lnSpc>
                <a:spcPct val="100000"/>
              </a:lnSpc>
              <a:spcBef>
                <a:spcPts val="0"/>
              </a:spcBef>
              <a:spcAft>
                <a:spcPts val="0"/>
              </a:spcAft>
              <a:buNone/>
            </a:pPr>
            <a:r>
              <a:rPr b="1" lang="en-US" sz="1700">
                <a:solidFill>
                  <a:srgbClr val="4E3629"/>
                </a:solidFill>
                <a:latin typeface="Courier New"/>
                <a:ea typeface="Courier New"/>
                <a:cs typeface="Courier New"/>
                <a:sym typeface="Courier New"/>
              </a:rPr>
              <a:t>LENGTH(last_name) AS "Length LN", NULLIF(LENGTH(first_name), LENGTH(last_name)) AS "Compare Them"</a:t>
            </a:r>
            <a:endParaRPr sz="17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700">
                <a:solidFill>
                  <a:srgbClr val="4E3629"/>
                </a:solidFill>
                <a:latin typeface="Courier New"/>
                <a:ea typeface="Courier New"/>
                <a:cs typeface="Courier New"/>
                <a:sym typeface="Courier New"/>
              </a:rPr>
              <a:t>FROM employees;</a:t>
            </a:r>
            <a:endParaRPr sz="1700">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2"/>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Función COALESCE</a:t>
            </a:r>
            <a:endParaRPr/>
          </a:p>
        </p:txBody>
      </p:sp>
      <p:sp>
        <p:nvSpPr>
          <p:cNvPr id="249" name="Google Shape;249;p32"/>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250" name="Google Shape;250;p32"/>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51" name="Google Shape;251;p3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2" name="Google Shape;252;p32"/>
          <p:cNvSpPr txBox="1"/>
          <p:nvPr/>
        </p:nvSpPr>
        <p:spPr>
          <a:xfrm>
            <a:off x="483552" y="1419989"/>
            <a:ext cx="8161020" cy="4039235"/>
          </a:xfrm>
          <a:prstGeom prst="rect">
            <a:avLst/>
          </a:prstGeom>
          <a:noFill/>
          <a:ln>
            <a:noFill/>
          </a:ln>
        </p:spPr>
        <p:txBody>
          <a:bodyPr anchorCtr="0" anchor="t" bIns="0" lIns="0" spcFirstLastPara="1" rIns="0" wrap="square" tIns="57775">
            <a:spAutoFit/>
          </a:bodyPr>
          <a:lstStyle/>
          <a:p>
            <a:pPr indent="-172720" lvl="0" marL="184785" marR="321310" rtl="0" algn="l">
              <a:lnSpc>
                <a:spcPct val="108076"/>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La función COALESCE es una extensión de la función NVL, excepto en que COALESCE puede tener varios valores</a:t>
            </a:r>
            <a:endParaRPr sz="2600">
              <a:latin typeface="Calibri"/>
              <a:ea typeface="Calibri"/>
              <a:cs typeface="Calibri"/>
              <a:sym typeface="Calibri"/>
            </a:endParaRPr>
          </a:p>
          <a:p>
            <a:pPr indent="-172720" lvl="0" marL="184785" marR="233045" rtl="0" algn="l">
              <a:lnSpc>
                <a:spcPct val="108076"/>
              </a:lnSpc>
              <a:spcBef>
                <a:spcPts val="80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La palabra "coalesce" significa literalmente "unir" y eso es lo que ocurre</a:t>
            </a:r>
            <a:endParaRPr sz="2600">
              <a:latin typeface="Calibri"/>
              <a:ea typeface="Calibri"/>
              <a:cs typeface="Calibri"/>
              <a:sym typeface="Calibri"/>
            </a:endParaRPr>
          </a:p>
          <a:p>
            <a:pPr indent="-172720" lvl="0" marL="184785" marR="5080" rtl="0" algn="l">
              <a:lnSpc>
                <a:spcPct val="108076"/>
              </a:lnSpc>
              <a:spcBef>
                <a:spcPts val="78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Si la primera expresión es nula, la función continúa bajando por la línea hasta que se encuentra una expresión no nula</a:t>
            </a:r>
            <a:endParaRPr sz="2600">
              <a:latin typeface="Calibri"/>
              <a:ea typeface="Calibri"/>
              <a:cs typeface="Calibri"/>
              <a:sym typeface="Calibri"/>
            </a:endParaRPr>
          </a:p>
          <a:p>
            <a:pPr indent="-172720" lvl="0" marL="184785" marR="753110" rtl="0" algn="l">
              <a:lnSpc>
                <a:spcPct val="108076"/>
              </a:lnSpc>
              <a:spcBef>
                <a:spcPts val="80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Por supuesto, si la primera expresión tiene un valor, la función devuelve la primera expresión y la función se detiene</a:t>
            </a:r>
            <a:endParaRPr sz="2600">
              <a:latin typeface="Calibri"/>
              <a:ea typeface="Calibri"/>
              <a:cs typeface="Calibri"/>
              <a:sym typeface="Calibri"/>
            </a:endParaRPr>
          </a:p>
          <a:p>
            <a:pPr indent="-172085" lvl="0" marL="184785" rtl="0" algn="l">
              <a:lnSpc>
                <a:spcPct val="100000"/>
              </a:lnSpc>
              <a:spcBef>
                <a:spcPts val="44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La función COALESCE es:</a:t>
            </a:r>
            <a:endParaRPr sz="2600">
              <a:latin typeface="Calibri"/>
              <a:ea typeface="Calibri"/>
              <a:cs typeface="Calibri"/>
              <a:sym typeface="Calibri"/>
            </a:endParaRPr>
          </a:p>
        </p:txBody>
      </p:sp>
      <p:sp>
        <p:nvSpPr>
          <p:cNvPr id="253" name="Google Shape;253;p32"/>
          <p:cNvSpPr txBox="1"/>
          <p:nvPr/>
        </p:nvSpPr>
        <p:spPr>
          <a:xfrm>
            <a:off x="393191" y="5565647"/>
            <a:ext cx="8345805" cy="368935"/>
          </a:xfrm>
          <a:prstGeom prst="rect">
            <a:avLst/>
          </a:prstGeom>
          <a:solidFill>
            <a:srgbClr val="9DBDC4">
              <a:alpha val="49804"/>
            </a:srgbClr>
          </a:solidFill>
          <a:ln>
            <a:noFill/>
          </a:ln>
        </p:spPr>
        <p:txBody>
          <a:bodyPr anchorCtr="0" anchor="t" bIns="0" lIns="0" spcFirstLastPara="1" rIns="0" wrap="square" tIns="19675">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COALESCE (expression 1, expression 2, ...expression n)</a:t>
            </a:r>
            <a:endParaRPr sz="1800">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3"/>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Función COALESCE</a:t>
            </a:r>
            <a:endParaRPr/>
          </a:p>
        </p:txBody>
      </p:sp>
      <p:sp>
        <p:nvSpPr>
          <p:cNvPr id="259" name="Google Shape;259;p33"/>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260" name="Google Shape;260;p33"/>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61" name="Google Shape;261;p3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62" name="Google Shape;262;p33"/>
          <p:cNvSpPr txBox="1"/>
          <p:nvPr/>
        </p:nvSpPr>
        <p:spPr>
          <a:xfrm>
            <a:off x="483552" y="1415417"/>
            <a:ext cx="8112759" cy="2960370"/>
          </a:xfrm>
          <a:prstGeom prst="rect">
            <a:avLst/>
          </a:prstGeom>
          <a:noFill/>
          <a:ln>
            <a:noFill/>
          </a:ln>
        </p:spPr>
        <p:txBody>
          <a:bodyPr anchorCtr="0" anchor="t" bIns="0" lIns="0" spcFirstLastPara="1" rIns="0" wrap="square" tIns="59675">
            <a:spAutoFit/>
          </a:bodyPr>
          <a:lstStyle/>
          <a:p>
            <a:pPr indent="-177800" lvl="0" marL="182880" marR="58610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Examine la sentencia SELECT de la tabla employees 	mostrada a la derecha</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un empleado tiene un valor (no NULL) para 	commission_pct, este se devuelve; de lo contrario, si el 	salario tiene un valor, se devuelve el salario.</a:t>
            </a:r>
            <a:endParaRPr sz="2800">
              <a:latin typeface="Calibri"/>
              <a:ea typeface="Calibri"/>
              <a:cs typeface="Calibri"/>
              <a:sym typeface="Calibri"/>
            </a:endParaRPr>
          </a:p>
          <a:p>
            <a:pPr indent="-177800" lvl="0" marL="182880" marR="142430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los valores commission_pct y salary de los 	empleados son NULL, devuelve el número 10</a:t>
            </a:r>
            <a:endParaRPr sz="2800">
              <a:latin typeface="Calibri"/>
              <a:ea typeface="Calibri"/>
              <a:cs typeface="Calibri"/>
              <a:sym typeface="Calibri"/>
            </a:endParaRPr>
          </a:p>
        </p:txBody>
      </p:sp>
      <p:graphicFrame>
        <p:nvGraphicFramePr>
          <p:cNvPr id="263" name="Google Shape;263;p33"/>
          <p:cNvGraphicFramePr/>
          <p:nvPr/>
        </p:nvGraphicFramePr>
        <p:xfrm>
          <a:off x="6072300" y="4431027"/>
          <a:ext cx="3000000" cy="3000000"/>
        </p:xfrm>
        <a:graphic>
          <a:graphicData uri="http://schemas.openxmlformats.org/drawingml/2006/table">
            <a:tbl>
              <a:tblPr bandRow="1" firstRow="1">
                <a:noFill/>
                <a:tableStyleId>{6A5E3C50-BC13-41F1-A54B-A67574026CEC}</a:tableStyleId>
              </a:tblPr>
              <a:tblGrid>
                <a:gridCol w="1331600"/>
                <a:gridCol w="1341125"/>
              </a:tblGrid>
              <a:tr h="31305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21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Comm</a:t>
                      </a:r>
                      <a:endParaRPr sz="1600" u="none" cap="none" strike="noStrike">
                        <a:latin typeface="Calibri"/>
                        <a:ea typeface="Calibri"/>
                        <a:cs typeface="Calibri"/>
                        <a:sym typeface="Calibri"/>
                      </a:endParaRPr>
                    </a:p>
                  </a:txBody>
                  <a:tcPr marT="21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60975">
                <a:tc>
                  <a:txBody>
                    <a:bodyPr/>
                    <a:lstStyle/>
                    <a:p>
                      <a:pPr indent="0" lvl="0" marL="71755" marR="0" rtl="0" algn="l">
                        <a:lnSpc>
                          <a:spcPct val="118062"/>
                        </a:lnSpc>
                        <a:spcBef>
                          <a:spcPts val="0"/>
                        </a:spcBef>
                        <a:spcAft>
                          <a:spcPts val="0"/>
                        </a:spcAft>
                        <a:buNone/>
                      </a:pPr>
                      <a:r>
                        <a:rPr lang="en-US" sz="1600" u="none" cap="none" strike="noStrike">
                          <a:solidFill>
                            <a:srgbClr val="4E3629"/>
                          </a:solidFill>
                          <a:latin typeface="Calibri"/>
                          <a:ea typeface="Calibri"/>
                          <a:cs typeface="Calibri"/>
                          <a:sym typeface="Calibri"/>
                        </a:rPr>
                        <a:t>Grant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8062"/>
                        </a:lnSpc>
                        <a:spcBef>
                          <a:spcPts val="0"/>
                        </a:spcBef>
                        <a:spcAft>
                          <a:spcPts val="0"/>
                        </a:spcAft>
                        <a:buNone/>
                      </a:pPr>
                      <a:r>
                        <a:rPr lang="en-US" sz="1600" u="none" cap="none" strike="noStrike">
                          <a:solidFill>
                            <a:srgbClr val="4E3629"/>
                          </a:solidFill>
                          <a:latin typeface="Calibri"/>
                          <a:ea typeface="Calibri"/>
                          <a:cs typeface="Calibri"/>
                          <a:sym typeface="Calibri"/>
                        </a:rPr>
                        <a:t>.15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825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Zlotkey</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6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0975">
                <a:tc>
                  <a:txBody>
                    <a:bodyPr/>
                    <a:lstStyle/>
                    <a:p>
                      <a:pPr indent="0" lvl="0" marL="71755" marR="0" rtl="0" algn="l">
                        <a:lnSpc>
                          <a:spcPct val="118062"/>
                        </a:lnSpc>
                        <a:spcBef>
                          <a:spcPts val="0"/>
                        </a:spcBef>
                        <a:spcAft>
                          <a:spcPts val="0"/>
                        </a:spcAft>
                        <a:buNone/>
                      </a:pPr>
                      <a:r>
                        <a:rPr lang="en-US" sz="1600" u="none" cap="none" strike="noStrike">
                          <a:solidFill>
                            <a:srgbClr val="4E3629"/>
                          </a:solidFill>
                          <a:latin typeface="Calibri"/>
                          <a:ea typeface="Calibri"/>
                          <a:cs typeface="Calibri"/>
                          <a:sym typeface="Calibri"/>
                        </a:rPr>
                        <a:t>Taylor</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8062"/>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1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Abel</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0975">
                <a:tc>
                  <a:txBody>
                    <a:bodyPr/>
                    <a:lstStyle/>
                    <a:p>
                      <a:pPr indent="0" lvl="0" marL="71755" marR="0" rtl="0" algn="l">
                        <a:lnSpc>
                          <a:spcPct val="118062"/>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8062"/>
                        </a:lnSpc>
                        <a:spcBef>
                          <a:spcPts val="0"/>
                        </a:spcBef>
                        <a:spcAft>
                          <a:spcPts val="0"/>
                        </a:spcAft>
                        <a:buNone/>
                      </a:pPr>
                      <a:r>
                        <a:rPr lang="en-US" sz="1600" u="none" cap="none" strike="noStrike">
                          <a:solidFill>
                            <a:srgbClr val="4E3629"/>
                          </a:solidFill>
                          <a:latin typeface="Calibri"/>
                          <a:ea typeface="Calibri"/>
                          <a:cs typeface="Calibri"/>
                          <a:sym typeface="Calibri"/>
                        </a:rPr>
                        <a:t>12000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0975">
                <a:tc>
                  <a:txBody>
                    <a:bodyPr/>
                    <a:lstStyle/>
                    <a:p>
                      <a:pPr indent="0" lvl="0" marL="71755" marR="0" rtl="0" algn="l">
                        <a:lnSpc>
                          <a:spcPct val="118062"/>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18062"/>
                        </a:lnSpc>
                        <a:spcBef>
                          <a:spcPts val="0"/>
                        </a:spcBef>
                        <a:spcAft>
                          <a:spcPts val="0"/>
                        </a:spcAft>
                        <a:buNone/>
                      </a:pPr>
                      <a:r>
                        <a:rPr lang="en-US" sz="1600" u="none" cap="none" strike="noStrike">
                          <a:solidFill>
                            <a:srgbClr val="4E3629"/>
                          </a:solidFill>
                          <a:latin typeface="Calibri"/>
                          <a:ea typeface="Calibri"/>
                          <a:cs typeface="Calibri"/>
                          <a:sym typeface="Calibri"/>
                        </a:rPr>
                        <a:t>8300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64" name="Google Shape;264;p33"/>
          <p:cNvSpPr txBox="1"/>
          <p:nvPr/>
        </p:nvSpPr>
        <p:spPr>
          <a:xfrm>
            <a:off x="405384" y="4437888"/>
            <a:ext cx="5377180" cy="1524000"/>
          </a:xfrm>
          <a:prstGeom prst="rect">
            <a:avLst/>
          </a:prstGeom>
          <a:solidFill>
            <a:srgbClr val="9DBDC4">
              <a:alpha val="49804"/>
            </a:srgbClr>
          </a:solidFill>
          <a:ln>
            <a:noFill/>
          </a:ln>
        </p:spPr>
        <p:txBody>
          <a:bodyPr anchorCtr="0" anchor="t" bIns="0" lIns="0" spcFirstLastPara="1" rIns="0" wrap="square" tIns="48250">
            <a:spAutoFit/>
          </a:bodyPr>
          <a:lstStyle/>
          <a:p>
            <a:pPr indent="-273685" lvl="0" marL="273685" marR="18161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last_name, COALESCE(commission_pct, salary, 10) AS "Comm"</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ORDER BY commission_pct;</a:t>
            </a:r>
            <a:endParaRPr sz="1800">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4"/>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270" name="Google Shape;270;p34"/>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271" name="Google Shape;271;p34"/>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72" name="Google Shape;272;p3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3" name="Google Shape;273;p34"/>
          <p:cNvSpPr txBox="1"/>
          <p:nvPr/>
        </p:nvSpPr>
        <p:spPr>
          <a:xfrm>
            <a:off x="483552" y="1415417"/>
            <a:ext cx="7704455" cy="23602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NVL</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NVL2</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NULLIF</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COALESCE</a:t>
            </a:r>
            <a:endParaRPr sz="240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5"/>
          <p:cNvSpPr txBox="1"/>
          <p:nvPr>
            <p:ph type="title"/>
          </p:nvPr>
        </p:nvSpPr>
        <p:spPr>
          <a:xfrm>
            <a:off x="392112" y="748031"/>
            <a:ext cx="67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279" name="Google Shape;279;p35"/>
          <p:cNvSpPr txBox="1"/>
          <p:nvPr>
            <p:ph idx="1" type="body"/>
          </p:nvPr>
        </p:nvSpPr>
        <p:spPr>
          <a:xfrm>
            <a:off x="474027" y="1393401"/>
            <a:ext cx="8196000" cy="4965600"/>
          </a:xfrm>
          <a:prstGeom prst="rect">
            <a:avLst/>
          </a:prstGeom>
          <a:noFill/>
          <a:ln>
            <a:noFill/>
          </a:ln>
        </p:spPr>
        <p:txBody>
          <a:bodyPr anchorCtr="0" anchor="t" bIns="0" lIns="0" spcFirstLastPara="1" rIns="0" wrap="square" tIns="34275">
            <a:spAutoFit/>
          </a:bodyPr>
          <a:lstStyle/>
          <a:p>
            <a:pPr indent="-177800" lvl="0" marL="193040" rtl="0" algn="l">
              <a:lnSpc>
                <a:spcPct val="100000"/>
              </a:lnSpc>
              <a:spcBef>
                <a:spcPts val="0"/>
              </a:spcBef>
              <a:spcAft>
                <a:spcPts val="0"/>
              </a:spcAft>
              <a:buClr>
                <a:srgbClr val="D1350F"/>
              </a:buClr>
              <a:buSzPts val="2800"/>
              <a:buFont typeface="Arial"/>
              <a:buChar char="•"/>
            </a:pPr>
            <a:r>
              <a:rPr lang="en-US"/>
              <a:t>En esta lección, debe haber aprendido lo siguiente:</a:t>
            </a:r>
            <a:endParaRPr/>
          </a:p>
          <a:p>
            <a:pPr indent="0" lvl="0" marL="365125" rtl="0" algn="l">
              <a:lnSpc>
                <a:spcPct val="100000"/>
              </a:lnSpc>
              <a:spcBef>
                <a:spcPts val="145"/>
              </a:spcBef>
              <a:spcAft>
                <a:spcPts val="0"/>
              </a:spcAft>
              <a:buNone/>
            </a:pPr>
            <a:r>
              <a:rPr lang="en-US" sz="2400">
                <a:solidFill>
                  <a:srgbClr val="D1350F"/>
                </a:solidFill>
              </a:rPr>
              <a:t>−</a:t>
            </a:r>
            <a:r>
              <a:rPr lang="en-US" sz="2400"/>
              <a:t>Mostrar y explicar la evaluación de una función anidada</a:t>
            </a:r>
            <a:endParaRPr sz="2400"/>
          </a:p>
          <a:p>
            <a:pPr indent="-175260" lvl="0" marL="540385" marR="5080" rtl="0" algn="l">
              <a:lnSpc>
                <a:spcPct val="107916"/>
              </a:lnSpc>
              <a:spcBef>
                <a:spcPts val="434"/>
              </a:spcBef>
              <a:spcAft>
                <a:spcPts val="0"/>
              </a:spcAft>
              <a:buNone/>
            </a:pPr>
            <a:r>
              <a:rPr lang="en-US" sz="2400">
                <a:solidFill>
                  <a:srgbClr val="D1350F"/>
                </a:solidFill>
              </a:rPr>
              <a:t>−</a:t>
            </a:r>
            <a:r>
              <a:rPr lang="en-US" sz="2400"/>
              <a:t>Enumerar al menos cuatro funciones generales que funcionan con cualquier tipo de dato y están relacionadas con el tratamiento de valores nulos</a:t>
            </a:r>
            <a:endParaRPr sz="2400"/>
          </a:p>
          <a:p>
            <a:pPr indent="0" lvl="0" marL="365125" rtl="0" algn="l">
              <a:lnSpc>
                <a:spcPct val="100000"/>
              </a:lnSpc>
              <a:spcBef>
                <a:spcPts val="75"/>
              </a:spcBef>
              <a:spcAft>
                <a:spcPts val="0"/>
              </a:spcAft>
              <a:buNone/>
            </a:pPr>
            <a:r>
              <a:rPr lang="en-US" sz="2400">
                <a:solidFill>
                  <a:srgbClr val="D1350F"/>
                </a:solidFill>
              </a:rPr>
              <a:t>−</a:t>
            </a:r>
            <a:r>
              <a:rPr lang="en-US" sz="2400"/>
              <a:t>Explicar el uso de las funciones COALESCE y NVL</a:t>
            </a:r>
            <a:endParaRPr sz="2400"/>
          </a:p>
          <a:p>
            <a:pPr indent="-175260" lvl="0" marL="540385" marR="121920" rtl="0" algn="l">
              <a:lnSpc>
                <a:spcPct val="107916"/>
              </a:lnSpc>
              <a:spcBef>
                <a:spcPts val="450"/>
              </a:spcBef>
              <a:spcAft>
                <a:spcPts val="0"/>
              </a:spcAft>
              <a:buNone/>
            </a:pPr>
            <a:r>
              <a:rPr lang="en-US" sz="2400">
                <a:solidFill>
                  <a:srgbClr val="D1350F"/>
                </a:solidFill>
              </a:rPr>
              <a:t>−</a:t>
            </a:r>
            <a:r>
              <a:rPr lang="en-US" sz="2400"/>
              <a:t>Explicar el uso de funciones generales para tratar con valores nulos en los datos</a:t>
            </a:r>
            <a:endParaRPr sz="2400"/>
          </a:p>
          <a:p>
            <a:pPr indent="-175260" lvl="0" marL="540385" marR="3742054" rtl="0" algn="l">
              <a:lnSpc>
                <a:spcPct val="107916"/>
              </a:lnSpc>
              <a:spcBef>
                <a:spcPts val="400"/>
              </a:spcBef>
              <a:spcAft>
                <a:spcPts val="0"/>
              </a:spcAft>
              <a:buNone/>
            </a:pPr>
            <a:r>
              <a:rPr lang="en-US" sz="2400">
                <a:solidFill>
                  <a:srgbClr val="D1350F"/>
                </a:solidFill>
              </a:rPr>
              <a:t>−</a:t>
            </a:r>
            <a:r>
              <a:rPr lang="en-US" sz="2400"/>
              <a:t>Crear y ejecutar una consulta SQL que aplica correctamente las funciones NVL NVL2, NULLIF</a:t>
            </a:r>
            <a:endParaRPr sz="2400"/>
          </a:p>
          <a:p>
            <a:pPr indent="0" lvl="0" marL="365125" rtl="0" algn="l">
              <a:lnSpc>
                <a:spcPct val="100000"/>
              </a:lnSpc>
              <a:spcBef>
                <a:spcPts val="75"/>
              </a:spcBef>
              <a:spcAft>
                <a:spcPts val="1200"/>
              </a:spcAft>
              <a:buNone/>
            </a:pPr>
            <a:r>
              <a:rPr lang="en-US" sz="2400">
                <a:solidFill>
                  <a:srgbClr val="D1350F"/>
                </a:solidFill>
              </a:rPr>
              <a:t>−</a:t>
            </a:r>
            <a:r>
              <a:rPr lang="en-US" sz="2400"/>
              <a:t>y COALESCE de una sola fila</a:t>
            </a:r>
            <a:endParaRPr sz="2400"/>
          </a:p>
        </p:txBody>
      </p:sp>
      <p:grpSp>
        <p:nvGrpSpPr>
          <p:cNvPr id="280" name="Google Shape;280;p35"/>
          <p:cNvGrpSpPr/>
          <p:nvPr/>
        </p:nvGrpSpPr>
        <p:grpSpPr>
          <a:xfrm>
            <a:off x="4922520" y="4160520"/>
            <a:ext cx="3816095" cy="2098547"/>
            <a:chOff x="4922520" y="4160520"/>
            <a:chExt cx="3816095" cy="2098547"/>
          </a:xfrm>
        </p:grpSpPr>
        <p:pic>
          <p:nvPicPr>
            <p:cNvPr id="281" name="Google Shape;281;p35"/>
            <p:cNvPicPr preferRelativeResize="0"/>
            <p:nvPr/>
          </p:nvPicPr>
          <p:blipFill rotWithShape="1">
            <a:blip r:embed="rId3">
              <a:alphaModFix/>
            </a:blip>
            <a:srcRect b="0" l="0" r="0" t="0"/>
            <a:stretch/>
          </p:blipFill>
          <p:spPr>
            <a:xfrm>
              <a:off x="4922520" y="4160520"/>
              <a:ext cx="3816095" cy="2098547"/>
            </a:xfrm>
            <a:prstGeom prst="rect">
              <a:avLst/>
            </a:prstGeom>
            <a:noFill/>
            <a:ln>
              <a:noFill/>
            </a:ln>
          </p:spPr>
        </p:pic>
        <p:pic>
          <p:nvPicPr>
            <p:cNvPr id="282" name="Google Shape;282;p35"/>
            <p:cNvPicPr preferRelativeResize="0"/>
            <p:nvPr/>
          </p:nvPicPr>
          <p:blipFill rotWithShape="1">
            <a:blip r:embed="rId4">
              <a:alphaModFix/>
            </a:blip>
            <a:srcRect b="0" l="0" r="0" t="0"/>
            <a:stretch/>
          </p:blipFill>
          <p:spPr>
            <a:xfrm>
              <a:off x="5114544" y="4352544"/>
              <a:ext cx="3432047" cy="1714499"/>
            </a:xfrm>
            <a:prstGeom prst="rect">
              <a:avLst/>
            </a:prstGeom>
            <a:noFill/>
            <a:ln>
              <a:noFill/>
            </a:ln>
          </p:spPr>
        </p:pic>
      </p:grpSp>
      <p:sp>
        <p:nvSpPr>
          <p:cNvPr id="283" name="Google Shape;283;p35"/>
          <p:cNvSpPr txBox="1"/>
          <p:nvPr>
            <p:ph idx="10" type="dt"/>
          </p:nvPr>
        </p:nvSpPr>
        <p:spPr>
          <a:xfrm>
            <a:off x="2874191" y="6516395"/>
            <a:ext cx="7263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5-2</a:t>
            </a:r>
            <a:endParaRPr/>
          </a:p>
          <a:p>
            <a:pPr indent="0" lvl="0" marL="12700" rtl="0" algn="l">
              <a:lnSpc>
                <a:spcPct val="120624"/>
              </a:lnSpc>
              <a:spcBef>
                <a:spcPts val="0"/>
              </a:spcBef>
              <a:spcAft>
                <a:spcPts val="0"/>
              </a:spcAft>
              <a:buNone/>
            </a:pPr>
            <a:r>
              <a:rPr lang="en-US"/>
              <a:t>Funciones NULL</a:t>
            </a:r>
            <a:endParaRPr/>
          </a:p>
        </p:txBody>
      </p:sp>
      <p:sp>
        <p:nvSpPr>
          <p:cNvPr id="284" name="Google Shape;284;p35"/>
          <p:cNvSpPr txBox="1"/>
          <p:nvPr>
            <p:ph idx="12" type="sldNum"/>
          </p:nvPr>
        </p:nvSpPr>
        <p:spPr>
          <a:xfrm>
            <a:off x="8725090" y="6567768"/>
            <a:ext cx="2172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85" name="Google Shape;285;p3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