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3D0F44-548D-4366-BD81-3B98CD041653}">
  <a:tblStyle styleId="{583D0F44-548D-4366-BD81-3B98CD0416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13:52:45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importante que los alumnos también aprendan sintaxis propiedad de Oracle, ya que es posible que se encuentren con esta sintaxis en bases de datos anteriores.</a:t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4510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7928100" cy="22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11835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364229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5-3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Expresiones Condicionales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9375" y="3359176"/>
            <a:ext cx="3745999" cy="349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83552" y="1393401"/>
            <a:ext cx="79281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 se abordan los siguientes objetivos: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Comparar y contrastar las funciones DECODE y CASE</a:t>
            </a:r>
            <a:endParaRPr sz="2400"/>
          </a:p>
          <a:p>
            <a:pPr indent="-175260" lvl="0" marL="530860" marR="508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consulta SQL que utiliza correctamente las funciones DECODE y CASE</a:t>
            </a:r>
            <a:endParaRPr sz="2400"/>
          </a:p>
          <a:p>
            <a:pPr indent="-175260" lvl="0" marL="530860" marR="805180" rtl="0" algn="l">
              <a:lnSpc>
                <a:spcPct val="107916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dos métodos para implantar la lógica condicional IF-THEN-ELSE</a:t>
            </a:r>
            <a:endParaRPr sz="2400"/>
          </a:p>
        </p:txBody>
      </p:sp>
      <p:grpSp>
        <p:nvGrpSpPr>
          <p:cNvPr id="74" name="Google Shape;74;p15"/>
          <p:cNvGrpSpPr/>
          <p:nvPr/>
        </p:nvGrpSpPr>
        <p:grpSpPr>
          <a:xfrm>
            <a:off x="5245608" y="3566160"/>
            <a:ext cx="3337559" cy="2638043"/>
            <a:chOff x="5245608" y="3566160"/>
            <a:chExt cx="3337559" cy="2638043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45608" y="3566160"/>
              <a:ext cx="3337559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37632" y="3758184"/>
              <a:ext cx="2953511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419989"/>
            <a:ext cx="8184515" cy="4484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172720" lvl="0" marL="184785" marR="743585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Poder tomar decisiones es esencial en el modelado de datos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829310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modeladores tienen que decidir qué funciones de negocio se deben modelar y cuáles no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108076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proceso de modelado de datos es necesario que los diseñadores analicen la información para identificar las entidades, resolver las relaciones y seleccionar los atributos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085" lvl="0" marL="184785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decisión típica podría ser: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47980" rtl="0" algn="l">
              <a:lnSpc>
                <a:spcPct val="108181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(IF) Si una empresa necesita realizar un seguimiento de los datos a lo largo del tiempo, (THEN) En ese caso, el tiempo puede que necesite ser una entidad o (ELSE) En caso contrario, el tiempo debería ser un atributo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6708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 de Evaluación de las Funciones</a:t>
            </a:r>
            <a:endParaRPr/>
          </a:p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83552" y="1419989"/>
            <a:ext cx="8111490" cy="439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172720" lvl="0" marL="184785" marR="508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Este proceso de toma de decisiones en programación no es muy diferente del proceso que se utiliza en la vida diaria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372745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Piense en la última vez que tuvo que tomar una decisión del tipo if-then-else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324485" rtl="0" algn="l">
              <a:lnSpc>
                <a:spcPct val="108076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(IF) termino mis deberes antes de las 9:00 p.m., puedo ver la televisión; en caso contrario (ELSE), no puedo ver la televisión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635000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estos tipos de elecciones implican métodos de procesamiento condicionales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73025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Saber cómo utilizar el procesamiento condicional facilita la toma de decisiones para obtener los datos que desee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483552" y="1355371"/>
            <a:ext cx="8026400" cy="302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dos expresiones condicionales son CASE y DECODE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9695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Ya ha estudiado NULLIF, que es el equivalente lógico a 	la expresión CASE, ya que CASE compara dos 	expresiones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02969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NULIF compara dos expresiones y, si las dos 	expresiones son iguales, devuelve null; si no son 	iguales, devuelve la primera expresión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8"/>
          <p:cNvGrpSpPr/>
          <p:nvPr/>
        </p:nvGrpSpPr>
        <p:grpSpPr>
          <a:xfrm>
            <a:off x="5548884" y="4447032"/>
            <a:ext cx="3005327" cy="1697734"/>
            <a:chOff x="5548884" y="4447032"/>
            <a:chExt cx="3005327" cy="1697734"/>
          </a:xfrm>
        </p:grpSpPr>
        <p:pic>
          <p:nvPicPr>
            <p:cNvPr id="105" name="Google Shape;10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48884" y="5617463"/>
              <a:ext cx="3005327" cy="527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6395" y="4447032"/>
              <a:ext cx="2260091" cy="16200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15" name="Google Shape;115;p19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483552" y="1415417"/>
            <a:ext cx="7993380" cy="3719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Hay dos juegos de comandos o sintaxis que se pueden 	utilizar para escribir sentencias SQL: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Sentencias estándar compatibles con ANSI/ISO SQL 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Sentencias propiedad de Oracle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9209" rtl="0" algn="l">
              <a:lnSpc>
                <a:spcPct val="108214"/>
              </a:lnSpc>
              <a:spcBef>
                <a:spcPts val="8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dos juegos de sintaxis son muy similares, pero hay 	unas cuantas diferencias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382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curso, aprenderá a utilizar ambos juegos de 	sentencias SQL, pero se recomienda utilizar la sintaxis 	ANSI/ISO SQL 99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483552" y="1415417"/>
            <a:ext cx="8186420" cy="3061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141351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CASE y DECODE son ejemplos de una de estas 	diferencias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CASE es una sentencia compatible con ANSI/ISO 99 SQL 	99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DECODE es una sentencia propiedad de Oracle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648335" rtl="0" algn="l">
              <a:lnSpc>
                <a:spcPct val="108214"/>
              </a:lnSpc>
              <a:spcBef>
                <a:spcPts val="83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Ambas sentencias devuelven la misma información 	utilizando sintaxis diferente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0"/>
          <p:cNvGrpSpPr/>
          <p:nvPr/>
        </p:nvGrpSpPr>
        <p:grpSpPr>
          <a:xfrm>
            <a:off x="5548884" y="4447032"/>
            <a:ext cx="3005327" cy="1697734"/>
            <a:chOff x="5548884" y="4447032"/>
            <a:chExt cx="3005327" cy="1697734"/>
          </a:xfrm>
        </p:grpSpPr>
        <p:pic>
          <p:nvPicPr>
            <p:cNvPr id="126" name="Google Shape;1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48884" y="5617463"/>
              <a:ext cx="3005327" cy="527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6395" y="4447032"/>
              <a:ext cx="2260091" cy="16200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20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Expresión CASE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483552" y="1415417"/>
            <a:ext cx="7683500" cy="219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expresión CASE básicamente realiza la función de 	una sentencia IF-THEN-ELSE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5430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tipos de dato de las expresiones CASE, WHEN y 	ELSE deben ser iguales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de una expresión CASE 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405384" y="3758184"/>
            <a:ext cx="8345805" cy="1445260"/>
          </a:xfrm>
          <a:custGeom>
            <a:rect b="b" l="l" r="r" t="t"/>
            <a:pathLst>
              <a:path extrusionOk="0" h="1445260" w="8345805">
                <a:moveTo>
                  <a:pt x="8345424" y="0"/>
                </a:moveTo>
                <a:lnTo>
                  <a:pt x="0" y="0"/>
                </a:lnTo>
                <a:lnTo>
                  <a:pt x="0" y="1444752"/>
                </a:lnTo>
                <a:lnTo>
                  <a:pt x="8345424" y="1444752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8" name="Google Shape;138;p21"/>
          <p:cNvGraphicFramePr/>
          <p:nvPr/>
        </p:nvGraphicFramePr>
        <p:xfrm>
          <a:off x="405241" y="3758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{583D0F44-548D-4366-BD81-3B98CD041653}</a:tableStyleId>
              </a:tblPr>
              <a:tblGrid>
                <a:gridCol w="1979925"/>
                <a:gridCol w="2319650"/>
                <a:gridCol w="682625"/>
                <a:gridCol w="1738000"/>
              </a:tblGrid>
              <a:tr h="313700"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CASE expr WHEN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90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comparison_expr1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90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90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5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return_expr1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90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[WHEN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comparison_expr2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return_expr2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</a:tr>
              <a:tr h="273675"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WHEN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comparison_exprn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560" marR="0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return_exprn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</a:tr>
              <a:tr h="581650">
                <a:tc>
                  <a:txBody>
                    <a:bodyPr/>
                    <a:lstStyle/>
                    <a:p>
                      <a:pPr indent="0" lvl="0" marL="136525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ELSE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END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else_expr]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9DBDC4">
                        <a:alpha val="49804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21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Sintaxis de CASE</a:t>
            </a:r>
            <a:endParaRPr/>
          </a:p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483552" y="1415417"/>
            <a:ext cx="4859020" cy="3018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18224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consulta comprueba el valor 	department_id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13958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(IF) es 90, (then)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82065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devuelve 'Management'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(IF) es 80, (then) devuelve 'Sales'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(IF) es 60, (then) devuelve 'It'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225" marR="1372870" rtl="0" algn="l">
              <a:lnSpc>
                <a:spcPct val="107916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caso contrario (ELSE) devuelve 'Other dept.'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2"/>
          <p:cNvGraphicFramePr/>
          <p:nvPr/>
        </p:nvGraphicFramePr>
        <p:xfrm>
          <a:off x="6065384" y="10388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{583D0F44-548D-4366-BD81-3B98CD041653}</a:tableStyleId>
              </a:tblPr>
              <a:tblGrid>
                <a:gridCol w="1190000"/>
                <a:gridCol w="1783725"/>
              </a:tblGrid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22"/>
          <p:cNvSpPr txBox="1"/>
          <p:nvPr/>
        </p:nvSpPr>
        <p:spPr>
          <a:xfrm>
            <a:off x="2110739" y="4474464"/>
            <a:ext cx="3876040" cy="194818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CASE department_id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65125" marR="450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WHEN 90 THEN 'Management' WHEN 80 THEN 'Sales'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65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WHEN 60 THEN 'It'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365760" lvl="0" marL="0" marR="130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ELSE 'Other dept.' END AS "Department" FROM employees;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Expresión DECODE</a:t>
            </a:r>
            <a:endParaRPr/>
          </a:p>
        </p:txBody>
      </p:sp>
      <p:sp>
        <p:nvSpPr>
          <p:cNvPr id="158" name="Google Shape;158;p23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483552" y="1415417"/>
            <a:ext cx="8112125" cy="219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función DECODE evalúa una expresión de una forma 	similar a la lógica IF-THEN-ELSE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33083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DECODE compara una expresión con cada uno de los 	valores de búsqueda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de DECODE 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483552" y="4612769"/>
            <a:ext cx="7763509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se omite el valor por defecto, se devuelve un valor 	nulo donde un valor de búsqueda no coincida con 	ninguno de los valores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05384" y="3707891"/>
            <a:ext cx="8333740" cy="8763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-1228725" lvl="0" marL="1228725" marR="245554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DECODE(columnl|expression, search1, result1 [, search2, result2,...,]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28725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[, default])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Expresión DECODE</a:t>
            </a:r>
            <a:endParaRPr/>
          </a:p>
        </p:txBody>
      </p:sp>
      <p:sp>
        <p:nvSpPr>
          <p:cNvPr id="169" name="Google Shape;169;p24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483552" y="1381889"/>
            <a:ext cx="31076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Examine el 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83552" y="4039745"/>
            <a:ext cx="4801235" cy="1816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 consulta devuelve 	exactamente los mismos 	resultados que el ejemplo CASE 	anterior, pero utilizando sintaxis 	diferente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24"/>
          <p:cNvGraphicFramePr/>
          <p:nvPr/>
        </p:nvGraphicFramePr>
        <p:xfrm>
          <a:off x="5640049" y="784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{583D0F44-548D-4366-BD81-3B98CD041653}</a:tableStyleId>
              </a:tblPr>
              <a:tblGrid>
                <a:gridCol w="1130925"/>
                <a:gridCol w="1973575"/>
              </a:tblGrid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dept.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4"/>
          <p:cNvSpPr txBox="1"/>
          <p:nvPr/>
        </p:nvSpPr>
        <p:spPr>
          <a:xfrm>
            <a:off x="393191" y="1865376"/>
            <a:ext cx="5055235" cy="21920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0" marL="546735" marR="1908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DECODE(department_id, 90, 'Management',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1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80, 'Sales',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6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60, 'It',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546735" lvl="0" marL="0" marR="2588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'Other dept.') AS "Department"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181" name="Google Shape;181;p25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483552" y="1415417"/>
            <a:ext cx="7704455" cy="1979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Expresión condicional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DECODE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392112" y="748031"/>
            <a:ext cx="451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483552" y="1393401"/>
            <a:ext cx="79281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lección, debe haber aprendido lo siguiente: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Comparar y contrastar las funciones DECODE y CASE</a:t>
            </a:r>
            <a:endParaRPr sz="2400"/>
          </a:p>
          <a:p>
            <a:pPr indent="-175260" lvl="0" marL="530860" marR="508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consulta SQL que utiliza correctamente las funciones DECODE y CASE</a:t>
            </a:r>
            <a:endParaRPr sz="2400"/>
          </a:p>
          <a:p>
            <a:pPr indent="-175260" lvl="0" marL="530860" marR="805180" rtl="0" algn="l">
              <a:lnSpc>
                <a:spcPct val="107916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dos métodos para implantar la lógica condicional IF-THEN-ELSE</a:t>
            </a:r>
            <a:endParaRPr sz="2400"/>
          </a:p>
        </p:txBody>
      </p:sp>
      <p:grpSp>
        <p:nvGrpSpPr>
          <p:cNvPr id="191" name="Google Shape;191;p26"/>
          <p:cNvGrpSpPr/>
          <p:nvPr/>
        </p:nvGrpSpPr>
        <p:grpSpPr>
          <a:xfrm>
            <a:off x="4480559" y="3857244"/>
            <a:ext cx="4139183" cy="2261615"/>
            <a:chOff x="4480559" y="3857244"/>
            <a:chExt cx="4139183" cy="2261615"/>
          </a:xfrm>
        </p:grpSpPr>
        <p:pic>
          <p:nvPicPr>
            <p:cNvPr id="192" name="Google Shape;192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80559" y="3857244"/>
              <a:ext cx="4139183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72584" y="4049280"/>
              <a:ext cx="3755135" cy="18775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26"/>
          <p:cNvSpPr txBox="1"/>
          <p:nvPr>
            <p:ph idx="10" type="dt"/>
          </p:nvPr>
        </p:nvSpPr>
        <p:spPr>
          <a:xfrm>
            <a:off x="2874191" y="6516395"/>
            <a:ext cx="1183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5-3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Condicionales</a:t>
            </a:r>
            <a:endParaRPr/>
          </a:p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