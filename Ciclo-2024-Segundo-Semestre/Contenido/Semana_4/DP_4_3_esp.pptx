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48F59B-2447-430E-94D3-4FE52FC1ABE7}">
  <a:tblStyle styleId="{9648F59B-2447-430E-94D3-4FE52FC1AB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Estos ejemplos muestran el uso de las operaciones aritméticas con fechas.</a:t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los ejemplos que figuran a continuación, SYSDATE es 01-Jul-2015</a:t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ejemplo devuelve los empleados contratados hace más de 240 meses (20 años).</a:t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ejemplo agrega 12 meses a la fecha actual.</a:t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'month' es la unidad especificada, la fecha devuelta será el primer día del mes del argumento DATE. Si 'Year' es la unidad especificada, TRUNC devolverá el primer día del año del argumento DATE.</a:t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3987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60361" y="2262310"/>
            <a:ext cx="8613900" cy="3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55904" y="6510552"/>
            <a:ext cx="8883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7058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248285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4-3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93078" y="3485388"/>
            <a:ext cx="5055106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3552" y="1393401"/>
            <a:ext cx="7527925" cy="18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just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Mostrar el uso de SYSDATE y las funciones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92735" rtl="0" algn="just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Establecer las consecuencias de negocio mundial a fin de poder manipular fácilmente los datos almacenados en formato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83552" y="1359029"/>
            <a:ext cx="8122920" cy="433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2085" lvl="0" marL="184785" rtl="0" algn="l">
              <a:lnSpc>
                <a:spcPct val="10192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¿Se ha preguntado alguna vez cuántos días quedan del año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1259840" rtl="0" algn="l">
              <a:lnSpc>
                <a:spcPct val="7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escolar o el número de semanas que falta hasta la graduación?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085" lvl="0" marL="184785" rtl="0" algn="l">
              <a:lnSpc>
                <a:spcPct val="96346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Debido a que la base de datos de Oracle almacena las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8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fechas como números, puede realizar cálculos en las fechas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521970" rtl="0" algn="l">
              <a:lnSpc>
                <a:spcPct val="70000"/>
              </a:lnSpc>
              <a:spcBef>
                <a:spcPts val="47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los operadores matemáticos de suma y resta, entre otros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085" lvl="0" marL="184785" rtl="0" algn="l">
              <a:lnSpc>
                <a:spcPct val="9692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empresas dependen de poder utilizar funciones de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8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fecha para planificar las nóminas y los pagos, realizar un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84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seguimiento de las revisiones de rendimiento de los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63500" rtl="0" algn="l">
              <a:lnSpc>
                <a:spcPct val="70000"/>
              </a:lnSpc>
              <a:spcBef>
                <a:spcPts val="47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empleados y años de servicio, o realizar un seguimiento de los pedidos y envíos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174625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Todas estas necesidades de negocio se realizan fácilmente mediante sencillas funciones de fecha de SQL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Visualización de Fechas</a:t>
            </a:r>
            <a:endParaRPr/>
          </a:p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3552" y="1381889"/>
            <a:ext cx="8179434" cy="427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10985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visualización por defecto y el formato de entrada de 	las fechas es DD-Mon-YYYY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ejemplo: 02-Dec-2014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32385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las bases de datos Oracle almacena 	fechas de modo interno en un formato numérico que 	representa el siglo, el año, el mes, el día, la hora, el 	minuto y el segundo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8035"/>
              </a:lnSpc>
              <a:spcBef>
                <a:spcPts val="13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fechas de Oracle válidas son del 1 de enero de 4712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A.C. y el 31 de diciembre de 9999 D.C.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10489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 representa el rango de fechas que puede 	almacenar correctamente en una base de datos Oracle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SYSDATE</a:t>
            </a:r>
            <a:endParaRPr/>
          </a:p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83552" y="1415417"/>
            <a:ext cx="8138159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SYSDATE es una función de fecha que devuelve la fecha 	y hora actuales del servidor de base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3876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Utilice SYSDATE para mostrar la fecha actual, utilice la 	tabla DUAL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18"/>
          <p:cNvGraphicFramePr/>
          <p:nvPr/>
        </p:nvGraphicFramePr>
        <p:xfrm>
          <a:off x="3457827" y="4327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1663075"/>
              </a:tblGrid>
              <a:tr h="3848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SYSDATE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77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01-Jul-2017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8"/>
          <p:cNvSpPr txBox="1"/>
          <p:nvPr/>
        </p:nvSpPr>
        <p:spPr>
          <a:xfrm>
            <a:off x="405384" y="3337559"/>
            <a:ext cx="8345805" cy="6038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SYSDATE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dual;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92112" y="748031"/>
            <a:ext cx="316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 de Dato DATE</a:t>
            </a:r>
            <a:endParaRPr/>
          </a:p>
        </p:txBody>
      </p:sp>
      <p:sp>
        <p:nvSpPr>
          <p:cNvPr id="111" name="Google Shape;111;p19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12" name="Google Shape;112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83552" y="1381889"/>
            <a:ext cx="8001000" cy="41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12890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tipo de dato DATE siempre almacena internamente 	la información del año como un número de cuatro 	dígitos: dos dígitos para el siglo y dos dígitos para el 	año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22885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Oracle Database almacena el año como 	1996 o 2004, no solo como 96 o 04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las versiones anteriores, el componente de siglo no 	se mostraba por defecto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3185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debido a las cambiantes necesidades de 	los negocios en todo el mundo, el año de 4 dígitos es 	ahora la visualización por defecto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Trabajar con fechas</a:t>
            </a:r>
            <a:endParaRPr/>
          </a:p>
        </p:txBody>
      </p:sp>
      <p:sp>
        <p:nvSpPr>
          <p:cNvPr id="120" name="Google Shape;120;p20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21" name="Google Shape;121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3" name="Google Shape;123;p20"/>
          <p:cNvGraphicFramePr/>
          <p:nvPr/>
        </p:nvGraphicFramePr>
        <p:xfrm>
          <a:off x="398462" y="144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5331450"/>
                <a:gridCol w="3016875"/>
              </a:tblGrid>
              <a:tr h="3956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450">
                <a:tc>
                  <a:txBody>
                    <a:bodyPr/>
                    <a:lstStyle/>
                    <a:p>
                      <a:pPr indent="0" lvl="0" marL="104139" marR="209042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last_name, hire_date + 60 FROM employees;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63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 60 días a hire_date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200">
                <a:tc>
                  <a:txBody>
                    <a:bodyPr/>
                    <a:lstStyle/>
                    <a:p>
                      <a:pPr indent="-78105" lvl="0" marL="182245" marR="245237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last_name, (SYSDATE - hire_date)/7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employees;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585470" rtl="0" algn="just">
                        <a:lnSpc>
                          <a:spcPct val="1002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Muestra el número de semanas desde que se contrató al empleado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9600">
                <a:tc>
                  <a:txBody>
                    <a:bodyPr/>
                    <a:lstStyle/>
                    <a:p>
                      <a:pPr indent="-78105" lvl="0" marL="182245" marR="21177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employee_id, (end_date - start_date)/365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4775" lvl="0" marL="104139" marR="305498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"Tenure in last job" FROM job_history;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325120" rtl="0" algn="l">
                        <a:lnSpc>
                          <a:spcPct val="1000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Busca el número de días que mantuvo trabajo un empleado y, a continuación, lo divide entre 365 para mostrarlo en años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2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17862" y="503556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29" name="Google Shape;129;p21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30" name="Google Shape;130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p21"/>
          <p:cNvGraphicFramePr/>
          <p:nvPr/>
        </p:nvGraphicFramePr>
        <p:xfrm>
          <a:off x="2047171" y="42216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2140575"/>
                <a:gridCol w="4420225"/>
              </a:tblGrid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MONTHS_BETWEEN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 de meses entre dos fechas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ADD_MONTHS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meses de calendario a fecha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4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NEXT_DAY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690245" rtl="0" algn="l">
                        <a:lnSpc>
                          <a:spcPct val="1006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de la siguiente incidencia del día de la semana especificado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LAST_DAY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Último día del mes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Redondear fecha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TRUNC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Truncar fecha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21"/>
          <p:cNvSpPr txBox="1"/>
          <p:nvPr/>
        </p:nvSpPr>
        <p:spPr>
          <a:xfrm>
            <a:off x="554702" y="945367"/>
            <a:ext cx="80346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2514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fecha que se muestran en la tabla 	funcionan en fechas de Oracle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Todas las funciones de fecha devuelven un valor del 	tipo de dato DATE excepto la función 	MONTHS_BETWEEN, que devuelve un valor de tipo de 	dato numérico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Función	          Descripción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85712" y="5164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39" name="Google Shape;139;p22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40" name="Google Shape;140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77152" y="1183817"/>
            <a:ext cx="81243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MONTHS_BETWEEN: toma 2 argumentos DATE y 	devuelve el número de meses de calendario entre las 2 	fechas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1059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el primer argumento es una fecha anterior a la 	segunda,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número devuelto es negativo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22"/>
          <p:cNvGraphicFramePr/>
          <p:nvPr/>
        </p:nvGraphicFramePr>
        <p:xfrm>
          <a:off x="998537" y="4013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3971300"/>
                <a:gridCol w="1143625"/>
                <a:gridCol w="1503050"/>
              </a:tblGrid>
              <a:tr h="395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 de Función de Fecha: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531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last_name, hire_date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employees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MONTHS_BETWEEN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42875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(SYSDATE, hire_date)&gt;240;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25527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 De Haan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17-Jun-1987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21-Sep-1989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13-Jan-1993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45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28837" y="392256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49" name="Google Shape;149;p23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520277" y="1059642"/>
            <a:ext cx="81825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ADD_MONTHS: toma 2 argumentos, una fecha y un 	número. Devuelve un valor de fecha con el argumento 	numérico agregado al componente mensual de la fecha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4765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el número proporcionado es negativo, la función 	restará ese número de meses del argumento de fecha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23"/>
          <p:cNvGraphicFramePr/>
          <p:nvPr/>
        </p:nvGraphicFramePr>
        <p:xfrm>
          <a:off x="1424781" y="39834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4692650"/>
                <a:gridCol w="1589400"/>
              </a:tblGrid>
              <a:tr h="395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 de Función de Fecha: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6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ADD_MONTHS (SYSDATE, 12)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4775" lvl="0" marL="91440" marR="3131185" rtl="0" algn="l">
                        <a:lnSpc>
                          <a:spcPct val="1167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"Next Year" FROM dual;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01-Jul-2016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59" name="Google Shape;159;p24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60" name="Google Shape;160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83552" y="1415417"/>
            <a:ext cx="816864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NEXT_DAY: toma 2 argumentos, una fecha y un día de 	la semana y devuelve la fecha de la siguiente incidencia 	de ese día de la semana después del argumento DATE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24"/>
          <p:cNvGraphicFramePr/>
          <p:nvPr/>
        </p:nvGraphicFramePr>
        <p:xfrm>
          <a:off x="920080" y="3194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5269875"/>
                <a:gridCol w="2021200"/>
              </a:tblGrid>
              <a:tr h="395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 de Función de Fecha: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6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NEXT_DAY (SYSDATE, 'Saturday')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4775" lvl="0" marL="91440" marR="3291204" rtl="0" algn="l">
                        <a:lnSpc>
                          <a:spcPct val="1167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"Next Saturday" FROM dual;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08-Jul-2017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69" name="Google Shape;169;p25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70" name="Google Shape;170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483552" y="1415417"/>
            <a:ext cx="743839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LAST_DAY: toma un argumento DATE y devuelve la 	fecha del último día del mes del argumento DATE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25"/>
          <p:cNvGraphicFramePr/>
          <p:nvPr/>
        </p:nvGraphicFramePr>
        <p:xfrm>
          <a:off x="920080" y="27125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5269875"/>
                <a:gridCol w="2021200"/>
              </a:tblGrid>
              <a:tr h="395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 de Función de Fecha: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6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LAST_DAY (SYSDATE)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4775" lvl="0" marL="91440" marR="2951480" rtl="0" algn="l">
                        <a:lnSpc>
                          <a:spcPct val="1167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"End of the Month" FROM dual;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31-Jul-2015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79" name="Google Shape;179;p26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80" name="Google Shape;180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483552" y="1415417"/>
            <a:ext cx="775462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ROUND: devuelve una fecha redondeada a la unidad 	especificada en el segundo argumento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6"/>
          <p:cNvGraphicFramePr/>
          <p:nvPr/>
        </p:nvGraphicFramePr>
        <p:xfrm>
          <a:off x="920080" y="2527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4102725"/>
                <a:gridCol w="1660525"/>
                <a:gridCol w="1528450"/>
              </a:tblGrid>
              <a:tr h="395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 de Función de Fecha: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531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hire_date,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4775" lvl="0" marL="91440" marR="126365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(hire_date, 'Month') FROM employees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35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department_id=50;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16-Nov-1999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17-Oct-1995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29-Jan-1997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5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01-Dec-1999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01-Nov-1995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01-Feb-1997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59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317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hire_date,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104775" lvl="0" marL="90805" marR="1496695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(hire_date, 'Year') FROM employees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department_id=50;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16-Nov-1999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17-Oct-1995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29-Jan-1997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01-Jan-2000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01-Jan-1996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01-Jan-1997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27"/>
          <p:cNvGraphicFramePr/>
          <p:nvPr/>
        </p:nvGraphicFramePr>
        <p:xfrm>
          <a:off x="384233" y="2349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5331450"/>
                <a:gridCol w="3016875"/>
              </a:tblGrid>
              <a:tr h="3956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4850">
                <a:tc>
                  <a:txBody>
                    <a:bodyPr/>
                    <a:lstStyle/>
                    <a:p>
                      <a:pPr indent="0" lvl="0" marL="104139" marR="2443480" rtl="0" algn="l">
                        <a:lnSpc>
                          <a:spcPct val="115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last_name, hire_date + 60 FROM employees;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82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60 days to hire_date.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3775">
                <a:tc>
                  <a:txBody>
                    <a:bodyPr/>
                    <a:lstStyle/>
                    <a:p>
                      <a:pPr indent="-92075" lvl="0" marL="196215" marR="276098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last_name, (SYSDATE - hire_date)/7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775" marR="0" rtl="0" algn="l">
                        <a:lnSpc>
                          <a:spcPct val="1156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employees;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121285" rtl="0" algn="l">
                        <a:lnSpc>
                          <a:spcPct val="1004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Displays the number of weeks since the employee was hired.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2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00">
                <a:tc>
                  <a:txBody>
                    <a:bodyPr/>
                    <a:lstStyle/>
                    <a:p>
                      <a:pPr indent="-91440" lvl="0" marL="195580" marR="24669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employee_id, (end_date - start_date)/365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90805" lvl="0" marL="104139" marR="330072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"Tenure in last job" FROM job_history;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4139" marR="410209" rtl="0" algn="l">
                        <a:lnSpc>
                          <a:spcPct val="100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Finds the number of days employee held a job, then divides by 365 to display in years.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2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7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90" name="Google Shape;190;p2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483552" y="1415417"/>
            <a:ext cx="720979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TRUNC: devuelve una fecha truncada a la unidad 	especificada en el segundo argumento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199" name="Google Shape;199;p28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200" name="Google Shape;200;p2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483552" y="1415417"/>
            <a:ext cx="8099425" cy="132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 se muestra un ejemplo de una consulta 	con varias funciones de fecha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salida se muestra en la siguiente diapositiva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405375" y="3069323"/>
            <a:ext cx="8282100" cy="23391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-273685" lvl="0" marL="273685" marR="9664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 hire_date, ROUND(MONTHS_BETWEEN(SYSDATE, hire_date)) AS TENURE,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marR="12395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ADD_MONTHS (hire_date, 6) AS REVIEW, NEXT_DAY(hire_date, 'FRIDAY'), LAST_DAY(hire_date)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MONTHS_BETWEEN (SYSDATE, hire_date) &gt; 36;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209" name="Google Shape;209;p29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210" name="Google Shape;210;p2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83552" y="1415417"/>
            <a:ext cx="760095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juego de resultados de esta consulta devuelve 20 	filas en las que se incluye: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9"/>
          <p:cNvGraphicFramePr/>
          <p:nvPr/>
        </p:nvGraphicFramePr>
        <p:xfrm>
          <a:off x="398461" y="22623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{9648F59B-2447-430E-94D3-4FE52FC1ABE7}</a:tableStyleId>
              </a:tblPr>
              <a:tblGrid>
                <a:gridCol w="1138550"/>
                <a:gridCol w="1143000"/>
                <a:gridCol w="714375"/>
                <a:gridCol w="1143000"/>
                <a:gridCol w="2529200"/>
                <a:gridCol w="1857375"/>
              </a:tblGrid>
              <a:tr h="3352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HIRE_DATE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TENURE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NEXT_DAY(HIRE_DATE,'FRIDAY')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LAST_DAY(HIRE_DATE)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17-Jun-1987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17-Dec-1987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19-Jun-1987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30-Jun-1987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21-Sep-1989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21-Mar-1990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22-Sep-1989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30-Sep-1989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13-Jan-1993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13-Jul-1993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15-Jan-1993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31-Jan-1993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17-Sep-1987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17-Mar-1988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18-Sep-1987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30-Sep-1987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07-Jun-1994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07-Dec-1994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10-Jun-1994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30-Jun-1994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07-Jun-1994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07-Dec-1994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10-Jun-1994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30-Jun-1994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29-Jan-2000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29-Jul-2000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04-Feb-2000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31-Jan-2000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11-May-1996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11-Nov-1996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17-May-1996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31-May-1996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24-Mar-1998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24-Sep-1998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27-Mar-1998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31-Mar-1998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225"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24-May-1999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24-Nov-1999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28-May-1999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31-May-1999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050">
                <a:tc gridSpan="6"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16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than 10 rows available. Increase rows selector to view more rows.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219" name="Google Shape;219;p30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220" name="Google Shape;220;p3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1" name="Google Shape;221;p30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483552" y="1415417"/>
            <a:ext cx="7705725" cy="350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ADD_MONTHS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LAST_DAY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MONTHS_BETWEEN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NEXT_DAY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SYSDATE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TRUNC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28" name="Google Shape;228;p31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229" name="Google Shape;229;p3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0" name="Google Shape;230;p31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483552" y="1393401"/>
            <a:ext cx="7920355" cy="293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4769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Seleccionar y aplicar las funciones de una sola fila MONTHS_BETWEEN, ADD_MONTHS, NEXT_DAY, LAST_DAY,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086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ROUND y TRUNC que funcionan en los datos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cómo transforman las funciones de fecha las fechas de Oracle en datos de fecha o en valores numéricos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64184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Mostrar un uso adecuado de los operadores aritméticos con fechas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392112" y="748031"/>
            <a:ext cx="398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37" name="Google Shape;237;p32"/>
          <p:cNvSpPr txBox="1"/>
          <p:nvPr>
            <p:ph idx="10" type="dt"/>
          </p:nvPr>
        </p:nvSpPr>
        <p:spPr>
          <a:xfrm>
            <a:off x="2855904" y="6510552"/>
            <a:ext cx="8883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4-3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Fecha</a:t>
            </a:r>
            <a:endParaRPr/>
          </a:p>
        </p:txBody>
      </p:sp>
      <p:sp>
        <p:nvSpPr>
          <p:cNvPr id="238" name="Google Shape;238;p3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8601456" y="6589648"/>
            <a:ext cx="1989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483552" y="1393401"/>
            <a:ext cx="7564120" cy="18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Mostrar el uso de SYSDATE y las funciones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Establecer las consecuencias de negocio mundial a fin de poder manipular fácilmente los datos almacenados en formato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