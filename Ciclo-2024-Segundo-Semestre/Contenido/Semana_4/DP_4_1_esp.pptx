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5A1B43-8036-45A3-B309-2588F688D7A7}">
  <a:tblStyle styleId="{225A1B43-8036-45A3-B309-2588F688D7A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13:49:46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funciones de una sola fila son  un código predefinido y muy  potente que acepta argumentos  y devuelven un valor. Un  argumento se puede definir  como un nombre de columna,  una expresión o una constante.</a:t>
            </a:r>
            <a:endParaRPr/>
          </a:p>
        </p:txBody>
      </p:sp>
      <p:sp>
        <p:nvSpPr>
          <p:cNvPr id="120" name="Google Shape;120;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13:49:47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motivo por el que Oracle diferencia  entre 'V' y 'v' se debe al modo en  el que almacena los caracteres.   No almacena los caracteres  directamente, sino sus  correspondientes valores  binarios, dependiendo del juego  de caracteres de la base de  datos. En la mayoría del mundo  occidental, se habrá utilizado un  juego de caracteres ACSII como  juego de caracteres de la base  de datos, y los códigos binarios  para 'V' y 'v' son números  distintos; por lo tanto, Oracle no  considera que sean iguales. </a:t>
            </a:r>
            <a:endParaRPr/>
          </a:p>
        </p:txBody>
      </p:sp>
      <p:sp>
        <p:nvSpPr>
          <p:cNvPr id="217" name="Google Shape;21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13:49:48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uso de las funciones de  manipulación de  mayúsculas/minúsculas en la  cláusula WHERE le permite  recuperar filas,  independientemente de si están  almacenadas en la tabla en  mayúscula o minúscula. El uso  de las funciones de manipulación  de mayúsculas/minúsculas en la  cláusula SELECT modifica la  forma en la que se muestran los  resultados de la consulta.</a:t>
            </a:r>
            <a:endParaRPr/>
          </a:p>
        </p:txBody>
      </p:sp>
      <p:sp>
        <p:nvSpPr>
          <p:cNvPr id="227" name="Google Shape;22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segundo ejemplo devuelve el  número de caracteres en cada apellido  de los empleados. </a:t>
            </a:r>
            <a:endParaRPr/>
          </a:p>
        </p:txBody>
      </p:sp>
      <p:sp>
        <p:nvSpPr>
          <p:cNvPr id="269" name="Google Shape;269;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13:49:51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Ejemplo 1: elimina la primera 'a'  del inicio de la cadena 'abcba'  Ejemplo 2: elimina la última 'a'  del final de la cadena 'abcba'</a:t>
            </a:r>
            <a:endParaRPr/>
          </a:p>
          <a:p>
            <a:pPr indent="0" lvl="0" marL="0" rtl="0" algn="l">
              <a:spcBef>
                <a:spcPts val="0"/>
              </a:spcBef>
              <a:spcAft>
                <a:spcPts val="0"/>
              </a:spcAft>
              <a:buNone/>
            </a:pPr>
            <a:r>
              <a:rPr lang="en-US"/>
              <a:t>Ejemplo 3: elimina tanto la primera  'a' como la última 'a' de la  cadena 'abcba'. Si se omite  LEADING, TRAILING o BOTH, la  función devuelve BOTH (ambos).</a:t>
            </a:r>
            <a:endParaRPr/>
          </a:p>
          <a:p>
            <a:pPr indent="0" lvl="0" marL="0" rtl="0" algn="l">
              <a:spcBef>
                <a:spcPts val="0"/>
              </a:spcBef>
              <a:spcAft>
                <a:spcPts val="0"/>
              </a:spcAft>
              <a:buNone/>
            </a:pPr>
            <a:r>
              <a:rPr lang="en-US"/>
              <a:t>Si el carácter especificado no es  el primer (o último) carácter de la  cadena, no se recorta, por  ejemplo TRIM (LEADING 'a'  FROM 'xyz') devolvería 'xyz'</a:t>
            </a:r>
            <a:endParaRPr/>
          </a:p>
        </p:txBody>
      </p:sp>
      <p:sp>
        <p:nvSpPr>
          <p:cNvPr id="309" name="Google Shape;309;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Ejemplo 1: todas las instancias de  'J' en la cadena 'JACK and JUE'  se sustituye por 'BL'. Ejemplo 2:  si el argumento de cadena de  sustitución se omite, se suprime  string_to_replace. Por lo tanto  todas las instancias de 'J' en la  cadena 'JACK and JUE' se  sustituye por 'BL'.</a:t>
            </a:r>
            <a:endParaRPr/>
          </a:p>
          <a:p>
            <a:pPr indent="0" lvl="0" marL="0" rtl="0" algn="l">
              <a:spcBef>
                <a:spcPts val="0"/>
              </a:spcBef>
              <a:spcAft>
                <a:spcPts val="0"/>
              </a:spcAft>
              <a:buNone/>
            </a:pPr>
            <a:r>
              <a:rPr lang="en-US"/>
              <a:t>Ejemplo 3: cada instancia del carácter  'a' en los apellidos del empleado  se sustituye por un carácter '*'.</a:t>
            </a:r>
            <a:endParaRPr/>
          </a:p>
        </p:txBody>
      </p:sp>
      <p:sp>
        <p:nvSpPr>
          <p:cNvPr id="330" name="Google Shape;330;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primer ejemplo utiliza un alias  para la cabecera de columna, y es  más legible y fácil de recordar  que el segundo ejemplo que no  tiene ningún alias de columna.</a:t>
            </a:r>
            <a:endParaRPr/>
          </a:p>
        </p:txBody>
      </p:sp>
      <p:sp>
        <p:nvSpPr>
          <p:cNvPr id="357" name="Google Shape;357;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13:49:54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Una variable de sustitución la define  el usuario en el momento de la  ejecución.</a:t>
            </a:r>
            <a:endParaRPr/>
          </a:p>
        </p:txBody>
      </p:sp>
      <p:sp>
        <p:nvSpPr>
          <p:cNvPr id="387" name="Google Shape;387;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71127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398462" y="1441450"/>
            <a:ext cx="8365500" cy="3197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2576521" y="6472031"/>
            <a:ext cx="2052300" cy="36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type="obj">
  <p:cSld name="OBJECT">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58" name="Google Shape;58;p14"/>
          <p:cNvPicPr preferRelativeResize="0"/>
          <p:nvPr/>
        </p:nvPicPr>
        <p:blipFill rotWithShape="1">
          <a:blip r:embed="rId2">
            <a:alphaModFix/>
          </a:blip>
          <a:srcRect b="0" l="0" r="0" t="0"/>
          <a:stretch/>
        </p:blipFill>
        <p:spPr>
          <a:xfrm>
            <a:off x="192023" y="192023"/>
            <a:ext cx="8759950" cy="914399"/>
          </a:xfrm>
          <a:prstGeom prst="rect">
            <a:avLst/>
          </a:prstGeom>
          <a:noFill/>
          <a:ln>
            <a:noFill/>
          </a:ln>
        </p:spPr>
      </p:pic>
      <p:pic>
        <p:nvPicPr>
          <p:cNvPr id="59" name="Google Shape;59;p14"/>
          <p:cNvPicPr preferRelativeResize="0"/>
          <p:nvPr/>
        </p:nvPicPr>
        <p:blipFill rotWithShape="1">
          <a:blip r:embed="rId3">
            <a:alphaModFix/>
          </a:blip>
          <a:srcRect b="0" l="0" r="0" t="0"/>
          <a:stretch/>
        </p:blipFill>
        <p:spPr>
          <a:xfrm>
            <a:off x="192023" y="5751576"/>
            <a:ext cx="8759950" cy="914399"/>
          </a:xfrm>
          <a:prstGeom prst="rect">
            <a:avLst/>
          </a:prstGeom>
          <a:noFill/>
          <a:ln>
            <a:noFill/>
          </a:ln>
        </p:spPr>
      </p:pic>
      <p:pic>
        <p:nvPicPr>
          <p:cNvPr id="60" name="Google Shape;60;p14"/>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61" name="Google Shape;61;p14"/>
          <p:cNvSpPr txBox="1"/>
          <p:nvPr>
            <p:ph idx="11" type="ftr"/>
          </p:nvPr>
        </p:nvSpPr>
        <p:spPr>
          <a:xfrm>
            <a:off x="2576521" y="6472031"/>
            <a:ext cx="2052300" cy="36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0" type="dt"/>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grpSp>
        <p:nvGrpSpPr>
          <p:cNvPr id="68" name="Google Shape;68;p15"/>
          <p:cNvGrpSpPr/>
          <p:nvPr/>
        </p:nvGrpSpPr>
        <p:grpSpPr>
          <a:xfrm>
            <a:off x="0" y="0"/>
            <a:ext cx="9144000" cy="6858000"/>
            <a:chOff x="0" y="0"/>
            <a:chExt cx="9144000" cy="6858000"/>
          </a:xfrm>
        </p:grpSpPr>
        <p:pic>
          <p:nvPicPr>
            <p:cNvPr id="69" name="Google Shape;69;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70" name="Google Shape;70;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71" name="Google Shape;71;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2" name="Google Shape;72;p15"/>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3" name="Google Shape;73;p15"/>
          <p:cNvSpPr txBox="1"/>
          <p:nvPr>
            <p:ph type="title"/>
          </p:nvPr>
        </p:nvSpPr>
        <p:spPr>
          <a:xfrm>
            <a:off x="958315" y="862895"/>
            <a:ext cx="70467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4" name="Google Shape;74;p15"/>
          <p:cNvSpPr txBox="1"/>
          <p:nvPr/>
        </p:nvSpPr>
        <p:spPr>
          <a:xfrm>
            <a:off x="962879" y="2400950"/>
            <a:ext cx="7254240"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4-1</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Manipulación de Mayúsculas/Minúsculas y de Caracteres</a:t>
            </a:r>
            <a:endParaRPr sz="2400">
              <a:latin typeface="Calibri"/>
              <a:ea typeface="Calibri"/>
              <a:cs typeface="Calibri"/>
              <a:sym typeface="Calibri"/>
            </a:endParaRPr>
          </a:p>
        </p:txBody>
      </p:sp>
      <p:pic>
        <p:nvPicPr>
          <p:cNvPr id="75" name="Google Shape;75;p15"/>
          <p:cNvPicPr preferRelativeResize="0"/>
          <p:nvPr/>
        </p:nvPicPr>
        <p:blipFill rotWithShape="1">
          <a:blip r:embed="rId5">
            <a:alphaModFix/>
          </a:blip>
          <a:srcRect b="0" l="0" r="0" t="0"/>
          <a:stretch/>
        </p:blipFill>
        <p:spPr>
          <a:xfrm>
            <a:off x="-626378" y="3455763"/>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1" name="Google Shape;81;p16"/>
          <p:cNvSpPr txBox="1"/>
          <p:nvPr/>
        </p:nvSpPr>
        <p:spPr>
          <a:xfrm>
            <a:off x="483552" y="1381889"/>
            <a:ext cx="8136255" cy="4219575"/>
          </a:xfrm>
          <a:prstGeom prst="rect">
            <a:avLst/>
          </a:prstGeom>
          <a:noFill/>
          <a:ln>
            <a:noFill/>
          </a:ln>
        </p:spPr>
        <p:txBody>
          <a:bodyPr anchorCtr="0" anchor="t" bIns="0" lIns="0" spcFirstLastPara="1" rIns="0" wrap="square" tIns="12050">
            <a:spAutoFit/>
          </a:bodyPr>
          <a:lstStyle/>
          <a:p>
            <a:pPr indent="-177800" lvl="0" marL="184785" marR="0" rtl="0" algn="l">
              <a:lnSpc>
                <a:spcPct val="117107"/>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5080" rtl="0" algn="l">
              <a:lnSpc>
                <a:spcPct val="95833"/>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funciones de una sola fila que realicen  conversión de mayúsculas/minúsculas y/o la manipulación de  caracteres</a:t>
            </a:r>
            <a:endParaRPr sz="2400">
              <a:latin typeface="Calibri"/>
              <a:ea typeface="Calibri"/>
              <a:cs typeface="Calibri"/>
              <a:sym typeface="Calibri"/>
            </a:endParaRPr>
          </a:p>
          <a:p>
            <a:pPr indent="-175260" lvl="0" marL="530860" marR="794385" rtl="0" algn="l">
              <a:lnSpc>
                <a:spcPct val="80000"/>
              </a:lnSpc>
              <a:spcBef>
                <a:spcPts val="4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las funciones de manipulación de  mayúsculas/minúsculas de caracteres LOWER, UPPER e  INTCAP en una consulta SQL</a:t>
            </a:r>
            <a:endParaRPr sz="2400">
              <a:latin typeface="Calibri"/>
              <a:ea typeface="Calibri"/>
              <a:cs typeface="Calibri"/>
              <a:sym typeface="Calibri"/>
            </a:endParaRPr>
          </a:p>
          <a:p>
            <a:pPr indent="-175260" lvl="0" marL="530860" marR="2985770" rtl="0" algn="just">
              <a:lnSpc>
                <a:spcPct val="95833"/>
              </a:lnSpc>
              <a:spcBef>
                <a:spcPts val="3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las funciones de  manipulación de caracteres CONCAT,  SUBSTR, LENGTH, INSTR, LPAD, RPAD,</a:t>
            </a:r>
            <a:endParaRPr sz="2400">
              <a:latin typeface="Calibri"/>
              <a:ea typeface="Calibri"/>
              <a:cs typeface="Calibri"/>
              <a:sym typeface="Calibri"/>
            </a:endParaRPr>
          </a:p>
          <a:p>
            <a:pPr indent="0" lvl="0" marL="530860" marR="0" rtl="0" algn="just">
              <a:lnSpc>
                <a:spcPct val="93333"/>
              </a:lnSpc>
              <a:spcBef>
                <a:spcPts val="0"/>
              </a:spcBef>
              <a:spcAft>
                <a:spcPts val="0"/>
              </a:spcAft>
              <a:buNone/>
            </a:pPr>
            <a:r>
              <a:rPr lang="en-US" sz="2400">
                <a:solidFill>
                  <a:srgbClr val="4E3629"/>
                </a:solidFill>
                <a:latin typeface="Calibri"/>
                <a:ea typeface="Calibri"/>
                <a:cs typeface="Calibri"/>
                <a:sym typeface="Calibri"/>
              </a:rPr>
              <a:t>TRIM y REPLACE en una consulta SQL</a:t>
            </a:r>
            <a:endParaRPr sz="2400">
              <a:latin typeface="Calibri"/>
              <a:ea typeface="Calibri"/>
              <a:cs typeface="Calibri"/>
              <a:sym typeface="Calibri"/>
            </a:endParaRPr>
          </a:p>
          <a:p>
            <a:pPr indent="0" lvl="0" marL="355600" marR="0" rtl="0" algn="l">
              <a:lnSpc>
                <a:spcPct val="112708"/>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consultas flexibles usando</a:t>
            </a:r>
            <a:endParaRPr sz="2400">
              <a:latin typeface="Calibri"/>
              <a:ea typeface="Calibri"/>
              <a:cs typeface="Calibri"/>
              <a:sym typeface="Calibri"/>
            </a:endParaRPr>
          </a:p>
          <a:p>
            <a:pPr indent="0" lvl="0" marL="355600" marR="0" rtl="0" algn="l">
              <a:lnSpc>
                <a:spcPct val="116458"/>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variables de sustitución</a:t>
            </a:r>
            <a:endParaRPr sz="2400">
              <a:latin typeface="Calibri"/>
              <a:ea typeface="Calibri"/>
              <a:cs typeface="Calibri"/>
              <a:sym typeface="Calibri"/>
            </a:endParaRPr>
          </a:p>
        </p:txBody>
      </p:sp>
      <p:grpSp>
        <p:nvGrpSpPr>
          <p:cNvPr id="82" name="Google Shape;82;p16"/>
          <p:cNvGrpSpPr/>
          <p:nvPr/>
        </p:nvGrpSpPr>
        <p:grpSpPr>
          <a:xfrm>
            <a:off x="5809488" y="3910583"/>
            <a:ext cx="2959594" cy="2348483"/>
            <a:chOff x="5809488" y="3910583"/>
            <a:chExt cx="2959594" cy="2348483"/>
          </a:xfrm>
        </p:grpSpPr>
        <p:pic>
          <p:nvPicPr>
            <p:cNvPr id="83" name="Google Shape;83;p16"/>
            <p:cNvPicPr preferRelativeResize="0"/>
            <p:nvPr/>
          </p:nvPicPr>
          <p:blipFill rotWithShape="1">
            <a:blip r:embed="rId3">
              <a:alphaModFix/>
            </a:blip>
            <a:srcRect b="0" l="0" r="0" t="0"/>
            <a:stretch/>
          </p:blipFill>
          <p:spPr>
            <a:xfrm>
              <a:off x="5809488" y="3910583"/>
              <a:ext cx="2959594" cy="2348483"/>
            </a:xfrm>
            <a:prstGeom prst="rect">
              <a:avLst/>
            </a:prstGeom>
            <a:noFill/>
            <a:ln>
              <a:noFill/>
            </a:ln>
          </p:spPr>
        </p:pic>
        <p:pic>
          <p:nvPicPr>
            <p:cNvPr id="84" name="Google Shape;84;p16"/>
            <p:cNvPicPr preferRelativeResize="0"/>
            <p:nvPr/>
          </p:nvPicPr>
          <p:blipFill rotWithShape="1">
            <a:blip r:embed="rId4">
              <a:alphaModFix/>
            </a:blip>
            <a:srcRect b="0" l="0" r="0" t="0"/>
            <a:stretch/>
          </p:blipFill>
          <p:spPr>
            <a:xfrm>
              <a:off x="6001512" y="4102608"/>
              <a:ext cx="2575559" cy="1964435"/>
            </a:xfrm>
            <a:prstGeom prst="rect">
              <a:avLst/>
            </a:prstGeom>
            <a:noFill/>
            <a:ln>
              <a:noFill/>
            </a:ln>
          </p:spPr>
        </p:pic>
      </p:grpSp>
      <p:sp>
        <p:nvSpPr>
          <p:cNvPr id="85" name="Google Shape;85;p16"/>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86" name="Google Shape;86;p16"/>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87" name="Google Shape;87;p16"/>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3" name="Google Shape;93;p17"/>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94" name="Google Shape;94;p17"/>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95" name="Google Shape;95;p17"/>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6" name="Google Shape;96;p17"/>
          <p:cNvSpPr txBox="1"/>
          <p:nvPr/>
        </p:nvSpPr>
        <p:spPr>
          <a:xfrm>
            <a:off x="483552" y="1415417"/>
            <a:ext cx="8030209" cy="4112895"/>
          </a:xfrm>
          <a:prstGeom prst="rect">
            <a:avLst/>
          </a:prstGeom>
          <a:noFill/>
          <a:ln>
            <a:noFill/>
          </a:ln>
        </p:spPr>
        <p:txBody>
          <a:bodyPr anchorCtr="0" anchor="t" bIns="0" lIns="0" spcFirstLastPara="1" rIns="0" wrap="square" tIns="59675">
            <a:spAutoFit/>
          </a:bodyPr>
          <a:lstStyle/>
          <a:p>
            <a:pPr indent="-177800" lvl="0" marL="184785" marR="3683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Poder cambiar la forma en la que se presentan los  datos es importante cuando se trabaja con datos de  una base de datos</a:t>
            </a:r>
            <a:endParaRPr sz="2800">
              <a:latin typeface="Calibri"/>
              <a:ea typeface="Calibri"/>
              <a:cs typeface="Calibri"/>
              <a:sym typeface="Calibri"/>
            </a:endParaRPr>
          </a:p>
          <a:p>
            <a:pPr indent="-177800" lvl="0" marL="184785" marR="26860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mayor parte del tiempo en SQL, necesitamos  cambiar la forma en la que aparecen los datos según  los requisitos de la tarea que estamos intentando  lograr</a:t>
            </a:r>
            <a:endParaRPr sz="2800">
              <a:latin typeface="Calibri"/>
              <a:ea typeface="Calibri"/>
              <a:cs typeface="Calibri"/>
              <a:sym typeface="Calibri"/>
            </a:endParaRPr>
          </a:p>
          <a:p>
            <a:pPr indent="-177800" lvl="0" marL="18478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diversas formas con las que  transformar los datos para que se ajusten a una  situación concreta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92112" y="748031"/>
            <a:ext cx="1944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 DUAL</a:t>
            </a:r>
            <a:endParaRPr/>
          </a:p>
        </p:txBody>
      </p:sp>
      <p:sp>
        <p:nvSpPr>
          <p:cNvPr id="102" name="Google Shape;102;p18"/>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03" name="Google Shape;103;p18"/>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104" name="Google Shape;104;p18"/>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5" name="Google Shape;105;p18"/>
          <p:cNvSpPr txBox="1"/>
          <p:nvPr/>
        </p:nvSpPr>
        <p:spPr>
          <a:xfrm>
            <a:off x="483552" y="1381889"/>
            <a:ext cx="8046720" cy="4272280"/>
          </a:xfrm>
          <a:prstGeom prst="rect">
            <a:avLst/>
          </a:prstGeom>
          <a:noFill/>
          <a:ln>
            <a:noFill/>
          </a:ln>
        </p:spPr>
        <p:txBody>
          <a:bodyPr anchorCtr="0" anchor="t" bIns="0" lIns="0" spcFirstLastPara="1" rIns="0" wrap="square" tIns="97150">
            <a:spAutoFit/>
          </a:bodyPr>
          <a:lstStyle/>
          <a:p>
            <a:pPr indent="-177800" lvl="0" marL="184785" marR="57531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tabla DUAL tiene una fila denominada "X" y una  columna denominada "DUMMY"</a:t>
            </a:r>
            <a:endParaRPr sz="2800">
              <a:latin typeface="Calibri"/>
              <a:ea typeface="Calibri"/>
              <a:cs typeface="Calibri"/>
              <a:sym typeface="Calibri"/>
            </a:endParaRPr>
          </a:p>
          <a:p>
            <a:pPr indent="0" lvl="0" marL="0" marR="0" rtl="0" algn="l">
              <a:lnSpc>
                <a:spcPct val="100000"/>
              </a:lnSpc>
              <a:spcBef>
                <a:spcPts val="0"/>
              </a:spcBef>
              <a:spcAft>
                <a:spcPts val="0"/>
              </a:spcAft>
              <a:buClr>
                <a:srgbClr val="D1350F"/>
              </a:buClr>
              <a:buSzPts val="2800"/>
              <a:buFont typeface="Arial"/>
              <a:buNone/>
            </a:pPr>
            <a:r>
              <a:t/>
            </a:r>
            <a:endParaRPr sz="2800">
              <a:latin typeface="Calibri"/>
              <a:ea typeface="Calibri"/>
              <a:cs typeface="Calibri"/>
              <a:sym typeface="Calibri"/>
            </a:endParaRPr>
          </a:p>
          <a:p>
            <a:pPr indent="0" lvl="0" marL="0" marR="0" rtl="0" algn="l">
              <a:lnSpc>
                <a:spcPct val="100000"/>
              </a:lnSpc>
              <a:spcBef>
                <a:spcPts val="25"/>
              </a:spcBef>
              <a:spcAft>
                <a:spcPts val="0"/>
              </a:spcAft>
              <a:buClr>
                <a:srgbClr val="D1350F"/>
              </a:buClr>
              <a:buSzPts val="3550"/>
              <a:buFont typeface="Arial"/>
              <a:buNone/>
            </a:pPr>
            <a:r>
              <a:t/>
            </a:r>
            <a:endParaRPr sz="3550">
              <a:latin typeface="Calibri"/>
              <a:ea typeface="Calibri"/>
              <a:cs typeface="Calibri"/>
              <a:sym typeface="Calibri"/>
            </a:endParaRPr>
          </a:p>
          <a:p>
            <a:pPr indent="-177800" lvl="0" marL="184785" marR="3492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tabla DUAL se utiliza para crear sentencias SELECT y  ejecutar funciones que no estén directamente  relacionadas con una tabla de base de datos concreta</a:t>
            </a:r>
            <a:endParaRPr sz="2800">
              <a:latin typeface="Calibri"/>
              <a:ea typeface="Calibri"/>
              <a:cs typeface="Calibri"/>
              <a:sym typeface="Calibri"/>
            </a:endParaRPr>
          </a:p>
          <a:p>
            <a:pPr indent="-177800" lvl="0" marL="184785" marR="508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consultas que utilizan la tabla DUAL devuelven una  fila como resultado. DUAL puede ser útil para realizar  cálculos y también para evaluar expresiones que no  derivan de una tabla</a:t>
            </a:r>
            <a:endParaRPr sz="2800">
              <a:latin typeface="Calibri"/>
              <a:ea typeface="Calibri"/>
              <a:cs typeface="Calibri"/>
              <a:sym typeface="Calibri"/>
            </a:endParaRPr>
          </a:p>
        </p:txBody>
      </p:sp>
      <p:graphicFrame>
        <p:nvGraphicFramePr>
          <p:cNvPr id="106" name="Google Shape;106;p18"/>
          <p:cNvGraphicFramePr/>
          <p:nvPr/>
        </p:nvGraphicFramePr>
        <p:xfrm>
          <a:off x="3623884" y="2281087"/>
          <a:ext cx="3000000" cy="3000000"/>
        </p:xfrm>
        <a:graphic>
          <a:graphicData uri="http://schemas.openxmlformats.org/drawingml/2006/table">
            <a:tbl>
              <a:tblPr bandRow="1" firstRow="1">
                <a:noFill/>
                <a:tableStyleId>{225A1B43-8036-45A3-B309-2588F688D7A7}</a:tableStyleId>
              </a:tblPr>
              <a:tblGrid>
                <a:gridCol w="1607825"/>
              </a:tblGrid>
              <a:tr h="365825">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DUMMY</a:t>
                      </a:r>
                      <a:endParaRPr sz="18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65825">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X</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1944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Tabla DUAL</a:t>
            </a:r>
            <a:endParaRPr/>
          </a:p>
        </p:txBody>
      </p:sp>
      <p:sp>
        <p:nvSpPr>
          <p:cNvPr id="112" name="Google Shape;112;p19"/>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13" name="Google Shape;113;p19"/>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114" name="Google Shape;114;p19"/>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415417"/>
            <a:ext cx="8164830" cy="306070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DUAL se utilizará para obtener muchas de las funciones  de una sola fila</a:t>
            </a:r>
            <a:endParaRPr sz="2800">
              <a:latin typeface="Calibri"/>
              <a:ea typeface="Calibri"/>
              <a:cs typeface="Calibri"/>
              <a:sym typeface="Calibri"/>
            </a:endParaRPr>
          </a:p>
          <a:p>
            <a:pPr indent="-177800" lvl="0" marL="184785" marR="25336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la tabla DUAL se utiliza para ejecutar  una sentencia SELECT que contenga un cálculo</a:t>
            </a:r>
            <a:endParaRPr sz="2800">
              <a:latin typeface="Calibri"/>
              <a:ea typeface="Calibri"/>
              <a:cs typeface="Calibri"/>
              <a:sym typeface="Calibri"/>
            </a:endParaRPr>
          </a:p>
          <a:p>
            <a:pPr indent="-177800" lvl="0" marL="184785" marR="57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puede ver, la sentencia SELECT devuelve un valor  que no existe en la tabla DUAL</a:t>
            </a:r>
            <a:endParaRPr sz="2800">
              <a:latin typeface="Calibri"/>
              <a:ea typeface="Calibri"/>
              <a:cs typeface="Calibri"/>
              <a:sym typeface="Calibri"/>
            </a:endParaRPr>
          </a:p>
          <a:p>
            <a:pPr indent="-177800" lvl="0" marL="184785" marR="0"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devuelto es el resultado del cálculo ejecutado</a:t>
            </a:r>
            <a:endParaRPr sz="2800">
              <a:latin typeface="Calibri"/>
              <a:ea typeface="Calibri"/>
              <a:cs typeface="Calibri"/>
              <a:sym typeface="Calibri"/>
            </a:endParaRPr>
          </a:p>
        </p:txBody>
      </p:sp>
      <p:sp>
        <p:nvSpPr>
          <p:cNvPr id="116" name="Google Shape;116;p19"/>
          <p:cNvSpPr txBox="1"/>
          <p:nvPr/>
        </p:nvSpPr>
        <p:spPr>
          <a:xfrm>
            <a:off x="405384" y="4853940"/>
            <a:ext cx="3857625" cy="858519"/>
          </a:xfrm>
          <a:prstGeom prst="rect">
            <a:avLst/>
          </a:prstGeom>
          <a:solidFill>
            <a:srgbClr val="9DBDC4">
              <a:alpha val="49804"/>
            </a:srgbClr>
          </a:solidFill>
          <a:ln>
            <a:noFill/>
          </a:ln>
        </p:spPr>
        <p:txBody>
          <a:bodyPr anchorCtr="0" anchor="t" bIns="0" lIns="0" spcFirstLastPara="1" rIns="0" wrap="square" tIns="126350">
            <a:spAutoFit/>
          </a:bodyPr>
          <a:lstStyle/>
          <a:p>
            <a:pPr indent="0" lvl="0" marL="0" marR="11188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(319/29) + 12  FROM DUAL;</a:t>
            </a:r>
            <a:endParaRPr sz="1800">
              <a:latin typeface="Courier New"/>
              <a:ea typeface="Courier New"/>
              <a:cs typeface="Courier New"/>
              <a:sym typeface="Courier New"/>
            </a:endParaRPr>
          </a:p>
        </p:txBody>
      </p:sp>
      <p:graphicFrame>
        <p:nvGraphicFramePr>
          <p:cNvPr id="117" name="Google Shape;117;p19"/>
          <p:cNvGraphicFramePr/>
          <p:nvPr/>
        </p:nvGraphicFramePr>
        <p:xfrm>
          <a:off x="6896607" y="4847238"/>
          <a:ext cx="3000000" cy="3000000"/>
        </p:xfrm>
        <a:graphic>
          <a:graphicData uri="http://schemas.openxmlformats.org/drawingml/2006/table">
            <a:tbl>
              <a:tblPr bandRow="1" firstRow="1">
                <a:noFill/>
                <a:tableStyleId>{225A1B43-8036-45A3-B309-2588F688D7A7}</a:tableStyleId>
              </a:tblPr>
              <a:tblGrid>
                <a:gridCol w="1847850"/>
              </a:tblGrid>
              <a:tr h="396875">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(319/29)+12</a:t>
                      </a:r>
                      <a:endParaRPr sz="18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96875">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23</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92112" y="748031"/>
            <a:ext cx="69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Caracteres de Una Sola Fila</a:t>
            </a:r>
            <a:endParaRPr/>
          </a:p>
        </p:txBody>
      </p:sp>
      <p:sp>
        <p:nvSpPr>
          <p:cNvPr id="123" name="Google Shape;123;p20"/>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24" name="Google Shape;124;p20"/>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125" name="Google Shape;125;p20"/>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6" name="Google Shape;126;p20"/>
          <p:cNvSpPr txBox="1"/>
          <p:nvPr/>
        </p:nvSpPr>
        <p:spPr>
          <a:xfrm>
            <a:off x="483552" y="1415417"/>
            <a:ext cx="7943215" cy="3124835"/>
          </a:xfrm>
          <a:prstGeom prst="rect">
            <a:avLst/>
          </a:prstGeom>
          <a:noFill/>
          <a:ln>
            <a:noFill/>
          </a:ln>
        </p:spPr>
        <p:txBody>
          <a:bodyPr anchorCtr="0" anchor="t" bIns="0" lIns="0" spcFirstLastPara="1" rIns="0" wrap="square" tIns="59675">
            <a:spAutoFit/>
          </a:bodyPr>
          <a:lstStyle/>
          <a:p>
            <a:pPr indent="-177800" lvl="0" marL="184785" marR="14604"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caracteres de una sola fila se dividen  en dos categorías:</a:t>
            </a:r>
            <a:endParaRPr sz="2800">
              <a:latin typeface="Calibri"/>
              <a:ea typeface="Calibri"/>
              <a:cs typeface="Calibri"/>
              <a:sym typeface="Calibri"/>
            </a:endParaRPr>
          </a:p>
          <a:p>
            <a:pPr indent="-175260" lvl="0" marL="530860" marR="4953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Funciones que convierten las mayúsculas/minúsculas de las  cadenas de caracteres</a:t>
            </a:r>
            <a:endParaRPr sz="2400">
              <a:latin typeface="Calibri"/>
              <a:ea typeface="Calibri"/>
              <a:cs typeface="Calibri"/>
              <a:sym typeface="Calibri"/>
            </a:endParaRPr>
          </a:p>
          <a:p>
            <a:pPr indent="-175260" lvl="0" marL="530860" marR="7162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Funciones que puede unir, extraer, mostrar, encontrar,  rellenar y recortar cadenas de caracteres</a:t>
            </a:r>
            <a:endParaRPr sz="2400">
              <a:latin typeface="Calibri"/>
              <a:ea typeface="Calibri"/>
              <a:cs typeface="Calibri"/>
              <a:sym typeface="Calibri"/>
            </a:endParaRPr>
          </a:p>
          <a:p>
            <a:pPr indent="-177800" lvl="0" marL="18478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una sola fila se pueden utilizar en las  cláusulas SELECT, WHERE y ORDER BY</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92112" y="748031"/>
            <a:ext cx="69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Caracteres de Una Sola Fila</a:t>
            </a:r>
            <a:endParaRPr/>
          </a:p>
        </p:txBody>
      </p:sp>
      <p:sp>
        <p:nvSpPr>
          <p:cNvPr id="132" name="Google Shape;132;p21"/>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33" name="Google Shape;133;p21"/>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134" name="Google Shape;134;p21"/>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5" name="Google Shape;135;p21"/>
          <p:cNvSpPr txBox="1"/>
          <p:nvPr/>
        </p:nvSpPr>
        <p:spPr>
          <a:xfrm>
            <a:off x="483552" y="1381889"/>
            <a:ext cx="8164195" cy="4409440"/>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manipulación de  mayúsculas/minúsculas son importantes porque puede  que no siempre sepa cómo se han escrito (mayúscula,  minúscula o mayúsculas y minúsculas) los datos  almacenados en la base de datos</a:t>
            </a:r>
            <a:endParaRPr sz="2800">
              <a:latin typeface="Calibri"/>
              <a:ea typeface="Calibri"/>
              <a:cs typeface="Calibri"/>
              <a:sym typeface="Calibri"/>
            </a:endParaRPr>
          </a:p>
          <a:p>
            <a:pPr indent="-177800" lvl="0" marL="184785" marR="121920" rtl="0" algn="just">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manipulación de mayúsculas/minúsculas le permite  convertir temporalmente los datos de la base de datos  en mayúsculas y minúsculas, según desee</a:t>
            </a:r>
            <a:endParaRPr sz="2800">
              <a:latin typeface="Calibri"/>
              <a:ea typeface="Calibri"/>
              <a:cs typeface="Calibri"/>
              <a:sym typeface="Calibri"/>
            </a:endParaRPr>
          </a:p>
          <a:p>
            <a:pPr indent="-177800" lvl="0" marL="184785" marR="9144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evita el hecho de que no coincidan el  almacenamiento en mayúsculas/minúsculas en la base  de datos y la redacción de mayúsculas/minúsculas de  las solicitudes</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p:nvPr/>
        </p:nvSpPr>
        <p:spPr>
          <a:xfrm>
            <a:off x="4572761" y="3912108"/>
            <a:ext cx="0" cy="2032635"/>
          </a:xfrm>
          <a:custGeom>
            <a:rect b="b" l="l" r="r" t="t"/>
            <a:pathLst>
              <a:path extrusionOk="0" h="2032635" w="120000">
                <a:moveTo>
                  <a:pt x="0" y="0"/>
                </a:moveTo>
                <a:lnTo>
                  <a:pt x="0" y="2032254"/>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1" name="Google Shape;141;p22"/>
          <p:cNvSpPr/>
          <p:nvPr/>
        </p:nvSpPr>
        <p:spPr>
          <a:xfrm>
            <a:off x="4572761" y="1524761"/>
            <a:ext cx="0" cy="1310005"/>
          </a:xfrm>
          <a:custGeom>
            <a:rect b="b" l="l" r="r" t="t"/>
            <a:pathLst>
              <a:path extrusionOk="0" h="1310005" w="120000">
                <a:moveTo>
                  <a:pt x="0" y="0"/>
                </a:moveTo>
                <a:lnTo>
                  <a:pt x="0" y="1309877"/>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2" name="Google Shape;142;p22"/>
          <p:cNvSpPr txBox="1"/>
          <p:nvPr/>
        </p:nvSpPr>
        <p:spPr>
          <a:xfrm>
            <a:off x="483552" y="1491489"/>
            <a:ext cx="2879090" cy="836294"/>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manipulación de</a:t>
            </a:r>
            <a:endParaRPr sz="2800">
              <a:latin typeface="Calibri"/>
              <a:ea typeface="Calibri"/>
              <a:cs typeface="Calibri"/>
              <a:sym typeface="Calibri"/>
            </a:endParaRPr>
          </a:p>
        </p:txBody>
      </p:sp>
      <p:sp>
        <p:nvSpPr>
          <p:cNvPr id="143" name="Google Shape;143;p22"/>
          <p:cNvSpPr txBox="1"/>
          <p:nvPr/>
        </p:nvSpPr>
        <p:spPr>
          <a:xfrm>
            <a:off x="940752" y="2259908"/>
            <a:ext cx="342709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mayúsculas/minúsculas</a:t>
            </a:r>
            <a:endParaRPr sz="2800">
              <a:latin typeface="Calibri"/>
              <a:ea typeface="Calibri"/>
              <a:cs typeface="Calibri"/>
              <a:sym typeface="Calibri"/>
            </a:endParaRPr>
          </a:p>
        </p:txBody>
      </p:sp>
      <p:sp>
        <p:nvSpPr>
          <p:cNvPr id="144" name="Google Shape;144;p22"/>
          <p:cNvSpPr txBox="1"/>
          <p:nvPr/>
        </p:nvSpPr>
        <p:spPr>
          <a:xfrm>
            <a:off x="940752" y="2644117"/>
            <a:ext cx="3214370" cy="3141345"/>
          </a:xfrm>
          <a:prstGeom prst="rect">
            <a:avLst/>
          </a:prstGeom>
          <a:noFill/>
          <a:ln>
            <a:noFill/>
          </a:ln>
        </p:spPr>
        <p:txBody>
          <a:bodyPr anchorCtr="0" anchor="t" bIns="0" lIns="0" spcFirstLastPara="1" rIns="0" wrap="square" tIns="59675">
            <a:spAutoFit/>
          </a:bodyPr>
          <a:lstStyle/>
          <a:p>
            <a:pPr indent="0" lvl="0" marL="12700" marR="5080" rtl="0" algn="l">
              <a:lnSpc>
                <a:spcPct val="108214"/>
              </a:lnSpc>
              <a:spcBef>
                <a:spcPts val="0"/>
              </a:spcBef>
              <a:spcAft>
                <a:spcPts val="0"/>
              </a:spcAft>
              <a:buNone/>
            </a:pPr>
            <a:r>
              <a:rPr lang="en-US" sz="2800">
                <a:solidFill>
                  <a:srgbClr val="4E3629"/>
                </a:solidFill>
                <a:latin typeface="Calibri"/>
                <a:ea typeface="Calibri"/>
                <a:cs typeface="Calibri"/>
                <a:sym typeface="Calibri"/>
              </a:rPr>
              <a:t>se utilizan para  convertir los datos del  estado en el que se  almacenan en una  tabla en mayúsculas,  minúsculas o  mayúsculas y  minúsculas</a:t>
            </a:r>
            <a:endParaRPr sz="2800">
              <a:latin typeface="Calibri"/>
              <a:ea typeface="Calibri"/>
              <a:cs typeface="Calibri"/>
              <a:sym typeface="Calibri"/>
            </a:endParaRPr>
          </a:p>
        </p:txBody>
      </p:sp>
      <p:sp>
        <p:nvSpPr>
          <p:cNvPr id="145" name="Google Shape;145;p22"/>
          <p:cNvSpPr txBox="1"/>
          <p:nvPr>
            <p:ph type="title"/>
          </p:nvPr>
        </p:nvSpPr>
        <p:spPr>
          <a:xfrm>
            <a:off x="392112" y="385319"/>
            <a:ext cx="47352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Funciones de Manipulación de  Mayúsculas/Minúsculas</a:t>
            </a:r>
            <a:endParaRPr sz="3000"/>
          </a:p>
        </p:txBody>
      </p:sp>
      <p:sp>
        <p:nvSpPr>
          <p:cNvPr id="146" name="Google Shape;146;p22"/>
          <p:cNvSpPr txBox="1"/>
          <p:nvPr/>
        </p:nvSpPr>
        <p:spPr>
          <a:xfrm>
            <a:off x="4357115" y="2834639"/>
            <a:ext cx="1889760" cy="1077595"/>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1270" lvl="0" marL="225425" marR="21971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147" name="Google Shape;147;p22"/>
          <p:cNvGrpSpPr/>
          <p:nvPr/>
        </p:nvGrpSpPr>
        <p:grpSpPr>
          <a:xfrm>
            <a:off x="6873240" y="2839211"/>
            <a:ext cx="1889760" cy="1077595"/>
            <a:chOff x="6873240" y="2839211"/>
            <a:chExt cx="1889760" cy="1077595"/>
          </a:xfrm>
        </p:grpSpPr>
        <p:sp>
          <p:nvSpPr>
            <p:cNvPr id="148" name="Google Shape;148;p22"/>
            <p:cNvSpPr/>
            <p:nvPr/>
          </p:nvSpPr>
          <p:spPr>
            <a:xfrm>
              <a:off x="6873240" y="2839211"/>
              <a:ext cx="1889760" cy="1077595"/>
            </a:xfrm>
            <a:custGeom>
              <a:rect b="b" l="l" r="r" t="t"/>
              <a:pathLst>
                <a:path extrusionOk="0" h="1077595" w="1889759">
                  <a:moveTo>
                    <a:pt x="1889759" y="0"/>
                  </a:moveTo>
                  <a:lnTo>
                    <a:pt x="0" y="0"/>
                  </a:lnTo>
                  <a:lnTo>
                    <a:pt x="0" y="1077468"/>
                  </a:lnTo>
                  <a:lnTo>
                    <a:pt x="1889759" y="1077468"/>
                  </a:lnTo>
                  <a:lnTo>
                    <a:pt x="1889759"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9" name="Google Shape;149;p22"/>
            <p:cNvSpPr/>
            <p:nvPr/>
          </p:nvSpPr>
          <p:spPr>
            <a:xfrm>
              <a:off x="6873240" y="2839211"/>
              <a:ext cx="1889760" cy="1077595"/>
            </a:xfrm>
            <a:custGeom>
              <a:rect b="b" l="l" r="r" t="t"/>
              <a:pathLst>
                <a:path extrusionOk="0" h="1077595" w="1889759">
                  <a:moveTo>
                    <a:pt x="0" y="0"/>
                  </a:moveTo>
                  <a:lnTo>
                    <a:pt x="1889759" y="0"/>
                  </a:lnTo>
                  <a:lnTo>
                    <a:pt x="1889759" y="1077468"/>
                  </a:lnTo>
                  <a:lnTo>
                    <a:pt x="0" y="1077468"/>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50" name="Google Shape;150;p22"/>
          <p:cNvSpPr txBox="1"/>
          <p:nvPr/>
        </p:nvSpPr>
        <p:spPr>
          <a:xfrm>
            <a:off x="7086327" y="2855531"/>
            <a:ext cx="1462405" cy="1002030"/>
          </a:xfrm>
          <a:prstGeom prst="rect">
            <a:avLst/>
          </a:prstGeom>
          <a:noFill/>
          <a:ln>
            <a:noFill/>
          </a:ln>
        </p:spPr>
        <p:txBody>
          <a:bodyPr anchorCtr="0" anchor="t" bIns="0" lIns="0" spcFirstLastPara="1" rIns="0" wrap="square" tIns="13325">
            <a:spAutoFit/>
          </a:bodyPr>
          <a:lstStyle/>
          <a:p>
            <a:pPr indent="1270" lvl="0" marL="12700" marR="508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151" name="Google Shape;151;p22"/>
          <p:cNvGrpSpPr/>
          <p:nvPr/>
        </p:nvGrpSpPr>
        <p:grpSpPr>
          <a:xfrm>
            <a:off x="5446013" y="2074926"/>
            <a:ext cx="2552700" cy="757682"/>
            <a:chOff x="5446013" y="2074926"/>
            <a:chExt cx="2552700" cy="757682"/>
          </a:xfrm>
        </p:grpSpPr>
        <p:sp>
          <p:nvSpPr>
            <p:cNvPr id="152" name="Google Shape;152;p22"/>
            <p:cNvSpPr/>
            <p:nvPr/>
          </p:nvSpPr>
          <p:spPr>
            <a:xfrm>
              <a:off x="7998713" y="2612898"/>
              <a:ext cx="0" cy="210820"/>
            </a:xfrm>
            <a:custGeom>
              <a:rect b="b" l="l" r="r" t="t"/>
              <a:pathLst>
                <a:path extrusionOk="0" h="210819" w="120000">
                  <a:moveTo>
                    <a:pt x="0" y="21031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3" name="Google Shape;153;p22"/>
            <p:cNvSpPr/>
            <p:nvPr/>
          </p:nvSpPr>
          <p:spPr>
            <a:xfrm>
              <a:off x="5446013" y="2612898"/>
              <a:ext cx="0" cy="219710"/>
            </a:xfrm>
            <a:custGeom>
              <a:rect b="b" l="l" r="r" t="t"/>
              <a:pathLst>
                <a:path extrusionOk="0" h="219710" w="120000">
                  <a:moveTo>
                    <a:pt x="0" y="219455"/>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4" name="Google Shape;154;p22"/>
            <p:cNvSpPr/>
            <p:nvPr/>
          </p:nvSpPr>
          <p:spPr>
            <a:xfrm>
              <a:off x="5446013" y="2612898"/>
              <a:ext cx="2552700" cy="0"/>
            </a:xfrm>
            <a:custGeom>
              <a:rect b="b" l="l" r="r" t="t"/>
              <a:pathLst>
                <a:path extrusionOk="0" h="120000" w="2552700">
                  <a:moveTo>
                    <a:pt x="0" y="0"/>
                  </a:moveTo>
                  <a:lnTo>
                    <a:pt x="255270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5" name="Google Shape;155;p22"/>
            <p:cNvSpPr/>
            <p:nvPr/>
          </p:nvSpPr>
          <p:spPr>
            <a:xfrm>
              <a:off x="6813041" y="2074926"/>
              <a:ext cx="0" cy="538480"/>
            </a:xfrm>
            <a:custGeom>
              <a:rect b="b" l="l" r="r" t="t"/>
              <a:pathLst>
                <a:path extrusionOk="0" h="538480" w="120000">
                  <a:moveTo>
                    <a:pt x="0" y="53797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56" name="Google Shape;156;p22"/>
          <p:cNvSpPr txBox="1"/>
          <p:nvPr/>
        </p:nvSpPr>
        <p:spPr>
          <a:xfrm>
            <a:off x="4956021" y="3861502"/>
            <a:ext cx="852169" cy="1122680"/>
          </a:xfrm>
          <a:prstGeom prst="rect">
            <a:avLst/>
          </a:prstGeom>
          <a:noFill/>
          <a:ln>
            <a:noFill/>
          </a:ln>
        </p:spPr>
        <p:txBody>
          <a:bodyPr anchorCtr="0" anchor="t" bIns="0" lIns="0" spcFirstLastPara="1" rIns="0" wrap="square" tIns="12050">
            <a:spAutoFit/>
          </a:bodyPr>
          <a:lstStyle/>
          <a:p>
            <a:pPr indent="0" lvl="0" marL="12700" marR="5080" rtl="0" algn="just">
              <a:lnSpc>
                <a:spcPct val="120000"/>
              </a:lnSpc>
              <a:spcBef>
                <a:spcPts val="0"/>
              </a:spcBef>
              <a:spcAft>
                <a:spcPts val="0"/>
              </a:spcAft>
              <a:buNone/>
            </a:pPr>
            <a:r>
              <a:rPr lang="en-US" sz="2000">
                <a:solidFill>
                  <a:srgbClr val="4E3629"/>
                </a:solidFill>
                <a:latin typeface="Calibri"/>
                <a:ea typeface="Calibri"/>
                <a:cs typeface="Calibri"/>
                <a:sym typeface="Calibri"/>
              </a:rPr>
              <a:t>LOWER  UPPER  INITCAP</a:t>
            </a:r>
            <a:endParaRPr sz="2000">
              <a:latin typeface="Calibri"/>
              <a:ea typeface="Calibri"/>
              <a:cs typeface="Calibri"/>
              <a:sym typeface="Calibri"/>
            </a:endParaRPr>
          </a:p>
        </p:txBody>
      </p:sp>
      <p:sp>
        <p:nvSpPr>
          <p:cNvPr id="157" name="Google Shape;157;p22"/>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58" name="Google Shape;158;p22"/>
          <p:cNvSpPr txBox="1"/>
          <p:nvPr/>
        </p:nvSpPr>
        <p:spPr>
          <a:xfrm>
            <a:off x="8725090" y="6567768"/>
            <a:ext cx="140335" cy="152400"/>
          </a:xfrm>
          <a:prstGeom prst="rect">
            <a:avLst/>
          </a:prstGeom>
          <a:noFill/>
          <a:ln>
            <a:noFill/>
          </a:ln>
        </p:spPr>
        <p:txBody>
          <a:bodyPr anchorCtr="0" anchor="t" bIns="0" lIns="0" spcFirstLastPara="1" rIns="0" wrap="square" tIns="0">
            <a:spAutoFit/>
          </a:bodyPr>
          <a:lstStyle/>
          <a:p>
            <a:pPr indent="0" lvl="0" marL="38100" marR="0" rtl="0" algn="l">
              <a:lnSpc>
                <a:spcPct val="104499"/>
              </a:lnSpc>
              <a:spcBef>
                <a:spcPts val="0"/>
              </a:spcBef>
              <a:spcAft>
                <a:spcPts val="0"/>
              </a:spcAft>
              <a:buNone/>
            </a:pPr>
            <a:fld id="{00000000-1234-1234-1234-123412341234}" type="slidenum">
              <a:rPr b="1" lang="en-US" sz="1000">
                <a:solidFill>
                  <a:srgbClr val="4E3629"/>
                </a:solidFill>
                <a:latin typeface="Calibri"/>
                <a:ea typeface="Calibri"/>
                <a:cs typeface="Calibri"/>
                <a:sym typeface="Calibri"/>
              </a:rPr>
              <a:t>‹#›</a:t>
            </a:fld>
            <a:endParaRPr sz="1000">
              <a:latin typeface="Calibri"/>
              <a:ea typeface="Calibri"/>
              <a:cs typeface="Calibri"/>
              <a:sym typeface="Calibri"/>
            </a:endParaRPr>
          </a:p>
        </p:txBody>
      </p:sp>
      <p:sp>
        <p:nvSpPr>
          <p:cNvPr id="159" name="Google Shape;159;p22"/>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0" name="Google Shape;160;p22"/>
          <p:cNvSpPr txBox="1"/>
          <p:nvPr/>
        </p:nvSpPr>
        <p:spPr>
          <a:xfrm>
            <a:off x="7311747" y="3861502"/>
            <a:ext cx="1337310" cy="2585720"/>
          </a:xfrm>
          <a:prstGeom prst="rect">
            <a:avLst/>
          </a:prstGeom>
          <a:noFill/>
          <a:ln>
            <a:noFill/>
          </a:ln>
        </p:spPr>
        <p:txBody>
          <a:bodyPr anchorCtr="0" anchor="t" bIns="0" lIns="0" spcFirstLastPara="1" rIns="0" wrap="square" tIns="12050">
            <a:spAutoFit/>
          </a:bodyPr>
          <a:lstStyle/>
          <a:p>
            <a:pPr indent="0" lvl="0" marL="12700" marR="479425" rtl="0" algn="just">
              <a:lnSpc>
                <a:spcPct val="120000"/>
              </a:lnSpc>
              <a:spcBef>
                <a:spcPts val="0"/>
              </a:spcBef>
              <a:spcAft>
                <a:spcPts val="0"/>
              </a:spcAft>
              <a:buNone/>
            </a:pPr>
            <a:r>
              <a:rPr lang="en-US" sz="2000">
                <a:solidFill>
                  <a:srgbClr val="4E3629"/>
                </a:solidFill>
                <a:latin typeface="Calibri"/>
                <a:ea typeface="Calibri"/>
                <a:cs typeface="Calibri"/>
                <a:sym typeface="Calibri"/>
              </a:rPr>
              <a:t>CONCAT  SUBSTR  LENGTH  INSTR</a:t>
            </a:r>
            <a:endParaRPr sz="2000">
              <a:latin typeface="Calibri"/>
              <a:ea typeface="Calibri"/>
              <a:cs typeface="Calibri"/>
              <a:sym typeface="Calibri"/>
            </a:endParaRPr>
          </a:p>
          <a:p>
            <a:pPr indent="0" lvl="0" marL="12700" marR="5080" rtl="0" algn="l">
              <a:lnSpc>
                <a:spcPct val="120000"/>
              </a:lnSpc>
              <a:spcBef>
                <a:spcPts val="0"/>
              </a:spcBef>
              <a:spcAft>
                <a:spcPts val="0"/>
              </a:spcAft>
              <a:buNone/>
            </a:pPr>
            <a:r>
              <a:rPr lang="en-US" sz="2000">
                <a:solidFill>
                  <a:srgbClr val="4E3629"/>
                </a:solidFill>
                <a:latin typeface="Calibri"/>
                <a:ea typeface="Calibri"/>
                <a:cs typeface="Calibri"/>
                <a:sym typeface="Calibri"/>
              </a:rPr>
              <a:t>LPAD | RPAD  TRIM  REPLACE</a:t>
            </a:r>
            <a:endParaRPr sz="2000">
              <a:latin typeface="Calibri"/>
              <a:ea typeface="Calibri"/>
              <a:cs typeface="Calibri"/>
              <a:sym typeface="Calibri"/>
            </a:endParaRPr>
          </a:p>
        </p:txBody>
      </p:sp>
      <p:sp>
        <p:nvSpPr>
          <p:cNvPr id="161" name="Google Shape;161;p22"/>
          <p:cNvSpPr txBox="1"/>
          <p:nvPr/>
        </p:nvSpPr>
        <p:spPr>
          <a:xfrm>
            <a:off x="5357634" y="1175679"/>
            <a:ext cx="259524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000">
                <a:solidFill>
                  <a:srgbClr val="4E3629"/>
                </a:solidFill>
                <a:latin typeface="Calibri"/>
                <a:ea typeface="Calibri"/>
                <a:cs typeface="Calibri"/>
                <a:sym typeface="Calibri"/>
              </a:rPr>
              <a:t>CHARACTER FUNCTIONS</a:t>
            </a:r>
            <a:endParaRPr sz="2000">
              <a:latin typeface="Calibri"/>
              <a:ea typeface="Calibri"/>
              <a:cs typeface="Calibri"/>
              <a:sym typeface="Calibri"/>
            </a:endParaRPr>
          </a:p>
        </p:txBody>
      </p:sp>
      <p:sp>
        <p:nvSpPr>
          <p:cNvPr id="162" name="Google Shape;162;p22"/>
          <p:cNvSpPr txBox="1"/>
          <p:nvPr/>
        </p:nvSpPr>
        <p:spPr>
          <a:xfrm>
            <a:off x="5503164" y="1650492"/>
            <a:ext cx="2503170" cy="401320"/>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0" lvl="0" marL="95250" marR="0" rtl="0" algn="l">
              <a:lnSpc>
                <a:spcPct val="100000"/>
              </a:lnSpc>
              <a:spcBef>
                <a:spcPts val="0"/>
              </a:spcBef>
              <a:spcAft>
                <a:spcPts val="0"/>
              </a:spcAft>
              <a:buNone/>
            </a:pPr>
            <a:r>
              <a:rPr b="1" lang="en-US" sz="2000">
                <a:solidFill>
                  <a:srgbClr val="FFFFFF"/>
                </a:solidFill>
                <a:latin typeface="Calibri"/>
                <a:ea typeface="Calibri"/>
                <a:cs typeface="Calibri"/>
                <a:sym typeface="Calibri"/>
              </a:rPr>
              <a:t>Funciones de Carácter</a:t>
            </a:r>
            <a:endParaRPr sz="2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p:nvPr/>
        </p:nvSpPr>
        <p:spPr>
          <a:xfrm>
            <a:off x="4572761" y="3912108"/>
            <a:ext cx="0" cy="2032635"/>
          </a:xfrm>
          <a:custGeom>
            <a:rect b="b" l="l" r="r" t="t"/>
            <a:pathLst>
              <a:path extrusionOk="0" h="2032635" w="120000">
                <a:moveTo>
                  <a:pt x="0" y="0"/>
                </a:moveTo>
                <a:lnTo>
                  <a:pt x="0" y="2032254"/>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8" name="Google Shape;168;p23"/>
          <p:cNvSpPr/>
          <p:nvPr/>
        </p:nvSpPr>
        <p:spPr>
          <a:xfrm>
            <a:off x="4572761" y="1524761"/>
            <a:ext cx="0" cy="1310005"/>
          </a:xfrm>
          <a:custGeom>
            <a:rect b="b" l="l" r="r" t="t"/>
            <a:pathLst>
              <a:path extrusionOk="0" h="1310005" w="120000">
                <a:moveTo>
                  <a:pt x="0" y="0"/>
                </a:moveTo>
                <a:lnTo>
                  <a:pt x="0" y="1309877"/>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9" name="Google Shape;169;p23"/>
          <p:cNvSpPr txBox="1"/>
          <p:nvPr/>
        </p:nvSpPr>
        <p:spPr>
          <a:xfrm>
            <a:off x="483552" y="1491489"/>
            <a:ext cx="3571240" cy="2757170"/>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Estas conversiones se  puede utilizar para  aplicar formato a la  salida y también se  pueden usar para  buscar cadenas  específicas</a:t>
            </a:r>
            <a:endParaRPr sz="2800">
              <a:latin typeface="Calibri"/>
              <a:ea typeface="Calibri"/>
              <a:cs typeface="Calibri"/>
              <a:sym typeface="Calibri"/>
            </a:endParaRPr>
          </a:p>
        </p:txBody>
      </p:sp>
      <p:sp>
        <p:nvSpPr>
          <p:cNvPr id="170" name="Google Shape;170;p23"/>
          <p:cNvSpPr txBox="1"/>
          <p:nvPr>
            <p:ph type="title"/>
          </p:nvPr>
        </p:nvSpPr>
        <p:spPr>
          <a:xfrm>
            <a:off x="392112" y="385319"/>
            <a:ext cx="47352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Funciones de Manipulación de  Mayúsculas/Minúsculas</a:t>
            </a:r>
            <a:endParaRPr sz="3000"/>
          </a:p>
        </p:txBody>
      </p:sp>
      <p:sp>
        <p:nvSpPr>
          <p:cNvPr id="171" name="Google Shape;171;p23"/>
          <p:cNvSpPr txBox="1"/>
          <p:nvPr/>
        </p:nvSpPr>
        <p:spPr>
          <a:xfrm>
            <a:off x="4357115" y="2834639"/>
            <a:ext cx="1889760" cy="1077595"/>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1270" lvl="0" marL="225425" marR="21971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172" name="Google Shape;172;p23"/>
          <p:cNvGrpSpPr/>
          <p:nvPr/>
        </p:nvGrpSpPr>
        <p:grpSpPr>
          <a:xfrm>
            <a:off x="6873240" y="2839211"/>
            <a:ext cx="1889760" cy="1077595"/>
            <a:chOff x="6873240" y="2839211"/>
            <a:chExt cx="1889760" cy="1077595"/>
          </a:xfrm>
        </p:grpSpPr>
        <p:sp>
          <p:nvSpPr>
            <p:cNvPr id="173" name="Google Shape;173;p23"/>
            <p:cNvSpPr/>
            <p:nvPr/>
          </p:nvSpPr>
          <p:spPr>
            <a:xfrm>
              <a:off x="6873240" y="2839211"/>
              <a:ext cx="1889760" cy="1077595"/>
            </a:xfrm>
            <a:custGeom>
              <a:rect b="b" l="l" r="r" t="t"/>
              <a:pathLst>
                <a:path extrusionOk="0" h="1077595" w="1889759">
                  <a:moveTo>
                    <a:pt x="1889759" y="0"/>
                  </a:moveTo>
                  <a:lnTo>
                    <a:pt x="0" y="0"/>
                  </a:lnTo>
                  <a:lnTo>
                    <a:pt x="0" y="1077468"/>
                  </a:lnTo>
                  <a:lnTo>
                    <a:pt x="1889759" y="1077468"/>
                  </a:lnTo>
                  <a:lnTo>
                    <a:pt x="1889759"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4" name="Google Shape;174;p23"/>
            <p:cNvSpPr/>
            <p:nvPr/>
          </p:nvSpPr>
          <p:spPr>
            <a:xfrm>
              <a:off x="6873240" y="2839211"/>
              <a:ext cx="1889760" cy="1077595"/>
            </a:xfrm>
            <a:custGeom>
              <a:rect b="b" l="l" r="r" t="t"/>
              <a:pathLst>
                <a:path extrusionOk="0" h="1077595" w="1889759">
                  <a:moveTo>
                    <a:pt x="0" y="0"/>
                  </a:moveTo>
                  <a:lnTo>
                    <a:pt x="1889759" y="0"/>
                  </a:lnTo>
                  <a:lnTo>
                    <a:pt x="1889759" y="1077468"/>
                  </a:lnTo>
                  <a:lnTo>
                    <a:pt x="0" y="1077468"/>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75" name="Google Shape;175;p23"/>
          <p:cNvSpPr txBox="1"/>
          <p:nvPr/>
        </p:nvSpPr>
        <p:spPr>
          <a:xfrm>
            <a:off x="7086327" y="2855531"/>
            <a:ext cx="1462405" cy="1002030"/>
          </a:xfrm>
          <a:prstGeom prst="rect">
            <a:avLst/>
          </a:prstGeom>
          <a:noFill/>
          <a:ln>
            <a:noFill/>
          </a:ln>
        </p:spPr>
        <p:txBody>
          <a:bodyPr anchorCtr="0" anchor="t" bIns="0" lIns="0" spcFirstLastPara="1" rIns="0" wrap="square" tIns="13325">
            <a:spAutoFit/>
          </a:bodyPr>
          <a:lstStyle/>
          <a:p>
            <a:pPr indent="1270" lvl="0" marL="12700" marR="508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176" name="Google Shape;176;p23"/>
          <p:cNvGrpSpPr/>
          <p:nvPr/>
        </p:nvGrpSpPr>
        <p:grpSpPr>
          <a:xfrm>
            <a:off x="5446013" y="2074926"/>
            <a:ext cx="2552700" cy="757682"/>
            <a:chOff x="5446013" y="2074926"/>
            <a:chExt cx="2552700" cy="757682"/>
          </a:xfrm>
        </p:grpSpPr>
        <p:sp>
          <p:nvSpPr>
            <p:cNvPr id="177" name="Google Shape;177;p23"/>
            <p:cNvSpPr/>
            <p:nvPr/>
          </p:nvSpPr>
          <p:spPr>
            <a:xfrm>
              <a:off x="7998713" y="2612898"/>
              <a:ext cx="0" cy="210820"/>
            </a:xfrm>
            <a:custGeom>
              <a:rect b="b" l="l" r="r" t="t"/>
              <a:pathLst>
                <a:path extrusionOk="0" h="210819" w="120000">
                  <a:moveTo>
                    <a:pt x="0" y="21031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8" name="Google Shape;178;p23"/>
            <p:cNvSpPr/>
            <p:nvPr/>
          </p:nvSpPr>
          <p:spPr>
            <a:xfrm>
              <a:off x="5446013" y="2612898"/>
              <a:ext cx="0" cy="219710"/>
            </a:xfrm>
            <a:custGeom>
              <a:rect b="b" l="l" r="r" t="t"/>
              <a:pathLst>
                <a:path extrusionOk="0" h="219710" w="120000">
                  <a:moveTo>
                    <a:pt x="0" y="219455"/>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9" name="Google Shape;179;p23"/>
            <p:cNvSpPr/>
            <p:nvPr/>
          </p:nvSpPr>
          <p:spPr>
            <a:xfrm>
              <a:off x="5446013" y="2612898"/>
              <a:ext cx="2552700" cy="0"/>
            </a:xfrm>
            <a:custGeom>
              <a:rect b="b" l="l" r="r" t="t"/>
              <a:pathLst>
                <a:path extrusionOk="0" h="120000" w="2552700">
                  <a:moveTo>
                    <a:pt x="0" y="0"/>
                  </a:moveTo>
                  <a:lnTo>
                    <a:pt x="255270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80" name="Google Shape;180;p23"/>
            <p:cNvSpPr/>
            <p:nvPr/>
          </p:nvSpPr>
          <p:spPr>
            <a:xfrm>
              <a:off x="6813041" y="2074926"/>
              <a:ext cx="0" cy="538480"/>
            </a:xfrm>
            <a:custGeom>
              <a:rect b="b" l="l" r="r" t="t"/>
              <a:pathLst>
                <a:path extrusionOk="0" h="538480" w="120000">
                  <a:moveTo>
                    <a:pt x="0" y="53797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81" name="Google Shape;181;p23"/>
          <p:cNvSpPr txBox="1"/>
          <p:nvPr/>
        </p:nvSpPr>
        <p:spPr>
          <a:xfrm>
            <a:off x="4956021" y="3861502"/>
            <a:ext cx="852169" cy="1122680"/>
          </a:xfrm>
          <a:prstGeom prst="rect">
            <a:avLst/>
          </a:prstGeom>
          <a:noFill/>
          <a:ln>
            <a:noFill/>
          </a:ln>
        </p:spPr>
        <p:txBody>
          <a:bodyPr anchorCtr="0" anchor="t" bIns="0" lIns="0" spcFirstLastPara="1" rIns="0" wrap="square" tIns="12050">
            <a:spAutoFit/>
          </a:bodyPr>
          <a:lstStyle/>
          <a:p>
            <a:pPr indent="0" lvl="0" marL="12700" marR="5080" rtl="0" algn="just">
              <a:lnSpc>
                <a:spcPct val="120000"/>
              </a:lnSpc>
              <a:spcBef>
                <a:spcPts val="0"/>
              </a:spcBef>
              <a:spcAft>
                <a:spcPts val="0"/>
              </a:spcAft>
              <a:buNone/>
            </a:pPr>
            <a:r>
              <a:rPr lang="en-US" sz="2000">
                <a:solidFill>
                  <a:srgbClr val="4E3629"/>
                </a:solidFill>
                <a:latin typeface="Calibri"/>
                <a:ea typeface="Calibri"/>
                <a:cs typeface="Calibri"/>
                <a:sym typeface="Calibri"/>
              </a:rPr>
              <a:t>LOWER  UPPER  INITCAP</a:t>
            </a:r>
            <a:endParaRPr sz="2000">
              <a:latin typeface="Calibri"/>
              <a:ea typeface="Calibri"/>
              <a:cs typeface="Calibri"/>
              <a:sym typeface="Calibri"/>
            </a:endParaRPr>
          </a:p>
        </p:txBody>
      </p:sp>
      <p:sp>
        <p:nvSpPr>
          <p:cNvPr id="182" name="Google Shape;182;p23"/>
          <p:cNvSpPr txBox="1"/>
          <p:nvPr/>
        </p:nvSpPr>
        <p:spPr>
          <a:xfrm>
            <a:off x="5172119" y="5082632"/>
            <a:ext cx="3476625" cy="1640839"/>
          </a:xfrm>
          <a:prstGeom prst="rect">
            <a:avLst/>
          </a:prstGeom>
          <a:noFill/>
          <a:ln>
            <a:noFill/>
          </a:ln>
        </p:spPr>
        <p:txBody>
          <a:bodyPr anchorCtr="0" anchor="t" bIns="0" lIns="0" spcFirstLastPara="1" rIns="0" wrap="square" tIns="0">
            <a:spAutoFit/>
          </a:bodyPr>
          <a:lstStyle/>
          <a:p>
            <a:pPr indent="0" lvl="0" marL="2152015" marR="0" rtl="0" algn="l">
              <a:lnSpc>
                <a:spcPct val="100250"/>
              </a:lnSpc>
              <a:spcBef>
                <a:spcPts val="0"/>
              </a:spcBef>
              <a:spcAft>
                <a:spcPts val="0"/>
              </a:spcAft>
              <a:buNone/>
            </a:pPr>
            <a:r>
              <a:rPr lang="en-US" sz="2000">
                <a:solidFill>
                  <a:srgbClr val="4E3629"/>
                </a:solidFill>
                <a:latin typeface="Calibri"/>
                <a:ea typeface="Calibri"/>
                <a:cs typeface="Calibri"/>
                <a:sym typeface="Calibri"/>
              </a:rPr>
              <a:t>INSTR</a:t>
            </a:r>
            <a:endParaRPr sz="2000">
              <a:latin typeface="Calibri"/>
              <a:ea typeface="Calibri"/>
              <a:cs typeface="Calibri"/>
              <a:sym typeface="Calibri"/>
            </a:endParaRPr>
          </a:p>
          <a:p>
            <a:pPr indent="0" lvl="0" marL="2152015" marR="5080" rtl="0" algn="l">
              <a:lnSpc>
                <a:spcPct val="120000"/>
              </a:lnSpc>
              <a:spcBef>
                <a:spcPts val="0"/>
              </a:spcBef>
              <a:spcAft>
                <a:spcPts val="0"/>
              </a:spcAft>
              <a:buNone/>
            </a:pPr>
            <a:r>
              <a:rPr lang="en-US" sz="2000">
                <a:solidFill>
                  <a:srgbClr val="4E3629"/>
                </a:solidFill>
                <a:latin typeface="Calibri"/>
                <a:ea typeface="Calibri"/>
                <a:cs typeface="Calibri"/>
                <a:sym typeface="Calibri"/>
              </a:rPr>
              <a:t>LPAD | RPAD  TRIM  REPLACE</a:t>
            </a:r>
            <a:endParaRPr sz="2000">
              <a:latin typeface="Calibri"/>
              <a:ea typeface="Calibri"/>
              <a:cs typeface="Calibri"/>
              <a:sym typeface="Calibri"/>
            </a:endParaRPr>
          </a:p>
          <a:p>
            <a:pPr indent="0" lvl="0" marL="12700" marR="0" rtl="0" algn="l">
              <a:lnSpc>
                <a:spcPct val="100000"/>
              </a:lnSpc>
              <a:spcBef>
                <a:spcPts val="111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183" name="Google Shape;183;p23"/>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184" name="Google Shape;184;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5" name="Google Shape;185;p23"/>
          <p:cNvSpPr txBox="1"/>
          <p:nvPr/>
        </p:nvSpPr>
        <p:spPr>
          <a:xfrm>
            <a:off x="7311747" y="3861502"/>
            <a:ext cx="868680" cy="1122680"/>
          </a:xfrm>
          <a:prstGeom prst="rect">
            <a:avLst/>
          </a:prstGeom>
          <a:noFill/>
          <a:ln>
            <a:noFill/>
          </a:ln>
        </p:spPr>
        <p:txBody>
          <a:bodyPr anchorCtr="0" anchor="t" bIns="0" lIns="0" spcFirstLastPara="1" rIns="0" wrap="square" tIns="12050">
            <a:spAutoFit/>
          </a:bodyPr>
          <a:lstStyle/>
          <a:p>
            <a:pPr indent="0" lvl="0" marL="12700" marR="10795" rtl="0" algn="just">
              <a:lnSpc>
                <a:spcPct val="120000"/>
              </a:lnSpc>
              <a:spcBef>
                <a:spcPts val="0"/>
              </a:spcBef>
              <a:spcAft>
                <a:spcPts val="0"/>
              </a:spcAft>
              <a:buNone/>
            </a:pPr>
            <a:r>
              <a:rPr lang="en-US" sz="2000">
                <a:solidFill>
                  <a:srgbClr val="4E3629"/>
                </a:solidFill>
                <a:latin typeface="Calibri"/>
                <a:ea typeface="Calibri"/>
                <a:cs typeface="Calibri"/>
                <a:sym typeface="Calibri"/>
              </a:rPr>
              <a:t>CONCAT  SUBSTR  LENGTH</a:t>
            </a:r>
            <a:endParaRPr sz="2000">
              <a:latin typeface="Calibri"/>
              <a:ea typeface="Calibri"/>
              <a:cs typeface="Calibri"/>
              <a:sym typeface="Calibri"/>
            </a:endParaRPr>
          </a:p>
        </p:txBody>
      </p:sp>
      <p:sp>
        <p:nvSpPr>
          <p:cNvPr id="186" name="Google Shape;186;p23"/>
          <p:cNvSpPr txBox="1"/>
          <p:nvPr/>
        </p:nvSpPr>
        <p:spPr>
          <a:xfrm>
            <a:off x="5357634" y="1175679"/>
            <a:ext cx="259524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000">
                <a:solidFill>
                  <a:srgbClr val="4E3629"/>
                </a:solidFill>
                <a:latin typeface="Calibri"/>
                <a:ea typeface="Calibri"/>
                <a:cs typeface="Calibri"/>
                <a:sym typeface="Calibri"/>
              </a:rPr>
              <a:t>CHARACTER FUNCTIONS</a:t>
            </a:r>
            <a:endParaRPr sz="2000">
              <a:latin typeface="Calibri"/>
              <a:ea typeface="Calibri"/>
              <a:cs typeface="Calibri"/>
              <a:sym typeface="Calibri"/>
            </a:endParaRPr>
          </a:p>
        </p:txBody>
      </p:sp>
      <p:sp>
        <p:nvSpPr>
          <p:cNvPr id="187" name="Google Shape;187;p23"/>
          <p:cNvSpPr txBox="1"/>
          <p:nvPr/>
        </p:nvSpPr>
        <p:spPr>
          <a:xfrm>
            <a:off x="5503164" y="1650492"/>
            <a:ext cx="2503170" cy="401320"/>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0" lvl="0" marL="95250" marR="0" rtl="0" algn="l">
              <a:lnSpc>
                <a:spcPct val="100000"/>
              </a:lnSpc>
              <a:spcBef>
                <a:spcPts val="0"/>
              </a:spcBef>
              <a:spcAft>
                <a:spcPts val="0"/>
              </a:spcAft>
              <a:buNone/>
            </a:pPr>
            <a:r>
              <a:rPr b="1" lang="en-US" sz="2000">
                <a:solidFill>
                  <a:srgbClr val="FFFFFF"/>
                </a:solidFill>
                <a:latin typeface="Calibri"/>
                <a:ea typeface="Calibri"/>
                <a:cs typeface="Calibri"/>
                <a:sym typeface="Calibri"/>
              </a:rPr>
              <a:t>Funciones de Carácter</a:t>
            </a:r>
            <a:endParaRPr sz="2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4"/>
          <p:cNvSpPr/>
          <p:nvPr/>
        </p:nvSpPr>
        <p:spPr>
          <a:xfrm>
            <a:off x="4572761" y="3912108"/>
            <a:ext cx="0" cy="2032635"/>
          </a:xfrm>
          <a:custGeom>
            <a:rect b="b" l="l" r="r" t="t"/>
            <a:pathLst>
              <a:path extrusionOk="0" h="2032635" w="120000">
                <a:moveTo>
                  <a:pt x="0" y="0"/>
                </a:moveTo>
                <a:lnTo>
                  <a:pt x="0" y="2032254"/>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3" name="Google Shape;193;p24"/>
          <p:cNvSpPr/>
          <p:nvPr/>
        </p:nvSpPr>
        <p:spPr>
          <a:xfrm>
            <a:off x="4572761" y="1524761"/>
            <a:ext cx="0" cy="1310005"/>
          </a:xfrm>
          <a:custGeom>
            <a:rect b="b" l="l" r="r" t="t"/>
            <a:pathLst>
              <a:path extrusionOk="0" h="1310005" w="120000">
                <a:moveTo>
                  <a:pt x="0" y="0"/>
                </a:moveTo>
                <a:lnTo>
                  <a:pt x="0" y="1309877"/>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4" name="Google Shape;194;p24"/>
          <p:cNvSpPr txBox="1"/>
          <p:nvPr/>
        </p:nvSpPr>
        <p:spPr>
          <a:xfrm>
            <a:off x="483552" y="1491489"/>
            <a:ext cx="2879090" cy="836294"/>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manipulación de</a:t>
            </a:r>
            <a:endParaRPr sz="2800">
              <a:latin typeface="Calibri"/>
              <a:ea typeface="Calibri"/>
              <a:cs typeface="Calibri"/>
              <a:sym typeface="Calibri"/>
            </a:endParaRPr>
          </a:p>
        </p:txBody>
      </p:sp>
      <p:sp>
        <p:nvSpPr>
          <p:cNvPr id="195" name="Google Shape;195;p24"/>
          <p:cNvSpPr txBox="1"/>
          <p:nvPr/>
        </p:nvSpPr>
        <p:spPr>
          <a:xfrm>
            <a:off x="940752" y="2259908"/>
            <a:ext cx="342709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mayúsculas/minúsculas</a:t>
            </a:r>
            <a:endParaRPr sz="2800">
              <a:latin typeface="Calibri"/>
              <a:ea typeface="Calibri"/>
              <a:cs typeface="Calibri"/>
              <a:sym typeface="Calibri"/>
            </a:endParaRPr>
          </a:p>
        </p:txBody>
      </p:sp>
      <p:sp>
        <p:nvSpPr>
          <p:cNvPr id="196" name="Google Shape;196;p24"/>
          <p:cNvSpPr txBox="1"/>
          <p:nvPr/>
        </p:nvSpPr>
        <p:spPr>
          <a:xfrm>
            <a:off x="940752" y="2644117"/>
            <a:ext cx="3355975" cy="1220470"/>
          </a:xfrm>
          <a:prstGeom prst="rect">
            <a:avLst/>
          </a:prstGeom>
          <a:noFill/>
          <a:ln>
            <a:noFill/>
          </a:ln>
        </p:spPr>
        <p:txBody>
          <a:bodyPr anchorCtr="0" anchor="t" bIns="0" lIns="0" spcFirstLastPara="1" rIns="0" wrap="square" tIns="59675">
            <a:spAutoFit/>
          </a:bodyPr>
          <a:lstStyle/>
          <a:p>
            <a:pPr indent="0" lvl="0" marL="12700" marR="5080" rtl="0" algn="l">
              <a:lnSpc>
                <a:spcPct val="108214"/>
              </a:lnSpc>
              <a:spcBef>
                <a:spcPts val="0"/>
              </a:spcBef>
              <a:spcAft>
                <a:spcPts val="0"/>
              </a:spcAft>
              <a:buNone/>
            </a:pPr>
            <a:r>
              <a:rPr lang="en-US" sz="2800">
                <a:solidFill>
                  <a:srgbClr val="4E3629"/>
                </a:solidFill>
                <a:latin typeface="Calibri"/>
                <a:ea typeface="Calibri"/>
                <a:cs typeface="Calibri"/>
                <a:sym typeface="Calibri"/>
              </a:rPr>
              <a:t>se pueden utilizar en la  mayoría de las partes  de una sentencia SQL.</a:t>
            </a:r>
            <a:endParaRPr sz="2800">
              <a:latin typeface="Calibri"/>
              <a:ea typeface="Calibri"/>
              <a:cs typeface="Calibri"/>
              <a:sym typeface="Calibri"/>
            </a:endParaRPr>
          </a:p>
        </p:txBody>
      </p:sp>
      <p:sp>
        <p:nvSpPr>
          <p:cNvPr id="197" name="Google Shape;197;p24"/>
          <p:cNvSpPr txBox="1"/>
          <p:nvPr>
            <p:ph type="title"/>
          </p:nvPr>
        </p:nvSpPr>
        <p:spPr>
          <a:xfrm>
            <a:off x="392112" y="385319"/>
            <a:ext cx="47352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Funciones de Manipulación de  Mayúsculas/Minúsculas</a:t>
            </a:r>
            <a:endParaRPr sz="3000"/>
          </a:p>
        </p:txBody>
      </p:sp>
      <p:sp>
        <p:nvSpPr>
          <p:cNvPr id="198" name="Google Shape;198;p24"/>
          <p:cNvSpPr txBox="1"/>
          <p:nvPr/>
        </p:nvSpPr>
        <p:spPr>
          <a:xfrm>
            <a:off x="4357115" y="2834639"/>
            <a:ext cx="1889760" cy="1077595"/>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1270" lvl="0" marL="225425" marR="21971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199" name="Google Shape;199;p24"/>
          <p:cNvGrpSpPr/>
          <p:nvPr/>
        </p:nvGrpSpPr>
        <p:grpSpPr>
          <a:xfrm>
            <a:off x="6873240" y="2839211"/>
            <a:ext cx="1889760" cy="1077595"/>
            <a:chOff x="6873240" y="2839211"/>
            <a:chExt cx="1889760" cy="1077595"/>
          </a:xfrm>
        </p:grpSpPr>
        <p:sp>
          <p:nvSpPr>
            <p:cNvPr id="200" name="Google Shape;200;p24"/>
            <p:cNvSpPr/>
            <p:nvPr/>
          </p:nvSpPr>
          <p:spPr>
            <a:xfrm>
              <a:off x="6873240" y="2839211"/>
              <a:ext cx="1889760" cy="1077595"/>
            </a:xfrm>
            <a:custGeom>
              <a:rect b="b" l="l" r="r" t="t"/>
              <a:pathLst>
                <a:path extrusionOk="0" h="1077595" w="1889759">
                  <a:moveTo>
                    <a:pt x="1889759" y="0"/>
                  </a:moveTo>
                  <a:lnTo>
                    <a:pt x="0" y="0"/>
                  </a:lnTo>
                  <a:lnTo>
                    <a:pt x="0" y="1077468"/>
                  </a:lnTo>
                  <a:lnTo>
                    <a:pt x="1889759" y="1077468"/>
                  </a:lnTo>
                  <a:lnTo>
                    <a:pt x="1889759"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1" name="Google Shape;201;p24"/>
            <p:cNvSpPr/>
            <p:nvPr/>
          </p:nvSpPr>
          <p:spPr>
            <a:xfrm>
              <a:off x="6873240" y="2839211"/>
              <a:ext cx="1889760" cy="1077595"/>
            </a:xfrm>
            <a:custGeom>
              <a:rect b="b" l="l" r="r" t="t"/>
              <a:pathLst>
                <a:path extrusionOk="0" h="1077595" w="1889759">
                  <a:moveTo>
                    <a:pt x="0" y="0"/>
                  </a:moveTo>
                  <a:lnTo>
                    <a:pt x="1889759" y="0"/>
                  </a:lnTo>
                  <a:lnTo>
                    <a:pt x="1889759" y="1077468"/>
                  </a:lnTo>
                  <a:lnTo>
                    <a:pt x="0" y="1077468"/>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02" name="Google Shape;202;p24"/>
          <p:cNvSpPr txBox="1"/>
          <p:nvPr/>
        </p:nvSpPr>
        <p:spPr>
          <a:xfrm>
            <a:off x="7086327" y="2855531"/>
            <a:ext cx="1462405" cy="1002030"/>
          </a:xfrm>
          <a:prstGeom prst="rect">
            <a:avLst/>
          </a:prstGeom>
          <a:noFill/>
          <a:ln>
            <a:noFill/>
          </a:ln>
        </p:spPr>
        <p:txBody>
          <a:bodyPr anchorCtr="0" anchor="t" bIns="0" lIns="0" spcFirstLastPara="1" rIns="0" wrap="square" tIns="13325">
            <a:spAutoFit/>
          </a:bodyPr>
          <a:lstStyle/>
          <a:p>
            <a:pPr indent="1270" lvl="0" marL="12700" marR="5080" rtl="0" algn="ctr">
              <a:lnSpc>
                <a:spcPct val="100000"/>
              </a:lnSpc>
              <a:spcBef>
                <a:spcPts val="0"/>
              </a:spcBef>
              <a:spcAft>
                <a:spcPts val="0"/>
              </a:spcAft>
              <a:buNone/>
            </a:pPr>
            <a:r>
              <a:rPr b="1" lang="en-US" sz="2000">
                <a:solidFill>
                  <a:srgbClr val="FFFFFF"/>
                </a:solidFill>
                <a:latin typeface="Calibri"/>
                <a:ea typeface="Calibri"/>
                <a:cs typeface="Calibri"/>
                <a:sym typeface="Calibri"/>
              </a:rPr>
              <a:t>Funciones de  manipulación</a:t>
            </a:r>
            <a:endParaRPr sz="2000">
              <a:latin typeface="Calibri"/>
              <a:ea typeface="Calibri"/>
              <a:cs typeface="Calibri"/>
              <a:sym typeface="Calibri"/>
            </a:endParaRPr>
          </a:p>
          <a:p>
            <a:pPr indent="0" lvl="0" marL="0" marR="0" rtl="0" algn="ctr">
              <a:lnSpc>
                <a:spcPct val="100000"/>
              </a:lnSpc>
              <a:spcBef>
                <a:spcPts val="480"/>
              </a:spcBef>
              <a:spcAft>
                <a:spcPts val="0"/>
              </a:spcAft>
              <a:buNone/>
            </a:pPr>
            <a:r>
              <a:rPr b="1" lang="en-US" sz="2000">
                <a:solidFill>
                  <a:srgbClr val="FFFFFF"/>
                </a:solidFill>
                <a:latin typeface="Calibri"/>
                <a:ea typeface="Calibri"/>
                <a:cs typeface="Calibri"/>
                <a:sym typeface="Calibri"/>
              </a:rPr>
              <a:t>Funciones</a:t>
            </a:r>
            <a:endParaRPr sz="2000">
              <a:latin typeface="Calibri"/>
              <a:ea typeface="Calibri"/>
              <a:cs typeface="Calibri"/>
              <a:sym typeface="Calibri"/>
            </a:endParaRPr>
          </a:p>
        </p:txBody>
      </p:sp>
      <p:grpSp>
        <p:nvGrpSpPr>
          <p:cNvPr id="203" name="Google Shape;203;p24"/>
          <p:cNvGrpSpPr/>
          <p:nvPr/>
        </p:nvGrpSpPr>
        <p:grpSpPr>
          <a:xfrm>
            <a:off x="5446013" y="2074926"/>
            <a:ext cx="2552700" cy="757682"/>
            <a:chOff x="5446013" y="2074926"/>
            <a:chExt cx="2552700" cy="757682"/>
          </a:xfrm>
        </p:grpSpPr>
        <p:sp>
          <p:nvSpPr>
            <p:cNvPr id="204" name="Google Shape;204;p24"/>
            <p:cNvSpPr/>
            <p:nvPr/>
          </p:nvSpPr>
          <p:spPr>
            <a:xfrm>
              <a:off x="7998713" y="2612898"/>
              <a:ext cx="0" cy="210820"/>
            </a:xfrm>
            <a:custGeom>
              <a:rect b="b" l="l" r="r" t="t"/>
              <a:pathLst>
                <a:path extrusionOk="0" h="210819" w="120000">
                  <a:moveTo>
                    <a:pt x="0" y="21031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5" name="Google Shape;205;p24"/>
            <p:cNvSpPr/>
            <p:nvPr/>
          </p:nvSpPr>
          <p:spPr>
            <a:xfrm>
              <a:off x="5446013" y="2612898"/>
              <a:ext cx="0" cy="219710"/>
            </a:xfrm>
            <a:custGeom>
              <a:rect b="b" l="l" r="r" t="t"/>
              <a:pathLst>
                <a:path extrusionOk="0" h="219710" w="120000">
                  <a:moveTo>
                    <a:pt x="0" y="219455"/>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6" name="Google Shape;206;p24"/>
            <p:cNvSpPr/>
            <p:nvPr/>
          </p:nvSpPr>
          <p:spPr>
            <a:xfrm>
              <a:off x="5446013" y="2612898"/>
              <a:ext cx="2552700" cy="0"/>
            </a:xfrm>
            <a:custGeom>
              <a:rect b="b" l="l" r="r" t="t"/>
              <a:pathLst>
                <a:path extrusionOk="0" h="120000" w="2552700">
                  <a:moveTo>
                    <a:pt x="0" y="0"/>
                  </a:moveTo>
                  <a:lnTo>
                    <a:pt x="255270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7" name="Google Shape;207;p24"/>
            <p:cNvSpPr/>
            <p:nvPr/>
          </p:nvSpPr>
          <p:spPr>
            <a:xfrm>
              <a:off x="6813041" y="2074926"/>
              <a:ext cx="0" cy="538480"/>
            </a:xfrm>
            <a:custGeom>
              <a:rect b="b" l="l" r="r" t="t"/>
              <a:pathLst>
                <a:path extrusionOk="0" h="538480" w="120000">
                  <a:moveTo>
                    <a:pt x="0" y="537972"/>
                  </a:moveTo>
                  <a:lnTo>
                    <a:pt x="0" y="0"/>
                  </a:lnTo>
                </a:path>
              </a:pathLst>
            </a:custGeom>
            <a:noFill/>
            <a:ln cap="flat" cmpd="sng" w="28950">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08" name="Google Shape;208;p24"/>
          <p:cNvSpPr txBox="1"/>
          <p:nvPr/>
        </p:nvSpPr>
        <p:spPr>
          <a:xfrm>
            <a:off x="4956021" y="3861502"/>
            <a:ext cx="852169" cy="1122680"/>
          </a:xfrm>
          <a:prstGeom prst="rect">
            <a:avLst/>
          </a:prstGeom>
          <a:noFill/>
          <a:ln>
            <a:noFill/>
          </a:ln>
        </p:spPr>
        <p:txBody>
          <a:bodyPr anchorCtr="0" anchor="t" bIns="0" lIns="0" spcFirstLastPara="1" rIns="0" wrap="square" tIns="12050">
            <a:spAutoFit/>
          </a:bodyPr>
          <a:lstStyle/>
          <a:p>
            <a:pPr indent="0" lvl="0" marL="12700" marR="5080" rtl="0" algn="just">
              <a:lnSpc>
                <a:spcPct val="120000"/>
              </a:lnSpc>
              <a:spcBef>
                <a:spcPts val="0"/>
              </a:spcBef>
              <a:spcAft>
                <a:spcPts val="0"/>
              </a:spcAft>
              <a:buNone/>
            </a:pPr>
            <a:r>
              <a:rPr lang="en-US" sz="2000">
                <a:solidFill>
                  <a:srgbClr val="4E3629"/>
                </a:solidFill>
                <a:latin typeface="Calibri"/>
                <a:ea typeface="Calibri"/>
                <a:cs typeface="Calibri"/>
                <a:sym typeface="Calibri"/>
              </a:rPr>
              <a:t>LOWER  UPPER  INITCAP</a:t>
            </a:r>
            <a:endParaRPr sz="2000">
              <a:latin typeface="Calibri"/>
              <a:ea typeface="Calibri"/>
              <a:cs typeface="Calibri"/>
              <a:sym typeface="Calibri"/>
            </a:endParaRPr>
          </a:p>
        </p:txBody>
      </p:sp>
      <p:sp>
        <p:nvSpPr>
          <p:cNvPr id="209" name="Google Shape;209;p24"/>
          <p:cNvSpPr txBox="1"/>
          <p:nvPr/>
        </p:nvSpPr>
        <p:spPr>
          <a:xfrm>
            <a:off x="5172119" y="5082632"/>
            <a:ext cx="3476625" cy="1640839"/>
          </a:xfrm>
          <a:prstGeom prst="rect">
            <a:avLst/>
          </a:prstGeom>
          <a:noFill/>
          <a:ln>
            <a:noFill/>
          </a:ln>
        </p:spPr>
        <p:txBody>
          <a:bodyPr anchorCtr="0" anchor="t" bIns="0" lIns="0" spcFirstLastPara="1" rIns="0" wrap="square" tIns="0">
            <a:spAutoFit/>
          </a:bodyPr>
          <a:lstStyle/>
          <a:p>
            <a:pPr indent="0" lvl="0" marL="2152015" marR="0" rtl="0" algn="l">
              <a:lnSpc>
                <a:spcPct val="100250"/>
              </a:lnSpc>
              <a:spcBef>
                <a:spcPts val="0"/>
              </a:spcBef>
              <a:spcAft>
                <a:spcPts val="0"/>
              </a:spcAft>
              <a:buNone/>
            </a:pPr>
            <a:r>
              <a:rPr lang="en-US" sz="2000">
                <a:solidFill>
                  <a:srgbClr val="4E3629"/>
                </a:solidFill>
                <a:latin typeface="Calibri"/>
                <a:ea typeface="Calibri"/>
                <a:cs typeface="Calibri"/>
                <a:sym typeface="Calibri"/>
              </a:rPr>
              <a:t>INSTR</a:t>
            </a:r>
            <a:endParaRPr sz="2000">
              <a:latin typeface="Calibri"/>
              <a:ea typeface="Calibri"/>
              <a:cs typeface="Calibri"/>
              <a:sym typeface="Calibri"/>
            </a:endParaRPr>
          </a:p>
          <a:p>
            <a:pPr indent="0" lvl="0" marL="2152015" marR="5080" rtl="0" algn="l">
              <a:lnSpc>
                <a:spcPct val="120000"/>
              </a:lnSpc>
              <a:spcBef>
                <a:spcPts val="0"/>
              </a:spcBef>
              <a:spcAft>
                <a:spcPts val="0"/>
              </a:spcAft>
              <a:buNone/>
            </a:pPr>
            <a:r>
              <a:rPr lang="en-US" sz="2000">
                <a:solidFill>
                  <a:srgbClr val="4E3629"/>
                </a:solidFill>
                <a:latin typeface="Calibri"/>
                <a:ea typeface="Calibri"/>
                <a:cs typeface="Calibri"/>
                <a:sym typeface="Calibri"/>
              </a:rPr>
              <a:t>LPAD | RPAD  TRIM  REPLACE</a:t>
            </a:r>
            <a:endParaRPr sz="2000">
              <a:latin typeface="Calibri"/>
              <a:ea typeface="Calibri"/>
              <a:cs typeface="Calibri"/>
              <a:sym typeface="Calibri"/>
            </a:endParaRPr>
          </a:p>
          <a:p>
            <a:pPr indent="0" lvl="0" marL="12700" marR="0" rtl="0" algn="l">
              <a:lnSpc>
                <a:spcPct val="100000"/>
              </a:lnSpc>
              <a:spcBef>
                <a:spcPts val="111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210" name="Google Shape;210;p24"/>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11" name="Google Shape;211;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2" name="Google Shape;212;p24"/>
          <p:cNvSpPr txBox="1"/>
          <p:nvPr/>
        </p:nvSpPr>
        <p:spPr>
          <a:xfrm>
            <a:off x="7311747" y="3861502"/>
            <a:ext cx="868680" cy="1122680"/>
          </a:xfrm>
          <a:prstGeom prst="rect">
            <a:avLst/>
          </a:prstGeom>
          <a:noFill/>
          <a:ln>
            <a:noFill/>
          </a:ln>
        </p:spPr>
        <p:txBody>
          <a:bodyPr anchorCtr="0" anchor="t" bIns="0" lIns="0" spcFirstLastPara="1" rIns="0" wrap="square" tIns="12050">
            <a:spAutoFit/>
          </a:bodyPr>
          <a:lstStyle/>
          <a:p>
            <a:pPr indent="0" lvl="0" marL="12700" marR="10795" rtl="0" algn="just">
              <a:lnSpc>
                <a:spcPct val="120000"/>
              </a:lnSpc>
              <a:spcBef>
                <a:spcPts val="0"/>
              </a:spcBef>
              <a:spcAft>
                <a:spcPts val="0"/>
              </a:spcAft>
              <a:buNone/>
            </a:pPr>
            <a:r>
              <a:rPr lang="en-US" sz="2000">
                <a:solidFill>
                  <a:srgbClr val="4E3629"/>
                </a:solidFill>
                <a:latin typeface="Calibri"/>
                <a:ea typeface="Calibri"/>
                <a:cs typeface="Calibri"/>
                <a:sym typeface="Calibri"/>
              </a:rPr>
              <a:t>CONCAT  SUBSTR  LENGTH</a:t>
            </a:r>
            <a:endParaRPr sz="2000">
              <a:latin typeface="Calibri"/>
              <a:ea typeface="Calibri"/>
              <a:cs typeface="Calibri"/>
              <a:sym typeface="Calibri"/>
            </a:endParaRPr>
          </a:p>
        </p:txBody>
      </p:sp>
      <p:sp>
        <p:nvSpPr>
          <p:cNvPr id="213" name="Google Shape;213;p24"/>
          <p:cNvSpPr txBox="1"/>
          <p:nvPr/>
        </p:nvSpPr>
        <p:spPr>
          <a:xfrm>
            <a:off x="5357634" y="1175679"/>
            <a:ext cx="259524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000">
                <a:solidFill>
                  <a:srgbClr val="4E3629"/>
                </a:solidFill>
                <a:latin typeface="Calibri"/>
                <a:ea typeface="Calibri"/>
                <a:cs typeface="Calibri"/>
                <a:sym typeface="Calibri"/>
              </a:rPr>
              <a:t>CHARACTER FUNCTIONS</a:t>
            </a:r>
            <a:endParaRPr sz="2000">
              <a:latin typeface="Calibri"/>
              <a:ea typeface="Calibri"/>
              <a:cs typeface="Calibri"/>
              <a:sym typeface="Calibri"/>
            </a:endParaRPr>
          </a:p>
        </p:txBody>
      </p:sp>
      <p:sp>
        <p:nvSpPr>
          <p:cNvPr id="214" name="Google Shape;214;p24"/>
          <p:cNvSpPr txBox="1"/>
          <p:nvPr/>
        </p:nvSpPr>
        <p:spPr>
          <a:xfrm>
            <a:off x="5503164" y="1650492"/>
            <a:ext cx="2503170" cy="401320"/>
          </a:xfrm>
          <a:prstGeom prst="rect">
            <a:avLst/>
          </a:prstGeom>
          <a:solidFill>
            <a:srgbClr val="D1350F"/>
          </a:solidFill>
          <a:ln cap="flat" cmpd="sng" w="12175">
            <a:solidFill>
              <a:srgbClr val="992307"/>
            </a:solidFill>
            <a:prstDash val="solid"/>
            <a:round/>
            <a:headEnd len="sm" w="sm" type="none"/>
            <a:tailEnd len="sm" w="sm" type="none"/>
          </a:ln>
        </p:spPr>
        <p:txBody>
          <a:bodyPr anchorCtr="0" anchor="t" bIns="0" lIns="0" spcFirstLastPara="1" rIns="0" wrap="square" tIns="29200">
            <a:spAutoFit/>
          </a:bodyPr>
          <a:lstStyle/>
          <a:p>
            <a:pPr indent="0" lvl="0" marL="95250" marR="0" rtl="0" algn="l">
              <a:lnSpc>
                <a:spcPct val="100000"/>
              </a:lnSpc>
              <a:spcBef>
                <a:spcPts val="0"/>
              </a:spcBef>
              <a:spcAft>
                <a:spcPts val="0"/>
              </a:spcAft>
              <a:buNone/>
            </a:pPr>
            <a:r>
              <a:rPr b="1" lang="en-US" sz="2000">
                <a:solidFill>
                  <a:srgbClr val="FFFFFF"/>
                </a:solidFill>
                <a:latin typeface="Calibri"/>
                <a:ea typeface="Calibri"/>
                <a:cs typeface="Calibri"/>
                <a:sym typeface="Calibri"/>
              </a:rPr>
              <a:t>Funciones de Carácter</a:t>
            </a:r>
            <a:endParaRPr sz="2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392112" y="385319"/>
            <a:ext cx="47352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Funciones de Manipulación de  Mayúsculas/Minúsculas</a:t>
            </a:r>
            <a:endParaRPr sz="3000"/>
          </a:p>
        </p:txBody>
      </p:sp>
      <p:sp>
        <p:nvSpPr>
          <p:cNvPr id="220" name="Google Shape;220;p25"/>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21" name="Google Shape;221;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2" name="Google Shape;222;p25"/>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3" name="Google Shape;223;p25"/>
          <p:cNvSpPr txBox="1"/>
          <p:nvPr/>
        </p:nvSpPr>
        <p:spPr>
          <a:xfrm>
            <a:off x="483552" y="1415417"/>
            <a:ext cx="8125459" cy="4112895"/>
          </a:xfrm>
          <a:prstGeom prst="rect">
            <a:avLst/>
          </a:prstGeom>
          <a:noFill/>
          <a:ln>
            <a:noFill/>
          </a:ln>
        </p:spPr>
        <p:txBody>
          <a:bodyPr anchorCtr="0" anchor="t" bIns="0" lIns="0" spcFirstLastPara="1" rIns="0" wrap="square" tIns="59675">
            <a:spAutoFit/>
          </a:bodyPr>
          <a:lstStyle/>
          <a:p>
            <a:pPr indent="-177800" lvl="0" marL="184785" marR="717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manipulación de  mayúsculas/minúsculas suelen ser útiles cuando se  está realizando una búsqueda de datos y no sabe si los  datos que está buscando están en mayúsculas o  minúsculas</a:t>
            </a:r>
            <a:endParaRPr sz="2800">
              <a:latin typeface="Calibri"/>
              <a:ea typeface="Calibri"/>
              <a:cs typeface="Calibri"/>
              <a:sym typeface="Calibri"/>
            </a:endParaRPr>
          </a:p>
          <a:p>
            <a:pPr indent="-177800" lvl="0" marL="184785"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Desde el punto de vista de la base de datos, 'V' y 'v' NO  son el mismo carácter y, como tal, necesita buscar  utilizando las mayúsculas/minúsculas adecuadas</a:t>
            </a:r>
            <a:endParaRPr sz="2800">
              <a:latin typeface="Calibri"/>
              <a:ea typeface="Calibri"/>
              <a:cs typeface="Calibri"/>
              <a:sym typeface="Calibri"/>
            </a:endParaRPr>
          </a:p>
          <a:p>
            <a:pPr indent="-177800" lvl="0" marL="184785" marR="20637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LOWER(columna | expresión) convierte los caracteres  alfabéticos en minúscula</a:t>
            </a:r>
            <a:endParaRPr sz="2800">
              <a:latin typeface="Calibri"/>
              <a:ea typeface="Calibri"/>
              <a:cs typeface="Calibri"/>
              <a:sym typeface="Calibri"/>
            </a:endParaRPr>
          </a:p>
        </p:txBody>
      </p:sp>
      <p:sp>
        <p:nvSpPr>
          <p:cNvPr id="224" name="Google Shape;224;p25"/>
          <p:cNvSpPr txBox="1"/>
          <p:nvPr/>
        </p:nvSpPr>
        <p:spPr>
          <a:xfrm>
            <a:off x="4437888" y="5410200"/>
            <a:ext cx="4467225" cy="922019"/>
          </a:xfrm>
          <a:prstGeom prst="rect">
            <a:avLst/>
          </a:prstGeom>
          <a:solidFill>
            <a:srgbClr val="9DBDC4">
              <a:alpha val="49804"/>
            </a:srgbClr>
          </a:solidFill>
          <a:ln>
            <a:noFill/>
          </a:ln>
        </p:spPr>
        <p:txBody>
          <a:bodyPr anchorCtr="0" anchor="t" bIns="0" lIns="0" spcFirstLastPara="1" rIns="0" wrap="square" tIns="0">
            <a:spAutoFit/>
          </a:bodyPr>
          <a:lstStyle/>
          <a:p>
            <a:pPr indent="0" lvl="0" marL="635" marR="0" rtl="0" algn="l">
              <a:lnSpc>
                <a:spcPct val="101666"/>
              </a:lnSpc>
              <a:spcBef>
                <a:spcPts val="0"/>
              </a:spcBef>
              <a:spcAft>
                <a:spcPts val="0"/>
              </a:spcAft>
              <a:buNone/>
            </a:pPr>
            <a:r>
              <a:rPr b="1" lang="en-US" sz="1800">
                <a:solidFill>
                  <a:srgbClr val="4E3629"/>
                </a:solidFill>
                <a:latin typeface="Courier New"/>
                <a:ea typeface="Courier New"/>
                <a:cs typeface="Courier New"/>
                <a:sym typeface="Courier New"/>
              </a:rPr>
              <a:t>SELECT last_name</a:t>
            </a:r>
            <a:endParaRPr sz="1800">
              <a:latin typeface="Courier New"/>
              <a:ea typeface="Courier New"/>
              <a:cs typeface="Courier New"/>
              <a:sym typeface="Courier New"/>
            </a:endParaRPr>
          </a:p>
          <a:p>
            <a:pPr indent="0" lvl="0" marL="635" marR="0" rtl="0" algn="l">
              <a:lnSpc>
                <a:spcPct val="100000"/>
              </a:lnSpc>
              <a:spcBef>
                <a:spcPts val="50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635" marR="0" rtl="0" algn="l">
              <a:lnSpc>
                <a:spcPct val="100000"/>
              </a:lnSpc>
              <a:spcBef>
                <a:spcPts val="505"/>
              </a:spcBef>
              <a:spcAft>
                <a:spcPts val="0"/>
              </a:spcAft>
              <a:buNone/>
            </a:pPr>
            <a:r>
              <a:rPr b="1" lang="en-US" sz="1800">
                <a:solidFill>
                  <a:srgbClr val="4E3629"/>
                </a:solidFill>
                <a:latin typeface="Courier New"/>
                <a:ea typeface="Courier New"/>
                <a:cs typeface="Courier New"/>
                <a:sym typeface="Courier New"/>
              </a:rPr>
              <a:t>WHERE LOWER(last_name) = 'abel';</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6"/>
          <p:cNvSpPr txBox="1"/>
          <p:nvPr>
            <p:ph type="title"/>
          </p:nvPr>
        </p:nvSpPr>
        <p:spPr>
          <a:xfrm>
            <a:off x="392112" y="385319"/>
            <a:ext cx="47352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Funciones de Manipulación de  Mayúsculas/Minúsculas</a:t>
            </a:r>
            <a:endParaRPr sz="3000"/>
          </a:p>
        </p:txBody>
      </p:sp>
      <p:sp>
        <p:nvSpPr>
          <p:cNvPr id="230" name="Google Shape;230;p26"/>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31" name="Google Shape;231;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2" name="Google Shape;232;p26"/>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3" name="Google Shape;233;p26"/>
          <p:cNvSpPr txBox="1"/>
          <p:nvPr/>
        </p:nvSpPr>
        <p:spPr>
          <a:xfrm>
            <a:off x="483552" y="1415417"/>
            <a:ext cx="783272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UPPER(columna | expresión) convierte los caracteres  alfabéticos en mayúscula</a:t>
            </a:r>
            <a:endParaRPr sz="2800">
              <a:latin typeface="Calibri"/>
              <a:ea typeface="Calibri"/>
              <a:cs typeface="Calibri"/>
              <a:sym typeface="Calibri"/>
            </a:endParaRPr>
          </a:p>
        </p:txBody>
      </p:sp>
      <p:sp>
        <p:nvSpPr>
          <p:cNvPr id="234" name="Google Shape;234;p26"/>
          <p:cNvSpPr txBox="1"/>
          <p:nvPr/>
        </p:nvSpPr>
        <p:spPr>
          <a:xfrm>
            <a:off x="483552" y="3256409"/>
            <a:ext cx="8012430" cy="1220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INITCAP(columna | expresión) convierte los valores de  caracteres alfabéticos en mayúscula para la primera  letra de cada palabra</a:t>
            </a:r>
            <a:endParaRPr sz="2800">
              <a:latin typeface="Calibri"/>
              <a:ea typeface="Calibri"/>
              <a:cs typeface="Calibri"/>
              <a:sym typeface="Calibri"/>
            </a:endParaRPr>
          </a:p>
        </p:txBody>
      </p:sp>
      <p:sp>
        <p:nvSpPr>
          <p:cNvPr id="235" name="Google Shape;235;p26"/>
          <p:cNvSpPr txBox="1"/>
          <p:nvPr/>
        </p:nvSpPr>
        <p:spPr>
          <a:xfrm>
            <a:off x="393191" y="2374392"/>
            <a:ext cx="8345805" cy="914400"/>
          </a:xfrm>
          <a:prstGeom prst="rect">
            <a:avLst/>
          </a:prstGeom>
          <a:solidFill>
            <a:srgbClr val="9DBDC4">
              <a:alpha val="49804"/>
            </a:srgbClr>
          </a:solidFill>
          <a:ln>
            <a:noFill/>
          </a:ln>
        </p:spPr>
        <p:txBody>
          <a:bodyPr anchorCtr="0" anchor="t" bIns="0" lIns="0" spcFirstLastPara="1" rIns="0" wrap="square" tIns="17775">
            <a:spAutoFit/>
          </a:bodyPr>
          <a:lstStyle/>
          <a:p>
            <a:pPr indent="0" lvl="0" marL="1270" marR="57410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FROM empl	oyees</a:t>
            </a:r>
            <a:endParaRPr sz="1800">
              <a:latin typeface="Courier New"/>
              <a:ea typeface="Courier New"/>
              <a:cs typeface="Courier New"/>
              <a:sym typeface="Courier New"/>
            </a:endParaRPr>
          </a:p>
          <a:p>
            <a:pPr indent="0" lvl="0" marL="127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UPPER(last_name) = 'ABEL';</a:t>
            </a:r>
            <a:endParaRPr sz="1800">
              <a:latin typeface="Courier New"/>
              <a:ea typeface="Courier New"/>
              <a:cs typeface="Courier New"/>
              <a:sym typeface="Courier New"/>
            </a:endParaRPr>
          </a:p>
        </p:txBody>
      </p:sp>
      <p:sp>
        <p:nvSpPr>
          <p:cNvPr id="236" name="Google Shape;236;p26"/>
          <p:cNvSpPr txBox="1"/>
          <p:nvPr/>
        </p:nvSpPr>
        <p:spPr>
          <a:xfrm>
            <a:off x="393191" y="4506467"/>
            <a:ext cx="8345805" cy="1031875"/>
          </a:xfrm>
          <a:prstGeom prst="rect">
            <a:avLst/>
          </a:prstGeom>
          <a:solidFill>
            <a:srgbClr val="9DBDC4">
              <a:alpha val="49804"/>
            </a:srgbClr>
          </a:solidFill>
          <a:ln>
            <a:noFill/>
          </a:ln>
        </p:spPr>
        <p:txBody>
          <a:bodyPr anchorCtr="0" anchor="t" bIns="0" lIns="0" spcFirstLastPara="1" rIns="0" wrap="square" tIns="76825">
            <a:spAutoFit/>
          </a:bodyPr>
          <a:lstStyle/>
          <a:p>
            <a:pPr indent="0" lvl="0" marL="1270" marR="61506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FROM employees</a:t>
            </a:r>
            <a:endParaRPr sz="1800">
              <a:latin typeface="Courier New"/>
              <a:ea typeface="Courier New"/>
              <a:cs typeface="Courier New"/>
              <a:sym typeface="Courier New"/>
            </a:endParaRPr>
          </a:p>
          <a:p>
            <a:pPr indent="0" lvl="0" marL="127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INITCAP(last_name) = 'Abel';</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42" name="Google Shape;242;p27"/>
          <p:cNvSpPr txBox="1"/>
          <p:nvPr/>
        </p:nvSpPr>
        <p:spPr>
          <a:xfrm>
            <a:off x="483552" y="1415417"/>
            <a:ext cx="8144509" cy="285877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manipulación de caracteres se utilizan  para extraer, cambiar, formatear o modificar de alguna  forma una cadena de caracteres</a:t>
            </a:r>
            <a:endParaRPr sz="2800">
              <a:latin typeface="Calibri"/>
              <a:ea typeface="Calibri"/>
              <a:cs typeface="Calibri"/>
              <a:sym typeface="Calibri"/>
            </a:endParaRPr>
          </a:p>
          <a:p>
            <a:pPr indent="-177800" lvl="0" marL="184785" marR="107314"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la función se pasan uno o más caracteres o palabras,  entonces, esta realiza sus funciones en las cadenas de  caracteres de entrada y devuelve el valor cambiado,  extraído, contado o alterado</a:t>
            </a:r>
            <a:endParaRPr sz="2800">
              <a:latin typeface="Calibri"/>
              <a:ea typeface="Calibri"/>
              <a:cs typeface="Calibri"/>
              <a:sym typeface="Calibri"/>
            </a:endParaRPr>
          </a:p>
        </p:txBody>
      </p:sp>
      <p:pic>
        <p:nvPicPr>
          <p:cNvPr id="243" name="Google Shape;243;p27"/>
          <p:cNvPicPr preferRelativeResize="0"/>
          <p:nvPr/>
        </p:nvPicPr>
        <p:blipFill rotWithShape="1">
          <a:blip r:embed="rId3">
            <a:alphaModFix/>
          </a:blip>
          <a:srcRect b="0" l="0" r="0" t="0"/>
          <a:stretch/>
        </p:blipFill>
        <p:spPr>
          <a:xfrm>
            <a:off x="3090672" y="4383023"/>
            <a:ext cx="2912363" cy="2113787"/>
          </a:xfrm>
          <a:prstGeom prst="rect">
            <a:avLst/>
          </a:prstGeom>
          <a:noFill/>
          <a:ln>
            <a:noFill/>
          </a:ln>
        </p:spPr>
      </p:pic>
      <p:sp>
        <p:nvSpPr>
          <p:cNvPr id="244" name="Google Shape;244;p27"/>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45" name="Google Shape;245;p2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6" name="Google Shape;246;p27"/>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52" name="Google Shape;252;p28"/>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53" name="Google Shape;253;p28"/>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28"/>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255" name="Google Shape;255;p28"/>
          <p:cNvSpPr txBox="1"/>
          <p:nvPr/>
        </p:nvSpPr>
        <p:spPr>
          <a:xfrm>
            <a:off x="483552" y="1355371"/>
            <a:ext cx="8167370" cy="2150745"/>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CONCAT: une dos valores</a:t>
            </a:r>
            <a:endParaRPr sz="2800">
              <a:latin typeface="Calibri"/>
              <a:ea typeface="Calibri"/>
              <a:cs typeface="Calibri"/>
              <a:sym typeface="Calibri"/>
            </a:endParaRPr>
          </a:p>
          <a:p>
            <a:pPr indent="-177800" lvl="0" marL="184785"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Toma 2 argumentos de cadena de caracteres y une la  segunda cadena a la primera. También se puede  escribir mediante el operador de concatenación: 'Hello'</a:t>
            </a:r>
            <a:endParaRPr sz="2800">
              <a:latin typeface="Calibri"/>
              <a:ea typeface="Calibri"/>
              <a:cs typeface="Calibri"/>
              <a:sym typeface="Calibri"/>
            </a:endParaRPr>
          </a:p>
          <a:p>
            <a:pPr indent="0" lvl="0" marL="184785" marR="0" rtl="0" algn="l">
              <a:lnSpc>
                <a:spcPct val="106071"/>
              </a:lnSpc>
              <a:spcBef>
                <a:spcPts val="0"/>
              </a:spcBef>
              <a:spcAft>
                <a:spcPts val="0"/>
              </a:spcAft>
              <a:buNone/>
            </a:pPr>
            <a:r>
              <a:rPr lang="en-US" sz="2800">
                <a:solidFill>
                  <a:srgbClr val="4E3629"/>
                </a:solidFill>
                <a:latin typeface="Calibri"/>
                <a:ea typeface="Calibri"/>
                <a:cs typeface="Calibri"/>
                <a:sym typeface="Calibri"/>
              </a:rPr>
              <a:t>|| 'World'</a:t>
            </a:r>
            <a:endParaRPr sz="2800">
              <a:latin typeface="Calibri"/>
              <a:ea typeface="Calibri"/>
              <a:cs typeface="Calibri"/>
              <a:sym typeface="Calibri"/>
            </a:endParaRPr>
          </a:p>
        </p:txBody>
      </p:sp>
      <p:graphicFrame>
        <p:nvGraphicFramePr>
          <p:cNvPr id="256" name="Google Shape;256;p28"/>
          <p:cNvGraphicFramePr/>
          <p:nvPr/>
        </p:nvGraphicFramePr>
        <p:xfrm>
          <a:off x="398462" y="3751326"/>
          <a:ext cx="3000000" cy="3000000"/>
        </p:xfrm>
        <a:graphic>
          <a:graphicData uri="http://schemas.openxmlformats.org/drawingml/2006/table">
            <a:tbl>
              <a:tblPr bandRow="1" firstRow="1">
                <a:noFill/>
                <a:tableStyleId>{225A1B43-8036-45A3-B309-2588F688D7A7}</a:tableStyleId>
              </a:tblPr>
              <a:tblGrid>
                <a:gridCol w="5892800"/>
                <a:gridCol w="2453000"/>
              </a:tblGrid>
              <a:tr h="396175">
                <a:tc>
                  <a:txBody>
                    <a:bodyPr/>
                    <a:lstStyle/>
                    <a:p>
                      <a:pPr indent="0" lvl="0" marL="1009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Ejemplos: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09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resultado</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100965" marR="314515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CONCAT('Hello', 'World')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09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HelloWorld</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920450">
                <a:tc>
                  <a:txBody>
                    <a:bodyPr/>
                    <a:lstStyle/>
                    <a:p>
                      <a:pPr indent="0" lvl="0" marL="100965" marR="250507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CONCAT(first_name, last_name)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0965" marR="1326515" rtl="0" algn="l">
                        <a:lnSpc>
                          <a:spcPct val="143750"/>
                        </a:lnSpc>
                        <a:spcBef>
                          <a:spcPts val="0"/>
                        </a:spcBef>
                        <a:spcAft>
                          <a:spcPts val="0"/>
                        </a:spcAft>
                        <a:buNone/>
                      </a:pPr>
                      <a:r>
                        <a:rPr lang="en-US" sz="1600" u="none" cap="none" strike="noStrike">
                          <a:solidFill>
                            <a:srgbClr val="4E3629"/>
                          </a:solidFill>
                          <a:latin typeface="Calibri"/>
                          <a:ea typeface="Calibri"/>
                          <a:cs typeface="Calibri"/>
                          <a:sym typeface="Calibri"/>
                        </a:rPr>
                        <a:t>EllenAbel  CurtisDavies</a:t>
                      </a:r>
                      <a:endParaRPr sz="1600" u="none" cap="none" strike="noStrike">
                        <a:latin typeface="Calibri"/>
                        <a:ea typeface="Calibri"/>
                        <a:cs typeface="Calibri"/>
                        <a:sym typeface="Calibri"/>
                      </a:endParaRPr>
                    </a:p>
                    <a:p>
                      <a:pPr indent="0" lvl="0" marL="100965" marR="0" rtl="0" algn="l">
                        <a:lnSpc>
                          <a:spcPct val="100000"/>
                        </a:lnSpc>
                        <a:spcBef>
                          <a:spcPts val="265"/>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62" name="Google Shape;262;p29"/>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63" name="Google Shape;263;p29"/>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4" name="Google Shape;264;p29"/>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265" name="Google Shape;265;p29"/>
          <p:cNvSpPr txBox="1"/>
          <p:nvPr/>
        </p:nvSpPr>
        <p:spPr>
          <a:xfrm>
            <a:off x="483552" y="1415417"/>
            <a:ext cx="7682865" cy="2576195"/>
          </a:xfrm>
          <a:prstGeom prst="rect">
            <a:avLst/>
          </a:prstGeom>
          <a:noFill/>
          <a:ln>
            <a:noFill/>
          </a:ln>
        </p:spPr>
        <p:txBody>
          <a:bodyPr anchorCtr="0" anchor="t" bIns="0" lIns="0" spcFirstLastPara="1" rIns="0" wrap="square" tIns="59675">
            <a:spAutoFit/>
          </a:bodyPr>
          <a:lstStyle/>
          <a:p>
            <a:pPr indent="-177800" lvl="0" marL="184785" marR="12026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SUBSTR: extrae una cadena de una longitud  determinada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argumentos son (cadena de caracteres, posición  inicial, Length)</a:t>
            </a:r>
            <a:endParaRPr sz="2800">
              <a:latin typeface="Calibri"/>
              <a:ea typeface="Calibri"/>
              <a:cs typeface="Calibri"/>
              <a:sym typeface="Calibri"/>
            </a:endParaRPr>
          </a:p>
          <a:p>
            <a:pPr indent="-177800" lvl="0" marL="184785" marR="30861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argumento Length es opcional y, si se omite,  devuelve todos los caracteres al final de la cadena</a:t>
            </a:r>
            <a:endParaRPr sz="2800">
              <a:latin typeface="Calibri"/>
              <a:ea typeface="Calibri"/>
              <a:cs typeface="Calibri"/>
              <a:sym typeface="Calibri"/>
            </a:endParaRPr>
          </a:p>
        </p:txBody>
      </p:sp>
      <p:graphicFrame>
        <p:nvGraphicFramePr>
          <p:cNvPr id="266" name="Google Shape;266;p29"/>
          <p:cNvGraphicFramePr/>
          <p:nvPr/>
        </p:nvGraphicFramePr>
        <p:xfrm>
          <a:off x="1954212" y="4086726"/>
          <a:ext cx="3000000" cy="3000000"/>
        </p:xfrm>
        <a:graphic>
          <a:graphicData uri="http://schemas.openxmlformats.org/drawingml/2006/table">
            <a:tbl>
              <a:tblPr bandRow="1" firstRow="1">
                <a:noFill/>
                <a:tableStyleId>{225A1B43-8036-45A3-B309-2588F688D7A7}</a:tableStyleId>
              </a:tblPr>
              <a:tblGrid>
                <a:gridCol w="4299575"/>
                <a:gridCol w="1501775"/>
              </a:tblGrid>
              <a:tr h="335225">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Ejemplos: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resultado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0805" marR="148717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SUBSTR('HelloWorld',1,5)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Hello</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0805" marR="158940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SUBSTR('HelloWorld', 6)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Mundo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0805" marR="165163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SUBSTR(last_name,1,3)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1077595" rtl="0" algn="l">
                        <a:lnSpc>
                          <a:spcPct val="145000"/>
                        </a:lnSpc>
                        <a:spcBef>
                          <a:spcPts val="0"/>
                        </a:spcBef>
                        <a:spcAft>
                          <a:spcPts val="0"/>
                        </a:spcAft>
                        <a:buNone/>
                      </a:pPr>
                      <a:r>
                        <a:rPr lang="en-US" sz="1600" u="none" cap="none" strike="noStrike">
                          <a:solidFill>
                            <a:srgbClr val="4E3629"/>
                          </a:solidFill>
                          <a:latin typeface="Calibri"/>
                          <a:ea typeface="Calibri"/>
                          <a:cs typeface="Calibri"/>
                          <a:sym typeface="Calibri"/>
                        </a:rPr>
                        <a:t>Abe  Dav</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72" name="Google Shape;272;p30"/>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73" name="Google Shape;273;p30"/>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4" name="Google Shape;274;p30"/>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275" name="Google Shape;275;p30"/>
          <p:cNvSpPr txBox="1"/>
          <p:nvPr/>
        </p:nvSpPr>
        <p:spPr>
          <a:xfrm>
            <a:off x="483552" y="1415417"/>
            <a:ext cx="7990840" cy="2090420"/>
          </a:xfrm>
          <a:prstGeom prst="rect">
            <a:avLst/>
          </a:prstGeom>
          <a:noFill/>
          <a:ln>
            <a:noFill/>
          </a:ln>
        </p:spPr>
        <p:txBody>
          <a:bodyPr anchorCtr="0" anchor="t" bIns="0" lIns="0" spcFirstLastPara="1" rIns="0" wrap="square" tIns="59675">
            <a:spAutoFit/>
          </a:bodyPr>
          <a:lstStyle/>
          <a:p>
            <a:pPr indent="-177800" lvl="0" marL="184785" marR="12318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LENGTH: muestra la longitud de una cadena como un  valor numérico</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toma una cadena de caracteres como  argumento y devuelve el número de caracteres de esa  cadena de caracteres</a:t>
            </a:r>
            <a:endParaRPr sz="2800">
              <a:latin typeface="Calibri"/>
              <a:ea typeface="Calibri"/>
              <a:cs typeface="Calibri"/>
              <a:sym typeface="Calibri"/>
            </a:endParaRPr>
          </a:p>
        </p:txBody>
      </p:sp>
      <p:graphicFrame>
        <p:nvGraphicFramePr>
          <p:cNvPr id="276" name="Google Shape;276;p30"/>
          <p:cNvGraphicFramePr/>
          <p:nvPr/>
        </p:nvGraphicFramePr>
        <p:xfrm>
          <a:off x="1198562" y="3751326"/>
          <a:ext cx="3000000" cy="3000000"/>
        </p:xfrm>
        <a:graphic>
          <a:graphicData uri="http://schemas.openxmlformats.org/drawingml/2006/table">
            <a:tbl>
              <a:tblPr bandRow="1" firstRow="1">
                <a:noFill/>
                <a:tableStyleId>{225A1B43-8036-45A3-B309-2588F688D7A7}</a:tableStyleId>
              </a:tblPr>
              <a:tblGrid>
                <a:gridCol w="4072250"/>
                <a:gridCol w="1871975"/>
              </a:tblGrid>
              <a:tr h="396175">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Ejemplos:</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resultado</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1440" marR="153225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LENGTH('HelloWorld')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10</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024075">
                <a:tc>
                  <a:txBody>
                    <a:bodyPr/>
                    <a:lstStyle/>
                    <a:p>
                      <a:pPr indent="0" lvl="0" marL="91440" marR="169418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LENGTH(last_name)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4</a:t>
                      </a:r>
                      <a:endParaRPr sz="1800" u="none" cap="none" strike="noStrike">
                        <a:latin typeface="Calibri"/>
                        <a:ea typeface="Calibri"/>
                        <a:cs typeface="Calibri"/>
                        <a:sym typeface="Calibri"/>
                      </a:endParaRPr>
                    </a:p>
                    <a:p>
                      <a:pPr indent="0" lvl="0" marL="91440"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6</a:t>
                      </a:r>
                      <a:endParaRPr sz="1800" u="none" cap="none" strike="noStrike">
                        <a:latin typeface="Calibri"/>
                        <a:ea typeface="Calibri"/>
                        <a:cs typeface="Calibri"/>
                        <a:sym typeface="Calibri"/>
                      </a:endParaRPr>
                    </a:p>
                    <a:p>
                      <a:pPr indent="0" lvl="0" marL="91440"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82" name="Google Shape;282;p31"/>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83" name="Google Shape;283;p31"/>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4" name="Google Shape;284;p31"/>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285" name="Google Shape;285;p31"/>
          <p:cNvSpPr txBox="1"/>
          <p:nvPr/>
        </p:nvSpPr>
        <p:spPr>
          <a:xfrm>
            <a:off x="483552" y="1415417"/>
            <a:ext cx="7740650" cy="2960370"/>
          </a:xfrm>
          <a:prstGeom prst="rect">
            <a:avLst/>
          </a:prstGeom>
          <a:noFill/>
          <a:ln>
            <a:noFill/>
          </a:ln>
        </p:spPr>
        <p:txBody>
          <a:bodyPr anchorCtr="0" anchor="t" bIns="0" lIns="0" spcFirstLastPara="1" rIns="0" wrap="square" tIns="59675">
            <a:spAutoFit/>
          </a:bodyPr>
          <a:lstStyle/>
          <a:p>
            <a:pPr indent="-177800" lvl="0" marL="184785" marR="10731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INSTR: encuentra la posición numérica de los  caracteres especificados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INSTR busca la primera incidencia de una subcadena  dentro de una cadena de caracteres y devuelve la  posición como un número</a:t>
            </a:r>
            <a:endParaRPr sz="2800">
              <a:latin typeface="Calibri"/>
              <a:ea typeface="Calibri"/>
              <a:cs typeface="Calibri"/>
              <a:sym typeface="Calibri"/>
            </a:endParaRPr>
          </a:p>
          <a:p>
            <a:pPr indent="-177800" lvl="0" marL="184785" marR="73152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se encuentra la subcadena, se devuelve el  número cero</a:t>
            </a:r>
            <a:endParaRPr sz="2800">
              <a:latin typeface="Calibri"/>
              <a:ea typeface="Calibri"/>
              <a:cs typeface="Calibri"/>
              <a:sym typeface="Calibri"/>
            </a:endParaRPr>
          </a:p>
        </p:txBody>
      </p:sp>
      <p:graphicFrame>
        <p:nvGraphicFramePr>
          <p:cNvPr id="286" name="Google Shape;286;p31"/>
          <p:cNvGraphicFramePr/>
          <p:nvPr/>
        </p:nvGraphicFramePr>
        <p:xfrm>
          <a:off x="1799371" y="4446716"/>
          <a:ext cx="3000000" cy="3000000"/>
        </p:xfrm>
        <a:graphic>
          <a:graphicData uri="http://schemas.openxmlformats.org/drawingml/2006/table">
            <a:tbl>
              <a:tblPr bandRow="1" firstRow="1">
                <a:noFill/>
                <a:tableStyleId>{225A1B43-8036-45A3-B309-2588F688D7A7}</a:tableStyleId>
              </a:tblPr>
              <a:tblGrid>
                <a:gridCol w="4983475"/>
                <a:gridCol w="1962150"/>
              </a:tblGrid>
              <a:tr h="365725">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Ejemplos:</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resultado</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1440" marR="225869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INSTR('HelloWorld', 'W')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920450">
                <a:tc>
                  <a:txBody>
                    <a:bodyPr/>
                    <a:lstStyle/>
                    <a:p>
                      <a:pPr indent="0" lvl="0" marL="90805" marR="155321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last_name, INSTR(last_name, 'a')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 0</a:t>
                      </a:r>
                      <a:endParaRPr sz="1600" u="none" cap="none" strike="noStrike">
                        <a:latin typeface="Calibri"/>
                        <a:ea typeface="Calibri"/>
                        <a:cs typeface="Calibri"/>
                        <a:sym typeface="Calibri"/>
                      </a:endParaRPr>
                    </a:p>
                    <a:p>
                      <a:pPr indent="0" lvl="0" marL="90805" marR="0" rtl="0" algn="l">
                        <a:lnSpc>
                          <a:spcPct val="100000"/>
                        </a:lnSpc>
                        <a:spcBef>
                          <a:spcPts val="385"/>
                        </a:spcBef>
                        <a:spcAft>
                          <a:spcPts val="0"/>
                        </a:spcAft>
                        <a:buNone/>
                      </a:pPr>
                      <a:r>
                        <a:rPr lang="en-US" sz="1600" u="none" cap="none" strike="noStrike">
                          <a:solidFill>
                            <a:srgbClr val="4E3629"/>
                          </a:solidFill>
                          <a:latin typeface="Calibri"/>
                          <a:ea typeface="Calibri"/>
                          <a:cs typeface="Calibri"/>
                          <a:sym typeface="Calibri"/>
                        </a:rPr>
                        <a:t>Davies 2</a:t>
                      </a:r>
                      <a:endParaRPr sz="1600" u="none" cap="none" strike="noStrike">
                        <a:latin typeface="Calibri"/>
                        <a:ea typeface="Calibri"/>
                        <a:cs typeface="Calibri"/>
                        <a:sym typeface="Calibri"/>
                      </a:endParaRPr>
                    </a:p>
                    <a:p>
                      <a:pPr indent="0" lvl="0" marL="90805" marR="0" rtl="0" algn="l">
                        <a:lnSpc>
                          <a:spcPct val="100000"/>
                        </a:lnSpc>
                        <a:spcBef>
                          <a:spcPts val="40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2"/>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292" name="Google Shape;292;p32"/>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293" name="Google Shape;293;p32"/>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4" name="Google Shape;294;p32"/>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295" name="Google Shape;295;p32"/>
          <p:cNvSpPr txBox="1"/>
          <p:nvPr/>
        </p:nvSpPr>
        <p:spPr>
          <a:xfrm>
            <a:off x="483552" y="1415417"/>
            <a:ext cx="7980680" cy="2474595"/>
          </a:xfrm>
          <a:prstGeom prst="rect">
            <a:avLst/>
          </a:prstGeom>
          <a:noFill/>
          <a:ln>
            <a:noFill/>
          </a:ln>
        </p:spPr>
        <p:txBody>
          <a:bodyPr anchorCtr="0" anchor="t" bIns="0" lIns="0" spcFirstLastPara="1" rIns="0" wrap="square" tIns="59675">
            <a:spAutoFit/>
          </a:bodyPr>
          <a:lstStyle/>
          <a:p>
            <a:pPr indent="-177800" lvl="0" marL="184785" marR="66865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LPAD: rellena la parte izquierda de una cadena de  caracteres, dando lugar a un valor justificado a la  derecha</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LPAD necesita 3 argumentos: una cadena de  caracteres, el número total de caracteres en la cadena  rellena y el carácter con el que rellenarla</a:t>
            </a:r>
            <a:endParaRPr sz="2800">
              <a:latin typeface="Calibri"/>
              <a:ea typeface="Calibri"/>
              <a:cs typeface="Calibri"/>
              <a:sym typeface="Calibri"/>
            </a:endParaRPr>
          </a:p>
        </p:txBody>
      </p:sp>
      <p:graphicFrame>
        <p:nvGraphicFramePr>
          <p:cNvPr id="296" name="Google Shape;296;p32"/>
          <p:cNvGraphicFramePr/>
          <p:nvPr/>
        </p:nvGraphicFramePr>
        <p:xfrm>
          <a:off x="939800" y="4000573"/>
          <a:ext cx="3000000" cy="3000000"/>
        </p:xfrm>
        <a:graphic>
          <a:graphicData uri="http://schemas.openxmlformats.org/drawingml/2006/table">
            <a:tbl>
              <a:tblPr bandRow="1" firstRow="1">
                <a:noFill/>
                <a:tableStyleId>{225A1B43-8036-45A3-B309-2588F688D7A7}</a:tableStyleId>
              </a:tblPr>
              <a:tblGrid>
                <a:gridCol w="4421500"/>
                <a:gridCol w="2545075"/>
              </a:tblGrid>
              <a:tr h="365725">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Ejemplos:</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resultado</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1440" marR="162306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LPAD('HelloWorld',15, '-')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-----HelloWorld</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024075">
                <a:tc>
                  <a:txBody>
                    <a:bodyPr/>
                    <a:lstStyle/>
                    <a:p>
                      <a:pPr indent="0" lvl="0" marL="91440" marR="175387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LPAD(last_name, 10,'*')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******Abel</a:t>
                      </a:r>
                      <a:endParaRPr sz="1800" u="none" cap="none" strike="noStrike">
                        <a:latin typeface="Calibri"/>
                        <a:ea typeface="Calibri"/>
                        <a:cs typeface="Calibri"/>
                        <a:sym typeface="Calibri"/>
                      </a:endParaRPr>
                    </a:p>
                    <a:p>
                      <a:pPr indent="0" lvl="0" marL="90805"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****Davies</a:t>
                      </a:r>
                      <a:endParaRPr sz="1800" u="none" cap="none" strike="noStrike">
                        <a:latin typeface="Calibri"/>
                        <a:ea typeface="Calibri"/>
                        <a:cs typeface="Calibri"/>
                        <a:sym typeface="Calibri"/>
                      </a:endParaRPr>
                    </a:p>
                    <a:p>
                      <a:pPr indent="0" lvl="0" marL="90805"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302" name="Google Shape;302;p33"/>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03" name="Google Shape;303;p33"/>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4" name="Google Shape;304;p33"/>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305" name="Google Shape;305;p33"/>
          <p:cNvSpPr txBox="1"/>
          <p:nvPr/>
        </p:nvSpPr>
        <p:spPr>
          <a:xfrm>
            <a:off x="483552" y="1415417"/>
            <a:ext cx="7226300" cy="122047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RPAD: rellena la parte derecha de una cadena de  caracteres, dando lugar a un valor justificado a la  izquierda</a:t>
            </a:r>
            <a:endParaRPr sz="2800">
              <a:latin typeface="Calibri"/>
              <a:ea typeface="Calibri"/>
              <a:cs typeface="Calibri"/>
              <a:sym typeface="Calibri"/>
            </a:endParaRPr>
          </a:p>
        </p:txBody>
      </p:sp>
      <p:graphicFrame>
        <p:nvGraphicFramePr>
          <p:cNvPr id="306" name="Google Shape;306;p33"/>
          <p:cNvGraphicFramePr/>
          <p:nvPr/>
        </p:nvGraphicFramePr>
        <p:xfrm>
          <a:off x="898526" y="3127375"/>
          <a:ext cx="3000000" cy="3000000"/>
        </p:xfrm>
        <a:graphic>
          <a:graphicData uri="http://schemas.openxmlformats.org/drawingml/2006/table">
            <a:tbl>
              <a:tblPr bandRow="1" firstRow="1">
                <a:noFill/>
                <a:tableStyleId>{225A1B43-8036-45A3-B309-2588F688D7A7}</a:tableStyleId>
              </a:tblPr>
              <a:tblGrid>
                <a:gridCol w="4695825"/>
                <a:gridCol w="2413000"/>
              </a:tblGrid>
              <a:tr h="396175">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Ejemplos:</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resultado</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1440" marR="187325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RPAD('HelloWorld',15, '-')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HelloWorld-----</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024075">
                <a:tc>
                  <a:txBody>
                    <a:bodyPr/>
                    <a:lstStyle/>
                    <a:p>
                      <a:pPr indent="0" lvl="0" marL="91440" marR="200215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RPAD(last_name, 10,'*')  FROM employees;</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080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Abel******</a:t>
                      </a:r>
                      <a:endParaRPr sz="1800" u="none" cap="none" strike="noStrike">
                        <a:latin typeface="Calibri"/>
                        <a:ea typeface="Calibri"/>
                        <a:cs typeface="Calibri"/>
                        <a:sym typeface="Calibri"/>
                      </a:endParaRPr>
                    </a:p>
                    <a:p>
                      <a:pPr indent="0" lvl="0" marL="90805" marR="0" rtl="0" algn="l">
                        <a:lnSpc>
                          <a:spcPct val="100000"/>
                        </a:lnSpc>
                        <a:spcBef>
                          <a:spcPts val="430"/>
                        </a:spcBef>
                        <a:spcAft>
                          <a:spcPts val="0"/>
                        </a:spcAft>
                        <a:buNone/>
                      </a:pPr>
                      <a:r>
                        <a:rPr lang="en-US" sz="1800" u="none" cap="none" strike="noStrike">
                          <a:solidFill>
                            <a:srgbClr val="4E3629"/>
                          </a:solidFill>
                          <a:latin typeface="Calibri"/>
                          <a:ea typeface="Calibri"/>
                          <a:cs typeface="Calibri"/>
                          <a:sym typeface="Calibri"/>
                        </a:rPr>
                        <a:t>Davies****</a:t>
                      </a:r>
                      <a:endParaRPr sz="1800" u="none" cap="none" strike="noStrike">
                        <a:latin typeface="Calibri"/>
                        <a:ea typeface="Calibri"/>
                        <a:cs typeface="Calibri"/>
                        <a:sym typeface="Calibri"/>
                      </a:endParaRPr>
                    </a:p>
                    <a:p>
                      <a:pPr indent="0" lvl="0" marL="90805" marR="0" rtl="0" algn="l">
                        <a:lnSpc>
                          <a:spcPct val="100000"/>
                        </a:lnSpc>
                        <a:spcBef>
                          <a:spcPts val="455"/>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312" name="Google Shape;312;p34"/>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13" name="Google Shape;313;p34"/>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4" name="Google Shape;314;p34"/>
          <p:cNvSpPr txBox="1"/>
          <p:nvPr/>
        </p:nvSpPr>
        <p:spPr>
          <a:xfrm>
            <a:off x="8601456" y="6589648"/>
            <a:ext cx="186055" cy="133985"/>
          </a:xfrm>
          <a:prstGeom prst="rect">
            <a:avLst/>
          </a:prstGeom>
          <a:noFill/>
          <a:ln>
            <a:noFill/>
          </a:ln>
        </p:spPr>
        <p:txBody>
          <a:bodyPr anchorCtr="0" anchor="t"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lang="en-US" sz="850">
                <a:solidFill>
                  <a:srgbClr val="4E3629"/>
                </a:solidFill>
                <a:latin typeface="Calibri"/>
                <a:ea typeface="Calibri"/>
                <a:cs typeface="Calibri"/>
                <a:sym typeface="Calibri"/>
              </a:rPr>
              <a:t>‹#›</a:t>
            </a:fld>
            <a:endParaRPr sz="850">
              <a:latin typeface="Calibri"/>
              <a:ea typeface="Calibri"/>
              <a:cs typeface="Calibri"/>
              <a:sym typeface="Calibri"/>
            </a:endParaRPr>
          </a:p>
        </p:txBody>
      </p:sp>
      <p:sp>
        <p:nvSpPr>
          <p:cNvPr id="315" name="Google Shape;315;p34"/>
          <p:cNvSpPr txBox="1"/>
          <p:nvPr/>
        </p:nvSpPr>
        <p:spPr>
          <a:xfrm>
            <a:off x="483552" y="1415417"/>
            <a:ext cx="7910195" cy="13220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TRIM: elimina todos los caracteres especificados, ya  sea del principio, del final, o de ambos de una cadena</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la función TRIM es:</a:t>
            </a:r>
            <a:endParaRPr sz="2800">
              <a:latin typeface="Calibri"/>
              <a:ea typeface="Calibri"/>
              <a:cs typeface="Calibri"/>
              <a:sym typeface="Calibri"/>
            </a:endParaRPr>
          </a:p>
        </p:txBody>
      </p:sp>
      <p:graphicFrame>
        <p:nvGraphicFramePr>
          <p:cNvPr id="316" name="Google Shape;316;p34"/>
          <p:cNvGraphicFramePr/>
          <p:nvPr/>
        </p:nvGraphicFramePr>
        <p:xfrm>
          <a:off x="712787" y="2937376"/>
          <a:ext cx="3000000" cy="3000000"/>
        </p:xfrm>
        <a:graphic>
          <a:graphicData uri="http://schemas.openxmlformats.org/drawingml/2006/table">
            <a:tbl>
              <a:tblPr bandRow="1" firstRow="1">
                <a:noFill/>
                <a:tableStyleId>{225A1B43-8036-45A3-B309-2588F688D7A7}</a:tableStyleId>
              </a:tblPr>
              <a:tblGrid>
                <a:gridCol w="5146050"/>
                <a:gridCol w="1930400"/>
              </a:tblGrid>
              <a:tr h="396175">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Ejemplos:</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resultado</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747425">
                <a:tc>
                  <a:txBody>
                    <a:bodyPr/>
                    <a:lstStyle/>
                    <a:p>
                      <a:pPr indent="0" lvl="0" marL="91440" marR="1705610"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TRIM(LEADING 'a' FROM 'abcba')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bcba</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27850">
                <a:tc>
                  <a:txBody>
                    <a:bodyPr/>
                    <a:lstStyle/>
                    <a:p>
                      <a:pPr indent="0" lvl="0" marL="91440" marR="166687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TRIM(TRAILING 'a' FROM 'abcba')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abcb</a:t>
                      </a:r>
                      <a:endParaRPr sz="18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694900">
                <a:tc>
                  <a:txBody>
                    <a:bodyPr/>
                    <a:lstStyle/>
                    <a:p>
                      <a:pPr indent="0" lvl="0" marL="91440" marR="1976755" rtl="0" algn="l">
                        <a:lnSpc>
                          <a:spcPct val="139375"/>
                        </a:lnSpc>
                        <a:spcBef>
                          <a:spcPts val="0"/>
                        </a:spcBef>
                        <a:spcAft>
                          <a:spcPts val="0"/>
                        </a:spcAft>
                        <a:buNone/>
                      </a:pPr>
                      <a:r>
                        <a:rPr lang="en-US" sz="1600" u="none" cap="none" strike="noStrike">
                          <a:solidFill>
                            <a:srgbClr val="4E3629"/>
                          </a:solidFill>
                          <a:latin typeface="Calibri"/>
                          <a:ea typeface="Calibri"/>
                          <a:cs typeface="Calibri"/>
                          <a:sym typeface="Calibri"/>
                        </a:rPr>
                        <a:t>SELECT TRIM(BOTH 'a' FROM 'abcba')  FROM DUAL;</a:t>
                      </a:r>
                      <a:endParaRPr sz="1600" u="none" cap="none" strike="noStrike">
                        <a:latin typeface="Calibri"/>
                        <a:ea typeface="Calibri"/>
                        <a:cs typeface="Calibri"/>
                        <a:sym typeface="Calibri"/>
                      </a:endParaRPr>
                    </a:p>
                  </a:txBody>
                  <a:tcPr marT="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bcb</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322" name="Google Shape;322;p35"/>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23" name="Google Shape;323;p3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4" name="Google Shape;324;p35"/>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5" name="Google Shape;325;p35"/>
          <p:cNvSpPr txBox="1"/>
          <p:nvPr/>
        </p:nvSpPr>
        <p:spPr>
          <a:xfrm>
            <a:off x="483552" y="1415417"/>
            <a:ext cx="8141970" cy="13220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REPLACE: sustituye una secuencia de caracteres de una  cadena por otro juego de caracteres</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la función REPLACE es:</a:t>
            </a:r>
            <a:endParaRPr sz="2800">
              <a:latin typeface="Calibri"/>
              <a:ea typeface="Calibri"/>
              <a:cs typeface="Calibri"/>
              <a:sym typeface="Calibri"/>
            </a:endParaRPr>
          </a:p>
        </p:txBody>
      </p:sp>
      <p:sp>
        <p:nvSpPr>
          <p:cNvPr id="326" name="Google Shape;326;p35"/>
          <p:cNvSpPr txBox="1"/>
          <p:nvPr/>
        </p:nvSpPr>
        <p:spPr>
          <a:xfrm>
            <a:off x="826452" y="3701417"/>
            <a:ext cx="7677150" cy="18084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string1 es la cadena que cuyos caracteres serán sustituidos</a:t>
            </a:r>
            <a:endParaRPr sz="2400">
              <a:latin typeface="Calibri"/>
              <a:ea typeface="Calibri"/>
              <a:cs typeface="Calibri"/>
              <a:sym typeface="Calibri"/>
            </a:endParaRPr>
          </a:p>
          <a:p>
            <a:pPr indent="-175260" lvl="0" marL="187325" marR="1651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String_to_replace es la cadena que se buscará y se sacará de  string1</a:t>
            </a:r>
            <a:endParaRPr sz="2400">
              <a:latin typeface="Calibri"/>
              <a:ea typeface="Calibri"/>
              <a:cs typeface="Calibri"/>
              <a:sym typeface="Calibri"/>
            </a:endParaRPr>
          </a:p>
          <a:p>
            <a:pPr indent="-175260" lvl="0" marL="187325"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[replacement_string] es la nueva cadena que se va a insertar  en string1</a:t>
            </a:r>
            <a:endParaRPr sz="2400">
              <a:latin typeface="Calibri"/>
              <a:ea typeface="Calibri"/>
              <a:cs typeface="Calibri"/>
              <a:sym typeface="Calibri"/>
            </a:endParaRPr>
          </a:p>
        </p:txBody>
      </p:sp>
      <p:sp>
        <p:nvSpPr>
          <p:cNvPr id="327" name="Google Shape;327;p35"/>
          <p:cNvSpPr txBox="1"/>
          <p:nvPr/>
        </p:nvSpPr>
        <p:spPr>
          <a:xfrm>
            <a:off x="393191" y="2921507"/>
            <a:ext cx="8345805" cy="508000"/>
          </a:xfrm>
          <a:prstGeom prst="rect">
            <a:avLst/>
          </a:prstGeom>
          <a:solidFill>
            <a:srgbClr val="9DBDC4">
              <a:alpha val="49804"/>
            </a:srgbClr>
          </a:solidFill>
          <a:ln>
            <a:noFill/>
          </a:ln>
        </p:spPr>
        <p:txBody>
          <a:bodyPr anchorCtr="0" anchor="t" bIns="0" lIns="0" spcFirstLastPara="1" rIns="0" wrap="square" tIns="88900">
            <a:spAutoFit/>
          </a:bodyPr>
          <a:lstStyle/>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REPLACE (string1, string_to_replace, [replacement_string] )</a:t>
            </a:r>
            <a:endParaRPr sz="1800">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6"/>
          <p:cNvSpPr txBox="1"/>
          <p:nvPr>
            <p:ph type="title"/>
          </p:nvPr>
        </p:nvSpPr>
        <p:spPr>
          <a:xfrm>
            <a:off x="392112" y="748031"/>
            <a:ext cx="711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Manipulación de Caracteres</a:t>
            </a:r>
            <a:endParaRPr/>
          </a:p>
        </p:txBody>
      </p:sp>
      <p:sp>
        <p:nvSpPr>
          <p:cNvPr id="333" name="Google Shape;333;p36"/>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34" name="Google Shape;334;p3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5" name="Google Shape;335;p36"/>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336" name="Google Shape;336;p36"/>
          <p:cNvGraphicFramePr/>
          <p:nvPr/>
        </p:nvGraphicFramePr>
        <p:xfrm>
          <a:off x="398462" y="1441450"/>
          <a:ext cx="3000000" cy="3000000"/>
        </p:xfrm>
        <a:graphic>
          <a:graphicData uri="http://schemas.openxmlformats.org/drawingml/2006/table">
            <a:tbl>
              <a:tblPr bandRow="1" firstRow="1">
                <a:noFill/>
                <a:tableStyleId>{225A1B43-8036-45A3-B309-2588F688D7A7}</a:tableStyleId>
              </a:tblPr>
              <a:tblGrid>
                <a:gridCol w="6473200"/>
                <a:gridCol w="1873250"/>
              </a:tblGrid>
              <a:tr h="495350">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Ejemplos: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1600" marR="0" rtl="0" algn="l">
                        <a:lnSpc>
                          <a:spcPct val="100000"/>
                        </a:lnSpc>
                        <a:spcBef>
                          <a:spcPts val="0"/>
                        </a:spcBef>
                        <a:spcAft>
                          <a:spcPts val="0"/>
                        </a:spcAft>
                        <a:buNone/>
                      </a:pPr>
                      <a:r>
                        <a:rPr b="1" lang="en-US" sz="2000" u="none" cap="none" strike="noStrike">
                          <a:solidFill>
                            <a:srgbClr val="4E3629"/>
                          </a:solidFill>
                          <a:latin typeface="Calibri"/>
                          <a:ea typeface="Calibri"/>
                          <a:cs typeface="Calibri"/>
                          <a:sym typeface="Calibri"/>
                        </a:rPr>
                        <a:t>resultado</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780625">
                <a:tc>
                  <a:txBody>
                    <a:bodyPr/>
                    <a:lstStyle/>
                    <a:p>
                      <a:pPr indent="0" lvl="0" marL="101600" marR="2767330" rtl="0" algn="l">
                        <a:lnSpc>
                          <a:spcPct val="140000"/>
                        </a:lnSpc>
                        <a:spcBef>
                          <a:spcPts val="0"/>
                        </a:spcBef>
                        <a:spcAft>
                          <a:spcPts val="0"/>
                        </a:spcAft>
                        <a:buNone/>
                      </a:pPr>
                      <a:r>
                        <a:rPr lang="en-US" sz="1800" u="none" cap="none" strike="noStrike">
                          <a:solidFill>
                            <a:srgbClr val="4E3629"/>
                          </a:solidFill>
                          <a:latin typeface="Calibri"/>
                          <a:ea typeface="Calibri"/>
                          <a:cs typeface="Calibri"/>
                          <a:sym typeface="Calibri"/>
                        </a:rPr>
                        <a:t>SELECT REPLACE('JACK and JUE','J','BL')  FROM DUAL;</a:t>
                      </a:r>
                      <a:endParaRPr sz="18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1600" marR="658495" rtl="0" algn="l">
                        <a:lnSpc>
                          <a:spcPct val="100499"/>
                        </a:lnSpc>
                        <a:spcBef>
                          <a:spcPts val="0"/>
                        </a:spcBef>
                        <a:spcAft>
                          <a:spcPts val="0"/>
                        </a:spcAft>
                        <a:buNone/>
                      </a:pPr>
                      <a:r>
                        <a:rPr lang="en-US" sz="2000" u="none" cap="none" strike="noStrike">
                          <a:solidFill>
                            <a:srgbClr val="4E3629"/>
                          </a:solidFill>
                          <a:latin typeface="Calibri"/>
                          <a:ea typeface="Calibri"/>
                          <a:cs typeface="Calibri"/>
                          <a:sym typeface="Calibri"/>
                        </a:rPr>
                        <a:t>BLACK and  BLUE</a:t>
                      </a:r>
                      <a:endParaRPr sz="2000" u="none" cap="none" strike="noStrike">
                        <a:latin typeface="Calibri"/>
                        <a:ea typeface="Calibri"/>
                        <a:cs typeface="Calibri"/>
                        <a:sym typeface="Calibri"/>
                      </a:endParaRPr>
                    </a:p>
                  </a:txBody>
                  <a:tcPr marT="27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780625">
                <a:tc>
                  <a:txBody>
                    <a:bodyPr/>
                    <a:lstStyle/>
                    <a:p>
                      <a:pPr indent="0" lvl="0" marL="101600" marR="3145155" rtl="0" algn="l">
                        <a:lnSpc>
                          <a:spcPct val="140000"/>
                        </a:lnSpc>
                        <a:spcBef>
                          <a:spcPts val="0"/>
                        </a:spcBef>
                        <a:spcAft>
                          <a:spcPts val="0"/>
                        </a:spcAft>
                        <a:buNone/>
                      </a:pPr>
                      <a:r>
                        <a:rPr lang="en-US" sz="1800" u="none" cap="none" strike="noStrike">
                          <a:solidFill>
                            <a:srgbClr val="4E3629"/>
                          </a:solidFill>
                          <a:latin typeface="Calibri"/>
                          <a:ea typeface="Calibri"/>
                          <a:cs typeface="Calibri"/>
                          <a:sym typeface="Calibri"/>
                        </a:rPr>
                        <a:t>SELECT REPLACE('JACK and JUE','J')  FROM DUAL;</a:t>
                      </a:r>
                      <a:endParaRPr sz="18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ACK and UE</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127725">
                <a:tc>
                  <a:txBody>
                    <a:bodyPr/>
                    <a:lstStyle/>
                    <a:p>
                      <a:pPr indent="0" lvl="0" marL="101600" marR="3199765" rtl="0" algn="l">
                        <a:lnSpc>
                          <a:spcPct val="140000"/>
                        </a:lnSpc>
                        <a:spcBef>
                          <a:spcPts val="0"/>
                        </a:spcBef>
                        <a:spcAft>
                          <a:spcPts val="0"/>
                        </a:spcAft>
                        <a:buNone/>
                      </a:pPr>
                      <a:r>
                        <a:rPr lang="en-US" sz="1800" u="none" cap="none" strike="noStrike">
                          <a:solidFill>
                            <a:srgbClr val="4E3629"/>
                          </a:solidFill>
                          <a:latin typeface="Calibri"/>
                          <a:ea typeface="Calibri"/>
                          <a:cs typeface="Calibri"/>
                          <a:sym typeface="Calibri"/>
                        </a:rPr>
                        <a:t>SELECT REPLACE(last_name,'a','*')  FROM employees;</a:t>
                      </a:r>
                      <a:endParaRPr sz="18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0160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Abel</a:t>
                      </a:r>
                      <a:endParaRPr sz="2000" u="none" cap="none" strike="noStrike">
                        <a:latin typeface="Calibri"/>
                        <a:ea typeface="Calibri"/>
                        <a:cs typeface="Calibri"/>
                        <a:sym typeface="Calibri"/>
                      </a:endParaRPr>
                    </a:p>
                    <a:p>
                      <a:pPr indent="0" lvl="0" marL="101600" marR="878205" rtl="0" algn="l">
                        <a:lnSpc>
                          <a:spcPct val="144500"/>
                        </a:lnSpc>
                        <a:spcBef>
                          <a:spcPts val="170"/>
                        </a:spcBef>
                        <a:spcAft>
                          <a:spcPts val="0"/>
                        </a:spcAft>
                        <a:buNone/>
                      </a:pPr>
                      <a:r>
                        <a:rPr lang="en-US" sz="2000" u="none" cap="none" strike="noStrike">
                          <a:solidFill>
                            <a:srgbClr val="4E3629"/>
                          </a:solidFill>
                          <a:latin typeface="Calibri"/>
                          <a:ea typeface="Calibri"/>
                          <a:cs typeface="Calibri"/>
                          <a:sym typeface="Calibri"/>
                        </a:rPr>
                        <a:t>D*vies  De H**n</a:t>
                      </a:r>
                      <a:endParaRPr sz="20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7"/>
          <p:cNvSpPr txBox="1"/>
          <p:nvPr>
            <p:ph type="title"/>
          </p:nvPr>
        </p:nvSpPr>
        <p:spPr>
          <a:xfrm>
            <a:off x="392112" y="748031"/>
            <a:ext cx="675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Alias de Columna con Funciones</a:t>
            </a:r>
            <a:endParaRPr/>
          </a:p>
        </p:txBody>
      </p:sp>
      <p:sp>
        <p:nvSpPr>
          <p:cNvPr id="342" name="Google Shape;342;p37"/>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43" name="Google Shape;343;p3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4" name="Google Shape;344;p37"/>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5" name="Google Shape;345;p37"/>
          <p:cNvSpPr txBox="1"/>
          <p:nvPr/>
        </p:nvSpPr>
        <p:spPr>
          <a:xfrm>
            <a:off x="483552" y="1415417"/>
            <a:ext cx="8161655" cy="37287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Todas las funciones funcionan en los valores que  aparecen entre paréntesis y cada nombre de función  indica su finalidad, recordar esto es útil al construir una  consulta</a:t>
            </a:r>
            <a:endParaRPr sz="2800">
              <a:latin typeface="Calibri"/>
              <a:ea typeface="Calibri"/>
              <a:cs typeface="Calibri"/>
              <a:sym typeface="Calibri"/>
            </a:endParaRPr>
          </a:p>
          <a:p>
            <a:pPr indent="-177800" lvl="0" marL="184785" marR="34544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alias de columna se utiliza a menudo para asignar  un nombre a una función</a:t>
            </a:r>
            <a:endParaRPr sz="2800">
              <a:latin typeface="Calibri"/>
              <a:ea typeface="Calibri"/>
              <a:cs typeface="Calibri"/>
              <a:sym typeface="Calibri"/>
            </a:endParaRPr>
          </a:p>
          <a:p>
            <a:pPr indent="-177800" lvl="0" marL="184785" marR="2794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utiliza un alias de columna, dicho alias  aparece en la salida en lugar de la sintaxis de la función  real</a:t>
            </a:r>
            <a:endParaRPr sz="28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title"/>
          </p:nvPr>
        </p:nvSpPr>
        <p:spPr>
          <a:xfrm>
            <a:off x="392112" y="748031"/>
            <a:ext cx="675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Alias de Columna con Funciones</a:t>
            </a:r>
            <a:endParaRPr/>
          </a:p>
        </p:txBody>
      </p:sp>
      <p:sp>
        <p:nvSpPr>
          <p:cNvPr id="351" name="Google Shape;351;p38"/>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52" name="Google Shape;352;p3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3" name="Google Shape;353;p38"/>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4" name="Google Shape;354;p38"/>
          <p:cNvSpPr txBox="1"/>
          <p:nvPr/>
        </p:nvSpPr>
        <p:spPr>
          <a:xfrm>
            <a:off x="483552" y="1415417"/>
            <a:ext cx="8007350" cy="3728720"/>
          </a:xfrm>
          <a:prstGeom prst="rect">
            <a:avLst/>
          </a:prstGeom>
          <a:noFill/>
          <a:ln>
            <a:noFill/>
          </a:ln>
        </p:spPr>
        <p:txBody>
          <a:bodyPr anchorCtr="0" anchor="t" bIns="0" lIns="0" spcFirstLastPara="1" rIns="0" wrap="square" tIns="59675">
            <a:spAutoFit/>
          </a:bodyPr>
          <a:lstStyle/>
          <a:p>
            <a:pPr indent="-177800" lvl="0" marL="184785" marR="4756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los siguientes ejemplos, el alias "User Name" ha  sustituido la sintaxis de la función de la primera  consulta</a:t>
            </a:r>
            <a:endParaRPr sz="2800">
              <a:latin typeface="Calibri"/>
              <a:ea typeface="Calibri"/>
              <a:cs typeface="Calibri"/>
              <a:sym typeface="Calibri"/>
            </a:endParaRPr>
          </a:p>
          <a:p>
            <a:pPr indent="-177800" lvl="0" marL="184785" marR="214629"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defecto, el nombre de columna de una sentencia  SELECT aparece como la cabecera de la columna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segundo ejemplo de consulta, sin embargo, no  hay ninguna columna en la tabla para los resultados  producidos, por lo que en su lugar se usa la sintaxis de  la consulta</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392112" y="748031"/>
            <a:ext cx="6756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Alias de Columna con Funciones</a:t>
            </a:r>
            <a:endParaRPr/>
          </a:p>
        </p:txBody>
      </p:sp>
      <p:sp>
        <p:nvSpPr>
          <p:cNvPr id="360" name="Google Shape;360;p39"/>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61" name="Google Shape;361;p3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2" name="Google Shape;362;p39"/>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363" name="Google Shape;363;p39"/>
          <p:cNvGraphicFramePr/>
          <p:nvPr/>
        </p:nvGraphicFramePr>
        <p:xfrm>
          <a:off x="7296815" y="1609784"/>
          <a:ext cx="3000000" cy="3000000"/>
        </p:xfrm>
        <a:graphic>
          <a:graphicData uri="http://schemas.openxmlformats.org/drawingml/2006/table">
            <a:tbl>
              <a:tblPr bandRow="1" firstRow="1">
                <a:noFill/>
                <a:tableStyleId>{225A1B43-8036-45A3-B309-2588F688D7A7}</a:tableStyleId>
              </a:tblPr>
              <a:tblGrid>
                <a:gridCol w="1435725"/>
              </a:tblGrid>
              <a:tr h="335325">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User Name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3542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3542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daviesc</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573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haanl</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364" name="Google Shape;364;p39"/>
          <p:cNvGraphicFramePr/>
          <p:nvPr/>
        </p:nvGraphicFramePr>
        <p:xfrm>
          <a:off x="1488281" y="4289004"/>
          <a:ext cx="3000000" cy="3000000"/>
        </p:xfrm>
        <a:graphic>
          <a:graphicData uri="http://schemas.openxmlformats.org/drawingml/2006/table">
            <a:tbl>
              <a:tblPr bandRow="1" firstRow="1">
                <a:noFill/>
                <a:tableStyleId>{225A1B43-8036-45A3-B309-2588F688D7A7}</a:tableStyleId>
              </a:tblPr>
              <a:tblGrid>
                <a:gridCol w="6155050"/>
              </a:tblGrid>
              <a:tr h="335225">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LOWER(LAST_NAME)||LOWER(SUBSTR(FIRST_NAME,1,1))</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96250">
                <a:tc>
                  <a:txBody>
                    <a:bodyPr/>
                    <a:lstStyle/>
                    <a:p>
                      <a:pPr indent="0" lvl="0" marL="1143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does</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96250">
                <a:tc>
                  <a:txBody>
                    <a:bodyPr/>
                    <a:lstStyle/>
                    <a:p>
                      <a:pPr indent="0" lvl="0" marL="1143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millerb</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96250">
                <a:tc>
                  <a:txBody>
                    <a:bodyPr/>
                    <a:lstStyle/>
                    <a:p>
                      <a:pPr indent="0" lvl="0" marL="1143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tuttlem</a:t>
                      </a:r>
                      <a:endParaRPr sz="1600" u="none" cap="none" strike="noStrike">
                        <a:latin typeface="Calibri"/>
                        <a:ea typeface="Calibri"/>
                        <a:cs typeface="Calibri"/>
                        <a:sym typeface="Calibri"/>
                      </a:endParaRPr>
                    </a:p>
                  </a:txBody>
                  <a:tcPr marT="6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65" name="Google Shape;365;p39"/>
          <p:cNvSpPr txBox="1"/>
          <p:nvPr/>
        </p:nvSpPr>
        <p:spPr>
          <a:xfrm>
            <a:off x="393191" y="1615439"/>
            <a:ext cx="6400800" cy="1163320"/>
          </a:xfrm>
          <a:prstGeom prst="rect">
            <a:avLst/>
          </a:prstGeom>
          <a:solidFill>
            <a:srgbClr val="9DBDC4">
              <a:alpha val="49804"/>
            </a:srgbClr>
          </a:solidFill>
          <a:ln>
            <a:noFill/>
          </a:ln>
        </p:spPr>
        <p:txBody>
          <a:bodyPr anchorCtr="0" anchor="t" bIns="0" lIns="0" spcFirstLastPara="1" rIns="0" wrap="square" tIns="5075">
            <a:spAutoFit/>
          </a:bodyPr>
          <a:lstStyle/>
          <a:p>
            <a:pPr indent="0" lvl="0" marL="0" marR="2433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LOWER(last_name)||  LOWER(SUBSTR(first_name,1,1))</a:t>
            </a:r>
            <a:endParaRPr sz="1800">
              <a:latin typeface="Courier New"/>
              <a:ea typeface="Courier New"/>
              <a:cs typeface="Courier New"/>
              <a:sym typeface="Courier New"/>
            </a:endParaRPr>
          </a:p>
          <a:p>
            <a:pPr indent="274320" lvl="0" marL="0" marR="42075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"User Name"  FROM employees;</a:t>
            </a:r>
            <a:endParaRPr sz="1800">
              <a:latin typeface="Courier New"/>
              <a:ea typeface="Courier New"/>
              <a:cs typeface="Courier New"/>
              <a:sym typeface="Courier New"/>
            </a:endParaRPr>
          </a:p>
        </p:txBody>
      </p:sp>
      <p:sp>
        <p:nvSpPr>
          <p:cNvPr id="366" name="Google Shape;366;p39"/>
          <p:cNvSpPr txBox="1"/>
          <p:nvPr/>
        </p:nvSpPr>
        <p:spPr>
          <a:xfrm>
            <a:off x="393191" y="3366515"/>
            <a:ext cx="8357870" cy="681355"/>
          </a:xfrm>
          <a:prstGeom prst="rect">
            <a:avLst/>
          </a:prstGeom>
          <a:solidFill>
            <a:srgbClr val="9DBDC4">
              <a:alpha val="49804"/>
            </a:srgbClr>
          </a:solidFill>
          <a:ln>
            <a:noFill/>
          </a:ln>
        </p:spPr>
        <p:txBody>
          <a:bodyPr anchorCtr="0" anchor="t" bIns="0" lIns="0" spcFirstLastPara="1" rIns="0" wrap="square" tIns="38100">
            <a:spAutoFit/>
          </a:bodyPr>
          <a:lstStyle/>
          <a:p>
            <a:pPr indent="0" lvl="0" marL="0" marR="84264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LOWER (last_name)||LOWER(SUBSTR(first_name,1,1))  FROM f_staffs;</a:t>
            </a:r>
            <a:endParaRPr sz="18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ph type="title"/>
          </p:nvPr>
        </p:nvSpPr>
        <p:spPr>
          <a:xfrm>
            <a:off x="392112" y="748031"/>
            <a:ext cx="407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Variables de Sustitución</a:t>
            </a:r>
            <a:endParaRPr/>
          </a:p>
        </p:txBody>
      </p:sp>
      <p:sp>
        <p:nvSpPr>
          <p:cNvPr id="372" name="Google Shape;372;p40"/>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73" name="Google Shape;373;p4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4" name="Google Shape;374;p40"/>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5" name="Google Shape;375;p40"/>
          <p:cNvSpPr txBox="1"/>
          <p:nvPr/>
        </p:nvSpPr>
        <p:spPr>
          <a:xfrm>
            <a:off x="483552" y="1415417"/>
            <a:ext cx="7863205" cy="4112895"/>
          </a:xfrm>
          <a:prstGeom prst="rect">
            <a:avLst/>
          </a:prstGeom>
          <a:noFill/>
          <a:ln>
            <a:noFill/>
          </a:ln>
        </p:spPr>
        <p:txBody>
          <a:bodyPr anchorCtr="0" anchor="t" bIns="0" lIns="0" spcFirstLastPara="1" rIns="0" wrap="square" tIns="59675">
            <a:spAutoFit/>
          </a:bodyPr>
          <a:lstStyle/>
          <a:p>
            <a:pPr indent="-177800" lvl="0" marL="184785" marR="2266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ocasiones, es posible que necesite ejecutar la  misma consulta con muchos valores diferentes para  obtener conjuntos de resultados diferentes</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Imagine, por ejemplo, que tuviera que escribir un  informe de los empleados y sus departamentos, pero  la consulta solo debe devolver los datos de un  departamento a la vez</a:t>
            </a:r>
            <a:endParaRPr sz="2800">
              <a:latin typeface="Calibri"/>
              <a:ea typeface="Calibri"/>
              <a:cs typeface="Calibri"/>
              <a:sym typeface="Calibri"/>
            </a:endParaRPr>
          </a:p>
          <a:p>
            <a:pPr indent="-177800" lvl="0" marL="184785" marR="33845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el uso de variables de sustitución, esta solicitud  significaría que tendría que editar varias veces la  misma sentencia para cambiar la cláusula WHERE</a:t>
            </a:r>
            <a:endParaRPr sz="28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ph type="title"/>
          </p:nvPr>
        </p:nvSpPr>
        <p:spPr>
          <a:xfrm>
            <a:off x="392112" y="748031"/>
            <a:ext cx="407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Variables de Sustitución</a:t>
            </a:r>
            <a:endParaRPr/>
          </a:p>
        </p:txBody>
      </p:sp>
      <p:sp>
        <p:nvSpPr>
          <p:cNvPr id="381" name="Google Shape;381;p41"/>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82" name="Google Shape;382;p4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3" name="Google Shape;383;p41"/>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4" name="Google Shape;384;p41"/>
          <p:cNvSpPr txBox="1"/>
          <p:nvPr/>
        </p:nvSpPr>
        <p:spPr>
          <a:xfrm>
            <a:off x="483552" y="1415417"/>
            <a:ext cx="8081009" cy="2960370"/>
          </a:xfrm>
          <a:prstGeom prst="rect">
            <a:avLst/>
          </a:prstGeom>
          <a:noFill/>
          <a:ln>
            <a:noFill/>
          </a:ln>
        </p:spPr>
        <p:txBody>
          <a:bodyPr anchorCtr="0" anchor="t" bIns="0" lIns="0" spcFirstLastPara="1" rIns="0" wrap="square" tIns="59675">
            <a:spAutoFit/>
          </a:bodyPr>
          <a:lstStyle/>
          <a:p>
            <a:pPr indent="-177800" lvl="0" marL="184785" marR="4343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para nosotros, Oracle Application  Express soporta las variables de sustitución</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usarlas, todo lo que tiene que hacer es sustituir el  valor codificado en la sentencia con un</a:t>
            </a:r>
            <a:endParaRPr sz="2800">
              <a:latin typeface="Calibri"/>
              <a:ea typeface="Calibri"/>
              <a:cs typeface="Calibri"/>
              <a:sym typeface="Calibri"/>
            </a:endParaRPr>
          </a:p>
          <a:p>
            <a:pPr indent="0" lvl="0" marL="184785" marR="0" rtl="0" algn="l">
              <a:lnSpc>
                <a:spcPct val="106250"/>
              </a:lnSpc>
              <a:spcBef>
                <a:spcPts val="0"/>
              </a:spcBef>
              <a:spcAft>
                <a:spcPts val="0"/>
              </a:spcAft>
              <a:buNone/>
            </a:pPr>
            <a:r>
              <a:rPr lang="en-US" sz="2800">
                <a:solidFill>
                  <a:srgbClr val="4E3629"/>
                </a:solidFill>
                <a:latin typeface="Calibri"/>
                <a:ea typeface="Calibri"/>
                <a:cs typeface="Calibri"/>
                <a:sym typeface="Calibri"/>
              </a:rPr>
              <a:t>:named_variable</a:t>
            </a:r>
            <a:endParaRPr sz="2800">
              <a:latin typeface="Calibri"/>
              <a:ea typeface="Calibri"/>
              <a:cs typeface="Calibri"/>
              <a:sym typeface="Calibri"/>
            </a:endParaRPr>
          </a:p>
          <a:p>
            <a:pPr indent="-177800" lvl="0" marL="184150" marR="1153160"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Application Express le pedirá un valor al  ejecutar la sentencia</a:t>
            </a:r>
            <a:endParaRPr sz="28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2"/>
          <p:cNvSpPr txBox="1"/>
          <p:nvPr>
            <p:ph type="title"/>
          </p:nvPr>
        </p:nvSpPr>
        <p:spPr>
          <a:xfrm>
            <a:off x="392112" y="748031"/>
            <a:ext cx="407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Variables de Sustitución</a:t>
            </a:r>
            <a:endParaRPr/>
          </a:p>
        </p:txBody>
      </p:sp>
      <p:sp>
        <p:nvSpPr>
          <p:cNvPr id="390" name="Google Shape;390;p42"/>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391" name="Google Shape;391;p4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2" name="Google Shape;392;p42"/>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3" name="Google Shape;393;p42"/>
          <p:cNvSpPr txBox="1"/>
          <p:nvPr/>
        </p:nvSpPr>
        <p:spPr>
          <a:xfrm>
            <a:off x="483552" y="1381889"/>
            <a:ext cx="483806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esta fuera la consulta original:</a:t>
            </a:r>
            <a:endParaRPr sz="2800">
              <a:latin typeface="Calibri"/>
              <a:ea typeface="Calibri"/>
              <a:cs typeface="Calibri"/>
              <a:sym typeface="Calibri"/>
            </a:endParaRPr>
          </a:p>
        </p:txBody>
      </p:sp>
      <p:sp>
        <p:nvSpPr>
          <p:cNvPr id="394" name="Google Shape;394;p42"/>
          <p:cNvSpPr txBox="1"/>
          <p:nvPr/>
        </p:nvSpPr>
        <p:spPr>
          <a:xfrm>
            <a:off x="483552" y="2674242"/>
            <a:ext cx="7635240" cy="831215"/>
          </a:xfrm>
          <a:prstGeom prst="rect">
            <a:avLst/>
          </a:prstGeom>
          <a:noFill/>
          <a:ln>
            <a:noFill/>
          </a:ln>
        </p:spPr>
        <p:txBody>
          <a:bodyPr anchorCtr="0" anchor="t" bIns="0" lIns="0" spcFirstLastPara="1" rIns="0" wrap="square" tIns="12700">
            <a:spAutoFit/>
          </a:bodyPr>
          <a:lstStyle/>
          <a:p>
            <a:pPr indent="0" lvl="0" marL="355600" marR="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Vuelva a ejecutarla con valores diferentes: 20, 30, 40, etc.</a:t>
            </a:r>
            <a:endParaRPr sz="2400">
              <a:latin typeface="Calibri"/>
              <a:ea typeface="Calibri"/>
              <a:cs typeface="Calibri"/>
              <a:sym typeface="Calibri"/>
            </a:endParaRPr>
          </a:p>
          <a:p>
            <a:pPr indent="-177800" lvl="0" marL="184785" marR="0" rtl="0" algn="l">
              <a:lnSpc>
                <a:spcPct val="100000"/>
              </a:lnSpc>
              <a:spcBef>
                <a:spcPts val="1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 reescribir como:</a:t>
            </a:r>
            <a:endParaRPr sz="2800">
              <a:latin typeface="Calibri"/>
              <a:ea typeface="Calibri"/>
              <a:cs typeface="Calibri"/>
              <a:sym typeface="Calibri"/>
            </a:endParaRPr>
          </a:p>
        </p:txBody>
      </p:sp>
      <p:sp>
        <p:nvSpPr>
          <p:cNvPr id="395" name="Google Shape;395;p42"/>
          <p:cNvSpPr txBox="1"/>
          <p:nvPr/>
        </p:nvSpPr>
        <p:spPr>
          <a:xfrm>
            <a:off x="483552" y="4382645"/>
            <a:ext cx="7672705" cy="1577975"/>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Observe el uso de : delante de enter_dept_id</a:t>
            </a:r>
            <a:endParaRPr sz="2800">
              <a:latin typeface="Calibri"/>
              <a:ea typeface="Calibri"/>
              <a:cs typeface="Calibri"/>
              <a:sym typeface="Calibri"/>
            </a:endParaRPr>
          </a:p>
          <a:p>
            <a:pPr indent="-177800" lvl="0" marL="18415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signo de dos puntos es el bit mágico y hace que  Oracle Application Express reconozca el texto que le  sigue como una variable</a:t>
            </a:r>
            <a:endParaRPr sz="2800">
              <a:latin typeface="Calibri"/>
              <a:ea typeface="Calibri"/>
              <a:cs typeface="Calibri"/>
              <a:sym typeface="Calibri"/>
            </a:endParaRPr>
          </a:p>
        </p:txBody>
      </p:sp>
      <p:sp>
        <p:nvSpPr>
          <p:cNvPr id="396" name="Google Shape;396;p42"/>
          <p:cNvSpPr txBox="1"/>
          <p:nvPr/>
        </p:nvSpPr>
        <p:spPr>
          <a:xfrm>
            <a:off x="379475" y="1825751"/>
            <a:ext cx="8357870" cy="879475"/>
          </a:xfrm>
          <a:prstGeom prst="rect">
            <a:avLst/>
          </a:prstGeom>
          <a:solidFill>
            <a:srgbClr val="9DBDC4">
              <a:alpha val="49804"/>
            </a:srgbClr>
          </a:solidFill>
          <a:ln>
            <a:noFill/>
          </a:ln>
        </p:spPr>
        <p:txBody>
          <a:bodyPr anchorCtr="0" anchor="t" bIns="0" lIns="0" spcFirstLastPara="1" rIns="0" wrap="square" tIns="625">
            <a:spAutoFit/>
          </a:bodyPr>
          <a:lstStyle/>
          <a:p>
            <a:pPr indent="0" lvl="0" marL="0" marR="13893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salary, department_id  FROM employees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10;</a:t>
            </a:r>
            <a:endParaRPr sz="1800">
              <a:latin typeface="Courier New"/>
              <a:ea typeface="Courier New"/>
              <a:cs typeface="Courier New"/>
              <a:sym typeface="Courier New"/>
            </a:endParaRPr>
          </a:p>
        </p:txBody>
      </p:sp>
      <p:sp>
        <p:nvSpPr>
          <p:cNvPr id="397" name="Google Shape;397;p42"/>
          <p:cNvSpPr txBox="1"/>
          <p:nvPr/>
        </p:nvSpPr>
        <p:spPr>
          <a:xfrm>
            <a:off x="405384" y="3506723"/>
            <a:ext cx="8357870" cy="879475"/>
          </a:xfrm>
          <a:prstGeom prst="rect">
            <a:avLst/>
          </a:prstGeom>
          <a:solidFill>
            <a:srgbClr val="9DBDC4">
              <a:alpha val="49804"/>
            </a:srgbClr>
          </a:solidFill>
          <a:ln>
            <a:noFill/>
          </a:ln>
        </p:spPr>
        <p:txBody>
          <a:bodyPr anchorCtr="0" anchor="t" bIns="0" lIns="0" spcFirstLastPara="1" rIns="0" wrap="square" tIns="625">
            <a:spAutoFit/>
          </a:bodyPr>
          <a:lstStyle/>
          <a:p>
            <a:pPr indent="0" lvl="0" marL="0" marR="13900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salary, department_id  FROM employees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department_id=:enter_dept_id;</a:t>
            </a:r>
            <a:endParaRPr sz="18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3"/>
          <p:cNvSpPr txBox="1"/>
          <p:nvPr>
            <p:ph type="title"/>
          </p:nvPr>
        </p:nvSpPr>
        <p:spPr>
          <a:xfrm>
            <a:off x="392112" y="748031"/>
            <a:ext cx="407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Variables de Sustitución</a:t>
            </a:r>
            <a:endParaRPr/>
          </a:p>
        </p:txBody>
      </p:sp>
      <p:sp>
        <p:nvSpPr>
          <p:cNvPr id="403" name="Google Shape;403;p43"/>
          <p:cNvSpPr txBox="1"/>
          <p:nvPr/>
        </p:nvSpPr>
        <p:spPr>
          <a:xfrm>
            <a:off x="483552" y="1415417"/>
            <a:ext cx="760730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hacer clic en Run, Oracle Application Express  muestra una ventana emergente como la siguiente:</a:t>
            </a:r>
            <a:endParaRPr sz="2800">
              <a:latin typeface="Calibri"/>
              <a:ea typeface="Calibri"/>
              <a:cs typeface="Calibri"/>
              <a:sym typeface="Calibri"/>
            </a:endParaRPr>
          </a:p>
        </p:txBody>
      </p:sp>
      <p:sp>
        <p:nvSpPr>
          <p:cNvPr id="404" name="Google Shape;404;p43"/>
          <p:cNvSpPr txBox="1"/>
          <p:nvPr/>
        </p:nvSpPr>
        <p:spPr>
          <a:xfrm>
            <a:off x="483552" y="4228721"/>
            <a:ext cx="8092440" cy="16046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los bloqueadores de elementos emergentes  deben estar desactivados; de lo contrario APEX no  podrá preguntar por el valor de la variable, ya que esto  se introduce mediante una ventana emergente</a:t>
            </a:r>
            <a:endParaRPr sz="2800">
              <a:latin typeface="Calibri"/>
              <a:ea typeface="Calibri"/>
              <a:cs typeface="Calibri"/>
              <a:sym typeface="Calibri"/>
            </a:endParaRPr>
          </a:p>
        </p:txBody>
      </p:sp>
      <p:grpSp>
        <p:nvGrpSpPr>
          <p:cNvPr id="405" name="Google Shape;405;p43"/>
          <p:cNvGrpSpPr/>
          <p:nvPr/>
        </p:nvGrpSpPr>
        <p:grpSpPr>
          <a:xfrm>
            <a:off x="1795272" y="2403348"/>
            <a:ext cx="5553710" cy="1896110"/>
            <a:chOff x="1795272" y="2403348"/>
            <a:chExt cx="5553710" cy="1896110"/>
          </a:xfrm>
        </p:grpSpPr>
        <p:pic>
          <p:nvPicPr>
            <p:cNvPr id="406" name="Google Shape;406;p43"/>
            <p:cNvPicPr preferRelativeResize="0"/>
            <p:nvPr/>
          </p:nvPicPr>
          <p:blipFill rotWithShape="1">
            <a:blip r:embed="rId3">
              <a:alphaModFix/>
            </a:blip>
            <a:srcRect b="0" l="0" r="0" t="0"/>
            <a:stretch/>
          </p:blipFill>
          <p:spPr>
            <a:xfrm>
              <a:off x="1799844" y="2407920"/>
              <a:ext cx="5544311" cy="1886699"/>
            </a:xfrm>
            <a:prstGeom prst="rect">
              <a:avLst/>
            </a:prstGeom>
            <a:noFill/>
            <a:ln>
              <a:noFill/>
            </a:ln>
          </p:spPr>
        </p:pic>
        <p:sp>
          <p:nvSpPr>
            <p:cNvPr id="407" name="Google Shape;407;p43"/>
            <p:cNvSpPr/>
            <p:nvPr/>
          </p:nvSpPr>
          <p:spPr>
            <a:xfrm>
              <a:off x="1795272" y="2403348"/>
              <a:ext cx="5553710" cy="1896110"/>
            </a:xfrm>
            <a:custGeom>
              <a:rect b="b" l="l" r="r" t="t"/>
              <a:pathLst>
                <a:path extrusionOk="0" h="1896110" w="5553709">
                  <a:moveTo>
                    <a:pt x="0" y="0"/>
                  </a:moveTo>
                  <a:lnTo>
                    <a:pt x="5553456" y="0"/>
                  </a:lnTo>
                  <a:lnTo>
                    <a:pt x="5553456" y="1895856"/>
                  </a:lnTo>
                  <a:lnTo>
                    <a:pt x="0" y="1895856"/>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08" name="Google Shape;408;p43"/>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09" name="Google Shape;409;p4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0" name="Google Shape;410;p43"/>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4"/>
          <p:cNvSpPr txBox="1"/>
          <p:nvPr>
            <p:ph type="title"/>
          </p:nvPr>
        </p:nvSpPr>
        <p:spPr>
          <a:xfrm>
            <a:off x="392112" y="748031"/>
            <a:ext cx="407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Variables de Sustitución</a:t>
            </a:r>
            <a:endParaRPr/>
          </a:p>
        </p:txBody>
      </p:sp>
      <p:sp>
        <p:nvSpPr>
          <p:cNvPr id="416" name="Google Shape;416;p44"/>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17" name="Google Shape;417;p4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8" name="Google Shape;418;p44"/>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19" name="Google Shape;419;p44"/>
          <p:cNvSpPr txBox="1"/>
          <p:nvPr/>
        </p:nvSpPr>
        <p:spPr>
          <a:xfrm>
            <a:off x="483552" y="1415417"/>
            <a:ext cx="8077200" cy="285813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variables de sustitución se tratan como cadenas de  caracteres en Oracle Application Express, lo que  significa que al transferir caracteres o valores de fecha,  no necesita las comillas simples que se suelen utilizar  para delimitar las cadenas</a:t>
            </a:r>
            <a:endParaRPr sz="2800">
              <a:latin typeface="Calibri"/>
              <a:ea typeface="Calibri"/>
              <a:cs typeface="Calibri"/>
              <a:sym typeface="Calibri"/>
            </a:endParaRPr>
          </a:p>
          <a:p>
            <a:pPr indent="-177800" lvl="0" marL="184785" marR="58420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una cláusula WHERE debería tener un  aspecto similar al siguiente:</a:t>
            </a:r>
            <a:endParaRPr sz="2800">
              <a:latin typeface="Calibri"/>
              <a:ea typeface="Calibri"/>
              <a:cs typeface="Calibri"/>
              <a:sym typeface="Calibri"/>
            </a:endParaRPr>
          </a:p>
        </p:txBody>
      </p:sp>
      <p:sp>
        <p:nvSpPr>
          <p:cNvPr id="420" name="Google Shape;420;p44"/>
          <p:cNvSpPr txBox="1"/>
          <p:nvPr/>
        </p:nvSpPr>
        <p:spPr>
          <a:xfrm>
            <a:off x="405384" y="4530852"/>
            <a:ext cx="8345805" cy="879475"/>
          </a:xfrm>
          <a:prstGeom prst="rect">
            <a:avLst/>
          </a:prstGeom>
          <a:solidFill>
            <a:srgbClr val="9DBDC4">
              <a:alpha val="49804"/>
            </a:srgbClr>
          </a:solidFill>
          <a:ln>
            <a:noFill/>
          </a:ln>
        </p:spPr>
        <p:txBody>
          <a:bodyPr anchorCtr="0" anchor="t" bIns="0" lIns="0" spcFirstLastPara="1" rIns="0" wrap="square" tIns="625">
            <a:spAutoFit/>
          </a:bodyPr>
          <a:lstStyle/>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last_name = :l_name;</a:t>
            </a:r>
            <a:endParaRPr sz="1800">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5"/>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26" name="Google Shape;426;p45"/>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27" name="Google Shape;427;p4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8" name="Google Shape;428;p45"/>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29" name="Google Shape;429;p45"/>
          <p:cNvSpPr txBox="1"/>
          <p:nvPr/>
        </p:nvSpPr>
        <p:spPr>
          <a:xfrm>
            <a:off x="483552" y="1415417"/>
            <a:ext cx="7702550" cy="387985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Funciones de carácter</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CONCAT</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DUAL</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Expresión</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Formato</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INITCAP</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Input</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INSTR</a:t>
            </a:r>
            <a:endParaRPr sz="24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35" name="Google Shape;435;p46"/>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36" name="Google Shape;436;p4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37" name="Google Shape;437;p46"/>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38" name="Google Shape;438;p46"/>
          <p:cNvSpPr txBox="1"/>
          <p:nvPr/>
        </p:nvSpPr>
        <p:spPr>
          <a:xfrm>
            <a:off x="483552" y="1415417"/>
            <a:ext cx="7702550" cy="387985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LENGTH</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LOWER</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LPAD</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Salida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REPLACE</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RPAD</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Funciones de una sola fila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SUBSTR</a:t>
            </a:r>
            <a:endParaRPr sz="24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7"/>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44" name="Google Shape;444;p47"/>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45" name="Google Shape;445;p4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46" name="Google Shape;446;p47"/>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47" name="Google Shape;447;p47"/>
          <p:cNvSpPr txBox="1"/>
          <p:nvPr/>
        </p:nvSpPr>
        <p:spPr>
          <a:xfrm>
            <a:off x="483552" y="1415417"/>
            <a:ext cx="7702550" cy="19792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TRIM</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UPPER</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Variable de sustitución</a:t>
            </a:r>
            <a:endParaRPr sz="2400">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453" name="Google Shape;453;p48"/>
          <p:cNvSpPr txBox="1"/>
          <p:nvPr/>
        </p:nvSpPr>
        <p:spPr>
          <a:xfrm>
            <a:off x="483552" y="1381889"/>
            <a:ext cx="7847965" cy="4512310"/>
          </a:xfrm>
          <a:prstGeom prst="rect">
            <a:avLst/>
          </a:prstGeom>
          <a:noFill/>
          <a:ln>
            <a:noFill/>
          </a:ln>
        </p:spPr>
        <p:txBody>
          <a:bodyPr anchorCtr="0" anchor="t" bIns="0" lIns="0" spcFirstLastPara="1" rIns="0" wrap="square" tIns="12050">
            <a:spAutoFit/>
          </a:bodyPr>
          <a:lstStyle/>
          <a:p>
            <a:pPr indent="-177800" lvl="0" marL="184785" marR="0" rtl="0" algn="l">
              <a:lnSpc>
                <a:spcPct val="117107"/>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5080" rtl="0" algn="just">
              <a:lnSpc>
                <a:spcPct val="95833"/>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funciones de una sola fila que realicen  conversión de mayúsculas/minúsculas y/o la manipulación  de caracteres</a:t>
            </a:r>
            <a:endParaRPr sz="2400">
              <a:latin typeface="Calibri"/>
              <a:ea typeface="Calibri"/>
              <a:cs typeface="Calibri"/>
              <a:sym typeface="Calibri"/>
            </a:endParaRPr>
          </a:p>
          <a:p>
            <a:pPr indent="-175260" lvl="0" marL="530860" marR="506095" rtl="0" algn="l">
              <a:lnSpc>
                <a:spcPct val="80000"/>
              </a:lnSpc>
              <a:spcBef>
                <a:spcPts val="4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las funciones de manipulación de  mayúsculas/minúsculas de caracteres LOWER, UPPER e  INTCAP en una consulta SQL</a:t>
            </a:r>
            <a:endParaRPr sz="2400">
              <a:latin typeface="Calibri"/>
              <a:ea typeface="Calibri"/>
              <a:cs typeface="Calibri"/>
              <a:sym typeface="Calibri"/>
            </a:endParaRPr>
          </a:p>
          <a:p>
            <a:pPr indent="-175260" lvl="0" marL="530860" marR="616585" rtl="0" algn="l">
              <a:lnSpc>
                <a:spcPct val="95833"/>
              </a:lnSpc>
              <a:spcBef>
                <a:spcPts val="3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Seleccionar y aplicar las funciones de manipulación de  caracteres CONCAT, SUBSTR,</a:t>
            </a:r>
            <a:endParaRPr sz="2400">
              <a:latin typeface="Calibri"/>
              <a:ea typeface="Calibri"/>
              <a:cs typeface="Calibri"/>
              <a:sym typeface="Calibri"/>
            </a:endParaRPr>
          </a:p>
          <a:p>
            <a:pPr indent="0" lvl="0" marL="530860" marR="0" rtl="0" algn="l">
              <a:lnSpc>
                <a:spcPct val="84958"/>
              </a:lnSpc>
              <a:spcBef>
                <a:spcPts val="0"/>
              </a:spcBef>
              <a:spcAft>
                <a:spcPts val="0"/>
              </a:spcAft>
              <a:buNone/>
            </a:pPr>
            <a:r>
              <a:rPr lang="en-US" sz="2400">
                <a:solidFill>
                  <a:srgbClr val="4E3629"/>
                </a:solidFill>
                <a:latin typeface="Calibri"/>
                <a:ea typeface="Calibri"/>
                <a:cs typeface="Calibri"/>
                <a:sym typeface="Calibri"/>
              </a:rPr>
              <a:t>LENGTH, INSTR, LPAD, RPAD,</a:t>
            </a:r>
            <a:endParaRPr sz="2400">
              <a:latin typeface="Calibri"/>
              <a:ea typeface="Calibri"/>
              <a:cs typeface="Calibri"/>
              <a:sym typeface="Calibri"/>
            </a:endParaRPr>
          </a:p>
          <a:p>
            <a:pPr indent="0" lvl="0" marL="530860" marR="4382770" rtl="0" algn="l">
              <a:lnSpc>
                <a:spcPct val="80000"/>
              </a:lnSpc>
              <a:spcBef>
                <a:spcPts val="285"/>
              </a:spcBef>
              <a:spcAft>
                <a:spcPts val="0"/>
              </a:spcAft>
              <a:buNone/>
            </a:pPr>
            <a:r>
              <a:rPr lang="en-US" sz="2400">
                <a:solidFill>
                  <a:srgbClr val="4E3629"/>
                </a:solidFill>
                <a:latin typeface="Calibri"/>
                <a:ea typeface="Calibri"/>
                <a:cs typeface="Calibri"/>
                <a:sym typeface="Calibri"/>
              </a:rPr>
              <a:t>TRIM y REPLACE en una  consulta SQL</a:t>
            </a:r>
            <a:endParaRPr sz="2400">
              <a:latin typeface="Calibri"/>
              <a:ea typeface="Calibri"/>
              <a:cs typeface="Calibri"/>
              <a:sym typeface="Calibri"/>
            </a:endParaRPr>
          </a:p>
          <a:p>
            <a:pPr indent="0" lvl="0" marL="355600" marR="0" rtl="0" algn="l">
              <a:lnSpc>
                <a:spcPct val="108958"/>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consultas flexibles</a:t>
            </a:r>
            <a:endParaRPr sz="2400">
              <a:latin typeface="Calibri"/>
              <a:ea typeface="Calibri"/>
              <a:cs typeface="Calibri"/>
              <a:sym typeface="Calibri"/>
            </a:endParaRPr>
          </a:p>
          <a:p>
            <a:pPr indent="0" lvl="0" marL="355600" marR="0" rtl="0" algn="l">
              <a:lnSpc>
                <a:spcPct val="116458"/>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usando variables de sustitución</a:t>
            </a:r>
            <a:endParaRPr sz="2400">
              <a:latin typeface="Calibri"/>
              <a:ea typeface="Calibri"/>
              <a:cs typeface="Calibri"/>
              <a:sym typeface="Calibri"/>
            </a:endParaRPr>
          </a:p>
        </p:txBody>
      </p:sp>
      <p:grpSp>
        <p:nvGrpSpPr>
          <p:cNvPr id="454" name="Google Shape;454;p48"/>
          <p:cNvGrpSpPr/>
          <p:nvPr/>
        </p:nvGrpSpPr>
        <p:grpSpPr>
          <a:xfrm>
            <a:off x="4937760" y="4023359"/>
            <a:ext cx="3771899" cy="2078723"/>
            <a:chOff x="4937760" y="4023359"/>
            <a:chExt cx="3771899" cy="2078723"/>
          </a:xfrm>
        </p:grpSpPr>
        <p:pic>
          <p:nvPicPr>
            <p:cNvPr id="455" name="Google Shape;455;p48"/>
            <p:cNvPicPr preferRelativeResize="0"/>
            <p:nvPr/>
          </p:nvPicPr>
          <p:blipFill rotWithShape="1">
            <a:blip r:embed="rId3">
              <a:alphaModFix/>
            </a:blip>
            <a:srcRect b="0" l="0" r="0" t="0"/>
            <a:stretch/>
          </p:blipFill>
          <p:spPr>
            <a:xfrm>
              <a:off x="4937760" y="4023359"/>
              <a:ext cx="3771899" cy="2078723"/>
            </a:xfrm>
            <a:prstGeom prst="rect">
              <a:avLst/>
            </a:prstGeom>
            <a:noFill/>
            <a:ln>
              <a:noFill/>
            </a:ln>
          </p:spPr>
        </p:pic>
        <p:pic>
          <p:nvPicPr>
            <p:cNvPr id="456" name="Google Shape;456;p48"/>
            <p:cNvPicPr preferRelativeResize="0"/>
            <p:nvPr/>
          </p:nvPicPr>
          <p:blipFill rotWithShape="1">
            <a:blip r:embed="rId4">
              <a:alphaModFix/>
            </a:blip>
            <a:srcRect b="0" l="0" r="0" t="0"/>
            <a:stretch/>
          </p:blipFill>
          <p:spPr>
            <a:xfrm>
              <a:off x="5129784" y="4215383"/>
              <a:ext cx="3387851" cy="1694687"/>
            </a:xfrm>
            <a:prstGeom prst="rect">
              <a:avLst/>
            </a:prstGeom>
            <a:noFill/>
            <a:ln>
              <a:noFill/>
            </a:ln>
          </p:spPr>
        </p:pic>
      </p:grpSp>
      <p:sp>
        <p:nvSpPr>
          <p:cNvPr id="457" name="Google Shape;457;p48"/>
          <p:cNvSpPr txBox="1"/>
          <p:nvPr>
            <p:ph idx="11" type="ftr"/>
          </p:nvPr>
        </p:nvSpPr>
        <p:spPr>
          <a:xfrm>
            <a:off x="2576521" y="6472031"/>
            <a:ext cx="2052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4-1</a:t>
            </a:r>
            <a:endParaRPr/>
          </a:p>
          <a:p>
            <a:pPr indent="0" lvl="0" marL="12700" marR="5080" rtl="0" algn="l">
              <a:lnSpc>
                <a:spcPct val="114874"/>
              </a:lnSpc>
              <a:spcBef>
                <a:spcPts val="60"/>
              </a:spcBef>
              <a:spcAft>
                <a:spcPts val="0"/>
              </a:spcAft>
              <a:buNone/>
            </a:pPr>
            <a:r>
              <a:rPr lang="en-US"/>
              <a:t>Manipulación de Mayúsculas/Minúsculas y de  Caracteres</a:t>
            </a:r>
            <a:endParaRPr/>
          </a:p>
        </p:txBody>
      </p:sp>
      <p:sp>
        <p:nvSpPr>
          <p:cNvPr id="458" name="Google Shape;458;p4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59" name="Google Shape;459;p48"/>
          <p:cNvSpPr txBox="1"/>
          <p:nvPr>
            <p:ph idx="10" type="dt"/>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