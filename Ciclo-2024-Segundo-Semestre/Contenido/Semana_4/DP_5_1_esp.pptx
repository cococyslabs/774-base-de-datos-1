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F0BE96-B600-4196-B546-7D2FCBCF95F3}">
  <a:tblStyle styleId="{22F0BE96-B600-4196-B546-7D2FCBCF95F3}"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2022-02-16 11:36:57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En la mayoría de los lenguajes de programación se necesita que el programador declare el tipo de dato de cada objeto de datos. Para los datos almacenados en una base de datos, el programador SQL define un tipo de dato para todas las columnas de la base de datos. Los tipos de dato se tratarán con mayor detalle más adelante en el curso, pero por ahora utilizaremos VARCHAR2, CHAR, NUMBER y DATE.</a:t>
            </a:r>
            <a:endParaRPr/>
          </a:p>
        </p:txBody>
      </p:sp>
      <p:sp>
        <p:nvSpPr>
          <p:cNvPr id="97" name="Google Shape;97;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2022-02-16 11:36:58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Implícito: algo que está sobreentendido, pero que no se expresa directamente.</a:t>
            </a:r>
            <a:endParaRPr/>
          </a:p>
        </p:txBody>
      </p:sp>
      <p:sp>
        <p:nvSpPr>
          <p:cNvPr id="124" name="Google Shape;124;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2022-02-16 11:36:58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Explícito: claramente formulado o definido.</a:t>
            </a:r>
            <a:endParaRPr/>
          </a:p>
        </p:txBody>
      </p:sp>
      <p:sp>
        <p:nvSpPr>
          <p:cNvPr id="142" name="Google Shape;142;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2022-02-16 11:36:59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En el ejemplo 2 se utiliza "fm" para suprimir los ceros iniciales de la fecha.</a:t>
            </a:r>
            <a:endParaRPr/>
          </a:p>
          <a:p>
            <a:pPr indent="0" lvl="0" marL="0" rtl="0" algn="l">
              <a:spcBef>
                <a:spcPts val="0"/>
              </a:spcBef>
              <a:spcAft>
                <a:spcPts val="0"/>
              </a:spcAft>
              <a:buNone/>
            </a:pPr>
            <a:r>
              <a:rPr lang="en-US"/>
              <a:t>En el ejemplo 3 se agrega "th", etc. para que el día aparezca como un número ordinal</a:t>
            </a:r>
            <a:endParaRPr/>
          </a:p>
        </p:txBody>
      </p:sp>
      <p:sp>
        <p:nvSpPr>
          <p:cNvPr id="240" name="Google Shape;240;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2022-02-16 11:36:59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En el ejemplo 2 se agrega "SP" al formato de día para especificar la parte de día de la fecha.</a:t>
            </a:r>
            <a:endParaRPr/>
          </a:p>
          <a:p>
            <a:pPr indent="0" lvl="0" marL="0" rtl="0" algn="l">
              <a:spcBef>
                <a:spcPts val="0"/>
              </a:spcBef>
              <a:spcAft>
                <a:spcPts val="0"/>
              </a:spcAft>
              <a:buNone/>
            </a:pPr>
            <a:r>
              <a:rPr lang="en-US"/>
              <a:t>En el ejemplo 3 se muestra el año deletread y el texto "de" entre el día y el mes. Tenga en cuenta que las comillas dobles son necesarias alrededor del literal de texto que se va a incluir.</a:t>
            </a:r>
            <a:endParaRPr/>
          </a:p>
        </p:txBody>
      </p:sp>
      <p:sp>
        <p:nvSpPr>
          <p:cNvPr id="250" name="Google Shape;250;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2022-02-16 11:36:59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si el número de "9" en el modelo de formato es menor que el número de dígitos en el número,  se muestra #####, por ejemplo, SELECT TO_CHAR(24000, '$9,999') devolvería #######, ya que el modelo de formato tiene cuatro "9", pero el número proporcionado tiene cinco dígitos.</a:t>
            </a:r>
            <a:endParaRPr/>
          </a:p>
        </p:txBody>
      </p:sp>
      <p:sp>
        <p:nvSpPr>
          <p:cNvPr id="281" name="Google Shape;281;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2022-02-16 11:36:59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respuestas aparecerán en la siguiente diapositiva.</a:t>
            </a:r>
            <a:endParaRPr/>
          </a:p>
        </p:txBody>
      </p:sp>
      <p:sp>
        <p:nvSpPr>
          <p:cNvPr id="293" name="Google Shape;293;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2022-02-16 11:37:00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Oracle Application Express devolverá un error de Oracle (Número no válido) si el modelo de formato no coincide con el número devuelto por la base de datos.</a:t>
            </a:r>
            <a:endParaRPr/>
          </a:p>
        </p:txBody>
      </p:sp>
      <p:sp>
        <p:nvSpPr>
          <p:cNvPr id="327" name="Google Shape;327;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2022-02-16 11:37:01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Esto se puede solucionar mediante la sustitución de YY en el modelo de formato con RR o mediante años de cuatro dígitos , con YYYY.</a:t>
            </a:r>
            <a:endParaRPr/>
          </a:p>
        </p:txBody>
      </p:sp>
      <p:sp>
        <p:nvSpPr>
          <p:cNvPr id="445" name="Google Shape;445;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385319"/>
            <a:ext cx="4568100" cy="894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413250" y="1518411"/>
            <a:ext cx="4493400" cy="45993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a:solidFill>
                  <a:schemeClr val="dk1"/>
                </a:solidFil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11214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lvl1pPr indent="0" lvl="0" marL="38100">
              <a:lnSpc>
                <a:spcPct val="107058"/>
              </a:lnSpc>
              <a:spcBef>
                <a:spcPts val="0"/>
              </a:spcBef>
              <a:buNone/>
              <a:defRPr b="0" i="0" sz="850">
                <a:solidFill>
                  <a:srgbClr val="4E3629"/>
                </a:solidFill>
                <a:latin typeface="Calibri"/>
                <a:ea typeface="Calibri"/>
                <a:cs typeface="Calibri"/>
                <a:sym typeface="Calibri"/>
              </a:defRPr>
            </a:lvl1pPr>
            <a:lvl2pPr indent="0" lvl="1" marL="38100">
              <a:lnSpc>
                <a:spcPct val="107058"/>
              </a:lnSpc>
              <a:spcBef>
                <a:spcPts val="0"/>
              </a:spcBef>
              <a:buNone/>
              <a:defRPr b="0" i="0" sz="850">
                <a:solidFill>
                  <a:srgbClr val="4E3629"/>
                </a:solidFill>
                <a:latin typeface="Calibri"/>
                <a:ea typeface="Calibri"/>
                <a:cs typeface="Calibri"/>
                <a:sym typeface="Calibri"/>
              </a:defRPr>
            </a:lvl2pPr>
            <a:lvl3pPr indent="0" lvl="2" marL="38100">
              <a:lnSpc>
                <a:spcPct val="107058"/>
              </a:lnSpc>
              <a:spcBef>
                <a:spcPts val="0"/>
              </a:spcBef>
              <a:buNone/>
              <a:defRPr b="0" i="0" sz="850">
                <a:solidFill>
                  <a:srgbClr val="4E3629"/>
                </a:solidFill>
                <a:latin typeface="Calibri"/>
                <a:ea typeface="Calibri"/>
                <a:cs typeface="Calibri"/>
                <a:sym typeface="Calibri"/>
              </a:defRPr>
            </a:lvl3pPr>
            <a:lvl4pPr indent="0" lvl="3" marL="38100">
              <a:lnSpc>
                <a:spcPct val="107058"/>
              </a:lnSpc>
              <a:spcBef>
                <a:spcPts val="0"/>
              </a:spcBef>
              <a:buNone/>
              <a:defRPr b="0" i="0" sz="850">
                <a:solidFill>
                  <a:srgbClr val="4E3629"/>
                </a:solidFill>
                <a:latin typeface="Calibri"/>
                <a:ea typeface="Calibri"/>
                <a:cs typeface="Calibri"/>
                <a:sym typeface="Calibri"/>
              </a:defRPr>
            </a:lvl4pPr>
            <a:lvl5pPr indent="0" lvl="4" marL="38100">
              <a:lnSpc>
                <a:spcPct val="107058"/>
              </a:lnSpc>
              <a:spcBef>
                <a:spcPts val="0"/>
              </a:spcBef>
              <a:buNone/>
              <a:defRPr b="0" i="0" sz="850">
                <a:solidFill>
                  <a:srgbClr val="4E3629"/>
                </a:solidFill>
                <a:latin typeface="Calibri"/>
                <a:ea typeface="Calibri"/>
                <a:cs typeface="Calibri"/>
                <a:sym typeface="Calibri"/>
              </a:defRPr>
            </a:lvl5pPr>
            <a:lvl6pPr indent="0" lvl="5" marL="38100">
              <a:lnSpc>
                <a:spcPct val="107058"/>
              </a:lnSpc>
              <a:spcBef>
                <a:spcPts val="0"/>
              </a:spcBef>
              <a:buNone/>
              <a:defRPr b="0" i="0" sz="850">
                <a:solidFill>
                  <a:srgbClr val="4E3629"/>
                </a:solidFill>
                <a:latin typeface="Calibri"/>
                <a:ea typeface="Calibri"/>
                <a:cs typeface="Calibri"/>
                <a:sym typeface="Calibri"/>
              </a:defRPr>
            </a:lvl6pPr>
            <a:lvl7pPr indent="0" lvl="6" marL="38100">
              <a:lnSpc>
                <a:spcPct val="107058"/>
              </a:lnSpc>
              <a:spcBef>
                <a:spcPts val="0"/>
              </a:spcBef>
              <a:buNone/>
              <a:defRPr b="0" i="0" sz="850">
                <a:solidFill>
                  <a:srgbClr val="4E3629"/>
                </a:solidFill>
                <a:latin typeface="Calibri"/>
                <a:ea typeface="Calibri"/>
                <a:cs typeface="Calibri"/>
                <a:sym typeface="Calibri"/>
              </a:defRPr>
            </a:lvl7pPr>
            <a:lvl8pPr indent="0" lvl="7" marL="38100">
              <a:lnSpc>
                <a:spcPct val="107058"/>
              </a:lnSpc>
              <a:spcBef>
                <a:spcPts val="0"/>
              </a:spcBef>
              <a:buNone/>
              <a:defRPr b="0" i="0" sz="850">
                <a:solidFill>
                  <a:srgbClr val="4E3629"/>
                </a:solidFill>
                <a:latin typeface="Calibri"/>
                <a:ea typeface="Calibri"/>
                <a:cs typeface="Calibri"/>
                <a:sym typeface="Calibri"/>
              </a:defRPr>
            </a:lvl8pPr>
            <a:lvl9pPr indent="0" lvl="8" marL="38100">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55591"/>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316230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5-1</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Funciones de Conversión</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78300" y="3418925"/>
            <a:ext cx="3739874" cy="3439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74" name="Google Shape;74;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75" name="Google Shape;75;p1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76" name="Google Shape;76;p15"/>
          <p:cNvSpPr txBox="1"/>
          <p:nvPr/>
        </p:nvSpPr>
        <p:spPr>
          <a:xfrm>
            <a:off x="483552" y="1393401"/>
            <a:ext cx="8126730" cy="326326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50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Proporcionar un ejemplo de conversión de tipo de dato implícita y explícita y una conversión de tipo de dato implícita</a:t>
            </a:r>
            <a:endParaRPr sz="2400">
              <a:latin typeface="Calibri"/>
              <a:ea typeface="Calibri"/>
              <a:cs typeface="Calibri"/>
              <a:sym typeface="Calibri"/>
            </a:endParaRPr>
          </a:p>
          <a:p>
            <a:pPr indent="-175260" lvl="0" marL="530860" marR="25781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el motivo de la importancia, desde una perspectiva de negocio, de que un lenguaje tenga capacidades de conversión de datos incorporadas</a:t>
            </a:r>
            <a:endParaRPr sz="2400">
              <a:latin typeface="Calibri"/>
              <a:ea typeface="Calibri"/>
              <a:cs typeface="Calibri"/>
              <a:sym typeface="Calibri"/>
            </a:endParaRPr>
          </a:p>
          <a:p>
            <a:pPr indent="-175260" lvl="0" marL="530860" marR="2857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consulta SQL que aplique correctamente las funciones de una sola fila TO_CHAR, TO_NUMBER y TO_DATE para obtener el resultado deseado</a:t>
            </a:r>
            <a:endParaRPr sz="2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Objetivos</a:t>
            </a:r>
            <a:endParaRPr/>
          </a:p>
        </p:txBody>
      </p:sp>
      <p:sp>
        <p:nvSpPr>
          <p:cNvPr id="82" name="Google Shape;82;p16"/>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83" name="Google Shape;83;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4" name="Google Shape;84;p1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85" name="Google Shape;85;p16"/>
          <p:cNvSpPr txBox="1"/>
          <p:nvPr/>
        </p:nvSpPr>
        <p:spPr>
          <a:xfrm>
            <a:off x="483552" y="1393401"/>
            <a:ext cx="7527925" cy="189611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4368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Aplicar el modelo de formato de fecha y/o caracteres adecuado para producir una salida deseada</a:t>
            </a:r>
            <a:endParaRPr sz="2400">
              <a:latin typeface="Calibri"/>
              <a:ea typeface="Calibri"/>
              <a:cs typeface="Calibri"/>
              <a:sym typeface="Calibri"/>
            </a:endParaRPr>
          </a:p>
          <a:p>
            <a:pPr indent="-175260" lvl="0" marL="530860" marR="19304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y aplicar el uso de YY y RR para devolver el año correcto como se almacenó en la base de datos</a:t>
            </a:r>
            <a:endParaRPr sz="24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a:t>
            </a:r>
            <a:endParaRPr/>
          </a:p>
        </p:txBody>
      </p:sp>
      <p:sp>
        <p:nvSpPr>
          <p:cNvPr id="91" name="Google Shape;91;p17"/>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92" name="Google Shape;92;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3" name="Google Shape;93;p1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94" name="Google Shape;94;p17"/>
          <p:cNvSpPr txBox="1"/>
          <p:nvPr/>
        </p:nvSpPr>
        <p:spPr>
          <a:xfrm>
            <a:off x="483552" y="1359029"/>
            <a:ext cx="8072120" cy="4434205"/>
          </a:xfrm>
          <a:prstGeom prst="rect">
            <a:avLst/>
          </a:prstGeom>
          <a:noFill/>
          <a:ln>
            <a:noFill/>
          </a:ln>
        </p:spPr>
        <p:txBody>
          <a:bodyPr anchorCtr="0" anchor="t" bIns="0" lIns="0" spcFirstLastPara="1" rIns="0" wrap="square" tIns="132075">
            <a:spAutoFit/>
          </a:bodyPr>
          <a:lstStyle/>
          <a:p>
            <a:pPr indent="-172720" lvl="0" marL="184785" marR="334010" rtl="0" algn="l">
              <a:lnSpc>
                <a:spcPct val="70000"/>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Imagine que tuviera que leer todos los libros de texto en archivos de texto sin párrafos y sin mayúsculas</a:t>
            </a:r>
            <a:endParaRPr sz="2600">
              <a:latin typeface="Calibri"/>
              <a:ea typeface="Calibri"/>
              <a:cs typeface="Calibri"/>
              <a:sym typeface="Calibri"/>
            </a:endParaRPr>
          </a:p>
          <a:p>
            <a:pPr indent="-172085" lvl="0" marL="184785" rtl="0" algn="l">
              <a:lnSpc>
                <a:spcPct val="11192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Sería difícil leerlos</a:t>
            </a:r>
            <a:endParaRPr sz="2600">
              <a:latin typeface="Calibri"/>
              <a:ea typeface="Calibri"/>
              <a:cs typeface="Calibri"/>
              <a:sym typeface="Calibri"/>
            </a:endParaRPr>
          </a:p>
          <a:p>
            <a:pPr indent="-172085" lvl="0" marL="184785" rtl="0" algn="l">
              <a:lnSpc>
                <a:spcPct val="9942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Afortunadamente, existen programas de software</a:t>
            </a:r>
            <a:endParaRPr sz="2600">
              <a:latin typeface="Calibri"/>
              <a:ea typeface="Calibri"/>
              <a:cs typeface="Calibri"/>
              <a:sym typeface="Calibri"/>
            </a:endParaRPr>
          </a:p>
          <a:p>
            <a:pPr indent="0" lvl="0" marL="184785" rtl="0" algn="l">
              <a:lnSpc>
                <a:spcPct val="84038"/>
              </a:lnSpc>
              <a:spcBef>
                <a:spcPts val="0"/>
              </a:spcBef>
              <a:spcAft>
                <a:spcPts val="0"/>
              </a:spcAft>
              <a:buNone/>
            </a:pPr>
            <a:r>
              <a:rPr lang="en-US" sz="2600">
                <a:solidFill>
                  <a:srgbClr val="4E3629"/>
                </a:solidFill>
                <a:latin typeface="Calibri"/>
                <a:ea typeface="Calibri"/>
                <a:cs typeface="Calibri"/>
                <a:sym typeface="Calibri"/>
              </a:rPr>
              <a:t>disponibles que permiten poner en mayúsculas y aplicar</a:t>
            </a:r>
            <a:endParaRPr sz="2600">
              <a:latin typeface="Calibri"/>
              <a:ea typeface="Calibri"/>
              <a:cs typeface="Calibri"/>
              <a:sym typeface="Calibri"/>
            </a:endParaRPr>
          </a:p>
          <a:p>
            <a:pPr indent="0" lvl="0" marL="184785" marR="66040" rtl="0" algn="l">
              <a:lnSpc>
                <a:spcPct val="70000"/>
              </a:lnSpc>
              <a:spcBef>
                <a:spcPts val="465"/>
              </a:spcBef>
              <a:spcAft>
                <a:spcPts val="0"/>
              </a:spcAft>
              <a:buNone/>
            </a:pPr>
            <a:r>
              <a:rPr lang="en-US" sz="2600">
                <a:solidFill>
                  <a:srgbClr val="4E3629"/>
                </a:solidFill>
                <a:latin typeface="Calibri"/>
                <a:ea typeface="Calibri"/>
                <a:cs typeface="Calibri"/>
                <a:sym typeface="Calibri"/>
              </a:rPr>
              <a:t>color al texto, subrayarlos, ponerlos en negrita, centrarlo y agregar gráficos</a:t>
            </a:r>
            <a:endParaRPr sz="2600">
              <a:latin typeface="Calibri"/>
              <a:ea typeface="Calibri"/>
              <a:cs typeface="Calibri"/>
              <a:sym typeface="Calibri"/>
            </a:endParaRPr>
          </a:p>
          <a:p>
            <a:pPr indent="-172720" lvl="0" marL="184785" marR="5080" rtl="0" algn="l">
              <a:lnSpc>
                <a:spcPct val="70000"/>
              </a:lnSpc>
              <a:spcBef>
                <a:spcPts val="80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el caso de bases de datos, los cambios de formato y visualización se realizan utilizando funciones de conversión</a:t>
            </a:r>
            <a:endParaRPr sz="2600">
              <a:latin typeface="Calibri"/>
              <a:ea typeface="Calibri"/>
              <a:cs typeface="Calibri"/>
              <a:sym typeface="Calibri"/>
            </a:endParaRPr>
          </a:p>
          <a:p>
            <a:pPr indent="-172085" lvl="0" marL="184785" rtl="0" algn="l">
              <a:lnSpc>
                <a:spcPct val="96538"/>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Estas funciones permiten mostrar los números en la</a:t>
            </a:r>
            <a:endParaRPr sz="2600">
              <a:latin typeface="Calibri"/>
              <a:ea typeface="Calibri"/>
              <a:cs typeface="Calibri"/>
              <a:sym typeface="Calibri"/>
            </a:endParaRPr>
          </a:p>
          <a:p>
            <a:pPr indent="0" lvl="0" marL="184785" rtl="0" algn="l">
              <a:lnSpc>
                <a:spcPct val="84038"/>
              </a:lnSpc>
              <a:spcBef>
                <a:spcPts val="0"/>
              </a:spcBef>
              <a:spcAft>
                <a:spcPts val="0"/>
              </a:spcAft>
              <a:buNone/>
            </a:pPr>
            <a:r>
              <a:rPr lang="en-US" sz="2600">
                <a:solidFill>
                  <a:srgbClr val="4E3629"/>
                </a:solidFill>
                <a:latin typeface="Calibri"/>
                <a:ea typeface="Calibri"/>
                <a:cs typeface="Calibri"/>
                <a:sym typeface="Calibri"/>
              </a:rPr>
              <a:t>moneda local, aplicar una gran variedad de formatos a las</a:t>
            </a:r>
            <a:endParaRPr sz="2600">
              <a:latin typeface="Calibri"/>
              <a:ea typeface="Calibri"/>
              <a:cs typeface="Calibri"/>
              <a:sym typeface="Calibri"/>
            </a:endParaRPr>
          </a:p>
          <a:p>
            <a:pPr indent="0" lvl="0" marL="184785" rtl="0" algn="l">
              <a:lnSpc>
                <a:spcPct val="84038"/>
              </a:lnSpc>
              <a:spcBef>
                <a:spcPts val="0"/>
              </a:spcBef>
              <a:spcAft>
                <a:spcPts val="0"/>
              </a:spcAft>
              <a:buNone/>
            </a:pPr>
            <a:r>
              <a:rPr lang="en-US" sz="2600">
                <a:solidFill>
                  <a:srgbClr val="4E3629"/>
                </a:solidFill>
                <a:latin typeface="Calibri"/>
                <a:ea typeface="Calibri"/>
                <a:cs typeface="Calibri"/>
                <a:sym typeface="Calibri"/>
              </a:rPr>
              <a:t>fechas, mostrar la hora incluyendo hasta los segundos y</a:t>
            </a:r>
            <a:endParaRPr sz="2600">
              <a:latin typeface="Calibri"/>
              <a:ea typeface="Calibri"/>
              <a:cs typeface="Calibri"/>
              <a:sym typeface="Calibri"/>
            </a:endParaRPr>
          </a:p>
          <a:p>
            <a:pPr indent="0" lvl="0" marL="184785" marR="198755" rtl="0" algn="l">
              <a:lnSpc>
                <a:spcPct val="70000"/>
              </a:lnSpc>
              <a:spcBef>
                <a:spcPts val="465"/>
              </a:spcBef>
              <a:spcAft>
                <a:spcPts val="0"/>
              </a:spcAft>
              <a:buNone/>
            </a:pPr>
            <a:r>
              <a:rPr lang="en-US" sz="2600">
                <a:solidFill>
                  <a:srgbClr val="4E3629"/>
                </a:solidFill>
                <a:latin typeface="Calibri"/>
                <a:ea typeface="Calibri"/>
                <a:cs typeface="Calibri"/>
                <a:sym typeface="Calibri"/>
              </a:rPr>
              <a:t>hacer un seguimiento del siglo al que hace referencia una fecha</a:t>
            </a:r>
            <a:endParaRPr sz="26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92112" y="-270206"/>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Tipos de Dato</a:t>
            </a:r>
            <a:endParaRPr/>
          </a:p>
        </p:txBody>
      </p:sp>
      <p:sp>
        <p:nvSpPr>
          <p:cNvPr id="100" name="Google Shape;100;p18"/>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101" name="Google Shape;101;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2" name="Google Shape;102;p1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03" name="Google Shape;103;p18"/>
          <p:cNvSpPr txBox="1"/>
          <p:nvPr/>
        </p:nvSpPr>
        <p:spPr>
          <a:xfrm>
            <a:off x="483552" y="759892"/>
            <a:ext cx="7799700" cy="5447700"/>
          </a:xfrm>
          <a:prstGeom prst="rect">
            <a:avLst/>
          </a:prstGeom>
          <a:noFill/>
          <a:ln>
            <a:noFill/>
          </a:ln>
        </p:spPr>
        <p:txBody>
          <a:bodyPr anchorCtr="0" anchor="t" bIns="0" lIns="0" spcFirstLastPara="1" rIns="0" wrap="square" tIns="59675">
            <a:spAutoFit/>
          </a:bodyPr>
          <a:lstStyle/>
          <a:p>
            <a:pPr indent="-177800" lvl="0" marL="182880" marR="12065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se crea una tabla para una base de datos, el 	programador SQL debe definir qué tipo de dato se 	almacenará en cada uno de los campos de la tabla</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SQL, hay diferentes tipos de dato. Estos tipos de 	dato definen el dominio de valores que puede incluir 	cada columna</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esta lección, utilizará:</a:t>
            </a:r>
            <a:endParaRPr sz="2800">
              <a:latin typeface="Calibri"/>
              <a:ea typeface="Calibri"/>
              <a:cs typeface="Calibri"/>
              <a:sym typeface="Calibri"/>
            </a:endParaRPr>
          </a:p>
          <a:p>
            <a:pPr indent="0" lvl="0" marL="355600" rtl="0" algn="l">
              <a:lnSpc>
                <a:spcPct val="100000"/>
              </a:lnSpc>
              <a:spcBef>
                <a:spcPts val="14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VARCHAR2</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CHAR</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NUMBER</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DATE</a:t>
            </a:r>
            <a:endParaRPr sz="24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92112" y="748031"/>
            <a:ext cx="496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Descripción de Tipos de Dato</a:t>
            </a:r>
            <a:endParaRPr/>
          </a:p>
        </p:txBody>
      </p:sp>
      <p:sp>
        <p:nvSpPr>
          <p:cNvPr id="109" name="Google Shape;109;p19"/>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110" name="Google Shape;110;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1" name="Google Shape;111;p1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12" name="Google Shape;112;p19"/>
          <p:cNvSpPr txBox="1"/>
          <p:nvPr/>
        </p:nvSpPr>
        <p:spPr>
          <a:xfrm>
            <a:off x="483552" y="1415417"/>
            <a:ext cx="7998459" cy="2474595"/>
          </a:xfrm>
          <a:prstGeom prst="rect">
            <a:avLst/>
          </a:prstGeom>
          <a:noFill/>
          <a:ln>
            <a:noFill/>
          </a:ln>
        </p:spPr>
        <p:txBody>
          <a:bodyPr anchorCtr="0" anchor="t" bIns="0" lIns="0" spcFirstLastPara="1" rIns="0" wrap="square" tIns="59675">
            <a:spAutoFit/>
          </a:bodyPr>
          <a:lstStyle/>
          <a:p>
            <a:pPr indent="-177800" lvl="0" marL="182880" marR="558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VARCHAR2: se utiliza para datos de caracteres de 	longitud variable, incluidos los números, los guiones y 	los caracteres especiales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CHAR: se utiliza para datos de texto y de caracteres de 	longitud fija, incluidos los números, los guiones y los 	caracteres especiales</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92112" y="748031"/>
            <a:ext cx="496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Descripción de Tipos de Dato</a:t>
            </a:r>
            <a:endParaRPr/>
          </a:p>
        </p:txBody>
      </p:sp>
      <p:sp>
        <p:nvSpPr>
          <p:cNvPr id="118" name="Google Shape;118;p20"/>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119" name="Google Shape;119;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0" name="Google Shape;120;p2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21" name="Google Shape;121;p20"/>
          <p:cNvSpPr txBox="1"/>
          <p:nvPr/>
        </p:nvSpPr>
        <p:spPr>
          <a:xfrm>
            <a:off x="483552" y="1415417"/>
            <a:ext cx="8183880" cy="32429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NUMBER: se utiliza para almacenar datos numéricos de 	longitud variable. No se permiten guiones, texto u 	otros datos no numéricos. La moneda se almacena 	como tipo de dato numérico</a:t>
            </a:r>
            <a:endParaRPr sz="2800">
              <a:latin typeface="Calibri"/>
              <a:ea typeface="Calibri"/>
              <a:cs typeface="Calibri"/>
              <a:sym typeface="Calibri"/>
            </a:endParaRPr>
          </a:p>
          <a:p>
            <a:pPr indent="-177800" lvl="0" marL="182880" marR="21272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DATE: se utiliza para valores de fecha y hora. 	Internamente, Oracle almacena las fechas como 	números y, por defecto, se muestra información de 	DATE como DD-Mes-YYYY (por ejemplo,	23-Oct-2013)</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409187" y="-6"/>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Conversión de Tipo</a:t>
            </a:r>
            <a:endParaRPr/>
          </a:p>
        </p:txBody>
      </p:sp>
      <p:sp>
        <p:nvSpPr>
          <p:cNvPr id="127" name="Google Shape;127;p21"/>
          <p:cNvSpPr txBox="1"/>
          <p:nvPr/>
        </p:nvSpPr>
        <p:spPr>
          <a:xfrm>
            <a:off x="500625" y="1030100"/>
            <a:ext cx="8027700" cy="24588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Oracle Server puede convertir automáticamente datos 	VARCHAR2 y CHAR en tipos de dato NUMBER y DATE</a:t>
            </a:r>
            <a:endParaRPr sz="2800">
              <a:latin typeface="Calibri"/>
              <a:ea typeface="Calibri"/>
              <a:cs typeface="Calibri"/>
              <a:sym typeface="Calibri"/>
            </a:endParaRPr>
          </a:p>
          <a:p>
            <a:pPr indent="-177800" lvl="0" marL="182880" marR="65786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convertir datos de tipo NUMBER y DATE de 	nuevo en un tipo de dato CHARACTER</a:t>
            </a:r>
            <a:endParaRPr sz="2800">
              <a:latin typeface="Calibri"/>
              <a:ea typeface="Calibri"/>
              <a:cs typeface="Calibri"/>
              <a:sym typeface="Calibri"/>
            </a:endParaRPr>
          </a:p>
        </p:txBody>
      </p:sp>
      <p:sp>
        <p:nvSpPr>
          <p:cNvPr id="128" name="Google Shape;128;p21"/>
          <p:cNvSpPr txBox="1"/>
          <p:nvPr/>
        </p:nvSpPr>
        <p:spPr>
          <a:xfrm>
            <a:off x="500627" y="3480200"/>
            <a:ext cx="3839700" cy="44310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esto se le conoce como</a:t>
            </a:r>
            <a:endParaRPr sz="2800">
              <a:latin typeface="Calibri"/>
              <a:ea typeface="Calibri"/>
              <a:cs typeface="Calibri"/>
              <a:sym typeface="Calibri"/>
            </a:endParaRPr>
          </a:p>
        </p:txBody>
      </p:sp>
      <p:sp>
        <p:nvSpPr>
          <p:cNvPr id="129" name="Google Shape;129;p21"/>
          <p:cNvSpPr txBox="1"/>
          <p:nvPr/>
        </p:nvSpPr>
        <p:spPr>
          <a:xfrm>
            <a:off x="685689" y="3799748"/>
            <a:ext cx="42189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solidFill>
                  <a:srgbClr val="4E3629"/>
                </a:solidFill>
                <a:latin typeface="Calibri"/>
                <a:ea typeface="Calibri"/>
                <a:cs typeface="Calibri"/>
                <a:sym typeface="Calibri"/>
              </a:rPr>
              <a:t>conversión de datos implícita</a:t>
            </a:r>
            <a:endParaRPr sz="2800">
              <a:latin typeface="Calibri"/>
              <a:ea typeface="Calibri"/>
              <a:cs typeface="Calibri"/>
              <a:sym typeface="Calibri"/>
            </a:endParaRPr>
          </a:p>
        </p:txBody>
      </p:sp>
      <p:sp>
        <p:nvSpPr>
          <p:cNvPr id="130" name="Google Shape;130;p21"/>
          <p:cNvSpPr txBox="1"/>
          <p:nvPr/>
        </p:nvSpPr>
        <p:spPr>
          <a:xfrm>
            <a:off x="5442203" y="3447288"/>
            <a:ext cx="1706880" cy="710565"/>
          </a:xfrm>
          <a:prstGeom prst="rect">
            <a:avLst/>
          </a:prstGeom>
          <a:solidFill>
            <a:srgbClr val="D1350F"/>
          </a:solidFill>
          <a:ln cap="flat" cmpd="sng" w="12700">
            <a:solidFill>
              <a:srgbClr val="992307"/>
            </a:solidFill>
            <a:prstDash val="solid"/>
            <a:round/>
            <a:headEnd len="sm" w="sm" type="none"/>
            <a:tailEnd len="sm" w="sm" type="none"/>
          </a:ln>
        </p:spPr>
        <p:txBody>
          <a:bodyPr anchorCtr="0" anchor="t" bIns="0" lIns="0" spcFirstLastPara="1" rIns="0" wrap="square" tIns="34275">
            <a:spAutoFit/>
          </a:bodyPr>
          <a:lstStyle/>
          <a:p>
            <a:pPr indent="-108585" lvl="0" marL="180975" marR="65405" rtl="0" algn="l">
              <a:lnSpc>
                <a:spcPct val="100000"/>
              </a:lnSpc>
              <a:spcBef>
                <a:spcPts val="0"/>
              </a:spcBef>
              <a:spcAft>
                <a:spcPts val="0"/>
              </a:spcAft>
              <a:buNone/>
            </a:pPr>
            <a:r>
              <a:rPr b="1" lang="en-US" sz="2000">
                <a:solidFill>
                  <a:srgbClr val="FFFFFF"/>
                </a:solidFill>
                <a:latin typeface="Calibri"/>
                <a:ea typeface="Calibri"/>
                <a:cs typeface="Calibri"/>
                <a:sym typeface="Calibri"/>
              </a:rPr>
              <a:t>Conversión del Tipo de Dato</a:t>
            </a:r>
            <a:endParaRPr sz="2000">
              <a:latin typeface="Calibri"/>
              <a:ea typeface="Calibri"/>
              <a:cs typeface="Calibri"/>
              <a:sym typeface="Calibri"/>
            </a:endParaRPr>
          </a:p>
        </p:txBody>
      </p:sp>
      <p:sp>
        <p:nvSpPr>
          <p:cNvPr id="131" name="Google Shape;131;p21"/>
          <p:cNvSpPr txBox="1"/>
          <p:nvPr/>
        </p:nvSpPr>
        <p:spPr>
          <a:xfrm>
            <a:off x="4076700" y="5154167"/>
            <a:ext cx="2124710" cy="709930"/>
          </a:xfrm>
          <a:prstGeom prst="rect">
            <a:avLst/>
          </a:prstGeom>
          <a:solidFill>
            <a:srgbClr val="D1350F"/>
          </a:solidFill>
          <a:ln cap="flat" cmpd="sng" w="12700">
            <a:solidFill>
              <a:srgbClr val="992307"/>
            </a:solidFill>
            <a:prstDash val="solid"/>
            <a:round/>
            <a:headEnd len="sm" w="sm" type="none"/>
            <a:tailEnd len="sm" w="sm" type="none"/>
          </a:ln>
        </p:spPr>
        <p:txBody>
          <a:bodyPr anchorCtr="0" anchor="t" bIns="0" lIns="0" spcFirstLastPara="1" rIns="0" wrap="square" tIns="31750">
            <a:spAutoFit/>
          </a:bodyPr>
          <a:lstStyle/>
          <a:p>
            <a:pPr indent="-108585" lvl="0" marL="161290" marR="45085" rtl="0" algn="l">
              <a:lnSpc>
                <a:spcPct val="100000"/>
              </a:lnSpc>
              <a:spcBef>
                <a:spcPts val="0"/>
              </a:spcBef>
              <a:spcAft>
                <a:spcPts val="0"/>
              </a:spcAft>
              <a:buNone/>
            </a:pPr>
            <a:r>
              <a:rPr b="1" lang="en-US" sz="2000">
                <a:solidFill>
                  <a:srgbClr val="FFFFFF"/>
                </a:solidFill>
                <a:latin typeface="Calibri"/>
                <a:ea typeface="Calibri"/>
                <a:cs typeface="Calibri"/>
                <a:sym typeface="Calibri"/>
              </a:rPr>
              <a:t>Conversión de Tipo de Dato Implícita</a:t>
            </a:r>
            <a:endParaRPr sz="2000">
              <a:latin typeface="Calibri"/>
              <a:ea typeface="Calibri"/>
              <a:cs typeface="Calibri"/>
              <a:sym typeface="Calibri"/>
            </a:endParaRPr>
          </a:p>
        </p:txBody>
      </p:sp>
      <p:sp>
        <p:nvSpPr>
          <p:cNvPr id="132" name="Google Shape;132;p21"/>
          <p:cNvSpPr txBox="1"/>
          <p:nvPr/>
        </p:nvSpPr>
        <p:spPr>
          <a:xfrm>
            <a:off x="6417564" y="5154167"/>
            <a:ext cx="2110740" cy="709930"/>
          </a:xfrm>
          <a:prstGeom prst="rect">
            <a:avLst/>
          </a:prstGeom>
          <a:solidFill>
            <a:srgbClr val="D1350F"/>
          </a:solidFill>
          <a:ln cap="flat" cmpd="sng" w="12700">
            <a:solidFill>
              <a:srgbClr val="992307"/>
            </a:solidFill>
            <a:prstDash val="solid"/>
            <a:round/>
            <a:headEnd len="sm" w="sm" type="none"/>
            <a:tailEnd len="sm" w="sm" type="none"/>
          </a:ln>
        </p:spPr>
        <p:txBody>
          <a:bodyPr anchorCtr="0" anchor="t" bIns="0" lIns="0" spcFirstLastPara="1" rIns="0" wrap="square" tIns="35550">
            <a:spAutoFit/>
          </a:bodyPr>
          <a:lstStyle/>
          <a:p>
            <a:pPr indent="-127000" lvl="0" marL="171450" marR="39370" rtl="0" algn="l">
              <a:lnSpc>
                <a:spcPct val="100000"/>
              </a:lnSpc>
              <a:spcBef>
                <a:spcPts val="0"/>
              </a:spcBef>
              <a:spcAft>
                <a:spcPts val="0"/>
              </a:spcAft>
              <a:buNone/>
            </a:pPr>
            <a:r>
              <a:rPr b="1" lang="en-US" sz="2000">
                <a:solidFill>
                  <a:srgbClr val="FFFFFF"/>
                </a:solidFill>
                <a:latin typeface="Calibri"/>
                <a:ea typeface="Calibri"/>
                <a:cs typeface="Calibri"/>
                <a:sym typeface="Calibri"/>
              </a:rPr>
              <a:t>Conversión de Tipo de Dato Explícita</a:t>
            </a:r>
            <a:endParaRPr sz="2000">
              <a:latin typeface="Calibri"/>
              <a:ea typeface="Calibri"/>
              <a:cs typeface="Calibri"/>
              <a:sym typeface="Calibri"/>
            </a:endParaRPr>
          </a:p>
        </p:txBody>
      </p:sp>
      <p:grpSp>
        <p:nvGrpSpPr>
          <p:cNvPr id="133" name="Google Shape;133;p21"/>
          <p:cNvGrpSpPr/>
          <p:nvPr/>
        </p:nvGrpSpPr>
        <p:grpSpPr>
          <a:xfrm>
            <a:off x="5139690" y="4158234"/>
            <a:ext cx="2334768" cy="998982"/>
            <a:chOff x="5139690" y="4158234"/>
            <a:chExt cx="2334768" cy="998982"/>
          </a:xfrm>
        </p:grpSpPr>
        <p:sp>
          <p:nvSpPr>
            <p:cNvPr id="134" name="Google Shape;134;p21"/>
            <p:cNvSpPr/>
            <p:nvPr/>
          </p:nvSpPr>
          <p:spPr>
            <a:xfrm>
              <a:off x="5139690" y="4711446"/>
              <a:ext cx="2334260" cy="441325"/>
            </a:xfrm>
            <a:custGeom>
              <a:rect b="b" l="l" r="r" t="t"/>
              <a:pathLst>
                <a:path extrusionOk="0" h="441325" w="2334259">
                  <a:moveTo>
                    <a:pt x="0" y="0"/>
                  </a:moveTo>
                  <a:lnTo>
                    <a:pt x="2334133" y="0"/>
                  </a:lnTo>
                </a:path>
                <a:path extrusionOk="0" h="441325" w="2334259">
                  <a:moveTo>
                    <a:pt x="0" y="0"/>
                  </a:moveTo>
                  <a:lnTo>
                    <a:pt x="0" y="441159"/>
                  </a:lnTo>
                </a:path>
              </a:pathLst>
            </a:custGeom>
            <a:noFill/>
            <a:ln cap="flat" cmpd="sng" w="2857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5" name="Google Shape;135;p21"/>
            <p:cNvSpPr/>
            <p:nvPr/>
          </p:nvSpPr>
          <p:spPr>
            <a:xfrm>
              <a:off x="7474458" y="4711446"/>
              <a:ext cx="0" cy="445770"/>
            </a:xfrm>
            <a:custGeom>
              <a:rect b="b" l="l" r="r" t="t"/>
              <a:pathLst>
                <a:path extrusionOk="0" h="445770" w="120000">
                  <a:moveTo>
                    <a:pt x="0" y="0"/>
                  </a:moveTo>
                  <a:lnTo>
                    <a:pt x="0" y="445173"/>
                  </a:lnTo>
                </a:path>
              </a:pathLst>
            </a:custGeom>
            <a:noFill/>
            <a:ln cap="flat" cmpd="sng" w="2857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6" name="Google Shape;136;p21"/>
            <p:cNvSpPr/>
            <p:nvPr/>
          </p:nvSpPr>
          <p:spPr>
            <a:xfrm>
              <a:off x="6296406" y="4158234"/>
              <a:ext cx="10160" cy="553720"/>
            </a:xfrm>
            <a:custGeom>
              <a:rect b="b" l="l" r="r" t="t"/>
              <a:pathLst>
                <a:path extrusionOk="0" h="553720" w="10160">
                  <a:moveTo>
                    <a:pt x="0" y="0"/>
                  </a:moveTo>
                  <a:lnTo>
                    <a:pt x="10033" y="553453"/>
                  </a:lnTo>
                </a:path>
              </a:pathLst>
            </a:custGeom>
            <a:noFill/>
            <a:ln cap="flat" cmpd="sng" w="2857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37" name="Google Shape;137;p21"/>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138" name="Google Shape;138;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9" name="Google Shape;139;p2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Conversión de Tipo</a:t>
            </a:r>
            <a:endParaRPr/>
          </a:p>
        </p:txBody>
      </p:sp>
      <p:sp>
        <p:nvSpPr>
          <p:cNvPr id="145" name="Google Shape;145;p22"/>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146" name="Google Shape;146;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7" name="Google Shape;147;p22"/>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48" name="Google Shape;148;p22"/>
          <p:cNvSpPr txBox="1"/>
          <p:nvPr/>
        </p:nvSpPr>
        <p:spPr>
          <a:xfrm>
            <a:off x="483552" y="1415417"/>
            <a:ext cx="7840980" cy="232727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Aunque esto es una característica útil, siempre es 	mejor realizar conversiones de tipo de dato explícitas 	para garantizar la fiabilidad en las sentencias SQL</a:t>
            </a:r>
            <a:endParaRPr sz="2800">
              <a:latin typeface="Calibri"/>
              <a:ea typeface="Calibri"/>
              <a:cs typeface="Calibri"/>
              <a:sym typeface="Calibri"/>
            </a:endParaRPr>
          </a:p>
          <a:p>
            <a:pPr indent="0" lvl="0" marL="0" rtl="0" algn="l">
              <a:lnSpc>
                <a:spcPct val="100000"/>
              </a:lnSpc>
              <a:spcBef>
                <a:spcPts val="2365"/>
              </a:spcBef>
              <a:spcAft>
                <a:spcPts val="0"/>
              </a:spcAft>
              <a:buNone/>
            </a:pPr>
            <a:r>
              <a:t/>
            </a:r>
            <a:endParaRPr sz="2800">
              <a:latin typeface="Calibri"/>
              <a:ea typeface="Calibri"/>
              <a:cs typeface="Calibri"/>
              <a:sym typeface="Calibri"/>
            </a:endParaRPr>
          </a:p>
          <a:p>
            <a:pPr indent="0" lvl="0" marL="379095" rtl="0" algn="ctr">
              <a:lnSpc>
                <a:spcPct val="100000"/>
              </a:lnSpc>
              <a:spcBef>
                <a:spcPts val="0"/>
              </a:spcBef>
              <a:spcAft>
                <a:spcPts val="0"/>
              </a:spcAft>
              <a:buNone/>
            </a:pPr>
            <a:r>
              <a:rPr lang="en-US" sz="2400">
                <a:solidFill>
                  <a:srgbClr val="4E3629"/>
                </a:solidFill>
                <a:latin typeface="Calibri"/>
                <a:ea typeface="Calibri"/>
                <a:cs typeface="Calibri"/>
                <a:sym typeface="Calibri"/>
              </a:rPr>
              <a:t>Conversiones de tipos de dato implícitas</a:t>
            </a:r>
            <a:endParaRPr sz="2400">
              <a:latin typeface="Calibri"/>
              <a:ea typeface="Calibri"/>
              <a:cs typeface="Calibri"/>
              <a:sym typeface="Calibri"/>
            </a:endParaRPr>
          </a:p>
        </p:txBody>
      </p:sp>
      <p:graphicFrame>
        <p:nvGraphicFramePr>
          <p:cNvPr id="149" name="Google Shape;149;p22"/>
          <p:cNvGraphicFramePr/>
          <p:nvPr/>
        </p:nvGraphicFramePr>
        <p:xfrm>
          <a:off x="1813930" y="3860976"/>
          <a:ext cx="3000000" cy="3000000"/>
        </p:xfrm>
        <a:graphic>
          <a:graphicData uri="http://schemas.openxmlformats.org/drawingml/2006/table">
            <a:tbl>
              <a:tblPr bandRow="1" firstRow="1">
                <a:noFill/>
                <a:tableStyleId>{22F0BE96-B600-4196-B546-7D2FCBCF95F3}</a:tableStyleId>
              </a:tblPr>
              <a:tblGrid>
                <a:gridCol w="2802250"/>
                <a:gridCol w="2701300"/>
              </a:tblGrid>
              <a:tr h="371475">
                <a:tc>
                  <a:txBody>
                    <a:bodyPr/>
                    <a:lstStyle/>
                    <a:p>
                      <a:pPr indent="0" lvl="0" marL="6858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FROM</a:t>
                      </a:r>
                      <a:endParaRPr sz="18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6794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TO</a:t>
                      </a:r>
                      <a:endParaRPr sz="18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47975">
                <a:tc>
                  <a:txBody>
                    <a:bodyPr/>
                    <a:lstStyle/>
                    <a:p>
                      <a:pPr indent="0" lvl="0" marL="6858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VARCHAR2 or CHAR</a:t>
                      </a:r>
                      <a:endParaRPr sz="1600" u="none" cap="none" strike="noStrike">
                        <a:latin typeface="Calibri"/>
                        <a:ea typeface="Calibri"/>
                        <a:cs typeface="Calibri"/>
                        <a:sym typeface="Calibri"/>
                      </a:endParaRPr>
                    </a:p>
                  </a:txBody>
                  <a:tcPr marT="4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794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NUMBER</a:t>
                      </a:r>
                      <a:endParaRPr sz="1600" u="none" cap="none" strike="noStrike">
                        <a:latin typeface="Calibri"/>
                        <a:ea typeface="Calibri"/>
                        <a:cs typeface="Calibri"/>
                        <a:sym typeface="Calibri"/>
                      </a:endParaRPr>
                    </a:p>
                  </a:txBody>
                  <a:tcPr marT="4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58775">
                <a:tc>
                  <a:txBody>
                    <a:bodyPr/>
                    <a:lstStyle/>
                    <a:p>
                      <a:pPr indent="0" lvl="0" marL="6858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VARCHAR2 or CHAR</a:t>
                      </a:r>
                      <a:endParaRPr sz="1600" u="none" cap="none" strike="noStrike">
                        <a:latin typeface="Calibri"/>
                        <a:ea typeface="Calibri"/>
                        <a:cs typeface="Calibri"/>
                        <a:sym typeface="Calibri"/>
                      </a:endParaRPr>
                    </a:p>
                  </a:txBody>
                  <a:tcPr marT="46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794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DATE</a:t>
                      </a:r>
                      <a:endParaRPr sz="1600" u="none" cap="none" strike="noStrike">
                        <a:latin typeface="Calibri"/>
                        <a:ea typeface="Calibri"/>
                        <a:cs typeface="Calibri"/>
                        <a:sym typeface="Calibri"/>
                      </a:endParaRPr>
                    </a:p>
                  </a:txBody>
                  <a:tcPr marT="46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7175">
                <a:tc>
                  <a:txBody>
                    <a:bodyPr/>
                    <a:lstStyle/>
                    <a:p>
                      <a:pPr indent="0" lvl="0" marL="6858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NUMBER</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794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VARCHAR2</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5600">
                <a:tc>
                  <a:txBody>
                    <a:bodyPr/>
                    <a:lstStyle/>
                    <a:p>
                      <a:pPr indent="0" lvl="0" marL="6858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DATE</a:t>
                      </a:r>
                      <a:endParaRPr sz="1600" u="none" cap="none" strike="noStrike">
                        <a:latin typeface="Calibri"/>
                        <a:ea typeface="Calibri"/>
                        <a:cs typeface="Calibri"/>
                        <a:sym typeface="Calibri"/>
                      </a:endParaRPr>
                    </a:p>
                  </a:txBody>
                  <a:tcPr marT="2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794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VARCHAR2</a:t>
                      </a:r>
                      <a:endParaRPr sz="1600" u="none" cap="none" strike="noStrike">
                        <a:latin typeface="Calibri"/>
                        <a:ea typeface="Calibri"/>
                        <a:cs typeface="Calibri"/>
                        <a:sym typeface="Calibri"/>
                      </a:endParaRPr>
                    </a:p>
                  </a:txBody>
                  <a:tcPr marT="2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Conversión de Tipo</a:t>
            </a:r>
            <a:endParaRPr/>
          </a:p>
        </p:txBody>
      </p:sp>
      <p:grpSp>
        <p:nvGrpSpPr>
          <p:cNvPr id="155" name="Google Shape;155;p23"/>
          <p:cNvGrpSpPr/>
          <p:nvPr/>
        </p:nvGrpSpPr>
        <p:grpSpPr>
          <a:xfrm>
            <a:off x="2766822" y="4033265"/>
            <a:ext cx="3709924" cy="1734820"/>
            <a:chOff x="2766822" y="4033265"/>
            <a:chExt cx="3709924" cy="1734820"/>
          </a:xfrm>
        </p:grpSpPr>
        <p:sp>
          <p:nvSpPr>
            <p:cNvPr id="156" name="Google Shape;156;p23"/>
            <p:cNvSpPr/>
            <p:nvPr/>
          </p:nvSpPr>
          <p:spPr>
            <a:xfrm>
              <a:off x="2766822" y="4033265"/>
              <a:ext cx="1670685" cy="1734820"/>
            </a:xfrm>
            <a:custGeom>
              <a:rect b="b" l="l" r="r" t="t"/>
              <a:pathLst>
                <a:path extrusionOk="0" h="1734820" w="1670685">
                  <a:moveTo>
                    <a:pt x="0" y="867155"/>
                  </a:moveTo>
                  <a:lnTo>
                    <a:pt x="1322" y="817948"/>
                  </a:lnTo>
                  <a:lnTo>
                    <a:pt x="5241" y="769461"/>
                  </a:lnTo>
                  <a:lnTo>
                    <a:pt x="11687" y="721767"/>
                  </a:lnTo>
                  <a:lnTo>
                    <a:pt x="20589" y="674939"/>
                  </a:lnTo>
                  <a:lnTo>
                    <a:pt x="31876" y="629052"/>
                  </a:lnTo>
                  <a:lnTo>
                    <a:pt x="45479" y="584177"/>
                  </a:lnTo>
                  <a:lnTo>
                    <a:pt x="61326" y="540388"/>
                  </a:lnTo>
                  <a:lnTo>
                    <a:pt x="79347" y="497759"/>
                  </a:lnTo>
                  <a:lnTo>
                    <a:pt x="99472" y="456362"/>
                  </a:lnTo>
                  <a:lnTo>
                    <a:pt x="121630" y="416271"/>
                  </a:lnTo>
                  <a:lnTo>
                    <a:pt x="145751" y="377559"/>
                  </a:lnTo>
                  <a:lnTo>
                    <a:pt x="171764" y="340299"/>
                  </a:lnTo>
                  <a:lnTo>
                    <a:pt x="199598" y="304565"/>
                  </a:lnTo>
                  <a:lnTo>
                    <a:pt x="229184" y="270429"/>
                  </a:lnTo>
                  <a:lnTo>
                    <a:pt x="260450" y="237965"/>
                  </a:lnTo>
                  <a:lnTo>
                    <a:pt x="293326" y="207246"/>
                  </a:lnTo>
                  <a:lnTo>
                    <a:pt x="327741" y="178345"/>
                  </a:lnTo>
                  <a:lnTo>
                    <a:pt x="363626" y="151336"/>
                  </a:lnTo>
                  <a:lnTo>
                    <a:pt x="400909" y="126291"/>
                  </a:lnTo>
                  <a:lnTo>
                    <a:pt x="439521" y="103284"/>
                  </a:lnTo>
                  <a:lnTo>
                    <a:pt x="479389" y="82388"/>
                  </a:lnTo>
                  <a:lnTo>
                    <a:pt x="520445" y="63676"/>
                  </a:lnTo>
                  <a:lnTo>
                    <a:pt x="562618" y="47221"/>
                  </a:lnTo>
                  <a:lnTo>
                    <a:pt x="605836" y="33097"/>
                  </a:lnTo>
                  <a:lnTo>
                    <a:pt x="650030" y="21377"/>
                  </a:lnTo>
                  <a:lnTo>
                    <a:pt x="695129" y="12134"/>
                  </a:lnTo>
                  <a:lnTo>
                    <a:pt x="741063" y="5442"/>
                  </a:lnTo>
                  <a:lnTo>
                    <a:pt x="787760" y="1372"/>
                  </a:lnTo>
                  <a:lnTo>
                    <a:pt x="835152" y="0"/>
                  </a:lnTo>
                  <a:lnTo>
                    <a:pt x="882543" y="1372"/>
                  </a:lnTo>
                  <a:lnTo>
                    <a:pt x="929240" y="5442"/>
                  </a:lnTo>
                  <a:lnTo>
                    <a:pt x="975174" y="12134"/>
                  </a:lnTo>
                  <a:lnTo>
                    <a:pt x="1020273" y="21377"/>
                  </a:lnTo>
                  <a:lnTo>
                    <a:pt x="1064467" y="33097"/>
                  </a:lnTo>
                  <a:lnTo>
                    <a:pt x="1107685" y="47221"/>
                  </a:lnTo>
                  <a:lnTo>
                    <a:pt x="1149858" y="63676"/>
                  </a:lnTo>
                  <a:lnTo>
                    <a:pt x="1190914" y="82388"/>
                  </a:lnTo>
                  <a:lnTo>
                    <a:pt x="1230782" y="103284"/>
                  </a:lnTo>
                  <a:lnTo>
                    <a:pt x="1269394" y="126291"/>
                  </a:lnTo>
                  <a:lnTo>
                    <a:pt x="1306677" y="151336"/>
                  </a:lnTo>
                  <a:lnTo>
                    <a:pt x="1342562" y="178345"/>
                  </a:lnTo>
                  <a:lnTo>
                    <a:pt x="1376977" y="207246"/>
                  </a:lnTo>
                  <a:lnTo>
                    <a:pt x="1409853" y="237965"/>
                  </a:lnTo>
                  <a:lnTo>
                    <a:pt x="1441119" y="270429"/>
                  </a:lnTo>
                  <a:lnTo>
                    <a:pt x="1470705" y="304565"/>
                  </a:lnTo>
                  <a:lnTo>
                    <a:pt x="1498539" y="340299"/>
                  </a:lnTo>
                  <a:lnTo>
                    <a:pt x="1524552" y="377559"/>
                  </a:lnTo>
                  <a:lnTo>
                    <a:pt x="1548673" y="416271"/>
                  </a:lnTo>
                  <a:lnTo>
                    <a:pt x="1570831" y="456362"/>
                  </a:lnTo>
                  <a:lnTo>
                    <a:pt x="1590956" y="497759"/>
                  </a:lnTo>
                  <a:lnTo>
                    <a:pt x="1608977" y="540388"/>
                  </a:lnTo>
                  <a:lnTo>
                    <a:pt x="1624824" y="584177"/>
                  </a:lnTo>
                  <a:lnTo>
                    <a:pt x="1638427" y="629052"/>
                  </a:lnTo>
                  <a:lnTo>
                    <a:pt x="1649714" y="674939"/>
                  </a:lnTo>
                  <a:lnTo>
                    <a:pt x="1658616" y="721767"/>
                  </a:lnTo>
                  <a:lnTo>
                    <a:pt x="1665062" y="769461"/>
                  </a:lnTo>
                  <a:lnTo>
                    <a:pt x="1668981" y="817948"/>
                  </a:lnTo>
                  <a:lnTo>
                    <a:pt x="1670304" y="867155"/>
                  </a:lnTo>
                  <a:lnTo>
                    <a:pt x="1668981" y="916363"/>
                  </a:lnTo>
                  <a:lnTo>
                    <a:pt x="1665062" y="964850"/>
                  </a:lnTo>
                  <a:lnTo>
                    <a:pt x="1658616" y="1012544"/>
                  </a:lnTo>
                  <a:lnTo>
                    <a:pt x="1649714" y="1059372"/>
                  </a:lnTo>
                  <a:lnTo>
                    <a:pt x="1638427" y="1105259"/>
                  </a:lnTo>
                  <a:lnTo>
                    <a:pt x="1624824" y="1150134"/>
                  </a:lnTo>
                  <a:lnTo>
                    <a:pt x="1608977" y="1193923"/>
                  </a:lnTo>
                  <a:lnTo>
                    <a:pt x="1590956" y="1236552"/>
                  </a:lnTo>
                  <a:lnTo>
                    <a:pt x="1570831" y="1277949"/>
                  </a:lnTo>
                  <a:lnTo>
                    <a:pt x="1548673" y="1318040"/>
                  </a:lnTo>
                  <a:lnTo>
                    <a:pt x="1524552" y="1356752"/>
                  </a:lnTo>
                  <a:lnTo>
                    <a:pt x="1498539" y="1394012"/>
                  </a:lnTo>
                  <a:lnTo>
                    <a:pt x="1470705" y="1429746"/>
                  </a:lnTo>
                  <a:lnTo>
                    <a:pt x="1441119" y="1463882"/>
                  </a:lnTo>
                  <a:lnTo>
                    <a:pt x="1409853" y="1496346"/>
                  </a:lnTo>
                  <a:lnTo>
                    <a:pt x="1376977" y="1527065"/>
                  </a:lnTo>
                  <a:lnTo>
                    <a:pt x="1342562" y="1555966"/>
                  </a:lnTo>
                  <a:lnTo>
                    <a:pt x="1306677" y="1582975"/>
                  </a:lnTo>
                  <a:lnTo>
                    <a:pt x="1269394" y="1608020"/>
                  </a:lnTo>
                  <a:lnTo>
                    <a:pt x="1230782" y="1631027"/>
                  </a:lnTo>
                  <a:lnTo>
                    <a:pt x="1190914" y="1651923"/>
                  </a:lnTo>
                  <a:lnTo>
                    <a:pt x="1149858" y="1670635"/>
                  </a:lnTo>
                  <a:lnTo>
                    <a:pt x="1107685" y="1687090"/>
                  </a:lnTo>
                  <a:lnTo>
                    <a:pt x="1064467" y="1701214"/>
                  </a:lnTo>
                  <a:lnTo>
                    <a:pt x="1020273" y="1712934"/>
                  </a:lnTo>
                  <a:lnTo>
                    <a:pt x="975174" y="1722177"/>
                  </a:lnTo>
                  <a:lnTo>
                    <a:pt x="929240" y="1728869"/>
                  </a:lnTo>
                  <a:lnTo>
                    <a:pt x="882543" y="1732939"/>
                  </a:lnTo>
                  <a:lnTo>
                    <a:pt x="835152" y="1734311"/>
                  </a:lnTo>
                  <a:lnTo>
                    <a:pt x="787760" y="1732939"/>
                  </a:lnTo>
                  <a:lnTo>
                    <a:pt x="741063" y="1728869"/>
                  </a:lnTo>
                  <a:lnTo>
                    <a:pt x="695129" y="1722177"/>
                  </a:lnTo>
                  <a:lnTo>
                    <a:pt x="650030" y="1712934"/>
                  </a:lnTo>
                  <a:lnTo>
                    <a:pt x="605836" y="1701214"/>
                  </a:lnTo>
                  <a:lnTo>
                    <a:pt x="562618" y="1687090"/>
                  </a:lnTo>
                  <a:lnTo>
                    <a:pt x="520445" y="1670635"/>
                  </a:lnTo>
                  <a:lnTo>
                    <a:pt x="479389" y="1651923"/>
                  </a:lnTo>
                  <a:lnTo>
                    <a:pt x="439521" y="1631027"/>
                  </a:lnTo>
                  <a:lnTo>
                    <a:pt x="400909" y="1608020"/>
                  </a:lnTo>
                  <a:lnTo>
                    <a:pt x="363626" y="1582975"/>
                  </a:lnTo>
                  <a:lnTo>
                    <a:pt x="327741" y="1555966"/>
                  </a:lnTo>
                  <a:lnTo>
                    <a:pt x="293326" y="1527065"/>
                  </a:lnTo>
                  <a:lnTo>
                    <a:pt x="260450" y="1496346"/>
                  </a:lnTo>
                  <a:lnTo>
                    <a:pt x="229184" y="1463882"/>
                  </a:lnTo>
                  <a:lnTo>
                    <a:pt x="199598" y="1429746"/>
                  </a:lnTo>
                  <a:lnTo>
                    <a:pt x="171764" y="1394012"/>
                  </a:lnTo>
                  <a:lnTo>
                    <a:pt x="145751" y="1356752"/>
                  </a:lnTo>
                  <a:lnTo>
                    <a:pt x="121630" y="1318040"/>
                  </a:lnTo>
                  <a:lnTo>
                    <a:pt x="99472" y="1277949"/>
                  </a:lnTo>
                  <a:lnTo>
                    <a:pt x="79347" y="1236552"/>
                  </a:lnTo>
                  <a:lnTo>
                    <a:pt x="61326" y="1193923"/>
                  </a:lnTo>
                  <a:lnTo>
                    <a:pt x="45479" y="1150134"/>
                  </a:lnTo>
                  <a:lnTo>
                    <a:pt x="31876" y="1105259"/>
                  </a:lnTo>
                  <a:lnTo>
                    <a:pt x="20589" y="1059372"/>
                  </a:lnTo>
                  <a:lnTo>
                    <a:pt x="11687" y="1012544"/>
                  </a:lnTo>
                  <a:lnTo>
                    <a:pt x="5241" y="964850"/>
                  </a:lnTo>
                  <a:lnTo>
                    <a:pt x="1322" y="916363"/>
                  </a:lnTo>
                  <a:lnTo>
                    <a:pt x="0" y="867155"/>
                  </a:lnTo>
                  <a:close/>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7" name="Google Shape;157;p23"/>
            <p:cNvSpPr/>
            <p:nvPr/>
          </p:nvSpPr>
          <p:spPr>
            <a:xfrm>
              <a:off x="4840986" y="4033265"/>
              <a:ext cx="1635760" cy="1734820"/>
            </a:xfrm>
            <a:custGeom>
              <a:rect b="b" l="l" r="r" t="t"/>
              <a:pathLst>
                <a:path extrusionOk="0" h="1734820" w="1635760">
                  <a:moveTo>
                    <a:pt x="0" y="867155"/>
                  </a:moveTo>
                  <a:lnTo>
                    <a:pt x="1294" y="817948"/>
                  </a:lnTo>
                  <a:lnTo>
                    <a:pt x="5131" y="769461"/>
                  </a:lnTo>
                  <a:lnTo>
                    <a:pt x="11441" y="721767"/>
                  </a:lnTo>
                  <a:lnTo>
                    <a:pt x="20156" y="674939"/>
                  </a:lnTo>
                  <a:lnTo>
                    <a:pt x="31207" y="629052"/>
                  </a:lnTo>
                  <a:lnTo>
                    <a:pt x="44524" y="584177"/>
                  </a:lnTo>
                  <a:lnTo>
                    <a:pt x="60039" y="540388"/>
                  </a:lnTo>
                  <a:lnTo>
                    <a:pt x="77682" y="497759"/>
                  </a:lnTo>
                  <a:lnTo>
                    <a:pt x="97385" y="456362"/>
                  </a:lnTo>
                  <a:lnTo>
                    <a:pt x="119078" y="416271"/>
                  </a:lnTo>
                  <a:lnTo>
                    <a:pt x="142692" y="377559"/>
                  </a:lnTo>
                  <a:lnTo>
                    <a:pt x="168159" y="340299"/>
                  </a:lnTo>
                  <a:lnTo>
                    <a:pt x="195409" y="304565"/>
                  </a:lnTo>
                  <a:lnTo>
                    <a:pt x="224373" y="270429"/>
                  </a:lnTo>
                  <a:lnTo>
                    <a:pt x="254983" y="237965"/>
                  </a:lnTo>
                  <a:lnTo>
                    <a:pt x="287169" y="207246"/>
                  </a:lnTo>
                  <a:lnTo>
                    <a:pt x="320863" y="178345"/>
                  </a:lnTo>
                  <a:lnTo>
                    <a:pt x="355994" y="151336"/>
                  </a:lnTo>
                  <a:lnTo>
                    <a:pt x="392495" y="126291"/>
                  </a:lnTo>
                  <a:lnTo>
                    <a:pt x="430296" y="103284"/>
                  </a:lnTo>
                  <a:lnTo>
                    <a:pt x="469328" y="82388"/>
                  </a:lnTo>
                  <a:lnTo>
                    <a:pt x="509523" y="63676"/>
                  </a:lnTo>
                  <a:lnTo>
                    <a:pt x="550810" y="47221"/>
                  </a:lnTo>
                  <a:lnTo>
                    <a:pt x="593122" y="33097"/>
                  </a:lnTo>
                  <a:lnTo>
                    <a:pt x="636389" y="21377"/>
                  </a:lnTo>
                  <a:lnTo>
                    <a:pt x="680541" y="12134"/>
                  </a:lnTo>
                  <a:lnTo>
                    <a:pt x="725511" y="5442"/>
                  </a:lnTo>
                  <a:lnTo>
                    <a:pt x="771229" y="1372"/>
                  </a:lnTo>
                  <a:lnTo>
                    <a:pt x="817626" y="0"/>
                  </a:lnTo>
                  <a:lnTo>
                    <a:pt x="864022" y="1372"/>
                  </a:lnTo>
                  <a:lnTo>
                    <a:pt x="909740" y="5442"/>
                  </a:lnTo>
                  <a:lnTo>
                    <a:pt x="954710" y="12134"/>
                  </a:lnTo>
                  <a:lnTo>
                    <a:pt x="998862" y="21377"/>
                  </a:lnTo>
                  <a:lnTo>
                    <a:pt x="1042129" y="33097"/>
                  </a:lnTo>
                  <a:lnTo>
                    <a:pt x="1084441" y="47221"/>
                  </a:lnTo>
                  <a:lnTo>
                    <a:pt x="1125728" y="63676"/>
                  </a:lnTo>
                  <a:lnTo>
                    <a:pt x="1165923" y="82388"/>
                  </a:lnTo>
                  <a:lnTo>
                    <a:pt x="1204955" y="103284"/>
                  </a:lnTo>
                  <a:lnTo>
                    <a:pt x="1242756" y="126291"/>
                  </a:lnTo>
                  <a:lnTo>
                    <a:pt x="1279257" y="151336"/>
                  </a:lnTo>
                  <a:lnTo>
                    <a:pt x="1314388" y="178345"/>
                  </a:lnTo>
                  <a:lnTo>
                    <a:pt x="1348082" y="207246"/>
                  </a:lnTo>
                  <a:lnTo>
                    <a:pt x="1380268" y="237965"/>
                  </a:lnTo>
                  <a:lnTo>
                    <a:pt x="1410878" y="270429"/>
                  </a:lnTo>
                  <a:lnTo>
                    <a:pt x="1439842" y="304565"/>
                  </a:lnTo>
                  <a:lnTo>
                    <a:pt x="1467092" y="340299"/>
                  </a:lnTo>
                  <a:lnTo>
                    <a:pt x="1492559" y="377559"/>
                  </a:lnTo>
                  <a:lnTo>
                    <a:pt x="1516173" y="416271"/>
                  </a:lnTo>
                  <a:lnTo>
                    <a:pt x="1537866" y="456362"/>
                  </a:lnTo>
                  <a:lnTo>
                    <a:pt x="1557569" y="497759"/>
                  </a:lnTo>
                  <a:lnTo>
                    <a:pt x="1575212" y="540388"/>
                  </a:lnTo>
                  <a:lnTo>
                    <a:pt x="1590727" y="584177"/>
                  </a:lnTo>
                  <a:lnTo>
                    <a:pt x="1604044" y="629052"/>
                  </a:lnTo>
                  <a:lnTo>
                    <a:pt x="1615095" y="674939"/>
                  </a:lnTo>
                  <a:lnTo>
                    <a:pt x="1623810" y="721767"/>
                  </a:lnTo>
                  <a:lnTo>
                    <a:pt x="1630120" y="769461"/>
                  </a:lnTo>
                  <a:lnTo>
                    <a:pt x="1633957" y="817948"/>
                  </a:lnTo>
                  <a:lnTo>
                    <a:pt x="1635252" y="867155"/>
                  </a:lnTo>
                  <a:lnTo>
                    <a:pt x="1633957" y="916363"/>
                  </a:lnTo>
                  <a:lnTo>
                    <a:pt x="1630120" y="964850"/>
                  </a:lnTo>
                  <a:lnTo>
                    <a:pt x="1623810" y="1012544"/>
                  </a:lnTo>
                  <a:lnTo>
                    <a:pt x="1615095" y="1059372"/>
                  </a:lnTo>
                  <a:lnTo>
                    <a:pt x="1604044" y="1105259"/>
                  </a:lnTo>
                  <a:lnTo>
                    <a:pt x="1590727" y="1150134"/>
                  </a:lnTo>
                  <a:lnTo>
                    <a:pt x="1575212" y="1193923"/>
                  </a:lnTo>
                  <a:lnTo>
                    <a:pt x="1557569" y="1236552"/>
                  </a:lnTo>
                  <a:lnTo>
                    <a:pt x="1537866" y="1277949"/>
                  </a:lnTo>
                  <a:lnTo>
                    <a:pt x="1516173" y="1318040"/>
                  </a:lnTo>
                  <a:lnTo>
                    <a:pt x="1492559" y="1356752"/>
                  </a:lnTo>
                  <a:lnTo>
                    <a:pt x="1467092" y="1394012"/>
                  </a:lnTo>
                  <a:lnTo>
                    <a:pt x="1439842" y="1429746"/>
                  </a:lnTo>
                  <a:lnTo>
                    <a:pt x="1410878" y="1463882"/>
                  </a:lnTo>
                  <a:lnTo>
                    <a:pt x="1380268" y="1496346"/>
                  </a:lnTo>
                  <a:lnTo>
                    <a:pt x="1348082" y="1527065"/>
                  </a:lnTo>
                  <a:lnTo>
                    <a:pt x="1314388" y="1555966"/>
                  </a:lnTo>
                  <a:lnTo>
                    <a:pt x="1279257" y="1582975"/>
                  </a:lnTo>
                  <a:lnTo>
                    <a:pt x="1242756" y="1608020"/>
                  </a:lnTo>
                  <a:lnTo>
                    <a:pt x="1204955" y="1631027"/>
                  </a:lnTo>
                  <a:lnTo>
                    <a:pt x="1165923" y="1651923"/>
                  </a:lnTo>
                  <a:lnTo>
                    <a:pt x="1125728" y="1670635"/>
                  </a:lnTo>
                  <a:lnTo>
                    <a:pt x="1084441" y="1687090"/>
                  </a:lnTo>
                  <a:lnTo>
                    <a:pt x="1042129" y="1701214"/>
                  </a:lnTo>
                  <a:lnTo>
                    <a:pt x="998862" y="1712934"/>
                  </a:lnTo>
                  <a:lnTo>
                    <a:pt x="954710" y="1722177"/>
                  </a:lnTo>
                  <a:lnTo>
                    <a:pt x="909740" y="1728869"/>
                  </a:lnTo>
                  <a:lnTo>
                    <a:pt x="864022" y="1732939"/>
                  </a:lnTo>
                  <a:lnTo>
                    <a:pt x="817626" y="1734311"/>
                  </a:lnTo>
                  <a:lnTo>
                    <a:pt x="771229" y="1732939"/>
                  </a:lnTo>
                  <a:lnTo>
                    <a:pt x="725511" y="1728869"/>
                  </a:lnTo>
                  <a:lnTo>
                    <a:pt x="680541" y="1722177"/>
                  </a:lnTo>
                  <a:lnTo>
                    <a:pt x="636389" y="1712934"/>
                  </a:lnTo>
                  <a:lnTo>
                    <a:pt x="593122" y="1701214"/>
                  </a:lnTo>
                  <a:lnTo>
                    <a:pt x="550810" y="1687090"/>
                  </a:lnTo>
                  <a:lnTo>
                    <a:pt x="509523" y="1670635"/>
                  </a:lnTo>
                  <a:lnTo>
                    <a:pt x="469328" y="1651923"/>
                  </a:lnTo>
                  <a:lnTo>
                    <a:pt x="430296" y="1631027"/>
                  </a:lnTo>
                  <a:lnTo>
                    <a:pt x="392495" y="1608020"/>
                  </a:lnTo>
                  <a:lnTo>
                    <a:pt x="355994" y="1582975"/>
                  </a:lnTo>
                  <a:lnTo>
                    <a:pt x="320863" y="1555966"/>
                  </a:lnTo>
                  <a:lnTo>
                    <a:pt x="287169" y="1527065"/>
                  </a:lnTo>
                  <a:lnTo>
                    <a:pt x="254983" y="1496346"/>
                  </a:lnTo>
                  <a:lnTo>
                    <a:pt x="224373" y="1463882"/>
                  </a:lnTo>
                  <a:lnTo>
                    <a:pt x="195409" y="1429746"/>
                  </a:lnTo>
                  <a:lnTo>
                    <a:pt x="168159" y="1394012"/>
                  </a:lnTo>
                  <a:lnTo>
                    <a:pt x="142692" y="1356752"/>
                  </a:lnTo>
                  <a:lnTo>
                    <a:pt x="119078" y="1318040"/>
                  </a:lnTo>
                  <a:lnTo>
                    <a:pt x="97385" y="1277949"/>
                  </a:lnTo>
                  <a:lnTo>
                    <a:pt x="77682" y="1236552"/>
                  </a:lnTo>
                  <a:lnTo>
                    <a:pt x="60039" y="1193923"/>
                  </a:lnTo>
                  <a:lnTo>
                    <a:pt x="44524" y="1150134"/>
                  </a:lnTo>
                  <a:lnTo>
                    <a:pt x="31207" y="1105259"/>
                  </a:lnTo>
                  <a:lnTo>
                    <a:pt x="20156" y="1059372"/>
                  </a:lnTo>
                  <a:lnTo>
                    <a:pt x="11441" y="1012544"/>
                  </a:lnTo>
                  <a:lnTo>
                    <a:pt x="5131" y="964850"/>
                  </a:lnTo>
                  <a:lnTo>
                    <a:pt x="1294" y="916363"/>
                  </a:lnTo>
                  <a:lnTo>
                    <a:pt x="0" y="867155"/>
                  </a:lnTo>
                  <a:close/>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58" name="Google Shape;158;p23"/>
          <p:cNvSpPr txBox="1"/>
          <p:nvPr/>
        </p:nvSpPr>
        <p:spPr>
          <a:xfrm>
            <a:off x="2491739" y="4863312"/>
            <a:ext cx="771525" cy="248920"/>
          </a:xfrm>
          <a:prstGeom prst="rect">
            <a:avLst/>
          </a:prstGeom>
          <a:solidFill>
            <a:srgbClr val="D6DFE0"/>
          </a:solidFill>
          <a:ln>
            <a:noFill/>
          </a:ln>
        </p:spPr>
        <p:txBody>
          <a:bodyPr anchorCtr="0" anchor="t" bIns="0" lIns="0" spcFirstLastPara="1" rIns="0" wrap="square" tIns="0">
            <a:spAutoFit/>
          </a:bodyPr>
          <a:lstStyle/>
          <a:p>
            <a:pPr indent="0" lvl="0" marL="0" rtl="0" algn="l">
              <a:lnSpc>
                <a:spcPct val="115937"/>
              </a:lnSpc>
              <a:spcBef>
                <a:spcPts val="0"/>
              </a:spcBef>
              <a:spcAft>
                <a:spcPts val="0"/>
              </a:spcAft>
              <a:buNone/>
            </a:pPr>
            <a:r>
              <a:rPr b="1" lang="en-US" sz="1600">
                <a:solidFill>
                  <a:srgbClr val="4E3629"/>
                </a:solidFill>
                <a:latin typeface="Calibri"/>
                <a:ea typeface="Calibri"/>
                <a:cs typeface="Calibri"/>
                <a:sym typeface="Calibri"/>
              </a:rPr>
              <a:t>NUMBER</a:t>
            </a:r>
            <a:endParaRPr sz="1600">
              <a:latin typeface="Calibri"/>
              <a:ea typeface="Calibri"/>
              <a:cs typeface="Calibri"/>
              <a:sym typeface="Calibri"/>
            </a:endParaRPr>
          </a:p>
        </p:txBody>
      </p:sp>
      <p:grpSp>
        <p:nvGrpSpPr>
          <p:cNvPr id="159" name="Google Shape;159;p23"/>
          <p:cNvGrpSpPr/>
          <p:nvPr/>
        </p:nvGrpSpPr>
        <p:grpSpPr>
          <a:xfrm>
            <a:off x="2707582" y="4676394"/>
            <a:ext cx="2591746" cy="407797"/>
            <a:chOff x="2707582" y="4676394"/>
            <a:chExt cx="2591746" cy="407797"/>
          </a:xfrm>
        </p:grpSpPr>
        <p:sp>
          <p:nvSpPr>
            <p:cNvPr id="160" name="Google Shape;160;p23"/>
            <p:cNvSpPr/>
            <p:nvPr/>
          </p:nvSpPr>
          <p:spPr>
            <a:xfrm>
              <a:off x="2779013" y="4676394"/>
              <a:ext cx="0" cy="60960"/>
            </a:xfrm>
            <a:custGeom>
              <a:rect b="b" l="l" r="r" t="t"/>
              <a:pathLst>
                <a:path extrusionOk="0" h="60960" w="120000">
                  <a:moveTo>
                    <a:pt x="0" y="0"/>
                  </a:moveTo>
                  <a:lnTo>
                    <a:pt x="0" y="60388"/>
                  </a:lnTo>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1" name="Google Shape;161;p23"/>
            <p:cNvSpPr/>
            <p:nvPr/>
          </p:nvSpPr>
          <p:spPr>
            <a:xfrm>
              <a:off x="2707582" y="4722497"/>
              <a:ext cx="142875" cy="142875"/>
            </a:xfrm>
            <a:custGeom>
              <a:rect b="b" l="l" r="r" t="t"/>
              <a:pathLst>
                <a:path extrusionOk="0" h="142875" w="142875">
                  <a:moveTo>
                    <a:pt x="142875" y="0"/>
                  </a:moveTo>
                  <a:lnTo>
                    <a:pt x="0" y="0"/>
                  </a:lnTo>
                  <a:lnTo>
                    <a:pt x="71437" y="142875"/>
                  </a:lnTo>
                  <a:lnTo>
                    <a:pt x="142875"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2" name="Google Shape;162;p23"/>
            <p:cNvSpPr/>
            <p:nvPr/>
          </p:nvSpPr>
          <p:spPr>
            <a:xfrm>
              <a:off x="4085843" y="4745736"/>
              <a:ext cx="1213485" cy="338455"/>
            </a:xfrm>
            <a:custGeom>
              <a:rect b="b" l="l" r="r" t="t"/>
              <a:pathLst>
                <a:path extrusionOk="0" h="338454" w="1213485">
                  <a:moveTo>
                    <a:pt x="1213103" y="0"/>
                  </a:moveTo>
                  <a:lnTo>
                    <a:pt x="0" y="0"/>
                  </a:lnTo>
                  <a:lnTo>
                    <a:pt x="0" y="338327"/>
                  </a:lnTo>
                  <a:lnTo>
                    <a:pt x="1213103" y="338327"/>
                  </a:lnTo>
                  <a:lnTo>
                    <a:pt x="1213103"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63" name="Google Shape;163;p23"/>
          <p:cNvSpPr txBox="1"/>
          <p:nvPr/>
        </p:nvSpPr>
        <p:spPr>
          <a:xfrm>
            <a:off x="4164667" y="4766499"/>
            <a:ext cx="104076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CHARACTER</a:t>
            </a:r>
            <a:endParaRPr sz="1600">
              <a:latin typeface="Calibri"/>
              <a:ea typeface="Calibri"/>
              <a:cs typeface="Calibri"/>
              <a:sym typeface="Calibri"/>
            </a:endParaRPr>
          </a:p>
        </p:txBody>
      </p:sp>
      <p:sp>
        <p:nvSpPr>
          <p:cNvPr id="164" name="Google Shape;164;p23"/>
          <p:cNvSpPr txBox="1"/>
          <p:nvPr/>
        </p:nvSpPr>
        <p:spPr>
          <a:xfrm>
            <a:off x="3204718" y="5787458"/>
            <a:ext cx="829944"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TO_CHAR</a:t>
            </a:r>
            <a:endParaRPr sz="1600">
              <a:latin typeface="Calibri"/>
              <a:ea typeface="Calibri"/>
              <a:cs typeface="Calibri"/>
              <a:sym typeface="Calibri"/>
            </a:endParaRPr>
          </a:p>
        </p:txBody>
      </p:sp>
      <p:grpSp>
        <p:nvGrpSpPr>
          <p:cNvPr id="165" name="Google Shape;165;p23"/>
          <p:cNvGrpSpPr/>
          <p:nvPr/>
        </p:nvGrpSpPr>
        <p:grpSpPr>
          <a:xfrm>
            <a:off x="4355026" y="4676394"/>
            <a:ext cx="2180463" cy="539813"/>
            <a:chOff x="4355026" y="4676394"/>
            <a:chExt cx="2180463" cy="539813"/>
          </a:xfrm>
        </p:grpSpPr>
        <p:sp>
          <p:nvSpPr>
            <p:cNvPr id="166" name="Google Shape;166;p23"/>
            <p:cNvSpPr/>
            <p:nvPr/>
          </p:nvSpPr>
          <p:spPr>
            <a:xfrm>
              <a:off x="4426457" y="5161597"/>
              <a:ext cx="0" cy="46990"/>
            </a:xfrm>
            <a:custGeom>
              <a:rect b="b" l="l" r="r" t="t"/>
              <a:pathLst>
                <a:path extrusionOk="0" h="46989" w="120000">
                  <a:moveTo>
                    <a:pt x="0" y="46672"/>
                  </a:moveTo>
                  <a:lnTo>
                    <a:pt x="0" y="0"/>
                  </a:lnTo>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7" name="Google Shape;167;p23"/>
            <p:cNvSpPr/>
            <p:nvPr/>
          </p:nvSpPr>
          <p:spPr>
            <a:xfrm>
              <a:off x="4355026" y="5033006"/>
              <a:ext cx="142875" cy="142875"/>
            </a:xfrm>
            <a:custGeom>
              <a:rect b="b" l="l" r="r" t="t"/>
              <a:pathLst>
                <a:path extrusionOk="0" h="142875" w="142875">
                  <a:moveTo>
                    <a:pt x="71437" y="0"/>
                  </a:moveTo>
                  <a:lnTo>
                    <a:pt x="0" y="142874"/>
                  </a:lnTo>
                  <a:lnTo>
                    <a:pt x="142875" y="142874"/>
                  </a:lnTo>
                  <a:lnTo>
                    <a:pt x="71437"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8" name="Google Shape;168;p23"/>
            <p:cNvSpPr/>
            <p:nvPr/>
          </p:nvSpPr>
          <p:spPr>
            <a:xfrm>
              <a:off x="4898897" y="5169217"/>
              <a:ext cx="0" cy="46990"/>
            </a:xfrm>
            <a:custGeom>
              <a:rect b="b" l="l" r="r" t="t"/>
              <a:pathLst>
                <a:path extrusionOk="0" h="46989" w="120000">
                  <a:moveTo>
                    <a:pt x="0" y="46672"/>
                  </a:moveTo>
                  <a:lnTo>
                    <a:pt x="0" y="0"/>
                  </a:lnTo>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9" name="Google Shape;169;p23"/>
            <p:cNvSpPr/>
            <p:nvPr/>
          </p:nvSpPr>
          <p:spPr>
            <a:xfrm>
              <a:off x="4827466" y="5040626"/>
              <a:ext cx="142875" cy="142875"/>
            </a:xfrm>
            <a:custGeom>
              <a:rect b="b" l="l" r="r" t="t"/>
              <a:pathLst>
                <a:path extrusionOk="0" h="142875" w="142875">
                  <a:moveTo>
                    <a:pt x="71437" y="0"/>
                  </a:moveTo>
                  <a:lnTo>
                    <a:pt x="0" y="142875"/>
                  </a:lnTo>
                  <a:lnTo>
                    <a:pt x="142875" y="142875"/>
                  </a:lnTo>
                  <a:lnTo>
                    <a:pt x="71437"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0" name="Google Shape;170;p23"/>
            <p:cNvSpPr/>
            <p:nvPr/>
          </p:nvSpPr>
          <p:spPr>
            <a:xfrm>
              <a:off x="6464045" y="4676394"/>
              <a:ext cx="0" cy="24130"/>
            </a:xfrm>
            <a:custGeom>
              <a:rect b="b" l="l" r="r" t="t"/>
              <a:pathLst>
                <a:path extrusionOk="0" h="24129" w="120000">
                  <a:moveTo>
                    <a:pt x="0" y="0"/>
                  </a:moveTo>
                  <a:lnTo>
                    <a:pt x="0" y="23812"/>
                  </a:lnTo>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1" name="Google Shape;171;p23"/>
            <p:cNvSpPr/>
            <p:nvPr/>
          </p:nvSpPr>
          <p:spPr>
            <a:xfrm>
              <a:off x="6392614" y="4685921"/>
              <a:ext cx="142875" cy="142875"/>
            </a:xfrm>
            <a:custGeom>
              <a:rect b="b" l="l" r="r" t="t"/>
              <a:pathLst>
                <a:path extrusionOk="0" h="142875" w="142875">
                  <a:moveTo>
                    <a:pt x="142875" y="0"/>
                  </a:moveTo>
                  <a:lnTo>
                    <a:pt x="0" y="0"/>
                  </a:lnTo>
                  <a:lnTo>
                    <a:pt x="71437" y="142875"/>
                  </a:lnTo>
                  <a:lnTo>
                    <a:pt x="142875"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72" name="Google Shape;172;p23"/>
          <p:cNvSpPr txBox="1"/>
          <p:nvPr/>
        </p:nvSpPr>
        <p:spPr>
          <a:xfrm>
            <a:off x="6259817" y="4886325"/>
            <a:ext cx="431800" cy="248920"/>
          </a:xfrm>
          <a:prstGeom prst="rect">
            <a:avLst/>
          </a:prstGeom>
          <a:solidFill>
            <a:srgbClr val="D6DFE0"/>
          </a:solidFill>
          <a:ln>
            <a:noFill/>
          </a:ln>
        </p:spPr>
        <p:txBody>
          <a:bodyPr anchorCtr="0" anchor="t" bIns="0" lIns="0" spcFirstLastPara="1" rIns="0" wrap="square" tIns="0">
            <a:spAutoFit/>
          </a:bodyPr>
          <a:lstStyle/>
          <a:p>
            <a:pPr indent="0" lvl="0" marL="0" rtl="0" algn="l">
              <a:lnSpc>
                <a:spcPct val="115937"/>
              </a:lnSpc>
              <a:spcBef>
                <a:spcPts val="0"/>
              </a:spcBef>
              <a:spcAft>
                <a:spcPts val="0"/>
              </a:spcAft>
              <a:buNone/>
            </a:pPr>
            <a:r>
              <a:rPr b="1" lang="en-US" sz="1600">
                <a:solidFill>
                  <a:srgbClr val="4E3629"/>
                </a:solidFill>
                <a:latin typeface="Calibri"/>
                <a:ea typeface="Calibri"/>
                <a:cs typeface="Calibri"/>
                <a:sym typeface="Calibri"/>
              </a:rPr>
              <a:t>DATE</a:t>
            </a:r>
            <a:endParaRPr sz="1600">
              <a:latin typeface="Calibri"/>
              <a:ea typeface="Calibri"/>
              <a:cs typeface="Calibri"/>
              <a:sym typeface="Calibri"/>
            </a:endParaRPr>
          </a:p>
        </p:txBody>
      </p:sp>
      <p:sp>
        <p:nvSpPr>
          <p:cNvPr id="173" name="Google Shape;173;p23"/>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174" name="Google Shape;174;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5" name="Google Shape;175;p2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76" name="Google Shape;176;p23"/>
          <p:cNvSpPr txBox="1"/>
          <p:nvPr/>
        </p:nvSpPr>
        <p:spPr>
          <a:xfrm>
            <a:off x="5401627" y="5787548"/>
            <a:ext cx="829944"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TO_CHAR</a:t>
            </a:r>
            <a:endParaRPr sz="1600">
              <a:latin typeface="Calibri"/>
              <a:ea typeface="Calibri"/>
              <a:cs typeface="Calibri"/>
              <a:sym typeface="Calibri"/>
            </a:endParaRPr>
          </a:p>
        </p:txBody>
      </p:sp>
      <p:sp>
        <p:nvSpPr>
          <p:cNvPr id="177" name="Google Shape;177;p23"/>
          <p:cNvSpPr txBox="1"/>
          <p:nvPr/>
        </p:nvSpPr>
        <p:spPr>
          <a:xfrm>
            <a:off x="483552" y="1415417"/>
            <a:ext cx="8187055" cy="2602865"/>
          </a:xfrm>
          <a:prstGeom prst="rect">
            <a:avLst/>
          </a:prstGeom>
          <a:noFill/>
          <a:ln>
            <a:noFill/>
          </a:ln>
        </p:spPr>
        <p:txBody>
          <a:bodyPr anchorCtr="0" anchor="t" bIns="0" lIns="0" spcFirstLastPara="1" rIns="0" wrap="square" tIns="59675">
            <a:spAutoFit/>
          </a:bodyPr>
          <a:lstStyle/>
          <a:p>
            <a:pPr indent="-177800" lvl="0" marL="182880" marR="52959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cuatro funciones de conversión de tipos de dato 	que aprenderá son: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Convertir un tipo de dato de fecha en tipo de dato de carácter</a:t>
            </a:r>
            <a:endParaRPr sz="2400">
              <a:latin typeface="Calibri"/>
              <a:ea typeface="Calibri"/>
              <a:cs typeface="Calibri"/>
              <a:sym typeface="Calibri"/>
            </a:endParaRPr>
          </a:p>
          <a:p>
            <a:pPr indent="-175260" lvl="0" marL="530860" marR="957580" rtl="0" algn="l">
              <a:lnSpc>
                <a:spcPct val="107916"/>
              </a:lnSpc>
              <a:spcBef>
                <a:spcPts val="43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Convertir un tipo de dato numérico en tipo de dato de carácter</a:t>
            </a:r>
            <a:endParaRPr sz="2400">
              <a:latin typeface="Calibri"/>
              <a:ea typeface="Calibri"/>
              <a:cs typeface="Calibri"/>
              <a:sym typeface="Calibri"/>
            </a:endParaRPr>
          </a:p>
          <a:p>
            <a:pPr indent="0" lvl="0" marL="92075" rtl="0" algn="ctr">
              <a:lnSpc>
                <a:spcPct val="100000"/>
              </a:lnSpc>
              <a:spcBef>
                <a:spcPts val="535"/>
              </a:spcBef>
              <a:spcAft>
                <a:spcPts val="0"/>
              </a:spcAft>
              <a:buNone/>
            </a:pPr>
            <a:r>
              <a:rPr b="1" lang="en-US" sz="1600">
                <a:solidFill>
                  <a:srgbClr val="4E3629"/>
                </a:solidFill>
                <a:latin typeface="Calibri"/>
                <a:ea typeface="Calibri"/>
                <a:cs typeface="Calibri"/>
                <a:sym typeface="Calibri"/>
              </a:rPr>
              <a:t>CONVERSIÓN DE TIPO DE DATO EXPLÍCITA</a:t>
            </a:r>
            <a:endParaRPr sz="1600">
              <a:latin typeface="Calibri"/>
              <a:ea typeface="Calibri"/>
              <a:cs typeface="Calibri"/>
              <a:sym typeface="Calibri"/>
            </a:endParaRPr>
          </a:p>
          <a:p>
            <a:pPr indent="0" lvl="0" marL="92710" rtl="0" algn="ctr">
              <a:lnSpc>
                <a:spcPct val="100000"/>
              </a:lnSpc>
              <a:spcBef>
                <a:spcPts val="890"/>
              </a:spcBef>
              <a:spcAft>
                <a:spcPts val="0"/>
              </a:spcAft>
              <a:buNone/>
            </a:pPr>
            <a:r>
              <a:rPr b="1" lang="en-US" sz="1600">
                <a:solidFill>
                  <a:srgbClr val="4E3629"/>
                </a:solidFill>
                <a:latin typeface="Calibri"/>
                <a:ea typeface="Calibri"/>
                <a:cs typeface="Calibri"/>
                <a:sym typeface="Calibri"/>
              </a:rPr>
              <a:t>TO_NUMBER	TO_DATE</a:t>
            </a:r>
            <a:endParaRPr sz="16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4"/>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Conversión de Tipo</a:t>
            </a:r>
            <a:endParaRPr/>
          </a:p>
        </p:txBody>
      </p:sp>
      <p:grpSp>
        <p:nvGrpSpPr>
          <p:cNvPr id="183" name="Google Shape;183;p24"/>
          <p:cNvGrpSpPr/>
          <p:nvPr/>
        </p:nvGrpSpPr>
        <p:grpSpPr>
          <a:xfrm>
            <a:off x="2719577" y="4277105"/>
            <a:ext cx="3709544" cy="1732914"/>
            <a:chOff x="2719577" y="4277105"/>
            <a:chExt cx="3709544" cy="1732914"/>
          </a:xfrm>
        </p:grpSpPr>
        <p:sp>
          <p:nvSpPr>
            <p:cNvPr id="184" name="Google Shape;184;p24"/>
            <p:cNvSpPr/>
            <p:nvPr/>
          </p:nvSpPr>
          <p:spPr>
            <a:xfrm>
              <a:off x="2719577" y="4277105"/>
              <a:ext cx="1671955" cy="1732914"/>
            </a:xfrm>
            <a:custGeom>
              <a:rect b="b" l="l" r="r" t="t"/>
              <a:pathLst>
                <a:path extrusionOk="0" h="1732914" w="1671954">
                  <a:moveTo>
                    <a:pt x="0" y="866394"/>
                  </a:moveTo>
                  <a:lnTo>
                    <a:pt x="1323" y="817229"/>
                  </a:lnTo>
                  <a:lnTo>
                    <a:pt x="5246" y="768784"/>
                  </a:lnTo>
                  <a:lnTo>
                    <a:pt x="11697" y="721132"/>
                  </a:lnTo>
                  <a:lnTo>
                    <a:pt x="20607" y="674346"/>
                  </a:lnTo>
                  <a:lnTo>
                    <a:pt x="31905" y="628498"/>
                  </a:lnTo>
                  <a:lnTo>
                    <a:pt x="45520" y="583663"/>
                  </a:lnTo>
                  <a:lnTo>
                    <a:pt x="61382" y="539913"/>
                  </a:lnTo>
                  <a:lnTo>
                    <a:pt x="79420" y="497321"/>
                  </a:lnTo>
                  <a:lnTo>
                    <a:pt x="99564" y="455960"/>
                  </a:lnTo>
                  <a:lnTo>
                    <a:pt x="121742" y="415905"/>
                  </a:lnTo>
                  <a:lnTo>
                    <a:pt x="145885" y="377227"/>
                  </a:lnTo>
                  <a:lnTo>
                    <a:pt x="171921" y="340000"/>
                  </a:lnTo>
                  <a:lnTo>
                    <a:pt x="199781" y="304297"/>
                  </a:lnTo>
                  <a:lnTo>
                    <a:pt x="229393" y="270191"/>
                  </a:lnTo>
                  <a:lnTo>
                    <a:pt x="260688" y="237755"/>
                  </a:lnTo>
                  <a:lnTo>
                    <a:pt x="293594" y="207063"/>
                  </a:lnTo>
                  <a:lnTo>
                    <a:pt x="328041" y="178188"/>
                  </a:lnTo>
                  <a:lnTo>
                    <a:pt x="363959" y="151202"/>
                  </a:lnTo>
                  <a:lnTo>
                    <a:pt x="401276" y="126179"/>
                  </a:lnTo>
                  <a:lnTo>
                    <a:pt x="439922" y="103193"/>
                  </a:lnTo>
                  <a:lnTo>
                    <a:pt x="479828" y="82315"/>
                  </a:lnTo>
                  <a:lnTo>
                    <a:pt x="520921" y="63620"/>
                  </a:lnTo>
                  <a:lnTo>
                    <a:pt x="563132" y="47180"/>
                  </a:lnTo>
                  <a:lnTo>
                    <a:pt x="606390" y="33068"/>
                  </a:lnTo>
                  <a:lnTo>
                    <a:pt x="650624" y="21358"/>
                  </a:lnTo>
                  <a:lnTo>
                    <a:pt x="695764" y="12124"/>
                  </a:lnTo>
                  <a:lnTo>
                    <a:pt x="741739" y="5437"/>
                  </a:lnTo>
                  <a:lnTo>
                    <a:pt x="788479" y="1371"/>
                  </a:lnTo>
                  <a:lnTo>
                    <a:pt x="835913" y="0"/>
                  </a:lnTo>
                  <a:lnTo>
                    <a:pt x="883348" y="1371"/>
                  </a:lnTo>
                  <a:lnTo>
                    <a:pt x="930088" y="5437"/>
                  </a:lnTo>
                  <a:lnTo>
                    <a:pt x="976063" y="12124"/>
                  </a:lnTo>
                  <a:lnTo>
                    <a:pt x="1021203" y="21358"/>
                  </a:lnTo>
                  <a:lnTo>
                    <a:pt x="1065437" y="33068"/>
                  </a:lnTo>
                  <a:lnTo>
                    <a:pt x="1108695" y="47180"/>
                  </a:lnTo>
                  <a:lnTo>
                    <a:pt x="1150906" y="63620"/>
                  </a:lnTo>
                  <a:lnTo>
                    <a:pt x="1191999" y="82315"/>
                  </a:lnTo>
                  <a:lnTo>
                    <a:pt x="1231905" y="103193"/>
                  </a:lnTo>
                  <a:lnTo>
                    <a:pt x="1270551" y="126179"/>
                  </a:lnTo>
                  <a:lnTo>
                    <a:pt x="1307868" y="151202"/>
                  </a:lnTo>
                  <a:lnTo>
                    <a:pt x="1343786" y="178188"/>
                  </a:lnTo>
                  <a:lnTo>
                    <a:pt x="1378233" y="207063"/>
                  </a:lnTo>
                  <a:lnTo>
                    <a:pt x="1411139" y="237755"/>
                  </a:lnTo>
                  <a:lnTo>
                    <a:pt x="1442434" y="270191"/>
                  </a:lnTo>
                  <a:lnTo>
                    <a:pt x="1472046" y="304297"/>
                  </a:lnTo>
                  <a:lnTo>
                    <a:pt x="1499906" y="340000"/>
                  </a:lnTo>
                  <a:lnTo>
                    <a:pt x="1525942" y="377227"/>
                  </a:lnTo>
                  <a:lnTo>
                    <a:pt x="1550085" y="415905"/>
                  </a:lnTo>
                  <a:lnTo>
                    <a:pt x="1572263" y="455960"/>
                  </a:lnTo>
                  <a:lnTo>
                    <a:pt x="1592407" y="497321"/>
                  </a:lnTo>
                  <a:lnTo>
                    <a:pt x="1610445" y="539913"/>
                  </a:lnTo>
                  <a:lnTo>
                    <a:pt x="1626307" y="583663"/>
                  </a:lnTo>
                  <a:lnTo>
                    <a:pt x="1639922" y="628498"/>
                  </a:lnTo>
                  <a:lnTo>
                    <a:pt x="1651220" y="674346"/>
                  </a:lnTo>
                  <a:lnTo>
                    <a:pt x="1660130" y="721132"/>
                  </a:lnTo>
                  <a:lnTo>
                    <a:pt x="1666581" y="768784"/>
                  </a:lnTo>
                  <a:lnTo>
                    <a:pt x="1670504" y="817229"/>
                  </a:lnTo>
                  <a:lnTo>
                    <a:pt x="1671827" y="866394"/>
                  </a:lnTo>
                  <a:lnTo>
                    <a:pt x="1670504" y="915558"/>
                  </a:lnTo>
                  <a:lnTo>
                    <a:pt x="1666581" y="964003"/>
                  </a:lnTo>
                  <a:lnTo>
                    <a:pt x="1660130" y="1011655"/>
                  </a:lnTo>
                  <a:lnTo>
                    <a:pt x="1651220" y="1058441"/>
                  </a:lnTo>
                  <a:lnTo>
                    <a:pt x="1639922" y="1104289"/>
                  </a:lnTo>
                  <a:lnTo>
                    <a:pt x="1626307" y="1149124"/>
                  </a:lnTo>
                  <a:lnTo>
                    <a:pt x="1610445" y="1192874"/>
                  </a:lnTo>
                  <a:lnTo>
                    <a:pt x="1592407" y="1235466"/>
                  </a:lnTo>
                  <a:lnTo>
                    <a:pt x="1572263" y="1276827"/>
                  </a:lnTo>
                  <a:lnTo>
                    <a:pt x="1550085" y="1316882"/>
                  </a:lnTo>
                  <a:lnTo>
                    <a:pt x="1525942" y="1355560"/>
                  </a:lnTo>
                  <a:lnTo>
                    <a:pt x="1499906" y="1392787"/>
                  </a:lnTo>
                  <a:lnTo>
                    <a:pt x="1472046" y="1428490"/>
                  </a:lnTo>
                  <a:lnTo>
                    <a:pt x="1442434" y="1462596"/>
                  </a:lnTo>
                  <a:lnTo>
                    <a:pt x="1411139" y="1495032"/>
                  </a:lnTo>
                  <a:lnTo>
                    <a:pt x="1378233" y="1525724"/>
                  </a:lnTo>
                  <a:lnTo>
                    <a:pt x="1343786" y="1554599"/>
                  </a:lnTo>
                  <a:lnTo>
                    <a:pt x="1307868" y="1581585"/>
                  </a:lnTo>
                  <a:lnTo>
                    <a:pt x="1270551" y="1606608"/>
                  </a:lnTo>
                  <a:lnTo>
                    <a:pt x="1231905" y="1629594"/>
                  </a:lnTo>
                  <a:lnTo>
                    <a:pt x="1191999" y="1650472"/>
                  </a:lnTo>
                  <a:lnTo>
                    <a:pt x="1150906" y="1669167"/>
                  </a:lnTo>
                  <a:lnTo>
                    <a:pt x="1108695" y="1685607"/>
                  </a:lnTo>
                  <a:lnTo>
                    <a:pt x="1065437" y="1699719"/>
                  </a:lnTo>
                  <a:lnTo>
                    <a:pt x="1021203" y="1711429"/>
                  </a:lnTo>
                  <a:lnTo>
                    <a:pt x="976063" y="1720663"/>
                  </a:lnTo>
                  <a:lnTo>
                    <a:pt x="930088" y="1727350"/>
                  </a:lnTo>
                  <a:lnTo>
                    <a:pt x="883348" y="1731416"/>
                  </a:lnTo>
                  <a:lnTo>
                    <a:pt x="835913" y="1732788"/>
                  </a:lnTo>
                  <a:lnTo>
                    <a:pt x="788479" y="1731416"/>
                  </a:lnTo>
                  <a:lnTo>
                    <a:pt x="741739" y="1727350"/>
                  </a:lnTo>
                  <a:lnTo>
                    <a:pt x="695764" y="1720663"/>
                  </a:lnTo>
                  <a:lnTo>
                    <a:pt x="650624" y="1711429"/>
                  </a:lnTo>
                  <a:lnTo>
                    <a:pt x="606390" y="1699719"/>
                  </a:lnTo>
                  <a:lnTo>
                    <a:pt x="563132" y="1685607"/>
                  </a:lnTo>
                  <a:lnTo>
                    <a:pt x="520921" y="1669167"/>
                  </a:lnTo>
                  <a:lnTo>
                    <a:pt x="479828" y="1650472"/>
                  </a:lnTo>
                  <a:lnTo>
                    <a:pt x="439922" y="1629594"/>
                  </a:lnTo>
                  <a:lnTo>
                    <a:pt x="401276" y="1606608"/>
                  </a:lnTo>
                  <a:lnTo>
                    <a:pt x="363959" y="1581585"/>
                  </a:lnTo>
                  <a:lnTo>
                    <a:pt x="328041" y="1554599"/>
                  </a:lnTo>
                  <a:lnTo>
                    <a:pt x="293594" y="1525724"/>
                  </a:lnTo>
                  <a:lnTo>
                    <a:pt x="260688" y="1495032"/>
                  </a:lnTo>
                  <a:lnTo>
                    <a:pt x="229393" y="1462596"/>
                  </a:lnTo>
                  <a:lnTo>
                    <a:pt x="199781" y="1428490"/>
                  </a:lnTo>
                  <a:lnTo>
                    <a:pt x="171921" y="1392787"/>
                  </a:lnTo>
                  <a:lnTo>
                    <a:pt x="145885" y="1355560"/>
                  </a:lnTo>
                  <a:lnTo>
                    <a:pt x="121742" y="1316882"/>
                  </a:lnTo>
                  <a:lnTo>
                    <a:pt x="99564" y="1276827"/>
                  </a:lnTo>
                  <a:lnTo>
                    <a:pt x="79420" y="1235466"/>
                  </a:lnTo>
                  <a:lnTo>
                    <a:pt x="61382" y="1192874"/>
                  </a:lnTo>
                  <a:lnTo>
                    <a:pt x="45520" y="1149124"/>
                  </a:lnTo>
                  <a:lnTo>
                    <a:pt x="31905" y="1104289"/>
                  </a:lnTo>
                  <a:lnTo>
                    <a:pt x="20607" y="1058441"/>
                  </a:lnTo>
                  <a:lnTo>
                    <a:pt x="11697" y="1011655"/>
                  </a:lnTo>
                  <a:lnTo>
                    <a:pt x="5246" y="964003"/>
                  </a:lnTo>
                  <a:lnTo>
                    <a:pt x="1323" y="915558"/>
                  </a:lnTo>
                  <a:lnTo>
                    <a:pt x="0" y="866394"/>
                  </a:lnTo>
                  <a:close/>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5" name="Google Shape;185;p24"/>
            <p:cNvSpPr/>
            <p:nvPr/>
          </p:nvSpPr>
          <p:spPr>
            <a:xfrm>
              <a:off x="4795266" y="4277105"/>
              <a:ext cx="1633855" cy="1732914"/>
            </a:xfrm>
            <a:custGeom>
              <a:rect b="b" l="l" r="r" t="t"/>
              <a:pathLst>
                <a:path extrusionOk="0" h="1732914" w="1633854">
                  <a:moveTo>
                    <a:pt x="0" y="866394"/>
                  </a:moveTo>
                  <a:lnTo>
                    <a:pt x="1293" y="817229"/>
                  </a:lnTo>
                  <a:lnTo>
                    <a:pt x="5126" y="768784"/>
                  </a:lnTo>
                  <a:lnTo>
                    <a:pt x="11431" y="721132"/>
                  </a:lnTo>
                  <a:lnTo>
                    <a:pt x="20137" y="674346"/>
                  </a:lnTo>
                  <a:lnTo>
                    <a:pt x="31178" y="628498"/>
                  </a:lnTo>
                  <a:lnTo>
                    <a:pt x="44482" y="583663"/>
                  </a:lnTo>
                  <a:lnTo>
                    <a:pt x="59983" y="539913"/>
                  </a:lnTo>
                  <a:lnTo>
                    <a:pt x="77609" y="497321"/>
                  </a:lnTo>
                  <a:lnTo>
                    <a:pt x="97293" y="455960"/>
                  </a:lnTo>
                  <a:lnTo>
                    <a:pt x="118966" y="415905"/>
                  </a:lnTo>
                  <a:lnTo>
                    <a:pt x="142559" y="377227"/>
                  </a:lnTo>
                  <a:lnTo>
                    <a:pt x="168002" y="340000"/>
                  </a:lnTo>
                  <a:lnTo>
                    <a:pt x="195226" y="304297"/>
                  </a:lnTo>
                  <a:lnTo>
                    <a:pt x="224164" y="270191"/>
                  </a:lnTo>
                  <a:lnTo>
                    <a:pt x="254745" y="237755"/>
                  </a:lnTo>
                  <a:lnTo>
                    <a:pt x="286901" y="207063"/>
                  </a:lnTo>
                  <a:lnTo>
                    <a:pt x="320563" y="178188"/>
                  </a:lnTo>
                  <a:lnTo>
                    <a:pt x="355662" y="151202"/>
                  </a:lnTo>
                  <a:lnTo>
                    <a:pt x="392129" y="126179"/>
                  </a:lnTo>
                  <a:lnTo>
                    <a:pt x="429894" y="103193"/>
                  </a:lnTo>
                  <a:lnTo>
                    <a:pt x="468890" y="82315"/>
                  </a:lnTo>
                  <a:lnTo>
                    <a:pt x="509047" y="63620"/>
                  </a:lnTo>
                  <a:lnTo>
                    <a:pt x="550296" y="47180"/>
                  </a:lnTo>
                  <a:lnTo>
                    <a:pt x="592568" y="33068"/>
                  </a:lnTo>
                  <a:lnTo>
                    <a:pt x="635795" y="21358"/>
                  </a:lnTo>
                  <a:lnTo>
                    <a:pt x="679907" y="12124"/>
                  </a:lnTo>
                  <a:lnTo>
                    <a:pt x="724835" y="5437"/>
                  </a:lnTo>
                  <a:lnTo>
                    <a:pt x="770510" y="1371"/>
                  </a:lnTo>
                  <a:lnTo>
                    <a:pt x="816863" y="0"/>
                  </a:lnTo>
                  <a:lnTo>
                    <a:pt x="863217" y="1371"/>
                  </a:lnTo>
                  <a:lnTo>
                    <a:pt x="908892" y="5437"/>
                  </a:lnTo>
                  <a:lnTo>
                    <a:pt x="953820" y="12124"/>
                  </a:lnTo>
                  <a:lnTo>
                    <a:pt x="997932" y="21358"/>
                  </a:lnTo>
                  <a:lnTo>
                    <a:pt x="1041159" y="33068"/>
                  </a:lnTo>
                  <a:lnTo>
                    <a:pt x="1083431" y="47180"/>
                  </a:lnTo>
                  <a:lnTo>
                    <a:pt x="1124680" y="63620"/>
                  </a:lnTo>
                  <a:lnTo>
                    <a:pt x="1164837" y="82315"/>
                  </a:lnTo>
                  <a:lnTo>
                    <a:pt x="1203833" y="103193"/>
                  </a:lnTo>
                  <a:lnTo>
                    <a:pt x="1241598" y="126179"/>
                  </a:lnTo>
                  <a:lnTo>
                    <a:pt x="1278065" y="151202"/>
                  </a:lnTo>
                  <a:lnTo>
                    <a:pt x="1313164" y="178188"/>
                  </a:lnTo>
                  <a:lnTo>
                    <a:pt x="1346826" y="207063"/>
                  </a:lnTo>
                  <a:lnTo>
                    <a:pt x="1378982" y="237755"/>
                  </a:lnTo>
                  <a:lnTo>
                    <a:pt x="1409563" y="270191"/>
                  </a:lnTo>
                  <a:lnTo>
                    <a:pt x="1438501" y="304297"/>
                  </a:lnTo>
                  <a:lnTo>
                    <a:pt x="1465725" y="340000"/>
                  </a:lnTo>
                  <a:lnTo>
                    <a:pt x="1491168" y="377227"/>
                  </a:lnTo>
                  <a:lnTo>
                    <a:pt x="1514761" y="415905"/>
                  </a:lnTo>
                  <a:lnTo>
                    <a:pt x="1536434" y="455960"/>
                  </a:lnTo>
                  <a:lnTo>
                    <a:pt x="1556118" y="497321"/>
                  </a:lnTo>
                  <a:lnTo>
                    <a:pt x="1573744" y="539913"/>
                  </a:lnTo>
                  <a:lnTo>
                    <a:pt x="1589245" y="583663"/>
                  </a:lnTo>
                  <a:lnTo>
                    <a:pt x="1602549" y="628498"/>
                  </a:lnTo>
                  <a:lnTo>
                    <a:pt x="1613590" y="674346"/>
                  </a:lnTo>
                  <a:lnTo>
                    <a:pt x="1622296" y="721132"/>
                  </a:lnTo>
                  <a:lnTo>
                    <a:pt x="1628601" y="768784"/>
                  </a:lnTo>
                  <a:lnTo>
                    <a:pt x="1632434" y="817229"/>
                  </a:lnTo>
                  <a:lnTo>
                    <a:pt x="1633727" y="866394"/>
                  </a:lnTo>
                  <a:lnTo>
                    <a:pt x="1632434" y="915558"/>
                  </a:lnTo>
                  <a:lnTo>
                    <a:pt x="1628601" y="964003"/>
                  </a:lnTo>
                  <a:lnTo>
                    <a:pt x="1622296" y="1011655"/>
                  </a:lnTo>
                  <a:lnTo>
                    <a:pt x="1613590" y="1058441"/>
                  </a:lnTo>
                  <a:lnTo>
                    <a:pt x="1602549" y="1104289"/>
                  </a:lnTo>
                  <a:lnTo>
                    <a:pt x="1589245" y="1149124"/>
                  </a:lnTo>
                  <a:lnTo>
                    <a:pt x="1573744" y="1192874"/>
                  </a:lnTo>
                  <a:lnTo>
                    <a:pt x="1556118" y="1235466"/>
                  </a:lnTo>
                  <a:lnTo>
                    <a:pt x="1536434" y="1276827"/>
                  </a:lnTo>
                  <a:lnTo>
                    <a:pt x="1514761" y="1316882"/>
                  </a:lnTo>
                  <a:lnTo>
                    <a:pt x="1491168" y="1355560"/>
                  </a:lnTo>
                  <a:lnTo>
                    <a:pt x="1465725" y="1392787"/>
                  </a:lnTo>
                  <a:lnTo>
                    <a:pt x="1438501" y="1428490"/>
                  </a:lnTo>
                  <a:lnTo>
                    <a:pt x="1409563" y="1462596"/>
                  </a:lnTo>
                  <a:lnTo>
                    <a:pt x="1378982" y="1495032"/>
                  </a:lnTo>
                  <a:lnTo>
                    <a:pt x="1346826" y="1525724"/>
                  </a:lnTo>
                  <a:lnTo>
                    <a:pt x="1313164" y="1554599"/>
                  </a:lnTo>
                  <a:lnTo>
                    <a:pt x="1278065" y="1581585"/>
                  </a:lnTo>
                  <a:lnTo>
                    <a:pt x="1241598" y="1606608"/>
                  </a:lnTo>
                  <a:lnTo>
                    <a:pt x="1203833" y="1629594"/>
                  </a:lnTo>
                  <a:lnTo>
                    <a:pt x="1164837" y="1650472"/>
                  </a:lnTo>
                  <a:lnTo>
                    <a:pt x="1124680" y="1669167"/>
                  </a:lnTo>
                  <a:lnTo>
                    <a:pt x="1083431" y="1685607"/>
                  </a:lnTo>
                  <a:lnTo>
                    <a:pt x="1041159" y="1699719"/>
                  </a:lnTo>
                  <a:lnTo>
                    <a:pt x="997932" y="1711429"/>
                  </a:lnTo>
                  <a:lnTo>
                    <a:pt x="953820" y="1720663"/>
                  </a:lnTo>
                  <a:lnTo>
                    <a:pt x="908892" y="1727350"/>
                  </a:lnTo>
                  <a:lnTo>
                    <a:pt x="863217" y="1731416"/>
                  </a:lnTo>
                  <a:lnTo>
                    <a:pt x="816863" y="1732788"/>
                  </a:lnTo>
                  <a:lnTo>
                    <a:pt x="770510" y="1731416"/>
                  </a:lnTo>
                  <a:lnTo>
                    <a:pt x="724835" y="1727350"/>
                  </a:lnTo>
                  <a:lnTo>
                    <a:pt x="679907" y="1720663"/>
                  </a:lnTo>
                  <a:lnTo>
                    <a:pt x="635795" y="1711429"/>
                  </a:lnTo>
                  <a:lnTo>
                    <a:pt x="592568" y="1699719"/>
                  </a:lnTo>
                  <a:lnTo>
                    <a:pt x="550296" y="1685607"/>
                  </a:lnTo>
                  <a:lnTo>
                    <a:pt x="509047" y="1669167"/>
                  </a:lnTo>
                  <a:lnTo>
                    <a:pt x="468890" y="1650472"/>
                  </a:lnTo>
                  <a:lnTo>
                    <a:pt x="429894" y="1629594"/>
                  </a:lnTo>
                  <a:lnTo>
                    <a:pt x="392129" y="1606608"/>
                  </a:lnTo>
                  <a:lnTo>
                    <a:pt x="355662" y="1581585"/>
                  </a:lnTo>
                  <a:lnTo>
                    <a:pt x="320563" y="1554599"/>
                  </a:lnTo>
                  <a:lnTo>
                    <a:pt x="286901" y="1525724"/>
                  </a:lnTo>
                  <a:lnTo>
                    <a:pt x="254745" y="1495032"/>
                  </a:lnTo>
                  <a:lnTo>
                    <a:pt x="224164" y="1462596"/>
                  </a:lnTo>
                  <a:lnTo>
                    <a:pt x="195226" y="1428490"/>
                  </a:lnTo>
                  <a:lnTo>
                    <a:pt x="168002" y="1392787"/>
                  </a:lnTo>
                  <a:lnTo>
                    <a:pt x="142559" y="1355560"/>
                  </a:lnTo>
                  <a:lnTo>
                    <a:pt x="118966" y="1316882"/>
                  </a:lnTo>
                  <a:lnTo>
                    <a:pt x="97293" y="1276827"/>
                  </a:lnTo>
                  <a:lnTo>
                    <a:pt x="77609" y="1235466"/>
                  </a:lnTo>
                  <a:lnTo>
                    <a:pt x="59983" y="1192874"/>
                  </a:lnTo>
                  <a:lnTo>
                    <a:pt x="44482" y="1149124"/>
                  </a:lnTo>
                  <a:lnTo>
                    <a:pt x="31178" y="1104289"/>
                  </a:lnTo>
                  <a:lnTo>
                    <a:pt x="20137" y="1058441"/>
                  </a:lnTo>
                  <a:lnTo>
                    <a:pt x="11431" y="1011655"/>
                  </a:lnTo>
                  <a:lnTo>
                    <a:pt x="5126" y="964003"/>
                  </a:lnTo>
                  <a:lnTo>
                    <a:pt x="1293" y="915558"/>
                  </a:lnTo>
                  <a:lnTo>
                    <a:pt x="0" y="866394"/>
                  </a:lnTo>
                  <a:close/>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6" name="Google Shape;186;p24"/>
          <p:cNvSpPr txBox="1"/>
          <p:nvPr/>
        </p:nvSpPr>
        <p:spPr>
          <a:xfrm>
            <a:off x="2445232" y="5106199"/>
            <a:ext cx="771525" cy="248920"/>
          </a:xfrm>
          <a:prstGeom prst="rect">
            <a:avLst/>
          </a:prstGeom>
          <a:solidFill>
            <a:srgbClr val="D6DFE0"/>
          </a:solidFill>
          <a:ln>
            <a:noFill/>
          </a:ln>
        </p:spPr>
        <p:txBody>
          <a:bodyPr anchorCtr="0" anchor="t" bIns="0" lIns="0" spcFirstLastPara="1" rIns="0" wrap="square" tIns="0">
            <a:spAutoFit/>
          </a:bodyPr>
          <a:lstStyle/>
          <a:p>
            <a:pPr indent="0" lvl="0" marL="0" rtl="0" algn="l">
              <a:lnSpc>
                <a:spcPct val="115937"/>
              </a:lnSpc>
              <a:spcBef>
                <a:spcPts val="0"/>
              </a:spcBef>
              <a:spcAft>
                <a:spcPts val="0"/>
              </a:spcAft>
              <a:buNone/>
            </a:pPr>
            <a:r>
              <a:rPr b="1" lang="en-US" sz="1600">
                <a:solidFill>
                  <a:srgbClr val="4E3629"/>
                </a:solidFill>
                <a:latin typeface="Calibri"/>
                <a:ea typeface="Calibri"/>
                <a:cs typeface="Calibri"/>
                <a:sym typeface="Calibri"/>
              </a:rPr>
              <a:t>NUMBER</a:t>
            </a:r>
            <a:endParaRPr sz="1600">
              <a:latin typeface="Calibri"/>
              <a:ea typeface="Calibri"/>
              <a:cs typeface="Calibri"/>
              <a:sym typeface="Calibri"/>
            </a:endParaRPr>
          </a:p>
        </p:txBody>
      </p:sp>
      <p:grpSp>
        <p:nvGrpSpPr>
          <p:cNvPr id="187" name="Google Shape;187;p24"/>
          <p:cNvGrpSpPr/>
          <p:nvPr/>
        </p:nvGrpSpPr>
        <p:grpSpPr>
          <a:xfrm>
            <a:off x="2661862" y="4920234"/>
            <a:ext cx="2589842" cy="406273"/>
            <a:chOff x="2661862" y="4920234"/>
            <a:chExt cx="2589842" cy="406273"/>
          </a:xfrm>
        </p:grpSpPr>
        <p:sp>
          <p:nvSpPr>
            <p:cNvPr id="188" name="Google Shape;188;p24"/>
            <p:cNvSpPr/>
            <p:nvPr/>
          </p:nvSpPr>
          <p:spPr>
            <a:xfrm>
              <a:off x="2733294" y="4920234"/>
              <a:ext cx="0" cy="60960"/>
            </a:xfrm>
            <a:custGeom>
              <a:rect b="b" l="l" r="r" t="t"/>
              <a:pathLst>
                <a:path extrusionOk="0" h="60960" w="120000">
                  <a:moveTo>
                    <a:pt x="0" y="0"/>
                  </a:moveTo>
                  <a:lnTo>
                    <a:pt x="0" y="60388"/>
                  </a:lnTo>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9" name="Google Shape;189;p24"/>
            <p:cNvSpPr/>
            <p:nvPr/>
          </p:nvSpPr>
          <p:spPr>
            <a:xfrm>
              <a:off x="2661862" y="4966337"/>
              <a:ext cx="142875" cy="142875"/>
            </a:xfrm>
            <a:custGeom>
              <a:rect b="b" l="l" r="r" t="t"/>
              <a:pathLst>
                <a:path extrusionOk="0" h="142875" w="142875">
                  <a:moveTo>
                    <a:pt x="142875" y="0"/>
                  </a:moveTo>
                  <a:lnTo>
                    <a:pt x="0" y="0"/>
                  </a:lnTo>
                  <a:lnTo>
                    <a:pt x="71437" y="142874"/>
                  </a:lnTo>
                  <a:lnTo>
                    <a:pt x="142875"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0" name="Google Shape;190;p24"/>
            <p:cNvSpPr/>
            <p:nvPr/>
          </p:nvSpPr>
          <p:spPr>
            <a:xfrm>
              <a:off x="4040124" y="4988052"/>
              <a:ext cx="1211580" cy="338455"/>
            </a:xfrm>
            <a:custGeom>
              <a:rect b="b" l="l" r="r" t="t"/>
              <a:pathLst>
                <a:path extrusionOk="0" h="338454" w="1211579">
                  <a:moveTo>
                    <a:pt x="1211579" y="0"/>
                  </a:moveTo>
                  <a:lnTo>
                    <a:pt x="0" y="0"/>
                  </a:lnTo>
                  <a:lnTo>
                    <a:pt x="0" y="338328"/>
                  </a:lnTo>
                  <a:lnTo>
                    <a:pt x="1211579" y="338328"/>
                  </a:lnTo>
                  <a:lnTo>
                    <a:pt x="1211579"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91" name="Google Shape;191;p24"/>
          <p:cNvSpPr txBox="1"/>
          <p:nvPr/>
        </p:nvSpPr>
        <p:spPr>
          <a:xfrm>
            <a:off x="4118156" y="5009386"/>
            <a:ext cx="104076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CHARACTER</a:t>
            </a:r>
            <a:endParaRPr sz="1600">
              <a:latin typeface="Calibri"/>
              <a:ea typeface="Calibri"/>
              <a:cs typeface="Calibri"/>
              <a:sym typeface="Calibri"/>
            </a:endParaRPr>
          </a:p>
        </p:txBody>
      </p:sp>
      <p:sp>
        <p:nvSpPr>
          <p:cNvPr id="192" name="Google Shape;192;p24"/>
          <p:cNvSpPr txBox="1"/>
          <p:nvPr/>
        </p:nvSpPr>
        <p:spPr>
          <a:xfrm>
            <a:off x="3158207" y="6030346"/>
            <a:ext cx="829944"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TO_CHAR</a:t>
            </a:r>
            <a:endParaRPr sz="1600">
              <a:latin typeface="Calibri"/>
              <a:ea typeface="Calibri"/>
              <a:cs typeface="Calibri"/>
              <a:sym typeface="Calibri"/>
            </a:endParaRPr>
          </a:p>
        </p:txBody>
      </p:sp>
      <p:grpSp>
        <p:nvGrpSpPr>
          <p:cNvPr id="193" name="Google Shape;193;p24"/>
          <p:cNvGrpSpPr/>
          <p:nvPr/>
        </p:nvGrpSpPr>
        <p:grpSpPr>
          <a:xfrm>
            <a:off x="4307783" y="4920234"/>
            <a:ext cx="2180462" cy="539559"/>
            <a:chOff x="4307783" y="4920234"/>
            <a:chExt cx="2180462" cy="539559"/>
          </a:xfrm>
        </p:grpSpPr>
        <p:sp>
          <p:nvSpPr>
            <p:cNvPr id="194" name="Google Shape;194;p24"/>
            <p:cNvSpPr/>
            <p:nvPr/>
          </p:nvSpPr>
          <p:spPr>
            <a:xfrm>
              <a:off x="4379213" y="5403913"/>
              <a:ext cx="0" cy="48260"/>
            </a:xfrm>
            <a:custGeom>
              <a:rect b="b" l="l" r="r" t="t"/>
              <a:pathLst>
                <a:path extrusionOk="0" h="48260" w="120000">
                  <a:moveTo>
                    <a:pt x="0" y="48196"/>
                  </a:moveTo>
                  <a:lnTo>
                    <a:pt x="0" y="0"/>
                  </a:lnTo>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5" name="Google Shape;195;p24"/>
            <p:cNvSpPr/>
            <p:nvPr/>
          </p:nvSpPr>
          <p:spPr>
            <a:xfrm>
              <a:off x="4307783" y="5275323"/>
              <a:ext cx="142875" cy="142875"/>
            </a:xfrm>
            <a:custGeom>
              <a:rect b="b" l="l" r="r" t="t"/>
              <a:pathLst>
                <a:path extrusionOk="0" h="142875" w="142875">
                  <a:moveTo>
                    <a:pt x="71437" y="0"/>
                  </a:moveTo>
                  <a:lnTo>
                    <a:pt x="0" y="142875"/>
                  </a:lnTo>
                  <a:lnTo>
                    <a:pt x="142875" y="142875"/>
                  </a:lnTo>
                  <a:lnTo>
                    <a:pt x="71437"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6" name="Google Shape;196;p24"/>
            <p:cNvSpPr/>
            <p:nvPr/>
          </p:nvSpPr>
          <p:spPr>
            <a:xfrm>
              <a:off x="4851653" y="5411533"/>
              <a:ext cx="0" cy="48260"/>
            </a:xfrm>
            <a:custGeom>
              <a:rect b="b" l="l" r="r" t="t"/>
              <a:pathLst>
                <a:path extrusionOk="0" h="48260" w="120000">
                  <a:moveTo>
                    <a:pt x="0" y="48196"/>
                  </a:moveTo>
                  <a:lnTo>
                    <a:pt x="0" y="0"/>
                  </a:lnTo>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7" name="Google Shape;197;p24"/>
            <p:cNvSpPr/>
            <p:nvPr/>
          </p:nvSpPr>
          <p:spPr>
            <a:xfrm>
              <a:off x="4780222" y="5282943"/>
              <a:ext cx="142875" cy="142875"/>
            </a:xfrm>
            <a:custGeom>
              <a:rect b="b" l="l" r="r" t="t"/>
              <a:pathLst>
                <a:path extrusionOk="0" h="142875" w="142875">
                  <a:moveTo>
                    <a:pt x="71437" y="0"/>
                  </a:moveTo>
                  <a:lnTo>
                    <a:pt x="0" y="142874"/>
                  </a:lnTo>
                  <a:lnTo>
                    <a:pt x="142875" y="142874"/>
                  </a:lnTo>
                  <a:lnTo>
                    <a:pt x="71437"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8" name="Google Shape;198;p24"/>
            <p:cNvSpPr/>
            <p:nvPr/>
          </p:nvSpPr>
          <p:spPr>
            <a:xfrm>
              <a:off x="6416801" y="4920234"/>
              <a:ext cx="0" cy="24130"/>
            </a:xfrm>
            <a:custGeom>
              <a:rect b="b" l="l" r="r" t="t"/>
              <a:pathLst>
                <a:path extrusionOk="0" h="24129" w="120000">
                  <a:moveTo>
                    <a:pt x="0" y="0"/>
                  </a:moveTo>
                  <a:lnTo>
                    <a:pt x="0" y="23812"/>
                  </a:lnTo>
                </a:path>
              </a:pathLst>
            </a:custGeom>
            <a:noFill/>
            <a:ln cap="flat" cmpd="sng" w="285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9" name="Google Shape;199;p24"/>
            <p:cNvSpPr/>
            <p:nvPr/>
          </p:nvSpPr>
          <p:spPr>
            <a:xfrm>
              <a:off x="6345370" y="4929761"/>
              <a:ext cx="142875" cy="142875"/>
            </a:xfrm>
            <a:custGeom>
              <a:rect b="b" l="l" r="r" t="t"/>
              <a:pathLst>
                <a:path extrusionOk="0" h="142875" w="142875">
                  <a:moveTo>
                    <a:pt x="142875" y="0"/>
                  </a:moveTo>
                  <a:lnTo>
                    <a:pt x="0" y="0"/>
                  </a:lnTo>
                  <a:lnTo>
                    <a:pt x="71437" y="142874"/>
                  </a:lnTo>
                  <a:lnTo>
                    <a:pt x="142875"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00" name="Google Shape;200;p24"/>
          <p:cNvSpPr txBox="1"/>
          <p:nvPr/>
        </p:nvSpPr>
        <p:spPr>
          <a:xfrm>
            <a:off x="6213309" y="5129212"/>
            <a:ext cx="431800" cy="248920"/>
          </a:xfrm>
          <a:prstGeom prst="rect">
            <a:avLst/>
          </a:prstGeom>
          <a:solidFill>
            <a:srgbClr val="D6DFE0"/>
          </a:solidFill>
          <a:ln>
            <a:noFill/>
          </a:ln>
        </p:spPr>
        <p:txBody>
          <a:bodyPr anchorCtr="0" anchor="t" bIns="0" lIns="0" spcFirstLastPara="1" rIns="0" wrap="square" tIns="0">
            <a:spAutoFit/>
          </a:bodyPr>
          <a:lstStyle/>
          <a:p>
            <a:pPr indent="0" lvl="0" marL="0" rtl="0" algn="l">
              <a:lnSpc>
                <a:spcPct val="115937"/>
              </a:lnSpc>
              <a:spcBef>
                <a:spcPts val="0"/>
              </a:spcBef>
              <a:spcAft>
                <a:spcPts val="0"/>
              </a:spcAft>
              <a:buNone/>
            </a:pPr>
            <a:r>
              <a:rPr b="1" lang="en-US" sz="1600">
                <a:solidFill>
                  <a:srgbClr val="4E3629"/>
                </a:solidFill>
                <a:latin typeface="Calibri"/>
                <a:ea typeface="Calibri"/>
                <a:cs typeface="Calibri"/>
                <a:sym typeface="Calibri"/>
              </a:rPr>
              <a:t>DATE</a:t>
            </a:r>
            <a:endParaRPr sz="1600">
              <a:latin typeface="Calibri"/>
              <a:ea typeface="Calibri"/>
              <a:cs typeface="Calibri"/>
              <a:sym typeface="Calibri"/>
            </a:endParaRPr>
          </a:p>
        </p:txBody>
      </p:sp>
      <p:sp>
        <p:nvSpPr>
          <p:cNvPr id="201" name="Google Shape;201;p24"/>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202" name="Google Shape;202;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3" name="Google Shape;203;p2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04" name="Google Shape;204;p24"/>
          <p:cNvSpPr txBox="1"/>
          <p:nvPr/>
        </p:nvSpPr>
        <p:spPr>
          <a:xfrm>
            <a:off x="5355117" y="6030436"/>
            <a:ext cx="829944"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TO_CHAR</a:t>
            </a:r>
            <a:endParaRPr sz="1600">
              <a:latin typeface="Calibri"/>
              <a:ea typeface="Calibri"/>
              <a:cs typeface="Calibri"/>
              <a:sym typeface="Calibri"/>
            </a:endParaRPr>
          </a:p>
        </p:txBody>
      </p:sp>
      <p:sp>
        <p:nvSpPr>
          <p:cNvPr id="205" name="Google Shape;205;p24"/>
          <p:cNvSpPr txBox="1"/>
          <p:nvPr/>
        </p:nvSpPr>
        <p:spPr>
          <a:xfrm>
            <a:off x="483552" y="1415417"/>
            <a:ext cx="7827009" cy="2845435"/>
          </a:xfrm>
          <a:prstGeom prst="rect">
            <a:avLst/>
          </a:prstGeom>
          <a:noFill/>
          <a:ln>
            <a:noFill/>
          </a:ln>
        </p:spPr>
        <p:txBody>
          <a:bodyPr anchorCtr="0" anchor="t" bIns="0" lIns="0" spcFirstLastPara="1" rIns="0" wrap="square" tIns="59675">
            <a:spAutoFit/>
          </a:bodyPr>
          <a:lstStyle/>
          <a:p>
            <a:pPr indent="-177800" lvl="0" marL="182880" marR="1701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cuatro funciones de conversión de tipos de dato 	que aprenderá son:</a:t>
            </a:r>
            <a:endParaRPr sz="2800">
              <a:latin typeface="Calibri"/>
              <a:ea typeface="Calibri"/>
              <a:cs typeface="Calibri"/>
              <a:sym typeface="Calibri"/>
            </a:endParaRPr>
          </a:p>
          <a:p>
            <a:pPr indent="-175260" lvl="0" marL="530860" marR="503555"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Convertir un tipo de dato de caracteres en tipo de dato numérico</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Convertir un tipo de dato de caracteres en tipos de dato de fecha</a:t>
            </a:r>
            <a:endParaRPr sz="2400">
              <a:latin typeface="Calibri"/>
              <a:ea typeface="Calibri"/>
              <a:cs typeface="Calibri"/>
              <a:sym typeface="Calibri"/>
            </a:endParaRPr>
          </a:p>
          <a:p>
            <a:pPr indent="0" lvl="0" marL="359410" rtl="0" algn="ctr">
              <a:lnSpc>
                <a:spcPct val="110937"/>
              </a:lnSpc>
              <a:spcBef>
                <a:spcPts val="0"/>
              </a:spcBef>
              <a:spcAft>
                <a:spcPts val="0"/>
              </a:spcAft>
              <a:buNone/>
            </a:pPr>
            <a:r>
              <a:rPr b="1" lang="en-US" sz="1600">
                <a:solidFill>
                  <a:srgbClr val="4E3629"/>
                </a:solidFill>
                <a:latin typeface="Calibri"/>
                <a:ea typeface="Calibri"/>
                <a:cs typeface="Calibri"/>
                <a:sym typeface="Calibri"/>
              </a:rPr>
              <a:t>CONVERSIÓN DE TIPO DE DATO EXPLÍCITA</a:t>
            </a:r>
            <a:endParaRPr sz="1600">
              <a:latin typeface="Calibri"/>
              <a:ea typeface="Calibri"/>
              <a:cs typeface="Calibri"/>
              <a:sym typeface="Calibri"/>
            </a:endParaRPr>
          </a:p>
          <a:p>
            <a:pPr indent="0" lvl="0" marL="360045" rtl="0" algn="ctr">
              <a:lnSpc>
                <a:spcPct val="100000"/>
              </a:lnSpc>
              <a:spcBef>
                <a:spcPts val="890"/>
              </a:spcBef>
              <a:spcAft>
                <a:spcPts val="0"/>
              </a:spcAft>
              <a:buNone/>
            </a:pPr>
            <a:r>
              <a:rPr b="1" lang="en-US" sz="1600">
                <a:solidFill>
                  <a:srgbClr val="4E3629"/>
                </a:solidFill>
                <a:latin typeface="Calibri"/>
                <a:ea typeface="Calibri"/>
                <a:cs typeface="Calibri"/>
                <a:sym typeface="Calibri"/>
              </a:rPr>
              <a:t>TO_NUMBER	TO_DATE</a:t>
            </a:r>
            <a:endParaRPr sz="16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5"/>
          <p:cNvSpPr txBox="1"/>
          <p:nvPr>
            <p:ph type="title"/>
          </p:nvPr>
        </p:nvSpPr>
        <p:spPr>
          <a:xfrm>
            <a:off x="392112" y="385319"/>
            <a:ext cx="45681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de Fecha en Datos de Caracteres</a:t>
            </a:r>
            <a:endParaRPr sz="3000"/>
          </a:p>
        </p:txBody>
      </p:sp>
      <p:sp>
        <p:nvSpPr>
          <p:cNvPr id="211" name="Google Shape;211;p25"/>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212" name="Google Shape;212;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3" name="Google Shape;213;p2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14" name="Google Shape;214;p25"/>
          <p:cNvSpPr txBox="1"/>
          <p:nvPr/>
        </p:nvSpPr>
        <p:spPr>
          <a:xfrm>
            <a:off x="483552" y="1415417"/>
            <a:ext cx="8103234"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general, es aconsejable que un formato de fecha 	se convierta de su formato DD-Mes-YYYY por defecto 	en otro formato especificado por el usuario</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que permite llevar esto a cabo es:</a:t>
            </a:r>
            <a:endParaRPr sz="2800">
              <a:latin typeface="Calibri"/>
              <a:ea typeface="Calibri"/>
              <a:cs typeface="Calibri"/>
              <a:sym typeface="Calibri"/>
            </a:endParaRPr>
          </a:p>
        </p:txBody>
      </p:sp>
      <p:sp>
        <p:nvSpPr>
          <p:cNvPr id="215" name="Google Shape;215;p25"/>
          <p:cNvSpPr txBox="1"/>
          <p:nvPr/>
        </p:nvSpPr>
        <p:spPr>
          <a:xfrm>
            <a:off x="483552" y="3640457"/>
            <a:ext cx="7637145" cy="1706245"/>
          </a:xfrm>
          <a:prstGeom prst="rect">
            <a:avLst/>
          </a:prstGeom>
          <a:noFill/>
          <a:ln>
            <a:noFill/>
          </a:ln>
        </p:spPr>
        <p:txBody>
          <a:bodyPr anchorCtr="0" anchor="t" bIns="0" lIns="0" spcFirstLastPara="1" rIns="0" wrap="square" tIns="59675">
            <a:spAutoFit/>
          </a:bodyPr>
          <a:lstStyle/>
          <a:p>
            <a:pPr indent="-177800" lvl="0" marL="182880" marR="44259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'modelo de formato' debe estar entre comillas 	simples y es sensible a mayúsculas/minúsculas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Separe el valor de fecha del modelo de formato con 	una coma</a:t>
            </a:r>
            <a:endParaRPr sz="2800">
              <a:latin typeface="Calibri"/>
              <a:ea typeface="Calibri"/>
              <a:cs typeface="Calibri"/>
              <a:sym typeface="Calibri"/>
            </a:endParaRPr>
          </a:p>
        </p:txBody>
      </p:sp>
      <p:sp>
        <p:nvSpPr>
          <p:cNvPr id="216" name="Google Shape;216;p25"/>
          <p:cNvSpPr txBox="1"/>
          <p:nvPr/>
        </p:nvSpPr>
        <p:spPr>
          <a:xfrm>
            <a:off x="393191" y="3243072"/>
            <a:ext cx="8345805" cy="372110"/>
          </a:xfrm>
          <a:prstGeom prst="rect">
            <a:avLst/>
          </a:prstGeom>
          <a:solidFill>
            <a:srgbClr val="9DBDC4">
              <a:alpha val="49804"/>
            </a:srgbClr>
          </a:solidFill>
          <a:ln>
            <a:noFill/>
          </a:ln>
        </p:spPr>
        <p:txBody>
          <a:bodyPr anchorCtr="0" anchor="t" bIns="0" lIns="0" spcFirstLastPara="1" rIns="0" wrap="square" tIns="209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TO_CHAR (date column name, 'format model you specify')</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type="title"/>
          </p:nvPr>
        </p:nvSpPr>
        <p:spPr>
          <a:xfrm>
            <a:off x="392112" y="385319"/>
            <a:ext cx="45681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de Fecha en Datos de Caracteres</a:t>
            </a:r>
            <a:endParaRPr sz="3000"/>
          </a:p>
        </p:txBody>
      </p:sp>
      <p:sp>
        <p:nvSpPr>
          <p:cNvPr id="222" name="Google Shape;222;p26"/>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223" name="Google Shape;223;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4" name="Google Shape;224;p2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25" name="Google Shape;225;p26"/>
          <p:cNvSpPr txBox="1"/>
          <p:nvPr/>
        </p:nvSpPr>
        <p:spPr>
          <a:xfrm>
            <a:off x="483552" y="1415417"/>
            <a:ext cx="7742555" cy="3444875"/>
          </a:xfrm>
          <a:prstGeom prst="rect">
            <a:avLst/>
          </a:prstGeom>
          <a:noFill/>
          <a:ln>
            <a:noFill/>
          </a:ln>
        </p:spPr>
        <p:txBody>
          <a:bodyPr anchorCtr="0" anchor="t" bIns="0" lIns="0" spcFirstLastPara="1" rIns="0" wrap="square" tIns="59675">
            <a:spAutoFit/>
          </a:bodyPr>
          <a:lstStyle/>
          <a:p>
            <a:pPr indent="-177800" lvl="0" marL="182880" marR="21907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 incluir cualquier elemento de formato de 	fecha válido</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Utilice sp para deletrear un número</a:t>
            </a:r>
            <a:endParaRPr sz="2800">
              <a:latin typeface="Calibri"/>
              <a:ea typeface="Calibri"/>
              <a:cs typeface="Calibri"/>
              <a:sym typeface="Calibri"/>
            </a:endParaRPr>
          </a:p>
          <a:p>
            <a:pPr indent="-177800" lvl="0" marL="182880" marR="63690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Utilice th para que el número aparezca como un 	ordinal</a:t>
            </a:r>
            <a:endParaRPr sz="2800">
              <a:latin typeface="Calibri"/>
              <a:ea typeface="Calibri"/>
              <a:cs typeface="Calibri"/>
              <a:sym typeface="Calibri"/>
            </a:endParaRPr>
          </a:p>
          <a:p>
            <a:pPr indent="0" lvl="0" marL="184785" rtl="0" algn="l">
              <a:lnSpc>
                <a:spcPct val="106250"/>
              </a:lnSpc>
              <a:spcBef>
                <a:spcPts val="0"/>
              </a:spcBef>
              <a:spcAft>
                <a:spcPts val="0"/>
              </a:spcAft>
              <a:buNone/>
            </a:pPr>
            <a:r>
              <a:rPr lang="en-US" sz="2800">
                <a:solidFill>
                  <a:srgbClr val="4E3629"/>
                </a:solidFill>
                <a:latin typeface="Calibri"/>
                <a:ea typeface="Calibri"/>
                <a:cs typeface="Calibri"/>
                <a:sym typeface="Calibri"/>
              </a:rPr>
              <a:t>(1º, 2º, 3º y así sucesivamente)</a:t>
            </a:r>
            <a:endParaRPr sz="2800">
              <a:latin typeface="Calibri"/>
              <a:ea typeface="Calibri"/>
              <a:cs typeface="Calibri"/>
              <a:sym typeface="Calibri"/>
            </a:endParaRPr>
          </a:p>
          <a:p>
            <a:pPr indent="-177800" lvl="0" marL="182880" marR="5080" rtl="0" algn="l">
              <a:lnSpc>
                <a:spcPct val="108214"/>
              </a:lnSpc>
              <a:spcBef>
                <a:spcPts val="83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Utilice un elemento fm para eliminar los espacios en 	blanco o eliminar los ceros iniciales de la salida</a:t>
            </a:r>
            <a:endParaRPr sz="28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7"/>
          <p:cNvSpPr txBox="1"/>
          <p:nvPr/>
        </p:nvSpPr>
        <p:spPr>
          <a:xfrm>
            <a:off x="2874191" y="6489343"/>
            <a:ext cx="3149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DP 5-1</a:t>
            </a:r>
            <a:endParaRPr sz="850">
              <a:latin typeface="Calibri"/>
              <a:ea typeface="Calibri"/>
              <a:cs typeface="Calibri"/>
              <a:sym typeface="Calibri"/>
            </a:endParaRPr>
          </a:p>
        </p:txBody>
      </p:sp>
      <p:sp>
        <p:nvSpPr>
          <p:cNvPr id="231" name="Google Shape;231;p27"/>
          <p:cNvSpPr/>
          <p:nvPr/>
        </p:nvSpPr>
        <p:spPr>
          <a:xfrm>
            <a:off x="4572761" y="1524761"/>
            <a:ext cx="0" cy="4419600"/>
          </a:xfrm>
          <a:custGeom>
            <a:rect b="b" l="l" r="r" t="t"/>
            <a:pathLst>
              <a:path extrusionOk="0" h="4419600" w="120000">
                <a:moveTo>
                  <a:pt x="0" y="0"/>
                </a:moveTo>
                <a:lnTo>
                  <a:pt x="0" y="4419600"/>
                </a:lnTo>
              </a:path>
            </a:pathLst>
          </a:custGeom>
          <a:noFill/>
          <a:ln cap="flat" cmpd="sng" w="19050">
            <a:solidFill>
              <a:srgbClr val="DFE1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2" name="Google Shape;232;p27"/>
          <p:cNvSpPr txBox="1"/>
          <p:nvPr/>
        </p:nvSpPr>
        <p:spPr>
          <a:xfrm>
            <a:off x="4771770" y="1106162"/>
            <a:ext cx="3829800" cy="4923000"/>
          </a:xfrm>
          <a:prstGeom prst="rect">
            <a:avLst/>
          </a:prstGeom>
          <a:noFill/>
          <a:ln>
            <a:noFill/>
          </a:ln>
        </p:spPr>
        <p:txBody>
          <a:bodyPr anchorCtr="0" anchor="t" bIns="0" lIns="0" spcFirstLastPara="1" rIns="0" wrap="square" tIns="59675">
            <a:spAutoFit/>
          </a:bodyPr>
          <a:lstStyle/>
          <a:p>
            <a:pPr indent="-431800" lvl="0" marL="469900" marR="5080" rtl="0" algn="l">
              <a:lnSpc>
                <a:spcPct val="108214"/>
              </a:lnSpc>
              <a:spcBef>
                <a:spcPts val="0"/>
              </a:spcBef>
              <a:spcAft>
                <a:spcPts val="0"/>
              </a:spcAft>
              <a:buClr>
                <a:srgbClr val="D1350F"/>
              </a:buClr>
              <a:buSzPts val="2400"/>
              <a:buFont typeface="Arial"/>
              <a:buChar char="•"/>
            </a:pPr>
            <a:r>
              <a:rPr lang="en-US" sz="2400">
                <a:solidFill>
                  <a:srgbClr val="4E3629"/>
                </a:solidFill>
                <a:latin typeface="Calibri"/>
                <a:ea typeface="Calibri"/>
                <a:cs typeface="Calibri"/>
                <a:sym typeface="Calibri"/>
              </a:rPr>
              <a:t>Las tablas muestran los diferentes modelos de formato que se pueden utilizar</a:t>
            </a:r>
            <a:endParaRPr sz="2400">
              <a:latin typeface="Calibri"/>
              <a:ea typeface="Calibri"/>
              <a:cs typeface="Calibri"/>
              <a:sym typeface="Calibri"/>
            </a:endParaRPr>
          </a:p>
          <a:p>
            <a:pPr indent="-431800" lvl="0" marL="469900" marR="28575" rtl="0" algn="l">
              <a:lnSpc>
                <a:spcPct val="108214"/>
              </a:lnSpc>
              <a:spcBef>
                <a:spcPts val="780"/>
              </a:spcBef>
              <a:spcAft>
                <a:spcPts val="0"/>
              </a:spcAft>
              <a:buClr>
                <a:srgbClr val="D1350F"/>
              </a:buClr>
              <a:buSzPts val="2400"/>
              <a:buFont typeface="Arial"/>
              <a:buChar char="•"/>
            </a:pPr>
            <a:r>
              <a:rPr lang="en-US" sz="2400">
                <a:solidFill>
                  <a:srgbClr val="4E3629"/>
                </a:solidFill>
                <a:latin typeface="Calibri"/>
                <a:ea typeface="Calibri"/>
                <a:cs typeface="Calibri"/>
                <a:sym typeface="Calibri"/>
              </a:rPr>
              <a:t>Al especificar elementos temporales, tenga en cuenta que también se puede aplicar formato a</a:t>
            </a:r>
            <a:endParaRPr sz="2400">
              <a:latin typeface="Calibri"/>
              <a:ea typeface="Calibri"/>
              <a:cs typeface="Calibri"/>
              <a:sym typeface="Calibri"/>
            </a:endParaRPr>
          </a:p>
          <a:p>
            <a:pPr indent="0" lvl="0" marL="469900" rtl="0" algn="l">
              <a:lnSpc>
                <a:spcPct val="99821"/>
              </a:lnSpc>
              <a:spcBef>
                <a:spcPts val="0"/>
              </a:spcBef>
              <a:spcAft>
                <a:spcPts val="0"/>
              </a:spcAft>
              <a:buNone/>
            </a:pPr>
            <a:r>
              <a:rPr lang="en-US" sz="2400">
                <a:solidFill>
                  <a:srgbClr val="4E3629"/>
                </a:solidFill>
                <a:latin typeface="Calibri"/>
                <a:ea typeface="Calibri"/>
                <a:cs typeface="Calibri"/>
                <a:sym typeface="Calibri"/>
              </a:rPr>
              <a:t>las horas (HH), los</a:t>
            </a:r>
            <a:endParaRPr sz="2400">
              <a:latin typeface="Calibri"/>
              <a:ea typeface="Calibri"/>
              <a:cs typeface="Calibri"/>
              <a:sym typeface="Calibri"/>
            </a:endParaRPr>
          </a:p>
          <a:p>
            <a:pPr indent="0" lvl="0" marL="469900" marR="254635" rtl="0" algn="l">
              <a:lnSpc>
                <a:spcPct val="108214"/>
              </a:lnSpc>
              <a:spcBef>
                <a:spcPts val="210"/>
              </a:spcBef>
              <a:spcAft>
                <a:spcPts val="0"/>
              </a:spcAft>
              <a:buNone/>
            </a:pPr>
            <a:r>
              <a:rPr lang="en-US" sz="2400">
                <a:solidFill>
                  <a:srgbClr val="4E3629"/>
                </a:solidFill>
                <a:latin typeface="Calibri"/>
                <a:ea typeface="Calibri"/>
                <a:cs typeface="Calibri"/>
                <a:sym typeface="Calibri"/>
              </a:rPr>
              <a:t>minutos (MI), los segundos (SS) y AM o PM</a:t>
            </a:r>
            <a:endParaRPr sz="2400">
              <a:latin typeface="Calibri"/>
              <a:ea typeface="Calibri"/>
              <a:cs typeface="Calibri"/>
              <a:sym typeface="Calibri"/>
            </a:endParaRPr>
          </a:p>
        </p:txBody>
      </p:sp>
      <p:sp>
        <p:nvSpPr>
          <p:cNvPr id="233" name="Google Shape;233;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4" name="Google Shape;234;p2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35" name="Google Shape;235;p27"/>
          <p:cNvSpPr txBox="1"/>
          <p:nvPr/>
        </p:nvSpPr>
        <p:spPr>
          <a:xfrm>
            <a:off x="2874191" y="6632173"/>
            <a:ext cx="1121410" cy="133985"/>
          </a:xfrm>
          <a:prstGeom prst="rect">
            <a:avLst/>
          </a:prstGeom>
          <a:noFill/>
          <a:ln>
            <a:noFill/>
          </a:ln>
        </p:spPr>
        <p:txBody>
          <a:bodyPr anchorCtr="0" anchor="t" bIns="0" lIns="0" spcFirstLastPara="1" rIns="0" wrap="square" tIns="0">
            <a:spAutoFit/>
          </a:bodyPr>
          <a:lstStyle/>
          <a:p>
            <a:pPr indent="0" lvl="0" marL="12700" rtl="0" algn="l">
              <a:lnSpc>
                <a:spcPct val="107058"/>
              </a:lnSpc>
              <a:spcBef>
                <a:spcPts val="0"/>
              </a:spcBef>
              <a:spcAft>
                <a:spcPts val="0"/>
              </a:spcAft>
              <a:buNone/>
            </a:pPr>
            <a:r>
              <a:rPr lang="en-US" sz="850">
                <a:solidFill>
                  <a:srgbClr val="4E3629"/>
                </a:solidFill>
                <a:latin typeface="Calibri"/>
                <a:ea typeface="Calibri"/>
                <a:cs typeface="Calibri"/>
                <a:sym typeface="Calibri"/>
              </a:rPr>
              <a:t>Funciones de Conversión</a:t>
            </a:r>
            <a:endParaRPr sz="850">
              <a:latin typeface="Calibri"/>
              <a:ea typeface="Calibri"/>
              <a:cs typeface="Calibri"/>
              <a:sym typeface="Calibri"/>
            </a:endParaRPr>
          </a:p>
        </p:txBody>
      </p:sp>
      <p:sp>
        <p:nvSpPr>
          <p:cNvPr id="236" name="Google Shape;236;p27"/>
          <p:cNvSpPr txBox="1"/>
          <p:nvPr>
            <p:ph type="title"/>
          </p:nvPr>
        </p:nvSpPr>
        <p:spPr>
          <a:xfrm>
            <a:off x="398812" y="-6"/>
            <a:ext cx="45681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de Fecha en Datos de Caracteres</a:t>
            </a:r>
            <a:endParaRPr sz="3000"/>
          </a:p>
        </p:txBody>
      </p:sp>
      <p:graphicFrame>
        <p:nvGraphicFramePr>
          <p:cNvPr id="237" name="Google Shape;237;p27"/>
          <p:cNvGraphicFramePr/>
          <p:nvPr/>
        </p:nvGraphicFramePr>
        <p:xfrm>
          <a:off x="405162" y="1132325"/>
          <a:ext cx="3000000" cy="3000000"/>
        </p:xfrm>
        <a:graphic>
          <a:graphicData uri="http://schemas.openxmlformats.org/drawingml/2006/table">
            <a:tbl>
              <a:tblPr bandRow="1" firstRow="1">
                <a:noFill/>
                <a:tableStyleId>{22F0BE96-B600-4196-B546-7D2FCBCF95F3}</a:tableStyleId>
              </a:tblPr>
              <a:tblGrid>
                <a:gridCol w="1302375"/>
                <a:gridCol w="2750825"/>
              </a:tblGrid>
              <a:tr h="304800">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YYYY</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Año completo en números</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800">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YEAR</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Año en letra</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800">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MM</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Valor de dos dígitos del mes</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800">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MONTH</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Nombre completo del mes</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4475">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MON</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Abreviatura de tres letras del mes</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57200">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DY</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30607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Abreviatura de tres letras del día de la semana</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800">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DAY</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Nombre completo del día de la semana</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800">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DD</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Día numérico del mes</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3675">
                <a:tc>
                  <a:txBody>
                    <a:bodyPr/>
                    <a:lstStyle/>
                    <a:p>
                      <a:pPr indent="0" lvl="0" marL="9080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DDspth</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FOURTEENTH</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3675">
                <a:tc>
                  <a:txBody>
                    <a:bodyPr/>
                    <a:lstStyle/>
                    <a:p>
                      <a:pPr indent="0" lvl="0" marL="9080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Ddspth</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Fourteenth</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3675">
                <a:tc>
                  <a:txBody>
                    <a:bodyPr/>
                    <a:lstStyle/>
                    <a:p>
                      <a:pPr indent="0" lvl="0" marL="9080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ddspth</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fourteenth</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7175">
                <a:tc>
                  <a:txBody>
                    <a:bodyPr/>
                    <a:lstStyle/>
                    <a:p>
                      <a:pPr indent="0" lvl="0" marL="9080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DDD o DD o D</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Día del año, mes o semana</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175">
                <a:tc>
                  <a:txBody>
                    <a:bodyPr/>
                    <a:lstStyle/>
                    <a:p>
                      <a:pPr indent="0" lvl="0" marL="9080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HH24:MI:SS AM</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15:45:32 PM</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800">
                <a:tc>
                  <a:txBody>
                    <a:bodyPr/>
                    <a:lstStyle/>
                    <a:p>
                      <a:pPr indent="0" lvl="0" marL="9080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DD "of" MONTH</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12 de octubre</a:t>
                      </a:r>
                      <a:endParaRPr sz="12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txBox="1"/>
          <p:nvPr>
            <p:ph type="title"/>
          </p:nvPr>
        </p:nvSpPr>
        <p:spPr>
          <a:xfrm>
            <a:off x="392112" y="385319"/>
            <a:ext cx="45681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de Fecha en Datos de Caracteres</a:t>
            </a:r>
            <a:endParaRPr sz="3000"/>
          </a:p>
        </p:txBody>
      </p:sp>
      <p:sp>
        <p:nvSpPr>
          <p:cNvPr id="243" name="Google Shape;243;p28"/>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244" name="Google Shape;244;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5" name="Google Shape;245;p2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46" name="Google Shape;246;p28"/>
          <p:cNvSpPr txBox="1"/>
          <p:nvPr/>
        </p:nvSpPr>
        <p:spPr>
          <a:xfrm>
            <a:off x="483552" y="1415417"/>
            <a:ext cx="811530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Ejemplos de salida con diferentes modelos de formato:</a:t>
            </a:r>
            <a:endParaRPr sz="2800">
              <a:latin typeface="Calibri"/>
              <a:ea typeface="Calibri"/>
              <a:cs typeface="Calibri"/>
              <a:sym typeface="Calibri"/>
            </a:endParaRPr>
          </a:p>
        </p:txBody>
      </p:sp>
      <p:graphicFrame>
        <p:nvGraphicFramePr>
          <p:cNvPr id="247" name="Google Shape;247;p28"/>
          <p:cNvGraphicFramePr/>
          <p:nvPr/>
        </p:nvGraphicFramePr>
        <p:xfrm>
          <a:off x="398462" y="2441575"/>
          <a:ext cx="3000000" cy="3000000"/>
        </p:xfrm>
        <a:graphic>
          <a:graphicData uri="http://schemas.openxmlformats.org/drawingml/2006/table">
            <a:tbl>
              <a:tblPr bandRow="1" firstRow="1">
                <a:noFill/>
                <a:tableStyleId>{22F0BE96-B600-4196-B546-7D2FCBCF95F3}</a:tableStyleId>
              </a:tblPr>
              <a:tblGrid>
                <a:gridCol w="6377300"/>
                <a:gridCol w="1969775"/>
              </a:tblGrid>
              <a:tr h="395600">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Ejemplos:</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Salida</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023625">
                <a:tc>
                  <a:txBody>
                    <a:bodyPr/>
                    <a:lstStyle/>
                    <a:p>
                      <a:pPr indent="0" lvl="0" marL="101600" marR="243014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TO_CHAR(hire_date, 'Month dd, YYYY')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p>
                      <a:pPr indent="0" lvl="0" marL="101600" marR="0" rtl="0" algn="l">
                        <a:lnSpc>
                          <a:spcPct val="100000"/>
                        </a:lnSpc>
                        <a:spcBef>
                          <a:spcPts val="430"/>
                        </a:spcBef>
                        <a:spcAft>
                          <a:spcPts val="0"/>
                        </a:spcAft>
                        <a:buNone/>
                      </a:pPr>
                      <a:r>
                        <a:rPr lang="en-US" sz="1800" u="none" cap="none" strike="noStrike">
                          <a:solidFill>
                            <a:srgbClr val="4E3629"/>
                          </a:solidFill>
                          <a:latin typeface="Calibri"/>
                          <a:ea typeface="Calibri"/>
                          <a:cs typeface="Calibri"/>
                          <a:sym typeface="Calibri"/>
                        </a:rPr>
                        <a:t>June 07, 1994</a:t>
                      </a:r>
                      <a:endParaRPr sz="1800" u="none" cap="none" strike="noStrike">
                        <a:latin typeface="Calibri"/>
                        <a:ea typeface="Calibri"/>
                        <a:cs typeface="Calibri"/>
                        <a:sym typeface="Calibri"/>
                      </a:endParaRPr>
                    </a:p>
                    <a:p>
                      <a:pPr indent="0" lvl="0" marL="101600" marR="0" rtl="0" algn="l">
                        <a:lnSpc>
                          <a:spcPct val="100000"/>
                        </a:lnSpc>
                        <a:spcBef>
                          <a:spcPts val="455"/>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023625">
                <a:tc>
                  <a:txBody>
                    <a:bodyPr/>
                    <a:lstStyle/>
                    <a:p>
                      <a:pPr indent="0" lvl="0" marL="101600" marR="220726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TO_CHAR(hire_date, 'fmMonth dd, YYYY')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p>
                      <a:pPr indent="0" lvl="0" marL="101600" marR="0" rtl="0" algn="l">
                        <a:lnSpc>
                          <a:spcPct val="100000"/>
                        </a:lnSpc>
                        <a:spcBef>
                          <a:spcPts val="430"/>
                        </a:spcBef>
                        <a:spcAft>
                          <a:spcPts val="0"/>
                        </a:spcAft>
                        <a:buNone/>
                      </a:pPr>
                      <a:r>
                        <a:rPr lang="en-US" sz="1800" u="none" cap="none" strike="noStrike">
                          <a:solidFill>
                            <a:srgbClr val="4E3629"/>
                          </a:solidFill>
                          <a:latin typeface="Calibri"/>
                          <a:ea typeface="Calibri"/>
                          <a:cs typeface="Calibri"/>
                          <a:sym typeface="Calibri"/>
                        </a:rPr>
                        <a:t>June 7, 1994</a:t>
                      </a:r>
                      <a:endParaRPr sz="1800" u="none" cap="none" strike="noStrike">
                        <a:latin typeface="Calibri"/>
                        <a:ea typeface="Calibri"/>
                        <a:cs typeface="Calibri"/>
                        <a:sym typeface="Calibri"/>
                      </a:endParaRPr>
                    </a:p>
                    <a:p>
                      <a:pPr indent="0" lvl="0" marL="101600" marR="0" rtl="0" algn="l">
                        <a:lnSpc>
                          <a:spcPct val="100000"/>
                        </a:lnSpc>
                        <a:spcBef>
                          <a:spcPts val="455"/>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023625">
                <a:tc>
                  <a:txBody>
                    <a:bodyPr/>
                    <a:lstStyle/>
                    <a:p>
                      <a:pPr indent="0" lvl="0" marL="101600" marR="194056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TO_CHAR(hire_date, 'fmMonth ddth,	YYYY')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June 7th, 1994</a:t>
                      </a:r>
                      <a:endParaRPr sz="1800" u="none" cap="none" strike="noStrike">
                        <a:latin typeface="Calibri"/>
                        <a:ea typeface="Calibri"/>
                        <a:cs typeface="Calibri"/>
                        <a:sym typeface="Calibri"/>
                      </a:endParaRPr>
                    </a:p>
                    <a:p>
                      <a:pPr indent="0" lvl="0" marL="101600" marR="0" rtl="0" algn="l">
                        <a:lnSpc>
                          <a:spcPct val="100000"/>
                        </a:lnSpc>
                        <a:spcBef>
                          <a:spcPts val="430"/>
                        </a:spcBef>
                        <a:spcAft>
                          <a:spcPts val="0"/>
                        </a:spcAft>
                        <a:buNone/>
                      </a:pPr>
                      <a:r>
                        <a:rPr lang="en-US" sz="1800" u="none" cap="none" strike="noStrike">
                          <a:solidFill>
                            <a:srgbClr val="4E3629"/>
                          </a:solidFill>
                          <a:latin typeface="Calibri"/>
                          <a:ea typeface="Calibri"/>
                          <a:cs typeface="Calibri"/>
                          <a:sym typeface="Calibri"/>
                        </a:rPr>
                        <a:t>January 3rd, 1990</a:t>
                      </a:r>
                      <a:endParaRPr sz="1800" u="none" cap="none" strike="noStrike">
                        <a:latin typeface="Calibri"/>
                        <a:ea typeface="Calibri"/>
                        <a:cs typeface="Calibri"/>
                        <a:sym typeface="Calibri"/>
                      </a:endParaRPr>
                    </a:p>
                    <a:p>
                      <a:pPr indent="0" lvl="0" marL="101600" marR="0" rtl="0" algn="l">
                        <a:lnSpc>
                          <a:spcPct val="100000"/>
                        </a:lnSpc>
                        <a:spcBef>
                          <a:spcPts val="455"/>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ph type="title"/>
          </p:nvPr>
        </p:nvSpPr>
        <p:spPr>
          <a:xfrm>
            <a:off x="392112" y="385319"/>
            <a:ext cx="45681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de Fecha en Datos de Caracteres</a:t>
            </a:r>
            <a:endParaRPr sz="3000"/>
          </a:p>
        </p:txBody>
      </p:sp>
      <p:sp>
        <p:nvSpPr>
          <p:cNvPr id="253" name="Google Shape;253;p29"/>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254" name="Google Shape;254;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5" name="Google Shape;255;p2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56" name="Google Shape;256;p29"/>
          <p:cNvSpPr txBox="1"/>
          <p:nvPr/>
        </p:nvSpPr>
        <p:spPr>
          <a:xfrm>
            <a:off x="483552" y="1415417"/>
            <a:ext cx="811530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Ejemplos de salida con diferentes modelos de formato:</a:t>
            </a:r>
            <a:endParaRPr sz="2800">
              <a:latin typeface="Calibri"/>
              <a:ea typeface="Calibri"/>
              <a:cs typeface="Calibri"/>
              <a:sym typeface="Calibri"/>
            </a:endParaRPr>
          </a:p>
        </p:txBody>
      </p:sp>
      <p:graphicFrame>
        <p:nvGraphicFramePr>
          <p:cNvPr id="257" name="Google Shape;257;p29"/>
          <p:cNvGraphicFramePr/>
          <p:nvPr/>
        </p:nvGraphicFramePr>
        <p:xfrm>
          <a:off x="386443" y="2424014"/>
          <a:ext cx="3000000" cy="3000000"/>
        </p:xfrm>
        <a:graphic>
          <a:graphicData uri="http://schemas.openxmlformats.org/drawingml/2006/table">
            <a:tbl>
              <a:tblPr bandRow="1" firstRow="1">
                <a:noFill/>
                <a:tableStyleId>{22F0BE96-B600-4196-B546-7D2FCBCF95F3}</a:tableStyleId>
              </a:tblPr>
              <a:tblGrid>
                <a:gridCol w="5539100"/>
                <a:gridCol w="2807325"/>
              </a:tblGrid>
              <a:tr h="395600">
                <a:tc>
                  <a:txBody>
                    <a:bodyPr/>
                    <a:lstStyle/>
                    <a:p>
                      <a:pPr indent="0" lvl="0" marL="100965"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Ejemplos:</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965"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Salida</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0965" marR="100965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TO_CHAR(hire_date, 'fmDay ddth Mon, YYYY')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96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Tuesday 7th Jun, 1994</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0965" marR="82423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TO_CHAR(hire_date, 'fmDay ddthsp Mon, YYYY')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96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Tuesday, seventh Jun, 1994</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39450">
                <a:tc>
                  <a:txBody>
                    <a:bodyPr/>
                    <a:lstStyle/>
                    <a:p>
                      <a:pPr indent="0" lvl="0" marL="100965" marR="28130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TO_CHAR(hire_date, 'fmDay, ddthsp "of" Month, Year')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965" marR="34163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Tuesday, seventh of June, Nineteen Ninety-Four</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ph type="title"/>
          </p:nvPr>
        </p:nvSpPr>
        <p:spPr>
          <a:xfrm>
            <a:off x="392112" y="385319"/>
            <a:ext cx="45681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de Fecha en Datos de Caracteres</a:t>
            </a:r>
            <a:endParaRPr sz="3000"/>
          </a:p>
        </p:txBody>
      </p:sp>
      <p:sp>
        <p:nvSpPr>
          <p:cNvPr id="263" name="Google Shape;263;p30"/>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264" name="Google Shape;264;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5" name="Google Shape;265;p3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66" name="Google Shape;266;p30"/>
          <p:cNvSpPr txBox="1"/>
          <p:nvPr/>
        </p:nvSpPr>
        <p:spPr>
          <a:xfrm>
            <a:off x="483552" y="1415417"/>
            <a:ext cx="802005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Ejemplos de salida con diferentes modelos de formato 	para el tiempo:</a:t>
            </a:r>
            <a:endParaRPr sz="2800">
              <a:latin typeface="Calibri"/>
              <a:ea typeface="Calibri"/>
              <a:cs typeface="Calibri"/>
              <a:sym typeface="Calibri"/>
            </a:endParaRPr>
          </a:p>
        </p:txBody>
      </p:sp>
      <p:graphicFrame>
        <p:nvGraphicFramePr>
          <p:cNvPr id="267" name="Google Shape;267;p30"/>
          <p:cNvGraphicFramePr/>
          <p:nvPr/>
        </p:nvGraphicFramePr>
        <p:xfrm>
          <a:off x="398462" y="2611466"/>
          <a:ext cx="3000000" cy="3000000"/>
        </p:xfrm>
        <a:graphic>
          <a:graphicData uri="http://schemas.openxmlformats.org/drawingml/2006/table">
            <a:tbl>
              <a:tblPr bandRow="1" firstRow="1">
                <a:noFill/>
                <a:tableStyleId>{22F0BE96-B600-4196-B546-7D2FCBCF95F3}</a:tableStyleId>
              </a:tblPr>
              <a:tblGrid>
                <a:gridCol w="6055350"/>
                <a:gridCol w="2290450"/>
              </a:tblGrid>
              <a:tr h="395600">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Ejemplos:</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Salida</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 TO_CHAR(SYSDATE, 'hh:mm')</a:t>
                      </a:r>
                      <a:endParaRPr sz="1600" u="none" cap="none" strike="noStrike">
                        <a:latin typeface="Calibri"/>
                        <a:ea typeface="Calibri"/>
                        <a:cs typeface="Calibri"/>
                        <a:sym typeface="Calibri"/>
                      </a:endParaRPr>
                    </a:p>
                    <a:p>
                      <a:pPr indent="0" lvl="0" marL="101600" marR="0" rtl="0" algn="l">
                        <a:lnSpc>
                          <a:spcPct val="100000"/>
                        </a:lnSpc>
                        <a:spcBef>
                          <a:spcPts val="310"/>
                        </a:spcBef>
                        <a:spcAft>
                          <a:spcPts val="0"/>
                        </a:spcAft>
                        <a:buNone/>
                      </a:pPr>
                      <a:r>
                        <a:rPr lang="en-US" sz="1600" u="none" cap="none" strike="noStrike">
                          <a:solidFill>
                            <a:srgbClr val="4E3629"/>
                          </a:solidFill>
                          <a:latin typeface="Calibri"/>
                          <a:ea typeface="Calibri"/>
                          <a:cs typeface="Calibri"/>
                          <a:sym typeface="Calibri"/>
                        </a:rPr>
                        <a:t>FROM dual;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02:07</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 TO_CHAR(SYSDATE, 'hh:mm pm')</a:t>
                      </a:r>
                      <a:endParaRPr sz="1600" u="none" cap="none" strike="noStrike">
                        <a:latin typeface="Calibri"/>
                        <a:ea typeface="Calibri"/>
                        <a:cs typeface="Calibri"/>
                        <a:sym typeface="Calibri"/>
                      </a:endParaRPr>
                    </a:p>
                    <a:p>
                      <a:pPr indent="0" lvl="0" marL="101600" marR="0" rtl="0" algn="l">
                        <a:lnSpc>
                          <a:spcPct val="100000"/>
                        </a:lnSpc>
                        <a:spcBef>
                          <a:spcPts val="310"/>
                        </a:spcBef>
                        <a:spcAft>
                          <a:spcPts val="0"/>
                        </a:spcAft>
                        <a:buNone/>
                      </a:pPr>
                      <a:r>
                        <a:rPr lang="en-US" sz="1600" u="none" cap="none" strike="noStrike">
                          <a:solidFill>
                            <a:srgbClr val="4E3629"/>
                          </a:solidFill>
                          <a:latin typeface="Calibri"/>
                          <a:ea typeface="Calibri"/>
                          <a:cs typeface="Calibri"/>
                          <a:sym typeface="Calibri"/>
                        </a:rPr>
                        <a:t>FROM dual;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02:07 am</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 TO_CHAR(SYSDATE, 'hh:mm:ss pm')</a:t>
                      </a:r>
                      <a:endParaRPr sz="1600" u="none" cap="none" strike="noStrike">
                        <a:latin typeface="Calibri"/>
                        <a:ea typeface="Calibri"/>
                        <a:cs typeface="Calibri"/>
                        <a:sym typeface="Calibri"/>
                      </a:endParaRPr>
                    </a:p>
                    <a:p>
                      <a:pPr indent="0" lvl="0" marL="101600" marR="0" rtl="0" algn="l">
                        <a:lnSpc>
                          <a:spcPct val="100000"/>
                        </a:lnSpc>
                        <a:spcBef>
                          <a:spcPts val="310"/>
                        </a:spcBef>
                        <a:spcAft>
                          <a:spcPts val="0"/>
                        </a:spcAft>
                        <a:buNone/>
                      </a:pPr>
                      <a:r>
                        <a:rPr lang="en-US" sz="1600" u="none" cap="none" strike="noStrike">
                          <a:solidFill>
                            <a:srgbClr val="4E3629"/>
                          </a:solidFill>
                          <a:latin typeface="Calibri"/>
                          <a:ea typeface="Calibri"/>
                          <a:cs typeface="Calibri"/>
                          <a:sym typeface="Calibri"/>
                        </a:rPr>
                        <a:t>FROM dual;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02:07:23 am</a:t>
                      </a:r>
                      <a:endParaRPr sz="20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1"/>
          <p:cNvSpPr txBox="1"/>
          <p:nvPr>
            <p:ph type="title"/>
          </p:nvPr>
        </p:nvSpPr>
        <p:spPr>
          <a:xfrm>
            <a:off x="392112" y="385319"/>
            <a:ext cx="54234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Numéricos en Datos de Caracteres (VARCHAR2)</a:t>
            </a:r>
            <a:endParaRPr sz="3000"/>
          </a:p>
        </p:txBody>
      </p:sp>
      <p:sp>
        <p:nvSpPr>
          <p:cNvPr id="273" name="Google Shape;273;p31"/>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274" name="Google Shape;274;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5" name="Google Shape;275;p3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76" name="Google Shape;276;p31"/>
          <p:cNvSpPr txBox="1"/>
          <p:nvPr/>
        </p:nvSpPr>
        <p:spPr>
          <a:xfrm>
            <a:off x="483552" y="1415417"/>
            <a:ext cx="8155305" cy="2576195"/>
          </a:xfrm>
          <a:prstGeom prst="rect">
            <a:avLst/>
          </a:prstGeom>
          <a:noFill/>
          <a:ln>
            <a:noFill/>
          </a:ln>
        </p:spPr>
        <p:txBody>
          <a:bodyPr anchorCtr="0" anchor="t" bIns="0" lIns="0" spcFirstLastPara="1" rIns="0" wrap="square" tIns="59675">
            <a:spAutoFit/>
          </a:bodyPr>
          <a:lstStyle/>
          <a:p>
            <a:pPr indent="-177800" lvl="0" marL="182880" marR="8337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números almacenados en la base de datos no 	tienen formato</a:t>
            </a:r>
            <a:endParaRPr sz="2800">
              <a:latin typeface="Calibri"/>
              <a:ea typeface="Calibri"/>
              <a:cs typeface="Calibri"/>
              <a:sym typeface="Calibri"/>
            </a:endParaRPr>
          </a:p>
          <a:p>
            <a:pPr indent="-177800" lvl="0" marL="182880" marR="36766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significa que no tienen ningún signo/símbolo de 	moneda, comas, decimales, ni ningún otro formato</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agregar formato, en primer lugar debe convertir el 	número en un formato de caracteres</a:t>
            </a:r>
            <a:endParaRPr sz="2800">
              <a:latin typeface="Calibri"/>
              <a:ea typeface="Calibri"/>
              <a:cs typeface="Calibri"/>
              <a:sym typeface="Calibri"/>
            </a:endParaRPr>
          </a:p>
        </p:txBody>
      </p:sp>
      <p:sp>
        <p:nvSpPr>
          <p:cNvPr id="277" name="Google Shape;277;p31"/>
          <p:cNvSpPr txBox="1"/>
          <p:nvPr/>
        </p:nvSpPr>
        <p:spPr>
          <a:xfrm>
            <a:off x="483552" y="4510661"/>
            <a:ext cx="8058784"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SQL que se utiliza para convertir un número 	en un formato de carácter deseado es:</a:t>
            </a:r>
            <a:endParaRPr sz="2800">
              <a:latin typeface="Calibri"/>
              <a:ea typeface="Calibri"/>
              <a:cs typeface="Calibri"/>
              <a:sym typeface="Calibri"/>
            </a:endParaRPr>
          </a:p>
        </p:txBody>
      </p:sp>
      <p:sp>
        <p:nvSpPr>
          <p:cNvPr id="278" name="Google Shape;278;p31"/>
          <p:cNvSpPr txBox="1"/>
          <p:nvPr/>
        </p:nvSpPr>
        <p:spPr>
          <a:xfrm>
            <a:off x="399096" y="3748471"/>
            <a:ext cx="8345700" cy="298200"/>
          </a:xfrm>
          <a:prstGeom prst="rect">
            <a:avLst/>
          </a:prstGeom>
          <a:solidFill>
            <a:srgbClr val="9DBDC4">
              <a:alpha val="49804"/>
            </a:srgbClr>
          </a:solidFill>
          <a:ln>
            <a:noFill/>
          </a:ln>
        </p:spPr>
        <p:txBody>
          <a:bodyPr anchorCtr="0" anchor="t" bIns="0" lIns="0" spcFirstLastPara="1" rIns="0" wrap="square" tIns="209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TO_CHAR(number, 'format model')</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2"/>
          <p:cNvSpPr txBox="1"/>
          <p:nvPr/>
        </p:nvSpPr>
        <p:spPr>
          <a:xfrm>
            <a:off x="483552" y="1491489"/>
            <a:ext cx="3829050" cy="2372995"/>
          </a:xfrm>
          <a:prstGeom prst="rect">
            <a:avLst/>
          </a:prstGeom>
          <a:noFill/>
          <a:ln>
            <a:noFill/>
          </a:ln>
        </p:spPr>
        <p:txBody>
          <a:bodyPr anchorCtr="0" anchor="t" bIns="0" lIns="0" spcFirstLastPara="1" rIns="0" wrap="square" tIns="59675">
            <a:spAutoFit/>
          </a:bodyPr>
          <a:lstStyle/>
          <a:p>
            <a:pPr indent="-457200" lvl="0" marL="46990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tabla se muestran algunos de los elementos de formato que se pueden utilizar con las funciones TO_CHAR</a:t>
            </a:r>
            <a:endParaRPr sz="2800">
              <a:latin typeface="Calibri"/>
              <a:ea typeface="Calibri"/>
              <a:cs typeface="Calibri"/>
              <a:sym typeface="Calibri"/>
            </a:endParaRPr>
          </a:p>
        </p:txBody>
      </p:sp>
      <p:sp>
        <p:nvSpPr>
          <p:cNvPr id="284" name="Google Shape;284;p32"/>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285" name="Google Shape;285;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6" name="Google Shape;286;p32"/>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87" name="Google Shape;287;p32"/>
          <p:cNvSpPr txBox="1"/>
          <p:nvPr>
            <p:ph type="title"/>
          </p:nvPr>
        </p:nvSpPr>
        <p:spPr>
          <a:xfrm>
            <a:off x="392112" y="385319"/>
            <a:ext cx="54234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Numéricos en Datos de Caracteres (VARCHAR2)</a:t>
            </a:r>
            <a:endParaRPr sz="3000"/>
          </a:p>
        </p:txBody>
      </p:sp>
      <p:graphicFrame>
        <p:nvGraphicFramePr>
          <p:cNvPr id="288" name="Google Shape;288;p32"/>
          <p:cNvGraphicFramePr/>
          <p:nvPr/>
        </p:nvGraphicFramePr>
        <p:xfrm>
          <a:off x="398462" y="5077336"/>
          <a:ext cx="3000000" cy="3000000"/>
        </p:xfrm>
        <a:graphic>
          <a:graphicData uri="http://schemas.openxmlformats.org/drawingml/2006/table">
            <a:tbl>
              <a:tblPr bandRow="1" firstRow="1">
                <a:noFill/>
                <a:tableStyleId>{22F0BE96-B600-4196-B546-7D2FCBCF95F3}</a:tableStyleId>
              </a:tblPr>
              <a:tblGrid>
                <a:gridCol w="3676025"/>
              </a:tblGrid>
              <a:tr h="335275">
                <a:tc>
                  <a:txBody>
                    <a:bodyPr/>
                    <a:lstStyle/>
                    <a:p>
                      <a:pPr indent="0" lvl="0" marL="255904"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35275">
                <a:tc>
                  <a:txBody>
                    <a:bodyPr/>
                    <a:lstStyle/>
                    <a:p>
                      <a:pPr indent="0" lvl="0" marL="255904"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5275">
                <a:tc>
                  <a:txBody>
                    <a:bodyPr/>
                    <a:lstStyle/>
                    <a:p>
                      <a:pPr indent="0" lvl="0" marL="255904"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89" name="Google Shape;289;p32"/>
          <p:cNvGraphicFramePr/>
          <p:nvPr/>
        </p:nvGraphicFramePr>
        <p:xfrm>
          <a:off x="4451350" y="1518411"/>
          <a:ext cx="3000000" cy="3000000"/>
        </p:xfrm>
        <a:graphic>
          <a:graphicData uri="http://schemas.openxmlformats.org/drawingml/2006/table">
            <a:tbl>
              <a:tblPr bandRow="1" firstRow="1">
                <a:noFill/>
                <a:tableStyleId>{22F0BE96-B600-4196-B546-7D2FCBCF95F3}</a:tableStyleId>
              </a:tblPr>
              <a:tblGrid>
                <a:gridCol w="133350"/>
                <a:gridCol w="586750"/>
                <a:gridCol w="2080900"/>
                <a:gridCol w="899150"/>
                <a:gridCol w="720725"/>
              </a:tblGrid>
              <a:tr h="4184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R cap="flat" cmpd="sng" w="19050">
                      <a:solidFill>
                        <a:srgbClr val="DFE1E0"/>
                      </a:solidFill>
                      <a:prstDash val="solid"/>
                      <a:round/>
                      <a:headEnd len="sm" w="sm" type="none"/>
                      <a:tailEnd len="sm" w="sm" type="none"/>
                    </a:lnR>
                    <a:lnB cap="flat" cmpd="sng" w="12700">
                      <a:solidFill>
                        <a:srgbClr val="D1350F"/>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9050">
                      <a:solidFill>
                        <a:srgbClr val="DFE1E0"/>
                      </a:solidFill>
                      <a:prstDash val="solid"/>
                      <a:round/>
                      <a:headEnd len="sm" w="sm" type="none"/>
                      <a:tailEnd len="sm" w="sm" type="none"/>
                    </a:lnL>
                    <a:lnB cap="flat" cmpd="sng" w="12700">
                      <a:solidFill>
                        <a:srgbClr val="D1350F"/>
                      </a:solidFill>
                      <a:prstDash val="solid"/>
                      <a:round/>
                      <a:headEnd len="sm" w="sm" type="none"/>
                      <a:tailEnd len="sm" w="sm" type="none"/>
                    </a:lnB>
                  </a:tcPr>
                </a:tc>
                <a:tc hMerge="1"/>
                <a:tc hMerge="1"/>
                <a:tc hMerge="1"/>
              </a:tr>
              <a:tr h="243200">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US" sz="1000" u="none" cap="none" strike="noStrike">
                          <a:solidFill>
                            <a:srgbClr val="4E3629"/>
                          </a:solidFill>
                          <a:latin typeface="Calibri"/>
                          <a:ea typeface="Calibri"/>
                          <a:cs typeface="Calibri"/>
                          <a:sym typeface="Calibri"/>
                        </a:rPr>
                        <a:t>ELEMENT</a:t>
                      </a:r>
                      <a:endParaRPr sz="1000" u="none" cap="none" strike="noStrike">
                        <a:latin typeface="Calibri"/>
                        <a:ea typeface="Calibri"/>
                        <a:cs typeface="Calibri"/>
                        <a:sym typeface="Calibri"/>
                      </a:endParaRPr>
                    </a:p>
                  </a:txBody>
                  <a:tcPr marT="38725"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000" u="none" cap="none" strike="noStrike">
                          <a:solidFill>
                            <a:srgbClr val="4E3629"/>
                          </a:solidFill>
                          <a:latin typeface="Calibri"/>
                          <a:ea typeface="Calibri"/>
                          <a:cs typeface="Calibri"/>
                          <a:sym typeface="Calibri"/>
                        </a:rPr>
                        <a:t>DESCRIPTION</a:t>
                      </a:r>
                      <a:endParaRPr sz="10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000" u="none" cap="none" strike="noStrike">
                          <a:solidFill>
                            <a:srgbClr val="4E3629"/>
                          </a:solidFill>
                          <a:latin typeface="Calibri"/>
                          <a:ea typeface="Calibri"/>
                          <a:cs typeface="Calibri"/>
                          <a:sym typeface="Calibri"/>
                        </a:rPr>
                        <a:t>EXAMPLE</a:t>
                      </a:r>
                      <a:endParaRPr sz="10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000" u="none" cap="none" strike="noStrike">
                          <a:solidFill>
                            <a:srgbClr val="4E3629"/>
                          </a:solidFill>
                          <a:latin typeface="Calibri"/>
                          <a:ea typeface="Calibri"/>
                          <a:cs typeface="Calibri"/>
                          <a:sym typeface="Calibri"/>
                        </a:rPr>
                        <a:t>RESULT</a:t>
                      </a:r>
                      <a:endParaRPr sz="10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529590"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Numeric position (# of 9's determine width)</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8450">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0</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Display leading zeros</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099999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001234</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8450">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Floating dollar sign</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L</a:t>
                      </a:r>
                      <a:endParaRPr sz="1100" u="none" cap="none" strike="noStrike">
                        <a:latin typeface="Calibri"/>
                        <a:ea typeface="Calibri"/>
                        <a:cs typeface="Calibri"/>
                        <a:sym typeface="Calibri"/>
                      </a:endParaRPr>
                    </a:p>
                  </a:txBody>
                  <a:tcPr marT="38725"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Floating local currency symbol</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L999999</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FF1234</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0" marR="0" rtl="0" algn="r">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568960"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Decimal point in position specified</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999999.99</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1234.00</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2575">
                <a:tc>
                  <a:txBody>
                    <a:bodyPr/>
                    <a:lstStyle/>
                    <a:p>
                      <a:pPr indent="0" lvl="0" marL="0" marR="0" rtl="0" algn="r">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Comma in position specified</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MI</a:t>
                      </a:r>
                      <a:endParaRPr sz="1100" u="none" cap="none" strike="noStrike">
                        <a:latin typeface="Calibri"/>
                        <a:ea typeface="Calibri"/>
                        <a:cs typeface="Calibri"/>
                        <a:sym typeface="Calibri"/>
                      </a:endParaRPr>
                    </a:p>
                  </a:txBody>
                  <a:tcPr marT="38725"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310515"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Minus signs to right (negative values)</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999999MI</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14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PR</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Parenthesize negative numbers</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999999PR</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&lt;1234&gt;</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EEEE</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262890"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Scientific notation ( must have four EEEE)</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99.999EEEE</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1,23E+03</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330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V</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502284"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Multiply by 10 n times (n= number of 9's after V)</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9999V99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9999V99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002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B</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tcPr>
                </a:tc>
                <a:tc rowSpan="2">
                  <a:txBody>
                    <a:bodyPr/>
                    <a:lstStyle/>
                    <a:p>
                      <a:pPr indent="0" lvl="0" marL="90805" marR="152400"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Display zero values as blank, not 0</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rowSpan="2">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B9999.99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rowSpan="2">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1234.00</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86050">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B cap="flat" cmpd="sng" w="12700">
                      <a:solidFill>
                        <a:srgbClr val="D1350F"/>
                      </a:solidFill>
                      <a:prstDash val="solid"/>
                      <a:round/>
                      <a:headEnd len="sm" w="sm" type="none"/>
                      <a:tailEnd len="sm" w="sm" type="none"/>
                    </a:lnB>
                  </a:tcPr>
                </a:tc>
                <a:tc hMerge="1"/>
                <a:tc vMerge="1"/>
                <a:tc vMerge="1"/>
                <a:tc vMerge="1"/>
              </a:tr>
            </a:tbl>
          </a:graphicData>
        </a:graphic>
      </p:graphicFrame>
      <p:sp>
        <p:nvSpPr>
          <p:cNvPr id="290" name="Google Shape;290;p32"/>
          <p:cNvSpPr txBox="1"/>
          <p:nvPr/>
        </p:nvSpPr>
        <p:spPr>
          <a:xfrm>
            <a:off x="405384" y="3919728"/>
            <a:ext cx="3676015" cy="1007744"/>
          </a:xfrm>
          <a:prstGeom prst="rect">
            <a:avLst/>
          </a:prstGeom>
          <a:solidFill>
            <a:srgbClr val="9DBDC4">
              <a:alpha val="49804"/>
            </a:srgbClr>
          </a:solidFill>
          <a:ln>
            <a:noFill/>
          </a:ln>
        </p:spPr>
        <p:txBody>
          <a:bodyPr anchorCtr="0" anchor="t" bIns="0" lIns="0" spcFirstLastPara="1" rIns="0" wrap="square" tIns="64750">
            <a:spAutoFit/>
          </a:bodyPr>
          <a:lstStyle/>
          <a:p>
            <a:pPr indent="-136525" lvl="0" marL="136525" marR="53149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TO_CHAR(salary, '$99,999') AS "Salary"</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3"/>
          <p:cNvSpPr txBox="1"/>
          <p:nvPr/>
        </p:nvSpPr>
        <p:spPr>
          <a:xfrm>
            <a:off x="483552" y="1491489"/>
            <a:ext cx="3770629" cy="1604645"/>
          </a:xfrm>
          <a:prstGeom prst="rect">
            <a:avLst/>
          </a:prstGeom>
          <a:noFill/>
          <a:ln>
            <a:noFill/>
          </a:ln>
        </p:spPr>
        <p:txBody>
          <a:bodyPr anchorCtr="0" anchor="t" bIns="0" lIns="0" spcFirstLastPara="1" rIns="0" wrap="square" tIns="59675">
            <a:spAutoFit/>
          </a:bodyPr>
          <a:lstStyle/>
          <a:p>
            <a:pPr indent="-457200" lvl="0" marL="46990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identificar los modelos de formato utilizados para generar la siguiente salida?</a:t>
            </a:r>
            <a:endParaRPr sz="2800">
              <a:latin typeface="Calibri"/>
              <a:ea typeface="Calibri"/>
              <a:cs typeface="Calibri"/>
              <a:sym typeface="Calibri"/>
            </a:endParaRPr>
          </a:p>
        </p:txBody>
      </p:sp>
      <p:sp>
        <p:nvSpPr>
          <p:cNvPr id="296" name="Google Shape;296;p33"/>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297" name="Google Shape;297;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8" name="Google Shape;298;p3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graphicFrame>
        <p:nvGraphicFramePr>
          <p:cNvPr id="299" name="Google Shape;299;p33"/>
          <p:cNvGraphicFramePr/>
          <p:nvPr/>
        </p:nvGraphicFramePr>
        <p:xfrm>
          <a:off x="807402" y="3177541"/>
          <a:ext cx="3000000" cy="3000000"/>
        </p:xfrm>
        <a:graphic>
          <a:graphicData uri="http://schemas.openxmlformats.org/drawingml/2006/table">
            <a:tbl>
              <a:tblPr bandRow="1" firstRow="1">
                <a:noFill/>
                <a:tableStyleId>{22F0BE96-B600-4196-B546-7D2FCBCF95F3}</a:tableStyleId>
              </a:tblPr>
              <a:tblGrid>
                <a:gridCol w="279400"/>
                <a:gridCol w="1350650"/>
              </a:tblGrid>
              <a:tr h="341625">
                <a:tc>
                  <a:txBody>
                    <a:bodyPr/>
                    <a:lstStyle/>
                    <a:p>
                      <a:pPr indent="0" lvl="0" marL="0" marR="55880" rtl="0" algn="ctr">
                        <a:lnSpc>
                          <a:spcPct val="95000"/>
                        </a:lnSpc>
                        <a:spcBef>
                          <a:spcPts val="0"/>
                        </a:spcBef>
                        <a:spcAft>
                          <a:spcPts val="0"/>
                        </a:spcAft>
                        <a:buNone/>
                      </a:pPr>
                      <a:r>
                        <a:rPr lang="en-US" sz="2400" u="none" cap="none" strike="noStrike">
                          <a:solidFill>
                            <a:srgbClr val="D1350F"/>
                          </a:solidFill>
                          <a:latin typeface="Calibri"/>
                          <a:ea typeface="Calibri"/>
                          <a:cs typeface="Calibri"/>
                          <a:sym typeface="Calibri"/>
                        </a:rPr>
                        <a:t>−</a:t>
                      </a:r>
                      <a:endParaRPr sz="2400" u="none" cap="none" strike="noStrike">
                        <a:latin typeface="Calibri"/>
                        <a:ea typeface="Calibri"/>
                        <a:cs typeface="Calibri"/>
                        <a:sym typeface="Calibri"/>
                      </a:endParaRPr>
                    </a:p>
                  </a:txBody>
                  <a:tcPr marT="0" marB="0" marR="0" marL="0"/>
                </a:tc>
                <a:tc>
                  <a:txBody>
                    <a:bodyPr/>
                    <a:lstStyle/>
                    <a:p>
                      <a:pPr indent="0" lvl="0" marL="95250" marR="0" rtl="0" algn="l">
                        <a:lnSpc>
                          <a:spcPct val="95000"/>
                        </a:lnSpc>
                        <a:spcBef>
                          <a:spcPts val="0"/>
                        </a:spcBef>
                        <a:spcAft>
                          <a:spcPts val="0"/>
                        </a:spcAft>
                        <a:buNone/>
                      </a:pPr>
                      <a:r>
                        <a:rPr lang="en-US" sz="2400" u="none" cap="none" strike="noStrike">
                          <a:solidFill>
                            <a:srgbClr val="4E3629"/>
                          </a:solidFill>
                          <a:latin typeface="Calibri"/>
                          <a:ea typeface="Calibri"/>
                          <a:cs typeface="Calibri"/>
                          <a:sym typeface="Calibri"/>
                        </a:rPr>
                        <a:t>3000,00 $</a:t>
                      </a:r>
                      <a:endParaRPr sz="2400" u="none" cap="none" strike="noStrike">
                        <a:latin typeface="Calibri"/>
                        <a:ea typeface="Calibri"/>
                        <a:cs typeface="Calibri"/>
                        <a:sym typeface="Calibri"/>
                      </a:endParaRPr>
                    </a:p>
                  </a:txBody>
                  <a:tcPr marT="0" marB="0" marR="0" marL="0"/>
                </a:tc>
              </a:tr>
              <a:tr h="379100">
                <a:tc>
                  <a:txBody>
                    <a:bodyPr/>
                    <a:lstStyle/>
                    <a:p>
                      <a:pPr indent="0" lvl="0" marL="0" marR="55880" rtl="0" algn="ctr">
                        <a:lnSpc>
                          <a:spcPct val="107291"/>
                        </a:lnSpc>
                        <a:spcBef>
                          <a:spcPts val="0"/>
                        </a:spcBef>
                        <a:spcAft>
                          <a:spcPts val="0"/>
                        </a:spcAft>
                        <a:buNone/>
                      </a:pPr>
                      <a:r>
                        <a:rPr lang="en-US" sz="2400" u="none" cap="none" strike="noStrike">
                          <a:solidFill>
                            <a:srgbClr val="D1350F"/>
                          </a:solidFill>
                          <a:latin typeface="Calibri"/>
                          <a:ea typeface="Calibri"/>
                          <a:cs typeface="Calibri"/>
                          <a:sym typeface="Calibri"/>
                        </a:rPr>
                        <a:t>−</a:t>
                      </a:r>
                      <a:endParaRPr sz="2400" u="none" cap="none" strike="noStrike">
                        <a:latin typeface="Calibri"/>
                        <a:ea typeface="Calibri"/>
                        <a:cs typeface="Calibri"/>
                        <a:sym typeface="Calibri"/>
                      </a:endParaRPr>
                    </a:p>
                  </a:txBody>
                  <a:tcPr marT="0" marB="0" marR="0" marL="0"/>
                </a:tc>
                <a:tc>
                  <a:txBody>
                    <a:bodyPr/>
                    <a:lstStyle/>
                    <a:p>
                      <a:pPr indent="0" lvl="0" marL="95250" marR="0" rtl="0" algn="l">
                        <a:lnSpc>
                          <a:spcPct val="107291"/>
                        </a:lnSpc>
                        <a:spcBef>
                          <a:spcPts val="0"/>
                        </a:spcBef>
                        <a:spcAft>
                          <a:spcPts val="0"/>
                        </a:spcAft>
                        <a:buNone/>
                      </a:pPr>
                      <a:r>
                        <a:rPr lang="en-US" sz="2400" u="none" cap="none" strike="noStrike">
                          <a:solidFill>
                            <a:srgbClr val="4E3629"/>
                          </a:solidFill>
                          <a:latin typeface="Calibri"/>
                          <a:ea typeface="Calibri"/>
                          <a:cs typeface="Calibri"/>
                          <a:sym typeface="Calibri"/>
                        </a:rPr>
                        <a:t>4.500</a:t>
                      </a:r>
                      <a:endParaRPr sz="2400" u="none" cap="none" strike="noStrike">
                        <a:latin typeface="Calibri"/>
                        <a:ea typeface="Calibri"/>
                        <a:cs typeface="Calibri"/>
                        <a:sym typeface="Calibri"/>
                      </a:endParaRPr>
                    </a:p>
                  </a:txBody>
                  <a:tcPr marT="0" marB="0" marR="0" marL="0"/>
                </a:tc>
              </a:tr>
              <a:tr h="379725">
                <a:tc>
                  <a:txBody>
                    <a:bodyPr/>
                    <a:lstStyle/>
                    <a:p>
                      <a:pPr indent="0" lvl="0" marL="0" marR="55880" rtl="0" algn="ctr">
                        <a:lnSpc>
                          <a:spcPct val="107291"/>
                        </a:lnSpc>
                        <a:spcBef>
                          <a:spcPts val="0"/>
                        </a:spcBef>
                        <a:spcAft>
                          <a:spcPts val="0"/>
                        </a:spcAft>
                        <a:buNone/>
                      </a:pPr>
                      <a:r>
                        <a:rPr lang="en-US" sz="2400" u="none" cap="none" strike="noStrike">
                          <a:solidFill>
                            <a:srgbClr val="D1350F"/>
                          </a:solidFill>
                          <a:latin typeface="Calibri"/>
                          <a:ea typeface="Calibri"/>
                          <a:cs typeface="Calibri"/>
                          <a:sym typeface="Calibri"/>
                        </a:rPr>
                        <a:t>−</a:t>
                      </a:r>
                      <a:endParaRPr sz="2400" u="none" cap="none" strike="noStrike">
                        <a:latin typeface="Calibri"/>
                        <a:ea typeface="Calibri"/>
                        <a:cs typeface="Calibri"/>
                        <a:sym typeface="Calibri"/>
                      </a:endParaRPr>
                    </a:p>
                  </a:txBody>
                  <a:tcPr marT="0" marB="0" marR="0" marL="0"/>
                </a:tc>
                <a:tc>
                  <a:txBody>
                    <a:bodyPr/>
                    <a:lstStyle/>
                    <a:p>
                      <a:pPr indent="0" lvl="0" marL="95250" marR="0" rtl="0" algn="l">
                        <a:lnSpc>
                          <a:spcPct val="107291"/>
                        </a:lnSpc>
                        <a:spcBef>
                          <a:spcPts val="0"/>
                        </a:spcBef>
                        <a:spcAft>
                          <a:spcPts val="0"/>
                        </a:spcAft>
                        <a:buNone/>
                      </a:pPr>
                      <a:r>
                        <a:rPr lang="en-US" sz="2400" u="none" cap="none" strike="noStrike">
                          <a:solidFill>
                            <a:srgbClr val="4E3629"/>
                          </a:solidFill>
                          <a:latin typeface="Calibri"/>
                          <a:ea typeface="Calibri"/>
                          <a:cs typeface="Calibri"/>
                          <a:sym typeface="Calibri"/>
                        </a:rPr>
                        <a:t>9.000,00</a:t>
                      </a:r>
                      <a:endParaRPr sz="2400" u="none" cap="none" strike="noStrike">
                        <a:latin typeface="Calibri"/>
                        <a:ea typeface="Calibri"/>
                        <a:cs typeface="Calibri"/>
                        <a:sym typeface="Calibri"/>
                      </a:endParaRPr>
                    </a:p>
                  </a:txBody>
                  <a:tcPr marT="0" marB="0" marR="0" marL="0"/>
                </a:tc>
              </a:tr>
              <a:tr h="342900">
                <a:tc>
                  <a:txBody>
                    <a:bodyPr/>
                    <a:lstStyle/>
                    <a:p>
                      <a:pPr indent="0" lvl="0" marL="0" marR="55880" rtl="0" algn="ctr">
                        <a:lnSpc>
                          <a:spcPct val="107500"/>
                        </a:lnSpc>
                        <a:spcBef>
                          <a:spcPts val="0"/>
                        </a:spcBef>
                        <a:spcAft>
                          <a:spcPts val="0"/>
                        </a:spcAft>
                        <a:buNone/>
                      </a:pPr>
                      <a:r>
                        <a:rPr lang="en-US" sz="2400" u="none" cap="none" strike="noStrike">
                          <a:solidFill>
                            <a:srgbClr val="D1350F"/>
                          </a:solidFill>
                          <a:latin typeface="Calibri"/>
                          <a:ea typeface="Calibri"/>
                          <a:cs typeface="Calibri"/>
                          <a:sym typeface="Calibri"/>
                        </a:rPr>
                        <a:t>−</a:t>
                      </a:r>
                      <a:endParaRPr sz="2400" u="none" cap="none" strike="noStrike">
                        <a:latin typeface="Calibri"/>
                        <a:ea typeface="Calibri"/>
                        <a:cs typeface="Calibri"/>
                        <a:sym typeface="Calibri"/>
                      </a:endParaRPr>
                    </a:p>
                  </a:txBody>
                  <a:tcPr marT="0" marB="0" marR="0" marL="0"/>
                </a:tc>
                <a:tc>
                  <a:txBody>
                    <a:bodyPr/>
                    <a:lstStyle/>
                    <a:p>
                      <a:pPr indent="0" lvl="0" marL="95250" marR="0" rtl="0" algn="l">
                        <a:lnSpc>
                          <a:spcPct val="107500"/>
                        </a:lnSpc>
                        <a:spcBef>
                          <a:spcPts val="0"/>
                        </a:spcBef>
                        <a:spcAft>
                          <a:spcPts val="0"/>
                        </a:spcAft>
                        <a:buNone/>
                      </a:pPr>
                      <a:r>
                        <a:rPr lang="en-US" sz="2400" u="none" cap="none" strike="noStrike">
                          <a:solidFill>
                            <a:srgbClr val="4E3629"/>
                          </a:solidFill>
                          <a:latin typeface="Calibri"/>
                          <a:ea typeface="Calibri"/>
                          <a:cs typeface="Calibri"/>
                          <a:sym typeface="Calibri"/>
                        </a:rPr>
                        <a:t>0004422</a:t>
                      </a:r>
                      <a:endParaRPr sz="2400" u="none" cap="none" strike="noStrike">
                        <a:latin typeface="Calibri"/>
                        <a:ea typeface="Calibri"/>
                        <a:cs typeface="Calibri"/>
                        <a:sym typeface="Calibri"/>
                      </a:endParaRPr>
                    </a:p>
                  </a:txBody>
                  <a:tcPr marT="0" marB="0" marR="0" marL="0"/>
                </a:tc>
              </a:tr>
            </a:tbl>
          </a:graphicData>
        </a:graphic>
      </p:graphicFrame>
      <p:sp>
        <p:nvSpPr>
          <p:cNvPr id="300" name="Google Shape;300;p33"/>
          <p:cNvSpPr txBox="1"/>
          <p:nvPr>
            <p:ph type="title"/>
          </p:nvPr>
        </p:nvSpPr>
        <p:spPr>
          <a:xfrm>
            <a:off x="392112" y="385319"/>
            <a:ext cx="54234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Numéricos en Datos de Caracteres (VARCHAR2)</a:t>
            </a:r>
            <a:endParaRPr sz="3000"/>
          </a:p>
        </p:txBody>
      </p:sp>
      <p:graphicFrame>
        <p:nvGraphicFramePr>
          <p:cNvPr id="301" name="Google Shape;301;p33"/>
          <p:cNvGraphicFramePr/>
          <p:nvPr/>
        </p:nvGraphicFramePr>
        <p:xfrm>
          <a:off x="4451350" y="1518411"/>
          <a:ext cx="3000000" cy="3000000"/>
        </p:xfrm>
        <a:graphic>
          <a:graphicData uri="http://schemas.openxmlformats.org/drawingml/2006/table">
            <a:tbl>
              <a:tblPr bandRow="1" firstRow="1">
                <a:noFill/>
                <a:tableStyleId>{22F0BE96-B600-4196-B546-7D2FCBCF95F3}</a:tableStyleId>
              </a:tblPr>
              <a:tblGrid>
                <a:gridCol w="133350"/>
                <a:gridCol w="586750"/>
                <a:gridCol w="2080900"/>
                <a:gridCol w="899150"/>
                <a:gridCol w="720725"/>
              </a:tblGrid>
              <a:tr h="4184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R cap="flat" cmpd="sng" w="19050">
                      <a:solidFill>
                        <a:srgbClr val="DFE1E0"/>
                      </a:solidFill>
                      <a:prstDash val="solid"/>
                      <a:round/>
                      <a:headEnd len="sm" w="sm" type="none"/>
                      <a:tailEnd len="sm" w="sm" type="none"/>
                    </a:lnR>
                    <a:lnB cap="flat" cmpd="sng" w="12700">
                      <a:solidFill>
                        <a:srgbClr val="D1350F"/>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9050">
                      <a:solidFill>
                        <a:srgbClr val="DFE1E0"/>
                      </a:solidFill>
                      <a:prstDash val="solid"/>
                      <a:round/>
                      <a:headEnd len="sm" w="sm" type="none"/>
                      <a:tailEnd len="sm" w="sm" type="none"/>
                    </a:lnL>
                    <a:lnB cap="flat" cmpd="sng" w="12700">
                      <a:solidFill>
                        <a:srgbClr val="D1350F"/>
                      </a:solidFill>
                      <a:prstDash val="solid"/>
                      <a:round/>
                      <a:headEnd len="sm" w="sm" type="none"/>
                      <a:tailEnd len="sm" w="sm" type="none"/>
                    </a:lnB>
                  </a:tcPr>
                </a:tc>
                <a:tc hMerge="1"/>
                <a:tc hMerge="1"/>
                <a:tc hMerge="1"/>
              </a:tr>
              <a:tr h="243200">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US" sz="1000" u="none" cap="none" strike="noStrike">
                          <a:solidFill>
                            <a:srgbClr val="4E3629"/>
                          </a:solidFill>
                          <a:latin typeface="Calibri"/>
                          <a:ea typeface="Calibri"/>
                          <a:cs typeface="Calibri"/>
                          <a:sym typeface="Calibri"/>
                        </a:rPr>
                        <a:t>ELEMENT</a:t>
                      </a:r>
                      <a:endParaRPr sz="1000" u="none" cap="none" strike="noStrike">
                        <a:latin typeface="Calibri"/>
                        <a:ea typeface="Calibri"/>
                        <a:cs typeface="Calibri"/>
                        <a:sym typeface="Calibri"/>
                      </a:endParaRPr>
                    </a:p>
                  </a:txBody>
                  <a:tcPr marT="38725"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000" u="none" cap="none" strike="noStrike">
                          <a:solidFill>
                            <a:srgbClr val="4E3629"/>
                          </a:solidFill>
                          <a:latin typeface="Calibri"/>
                          <a:ea typeface="Calibri"/>
                          <a:cs typeface="Calibri"/>
                          <a:sym typeface="Calibri"/>
                        </a:rPr>
                        <a:t>DESCRIPTION</a:t>
                      </a:r>
                      <a:endParaRPr sz="10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000" u="none" cap="none" strike="noStrike">
                          <a:solidFill>
                            <a:srgbClr val="4E3629"/>
                          </a:solidFill>
                          <a:latin typeface="Calibri"/>
                          <a:ea typeface="Calibri"/>
                          <a:cs typeface="Calibri"/>
                          <a:sym typeface="Calibri"/>
                        </a:rPr>
                        <a:t>EXAMPLE</a:t>
                      </a:r>
                      <a:endParaRPr sz="10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000" u="none" cap="none" strike="noStrike">
                          <a:solidFill>
                            <a:srgbClr val="4E3629"/>
                          </a:solidFill>
                          <a:latin typeface="Calibri"/>
                          <a:ea typeface="Calibri"/>
                          <a:cs typeface="Calibri"/>
                          <a:sym typeface="Calibri"/>
                        </a:rPr>
                        <a:t>RESULT</a:t>
                      </a:r>
                      <a:endParaRPr sz="10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529590"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Numeric position (# of 9's determine width)</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8450">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0</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Display leading zeros</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099999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001234</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8450">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Floating dollar sign</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L</a:t>
                      </a:r>
                      <a:endParaRPr sz="1100" u="none" cap="none" strike="noStrike">
                        <a:latin typeface="Calibri"/>
                        <a:ea typeface="Calibri"/>
                        <a:cs typeface="Calibri"/>
                        <a:sym typeface="Calibri"/>
                      </a:endParaRPr>
                    </a:p>
                  </a:txBody>
                  <a:tcPr marT="38725"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Floating local currency symbol</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L999999</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FF1234</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0" marR="0" rtl="0" algn="r">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568960"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Decimal point in position specified</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999999.99</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1234.00</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2575">
                <a:tc>
                  <a:txBody>
                    <a:bodyPr/>
                    <a:lstStyle/>
                    <a:p>
                      <a:pPr indent="0" lvl="0" marL="0" marR="0" rtl="0" algn="r">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Comma in position specified</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MI</a:t>
                      </a:r>
                      <a:endParaRPr sz="1100" u="none" cap="none" strike="noStrike">
                        <a:latin typeface="Calibri"/>
                        <a:ea typeface="Calibri"/>
                        <a:cs typeface="Calibri"/>
                        <a:sym typeface="Calibri"/>
                      </a:endParaRPr>
                    </a:p>
                  </a:txBody>
                  <a:tcPr marT="38725"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310515"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Minus signs to right (negative values)</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999999MI</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a:t>
                      </a:r>
                      <a:endParaRPr sz="11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14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PR</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Parenthesize negative numbers</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999999PR</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&lt;1234&gt;</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EEEE</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262890"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Scientific notation ( must have four EEEE)</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99.999EEEE</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1,23E+03</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3307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V</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502284"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Multiply by 10 n times (n= number of 9's after V)</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9999V99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9999V99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0025">
                <a:tc>
                  <a:txBody>
                    <a:bodyPr/>
                    <a:lstStyle/>
                    <a:p>
                      <a:pPr indent="0" lvl="0" marL="0" marR="12065"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12700">
                      <a:solidFill>
                        <a:srgbClr val="D1350F"/>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B</a:t>
                      </a:r>
                      <a:endParaRPr sz="1100" u="none" cap="none" strike="noStrike">
                        <a:latin typeface="Calibri"/>
                        <a:ea typeface="Calibri"/>
                        <a:cs typeface="Calibri"/>
                        <a:sym typeface="Calibri"/>
                      </a:endParaRPr>
                    </a:p>
                  </a:txBody>
                  <a:tcPr marT="38100" marB="0" marR="0" marL="0">
                    <a:lnL cap="flat" cmpd="sng" w="19050">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tcPr>
                </a:tc>
                <a:tc rowSpan="2">
                  <a:txBody>
                    <a:bodyPr/>
                    <a:lstStyle/>
                    <a:p>
                      <a:pPr indent="0" lvl="0" marL="90805" marR="152400" rtl="0" algn="l">
                        <a:lnSpc>
                          <a:spcPct val="100899"/>
                        </a:lnSpc>
                        <a:spcBef>
                          <a:spcPts val="0"/>
                        </a:spcBef>
                        <a:spcAft>
                          <a:spcPts val="0"/>
                        </a:spcAft>
                        <a:buNone/>
                      </a:pPr>
                      <a:r>
                        <a:rPr lang="en-US" sz="1100" u="none" cap="none" strike="noStrike">
                          <a:solidFill>
                            <a:srgbClr val="4E3629"/>
                          </a:solidFill>
                          <a:latin typeface="Calibri"/>
                          <a:ea typeface="Calibri"/>
                          <a:cs typeface="Calibri"/>
                          <a:sym typeface="Calibri"/>
                        </a:rPr>
                        <a:t>Display zero values as blank, not 0</a:t>
                      </a:r>
                      <a:endParaRPr sz="11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rowSpan="2">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B9999.99</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rowSpan="2">
                  <a:txBody>
                    <a:bodyPr/>
                    <a:lstStyle/>
                    <a:p>
                      <a:pPr indent="0" lvl="0" marL="90805" marR="0" rtl="0" algn="l">
                        <a:lnSpc>
                          <a:spcPct val="100000"/>
                        </a:lnSpc>
                        <a:spcBef>
                          <a:spcPts val="0"/>
                        </a:spcBef>
                        <a:spcAft>
                          <a:spcPts val="0"/>
                        </a:spcAft>
                        <a:buNone/>
                      </a:pPr>
                      <a:r>
                        <a:rPr lang="en-US" sz="1100" u="none" cap="none" strike="noStrike">
                          <a:solidFill>
                            <a:srgbClr val="4E3629"/>
                          </a:solidFill>
                          <a:latin typeface="Calibri"/>
                          <a:ea typeface="Calibri"/>
                          <a:cs typeface="Calibri"/>
                          <a:sym typeface="Calibri"/>
                        </a:rPr>
                        <a:t>1234.00</a:t>
                      </a:r>
                      <a:endParaRPr sz="11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86050">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B cap="flat" cmpd="sng" w="12700">
                      <a:solidFill>
                        <a:srgbClr val="D1350F"/>
                      </a:solidFill>
                      <a:prstDash val="solid"/>
                      <a:round/>
                      <a:headEnd len="sm" w="sm" type="none"/>
                      <a:tailEnd len="sm" w="sm" type="none"/>
                    </a:lnB>
                  </a:tcPr>
                </a:tc>
                <a:tc hMerge="1"/>
                <a:tc vMerge="1"/>
                <a:tc vMerge="1"/>
                <a:tc vMerge="1"/>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4"/>
          <p:cNvSpPr txBox="1"/>
          <p:nvPr>
            <p:ph type="title"/>
          </p:nvPr>
        </p:nvSpPr>
        <p:spPr>
          <a:xfrm>
            <a:off x="392112" y="385319"/>
            <a:ext cx="54234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Conversión de Datos Numéricos en Datos de Caracteres (VARCHAR2)</a:t>
            </a:r>
            <a:endParaRPr sz="3000"/>
          </a:p>
        </p:txBody>
      </p:sp>
      <p:sp>
        <p:nvSpPr>
          <p:cNvPr id="307" name="Google Shape;307;p34"/>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308" name="Google Shape;308;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9" name="Google Shape;309;p3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10" name="Google Shape;310;p34"/>
          <p:cNvSpPr txBox="1"/>
          <p:nvPr/>
        </p:nvSpPr>
        <p:spPr>
          <a:xfrm>
            <a:off x="483552" y="1415417"/>
            <a:ext cx="190246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Respuestas:</a:t>
            </a:r>
            <a:endParaRPr sz="2800">
              <a:latin typeface="Calibri"/>
              <a:ea typeface="Calibri"/>
              <a:cs typeface="Calibri"/>
              <a:sym typeface="Calibri"/>
            </a:endParaRPr>
          </a:p>
        </p:txBody>
      </p:sp>
      <p:graphicFrame>
        <p:nvGraphicFramePr>
          <p:cNvPr id="311" name="Google Shape;311;p34"/>
          <p:cNvGraphicFramePr/>
          <p:nvPr/>
        </p:nvGraphicFramePr>
        <p:xfrm>
          <a:off x="398462" y="2084383"/>
          <a:ext cx="3000000" cy="3000000"/>
        </p:xfrm>
        <a:graphic>
          <a:graphicData uri="http://schemas.openxmlformats.org/drawingml/2006/table">
            <a:tbl>
              <a:tblPr bandRow="1" firstRow="1">
                <a:noFill/>
                <a:tableStyleId>{22F0BE96-B600-4196-B546-7D2FCBCF95F3}</a:tableStyleId>
              </a:tblPr>
              <a:tblGrid>
                <a:gridCol w="6055350"/>
                <a:gridCol w="2290450"/>
              </a:tblGrid>
              <a:tr h="395600">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SQL:</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Salida</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 TO_CHAR(3000, '$99999.99')</a:t>
                      </a:r>
                      <a:endParaRPr sz="1600" u="none" cap="none" strike="noStrike">
                        <a:latin typeface="Calibri"/>
                        <a:ea typeface="Calibri"/>
                        <a:cs typeface="Calibri"/>
                        <a:sym typeface="Calibri"/>
                      </a:endParaRPr>
                    </a:p>
                    <a:p>
                      <a:pPr indent="0" lvl="0" marL="101600" marR="0" rtl="0" algn="l">
                        <a:lnSpc>
                          <a:spcPct val="100000"/>
                        </a:lnSpc>
                        <a:spcBef>
                          <a:spcPts val="310"/>
                        </a:spcBef>
                        <a:spcAft>
                          <a:spcPts val="0"/>
                        </a:spcAft>
                        <a:buNone/>
                      </a:pPr>
                      <a:r>
                        <a:rPr lang="en-US" sz="1600" u="none" cap="none" strike="noStrike">
                          <a:solidFill>
                            <a:srgbClr val="4E3629"/>
                          </a:solidFill>
                          <a:latin typeface="Calibri"/>
                          <a:ea typeface="Calibri"/>
                          <a:cs typeface="Calibri"/>
                          <a:sym typeface="Calibri"/>
                        </a:rPr>
                        <a:t>FROM dual;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3000,00 $</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 TO_CHAR(4500, '99,999')</a:t>
                      </a:r>
                      <a:endParaRPr sz="1600" u="none" cap="none" strike="noStrike">
                        <a:latin typeface="Calibri"/>
                        <a:ea typeface="Calibri"/>
                        <a:cs typeface="Calibri"/>
                        <a:sym typeface="Calibri"/>
                      </a:endParaRPr>
                    </a:p>
                    <a:p>
                      <a:pPr indent="0" lvl="0" marL="101600" marR="0" rtl="0" algn="l">
                        <a:lnSpc>
                          <a:spcPct val="100000"/>
                        </a:lnSpc>
                        <a:spcBef>
                          <a:spcPts val="310"/>
                        </a:spcBef>
                        <a:spcAft>
                          <a:spcPts val="0"/>
                        </a:spcAft>
                        <a:buNone/>
                      </a:pPr>
                      <a:r>
                        <a:rPr lang="en-US" sz="1600" u="none" cap="none" strike="noStrike">
                          <a:solidFill>
                            <a:srgbClr val="4E3629"/>
                          </a:solidFill>
                          <a:latin typeface="Calibri"/>
                          <a:ea typeface="Calibri"/>
                          <a:cs typeface="Calibri"/>
                          <a:sym typeface="Calibri"/>
                        </a:rPr>
                        <a:t>FROM dual;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4.500</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 TO_CHAR(9000, '99,999.99')</a:t>
                      </a:r>
                      <a:endParaRPr sz="1600" u="none" cap="none" strike="noStrike">
                        <a:latin typeface="Calibri"/>
                        <a:ea typeface="Calibri"/>
                        <a:cs typeface="Calibri"/>
                        <a:sym typeface="Calibri"/>
                      </a:endParaRPr>
                    </a:p>
                    <a:p>
                      <a:pPr indent="0" lvl="0" marL="101600" marR="0" rtl="0" algn="l">
                        <a:lnSpc>
                          <a:spcPct val="100000"/>
                        </a:lnSpc>
                        <a:spcBef>
                          <a:spcPts val="310"/>
                        </a:spcBef>
                        <a:spcAft>
                          <a:spcPts val="0"/>
                        </a:spcAft>
                        <a:buNone/>
                      </a:pPr>
                      <a:r>
                        <a:rPr lang="en-US" sz="1600" u="none" cap="none" strike="noStrike">
                          <a:solidFill>
                            <a:srgbClr val="4E3629"/>
                          </a:solidFill>
                          <a:latin typeface="Calibri"/>
                          <a:ea typeface="Calibri"/>
                          <a:cs typeface="Calibri"/>
                          <a:sym typeface="Calibri"/>
                        </a:rPr>
                        <a:t>FROM dual;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9.000,00</a:t>
                      </a:r>
                      <a:endParaRPr sz="20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 TO_CHAR(4422, '0,009,999')</a:t>
                      </a:r>
                      <a:endParaRPr sz="1600" u="none" cap="none" strike="noStrike">
                        <a:latin typeface="Calibri"/>
                        <a:ea typeface="Calibri"/>
                        <a:cs typeface="Calibri"/>
                        <a:sym typeface="Calibri"/>
                      </a:endParaRPr>
                    </a:p>
                    <a:p>
                      <a:pPr indent="0" lvl="0" marL="101600" marR="0" rtl="0" algn="l">
                        <a:lnSpc>
                          <a:spcPct val="100000"/>
                        </a:lnSpc>
                        <a:spcBef>
                          <a:spcPts val="310"/>
                        </a:spcBef>
                        <a:spcAft>
                          <a:spcPts val="0"/>
                        </a:spcAft>
                        <a:buNone/>
                      </a:pPr>
                      <a:r>
                        <a:rPr lang="en-US" sz="1600" u="none" cap="none" strike="noStrike">
                          <a:solidFill>
                            <a:srgbClr val="4E3629"/>
                          </a:solidFill>
                          <a:latin typeface="Calibri"/>
                          <a:ea typeface="Calibri"/>
                          <a:cs typeface="Calibri"/>
                          <a:sym typeface="Calibri"/>
                        </a:rPr>
                        <a:t>FROM dual;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0004422</a:t>
                      </a:r>
                      <a:endParaRPr sz="20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392112" y="748031"/>
            <a:ext cx="6509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Conversión de Caracteres en Números</a:t>
            </a:r>
            <a:endParaRPr/>
          </a:p>
        </p:txBody>
      </p:sp>
      <p:sp>
        <p:nvSpPr>
          <p:cNvPr id="317" name="Google Shape;317;p35"/>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318" name="Google Shape;318;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9" name="Google Shape;319;p3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20" name="Google Shape;320;p35"/>
          <p:cNvSpPr txBox="1"/>
          <p:nvPr/>
        </p:nvSpPr>
        <p:spPr>
          <a:xfrm>
            <a:off x="483552" y="1415417"/>
            <a:ext cx="8030845"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general, es aconsejable convertir una cadena de 	caracteres en un número. La función necesaria para 	realizar esta conversión es:</a:t>
            </a:r>
            <a:endParaRPr sz="2800">
              <a:latin typeface="Calibri"/>
              <a:ea typeface="Calibri"/>
              <a:cs typeface="Calibri"/>
              <a:sym typeface="Calibri"/>
            </a:endParaRPr>
          </a:p>
        </p:txBody>
      </p:sp>
      <p:sp>
        <p:nvSpPr>
          <p:cNvPr id="321" name="Google Shape;321;p35"/>
          <p:cNvSpPr txBox="1"/>
          <p:nvPr/>
        </p:nvSpPr>
        <p:spPr>
          <a:xfrm>
            <a:off x="483552" y="3155825"/>
            <a:ext cx="8170545" cy="2088514"/>
          </a:xfrm>
          <a:prstGeom prst="rect">
            <a:avLst/>
          </a:prstGeom>
          <a:noFill/>
          <a:ln>
            <a:noFill/>
          </a:ln>
        </p:spPr>
        <p:txBody>
          <a:bodyPr anchorCtr="0" anchor="t" bIns="0" lIns="0" spcFirstLastPara="1" rIns="0" wrap="square" tIns="59675">
            <a:spAutoFit/>
          </a:bodyPr>
          <a:lstStyle/>
          <a:p>
            <a:pPr indent="-177800" lvl="0" marL="182880" marR="2641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modelo de formato es opcional, pero se debería 	incluir si la cadena de caracteres que se va a convertir 	contiene cualquier carácter que no sean números</a:t>
            </a:r>
            <a:endParaRPr sz="2800">
              <a:latin typeface="Calibri"/>
              <a:ea typeface="Calibri"/>
              <a:cs typeface="Calibri"/>
              <a:sym typeface="Calibri"/>
            </a:endParaRPr>
          </a:p>
          <a:p>
            <a:pPr indent="-177800" lvl="0" marL="18288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puede realizar cálculos de forma fiable con datos de 	caracteres</a:t>
            </a:r>
            <a:endParaRPr sz="2800">
              <a:latin typeface="Calibri"/>
              <a:ea typeface="Calibri"/>
              <a:cs typeface="Calibri"/>
              <a:sym typeface="Calibri"/>
            </a:endParaRPr>
          </a:p>
        </p:txBody>
      </p:sp>
      <p:graphicFrame>
        <p:nvGraphicFramePr>
          <p:cNvPr id="322" name="Google Shape;322;p35"/>
          <p:cNvGraphicFramePr/>
          <p:nvPr/>
        </p:nvGraphicFramePr>
        <p:xfrm>
          <a:off x="7268287" y="5309735"/>
          <a:ext cx="3000000" cy="3000000"/>
        </p:xfrm>
        <a:graphic>
          <a:graphicData uri="http://schemas.openxmlformats.org/drawingml/2006/table">
            <a:tbl>
              <a:tblPr bandRow="1" firstRow="1">
                <a:noFill/>
                <a:tableStyleId>{22F0BE96-B600-4196-B546-7D2FCBCF95F3}</a:tableStyleId>
              </a:tblPr>
              <a:tblGrid>
                <a:gridCol w="1130925"/>
              </a:tblGrid>
              <a:tr h="3606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Number</a:t>
                      </a:r>
                      <a:endParaRPr sz="1600" u="none" cap="none" strike="noStrike">
                        <a:latin typeface="Calibri"/>
                        <a:ea typeface="Calibri"/>
                        <a:cs typeface="Calibri"/>
                        <a:sym typeface="Calibri"/>
                      </a:endParaRPr>
                    </a:p>
                  </a:txBody>
                  <a:tcPr marT="45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048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5320</a:t>
                      </a:r>
                      <a:endParaRPr sz="1600" u="none" cap="none" strike="noStrike">
                        <a:latin typeface="Calibri"/>
                        <a:ea typeface="Calibri"/>
                        <a:cs typeface="Calibri"/>
                        <a:sym typeface="Calibri"/>
                      </a:endParaRPr>
                    </a:p>
                  </a:txBody>
                  <a:tcPr marT="17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23" name="Google Shape;323;p35"/>
          <p:cNvSpPr txBox="1"/>
          <p:nvPr/>
        </p:nvSpPr>
        <p:spPr>
          <a:xfrm>
            <a:off x="417576" y="2706623"/>
            <a:ext cx="8345805" cy="373380"/>
          </a:xfrm>
          <a:prstGeom prst="rect">
            <a:avLst/>
          </a:prstGeom>
          <a:solidFill>
            <a:srgbClr val="9DBDC4">
              <a:alpha val="49804"/>
            </a:srgbClr>
          </a:solidFill>
          <a:ln>
            <a:noFill/>
          </a:ln>
        </p:spPr>
        <p:txBody>
          <a:bodyPr anchorCtr="0" anchor="t" bIns="0" lIns="0" spcFirstLastPara="1" rIns="0" wrap="square" tIns="215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TO_NUMBER(character string, 'format model')</a:t>
            </a:r>
            <a:endParaRPr sz="1800">
              <a:latin typeface="Courier New"/>
              <a:ea typeface="Courier New"/>
              <a:cs typeface="Courier New"/>
              <a:sym typeface="Courier New"/>
            </a:endParaRPr>
          </a:p>
        </p:txBody>
      </p:sp>
      <p:sp>
        <p:nvSpPr>
          <p:cNvPr id="324" name="Google Shape;324;p35"/>
          <p:cNvSpPr txBox="1"/>
          <p:nvPr/>
        </p:nvSpPr>
        <p:spPr>
          <a:xfrm>
            <a:off x="2025395" y="5315711"/>
            <a:ext cx="4904740" cy="1047115"/>
          </a:xfrm>
          <a:prstGeom prst="rect">
            <a:avLst/>
          </a:prstGeom>
          <a:solidFill>
            <a:srgbClr val="9DBDC4">
              <a:alpha val="49804"/>
            </a:srgbClr>
          </a:solidFill>
          <a:ln>
            <a:noFill/>
          </a:ln>
        </p:spPr>
        <p:txBody>
          <a:bodyPr anchorCtr="0" anchor="t" bIns="0" lIns="0" spcFirstLastPara="1" rIns="0" wrap="square" tIns="844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TO_NUMBER('5,320', '9,999')</a:t>
            </a:r>
            <a:endParaRPr sz="1800">
              <a:latin typeface="Courier New"/>
              <a:ea typeface="Courier New"/>
              <a:cs typeface="Courier New"/>
              <a:sym typeface="Courier New"/>
            </a:endParaRPr>
          </a:p>
          <a:p>
            <a:pPr indent="0" lvl="0" marL="0" marR="33947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"Number" FROM dual;</a:t>
            </a:r>
            <a:endParaRPr sz="18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6"/>
          <p:cNvSpPr txBox="1"/>
          <p:nvPr/>
        </p:nvSpPr>
        <p:spPr>
          <a:xfrm>
            <a:off x="372741" y="1481357"/>
            <a:ext cx="7755255" cy="1220470"/>
          </a:xfrm>
          <a:prstGeom prst="rect">
            <a:avLst/>
          </a:prstGeom>
          <a:noFill/>
          <a:ln>
            <a:noFill/>
          </a:ln>
        </p:spPr>
        <p:txBody>
          <a:bodyPr anchorCtr="0" anchor="t" bIns="0" lIns="0" spcFirstLastPara="1" rIns="0" wrap="square" tIns="59675">
            <a:spAutoFit/>
          </a:bodyPr>
          <a:lstStyle/>
          <a:p>
            <a:pPr indent="-227329" lvl="0" marL="240029" marR="5080" rtl="0" algn="l">
              <a:lnSpc>
                <a:spcPct val="108214"/>
              </a:lnSpc>
              <a:spcBef>
                <a:spcPts val="0"/>
              </a:spcBef>
              <a:spcAft>
                <a:spcPts val="0"/>
              </a:spcAft>
              <a:buClr>
                <a:srgbClr val="4E3629"/>
              </a:buClr>
              <a:buSzPts val="2800"/>
              <a:buFont typeface="Arial"/>
              <a:buChar char="•"/>
            </a:pPr>
            <a:r>
              <a:rPr lang="en-US" sz="2800">
                <a:solidFill>
                  <a:srgbClr val="4E3629"/>
                </a:solidFill>
                <a:latin typeface="Calibri"/>
                <a:ea typeface="Calibri"/>
                <a:cs typeface="Calibri"/>
                <a:sym typeface="Calibri"/>
              </a:rPr>
              <a:t>La columna bonus incluye los datos que contienen 4 	caracteres y el modelo de formato especifica 3 	caracteres, por lo que se devuelve un error</a:t>
            </a:r>
            <a:endParaRPr sz="2800">
              <a:latin typeface="Calibri"/>
              <a:ea typeface="Calibri"/>
              <a:cs typeface="Calibri"/>
              <a:sym typeface="Calibri"/>
            </a:endParaRPr>
          </a:p>
        </p:txBody>
      </p:sp>
      <p:sp>
        <p:nvSpPr>
          <p:cNvPr id="330" name="Google Shape;330;p36"/>
          <p:cNvSpPr txBox="1"/>
          <p:nvPr>
            <p:ph type="title"/>
          </p:nvPr>
        </p:nvSpPr>
        <p:spPr>
          <a:xfrm>
            <a:off x="392112" y="748031"/>
            <a:ext cx="6509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Conversión de Caracteres en Números</a:t>
            </a:r>
            <a:endParaRPr/>
          </a:p>
        </p:txBody>
      </p:sp>
      <p:pic>
        <p:nvPicPr>
          <p:cNvPr id="331" name="Google Shape;331;p36"/>
          <p:cNvPicPr preferRelativeResize="0"/>
          <p:nvPr/>
        </p:nvPicPr>
        <p:blipFill rotWithShape="1">
          <a:blip r:embed="rId3">
            <a:alphaModFix/>
          </a:blip>
          <a:srcRect b="0" l="0" r="0" t="0"/>
          <a:stretch/>
        </p:blipFill>
        <p:spPr>
          <a:xfrm>
            <a:off x="5839967" y="3128772"/>
            <a:ext cx="2381999" cy="513587"/>
          </a:xfrm>
          <a:prstGeom prst="rect">
            <a:avLst/>
          </a:prstGeom>
          <a:noFill/>
          <a:ln>
            <a:noFill/>
          </a:ln>
        </p:spPr>
      </p:pic>
      <p:graphicFrame>
        <p:nvGraphicFramePr>
          <p:cNvPr id="332" name="Google Shape;332;p36"/>
          <p:cNvGraphicFramePr/>
          <p:nvPr/>
        </p:nvGraphicFramePr>
        <p:xfrm>
          <a:off x="5822422" y="4351238"/>
          <a:ext cx="3000000" cy="3000000"/>
        </p:xfrm>
        <a:graphic>
          <a:graphicData uri="http://schemas.openxmlformats.org/drawingml/2006/table">
            <a:tbl>
              <a:tblPr bandRow="1" firstRow="1">
                <a:noFill/>
                <a:tableStyleId>{22F0BE96-B600-4196-B546-7D2FCBCF95F3}</a:tableStyleId>
              </a:tblPr>
              <a:tblGrid>
                <a:gridCol w="1251575"/>
                <a:gridCol w="1251575"/>
              </a:tblGrid>
              <a:tr h="295275">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LAST_NAME</a:t>
                      </a:r>
                      <a:endParaRPr sz="14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Bonus</a:t>
                      </a:r>
                      <a:endParaRPr sz="14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15600">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Zlotkey</a:t>
                      </a:r>
                      <a:endParaRPr sz="1400" u="none" cap="none" strike="noStrike">
                        <a:latin typeface="Calibri"/>
                        <a:ea typeface="Calibri"/>
                        <a:cs typeface="Calibri"/>
                        <a:sym typeface="Calibri"/>
                      </a:endParaRPr>
                    </a:p>
                  </a:txBody>
                  <a:tcPr marT="3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1500</a:t>
                      </a:r>
                      <a:endParaRPr sz="1400" u="none" cap="none" strike="noStrike">
                        <a:latin typeface="Calibri"/>
                        <a:ea typeface="Calibri"/>
                        <a:cs typeface="Calibri"/>
                        <a:sym typeface="Calibri"/>
                      </a:endParaRPr>
                    </a:p>
                  </a:txBody>
                  <a:tcPr marT="3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5600">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Abel</a:t>
                      </a:r>
                      <a:endParaRPr sz="1400" u="none" cap="none" strike="noStrike">
                        <a:latin typeface="Calibri"/>
                        <a:ea typeface="Calibri"/>
                        <a:cs typeface="Calibri"/>
                        <a:sym typeface="Calibri"/>
                      </a:endParaRPr>
                    </a:p>
                  </a:txBody>
                  <a:tcPr marT="3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1700</a:t>
                      </a:r>
                      <a:endParaRPr sz="1400" u="none" cap="none" strike="noStrike">
                        <a:latin typeface="Calibri"/>
                        <a:ea typeface="Calibri"/>
                        <a:cs typeface="Calibri"/>
                        <a:sym typeface="Calibri"/>
                      </a:endParaRPr>
                    </a:p>
                  </a:txBody>
                  <a:tcPr marT="3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257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Taylor</a:t>
                      </a:r>
                      <a:endParaRPr sz="1400" u="none" cap="none" strike="noStrike">
                        <a:latin typeface="Calibri"/>
                        <a:ea typeface="Calibri"/>
                        <a:cs typeface="Calibri"/>
                        <a:sym typeface="Calibri"/>
                      </a:endParaRPr>
                    </a:p>
                  </a:txBody>
                  <a:tcPr marT="22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1250</a:t>
                      </a:r>
                      <a:endParaRPr sz="1400" u="none" cap="none" strike="noStrike">
                        <a:latin typeface="Calibri"/>
                        <a:ea typeface="Calibri"/>
                        <a:cs typeface="Calibri"/>
                        <a:sym typeface="Calibri"/>
                      </a:endParaRPr>
                    </a:p>
                  </a:txBody>
                  <a:tcPr marT="22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33" name="Google Shape;333;p36"/>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334" name="Google Shape;334;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5" name="Google Shape;335;p3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36" name="Google Shape;336;p36"/>
          <p:cNvSpPr txBox="1"/>
          <p:nvPr/>
        </p:nvSpPr>
        <p:spPr>
          <a:xfrm>
            <a:off x="393191" y="2906267"/>
            <a:ext cx="5095240" cy="1045844"/>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6611"/>
              </a:lnSpc>
              <a:spcBef>
                <a:spcPts val="0"/>
              </a:spcBef>
              <a:spcAft>
                <a:spcPts val="0"/>
              </a:spcAft>
              <a:buNone/>
            </a:pPr>
            <a:r>
              <a:rPr b="1" lang="en-US" sz="1800">
                <a:solidFill>
                  <a:srgbClr val="4E3629"/>
                </a:solidFill>
                <a:latin typeface="Courier New"/>
                <a:ea typeface="Courier New"/>
                <a:cs typeface="Courier New"/>
                <a:sym typeface="Courier New"/>
              </a:rPr>
              <a:t>SELECT last_name, TO_NUMBER(bonus,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'999')</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80;</a:t>
            </a:r>
            <a:endParaRPr sz="1800">
              <a:latin typeface="Courier New"/>
              <a:ea typeface="Courier New"/>
              <a:cs typeface="Courier New"/>
              <a:sym typeface="Courier New"/>
            </a:endParaRPr>
          </a:p>
        </p:txBody>
      </p:sp>
      <p:sp>
        <p:nvSpPr>
          <p:cNvPr id="337" name="Google Shape;337;p36"/>
          <p:cNvSpPr txBox="1"/>
          <p:nvPr/>
        </p:nvSpPr>
        <p:spPr>
          <a:xfrm>
            <a:off x="393191" y="4355591"/>
            <a:ext cx="5095240" cy="1435735"/>
          </a:xfrm>
          <a:prstGeom prst="rect">
            <a:avLst/>
          </a:prstGeom>
          <a:solidFill>
            <a:srgbClr val="9DBDC4">
              <a:alpha val="49804"/>
            </a:srgbClr>
          </a:solidFill>
          <a:ln>
            <a:noFill/>
          </a:ln>
        </p:spPr>
        <p:txBody>
          <a:bodyPr anchorCtr="0" anchor="t" bIns="0" lIns="0" spcFirstLastPara="1" rIns="0" wrap="square" tIns="4425">
            <a:spAutoFit/>
          </a:bodyPr>
          <a:lstStyle/>
          <a:p>
            <a:pPr indent="0" lvl="0" marL="0" marR="4464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TO_NUMBER(bonus, '9999')</a:t>
            </a:r>
            <a:endParaRPr sz="1800">
              <a:latin typeface="Courier New"/>
              <a:ea typeface="Courier New"/>
              <a:cs typeface="Courier New"/>
              <a:sym typeface="Courier New"/>
            </a:endParaRPr>
          </a:p>
          <a:p>
            <a:pPr indent="137160" lvl="0" marL="0" marR="31743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"Bonus" 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80;</a:t>
            </a:r>
            <a:endParaRPr sz="18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txBox="1"/>
          <p:nvPr>
            <p:ph type="title"/>
          </p:nvPr>
        </p:nvSpPr>
        <p:spPr>
          <a:xfrm>
            <a:off x="392112" y="748031"/>
            <a:ext cx="6106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Conversión de Caracteres en Fechas</a:t>
            </a:r>
            <a:endParaRPr/>
          </a:p>
        </p:txBody>
      </p:sp>
      <p:sp>
        <p:nvSpPr>
          <p:cNvPr id="343" name="Google Shape;343;p37"/>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344" name="Google Shape;344;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5" name="Google Shape;345;p3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46" name="Google Shape;346;p37"/>
          <p:cNvSpPr txBox="1"/>
          <p:nvPr/>
        </p:nvSpPr>
        <p:spPr>
          <a:xfrm>
            <a:off x="483552" y="1415417"/>
            <a:ext cx="8106409"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convertir una cadena de caracteres en un formato 	de fecha, utilice:</a:t>
            </a:r>
            <a:endParaRPr sz="2800">
              <a:latin typeface="Calibri"/>
              <a:ea typeface="Calibri"/>
              <a:cs typeface="Calibri"/>
              <a:sym typeface="Calibri"/>
            </a:endParaRPr>
          </a:p>
        </p:txBody>
      </p:sp>
      <p:sp>
        <p:nvSpPr>
          <p:cNvPr id="347" name="Google Shape;347;p37"/>
          <p:cNvSpPr txBox="1"/>
          <p:nvPr/>
        </p:nvSpPr>
        <p:spPr>
          <a:xfrm>
            <a:off x="483552" y="2771777"/>
            <a:ext cx="8176895" cy="2088514"/>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conversión toma una cadena de caracteres que no 	sea un valor de fecha como, por ejemplo, "3 noviembre 	de 2001" y lo convierte en un valor de fecha</a:t>
            </a:r>
            <a:endParaRPr sz="2800">
              <a:latin typeface="Calibri"/>
              <a:ea typeface="Calibri"/>
              <a:cs typeface="Calibri"/>
              <a:sym typeface="Calibri"/>
            </a:endParaRPr>
          </a:p>
          <a:p>
            <a:pPr indent="-177800" lvl="0" marL="182880" marR="243204" rtl="0" algn="just">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modelo de formato indica al servidor que la cadena 	de caracteres "se parece a":</a:t>
            </a:r>
            <a:endParaRPr sz="2800">
              <a:latin typeface="Calibri"/>
              <a:ea typeface="Calibri"/>
              <a:cs typeface="Calibri"/>
              <a:sym typeface="Calibri"/>
            </a:endParaRPr>
          </a:p>
        </p:txBody>
      </p:sp>
      <p:sp>
        <p:nvSpPr>
          <p:cNvPr id="348" name="Google Shape;348;p37"/>
          <p:cNvSpPr txBox="1"/>
          <p:nvPr/>
        </p:nvSpPr>
        <p:spPr>
          <a:xfrm>
            <a:off x="826452" y="5338193"/>
            <a:ext cx="3108960"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Devolverá 03-Nov-2001</a:t>
            </a:r>
            <a:endParaRPr sz="2400">
              <a:latin typeface="Calibri"/>
              <a:ea typeface="Calibri"/>
              <a:cs typeface="Calibri"/>
              <a:sym typeface="Calibri"/>
            </a:endParaRPr>
          </a:p>
        </p:txBody>
      </p:sp>
      <p:sp>
        <p:nvSpPr>
          <p:cNvPr id="349" name="Google Shape;349;p37"/>
          <p:cNvSpPr txBox="1"/>
          <p:nvPr/>
        </p:nvSpPr>
        <p:spPr>
          <a:xfrm>
            <a:off x="393191" y="2311907"/>
            <a:ext cx="8357870" cy="32766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9722"/>
              </a:lnSpc>
              <a:spcBef>
                <a:spcPts val="0"/>
              </a:spcBef>
              <a:spcAft>
                <a:spcPts val="0"/>
              </a:spcAft>
              <a:buNone/>
            </a:pPr>
            <a:r>
              <a:rPr b="1" lang="en-US" sz="1800">
                <a:solidFill>
                  <a:srgbClr val="4E3629"/>
                </a:solidFill>
                <a:latin typeface="Courier New"/>
                <a:ea typeface="Courier New"/>
                <a:cs typeface="Courier New"/>
                <a:sym typeface="Courier New"/>
              </a:rPr>
              <a:t>TO_DATE('character string', 'format model')</a:t>
            </a:r>
            <a:endParaRPr sz="1800">
              <a:latin typeface="Courier New"/>
              <a:ea typeface="Courier New"/>
              <a:cs typeface="Courier New"/>
              <a:sym typeface="Courier New"/>
            </a:endParaRPr>
          </a:p>
        </p:txBody>
      </p:sp>
      <p:sp>
        <p:nvSpPr>
          <p:cNvPr id="350" name="Google Shape;350;p37"/>
          <p:cNvSpPr txBox="1"/>
          <p:nvPr/>
        </p:nvSpPr>
        <p:spPr>
          <a:xfrm>
            <a:off x="405384" y="4960620"/>
            <a:ext cx="8357870" cy="32956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TO_DATE('November 3, 2001', 'Month dd, yyyy')</a:t>
            </a:r>
            <a:endParaRPr sz="1800">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8"/>
          <p:cNvSpPr txBox="1"/>
          <p:nvPr/>
        </p:nvSpPr>
        <p:spPr>
          <a:xfrm>
            <a:off x="405384" y="5222747"/>
            <a:ext cx="6253480" cy="83248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0000"/>
              </a:lnSpc>
              <a:spcBef>
                <a:spcPts val="0"/>
              </a:spcBef>
              <a:spcAft>
                <a:spcPts val="0"/>
              </a:spcAft>
              <a:buNone/>
            </a:pPr>
            <a:r>
              <a:rPr b="1" lang="en-US" sz="1800">
                <a:solidFill>
                  <a:srgbClr val="4E3629"/>
                </a:solidFill>
                <a:latin typeface="Courier New"/>
                <a:ea typeface="Courier New"/>
                <a:cs typeface="Courier New"/>
                <a:sym typeface="Courier New"/>
              </a:rPr>
              <a:t>SELECT TO_DATE('May10,1989', 'fxMonDD,YYYY')</a:t>
            </a:r>
            <a:endParaRPr sz="1800">
              <a:latin typeface="Courier New"/>
              <a:ea typeface="Courier New"/>
              <a:cs typeface="Courier New"/>
              <a:sym typeface="Courier New"/>
            </a:endParaRPr>
          </a:p>
          <a:p>
            <a:pPr indent="0" lvl="0" marL="0" marR="46075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"Convert" FROM DUAL;</a:t>
            </a:r>
            <a:endParaRPr sz="1800">
              <a:latin typeface="Courier New"/>
              <a:ea typeface="Courier New"/>
              <a:cs typeface="Courier New"/>
              <a:sym typeface="Courier New"/>
            </a:endParaRPr>
          </a:p>
        </p:txBody>
      </p:sp>
      <p:sp>
        <p:nvSpPr>
          <p:cNvPr id="356" name="Google Shape;356;p38"/>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357" name="Google Shape;357;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8" name="Google Shape;358;p3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59" name="Google Shape;359;p38"/>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Reglas del Modificador fx</a:t>
            </a:r>
            <a:endParaRPr/>
          </a:p>
        </p:txBody>
      </p:sp>
      <p:sp>
        <p:nvSpPr>
          <p:cNvPr id="360" name="Google Shape;360;p38"/>
          <p:cNvSpPr txBox="1"/>
          <p:nvPr/>
        </p:nvSpPr>
        <p:spPr>
          <a:xfrm>
            <a:off x="483544" y="1415417"/>
            <a:ext cx="8174990" cy="3729354"/>
          </a:xfrm>
          <a:prstGeom prst="rect">
            <a:avLst/>
          </a:prstGeom>
          <a:noFill/>
          <a:ln>
            <a:noFill/>
          </a:ln>
        </p:spPr>
        <p:txBody>
          <a:bodyPr anchorCtr="0" anchor="t" bIns="0" lIns="0" spcFirstLastPara="1" rIns="0" wrap="square" tIns="59675">
            <a:spAutoFit/>
          </a:bodyPr>
          <a:lstStyle/>
          <a:p>
            <a:pPr indent="-177800" lvl="0" marL="182880" marR="495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realiza una conversión de caracteres en fecha, 	el modificador fx (formato exacto) especifica la 	coincidencia exacta entre el argumento de carácter y el 	modelo de formato de fecha</a:t>
            </a:r>
            <a:endParaRPr sz="2800">
              <a:latin typeface="Calibri"/>
              <a:ea typeface="Calibri"/>
              <a:cs typeface="Calibri"/>
              <a:sym typeface="Calibri"/>
            </a:endParaRPr>
          </a:p>
          <a:p>
            <a:pPr indent="-177800" lvl="0" marL="182880" marR="50927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siguiente ejemplo, tenga en cuenta que en 	"May10 " no hay ningún espacio entre "May" y "10"</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modelo de formato fx busca la coincidencia con el 	argumento de caracteres, ya que tampoco tiene ningún 	espacio entre "Mon" y "DD"</a:t>
            </a:r>
            <a:endParaRPr sz="2800">
              <a:latin typeface="Calibri"/>
              <a:ea typeface="Calibri"/>
              <a:cs typeface="Calibri"/>
              <a:sym typeface="Calibri"/>
            </a:endParaRPr>
          </a:p>
        </p:txBody>
      </p:sp>
      <p:graphicFrame>
        <p:nvGraphicFramePr>
          <p:cNvPr id="361" name="Google Shape;361;p38"/>
          <p:cNvGraphicFramePr/>
          <p:nvPr/>
        </p:nvGraphicFramePr>
        <p:xfrm>
          <a:off x="7245857" y="5228192"/>
          <a:ext cx="3000000" cy="3000000"/>
        </p:xfrm>
        <a:graphic>
          <a:graphicData uri="http://schemas.openxmlformats.org/drawingml/2006/table">
            <a:tbl>
              <a:tblPr bandRow="1" firstRow="1">
                <a:noFill/>
                <a:tableStyleId>{22F0BE96-B600-4196-B546-7D2FCBCF95F3}</a:tableStyleId>
              </a:tblPr>
              <a:tblGrid>
                <a:gridCol w="1498600"/>
              </a:tblGrid>
              <a:tr h="415925">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CONVERT</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415925">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10-May-1989</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9"/>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Reglas del Modificador fx</a:t>
            </a:r>
            <a:endParaRPr/>
          </a:p>
        </p:txBody>
      </p:sp>
      <p:sp>
        <p:nvSpPr>
          <p:cNvPr id="367" name="Google Shape;367;p39"/>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368" name="Google Shape;368;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69" name="Google Shape;369;p3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70" name="Google Shape;370;p39"/>
          <p:cNvSpPr txBox="1"/>
          <p:nvPr/>
        </p:nvSpPr>
        <p:spPr>
          <a:xfrm>
            <a:off x="483552" y="1393401"/>
            <a:ext cx="8177530" cy="45212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reglas del modificador fx son:</a:t>
            </a:r>
            <a:endParaRPr sz="2800">
              <a:latin typeface="Calibri"/>
              <a:ea typeface="Calibri"/>
              <a:cs typeface="Calibri"/>
              <a:sym typeface="Calibri"/>
            </a:endParaRPr>
          </a:p>
          <a:p>
            <a:pPr indent="-175260" lvl="0" marL="530860" marR="39687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puntuación y el texto entre comillas en el argumento de caracteres deben coincidir con las partes correspondientes del modelo de formato exactamente (excepto en lo que respecta a mayúsculas/minúsculas)</a:t>
            </a:r>
            <a:endParaRPr sz="2400">
              <a:latin typeface="Calibri"/>
              <a:ea typeface="Calibri"/>
              <a:cs typeface="Calibri"/>
              <a:sym typeface="Calibri"/>
            </a:endParaRPr>
          </a:p>
          <a:p>
            <a:pPr indent="-175260" lvl="0" marL="530860" marR="1049655" rtl="0" algn="l">
              <a:lnSpc>
                <a:spcPct val="107916"/>
              </a:lnSpc>
              <a:spcBef>
                <a:spcPts val="4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El argumento de carácter no puede tener espacios en blanco adicionales</a:t>
            </a:r>
            <a:endParaRPr sz="2400">
              <a:latin typeface="Calibri"/>
              <a:ea typeface="Calibri"/>
              <a:cs typeface="Calibri"/>
              <a:sym typeface="Calibri"/>
            </a:endParaRPr>
          </a:p>
          <a:p>
            <a:pPr indent="-175260" lvl="1" marL="873760" rtl="0" algn="l">
              <a:lnSpc>
                <a:spcPct val="100000"/>
              </a:lnSpc>
              <a:spcBef>
                <a:spcPts val="145"/>
              </a:spcBef>
              <a:spcAft>
                <a:spcPts val="0"/>
              </a:spcAft>
              <a:buClr>
                <a:srgbClr val="D1350F"/>
              </a:buClr>
              <a:buSzPts val="2000"/>
              <a:buFont typeface="Arial"/>
              <a:buChar char="•"/>
            </a:pPr>
            <a:r>
              <a:rPr lang="en-US" sz="2000">
                <a:solidFill>
                  <a:srgbClr val="4E3629"/>
                </a:solidFill>
                <a:latin typeface="Calibri"/>
                <a:ea typeface="Calibri"/>
                <a:cs typeface="Calibri"/>
                <a:sym typeface="Calibri"/>
              </a:rPr>
              <a:t>Sin fx, Oracle Server ignora los espacios en blanco adicionales</a:t>
            </a:r>
            <a:endParaRPr sz="2000">
              <a:latin typeface="Calibri"/>
              <a:ea typeface="Calibri"/>
              <a:cs typeface="Calibri"/>
              <a:sym typeface="Calibri"/>
            </a:endParaRPr>
          </a:p>
          <a:p>
            <a:pPr indent="-175260" lvl="0" marL="530860" marR="5080" rtl="0" algn="l">
              <a:lnSpc>
                <a:spcPct val="107916"/>
              </a:lnSpc>
              <a:spcBef>
                <a:spcPts val="4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Los datos numéricos del argumento de carácter deben tener el mismo número de dígitos que el elemento correspondiente en el modelo de formato</a:t>
            </a:r>
            <a:endParaRPr sz="2400">
              <a:latin typeface="Calibri"/>
              <a:ea typeface="Calibri"/>
              <a:cs typeface="Calibri"/>
              <a:sym typeface="Calibri"/>
            </a:endParaRPr>
          </a:p>
          <a:p>
            <a:pPr indent="-175260" lvl="1" marL="873125" marR="363855" rtl="0" algn="l">
              <a:lnSpc>
                <a:spcPct val="108000"/>
              </a:lnSpc>
              <a:spcBef>
                <a:spcPts val="425"/>
              </a:spcBef>
              <a:spcAft>
                <a:spcPts val="0"/>
              </a:spcAft>
              <a:buClr>
                <a:srgbClr val="D1350F"/>
              </a:buClr>
              <a:buSzPts val="2000"/>
              <a:buFont typeface="Arial"/>
              <a:buChar char="•"/>
            </a:pPr>
            <a:r>
              <a:rPr lang="en-US" sz="2000">
                <a:solidFill>
                  <a:srgbClr val="4E3629"/>
                </a:solidFill>
                <a:latin typeface="Calibri"/>
                <a:ea typeface="Calibri"/>
                <a:cs typeface="Calibri"/>
                <a:sym typeface="Calibri"/>
              </a:rPr>
              <a:t>Sin fx, los números del argumento de carácter no pueden omitir los 	ceros iniciales</a:t>
            </a:r>
            <a:endParaRPr sz="20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0"/>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Reglas del Modificador fx</a:t>
            </a:r>
            <a:endParaRPr/>
          </a:p>
        </p:txBody>
      </p:sp>
      <p:sp>
        <p:nvSpPr>
          <p:cNvPr id="376" name="Google Shape;376;p40"/>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377" name="Google Shape;377;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78" name="Google Shape;378;p4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graphicFrame>
        <p:nvGraphicFramePr>
          <p:cNvPr id="379" name="Google Shape;379;p40"/>
          <p:cNvGraphicFramePr/>
          <p:nvPr/>
        </p:nvGraphicFramePr>
        <p:xfrm>
          <a:off x="398462" y="1984375"/>
          <a:ext cx="3000000" cy="3000000"/>
        </p:xfrm>
        <a:graphic>
          <a:graphicData uri="http://schemas.openxmlformats.org/drawingml/2006/table">
            <a:tbl>
              <a:tblPr bandRow="1" firstRow="1">
                <a:noFill/>
                <a:tableStyleId>{22F0BE96-B600-4196-B546-7D2FCBCF95F3}</a:tableStyleId>
              </a:tblPr>
              <a:tblGrid>
                <a:gridCol w="6739250"/>
                <a:gridCol w="1606550"/>
              </a:tblGrid>
              <a:tr h="395600">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Examples:</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Output</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 TO_DATE('Sep 07, 1965', 'fxMon dd, YYYY') AS "Date"</a:t>
                      </a:r>
                      <a:endParaRPr sz="1600" u="none" cap="none" strike="noStrike">
                        <a:latin typeface="Calibri"/>
                        <a:ea typeface="Calibri"/>
                        <a:cs typeface="Calibri"/>
                        <a:sym typeface="Calibri"/>
                      </a:endParaRPr>
                    </a:p>
                    <a:p>
                      <a:pPr indent="0" lvl="0" marL="101600" marR="0" rtl="0" algn="l">
                        <a:lnSpc>
                          <a:spcPct val="100000"/>
                        </a:lnSpc>
                        <a:spcBef>
                          <a:spcPts val="310"/>
                        </a:spcBef>
                        <a:spcAft>
                          <a:spcPts val="0"/>
                        </a:spcAft>
                        <a:buNone/>
                      </a:pPr>
                      <a:r>
                        <a:rPr lang="en-US" sz="1600" u="none" cap="none" strike="noStrike">
                          <a:solidFill>
                            <a:srgbClr val="4E3629"/>
                          </a:solidFill>
                          <a:latin typeface="Calibri"/>
                          <a:ea typeface="Calibri"/>
                          <a:cs typeface="Calibri"/>
                          <a:sym typeface="Calibri"/>
                        </a:rPr>
                        <a:t>FROM dual;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07-Sep-1965</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1717039"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TO_DATE('July312004', 'fxMonthDDYYYY') AS "Date"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31-Jul-2004</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27375">
                <a:tc>
                  <a:txBody>
                    <a:bodyPr/>
                    <a:lstStyle/>
                    <a:p>
                      <a:pPr indent="0" lvl="0" marL="101600" marR="144081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TO_DATE('June 19, 1990','fxMonth dd, YYYY') AS "Date"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160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19-Jun-1990</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1"/>
          <p:cNvSpPr txBox="1"/>
          <p:nvPr>
            <p:ph type="title"/>
          </p:nvPr>
        </p:nvSpPr>
        <p:spPr>
          <a:xfrm>
            <a:off x="392112" y="748031"/>
            <a:ext cx="7560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Formato de Fecha RR y Formato de Fecha YY</a:t>
            </a:r>
            <a:endParaRPr/>
          </a:p>
        </p:txBody>
      </p:sp>
      <p:sp>
        <p:nvSpPr>
          <p:cNvPr id="385" name="Google Shape;385;p41"/>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386" name="Google Shape;386;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87" name="Google Shape;387;p4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88" name="Google Shape;388;p41"/>
          <p:cNvSpPr txBox="1"/>
          <p:nvPr/>
        </p:nvSpPr>
        <p:spPr>
          <a:xfrm>
            <a:off x="483552" y="1415417"/>
            <a:ext cx="8174990" cy="421322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Todos los datos de fecha ahora se almacenan utilizando 	años de cuatro dígitos (YYYY)</a:t>
            </a:r>
            <a:endParaRPr sz="2800">
              <a:latin typeface="Calibri"/>
              <a:ea typeface="Calibri"/>
              <a:cs typeface="Calibri"/>
              <a:sym typeface="Calibri"/>
            </a:endParaRPr>
          </a:p>
          <a:p>
            <a:pPr indent="-177800" lvl="0" marL="182880" marR="6032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obstante, algunas bases de datos de legado pueden 	seguir utilizando el formato de dos dígitos (YY)</a:t>
            </a:r>
            <a:endParaRPr sz="2800">
              <a:latin typeface="Calibri"/>
              <a:ea typeface="Calibri"/>
              <a:cs typeface="Calibri"/>
              <a:sym typeface="Calibri"/>
            </a:endParaRPr>
          </a:p>
          <a:p>
            <a:pPr indent="-177800" lvl="0" marL="182880" marR="2349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hace tanto tiempo que hemos cambiado de sigo, de 	1900 a 2000</a:t>
            </a:r>
            <a:endParaRPr sz="2800">
              <a:latin typeface="Calibri"/>
              <a:ea typeface="Calibri"/>
              <a:cs typeface="Calibri"/>
              <a:sym typeface="Calibri"/>
            </a:endParaRPr>
          </a:p>
          <a:p>
            <a:pPr indent="-177800" lvl="0" marL="182880" marR="4699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cambio vino acompañado de una gran confusión 	en función de si una fecha escrita como 02-Jan-98 se 	interpretaría como 2 de enero de 1998 o 2 de enero de 	2098</a:t>
            </a:r>
            <a:endParaRPr sz="28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2"/>
          <p:cNvSpPr txBox="1"/>
          <p:nvPr>
            <p:ph type="title"/>
          </p:nvPr>
        </p:nvSpPr>
        <p:spPr>
          <a:xfrm>
            <a:off x="392112" y="748031"/>
            <a:ext cx="7560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Formato de Fecha RR y Formato de Fecha YY</a:t>
            </a:r>
            <a:endParaRPr/>
          </a:p>
        </p:txBody>
      </p:sp>
      <p:sp>
        <p:nvSpPr>
          <p:cNvPr id="394" name="Google Shape;394;p42"/>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395" name="Google Shape;395;p4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96" name="Google Shape;396;p42"/>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97" name="Google Shape;397;p42"/>
          <p:cNvSpPr txBox="1"/>
          <p:nvPr/>
        </p:nvSpPr>
        <p:spPr>
          <a:xfrm>
            <a:off x="483552" y="1415417"/>
            <a:ext cx="8155305"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los datos que se van a convertir de datos de 	caracteres a datos de fecha solo contienen un año de 	dos dígitos, Oracle tiene una forma de interpretar estas 	fechas con el siglo correcto</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'27-Oct-95'</a:t>
            </a:r>
            <a:endParaRPr sz="2800">
              <a:latin typeface="Calibri"/>
              <a:ea typeface="Calibri"/>
              <a:cs typeface="Calibri"/>
              <a:sym typeface="Calibri"/>
            </a:endParaRPr>
          </a:p>
        </p:txBody>
      </p:sp>
      <p:sp>
        <p:nvSpPr>
          <p:cNvPr id="398" name="Google Shape;398;p42"/>
          <p:cNvSpPr txBox="1"/>
          <p:nvPr/>
        </p:nvSpPr>
        <p:spPr>
          <a:xfrm>
            <a:off x="483552" y="4510661"/>
            <a:ext cx="749109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año de dos dígitos se interpreta como 2095, que 	puede que no sea lo previsto</a:t>
            </a:r>
            <a:endParaRPr sz="2800">
              <a:latin typeface="Calibri"/>
              <a:ea typeface="Calibri"/>
              <a:cs typeface="Calibri"/>
              <a:sym typeface="Calibri"/>
            </a:endParaRPr>
          </a:p>
        </p:txBody>
      </p:sp>
      <p:graphicFrame>
        <p:nvGraphicFramePr>
          <p:cNvPr id="399" name="Google Shape;399;p42"/>
          <p:cNvGraphicFramePr/>
          <p:nvPr/>
        </p:nvGraphicFramePr>
        <p:xfrm>
          <a:off x="6472176" y="3671080"/>
          <a:ext cx="3000000" cy="3000000"/>
        </p:xfrm>
        <a:graphic>
          <a:graphicData uri="http://schemas.openxmlformats.org/drawingml/2006/table">
            <a:tbl>
              <a:tblPr bandRow="1" firstRow="1">
                <a:noFill/>
                <a:tableStyleId>{22F0BE96-B600-4196-B546-7D2FCBCF95F3}</a:tableStyleId>
              </a:tblPr>
              <a:tblGrid>
                <a:gridCol w="1490975"/>
              </a:tblGrid>
              <a:tr h="3479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Date</a:t>
                      </a:r>
                      <a:endParaRPr sz="1600" u="none" cap="none" strike="noStrike">
                        <a:latin typeface="Calibri"/>
                        <a:ea typeface="Calibri"/>
                        <a:cs typeface="Calibri"/>
                        <a:sym typeface="Calibri"/>
                      </a:endParaRPr>
                    </a:p>
                  </a:txBody>
                  <a:tcPr marT="3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479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27-Oct-2095</a:t>
                      </a:r>
                      <a:endParaRPr sz="1600" u="none" cap="none" strike="noStrike">
                        <a:latin typeface="Calibri"/>
                        <a:ea typeface="Calibri"/>
                        <a:cs typeface="Calibri"/>
                        <a:sym typeface="Calibri"/>
                      </a:endParaRPr>
                    </a:p>
                  </a:txBody>
                  <a:tcPr marT="3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400" name="Google Shape;400;p42"/>
          <p:cNvSpPr txBox="1"/>
          <p:nvPr/>
        </p:nvSpPr>
        <p:spPr>
          <a:xfrm>
            <a:off x="405384" y="3561588"/>
            <a:ext cx="5689600" cy="970915"/>
          </a:xfrm>
          <a:prstGeom prst="rect">
            <a:avLst/>
          </a:prstGeom>
          <a:solidFill>
            <a:srgbClr val="9DBDC4">
              <a:alpha val="49804"/>
            </a:srgbClr>
          </a:solidFill>
          <a:ln>
            <a:noFill/>
          </a:ln>
        </p:spPr>
        <p:txBody>
          <a:bodyPr anchorCtr="0" anchor="t" bIns="0" lIns="0" spcFirstLastPara="1" rIns="0" wrap="square" tIns="463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TO_DATE('27-Oct-95','DD-Mon-YY')</a:t>
            </a:r>
            <a:endParaRPr sz="1800">
              <a:latin typeface="Courier New"/>
              <a:ea typeface="Courier New"/>
              <a:cs typeface="Courier New"/>
              <a:sym typeface="Courier New"/>
            </a:endParaRPr>
          </a:p>
          <a:p>
            <a:pPr indent="137160" lvl="0" marL="0" marR="43141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"Date" FROM dual;</a:t>
            </a:r>
            <a:endParaRPr sz="1800">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3"/>
          <p:cNvSpPr txBox="1"/>
          <p:nvPr>
            <p:ph type="title"/>
          </p:nvPr>
        </p:nvSpPr>
        <p:spPr>
          <a:xfrm>
            <a:off x="392112" y="748031"/>
            <a:ext cx="7560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Formato de Fecha RR y Formato de Fecha YY</a:t>
            </a:r>
            <a:endParaRPr/>
          </a:p>
        </p:txBody>
      </p:sp>
      <p:sp>
        <p:nvSpPr>
          <p:cNvPr id="406" name="Google Shape;406;p43"/>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407" name="Google Shape;407;p4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08" name="Google Shape;408;p4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409" name="Google Shape;409;p43"/>
          <p:cNvSpPr txBox="1"/>
          <p:nvPr/>
        </p:nvSpPr>
        <p:spPr>
          <a:xfrm>
            <a:off x="483552" y="1415417"/>
            <a:ext cx="8005445"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YY se utiliza en el modelo de formato, se asume que 	el año pertenece al siglo actual</a:t>
            </a:r>
            <a:endParaRPr sz="2800">
              <a:latin typeface="Calibri"/>
              <a:ea typeface="Calibri"/>
              <a:cs typeface="Calibri"/>
              <a:sym typeface="Calibri"/>
            </a:endParaRPr>
          </a:p>
          <a:p>
            <a:pPr indent="-177800" lvl="0" marL="182880" marR="82423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el año de dos dígitos no está en el siglo actual, 	utilizamos RR</a:t>
            </a:r>
            <a:endParaRPr sz="2800">
              <a:latin typeface="Calibri"/>
              <a:ea typeface="Calibri"/>
              <a:cs typeface="Calibri"/>
              <a:sym typeface="Calibri"/>
            </a:endParaRPr>
          </a:p>
        </p:txBody>
      </p:sp>
      <p:sp>
        <p:nvSpPr>
          <p:cNvPr id="410" name="Google Shape;410;p43"/>
          <p:cNvSpPr txBox="1"/>
          <p:nvPr/>
        </p:nvSpPr>
        <p:spPr>
          <a:xfrm>
            <a:off x="483552" y="4126613"/>
            <a:ext cx="768032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año de dos dígitos ahora se interpreta como 1995</a:t>
            </a:r>
            <a:endParaRPr sz="2800">
              <a:latin typeface="Calibri"/>
              <a:ea typeface="Calibri"/>
              <a:cs typeface="Calibri"/>
              <a:sym typeface="Calibri"/>
            </a:endParaRPr>
          </a:p>
        </p:txBody>
      </p:sp>
      <p:graphicFrame>
        <p:nvGraphicFramePr>
          <p:cNvPr id="411" name="Google Shape;411;p43"/>
          <p:cNvGraphicFramePr/>
          <p:nvPr/>
        </p:nvGraphicFramePr>
        <p:xfrm>
          <a:off x="6035449" y="3194947"/>
          <a:ext cx="3000000" cy="3000000"/>
        </p:xfrm>
        <a:graphic>
          <a:graphicData uri="http://schemas.openxmlformats.org/drawingml/2006/table">
            <a:tbl>
              <a:tblPr bandRow="1" firstRow="1">
                <a:noFill/>
                <a:tableStyleId>{22F0BE96-B600-4196-B546-7D2FCBCF95F3}</a:tableStyleId>
              </a:tblPr>
              <a:tblGrid>
                <a:gridCol w="1577975"/>
              </a:tblGrid>
              <a:tr h="2895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Date</a:t>
                      </a:r>
                      <a:endParaRPr sz="1600" u="none" cap="none" strike="noStrike">
                        <a:latin typeface="Calibri"/>
                        <a:ea typeface="Calibri"/>
                        <a:cs typeface="Calibri"/>
                        <a:sym typeface="Calibri"/>
                      </a:endParaRPr>
                    </a:p>
                  </a:txBody>
                  <a:tcPr marT="10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895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27-Oct-1995</a:t>
                      </a:r>
                      <a:endParaRPr sz="1600" u="none" cap="none" strike="noStrike">
                        <a:latin typeface="Calibri"/>
                        <a:ea typeface="Calibri"/>
                        <a:cs typeface="Calibri"/>
                        <a:sym typeface="Calibri"/>
                      </a:endParaRPr>
                    </a:p>
                  </a:txBody>
                  <a:tcPr marT="10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412" name="Google Shape;412;p43"/>
          <p:cNvSpPr txBox="1"/>
          <p:nvPr/>
        </p:nvSpPr>
        <p:spPr>
          <a:xfrm>
            <a:off x="405384" y="3127248"/>
            <a:ext cx="5473065" cy="970915"/>
          </a:xfrm>
          <a:prstGeom prst="rect">
            <a:avLst/>
          </a:prstGeom>
          <a:solidFill>
            <a:srgbClr val="9DBDC4">
              <a:alpha val="49804"/>
            </a:srgbClr>
          </a:solidFill>
          <a:ln>
            <a:noFill/>
          </a:ln>
        </p:spPr>
        <p:txBody>
          <a:bodyPr anchorCtr="0" anchor="t" bIns="0" lIns="0" spcFirstLastPara="1" rIns="0" wrap="square" tIns="463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TO_DATE('27-Oct-95','DD-Mon-RR')</a:t>
            </a:r>
            <a:endParaRPr sz="1800">
              <a:latin typeface="Courier New"/>
              <a:ea typeface="Courier New"/>
              <a:cs typeface="Courier New"/>
              <a:sym typeface="Courier New"/>
            </a:endParaRPr>
          </a:p>
          <a:p>
            <a:pPr indent="137160" lvl="0" marL="0" marR="40982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"Date" FROM dual;</a:t>
            </a:r>
            <a:endParaRPr sz="1800">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4"/>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Algunas Sencillas Reglas</a:t>
            </a:r>
            <a:endParaRPr/>
          </a:p>
        </p:txBody>
      </p:sp>
      <p:sp>
        <p:nvSpPr>
          <p:cNvPr id="418" name="Google Shape;418;p44"/>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419" name="Google Shape;419;p4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20" name="Google Shape;420;p4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421" name="Google Shape;421;p44"/>
          <p:cNvSpPr txBox="1"/>
          <p:nvPr/>
        </p:nvSpPr>
        <p:spPr>
          <a:xfrm>
            <a:off x="483552" y="1415417"/>
            <a:ext cx="7973695" cy="3787140"/>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el formato de fecha se especifica con el formato RR, 	el valor de retorno tiene dos posibilidades, en función 	del año actual</a:t>
            </a:r>
            <a:endParaRPr sz="2800">
              <a:latin typeface="Calibri"/>
              <a:ea typeface="Calibri"/>
              <a:cs typeface="Calibri"/>
              <a:sym typeface="Calibri"/>
            </a:endParaRPr>
          </a:p>
          <a:p>
            <a:pPr indent="-177800" lvl="0" marL="183515" rtl="0" algn="just">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el año actual está entre 00-49:</a:t>
            </a:r>
            <a:endParaRPr sz="2800">
              <a:latin typeface="Calibri"/>
              <a:ea typeface="Calibri"/>
              <a:cs typeface="Calibri"/>
              <a:sym typeface="Calibri"/>
            </a:endParaRPr>
          </a:p>
          <a:p>
            <a:pPr indent="-175260" lvl="0" marL="530860" marR="4533900" rtl="0" algn="l">
              <a:lnSpc>
                <a:spcPct val="107916"/>
              </a:lnSpc>
              <a:spcBef>
                <a:spcPts val="46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Fechas a partir de 0-49: la fecha estará en el siglo actual</a:t>
            </a:r>
            <a:endParaRPr sz="2400">
              <a:latin typeface="Calibri"/>
              <a:ea typeface="Calibri"/>
              <a:cs typeface="Calibri"/>
              <a:sym typeface="Calibri"/>
            </a:endParaRPr>
          </a:p>
          <a:p>
            <a:pPr indent="-175260" lvl="0" marL="530860" marR="4380230" rtl="0" algn="l">
              <a:lnSpc>
                <a:spcPct val="107916"/>
              </a:lnSpc>
              <a:spcBef>
                <a:spcPts val="41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Fechas a partir de 50-99: la fecha estará en el siglo pasado</a:t>
            </a:r>
            <a:endParaRPr sz="2400">
              <a:latin typeface="Calibri"/>
              <a:ea typeface="Calibri"/>
              <a:cs typeface="Calibri"/>
              <a:sym typeface="Calibri"/>
            </a:endParaRPr>
          </a:p>
        </p:txBody>
      </p:sp>
      <p:graphicFrame>
        <p:nvGraphicFramePr>
          <p:cNvPr id="422" name="Google Shape;422;p44"/>
          <p:cNvGraphicFramePr/>
          <p:nvPr/>
        </p:nvGraphicFramePr>
        <p:xfrm>
          <a:off x="4165600" y="3194594"/>
          <a:ext cx="3000000" cy="3000000"/>
        </p:xfrm>
        <a:graphic>
          <a:graphicData uri="http://schemas.openxmlformats.org/drawingml/2006/table">
            <a:tbl>
              <a:tblPr bandRow="1" firstRow="1">
                <a:noFill/>
                <a:tableStyleId>{22F0BE96-B600-4196-B546-7D2FCBCF95F3}</a:tableStyleId>
              </a:tblPr>
              <a:tblGrid>
                <a:gridCol w="1072525"/>
                <a:gridCol w="722625"/>
                <a:gridCol w="1433825"/>
                <a:gridCol w="1645275"/>
              </a:tblGrid>
              <a:tr h="579125">
                <a:tc gridSpan="2" rowSpan="2">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rowSpan="2" hMerge="1"/>
                <a:tc gridSpan="2">
                  <a:txBody>
                    <a:bodyPr/>
                    <a:lstStyle/>
                    <a:p>
                      <a:pPr indent="-302260" lvl="0" marL="879475" marR="57150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Si el año de dos dígitos especificado es</a:t>
                      </a:r>
                      <a:r>
                        <a:rPr b="1"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hMerge="1"/>
              </a:tr>
              <a:tr h="335275">
                <a:tc gridSpan="2" vMerge="1"/>
                <a:tc hMerge="1" vMerge="1"/>
                <a:tc>
                  <a:txBody>
                    <a:bodyPr/>
                    <a:lstStyle/>
                    <a:p>
                      <a:pPr indent="0" lvl="0" marL="0"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0-49</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50-99</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066800">
                <a:tc rowSpan="2">
                  <a:txBody>
                    <a:bodyPr/>
                    <a:lstStyle/>
                    <a:p>
                      <a:pPr indent="-1905" lvl="0" marL="111125" marR="103505" rtl="0" algn="ctr">
                        <a:lnSpc>
                          <a:spcPct val="100200"/>
                        </a:lnSpc>
                        <a:spcBef>
                          <a:spcPts val="0"/>
                        </a:spcBef>
                        <a:spcAft>
                          <a:spcPts val="0"/>
                        </a:spcAft>
                        <a:buNone/>
                      </a:pPr>
                      <a:r>
                        <a:rPr b="1" lang="en-US" sz="1600" u="none" cap="none" strike="noStrike">
                          <a:solidFill>
                            <a:srgbClr val="4E3629"/>
                          </a:solidFill>
                          <a:latin typeface="Calibri"/>
                          <a:ea typeface="Calibri"/>
                          <a:cs typeface="Calibri"/>
                          <a:sym typeface="Calibri"/>
                        </a:rPr>
                        <a:t>Si dos de los dígitos del año actual son:</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0-49</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1905" lvl="0" marL="110489" marR="102870" rtl="0" algn="ctr">
                        <a:lnSpc>
                          <a:spcPct val="100200"/>
                        </a:lnSpc>
                        <a:spcBef>
                          <a:spcPts val="0"/>
                        </a:spcBef>
                        <a:spcAft>
                          <a:spcPts val="0"/>
                        </a:spcAft>
                        <a:buNone/>
                      </a:pPr>
                      <a:r>
                        <a:rPr lang="en-US" sz="1600" u="none" cap="none" strike="noStrike">
                          <a:solidFill>
                            <a:srgbClr val="4E3629"/>
                          </a:solidFill>
                          <a:latin typeface="Calibri"/>
                          <a:ea typeface="Calibri"/>
                          <a:cs typeface="Calibri"/>
                          <a:sym typeface="Calibri"/>
                        </a:rPr>
                        <a:t>La fecha de devolución está en el siglo actual</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0" marR="113664" rtl="0" algn="ctr">
                        <a:lnSpc>
                          <a:spcPct val="100200"/>
                        </a:lnSpc>
                        <a:spcBef>
                          <a:spcPts val="0"/>
                        </a:spcBef>
                        <a:spcAft>
                          <a:spcPts val="0"/>
                        </a:spcAft>
                        <a:buNone/>
                      </a:pPr>
                      <a:r>
                        <a:rPr lang="en-US" sz="1600" u="none" cap="none" strike="noStrike">
                          <a:solidFill>
                            <a:srgbClr val="4E3629"/>
                          </a:solidFill>
                          <a:latin typeface="Calibri"/>
                          <a:ea typeface="Calibri"/>
                          <a:cs typeface="Calibri"/>
                          <a:sym typeface="Calibri"/>
                        </a:rPr>
                        <a:t>La fecha de devolución está en el siglo anterior al actual</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310650">
                <a:tc vMerge="1"/>
                <a:tc>
                  <a:txBody>
                    <a:bodyPr/>
                    <a:lstStyle/>
                    <a:p>
                      <a:pPr indent="0" lvl="0" marL="0"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50-99</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635" lvl="0" marL="110489" marR="102235"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La fecha de devolución está en el siglo posterior</a:t>
                      </a:r>
                      <a:endParaRPr sz="1600" u="none" cap="none" strike="noStrike">
                        <a:latin typeface="Calibri"/>
                        <a:ea typeface="Calibri"/>
                        <a:cs typeface="Calibri"/>
                        <a:sym typeface="Calibri"/>
                      </a:endParaRPr>
                    </a:p>
                    <a:p>
                      <a:pPr indent="0" lvl="0" marL="635" marR="0" rtl="0" algn="ctr">
                        <a:lnSpc>
                          <a:spcPct val="100000"/>
                        </a:lnSpc>
                        <a:spcBef>
                          <a:spcPts val="10"/>
                        </a:spcBef>
                        <a:spcAft>
                          <a:spcPts val="0"/>
                        </a:spcAft>
                        <a:buNone/>
                      </a:pPr>
                      <a:r>
                        <a:rPr lang="en-US" sz="1600" u="none" cap="none" strike="noStrike">
                          <a:solidFill>
                            <a:srgbClr val="4E3629"/>
                          </a:solidFill>
                          <a:latin typeface="Calibri"/>
                          <a:ea typeface="Calibri"/>
                          <a:cs typeface="Calibri"/>
                          <a:sym typeface="Calibri"/>
                        </a:rPr>
                        <a:t>al actual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1270" lvl="0" marL="135890" marR="130175" rtl="0" algn="ctr">
                        <a:lnSpc>
                          <a:spcPct val="100299"/>
                        </a:lnSpc>
                        <a:spcBef>
                          <a:spcPts val="0"/>
                        </a:spcBef>
                        <a:spcAft>
                          <a:spcPts val="0"/>
                        </a:spcAft>
                        <a:buNone/>
                      </a:pPr>
                      <a:r>
                        <a:rPr lang="en-US" sz="1600" u="none" cap="none" strike="noStrike">
                          <a:solidFill>
                            <a:srgbClr val="4E3629"/>
                          </a:solidFill>
                          <a:latin typeface="Calibri"/>
                          <a:ea typeface="Calibri"/>
                          <a:cs typeface="Calibri"/>
                          <a:sym typeface="Calibri"/>
                        </a:rPr>
                        <a:t>La fecha de devolución está en el siglo actual</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5"/>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Algunas Sencillas Reglas</a:t>
            </a:r>
            <a:endParaRPr/>
          </a:p>
        </p:txBody>
      </p:sp>
      <p:sp>
        <p:nvSpPr>
          <p:cNvPr id="428" name="Google Shape;428;p45"/>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429" name="Google Shape;429;p4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30" name="Google Shape;430;p4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431" name="Google Shape;431;p45"/>
          <p:cNvSpPr txBox="1"/>
          <p:nvPr/>
        </p:nvSpPr>
        <p:spPr>
          <a:xfrm>
            <a:off x="483552" y="1393401"/>
            <a:ext cx="7790815" cy="123825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el año actual está entre 50-99:</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Fechas a partir de 0-49: la fecha estará en el siglo siguiente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Fechas a partir de 50-99: la fecha estará en el siglo actual</a:t>
            </a:r>
            <a:endParaRPr sz="2400">
              <a:latin typeface="Calibri"/>
              <a:ea typeface="Calibri"/>
              <a:cs typeface="Calibri"/>
              <a:sym typeface="Calibri"/>
            </a:endParaRPr>
          </a:p>
        </p:txBody>
      </p:sp>
      <p:graphicFrame>
        <p:nvGraphicFramePr>
          <p:cNvPr id="432" name="Google Shape;432;p45"/>
          <p:cNvGraphicFramePr/>
          <p:nvPr/>
        </p:nvGraphicFramePr>
        <p:xfrm>
          <a:off x="3651250" y="2747316"/>
          <a:ext cx="3000000" cy="3000000"/>
        </p:xfrm>
        <a:graphic>
          <a:graphicData uri="http://schemas.openxmlformats.org/drawingml/2006/table">
            <a:tbl>
              <a:tblPr bandRow="1" firstRow="1">
                <a:noFill/>
                <a:tableStyleId>{22F0BE96-B600-4196-B546-7D2FCBCF95F3}</a:tableStyleId>
              </a:tblPr>
              <a:tblGrid>
                <a:gridCol w="1228725"/>
                <a:gridCol w="671825"/>
                <a:gridCol w="1428750"/>
                <a:gridCol w="1918325"/>
              </a:tblGrid>
              <a:tr h="579125">
                <a:tc gridSpan="2" rowSpan="2">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rowSpan="2" hMerge="1"/>
                <a:tc gridSpan="2">
                  <a:txBody>
                    <a:bodyPr/>
                    <a:lstStyle/>
                    <a:p>
                      <a:pPr indent="-1385570" lvl="0" marL="1552575" marR="160655" rtl="0" algn="l">
                        <a:lnSpc>
                          <a:spcPct val="100699"/>
                        </a:lnSpc>
                        <a:spcBef>
                          <a:spcPts val="0"/>
                        </a:spcBef>
                        <a:spcAft>
                          <a:spcPts val="0"/>
                        </a:spcAft>
                        <a:buNone/>
                      </a:pPr>
                      <a:r>
                        <a:rPr b="1" lang="en-US" sz="1600" u="none" cap="none" strike="noStrike">
                          <a:solidFill>
                            <a:srgbClr val="4E3629"/>
                          </a:solidFill>
                          <a:latin typeface="Calibri"/>
                          <a:ea typeface="Calibri"/>
                          <a:cs typeface="Calibri"/>
                          <a:sym typeface="Calibri"/>
                        </a:rPr>
                        <a:t>Si el año de dos dígitos especificado es:</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hMerge="1"/>
              </a:tr>
              <a:tr h="335275">
                <a:tc gridSpan="2" vMerge="1"/>
                <a:tc hMerge="1" vMerge="1"/>
                <a:tc>
                  <a:txBody>
                    <a:bodyPr/>
                    <a:lstStyle/>
                    <a:p>
                      <a:pPr indent="0" lvl="0" marL="0"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0-49</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50-99</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088400">
                <a:tc rowSpan="2">
                  <a:txBody>
                    <a:bodyPr/>
                    <a:lstStyle/>
                    <a:p>
                      <a:pPr indent="-1270" lvl="0" marL="155575" marR="149225" rtl="0" algn="ctr">
                        <a:lnSpc>
                          <a:spcPct val="100200"/>
                        </a:lnSpc>
                        <a:spcBef>
                          <a:spcPts val="0"/>
                        </a:spcBef>
                        <a:spcAft>
                          <a:spcPts val="0"/>
                        </a:spcAft>
                        <a:buNone/>
                      </a:pPr>
                      <a:r>
                        <a:rPr b="1" lang="en-US" sz="1600" u="none" cap="none" strike="noStrike">
                          <a:solidFill>
                            <a:srgbClr val="4E3629"/>
                          </a:solidFill>
                          <a:latin typeface="Calibri"/>
                          <a:ea typeface="Calibri"/>
                          <a:cs typeface="Calibri"/>
                          <a:sym typeface="Calibri"/>
                        </a:rPr>
                        <a:t>Si dos de los dígitos del año actual son:</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0-49</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1905" lvl="0" marL="108585" marR="99695" rtl="0" algn="ctr">
                        <a:lnSpc>
                          <a:spcPct val="100200"/>
                        </a:lnSpc>
                        <a:spcBef>
                          <a:spcPts val="0"/>
                        </a:spcBef>
                        <a:spcAft>
                          <a:spcPts val="0"/>
                        </a:spcAft>
                        <a:buNone/>
                      </a:pPr>
                      <a:r>
                        <a:rPr lang="en-US" sz="1600" u="none" cap="none" strike="noStrike">
                          <a:solidFill>
                            <a:srgbClr val="4E3629"/>
                          </a:solidFill>
                          <a:latin typeface="Calibri"/>
                          <a:ea typeface="Calibri"/>
                          <a:cs typeface="Calibri"/>
                          <a:sym typeface="Calibri"/>
                        </a:rPr>
                        <a:t>La fecha de devolución está en el siglo actual</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635" lvl="0" marL="187325" marR="179070" rtl="0" algn="ctr">
                        <a:lnSpc>
                          <a:spcPct val="100200"/>
                        </a:lnSpc>
                        <a:spcBef>
                          <a:spcPts val="0"/>
                        </a:spcBef>
                        <a:spcAft>
                          <a:spcPts val="0"/>
                        </a:spcAft>
                        <a:buNone/>
                      </a:pPr>
                      <a:r>
                        <a:rPr lang="en-US" sz="1600" u="none" cap="none" strike="noStrike">
                          <a:solidFill>
                            <a:srgbClr val="4E3629"/>
                          </a:solidFill>
                          <a:latin typeface="Calibri"/>
                          <a:ea typeface="Calibri"/>
                          <a:cs typeface="Calibri"/>
                          <a:sym typeface="Calibri"/>
                        </a:rPr>
                        <a:t>La fecha de devolución está en el siglo anterior al actual</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310650">
                <a:tc vMerge="1"/>
                <a:tc>
                  <a:txBody>
                    <a:bodyPr/>
                    <a:lstStyle/>
                    <a:p>
                      <a:pPr indent="0" lvl="0" marL="0"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50-99</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2540" lvl="0" marL="108585" marR="9906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La fecha de devolución está en el siglo posterior</a:t>
                      </a:r>
                      <a:endParaRPr sz="1600" u="none" cap="none" strike="noStrike">
                        <a:latin typeface="Calibri"/>
                        <a:ea typeface="Calibri"/>
                        <a:cs typeface="Calibri"/>
                        <a:sym typeface="Calibri"/>
                      </a:endParaRPr>
                    </a:p>
                    <a:p>
                      <a:pPr indent="0" lvl="0" marL="0" marR="0" rtl="0" algn="ctr">
                        <a:lnSpc>
                          <a:spcPct val="100000"/>
                        </a:lnSpc>
                        <a:spcBef>
                          <a:spcPts val="10"/>
                        </a:spcBef>
                        <a:spcAft>
                          <a:spcPts val="0"/>
                        </a:spcAft>
                        <a:buNone/>
                      </a:pPr>
                      <a:r>
                        <a:rPr lang="en-US" sz="1600" u="none" cap="none" strike="noStrike">
                          <a:solidFill>
                            <a:srgbClr val="4E3629"/>
                          </a:solidFill>
                          <a:latin typeface="Calibri"/>
                          <a:ea typeface="Calibri"/>
                          <a:cs typeface="Calibri"/>
                          <a:sym typeface="Calibri"/>
                        </a:rPr>
                        <a:t>al actual</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635" lvl="0" marL="187325" marR="179070" rtl="0" algn="ctr">
                        <a:lnSpc>
                          <a:spcPct val="100299"/>
                        </a:lnSpc>
                        <a:spcBef>
                          <a:spcPts val="0"/>
                        </a:spcBef>
                        <a:spcAft>
                          <a:spcPts val="0"/>
                        </a:spcAft>
                        <a:buNone/>
                      </a:pPr>
                      <a:r>
                        <a:rPr lang="en-US" sz="1600" u="none" cap="none" strike="noStrike">
                          <a:solidFill>
                            <a:srgbClr val="4E3629"/>
                          </a:solidFill>
                          <a:latin typeface="Calibri"/>
                          <a:ea typeface="Calibri"/>
                          <a:cs typeface="Calibri"/>
                          <a:sym typeface="Calibri"/>
                        </a:rPr>
                        <a:t>La fecha de devolución está en el siglo actual</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6"/>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Algunas Sencillas Reglas</a:t>
            </a:r>
            <a:endParaRPr/>
          </a:p>
        </p:txBody>
      </p:sp>
      <p:sp>
        <p:nvSpPr>
          <p:cNvPr id="438" name="Google Shape;438;p46"/>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439" name="Google Shape;439;p4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40" name="Google Shape;440;p4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441" name="Google Shape;441;p46"/>
          <p:cNvSpPr txBox="1"/>
          <p:nvPr/>
        </p:nvSpPr>
        <p:spPr>
          <a:xfrm>
            <a:off x="483552" y="1415417"/>
            <a:ext cx="8106409"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siguiente tabla se proporcionan algunos ejemplos 	de cómo se interpretan YY y RR y, en función del año 	actual</a:t>
            </a:r>
            <a:endParaRPr sz="2800">
              <a:latin typeface="Calibri"/>
              <a:ea typeface="Calibri"/>
              <a:cs typeface="Calibri"/>
              <a:sym typeface="Calibri"/>
            </a:endParaRPr>
          </a:p>
        </p:txBody>
      </p:sp>
      <p:graphicFrame>
        <p:nvGraphicFramePr>
          <p:cNvPr id="442" name="Google Shape;442;p46"/>
          <p:cNvGraphicFramePr/>
          <p:nvPr/>
        </p:nvGraphicFramePr>
        <p:xfrm>
          <a:off x="398462" y="2984500"/>
          <a:ext cx="3000000" cy="3000000"/>
        </p:xfrm>
        <a:graphic>
          <a:graphicData uri="http://schemas.openxmlformats.org/drawingml/2006/table">
            <a:tbl>
              <a:tblPr bandRow="1" firstRow="1">
                <a:noFill/>
                <a:tableStyleId>{22F0BE96-B600-4196-B546-7D2FCBCF95F3}</a:tableStyleId>
              </a:tblPr>
              <a:tblGrid>
                <a:gridCol w="1712600"/>
                <a:gridCol w="2794625"/>
                <a:gridCol w="1948825"/>
                <a:gridCol w="1891675"/>
              </a:tblGrid>
              <a:tr h="381000">
                <a:tc>
                  <a:txBody>
                    <a:bodyPr/>
                    <a:lstStyle/>
                    <a:p>
                      <a:pPr indent="0" lvl="0" marL="10096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Año Actual</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96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Fecha Especificada</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96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Formato RR</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96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Formato YY</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750">
                <a:tc>
                  <a:txBody>
                    <a:bodyPr/>
                    <a:lstStyle/>
                    <a:p>
                      <a:pPr indent="0" lvl="0" marL="10096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1995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27-Oct-95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1995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1995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750">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1995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27-Oct-17</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2017</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1917</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750">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2015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27-Oct-17</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2017</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0033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2017</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750">
                <a:tc>
                  <a:txBody>
                    <a:bodyPr/>
                    <a:lstStyle/>
                    <a:p>
                      <a:pPr indent="0" lvl="0" marL="9969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2015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969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27-Oct-95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969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1995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969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2095</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7"/>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Algunas Sencillas Reglas</a:t>
            </a:r>
            <a:endParaRPr/>
          </a:p>
        </p:txBody>
      </p:sp>
      <p:sp>
        <p:nvSpPr>
          <p:cNvPr id="448" name="Google Shape;448;p47"/>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449" name="Google Shape;449;p4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50" name="Google Shape;450;p4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451" name="Google Shape;451;p47"/>
          <p:cNvSpPr txBox="1"/>
          <p:nvPr/>
        </p:nvSpPr>
        <p:spPr>
          <a:xfrm>
            <a:off x="483552" y="1415417"/>
            <a:ext cx="7616190"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consulto mi base de datos de empleados 	utilizando la siguiente sentencia, devuelve todas las 	filas de la tabla</a:t>
            </a:r>
            <a:endParaRPr sz="2800">
              <a:latin typeface="Calibri"/>
              <a:ea typeface="Calibri"/>
              <a:cs typeface="Calibri"/>
              <a:sym typeface="Calibri"/>
            </a:endParaRPr>
          </a:p>
          <a:p>
            <a:pPr indent="-177800" lvl="0" marL="182880" marR="26225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Sé que solo existen unos pocos empleados que se 	contrataron antes de 1990</a:t>
            </a:r>
            <a:endParaRPr sz="2800">
              <a:latin typeface="Calibri"/>
              <a:ea typeface="Calibri"/>
              <a:cs typeface="Calibri"/>
              <a:sym typeface="Calibri"/>
            </a:endParaRPr>
          </a:p>
        </p:txBody>
      </p:sp>
      <p:sp>
        <p:nvSpPr>
          <p:cNvPr id="452" name="Google Shape;452;p47"/>
          <p:cNvSpPr txBox="1"/>
          <p:nvPr/>
        </p:nvSpPr>
        <p:spPr>
          <a:xfrm>
            <a:off x="483552" y="4510661"/>
            <a:ext cx="798322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el modelo de formato en la cláusula WHERE 	utiliza YY, y el año actual es 2015, la consulta devuelve 	filas con un valor hire_date inferior a 2090</a:t>
            </a:r>
            <a:endParaRPr sz="2800">
              <a:latin typeface="Calibri"/>
              <a:ea typeface="Calibri"/>
              <a:cs typeface="Calibri"/>
              <a:sym typeface="Calibri"/>
            </a:endParaRPr>
          </a:p>
        </p:txBody>
      </p:sp>
      <p:sp>
        <p:nvSpPr>
          <p:cNvPr id="453" name="Google Shape;453;p47"/>
          <p:cNvSpPr txBox="1"/>
          <p:nvPr/>
        </p:nvSpPr>
        <p:spPr>
          <a:xfrm>
            <a:off x="393191" y="3564635"/>
            <a:ext cx="8345805" cy="969644"/>
          </a:xfrm>
          <a:prstGeom prst="rect">
            <a:avLst/>
          </a:prstGeom>
          <a:solidFill>
            <a:srgbClr val="9DBDC4">
              <a:alpha val="49804"/>
            </a:srgbClr>
          </a:solidFill>
          <a:ln>
            <a:noFill/>
          </a:ln>
        </p:spPr>
        <p:txBody>
          <a:bodyPr anchorCtr="0" anchor="t" bIns="0" lIns="0" spcFirstLastPara="1" rIns="0" wrap="square" tIns="45700">
            <a:spAutoFit/>
          </a:bodyPr>
          <a:lstStyle/>
          <a:p>
            <a:pPr indent="0" lvl="0" marL="0" marR="164909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TO_CHAR(hire_date, 'DD-Mon-YY') 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hire_date &lt; TO_DATE('01-Jan-90','DD-Mon-YY');</a:t>
            </a:r>
            <a:endParaRPr sz="1800">
              <a:latin typeface="Courier New"/>
              <a:ea typeface="Courier New"/>
              <a:cs typeface="Courier New"/>
              <a:sym typeface="Courier New"/>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8"/>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Terminología</a:t>
            </a:r>
            <a:endParaRPr/>
          </a:p>
        </p:txBody>
      </p:sp>
      <p:sp>
        <p:nvSpPr>
          <p:cNvPr id="459" name="Google Shape;459;p48"/>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460" name="Google Shape;460;p4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61" name="Google Shape;461;p4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462" name="Google Shape;462;p48"/>
          <p:cNvSpPr txBox="1"/>
          <p:nvPr/>
        </p:nvSpPr>
        <p:spPr>
          <a:xfrm>
            <a:off x="483552" y="1415417"/>
            <a:ext cx="7704455" cy="3119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CHAR</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DATE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Formato de fecha DD</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Funciones de conversión</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fm</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NUMBER</a:t>
            </a:r>
            <a:endParaRPr sz="2400">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9"/>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Terminología</a:t>
            </a:r>
            <a:endParaRPr/>
          </a:p>
        </p:txBody>
      </p:sp>
      <p:sp>
        <p:nvSpPr>
          <p:cNvPr id="468" name="Google Shape;468;p49"/>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469" name="Google Shape;469;p4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70" name="Google Shape;470;p4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471" name="Google Shape;471;p49"/>
          <p:cNvSpPr txBox="1"/>
          <p:nvPr/>
        </p:nvSpPr>
        <p:spPr>
          <a:xfrm>
            <a:off x="483552" y="1415417"/>
            <a:ext cx="7704455" cy="3119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Formato de fecha RR</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TO_CHAR</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TO_DATE</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TO_NUMBER</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VARCHAR2</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Modificador fx</a:t>
            </a:r>
            <a:endParaRPr sz="2400">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0"/>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Resumen</a:t>
            </a:r>
            <a:endParaRPr/>
          </a:p>
        </p:txBody>
      </p:sp>
      <p:sp>
        <p:nvSpPr>
          <p:cNvPr id="477" name="Google Shape;477;p50"/>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478" name="Google Shape;478;p5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79" name="Google Shape;479;p5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480" name="Google Shape;480;p50"/>
          <p:cNvSpPr txBox="1"/>
          <p:nvPr/>
        </p:nvSpPr>
        <p:spPr>
          <a:xfrm>
            <a:off x="483552" y="1393401"/>
            <a:ext cx="8126730" cy="326326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50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Proporcionar un ejemplo de conversión de tipo de dato implícita y explícita y una conversión de tipo de dato implícita</a:t>
            </a:r>
            <a:endParaRPr sz="2400">
              <a:latin typeface="Calibri"/>
              <a:ea typeface="Calibri"/>
              <a:cs typeface="Calibri"/>
              <a:sym typeface="Calibri"/>
            </a:endParaRPr>
          </a:p>
          <a:p>
            <a:pPr indent="-175260" lvl="0" marL="530860" marR="25781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el motivo de la importancia, desde una perspectiva de negocio, de que un lenguaje tenga capacidades de conversión de datos incorporadas</a:t>
            </a:r>
            <a:endParaRPr sz="2400">
              <a:latin typeface="Calibri"/>
              <a:ea typeface="Calibri"/>
              <a:cs typeface="Calibri"/>
              <a:sym typeface="Calibri"/>
            </a:endParaRPr>
          </a:p>
          <a:p>
            <a:pPr indent="-175260" lvl="0" marL="530860" marR="2857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consulta SQL que aplique correctamente las funciones de una sola fila TO_CHAR, TO_NUMBER y TO_DATE para obtener el resultado deseado</a:t>
            </a:r>
            <a:endParaRPr sz="2400">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1"/>
          <p:cNvSpPr txBox="1"/>
          <p:nvPr>
            <p:ph type="title"/>
          </p:nvPr>
        </p:nvSpPr>
        <p:spPr>
          <a:xfrm>
            <a:off x="392112" y="385319"/>
            <a:ext cx="45681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Resumen</a:t>
            </a:r>
            <a:endParaRPr/>
          </a:p>
        </p:txBody>
      </p:sp>
      <p:sp>
        <p:nvSpPr>
          <p:cNvPr id="486" name="Google Shape;486;p51"/>
          <p:cNvSpPr txBox="1"/>
          <p:nvPr>
            <p:ph idx="10" type="dt"/>
          </p:nvPr>
        </p:nvSpPr>
        <p:spPr>
          <a:xfrm>
            <a:off x="2874191" y="6516395"/>
            <a:ext cx="1121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5-1</a:t>
            </a:r>
            <a:endParaRPr/>
          </a:p>
          <a:p>
            <a:pPr indent="0" lvl="0" marL="12700" rtl="0" algn="l">
              <a:lnSpc>
                <a:spcPct val="120624"/>
              </a:lnSpc>
              <a:spcBef>
                <a:spcPts val="0"/>
              </a:spcBef>
              <a:spcAft>
                <a:spcPts val="0"/>
              </a:spcAft>
              <a:buNone/>
            </a:pPr>
            <a:r>
              <a:rPr lang="en-US"/>
              <a:t>Funciones de Conversión</a:t>
            </a:r>
            <a:endParaRPr/>
          </a:p>
        </p:txBody>
      </p:sp>
      <p:sp>
        <p:nvSpPr>
          <p:cNvPr id="487" name="Google Shape;487;p5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88" name="Google Shape;488;p5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489" name="Google Shape;489;p51"/>
          <p:cNvSpPr txBox="1"/>
          <p:nvPr/>
        </p:nvSpPr>
        <p:spPr>
          <a:xfrm>
            <a:off x="483552" y="1393401"/>
            <a:ext cx="7548880" cy="189611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457834"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Aplicar el modelo de formato de fecha y/o caracteres adecuado para producir una salida deseada</a:t>
            </a:r>
            <a:endParaRPr sz="2400">
              <a:latin typeface="Calibri"/>
              <a:ea typeface="Calibri"/>
              <a:cs typeface="Calibri"/>
              <a:sym typeface="Calibri"/>
            </a:endParaRPr>
          </a:p>
          <a:p>
            <a:pPr indent="-175260" lvl="0" marL="530860" marR="21399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y aplicar el uso de YY y RR para devolver el año correcto como se almacenó en la base de datos</a:t>
            </a:r>
            <a:endParaRPr sz="24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