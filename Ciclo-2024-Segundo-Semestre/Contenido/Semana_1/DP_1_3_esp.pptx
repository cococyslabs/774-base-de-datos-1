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2"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Lst>
  <p:sldSz cy="6858000" cx="9144000"/>
  <p:notesSz cx="9144000" cy="6858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880">
          <p15:clr>
            <a:srgbClr val="000000"/>
          </p15:clr>
        </p15:guide>
        <p15:guide id="2" pos="216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01E2943-91DE-4DD6-BB2F-5FCA573F5628}">
  <a:tblStyle styleId="{A01E2943-91DE-4DD6-BB2F-5FCA573F5628}" styleName="Table_0">
    <a:wholeTbl>
      <a:tcTxStyle b="off" i="off">
        <a:font>
          <a:latin typeface="Calibri"/>
          <a:ea typeface="Calibri"/>
          <a:cs typeface="Calibri"/>
        </a:font>
        <a:schemeClr val="dk1"/>
      </a:tcTxStyle>
      <a:tcStyle>
        <a:tcBdr>
          <a:left>
            <a:ln cap="flat" cmpd="sng" w="9525">
              <a:solidFill>
                <a:srgbClr val="000000">
                  <a:alpha val="0"/>
                </a:srgbClr>
              </a:solidFill>
              <a:prstDash val="solid"/>
              <a:round/>
              <a:headEnd len="sm" w="sm" type="none"/>
              <a:tailEnd len="sm" w="sm" type="none"/>
            </a:ln>
          </a:left>
          <a:right>
            <a:ln cap="flat" cmpd="sng" w="9525">
              <a:solidFill>
                <a:srgbClr val="000000">
                  <a:alpha val="0"/>
                </a:srgbClr>
              </a:solidFill>
              <a:prstDash val="solid"/>
              <a:round/>
              <a:headEnd len="sm" w="sm" type="none"/>
              <a:tailEnd len="sm" w="sm" type="none"/>
            </a:ln>
          </a:right>
          <a:top>
            <a:ln cap="flat" cmpd="sng" w="9525">
              <a:solidFill>
                <a:srgbClr val="000000">
                  <a:alpha val="0"/>
                </a:srgbClr>
              </a:solidFill>
              <a:prstDash val="solid"/>
              <a:round/>
              <a:headEnd len="sm" w="sm" type="none"/>
              <a:tailEnd len="sm" w="sm" type="none"/>
            </a:ln>
          </a:top>
          <a:bottom>
            <a:ln cap="flat" cmpd="sng" w="9525">
              <a:solidFill>
                <a:srgbClr val="000000">
                  <a:alpha val="0"/>
                </a:srgbClr>
              </a:solidFill>
              <a:prstDash val="solid"/>
              <a:round/>
              <a:headEnd len="sm" w="sm" type="none"/>
              <a:tailEnd len="sm" w="sm" type="none"/>
            </a:ln>
          </a:bottom>
          <a:insideH>
            <a:ln cap="flat" cmpd="sng" w="9525">
              <a:solidFill>
                <a:srgbClr val="000000">
                  <a:alpha val="0"/>
                </a:srgbClr>
              </a:solidFill>
              <a:prstDash val="solid"/>
              <a:round/>
              <a:headEnd len="sm" w="sm" type="none"/>
              <a:tailEnd len="sm" w="sm" type="none"/>
            </a:ln>
          </a:insideH>
          <a:insideV>
            <a:ln cap="flat" cmpd="sng" w="9525">
              <a:solidFill>
                <a:srgbClr val="000000">
                  <a:alpha val="0"/>
                </a:srgbClr>
              </a:solidFill>
              <a:prstDash val="solid"/>
              <a:round/>
              <a:headEnd len="sm" w="sm" type="none"/>
              <a:tailEnd len="sm" w="sm" type="none"/>
            </a:ln>
          </a:insideV>
        </a:tcBdr>
        <a:fill>
          <a:solidFill>
            <a:srgbClr val="FFFFFF">
              <a:alpha val="0"/>
            </a:srgbClr>
          </a:solidFill>
        </a:fill>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880" orient="horz"/>
        <p:guide pos="216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914400" y="3257550"/>
            <a:ext cx="7315200" cy="30861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73" name="Google Shape;73;p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5" name="Google Shape;85;p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4" name="Google Shape;94;p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3" name="Google Shape;103;p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Cláusula SELECT: especifica las columnas que se van a mostrar (o utilice el símbolo * para mostrar todas las columnas). Una cláusula FROM: especifica la tabla que contiene las columnas enumeradas en la cláusula SELECT.</a:t>
            </a:r>
            <a:endParaRPr/>
          </a:p>
          <a:p>
            <a:pPr indent="0" lvl="0" marL="0" rtl="0" algn="l">
              <a:spcBef>
                <a:spcPts val="0"/>
              </a:spcBef>
              <a:spcAft>
                <a:spcPts val="0"/>
              </a:spcAft>
              <a:buNone/>
            </a:pPr>
            <a:r>
              <a:rPr lang="en-US"/>
              <a:t>Columna: una implantación de un atributo o relación en una tabla.</a:t>
            </a:r>
            <a:endParaRPr/>
          </a:p>
        </p:txBody>
      </p:sp>
      <p:sp>
        <p:nvSpPr>
          <p:cNvPr id="112" name="Google Shape;112;p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En este curso se utilizan las siguientes convenciones de estilo SQL:</a:t>
            </a:r>
            <a:endParaRPr/>
          </a:p>
          <a:p>
            <a:pPr indent="0" lvl="0" marL="0" rtl="0" algn="l">
              <a:spcBef>
                <a:spcPts val="0"/>
              </a:spcBef>
              <a:spcAft>
                <a:spcPts val="0"/>
              </a:spcAft>
              <a:buNone/>
            </a:pPr>
            <a:r>
              <a:rPr lang="en-US"/>
              <a:t>Palabras clave SQL en MAYÚSCULAS: por ejemplo, SELECT, FROM, WHERE.</a:t>
            </a:r>
            <a:endParaRPr/>
          </a:p>
          <a:p>
            <a:pPr indent="0" lvl="0" marL="0" rtl="0" algn="l">
              <a:spcBef>
                <a:spcPts val="0"/>
              </a:spcBef>
              <a:spcAft>
                <a:spcPts val="0"/>
              </a:spcAft>
              <a:buNone/>
            </a:pPr>
            <a:r>
              <a:rPr lang="en-US"/>
              <a:t>Los nombres de la tabla y la columna en minúsculas: por ejemplo, first_name, employees. Cada cláusula en una nueva línea: por ejemplo,</a:t>
            </a:r>
            <a:endParaRPr/>
          </a:p>
          <a:p>
            <a:pPr indent="0" lvl="0" marL="0" rtl="0" algn="l">
              <a:spcBef>
                <a:spcPts val="0"/>
              </a:spcBef>
              <a:spcAft>
                <a:spcPts val="0"/>
              </a:spcAft>
              <a:buNone/>
            </a:pPr>
            <a:r>
              <a:rPr lang="en-US"/>
              <a:t>SELECT last_name FROM employees</a:t>
            </a:r>
            <a:endParaRPr/>
          </a:p>
          <a:p>
            <a:pPr indent="0" lvl="0" marL="0" rtl="0" algn="l">
              <a:spcBef>
                <a:spcPts val="0"/>
              </a:spcBef>
              <a:spcAft>
                <a:spcPts val="0"/>
              </a:spcAft>
              <a:buNone/>
            </a:pPr>
            <a:r>
              <a:rPr lang="en-US"/>
              <a:t>WHERE employee_id = 101;</a:t>
            </a:r>
            <a:endParaRPr/>
          </a:p>
        </p:txBody>
      </p:sp>
      <p:sp>
        <p:nvSpPr>
          <p:cNvPr id="123" name="Google Shape;123;p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Proyección: puede utilizar la capacidad de proyección en SQL para elegir las columnas en una tabla que desee que le devuelva su consulta. Puede seleccionar el número de columnas de la tabla que desee. Selección: puede utilizar la capacidad de selección en SQL para elegir las filas en una tabla que desee que le devuelva una consulta. Puede utilizar varios criterios para restringir las filas que ve</a:t>
            </a:r>
            <a:endParaRPr/>
          </a:p>
        </p:txBody>
      </p:sp>
      <p:sp>
        <p:nvSpPr>
          <p:cNvPr id="134" name="Google Shape;134;p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10:09:50</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 cláusula SELECT determina la proyección. La cláusula WHERE determina la selección.</a:t>
            </a:r>
            <a:endParaRPr/>
          </a:p>
          <a:p>
            <a:pPr indent="0" lvl="0" marL="0" rtl="0" algn="l">
              <a:spcBef>
                <a:spcPts val="0"/>
              </a:spcBef>
              <a:spcAft>
                <a:spcPts val="0"/>
              </a:spcAft>
              <a:buNone/>
            </a:pPr>
            <a:r>
              <a:rPr lang="en-US"/>
              <a:t>La ejecución de esta consulta daría como resultado la visualización de la columna de salario de cualquier empleado con el last_name (apellido) Smith.</a:t>
            </a:r>
            <a:endParaRPr/>
          </a:p>
        </p:txBody>
      </p:sp>
      <p:sp>
        <p:nvSpPr>
          <p:cNvPr id="147" name="Google Shape;147;p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 veces, realizar una tabla SELECT * FROM puede tardar bastante tiempo en devolver los datos. Todo depende del número de filas almacenadas en esa tabla concreta. Recuerde que las tablas de Oracle pueden almacenar millones de filas de datos.</a:t>
            </a:r>
            <a:endParaRPr/>
          </a:p>
        </p:txBody>
      </p:sp>
      <p:sp>
        <p:nvSpPr>
          <p:cNvPr id="165" name="Google Shape;165;p1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Todos los ejemplos de las diapositivas tienen un punto y coma después de cada sentencia. Oracle Application Express no necesita esta sintaxis, pero las demás interfaces de Oracle SQL sí, por lo que se han incluido en los cursos. </a:t>
            </a:r>
            <a:endParaRPr/>
          </a:p>
        </p:txBody>
      </p:sp>
      <p:sp>
        <p:nvSpPr>
          <p:cNvPr id="177" name="Google Shape;177;p1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8" name="Google Shape;188;p1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99" name="Google Shape;199;p1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10:09:51</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Expresión aritmética: una expresión que da como resultado un valor numérico. </a:t>
            </a:r>
            <a:endParaRPr/>
          </a:p>
        </p:txBody>
      </p:sp>
      <p:sp>
        <p:nvSpPr>
          <p:cNvPr id="208" name="Google Shape;208;p1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Operador aritmético: símbolo que se utiliza para realizar una operación en algunos valores.</a:t>
            </a:r>
            <a:endParaRPr/>
          </a:p>
        </p:txBody>
      </p:sp>
      <p:sp>
        <p:nvSpPr>
          <p:cNvPr id="217" name="Google Shape;217;p1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7" name="Google Shape;227;p1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1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5" name="Google Shape;245;p1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El ejemplo de la izquierda utiliza la prioridad de los operadores para determinar el orden en el que se realizan las operaciones. Como * (multiplicación) tiene mayor prioridad, el salario se multiplica primero por 12 y, a continuación, se agrega 100 al resultado de la multiplicación. Por lo tanto, para el empleado King (salario, 24 000), se calcula 12 * 24 000 = 288 000, después se añade 100 para dar la respuesta 288 100. El ejemplo de la derecha utiliza paréntesis para forzar la adición que se llevará a cabo en primer lugar, el resultado de la adición, entonces, se multiplica por 12. Por lo tanto, King tiene 24 000+100 = 24 100, después se multiplica por 12 para proporcionar la respuesta 289 200.</a:t>
            </a:r>
            <a:endParaRPr/>
          </a:p>
        </p:txBody>
      </p:sp>
      <p:sp>
        <p:nvSpPr>
          <p:cNvPr id="254" name="Google Shape;254;p1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10:09:52</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NULL: un valor que no está disponible, sin asignar, desconocido o que no es aplicable.</a:t>
            </a:r>
            <a:endParaRPr/>
          </a:p>
        </p:txBody>
      </p:sp>
      <p:sp>
        <p:nvSpPr>
          <p:cNvPr id="266" name="Google Shape;266;p2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NULL: un valor que no está disponible, sin asignar, desconocido o que no es aplicable.</a:t>
            </a:r>
            <a:endParaRPr/>
          </a:p>
        </p:txBody>
      </p:sp>
      <p:sp>
        <p:nvSpPr>
          <p:cNvPr id="275" name="Google Shape;275;p21: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4" name="Google Shape;284;p22: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En el ejemplo, una fila con un valor null en la columna commission_pct devolverá un valor nulo para la columna salary*commission_pct en esta consulta. Los valores NULL aparecen en APEX utilizando el símbolo – (guión).</a:t>
            </a:r>
            <a:endParaRPr/>
          </a:p>
        </p:txBody>
      </p:sp>
      <p:sp>
        <p:nvSpPr>
          <p:cNvPr id="296" name="Google Shape;296;p23: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4" name="Shape 304"/>
        <p:cNvGrpSpPr/>
        <p:nvPr/>
      </p:nvGrpSpPr>
      <p:grpSpPr>
        <a:xfrm>
          <a:off x="0" y="0"/>
          <a:ext cx="0" cy="0"/>
          <a:chOff x="0" y="0"/>
          <a:chExt cx="0" cy="0"/>
        </a:xfrm>
      </p:grpSpPr>
      <p:sp>
        <p:nvSpPr>
          <p:cNvPr id="305" name="Google Shape;305;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10:09:53</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Alias de columna: cambia el nombre de una cabecera de columna para fines de visualización. El nombre de la columna original en la tabla permanece sin cambios.</a:t>
            </a:r>
            <a:endParaRPr/>
          </a:p>
        </p:txBody>
      </p:sp>
      <p:sp>
        <p:nvSpPr>
          <p:cNvPr id="306" name="Google Shape;306;p24: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5" name="Google Shape;315;p25: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Presenter</a:t>
            </a:r>
            <a:endParaRPr/>
          </a:p>
          <a:p>
            <a:pPr indent="0" lvl="0" marL="0" rtl="0" algn="l">
              <a:spcBef>
                <a:spcPts val="0"/>
              </a:spcBef>
              <a:spcAft>
                <a:spcPts val="0"/>
              </a:spcAft>
              <a:buNone/>
            </a:pPr>
            <a:r>
              <a:rPr lang="en-US"/>
              <a:t>2021-05-06 10:09:54</a:t>
            </a:r>
            <a:endParaRPr/>
          </a:p>
          <a:p>
            <a:pPr indent="0" lvl="0" marL="0" rtl="0" algn="l">
              <a:spcBef>
                <a:spcPts val="0"/>
              </a:spcBef>
              <a:spcAft>
                <a:spcPts val="0"/>
              </a:spcAft>
              <a:buNone/>
            </a:pPr>
            <a:r>
              <a:rPr lang="en-US"/>
              <a:t>--------------------------------------------</a:t>
            </a:r>
            <a:endParaRPr/>
          </a:p>
          <a:p>
            <a:pPr indent="0" lvl="0" marL="0" rtl="0" algn="l">
              <a:spcBef>
                <a:spcPts val="0"/>
              </a:spcBef>
              <a:spcAft>
                <a:spcPts val="0"/>
              </a:spcAft>
              <a:buNone/>
            </a:pPr>
            <a:r>
              <a:rPr lang="en-US"/>
              <a:t>Las comillas dobles son necesarias para alias con más de una palabra o cuando el formato del alias es distinto del nombre en mayúsculas predeterminadas (p. ej., Nombre del Departamento, departamento  o dept.) El primer ejemplo se utiliza la palabra clave AS, pero no tiene "comillas dobles ", por lo que los alias se muestran con las MAYÚSCULAS predeterminadas.</a:t>
            </a:r>
            <a:endParaRPr/>
          </a:p>
          <a:p>
            <a:pPr indent="0" lvl="0" marL="0" rtl="0" algn="l">
              <a:spcBef>
                <a:spcPts val="0"/>
              </a:spcBef>
              <a:spcAft>
                <a:spcPts val="0"/>
              </a:spcAft>
              <a:buNone/>
            </a:pPr>
            <a:r>
              <a:rPr lang="en-US"/>
              <a:t>El segundo ejemplo omite AS, pero como el alias es de más de una palabra, utiliza las comillas. El uso de la palabra clave opcional AS facilita la lectura de las sentencias SQL.</a:t>
            </a:r>
            <a:endParaRPr/>
          </a:p>
        </p:txBody>
      </p:sp>
      <p:sp>
        <p:nvSpPr>
          <p:cNvPr id="324" name="Google Shape;324;p26: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9" name="Google Shape;339;p27: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8" name="Google Shape;348;p28: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7" name="Google Shape;357;p29: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30:notes"/>
          <p:cNvSpPr/>
          <p:nvPr>
            <p:ph idx="2" type="sldImg"/>
          </p:nvPr>
        </p:nvSpPr>
        <p:spPr>
          <a:xfrm>
            <a:off x="1524300" y="514350"/>
            <a:ext cx="6096300" cy="257175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992767"/>
            <a:ext cx="8520600" cy="27369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3778833"/>
            <a:ext cx="8520600" cy="10569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867800"/>
            <a:ext cx="8520600" cy="1122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536633"/>
            <a:ext cx="8520600" cy="4555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536633"/>
            <a:ext cx="3999900" cy="4555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740800"/>
            <a:ext cx="2808000" cy="1007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852800"/>
            <a:ext cx="2808000" cy="42393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600200"/>
            <a:ext cx="6367800" cy="54543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644233"/>
            <a:ext cx="4045200" cy="19764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3737433"/>
            <a:ext cx="4045200" cy="16467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965433"/>
            <a:ext cx="3837000" cy="49269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5640767"/>
            <a:ext cx="5998800" cy="8067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474833"/>
            <a:ext cx="8520600" cy="26181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4202967"/>
            <a:ext cx="8520600" cy="17343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6217622"/>
            <a:ext cx="548700" cy="5247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1" showMasterSp="0" type="obj">
  <p:cSld name="OBJECT">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0"/>
            <a:ext cx="9144000" cy="6858000"/>
          </a:xfrm>
          <a:custGeom>
            <a:rect b="b" l="l" r="r" t="t"/>
            <a:pathLst>
              <a:path extrusionOk="0" h="6858000" w="9144000">
                <a:moveTo>
                  <a:pt x="9144000" y="0"/>
                </a:moveTo>
                <a:lnTo>
                  <a:pt x="0" y="0"/>
                </a:lnTo>
                <a:lnTo>
                  <a:pt x="0" y="6858000"/>
                </a:lnTo>
                <a:lnTo>
                  <a:pt x="9144000" y="6858000"/>
                </a:lnTo>
                <a:lnTo>
                  <a:pt x="9144000"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52" name="Google Shape;52;p13"/>
          <p:cNvPicPr preferRelativeResize="0"/>
          <p:nvPr/>
        </p:nvPicPr>
        <p:blipFill rotWithShape="1">
          <a:blip r:embed="rId2">
            <a:alphaModFix/>
          </a:blip>
          <a:srcRect b="0" l="0" r="0" t="0"/>
          <a:stretch/>
        </p:blipFill>
        <p:spPr>
          <a:xfrm>
            <a:off x="192023" y="192023"/>
            <a:ext cx="8759950" cy="914399"/>
          </a:xfrm>
          <a:prstGeom prst="rect">
            <a:avLst/>
          </a:prstGeom>
          <a:noFill/>
          <a:ln>
            <a:noFill/>
          </a:ln>
        </p:spPr>
      </p:pic>
      <p:pic>
        <p:nvPicPr>
          <p:cNvPr id="53" name="Google Shape;53;p13"/>
          <p:cNvPicPr preferRelativeResize="0"/>
          <p:nvPr/>
        </p:nvPicPr>
        <p:blipFill rotWithShape="1">
          <a:blip r:embed="rId3">
            <a:alphaModFix/>
          </a:blip>
          <a:srcRect b="0" l="0" r="0" t="0"/>
          <a:stretch/>
        </p:blipFill>
        <p:spPr>
          <a:xfrm>
            <a:off x="192023" y="5751576"/>
            <a:ext cx="8759950" cy="914399"/>
          </a:xfrm>
          <a:prstGeom prst="rect">
            <a:avLst/>
          </a:prstGeom>
          <a:noFill/>
          <a:ln>
            <a:noFill/>
          </a:ln>
        </p:spPr>
      </p:pic>
      <p:pic>
        <p:nvPicPr>
          <p:cNvPr id="54" name="Google Shape;54;p13"/>
          <p:cNvPicPr preferRelativeResize="0"/>
          <p:nvPr/>
        </p:nvPicPr>
        <p:blipFill rotWithShape="1">
          <a:blip r:embed="rId4">
            <a:alphaModFix/>
          </a:blip>
          <a:srcRect b="0" l="0" r="0" t="0"/>
          <a:stretch/>
        </p:blipFill>
        <p:spPr>
          <a:xfrm>
            <a:off x="1834895" y="2514600"/>
            <a:ext cx="5474207" cy="1828799"/>
          </a:xfrm>
          <a:prstGeom prst="rect">
            <a:avLst/>
          </a:prstGeom>
          <a:noFill/>
          <a:ln>
            <a:noFill/>
          </a:ln>
        </p:spPr>
      </p:pic>
      <p:sp>
        <p:nvSpPr>
          <p:cNvPr id="55" name="Google Shape;55;p13"/>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3"/>
          <p:cNvSpPr txBox="1"/>
          <p:nvPr>
            <p:ph idx="10" type="dt"/>
          </p:nvPr>
        </p:nvSpPr>
        <p:spPr>
          <a:xfrm>
            <a:off x="2827230" y="6510552"/>
            <a:ext cx="14274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1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lvl1pPr indent="0" lvl="0" marL="38100">
              <a:lnSpc>
                <a:spcPct val="107058"/>
              </a:lnSpc>
              <a:spcBef>
                <a:spcPts val="0"/>
              </a:spcBef>
              <a:buNone/>
              <a:defRPr b="0" i="0" sz="850">
                <a:solidFill>
                  <a:srgbClr val="4E3629"/>
                </a:solidFill>
                <a:latin typeface="Calibri"/>
                <a:ea typeface="Calibri"/>
                <a:cs typeface="Calibri"/>
                <a:sym typeface="Calibri"/>
              </a:defRPr>
            </a:lvl1pPr>
            <a:lvl2pPr indent="0" lvl="1" marL="38100">
              <a:lnSpc>
                <a:spcPct val="107058"/>
              </a:lnSpc>
              <a:spcBef>
                <a:spcPts val="0"/>
              </a:spcBef>
              <a:buNone/>
              <a:defRPr b="0" i="0" sz="850">
                <a:solidFill>
                  <a:srgbClr val="4E3629"/>
                </a:solidFill>
                <a:latin typeface="Calibri"/>
                <a:ea typeface="Calibri"/>
                <a:cs typeface="Calibri"/>
                <a:sym typeface="Calibri"/>
              </a:defRPr>
            </a:lvl2pPr>
            <a:lvl3pPr indent="0" lvl="2" marL="38100">
              <a:lnSpc>
                <a:spcPct val="107058"/>
              </a:lnSpc>
              <a:spcBef>
                <a:spcPts val="0"/>
              </a:spcBef>
              <a:buNone/>
              <a:defRPr b="0" i="0" sz="850">
                <a:solidFill>
                  <a:srgbClr val="4E3629"/>
                </a:solidFill>
                <a:latin typeface="Calibri"/>
                <a:ea typeface="Calibri"/>
                <a:cs typeface="Calibri"/>
                <a:sym typeface="Calibri"/>
              </a:defRPr>
            </a:lvl3pPr>
            <a:lvl4pPr indent="0" lvl="3" marL="38100">
              <a:lnSpc>
                <a:spcPct val="107058"/>
              </a:lnSpc>
              <a:spcBef>
                <a:spcPts val="0"/>
              </a:spcBef>
              <a:buNone/>
              <a:defRPr b="0" i="0" sz="850">
                <a:solidFill>
                  <a:srgbClr val="4E3629"/>
                </a:solidFill>
                <a:latin typeface="Calibri"/>
                <a:ea typeface="Calibri"/>
                <a:cs typeface="Calibri"/>
                <a:sym typeface="Calibri"/>
              </a:defRPr>
            </a:lvl4pPr>
            <a:lvl5pPr indent="0" lvl="4" marL="38100">
              <a:lnSpc>
                <a:spcPct val="107058"/>
              </a:lnSpc>
              <a:spcBef>
                <a:spcPts val="0"/>
              </a:spcBef>
              <a:buNone/>
              <a:defRPr b="0" i="0" sz="850">
                <a:solidFill>
                  <a:srgbClr val="4E3629"/>
                </a:solidFill>
                <a:latin typeface="Calibri"/>
                <a:ea typeface="Calibri"/>
                <a:cs typeface="Calibri"/>
                <a:sym typeface="Calibri"/>
              </a:defRPr>
            </a:lvl5pPr>
            <a:lvl6pPr indent="0" lvl="5" marL="38100">
              <a:lnSpc>
                <a:spcPct val="107058"/>
              </a:lnSpc>
              <a:spcBef>
                <a:spcPts val="0"/>
              </a:spcBef>
              <a:buNone/>
              <a:defRPr b="0" i="0" sz="850">
                <a:solidFill>
                  <a:srgbClr val="4E3629"/>
                </a:solidFill>
                <a:latin typeface="Calibri"/>
                <a:ea typeface="Calibri"/>
                <a:cs typeface="Calibri"/>
                <a:sym typeface="Calibri"/>
              </a:defRPr>
            </a:lvl6pPr>
            <a:lvl7pPr indent="0" lvl="6" marL="38100">
              <a:lnSpc>
                <a:spcPct val="107058"/>
              </a:lnSpc>
              <a:spcBef>
                <a:spcPts val="0"/>
              </a:spcBef>
              <a:buNone/>
              <a:defRPr b="0" i="0" sz="850">
                <a:solidFill>
                  <a:srgbClr val="4E3629"/>
                </a:solidFill>
                <a:latin typeface="Calibri"/>
                <a:ea typeface="Calibri"/>
                <a:cs typeface="Calibri"/>
                <a:sym typeface="Calibri"/>
              </a:defRPr>
            </a:lvl7pPr>
            <a:lvl8pPr indent="0" lvl="7" marL="38100">
              <a:lnSpc>
                <a:spcPct val="107058"/>
              </a:lnSpc>
              <a:spcBef>
                <a:spcPts val="0"/>
              </a:spcBef>
              <a:buNone/>
              <a:defRPr b="0" i="0" sz="850">
                <a:solidFill>
                  <a:srgbClr val="4E3629"/>
                </a:solidFill>
                <a:latin typeface="Calibri"/>
                <a:ea typeface="Calibri"/>
                <a:cs typeface="Calibri"/>
                <a:sym typeface="Calibri"/>
              </a:defRPr>
            </a:lvl8pPr>
            <a:lvl9pPr indent="0" lvl="8" marL="38100">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58" name="Shape 58"/>
        <p:cNvGrpSpPr/>
        <p:nvPr/>
      </p:nvGrpSpPr>
      <p:grpSpPr>
        <a:xfrm>
          <a:off x="0" y="0"/>
          <a:ext cx="0" cy="0"/>
          <a:chOff x="0" y="0"/>
          <a:chExt cx="0" cy="0"/>
        </a:xfrm>
      </p:grpSpPr>
      <p:sp>
        <p:nvSpPr>
          <p:cNvPr id="59" name="Google Shape;59;p14"/>
          <p:cNvSpPr txBox="1"/>
          <p:nvPr>
            <p:ph type="title"/>
          </p:nvPr>
        </p:nvSpPr>
        <p:spPr>
          <a:xfrm>
            <a:off x="392112" y="748031"/>
            <a:ext cx="64485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0" name="Google Shape;60;p14"/>
          <p:cNvSpPr txBox="1"/>
          <p:nvPr>
            <p:ph idx="1" type="body"/>
          </p:nvPr>
        </p:nvSpPr>
        <p:spPr>
          <a:xfrm>
            <a:off x="483552" y="1387985"/>
            <a:ext cx="8122800" cy="43161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b="0" i="0" sz="2800">
                <a:solidFill>
                  <a:srgbClr val="4E3629"/>
                </a:solidFill>
                <a:latin typeface="Calibri"/>
                <a:ea typeface="Calibri"/>
                <a:cs typeface="Calibri"/>
                <a:sym typeface="Calibri"/>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1" name="Google Shape;61;p14"/>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10" type="dt"/>
          </p:nvPr>
        </p:nvSpPr>
        <p:spPr>
          <a:xfrm>
            <a:off x="2827230" y="6510552"/>
            <a:ext cx="14274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lvl1pPr indent="0" lvl="0" marL="38100">
              <a:lnSpc>
                <a:spcPct val="107058"/>
              </a:lnSpc>
              <a:spcBef>
                <a:spcPts val="0"/>
              </a:spcBef>
              <a:buNone/>
              <a:defRPr b="0" i="0" sz="850">
                <a:solidFill>
                  <a:srgbClr val="4E3629"/>
                </a:solidFill>
                <a:latin typeface="Calibri"/>
                <a:ea typeface="Calibri"/>
                <a:cs typeface="Calibri"/>
                <a:sym typeface="Calibri"/>
              </a:defRPr>
            </a:lvl1pPr>
            <a:lvl2pPr indent="0" lvl="1" marL="38100">
              <a:lnSpc>
                <a:spcPct val="107058"/>
              </a:lnSpc>
              <a:spcBef>
                <a:spcPts val="0"/>
              </a:spcBef>
              <a:buNone/>
              <a:defRPr b="0" i="0" sz="850">
                <a:solidFill>
                  <a:srgbClr val="4E3629"/>
                </a:solidFill>
                <a:latin typeface="Calibri"/>
                <a:ea typeface="Calibri"/>
                <a:cs typeface="Calibri"/>
                <a:sym typeface="Calibri"/>
              </a:defRPr>
            </a:lvl2pPr>
            <a:lvl3pPr indent="0" lvl="2" marL="38100">
              <a:lnSpc>
                <a:spcPct val="107058"/>
              </a:lnSpc>
              <a:spcBef>
                <a:spcPts val="0"/>
              </a:spcBef>
              <a:buNone/>
              <a:defRPr b="0" i="0" sz="850">
                <a:solidFill>
                  <a:srgbClr val="4E3629"/>
                </a:solidFill>
                <a:latin typeface="Calibri"/>
                <a:ea typeface="Calibri"/>
                <a:cs typeface="Calibri"/>
                <a:sym typeface="Calibri"/>
              </a:defRPr>
            </a:lvl3pPr>
            <a:lvl4pPr indent="0" lvl="3" marL="38100">
              <a:lnSpc>
                <a:spcPct val="107058"/>
              </a:lnSpc>
              <a:spcBef>
                <a:spcPts val="0"/>
              </a:spcBef>
              <a:buNone/>
              <a:defRPr b="0" i="0" sz="850">
                <a:solidFill>
                  <a:srgbClr val="4E3629"/>
                </a:solidFill>
                <a:latin typeface="Calibri"/>
                <a:ea typeface="Calibri"/>
                <a:cs typeface="Calibri"/>
                <a:sym typeface="Calibri"/>
              </a:defRPr>
            </a:lvl4pPr>
            <a:lvl5pPr indent="0" lvl="4" marL="38100">
              <a:lnSpc>
                <a:spcPct val="107058"/>
              </a:lnSpc>
              <a:spcBef>
                <a:spcPts val="0"/>
              </a:spcBef>
              <a:buNone/>
              <a:defRPr b="0" i="0" sz="850">
                <a:solidFill>
                  <a:srgbClr val="4E3629"/>
                </a:solidFill>
                <a:latin typeface="Calibri"/>
                <a:ea typeface="Calibri"/>
                <a:cs typeface="Calibri"/>
                <a:sym typeface="Calibri"/>
              </a:defRPr>
            </a:lvl5pPr>
            <a:lvl6pPr indent="0" lvl="5" marL="38100">
              <a:lnSpc>
                <a:spcPct val="107058"/>
              </a:lnSpc>
              <a:spcBef>
                <a:spcPts val="0"/>
              </a:spcBef>
              <a:buNone/>
              <a:defRPr b="0" i="0" sz="850">
                <a:solidFill>
                  <a:srgbClr val="4E3629"/>
                </a:solidFill>
                <a:latin typeface="Calibri"/>
                <a:ea typeface="Calibri"/>
                <a:cs typeface="Calibri"/>
                <a:sym typeface="Calibri"/>
              </a:defRPr>
            </a:lvl6pPr>
            <a:lvl7pPr indent="0" lvl="6" marL="38100">
              <a:lnSpc>
                <a:spcPct val="107058"/>
              </a:lnSpc>
              <a:spcBef>
                <a:spcPts val="0"/>
              </a:spcBef>
              <a:buNone/>
              <a:defRPr b="0" i="0" sz="850">
                <a:solidFill>
                  <a:srgbClr val="4E3629"/>
                </a:solidFill>
                <a:latin typeface="Calibri"/>
                <a:ea typeface="Calibri"/>
                <a:cs typeface="Calibri"/>
                <a:sym typeface="Calibri"/>
              </a:defRPr>
            </a:lvl7pPr>
            <a:lvl8pPr indent="0" lvl="7" marL="38100">
              <a:lnSpc>
                <a:spcPct val="107058"/>
              </a:lnSpc>
              <a:spcBef>
                <a:spcPts val="0"/>
              </a:spcBef>
              <a:buNone/>
              <a:defRPr b="0" i="0" sz="850">
                <a:solidFill>
                  <a:srgbClr val="4E3629"/>
                </a:solidFill>
                <a:latin typeface="Calibri"/>
                <a:ea typeface="Calibri"/>
                <a:cs typeface="Calibri"/>
                <a:sym typeface="Calibri"/>
              </a:defRPr>
            </a:lvl8pPr>
            <a:lvl9pPr indent="0" lvl="8" marL="38100">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p:cSld name="Two Content">
    <p:spTree>
      <p:nvGrpSpPr>
        <p:cNvPr id="64" name="Shape 64"/>
        <p:cNvGrpSpPr/>
        <p:nvPr/>
      </p:nvGrpSpPr>
      <p:grpSpPr>
        <a:xfrm>
          <a:off x="0" y="0"/>
          <a:ext cx="0" cy="0"/>
          <a:chOff x="0" y="0"/>
          <a:chExt cx="0" cy="0"/>
        </a:xfrm>
      </p:grpSpPr>
      <p:sp>
        <p:nvSpPr>
          <p:cNvPr id="65" name="Google Shape;65;p15"/>
          <p:cNvSpPr txBox="1"/>
          <p:nvPr>
            <p:ph type="title"/>
          </p:nvPr>
        </p:nvSpPr>
        <p:spPr>
          <a:xfrm>
            <a:off x="392112" y="748031"/>
            <a:ext cx="6448500" cy="528300"/>
          </a:xfrm>
          <a:prstGeom prst="rect">
            <a:avLst/>
          </a:prstGeom>
          <a:noFill/>
          <a:ln>
            <a:noFill/>
          </a:ln>
        </p:spPr>
        <p:txBody>
          <a:bodyPr anchorCtr="0" anchor="t" bIns="0" lIns="0" spcFirstLastPara="1" rIns="0" wrap="square" tIns="0">
            <a:spAutoFit/>
          </a:bodyPr>
          <a:lstStyle>
            <a:lvl1pPr lvl="0" algn="l">
              <a:spcBef>
                <a:spcPts val="0"/>
              </a:spcBef>
              <a:spcAft>
                <a:spcPts val="0"/>
              </a:spcAft>
              <a:buSzPts val="2800"/>
              <a:buNone/>
              <a:defRPr b="0" i="0" sz="3300">
                <a:solidFill>
                  <a:srgbClr val="4E3629"/>
                </a:solidFill>
                <a:latin typeface="Calibri"/>
                <a:ea typeface="Calibri"/>
                <a:cs typeface="Calibri"/>
                <a:sym typeface="Calibri"/>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6" name="Google Shape;66;p15"/>
          <p:cNvSpPr txBox="1"/>
          <p:nvPr>
            <p:ph idx="1" type="body"/>
          </p:nvPr>
        </p:nvSpPr>
        <p:spPr>
          <a:xfrm>
            <a:off x="457200" y="1577340"/>
            <a:ext cx="3977700" cy="4526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7" name="Google Shape;67;p15"/>
          <p:cNvSpPr txBox="1"/>
          <p:nvPr>
            <p:ph idx="2" type="body"/>
          </p:nvPr>
        </p:nvSpPr>
        <p:spPr>
          <a:xfrm>
            <a:off x="4709160" y="1577340"/>
            <a:ext cx="3977700" cy="4526400"/>
          </a:xfrm>
          <a:prstGeom prst="rect">
            <a:avLst/>
          </a:prstGeom>
          <a:noFill/>
          <a:ln>
            <a:noFill/>
          </a:ln>
        </p:spPr>
        <p:txBody>
          <a:bodyPr anchorCtr="0" anchor="t" bIns="0" lIns="0" spcFirstLastPara="1" rIns="0" wrap="square" tIns="0">
            <a:spAutoFit/>
          </a:bodyPr>
          <a:lstStyle>
            <a:lvl1pPr indent="-228600" lvl="0" marL="457200" algn="l">
              <a:spcBef>
                <a:spcPts val="0"/>
              </a:spcBef>
              <a:spcAft>
                <a:spcPts val="0"/>
              </a:spcAft>
              <a:buSzPts val="1800"/>
              <a:buNone/>
              <a:defRPr/>
            </a:lvl1pPr>
            <a:lvl2pPr indent="-228600" lvl="1" marL="914400" algn="l">
              <a:spcBef>
                <a:spcPts val="1200"/>
              </a:spcBef>
              <a:spcAft>
                <a:spcPts val="0"/>
              </a:spcAft>
              <a:buSzPts val="1400"/>
              <a:buNone/>
              <a:defRPr/>
            </a:lvl2pPr>
            <a:lvl3pPr indent="-228600" lvl="2" marL="1371600" algn="l">
              <a:spcBef>
                <a:spcPts val="1200"/>
              </a:spcBef>
              <a:spcAft>
                <a:spcPts val="0"/>
              </a:spcAft>
              <a:buSzPts val="1400"/>
              <a:buNone/>
              <a:defRPr/>
            </a:lvl3pPr>
            <a:lvl4pPr indent="-228600" lvl="3" marL="1828800" algn="l">
              <a:spcBef>
                <a:spcPts val="1200"/>
              </a:spcBef>
              <a:spcAft>
                <a:spcPts val="0"/>
              </a:spcAft>
              <a:buSzPts val="1400"/>
              <a:buNone/>
              <a:defRPr/>
            </a:lvl4pPr>
            <a:lvl5pPr indent="-228600" lvl="4" marL="2286000" algn="l">
              <a:spcBef>
                <a:spcPts val="1200"/>
              </a:spcBef>
              <a:spcAft>
                <a:spcPts val="0"/>
              </a:spcAft>
              <a:buSzPts val="1400"/>
              <a:buNone/>
              <a:defRPr/>
            </a:lvl5pPr>
            <a:lvl6pPr indent="-228600" lvl="5" marL="2743200" algn="l">
              <a:spcBef>
                <a:spcPts val="1200"/>
              </a:spcBef>
              <a:spcAft>
                <a:spcPts val="0"/>
              </a:spcAft>
              <a:buSzPts val="1400"/>
              <a:buNone/>
              <a:defRPr/>
            </a:lvl6pPr>
            <a:lvl7pPr indent="-228600" lvl="6" marL="3200400" algn="l">
              <a:spcBef>
                <a:spcPts val="1200"/>
              </a:spcBef>
              <a:spcAft>
                <a:spcPts val="0"/>
              </a:spcAft>
              <a:buSzPts val="1400"/>
              <a:buNone/>
              <a:defRPr/>
            </a:lvl7pPr>
            <a:lvl8pPr indent="-228600" lvl="7" marL="3657600" algn="l">
              <a:spcBef>
                <a:spcPts val="1200"/>
              </a:spcBef>
              <a:spcAft>
                <a:spcPts val="0"/>
              </a:spcAft>
              <a:buSzPts val="1400"/>
              <a:buNone/>
              <a:defRPr/>
            </a:lvl8pPr>
            <a:lvl9pPr indent="-228600" lvl="8" marL="4114800" algn="l">
              <a:spcBef>
                <a:spcPts val="1200"/>
              </a:spcBef>
              <a:spcAft>
                <a:spcPts val="1200"/>
              </a:spcAft>
              <a:buSzPts val="1400"/>
              <a:buNone/>
              <a:defRPr/>
            </a:lvl9pPr>
          </a:lstStyle>
          <a:p/>
        </p:txBody>
      </p:sp>
      <p:sp>
        <p:nvSpPr>
          <p:cNvPr id="68" name="Google Shape;68;p15"/>
          <p:cNvSpPr txBox="1"/>
          <p:nvPr>
            <p:ph idx="11" type="ftr"/>
          </p:nvPr>
        </p:nvSpPr>
        <p:spPr>
          <a:xfrm>
            <a:off x="5172119" y="6589648"/>
            <a:ext cx="3223200" cy="1341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9" name="Google Shape;69;p15"/>
          <p:cNvSpPr txBox="1"/>
          <p:nvPr>
            <p:ph idx="10" type="dt"/>
          </p:nvPr>
        </p:nvSpPr>
        <p:spPr>
          <a:xfrm>
            <a:off x="2827230" y="6510552"/>
            <a:ext cx="1427400" cy="249600"/>
          </a:xfrm>
          <a:prstGeom prst="rect">
            <a:avLst/>
          </a:prstGeom>
          <a:noFill/>
          <a:ln>
            <a:noFill/>
          </a:ln>
        </p:spPr>
        <p:txBody>
          <a:bodyPr anchorCtr="0" anchor="t" bIns="0" lIns="0" spcFirstLastPara="1" rIns="0" wrap="square" tIns="0">
            <a:spAutoFit/>
          </a:bodyPr>
          <a:lstStyle>
            <a:lvl1pPr lvl="0">
              <a:spcBef>
                <a:spcPts val="0"/>
              </a:spcBef>
              <a:spcAft>
                <a:spcPts val="0"/>
              </a:spcAft>
              <a:buSzPts val="1400"/>
              <a:buNone/>
              <a:defRPr b="0" i="0" sz="850">
                <a:solidFill>
                  <a:srgbClr val="4E3629"/>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lvl1pPr indent="0" lvl="0" marL="38100">
              <a:lnSpc>
                <a:spcPct val="107058"/>
              </a:lnSpc>
              <a:spcBef>
                <a:spcPts val="0"/>
              </a:spcBef>
              <a:buNone/>
              <a:defRPr b="0" i="0" sz="850">
                <a:solidFill>
                  <a:srgbClr val="4E3629"/>
                </a:solidFill>
                <a:latin typeface="Calibri"/>
                <a:ea typeface="Calibri"/>
                <a:cs typeface="Calibri"/>
                <a:sym typeface="Calibri"/>
              </a:defRPr>
            </a:lvl1pPr>
            <a:lvl2pPr indent="0" lvl="1" marL="38100">
              <a:lnSpc>
                <a:spcPct val="107058"/>
              </a:lnSpc>
              <a:spcBef>
                <a:spcPts val="0"/>
              </a:spcBef>
              <a:buNone/>
              <a:defRPr b="0" i="0" sz="850">
                <a:solidFill>
                  <a:srgbClr val="4E3629"/>
                </a:solidFill>
                <a:latin typeface="Calibri"/>
                <a:ea typeface="Calibri"/>
                <a:cs typeface="Calibri"/>
                <a:sym typeface="Calibri"/>
              </a:defRPr>
            </a:lvl2pPr>
            <a:lvl3pPr indent="0" lvl="2" marL="38100">
              <a:lnSpc>
                <a:spcPct val="107058"/>
              </a:lnSpc>
              <a:spcBef>
                <a:spcPts val="0"/>
              </a:spcBef>
              <a:buNone/>
              <a:defRPr b="0" i="0" sz="850">
                <a:solidFill>
                  <a:srgbClr val="4E3629"/>
                </a:solidFill>
                <a:latin typeface="Calibri"/>
                <a:ea typeface="Calibri"/>
                <a:cs typeface="Calibri"/>
                <a:sym typeface="Calibri"/>
              </a:defRPr>
            </a:lvl3pPr>
            <a:lvl4pPr indent="0" lvl="3" marL="38100">
              <a:lnSpc>
                <a:spcPct val="107058"/>
              </a:lnSpc>
              <a:spcBef>
                <a:spcPts val="0"/>
              </a:spcBef>
              <a:buNone/>
              <a:defRPr b="0" i="0" sz="850">
                <a:solidFill>
                  <a:srgbClr val="4E3629"/>
                </a:solidFill>
                <a:latin typeface="Calibri"/>
                <a:ea typeface="Calibri"/>
                <a:cs typeface="Calibri"/>
                <a:sym typeface="Calibri"/>
              </a:defRPr>
            </a:lvl4pPr>
            <a:lvl5pPr indent="0" lvl="4" marL="38100">
              <a:lnSpc>
                <a:spcPct val="107058"/>
              </a:lnSpc>
              <a:spcBef>
                <a:spcPts val="0"/>
              </a:spcBef>
              <a:buNone/>
              <a:defRPr b="0" i="0" sz="850">
                <a:solidFill>
                  <a:srgbClr val="4E3629"/>
                </a:solidFill>
                <a:latin typeface="Calibri"/>
                <a:ea typeface="Calibri"/>
                <a:cs typeface="Calibri"/>
                <a:sym typeface="Calibri"/>
              </a:defRPr>
            </a:lvl5pPr>
            <a:lvl6pPr indent="0" lvl="5" marL="38100">
              <a:lnSpc>
                <a:spcPct val="107058"/>
              </a:lnSpc>
              <a:spcBef>
                <a:spcPts val="0"/>
              </a:spcBef>
              <a:buNone/>
              <a:defRPr b="0" i="0" sz="850">
                <a:solidFill>
                  <a:srgbClr val="4E3629"/>
                </a:solidFill>
                <a:latin typeface="Calibri"/>
                <a:ea typeface="Calibri"/>
                <a:cs typeface="Calibri"/>
                <a:sym typeface="Calibri"/>
              </a:defRPr>
            </a:lvl6pPr>
            <a:lvl7pPr indent="0" lvl="6" marL="38100">
              <a:lnSpc>
                <a:spcPct val="107058"/>
              </a:lnSpc>
              <a:spcBef>
                <a:spcPts val="0"/>
              </a:spcBef>
              <a:buNone/>
              <a:defRPr b="0" i="0" sz="850">
                <a:solidFill>
                  <a:srgbClr val="4E3629"/>
                </a:solidFill>
                <a:latin typeface="Calibri"/>
                <a:ea typeface="Calibri"/>
                <a:cs typeface="Calibri"/>
                <a:sym typeface="Calibri"/>
              </a:defRPr>
            </a:lvl7pPr>
            <a:lvl8pPr indent="0" lvl="7" marL="38100">
              <a:lnSpc>
                <a:spcPct val="107058"/>
              </a:lnSpc>
              <a:spcBef>
                <a:spcPts val="0"/>
              </a:spcBef>
              <a:buNone/>
              <a:defRPr b="0" i="0" sz="850">
                <a:solidFill>
                  <a:srgbClr val="4E3629"/>
                </a:solidFill>
                <a:latin typeface="Calibri"/>
                <a:ea typeface="Calibri"/>
                <a:cs typeface="Calibri"/>
                <a:sym typeface="Calibri"/>
              </a:defRPr>
            </a:lvl8pPr>
            <a:lvl9pPr indent="0" lvl="8" marL="38100">
              <a:lnSpc>
                <a:spcPct val="107058"/>
              </a:lnSpc>
              <a:spcBef>
                <a:spcPts val="0"/>
              </a:spcBef>
              <a:buNone/>
              <a:defRPr b="0" i="0" sz="850">
                <a:solidFill>
                  <a:srgbClr val="4E3629"/>
                </a:solidFill>
                <a:latin typeface="Calibri"/>
                <a:ea typeface="Calibri"/>
                <a:cs typeface="Calibri"/>
                <a:sym typeface="Calibri"/>
              </a:defRPr>
            </a:lvl9pPr>
          </a:lstStyle>
          <a:p>
            <a:pPr indent="0" lvl="0" marL="38100" rtl="0" algn="r">
              <a:spcBef>
                <a:spcPts val="0"/>
              </a:spcBef>
              <a:spcAft>
                <a:spcPts val="0"/>
              </a:spcAft>
              <a:buNone/>
            </a:pPr>
            <a:fld id="{00000000-1234-1234-1234-123412341234}" type="slidenum">
              <a:rPr lang="en-US"/>
              <a:t>‹#›</a:t>
            </a:fld>
            <a:endParaRPr sz="1000">
              <a:solidFill>
                <a:schemeClr val="dk2"/>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theme" Target="../theme/theme1.xml"/><Relationship Id="rId14" Type="http://schemas.openxmlformats.org/officeDocument/2006/relationships/slideLayout" Target="../slideLayouts/slideLayout1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74" name="Shape 74"/>
        <p:cNvGrpSpPr/>
        <p:nvPr/>
      </p:nvGrpSpPr>
      <p:grpSpPr>
        <a:xfrm>
          <a:off x="0" y="0"/>
          <a:ext cx="0" cy="0"/>
          <a:chOff x="0" y="0"/>
          <a:chExt cx="0" cy="0"/>
        </a:xfrm>
      </p:grpSpPr>
      <p:grpSp>
        <p:nvGrpSpPr>
          <p:cNvPr id="75" name="Google Shape;75;p16"/>
          <p:cNvGrpSpPr/>
          <p:nvPr/>
        </p:nvGrpSpPr>
        <p:grpSpPr>
          <a:xfrm>
            <a:off x="0" y="0"/>
            <a:ext cx="9144000" cy="6858000"/>
            <a:chOff x="0" y="0"/>
            <a:chExt cx="9144000" cy="6858000"/>
          </a:xfrm>
        </p:grpSpPr>
        <p:pic>
          <p:nvPicPr>
            <p:cNvPr id="76" name="Google Shape;76;p16"/>
            <p:cNvPicPr preferRelativeResize="0"/>
            <p:nvPr/>
          </p:nvPicPr>
          <p:blipFill rotWithShape="1">
            <a:blip r:embed="rId3">
              <a:alphaModFix/>
            </a:blip>
            <a:srcRect b="0" l="0" r="0" t="0"/>
            <a:stretch/>
          </p:blipFill>
          <p:spPr>
            <a:xfrm>
              <a:off x="0" y="0"/>
              <a:ext cx="9144000" cy="6858000"/>
            </a:xfrm>
            <a:prstGeom prst="rect">
              <a:avLst/>
            </a:prstGeom>
            <a:noFill/>
            <a:ln>
              <a:noFill/>
            </a:ln>
          </p:spPr>
        </p:pic>
        <p:sp>
          <p:nvSpPr>
            <p:cNvPr id="77" name="Google Shape;77;p16"/>
            <p:cNvSpPr/>
            <p:nvPr/>
          </p:nvSpPr>
          <p:spPr>
            <a:xfrm>
              <a:off x="560831" y="702563"/>
              <a:ext cx="8022590" cy="5453380"/>
            </a:xfrm>
            <a:custGeom>
              <a:rect b="b" l="l" r="r" t="t"/>
              <a:pathLst>
                <a:path extrusionOk="0" h="5453380" w="8022590">
                  <a:moveTo>
                    <a:pt x="8022335" y="0"/>
                  </a:moveTo>
                  <a:lnTo>
                    <a:pt x="0" y="0"/>
                  </a:lnTo>
                  <a:lnTo>
                    <a:pt x="0" y="5452872"/>
                  </a:lnTo>
                  <a:lnTo>
                    <a:pt x="8022335" y="5452872"/>
                  </a:lnTo>
                  <a:lnTo>
                    <a:pt x="8022335" y="0"/>
                  </a:lnTo>
                  <a:close/>
                </a:path>
              </a:pathLst>
            </a:custGeom>
            <a:solidFill>
              <a:srgbClr val="DFE1E0"/>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pic>
          <p:nvPicPr>
            <p:cNvPr id="78" name="Google Shape;78;p16"/>
            <p:cNvPicPr preferRelativeResize="0"/>
            <p:nvPr/>
          </p:nvPicPr>
          <p:blipFill rotWithShape="1">
            <a:blip r:embed="rId4">
              <a:alphaModFix/>
            </a:blip>
            <a:srcRect b="0" l="0" r="0" t="0"/>
            <a:stretch/>
          </p:blipFill>
          <p:spPr>
            <a:xfrm>
              <a:off x="970787" y="5570219"/>
              <a:ext cx="1258823" cy="420623"/>
            </a:xfrm>
            <a:prstGeom prst="rect">
              <a:avLst/>
            </a:prstGeom>
            <a:noFill/>
            <a:ln>
              <a:noFill/>
            </a:ln>
          </p:spPr>
        </p:pic>
      </p:grpSp>
      <p:sp>
        <p:nvSpPr>
          <p:cNvPr id="79" name="Google Shape;79;p16"/>
          <p:cNvSpPr txBox="1"/>
          <p:nvPr/>
        </p:nvSpPr>
        <p:spPr>
          <a:xfrm>
            <a:off x="5057819" y="6562597"/>
            <a:ext cx="3223260" cy="155575"/>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sz="850">
                <a:solidFill>
                  <a:srgbClr val="FCEFD9"/>
                </a:solidFill>
                <a:latin typeface="Calibri"/>
                <a:ea typeface="Calibri"/>
                <a:cs typeface="Calibri"/>
                <a:sym typeface="Calibri"/>
              </a:rPr>
              <a:t>Copyright © 2020, Oracle y/o sus filiales. Todos los derechos reservados.</a:t>
            </a:r>
            <a:endParaRPr sz="850">
              <a:latin typeface="Calibri"/>
              <a:ea typeface="Calibri"/>
              <a:cs typeface="Calibri"/>
              <a:sym typeface="Calibri"/>
            </a:endParaRPr>
          </a:p>
        </p:txBody>
      </p:sp>
      <p:sp>
        <p:nvSpPr>
          <p:cNvPr id="80" name="Google Shape;80;p16"/>
          <p:cNvSpPr txBox="1"/>
          <p:nvPr>
            <p:ph type="title"/>
          </p:nvPr>
        </p:nvSpPr>
        <p:spPr>
          <a:xfrm>
            <a:off x="958315" y="862895"/>
            <a:ext cx="6518400" cy="1574400"/>
          </a:xfrm>
          <a:prstGeom prst="rect">
            <a:avLst/>
          </a:prstGeom>
          <a:noFill/>
          <a:ln>
            <a:noFill/>
          </a:ln>
        </p:spPr>
        <p:txBody>
          <a:bodyPr anchorCtr="0" anchor="t" bIns="0" lIns="0" spcFirstLastPara="1" rIns="0" wrap="square" tIns="153650">
            <a:spAutoFit/>
          </a:bodyPr>
          <a:lstStyle/>
          <a:p>
            <a:pPr indent="0" lvl="0" marL="12700" marR="5080" rtl="0" algn="l">
              <a:lnSpc>
                <a:spcPct val="96041"/>
              </a:lnSpc>
              <a:spcBef>
                <a:spcPts val="0"/>
              </a:spcBef>
              <a:spcAft>
                <a:spcPts val="0"/>
              </a:spcAft>
              <a:buNone/>
            </a:pPr>
            <a:r>
              <a:rPr lang="en-US" sz="4800"/>
              <a:t>Programación de bases de datos con SQL</a:t>
            </a:r>
            <a:endParaRPr sz="4800"/>
          </a:p>
        </p:txBody>
      </p:sp>
      <p:sp>
        <p:nvSpPr>
          <p:cNvPr id="81" name="Google Shape;81;p16"/>
          <p:cNvSpPr txBox="1"/>
          <p:nvPr/>
        </p:nvSpPr>
        <p:spPr>
          <a:xfrm>
            <a:off x="962879" y="2400950"/>
            <a:ext cx="4044950" cy="888365"/>
          </a:xfrm>
          <a:prstGeom prst="rect">
            <a:avLst/>
          </a:prstGeom>
          <a:noFill/>
          <a:ln>
            <a:noFill/>
          </a:ln>
        </p:spPr>
        <p:txBody>
          <a:bodyPr anchorCtr="0" anchor="t" bIns="0" lIns="0" spcFirstLastPara="1" rIns="0" wrap="square" tIns="78100">
            <a:spAutoFit/>
          </a:bodyPr>
          <a:lstStyle/>
          <a:p>
            <a:pPr indent="0" lvl="0" marL="12700" rtl="0" algn="l">
              <a:lnSpc>
                <a:spcPct val="100000"/>
              </a:lnSpc>
              <a:spcBef>
                <a:spcPts val="0"/>
              </a:spcBef>
              <a:spcAft>
                <a:spcPts val="0"/>
              </a:spcAft>
              <a:buNone/>
            </a:pPr>
            <a:r>
              <a:rPr b="1" lang="en-US" sz="2400">
                <a:solidFill>
                  <a:srgbClr val="4E3629"/>
                </a:solidFill>
                <a:latin typeface="Calibri"/>
                <a:ea typeface="Calibri"/>
                <a:cs typeface="Calibri"/>
                <a:sym typeface="Calibri"/>
              </a:rPr>
              <a:t>1-3</a:t>
            </a:r>
            <a:endParaRPr sz="2400">
              <a:latin typeface="Calibri"/>
              <a:ea typeface="Calibri"/>
              <a:cs typeface="Calibri"/>
              <a:sym typeface="Calibri"/>
            </a:endParaRPr>
          </a:p>
          <a:p>
            <a:pPr indent="0" lvl="0" marL="12700" rtl="0" algn="l">
              <a:lnSpc>
                <a:spcPct val="100000"/>
              </a:lnSpc>
              <a:spcBef>
                <a:spcPts val="515"/>
              </a:spcBef>
              <a:spcAft>
                <a:spcPts val="0"/>
              </a:spcAft>
              <a:buNone/>
            </a:pPr>
            <a:r>
              <a:rPr b="1" lang="en-US" sz="2400">
                <a:solidFill>
                  <a:srgbClr val="4E3629"/>
                </a:solidFill>
                <a:latin typeface="Calibri"/>
                <a:ea typeface="Calibri"/>
                <a:cs typeface="Calibri"/>
                <a:sym typeface="Calibri"/>
              </a:rPr>
              <a:t>Anatomía de una Sentencia SQL</a:t>
            </a:r>
            <a:endParaRPr sz="2400">
              <a:latin typeface="Calibri"/>
              <a:ea typeface="Calibri"/>
              <a:cs typeface="Calibri"/>
              <a:sym typeface="Calibri"/>
            </a:endParaRPr>
          </a:p>
        </p:txBody>
      </p:sp>
      <p:pic>
        <p:nvPicPr>
          <p:cNvPr id="82" name="Google Shape;82;p16"/>
          <p:cNvPicPr preferRelativeResize="0"/>
          <p:nvPr/>
        </p:nvPicPr>
        <p:blipFill rotWithShape="1">
          <a:blip r:embed="rId5">
            <a:alphaModFix/>
          </a:blip>
          <a:srcRect b="0" l="0" r="0" t="0"/>
          <a:stretch/>
        </p:blipFill>
        <p:spPr>
          <a:xfrm>
            <a:off x="-478278" y="3411338"/>
            <a:ext cx="5058157" cy="296570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17"/>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88" name="Google Shape;88;p17"/>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89" name="Google Shape;89;p1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0" name="Google Shape;90;p1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91" name="Google Shape;91;p17"/>
          <p:cNvSpPr txBox="1"/>
          <p:nvPr/>
        </p:nvSpPr>
        <p:spPr>
          <a:xfrm>
            <a:off x="483552" y="1393401"/>
            <a:ext cx="7948295" cy="364426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72453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Emparejar proyección y selección con sus capacidades correctas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sentencia SELECT básica</a:t>
            </a:r>
            <a:endParaRPr sz="2400">
              <a:latin typeface="Calibri"/>
              <a:ea typeface="Calibri"/>
              <a:cs typeface="Calibri"/>
              <a:sym typeface="Calibri"/>
            </a:endParaRPr>
          </a:p>
          <a:p>
            <a:pPr indent="-175260" lvl="0" marL="530860" marR="419734"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la sintaxis correcta para mostrar todas las filas de una tabla</a:t>
            </a:r>
            <a:endParaRPr sz="2400">
              <a:latin typeface="Calibri"/>
              <a:ea typeface="Calibri"/>
              <a:cs typeface="Calibri"/>
              <a:sym typeface="Calibri"/>
            </a:endParaRPr>
          </a:p>
          <a:p>
            <a:pPr indent="-175260" lvl="0" marL="530860" marR="5080" rtl="0" algn="l">
              <a:lnSpc>
                <a:spcPct val="107916"/>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la sintaxis correcta para seleccionar columnas específicas de una tabla, modificar la forma en que se muestran los datos y realizar cálculos utilizando expresiones aritméticas y operadores</a:t>
            </a:r>
            <a:endParaRPr sz="240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8"/>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Objetivos</a:t>
            </a:r>
            <a:endParaRPr/>
          </a:p>
        </p:txBody>
      </p:sp>
      <p:sp>
        <p:nvSpPr>
          <p:cNvPr id="97" name="Google Shape;97;p18"/>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98" name="Google Shape;98;p1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99" name="Google Shape;99;p1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0" name="Google Shape;100;p18"/>
          <p:cNvSpPr txBox="1"/>
          <p:nvPr/>
        </p:nvSpPr>
        <p:spPr>
          <a:xfrm>
            <a:off x="483552" y="1393401"/>
            <a:ext cx="7527925" cy="265684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se abordan los siguientes objetivos:</a:t>
            </a:r>
            <a:endParaRPr sz="2800">
              <a:latin typeface="Calibri"/>
              <a:ea typeface="Calibri"/>
              <a:cs typeface="Calibri"/>
              <a:sym typeface="Calibri"/>
            </a:endParaRPr>
          </a:p>
          <a:p>
            <a:pPr indent="-175260" lvl="0" marL="530860" marR="299085"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Formular consultas mediante la prioridad de operador correcta para mostrar los resultados deseados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un valor nulo</a:t>
            </a:r>
            <a:endParaRPr sz="2400">
              <a:latin typeface="Calibri"/>
              <a:ea typeface="Calibri"/>
              <a:cs typeface="Calibri"/>
              <a:sym typeface="Calibri"/>
            </a:endParaRPr>
          </a:p>
          <a:p>
            <a:pPr indent="-175260" lvl="0" marL="530860" marR="349885"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Demostrar el efecto que los valores nulos crean en las expresiones aritméticas</a:t>
            </a:r>
            <a:endParaRPr sz="2400">
              <a:latin typeface="Calibri"/>
              <a:ea typeface="Calibri"/>
              <a:cs typeface="Calibri"/>
              <a:sym typeface="Calibri"/>
            </a:endParaRPr>
          </a:p>
          <a:p>
            <a:pPr indent="0" lvl="0" marL="35560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una consulta con un alias de columna</a:t>
            </a:r>
            <a:endParaRPr sz="2400">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19"/>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Palabra clave SELECT</a:t>
            </a:r>
            <a:endParaRPr/>
          </a:p>
        </p:txBody>
      </p:sp>
      <p:sp>
        <p:nvSpPr>
          <p:cNvPr id="106" name="Google Shape;106;p19"/>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107" name="Google Shape;107;p1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08" name="Google Shape;108;p1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09" name="Google Shape;109;p19"/>
          <p:cNvSpPr txBox="1"/>
          <p:nvPr>
            <p:ph idx="1" type="body"/>
          </p:nvPr>
        </p:nvSpPr>
        <p:spPr>
          <a:xfrm>
            <a:off x="483552" y="1387985"/>
            <a:ext cx="8122800" cy="5051400"/>
          </a:xfrm>
          <a:prstGeom prst="rect">
            <a:avLst/>
          </a:prstGeom>
          <a:noFill/>
          <a:ln>
            <a:noFill/>
          </a:ln>
        </p:spPr>
        <p:txBody>
          <a:bodyPr anchorCtr="0" anchor="t" bIns="0" lIns="0" spcFirstLastPara="1" rIns="0" wrap="square" tIns="89525">
            <a:spAutoFit/>
          </a:bodyPr>
          <a:lstStyle/>
          <a:p>
            <a:pPr indent="-172720" lvl="0" marL="184785" marR="99060" rtl="0" algn="l">
              <a:lnSpc>
                <a:spcPct val="96153"/>
              </a:lnSpc>
              <a:spcBef>
                <a:spcPts val="0"/>
              </a:spcBef>
              <a:spcAft>
                <a:spcPts val="0"/>
              </a:spcAft>
              <a:buClr>
                <a:srgbClr val="D1350F"/>
              </a:buClr>
              <a:buSzPts val="2600"/>
              <a:buFont typeface="Arial"/>
              <a:buChar char="•"/>
            </a:pPr>
            <a:r>
              <a:rPr lang="en-US" sz="2600"/>
              <a:t>SELECT es una de las palabras clave más importantes, si no la más importante, en SQL</a:t>
            </a:r>
            <a:endParaRPr sz="2600"/>
          </a:p>
          <a:p>
            <a:pPr indent="-172720" lvl="0" marL="184785" marR="40005" rtl="0" algn="l">
              <a:lnSpc>
                <a:spcPct val="96153"/>
              </a:lnSpc>
              <a:spcBef>
                <a:spcPts val="795"/>
              </a:spcBef>
              <a:spcAft>
                <a:spcPts val="0"/>
              </a:spcAft>
              <a:buClr>
                <a:srgbClr val="D1350F"/>
              </a:buClr>
              <a:buSzPts val="2600"/>
              <a:buFont typeface="Arial"/>
              <a:buChar char="•"/>
            </a:pPr>
            <a:r>
              <a:rPr lang="en-US" sz="2600"/>
              <a:t>SELECT se utiliza para recuperar información de la base de datos. Cuando aprenda cómo utilizar SELECT, habrá abierto la puerta de la base de datos</a:t>
            </a:r>
            <a:endParaRPr sz="2600"/>
          </a:p>
          <a:p>
            <a:pPr indent="-172720" lvl="0" marL="184785" marR="5080" rtl="0" algn="l">
              <a:lnSpc>
                <a:spcPct val="96153"/>
              </a:lnSpc>
              <a:spcBef>
                <a:spcPts val="780"/>
              </a:spcBef>
              <a:spcAft>
                <a:spcPts val="0"/>
              </a:spcAft>
              <a:buClr>
                <a:srgbClr val="D1350F"/>
              </a:buClr>
              <a:buSzPts val="2600"/>
              <a:buFont typeface="Arial"/>
              <a:buChar char="•"/>
            </a:pPr>
            <a:r>
              <a:rPr lang="en-US" sz="2600"/>
              <a:t>Imagine una base de datos que contiene información sobre películas como, por ejemplo, el título, el género, el estudio, el productor, la fecha de estreno, las series, el país, el idioma, la puntuación, la duración y demás</a:t>
            </a:r>
            <a:endParaRPr sz="2600"/>
          </a:p>
          <a:p>
            <a:pPr indent="-172720" lvl="0" marL="184785" marR="436245" rtl="0" algn="l">
              <a:lnSpc>
                <a:spcPct val="96153"/>
              </a:lnSpc>
              <a:spcBef>
                <a:spcPts val="785"/>
              </a:spcBef>
              <a:spcAft>
                <a:spcPts val="0"/>
              </a:spcAft>
              <a:buClr>
                <a:srgbClr val="D1350F"/>
              </a:buClr>
              <a:buSzPts val="2600"/>
              <a:buFont typeface="Arial"/>
              <a:buChar char="•"/>
            </a:pPr>
            <a:r>
              <a:rPr lang="en-US" sz="2600"/>
              <a:t>¿Qué pasaría si solo necesitan los títulos de las películas creadas en India?</a:t>
            </a:r>
            <a:endParaRPr sz="2600"/>
          </a:p>
          <a:p>
            <a:pPr indent="-172085" lvl="0" marL="184785" rtl="0" algn="l">
              <a:lnSpc>
                <a:spcPct val="100000"/>
              </a:lnSpc>
              <a:spcBef>
                <a:spcPts val="195"/>
              </a:spcBef>
              <a:spcAft>
                <a:spcPts val="1200"/>
              </a:spcAft>
              <a:buClr>
                <a:srgbClr val="D1350F"/>
              </a:buClr>
              <a:buSzPts val="2600"/>
              <a:buFont typeface="Arial"/>
              <a:buChar char="•"/>
            </a:pPr>
            <a:r>
              <a:rPr lang="en-US" sz="2600"/>
              <a:t>La sentencia SELECT le permite buscar datos específicos</a:t>
            </a:r>
            <a:endParaRPr sz="26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0"/>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Sentencia SELECT</a:t>
            </a:r>
            <a:endParaRPr/>
          </a:p>
        </p:txBody>
      </p:sp>
      <p:sp>
        <p:nvSpPr>
          <p:cNvPr id="115" name="Google Shape;115;p20"/>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116" name="Google Shape;116;p2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17" name="Google Shape;117;p2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18" name="Google Shape;118;p20"/>
          <p:cNvSpPr txBox="1"/>
          <p:nvPr/>
        </p:nvSpPr>
        <p:spPr>
          <a:xfrm>
            <a:off x="483552" y="1415417"/>
            <a:ext cx="7205980" cy="1322070"/>
          </a:xfrm>
          <a:prstGeom prst="rect">
            <a:avLst/>
          </a:prstGeom>
          <a:noFill/>
          <a:ln>
            <a:noFill/>
          </a:ln>
        </p:spPr>
        <p:txBody>
          <a:bodyPr anchorCtr="0" anchor="t" bIns="0" lIns="0" spcFirstLastPara="1" rIns="0" wrap="square" tIns="59675">
            <a:spAutoFit/>
          </a:bodyPr>
          <a:lstStyle/>
          <a:p>
            <a:pPr indent="-177800" lvl="0" marL="182880" marR="1746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sentencia SELECT recupera información de la 	base de datos</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de la sentencia SELECT es la siguiente:</a:t>
            </a:r>
            <a:endParaRPr sz="2800">
              <a:latin typeface="Calibri"/>
              <a:ea typeface="Calibri"/>
              <a:cs typeface="Calibri"/>
              <a:sym typeface="Calibri"/>
            </a:endParaRPr>
          </a:p>
        </p:txBody>
      </p:sp>
      <p:sp>
        <p:nvSpPr>
          <p:cNvPr id="119" name="Google Shape;119;p20"/>
          <p:cNvSpPr txBox="1"/>
          <p:nvPr/>
        </p:nvSpPr>
        <p:spPr>
          <a:xfrm>
            <a:off x="483552" y="3742565"/>
            <a:ext cx="7999095" cy="225806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su formato más simple, una sentencia SELECT debe 	incluir lo siguiente:</a:t>
            </a:r>
            <a:endParaRPr sz="2800">
              <a:latin typeface="Calibri"/>
              <a:ea typeface="Calibri"/>
              <a:cs typeface="Calibri"/>
              <a:sym typeface="Calibri"/>
            </a:endParaRPr>
          </a:p>
          <a:p>
            <a:pPr indent="-175260" lvl="0" marL="530860" marR="536575" rtl="0" algn="l">
              <a:lnSpc>
                <a:spcPct val="107916"/>
              </a:lnSpc>
              <a:spcBef>
                <a:spcPts val="409"/>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cláusula SELECT, que especifica las columnas que se van a mostrar</a:t>
            </a:r>
            <a:endParaRPr sz="2400">
              <a:latin typeface="Calibri"/>
              <a:ea typeface="Calibri"/>
              <a:cs typeface="Calibri"/>
              <a:sym typeface="Calibri"/>
            </a:endParaRPr>
          </a:p>
          <a:p>
            <a:pPr indent="-175260" lvl="0" marL="530860" marR="86360" rtl="0" algn="l">
              <a:lnSpc>
                <a:spcPct val="107916"/>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Una cláusula FROM, que especifica la tabla que contiene las columnas enumeradas en la cláusula SELECT</a:t>
            </a:r>
            <a:endParaRPr sz="2400">
              <a:latin typeface="Calibri"/>
              <a:ea typeface="Calibri"/>
              <a:cs typeface="Calibri"/>
              <a:sym typeface="Calibri"/>
            </a:endParaRPr>
          </a:p>
        </p:txBody>
      </p:sp>
      <p:sp>
        <p:nvSpPr>
          <p:cNvPr id="120" name="Google Shape;120;p20"/>
          <p:cNvSpPr txBox="1"/>
          <p:nvPr/>
        </p:nvSpPr>
        <p:spPr>
          <a:xfrm>
            <a:off x="393191" y="2907792"/>
            <a:ext cx="8345805" cy="629920"/>
          </a:xfrm>
          <a:prstGeom prst="rect">
            <a:avLst/>
          </a:prstGeom>
          <a:solidFill>
            <a:srgbClr val="9DBDC4">
              <a:alpha val="49804"/>
            </a:srgbClr>
          </a:solidFill>
          <a:ln>
            <a:noFill/>
          </a:ln>
        </p:spPr>
        <p:txBody>
          <a:bodyPr anchorCtr="0" anchor="t" bIns="0" lIns="0" spcFirstLastPara="1" rIns="0" wrap="square" tIns="3800">
            <a:spAutoFit/>
          </a:bodyPr>
          <a:lstStyle/>
          <a:p>
            <a:pPr indent="0" lvl="0" marL="45085" marR="5152390" rtl="0" algn="l">
              <a:lnSpc>
                <a:spcPct val="126111"/>
              </a:lnSpc>
              <a:spcBef>
                <a:spcPts val="0"/>
              </a:spcBef>
              <a:spcAft>
                <a:spcPts val="0"/>
              </a:spcAft>
              <a:buNone/>
            </a:pPr>
            <a:r>
              <a:rPr b="1" lang="en-US" sz="1800">
                <a:solidFill>
                  <a:srgbClr val="4E3629"/>
                </a:solidFill>
                <a:latin typeface="Courier New"/>
                <a:ea typeface="Courier New"/>
                <a:cs typeface="Courier New"/>
                <a:sym typeface="Courier New"/>
              </a:rPr>
              <a:t>SELECT &lt;column_name(s)&gt; FROM &lt;table_name&gt;;</a:t>
            </a:r>
            <a:endParaRPr sz="1800">
              <a:latin typeface="Courier New"/>
              <a:ea typeface="Courier New"/>
              <a:cs typeface="Courier New"/>
              <a:sym typeface="Courier New"/>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1"/>
          <p:cNvSpPr txBox="1"/>
          <p:nvPr>
            <p:ph type="title"/>
          </p:nvPr>
        </p:nvSpPr>
        <p:spPr>
          <a:xfrm>
            <a:off x="392112" y="748031"/>
            <a:ext cx="23799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Convenciones</a:t>
            </a:r>
            <a:endParaRPr/>
          </a:p>
        </p:txBody>
      </p:sp>
      <p:sp>
        <p:nvSpPr>
          <p:cNvPr id="126" name="Google Shape;126;p21"/>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127" name="Google Shape;127;p2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28" name="Google Shape;128;p2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29" name="Google Shape;129;p21"/>
          <p:cNvSpPr txBox="1"/>
          <p:nvPr/>
        </p:nvSpPr>
        <p:spPr>
          <a:xfrm>
            <a:off x="483552" y="1359029"/>
            <a:ext cx="5257800" cy="422275"/>
          </a:xfrm>
          <a:prstGeom prst="rect">
            <a:avLst/>
          </a:prstGeom>
          <a:noFill/>
          <a:ln>
            <a:noFill/>
          </a:ln>
        </p:spPr>
        <p:txBody>
          <a:bodyPr anchorCtr="0" anchor="t" bIns="0" lIns="0" spcFirstLastPara="1" rIns="0" wrap="square" tIns="13325">
            <a:spAutoFit/>
          </a:bodyPr>
          <a:lstStyle/>
          <a:p>
            <a:pPr indent="-172085" lvl="0" marL="184785" rtl="0" algn="l">
              <a:lnSpc>
                <a:spcPct val="10000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En este curso, se utilizará lo siguiente:</a:t>
            </a:r>
            <a:endParaRPr sz="2600">
              <a:latin typeface="Calibri"/>
              <a:ea typeface="Calibri"/>
              <a:cs typeface="Calibri"/>
              <a:sym typeface="Calibri"/>
            </a:endParaRPr>
          </a:p>
        </p:txBody>
      </p:sp>
      <p:sp>
        <p:nvSpPr>
          <p:cNvPr id="130" name="Google Shape;130;p21"/>
          <p:cNvSpPr txBox="1"/>
          <p:nvPr/>
        </p:nvSpPr>
        <p:spPr>
          <a:xfrm>
            <a:off x="483552" y="2495935"/>
            <a:ext cx="7962265" cy="3148965"/>
          </a:xfrm>
          <a:prstGeom prst="rect">
            <a:avLst/>
          </a:prstGeom>
          <a:noFill/>
          <a:ln>
            <a:noFill/>
          </a:ln>
        </p:spPr>
        <p:txBody>
          <a:bodyPr anchorCtr="0" anchor="t" bIns="0" lIns="0" spcFirstLastPara="1" rIns="0" wrap="square" tIns="132075">
            <a:spAutoFit/>
          </a:bodyPr>
          <a:lstStyle/>
          <a:p>
            <a:pPr indent="-172720" lvl="0" marL="184785" marR="687070" rtl="0" algn="l">
              <a:lnSpc>
                <a:spcPct val="7000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Una palabra clave hace referencia a un comando SQL individual</a:t>
            </a:r>
            <a:endParaRPr sz="2600">
              <a:latin typeface="Calibri"/>
              <a:ea typeface="Calibri"/>
              <a:cs typeface="Calibri"/>
              <a:sym typeface="Calibri"/>
            </a:endParaRPr>
          </a:p>
          <a:p>
            <a:pPr indent="-172085" lvl="0" marL="184785" rtl="0" algn="l">
              <a:lnSpc>
                <a:spcPct val="11192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Por ejemplo, SELECT y FROM son palabras claves</a:t>
            </a:r>
            <a:endParaRPr sz="2600">
              <a:latin typeface="Calibri"/>
              <a:ea typeface="Calibri"/>
              <a:cs typeface="Calibri"/>
              <a:sym typeface="Calibri"/>
            </a:endParaRPr>
          </a:p>
          <a:p>
            <a:pPr indent="-172085" lvl="0" marL="184785" rtl="0" algn="l">
              <a:lnSpc>
                <a:spcPct val="115000"/>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Una cláusula es una parte de una sentencia SQL</a:t>
            </a:r>
            <a:endParaRPr sz="2600">
              <a:latin typeface="Calibri"/>
              <a:ea typeface="Calibri"/>
              <a:cs typeface="Calibri"/>
              <a:sym typeface="Calibri"/>
            </a:endParaRPr>
          </a:p>
          <a:p>
            <a:pPr indent="-172720" lvl="0" marL="184785" marR="730250" rtl="0" algn="l">
              <a:lnSpc>
                <a:spcPct val="70000"/>
              </a:lnSpc>
              <a:spcBef>
                <a:spcPts val="869"/>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Por ejemplo, SELECT employee_id,last_name, es una cláusula</a:t>
            </a:r>
            <a:endParaRPr sz="2600">
              <a:latin typeface="Calibri"/>
              <a:ea typeface="Calibri"/>
              <a:cs typeface="Calibri"/>
              <a:sym typeface="Calibri"/>
            </a:endParaRPr>
          </a:p>
          <a:p>
            <a:pPr indent="-172085" lvl="0" marL="184785" rtl="0" algn="l">
              <a:lnSpc>
                <a:spcPct val="111923"/>
              </a:lnSpc>
              <a:spcBef>
                <a:spcPts val="0"/>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Una sentencia es una combinación de dos o más cláusulas</a:t>
            </a:r>
            <a:endParaRPr sz="2600">
              <a:latin typeface="Calibri"/>
              <a:ea typeface="Calibri"/>
              <a:cs typeface="Calibri"/>
              <a:sym typeface="Calibri"/>
            </a:endParaRPr>
          </a:p>
          <a:p>
            <a:pPr indent="-172720" lvl="0" marL="184785" marR="201295" rtl="0" algn="l">
              <a:lnSpc>
                <a:spcPct val="70000"/>
              </a:lnSpc>
              <a:spcBef>
                <a:spcPts val="869"/>
              </a:spcBef>
              <a:spcAft>
                <a:spcPts val="0"/>
              </a:spcAft>
              <a:buClr>
                <a:srgbClr val="D1350F"/>
              </a:buClr>
              <a:buSzPts val="2600"/>
              <a:buFont typeface="Arial"/>
              <a:buChar char="•"/>
            </a:pPr>
            <a:r>
              <a:rPr lang="en-US" sz="2600">
                <a:solidFill>
                  <a:srgbClr val="4E3629"/>
                </a:solidFill>
                <a:latin typeface="Calibri"/>
                <a:ea typeface="Calibri"/>
                <a:cs typeface="Calibri"/>
                <a:sym typeface="Calibri"/>
              </a:rPr>
              <a:t>Por ejemplo, SELECT last_name FROM employees es una sentencia</a:t>
            </a:r>
            <a:endParaRPr sz="2600">
              <a:latin typeface="Calibri"/>
              <a:ea typeface="Calibri"/>
              <a:cs typeface="Calibri"/>
              <a:sym typeface="Calibri"/>
            </a:endParaRPr>
          </a:p>
        </p:txBody>
      </p:sp>
      <p:sp>
        <p:nvSpPr>
          <p:cNvPr id="131" name="Google Shape;131;p21"/>
          <p:cNvSpPr txBox="1"/>
          <p:nvPr/>
        </p:nvSpPr>
        <p:spPr>
          <a:xfrm>
            <a:off x="405384" y="1871472"/>
            <a:ext cx="8071484" cy="584200"/>
          </a:xfrm>
          <a:prstGeom prst="rect">
            <a:avLst/>
          </a:prstGeom>
          <a:solidFill>
            <a:srgbClr val="9DBDC4">
              <a:alpha val="49804"/>
            </a:srgbClr>
          </a:solidFill>
          <a:ln>
            <a:noFill/>
          </a:ln>
        </p:spPr>
        <p:txBody>
          <a:bodyPr anchorCtr="0" anchor="t" bIns="0" lIns="0" spcFirstLastPara="1" rIns="0" wrap="square" tIns="0">
            <a:spAutoFit/>
          </a:bodyPr>
          <a:lstStyle/>
          <a:p>
            <a:pPr indent="0" lvl="0" marL="71120" rtl="0" algn="l">
              <a:lnSpc>
                <a:spcPct val="113888"/>
              </a:lnSpc>
              <a:spcBef>
                <a:spcPts val="0"/>
              </a:spcBef>
              <a:spcAft>
                <a:spcPts val="0"/>
              </a:spcAft>
              <a:buNone/>
            </a:pPr>
            <a:r>
              <a:rPr b="1" lang="en-US" sz="1800">
                <a:solidFill>
                  <a:srgbClr val="4E3629"/>
                </a:solidFill>
                <a:latin typeface="Courier New"/>
                <a:ea typeface="Courier New"/>
                <a:cs typeface="Courier New"/>
                <a:sym typeface="Courier New"/>
              </a:rPr>
              <a:t>SELECT last_name</a:t>
            </a:r>
            <a:endParaRPr sz="1800">
              <a:latin typeface="Courier New"/>
              <a:ea typeface="Courier New"/>
              <a:cs typeface="Courier New"/>
              <a:sym typeface="Courier New"/>
            </a:endParaRPr>
          </a:p>
          <a:p>
            <a:pPr indent="0" lvl="0" marL="71120" rtl="0" algn="l">
              <a:lnSpc>
                <a:spcPct val="100000"/>
              </a:lnSpc>
              <a:spcBef>
                <a:spcPts val="85"/>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22"/>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Capacidades de las Sentencias SELECT</a:t>
            </a:r>
            <a:endParaRPr/>
          </a:p>
        </p:txBody>
      </p:sp>
      <p:sp>
        <p:nvSpPr>
          <p:cNvPr id="137" name="Google Shape;137;p22"/>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138" name="Google Shape;138;p2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39" name="Google Shape;139;p22"/>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40" name="Google Shape;140;p22"/>
          <p:cNvSpPr txBox="1"/>
          <p:nvPr/>
        </p:nvSpPr>
        <p:spPr>
          <a:xfrm>
            <a:off x="483552" y="1415417"/>
            <a:ext cx="8162290" cy="13220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Proyección: se utiliza para seleccionar columnas de una 	tabla</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Selección: se utiliza para seleccionar filas de una tabla</a:t>
            </a:r>
            <a:endParaRPr sz="2800">
              <a:latin typeface="Calibri"/>
              <a:ea typeface="Calibri"/>
              <a:cs typeface="Calibri"/>
              <a:sym typeface="Calibri"/>
            </a:endParaRPr>
          </a:p>
        </p:txBody>
      </p:sp>
      <p:graphicFrame>
        <p:nvGraphicFramePr>
          <p:cNvPr id="141" name="Google Shape;141;p22"/>
          <p:cNvGraphicFramePr/>
          <p:nvPr/>
        </p:nvGraphicFramePr>
        <p:xfrm>
          <a:off x="1970339" y="3601289"/>
          <a:ext cx="3000000" cy="3000000"/>
        </p:xfrm>
        <a:graphic>
          <a:graphicData uri="http://schemas.openxmlformats.org/drawingml/2006/table">
            <a:tbl>
              <a:tblPr bandRow="1" firstRow="1">
                <a:noFill/>
                <a:tableStyleId>{A01E2943-91DE-4DD6-BB2F-5FCA573F5628}</a:tableStyleId>
              </a:tblPr>
              <a:tblGrid>
                <a:gridCol w="249550"/>
                <a:gridCol w="651500"/>
                <a:gridCol w="241925"/>
                <a:gridCol w="572125"/>
                <a:gridCol w="229225"/>
              </a:tblGrid>
              <a:tr h="2794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75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94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94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75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877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94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7500">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FFFF00">
                        <a:alpha val="24706"/>
                      </a:srgbClr>
                    </a:solidFill>
                  </a:tcPr>
                </a:tc>
              </a:tr>
            </a:tbl>
          </a:graphicData>
        </a:graphic>
      </p:graphicFrame>
      <p:graphicFrame>
        <p:nvGraphicFramePr>
          <p:cNvPr id="142" name="Google Shape;142;p22"/>
          <p:cNvGraphicFramePr/>
          <p:nvPr/>
        </p:nvGraphicFramePr>
        <p:xfrm>
          <a:off x="5494971" y="3634639"/>
          <a:ext cx="3000000" cy="3000000"/>
        </p:xfrm>
        <a:graphic>
          <a:graphicData uri="http://schemas.openxmlformats.org/drawingml/2006/table">
            <a:tbl>
              <a:tblPr bandRow="1" firstRow="1">
                <a:noFill/>
                <a:tableStyleId>{A01E2943-91DE-4DD6-BB2F-5FCA573F5628}</a:tableStyleId>
              </a:tblPr>
              <a:tblGrid>
                <a:gridCol w="255900"/>
                <a:gridCol w="641350"/>
                <a:gridCol w="249550"/>
                <a:gridCol w="535300"/>
                <a:gridCol w="260350"/>
              </a:tblGrid>
              <a:tr h="2743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43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r>
              <a:tr h="2743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43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r>
              <a:tr h="2743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00">
                        <a:alpha val="24706"/>
                      </a:srgbClr>
                    </a:solidFill>
                  </a:tcPr>
                </a:tc>
              </a:tr>
              <a:tr h="2743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r>
              <a:tr h="2743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6FC0"/>
                    </a:solidFill>
                  </a:tcPr>
                </a:tc>
              </a:tr>
              <a:tr h="274325">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FFFF00">
                        <a:alpha val="24706"/>
                      </a:srgbClr>
                    </a:solidFill>
                  </a:tcPr>
                </a:tc>
                <a:tc>
                  <a:txBody>
                    <a:bodyPr/>
                    <a:lstStyle/>
                    <a:p>
                      <a:pPr indent="0" lvl="0" marL="0" marR="0" rtl="0" algn="l">
                        <a:lnSpc>
                          <a:spcPct val="100000"/>
                        </a:lnSpc>
                        <a:spcBef>
                          <a:spcPts val="0"/>
                        </a:spcBef>
                        <a:spcAft>
                          <a:spcPts val="0"/>
                        </a:spcAft>
                        <a:buNone/>
                      </a:pPr>
                      <a:r>
                        <a:t/>
                      </a:r>
                      <a:endParaRPr sz="1700" u="none" cap="none" strike="noStrike">
                        <a:latin typeface="Times New Roman"/>
                        <a:ea typeface="Times New Roman"/>
                        <a:cs typeface="Times New Roman"/>
                        <a:sym typeface="Times New Roman"/>
                      </a:endParaRPr>
                    </a:p>
                  </a:txBody>
                  <a:tcPr marT="0" marB="0" marR="0" marL="0">
                    <a:lnL cap="flat" cmpd="sng" w="12700">
                      <a:solidFill>
                        <a:srgbClr val="4E3629"/>
                      </a:solidFill>
                      <a:prstDash val="solid"/>
                      <a:round/>
                      <a:headEnd len="sm" w="sm" type="none"/>
                      <a:tailEnd len="sm" w="sm" type="none"/>
                    </a:lnL>
                    <a:lnR cap="flat" cmpd="sng" w="28575">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28575">
                      <a:solidFill>
                        <a:srgbClr val="4E3629"/>
                      </a:solidFill>
                      <a:prstDash val="solid"/>
                      <a:round/>
                      <a:headEnd len="sm" w="sm" type="none"/>
                      <a:tailEnd len="sm" w="sm" type="none"/>
                    </a:lnB>
                    <a:solidFill>
                      <a:srgbClr val="FFFF00">
                        <a:alpha val="24706"/>
                      </a:srgbClr>
                    </a:solidFill>
                  </a:tcPr>
                </a:tc>
              </a:tr>
            </a:tbl>
          </a:graphicData>
        </a:graphic>
      </p:graphicFrame>
      <p:sp>
        <p:nvSpPr>
          <p:cNvPr id="143" name="Google Shape;143;p22"/>
          <p:cNvSpPr txBox="1"/>
          <p:nvPr/>
        </p:nvSpPr>
        <p:spPr>
          <a:xfrm>
            <a:off x="2063366" y="3143142"/>
            <a:ext cx="164274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Tabla 2: proyección</a:t>
            </a:r>
            <a:endParaRPr sz="1600">
              <a:latin typeface="Calibri"/>
              <a:ea typeface="Calibri"/>
              <a:cs typeface="Calibri"/>
              <a:sym typeface="Calibri"/>
            </a:endParaRPr>
          </a:p>
        </p:txBody>
      </p:sp>
      <p:sp>
        <p:nvSpPr>
          <p:cNvPr id="144" name="Google Shape;144;p22"/>
          <p:cNvSpPr txBox="1"/>
          <p:nvPr/>
        </p:nvSpPr>
        <p:spPr>
          <a:xfrm>
            <a:off x="5571762" y="3143142"/>
            <a:ext cx="149606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Tabla 2: selección</a:t>
            </a:r>
            <a:endParaRPr sz="16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grpSp>
        <p:nvGrpSpPr>
          <p:cNvPr id="149" name="Google Shape;149;p23"/>
          <p:cNvGrpSpPr/>
          <p:nvPr/>
        </p:nvGrpSpPr>
        <p:grpSpPr>
          <a:xfrm>
            <a:off x="3832096" y="1930146"/>
            <a:ext cx="2870200" cy="2621280"/>
            <a:chOff x="3832096" y="1930146"/>
            <a:chExt cx="2870200" cy="2621280"/>
          </a:xfrm>
        </p:grpSpPr>
        <p:sp>
          <p:nvSpPr>
            <p:cNvPr id="150" name="Google Shape;150;p23"/>
            <p:cNvSpPr/>
            <p:nvPr/>
          </p:nvSpPr>
          <p:spPr>
            <a:xfrm>
              <a:off x="3832096" y="1930146"/>
              <a:ext cx="2870200" cy="2621280"/>
            </a:xfrm>
            <a:custGeom>
              <a:rect b="b" l="l" r="r" t="t"/>
              <a:pathLst>
                <a:path extrusionOk="0" h="2621279" w="2870200">
                  <a:moveTo>
                    <a:pt x="1254429" y="0"/>
                  </a:moveTo>
                  <a:lnTo>
                    <a:pt x="0" y="0"/>
                  </a:lnTo>
                  <a:lnTo>
                    <a:pt x="0" y="270382"/>
                  </a:lnTo>
                  <a:lnTo>
                    <a:pt x="1254429" y="270382"/>
                  </a:lnTo>
                  <a:lnTo>
                    <a:pt x="1287506" y="271897"/>
                  </a:lnTo>
                  <a:lnTo>
                    <a:pt x="1352364" y="283802"/>
                  </a:lnTo>
                  <a:lnTo>
                    <a:pt x="1415241" y="307067"/>
                  </a:lnTo>
                  <a:lnTo>
                    <a:pt x="1475832" y="341126"/>
                  </a:lnTo>
                  <a:lnTo>
                    <a:pt x="1533834" y="385412"/>
                  </a:lnTo>
                  <a:lnTo>
                    <a:pt x="1588943" y="439357"/>
                  </a:lnTo>
                  <a:lnTo>
                    <a:pt x="1615317" y="469775"/>
                  </a:lnTo>
                  <a:lnTo>
                    <a:pt x="1640854" y="502395"/>
                  </a:lnTo>
                  <a:lnTo>
                    <a:pt x="1665516" y="537146"/>
                  </a:lnTo>
                  <a:lnTo>
                    <a:pt x="1689264" y="573958"/>
                  </a:lnTo>
                  <a:lnTo>
                    <a:pt x="1712061" y="612759"/>
                  </a:lnTo>
                  <a:lnTo>
                    <a:pt x="1733869" y="653479"/>
                  </a:lnTo>
                  <a:lnTo>
                    <a:pt x="1754649" y="696046"/>
                  </a:lnTo>
                  <a:lnTo>
                    <a:pt x="1774365" y="740391"/>
                  </a:lnTo>
                  <a:lnTo>
                    <a:pt x="1792976" y="786441"/>
                  </a:lnTo>
                  <a:lnTo>
                    <a:pt x="1810447" y="834127"/>
                  </a:lnTo>
                  <a:lnTo>
                    <a:pt x="1826738" y="883377"/>
                  </a:lnTo>
                  <a:lnTo>
                    <a:pt x="1841812" y="934120"/>
                  </a:lnTo>
                  <a:lnTo>
                    <a:pt x="1855631" y="986285"/>
                  </a:lnTo>
                  <a:lnTo>
                    <a:pt x="1868157" y="1039802"/>
                  </a:lnTo>
                  <a:lnTo>
                    <a:pt x="1879351" y="1094600"/>
                  </a:lnTo>
                  <a:lnTo>
                    <a:pt x="1889176" y="1150607"/>
                  </a:lnTo>
                  <a:lnTo>
                    <a:pt x="1897593" y="1207754"/>
                  </a:lnTo>
                  <a:lnTo>
                    <a:pt x="1904566" y="1265968"/>
                  </a:lnTo>
                  <a:lnTo>
                    <a:pt x="1910055" y="1325179"/>
                  </a:lnTo>
                  <a:lnTo>
                    <a:pt x="1914022" y="1385317"/>
                  </a:lnTo>
                  <a:lnTo>
                    <a:pt x="1916431" y="1446309"/>
                  </a:lnTo>
                  <a:lnTo>
                    <a:pt x="1917242" y="1508086"/>
                  </a:lnTo>
                  <a:lnTo>
                    <a:pt x="1917242" y="1625803"/>
                  </a:lnTo>
                  <a:lnTo>
                    <a:pt x="1254429" y="1625803"/>
                  </a:lnTo>
                  <a:lnTo>
                    <a:pt x="2062060" y="2621279"/>
                  </a:lnTo>
                  <a:lnTo>
                    <a:pt x="2869691" y="1625803"/>
                  </a:lnTo>
                  <a:lnTo>
                    <a:pt x="2206878" y="1625803"/>
                  </a:lnTo>
                  <a:lnTo>
                    <a:pt x="2206878" y="1508086"/>
                  </a:lnTo>
                  <a:lnTo>
                    <a:pt x="2206158" y="1448871"/>
                  </a:lnTo>
                  <a:lnTo>
                    <a:pt x="2204013" y="1390234"/>
                  </a:lnTo>
                  <a:lnTo>
                    <a:pt x="2200470" y="1332217"/>
                  </a:lnTo>
                  <a:lnTo>
                    <a:pt x="2195556" y="1274861"/>
                  </a:lnTo>
                  <a:lnTo>
                    <a:pt x="2189298" y="1218210"/>
                  </a:lnTo>
                  <a:lnTo>
                    <a:pt x="2181721" y="1162305"/>
                  </a:lnTo>
                  <a:lnTo>
                    <a:pt x="2172852" y="1107187"/>
                  </a:lnTo>
                  <a:lnTo>
                    <a:pt x="2162719" y="1052898"/>
                  </a:lnTo>
                  <a:lnTo>
                    <a:pt x="2151346" y="999482"/>
                  </a:lnTo>
                  <a:lnTo>
                    <a:pt x="2138762" y="946978"/>
                  </a:lnTo>
                  <a:lnTo>
                    <a:pt x="2124991" y="895431"/>
                  </a:lnTo>
                  <a:lnTo>
                    <a:pt x="2110061" y="844880"/>
                  </a:lnTo>
                  <a:lnTo>
                    <a:pt x="2093999" y="795369"/>
                  </a:lnTo>
                  <a:lnTo>
                    <a:pt x="2076830" y="746938"/>
                  </a:lnTo>
                  <a:lnTo>
                    <a:pt x="2058581" y="699631"/>
                  </a:lnTo>
                  <a:lnTo>
                    <a:pt x="2039278" y="653489"/>
                  </a:lnTo>
                  <a:lnTo>
                    <a:pt x="2018949" y="608553"/>
                  </a:lnTo>
                  <a:lnTo>
                    <a:pt x="1997620" y="564866"/>
                  </a:lnTo>
                  <a:lnTo>
                    <a:pt x="1975316" y="522470"/>
                  </a:lnTo>
                  <a:lnTo>
                    <a:pt x="1952065" y="481407"/>
                  </a:lnTo>
                  <a:lnTo>
                    <a:pt x="1927893" y="441718"/>
                  </a:lnTo>
                  <a:lnTo>
                    <a:pt x="1902826" y="403446"/>
                  </a:lnTo>
                  <a:lnTo>
                    <a:pt x="1876892" y="366632"/>
                  </a:lnTo>
                  <a:lnTo>
                    <a:pt x="1850116" y="331318"/>
                  </a:lnTo>
                  <a:lnTo>
                    <a:pt x="1822524" y="297546"/>
                  </a:lnTo>
                  <a:lnTo>
                    <a:pt x="1794145" y="265359"/>
                  </a:lnTo>
                  <a:lnTo>
                    <a:pt x="1765003" y="234797"/>
                  </a:lnTo>
                  <a:lnTo>
                    <a:pt x="1735125" y="205904"/>
                  </a:lnTo>
                  <a:lnTo>
                    <a:pt x="1704539" y="178720"/>
                  </a:lnTo>
                  <a:lnTo>
                    <a:pt x="1673269" y="153288"/>
                  </a:lnTo>
                  <a:lnTo>
                    <a:pt x="1641344" y="129650"/>
                  </a:lnTo>
                  <a:lnTo>
                    <a:pt x="1608789" y="107847"/>
                  </a:lnTo>
                  <a:lnTo>
                    <a:pt x="1575630" y="87922"/>
                  </a:lnTo>
                  <a:lnTo>
                    <a:pt x="1541895" y="69916"/>
                  </a:lnTo>
                  <a:lnTo>
                    <a:pt x="1472801" y="39831"/>
                  </a:lnTo>
                  <a:lnTo>
                    <a:pt x="1401717" y="17926"/>
                  </a:lnTo>
                  <a:lnTo>
                    <a:pt x="1328856" y="4537"/>
                  </a:lnTo>
                  <a:lnTo>
                    <a:pt x="1291825" y="1141"/>
                  </a:lnTo>
                  <a:lnTo>
                    <a:pt x="1254429" y="0"/>
                  </a:lnTo>
                  <a:close/>
                </a:path>
              </a:pathLst>
            </a:custGeom>
            <a:solidFill>
              <a:srgbClr val="00AFEF"/>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1" name="Google Shape;151;p23"/>
            <p:cNvSpPr/>
            <p:nvPr/>
          </p:nvSpPr>
          <p:spPr>
            <a:xfrm>
              <a:off x="3832096" y="1930146"/>
              <a:ext cx="2870200" cy="2621280"/>
            </a:xfrm>
            <a:custGeom>
              <a:rect b="b" l="l" r="r" t="t"/>
              <a:pathLst>
                <a:path extrusionOk="0" h="2621279" w="2870200">
                  <a:moveTo>
                    <a:pt x="2062060" y="2621279"/>
                  </a:moveTo>
                  <a:lnTo>
                    <a:pt x="2869691" y="1625803"/>
                  </a:lnTo>
                  <a:lnTo>
                    <a:pt x="2206878" y="1625803"/>
                  </a:lnTo>
                  <a:lnTo>
                    <a:pt x="2206878" y="1508086"/>
                  </a:lnTo>
                  <a:lnTo>
                    <a:pt x="2206158" y="1448871"/>
                  </a:lnTo>
                  <a:lnTo>
                    <a:pt x="2204013" y="1390234"/>
                  </a:lnTo>
                  <a:lnTo>
                    <a:pt x="2200470" y="1332217"/>
                  </a:lnTo>
                  <a:lnTo>
                    <a:pt x="2195556" y="1274861"/>
                  </a:lnTo>
                  <a:lnTo>
                    <a:pt x="2189298" y="1218210"/>
                  </a:lnTo>
                  <a:lnTo>
                    <a:pt x="2181721" y="1162305"/>
                  </a:lnTo>
                  <a:lnTo>
                    <a:pt x="2172852" y="1107187"/>
                  </a:lnTo>
                  <a:lnTo>
                    <a:pt x="2162719" y="1052898"/>
                  </a:lnTo>
                  <a:lnTo>
                    <a:pt x="2151346" y="999482"/>
                  </a:lnTo>
                  <a:lnTo>
                    <a:pt x="2138762" y="946978"/>
                  </a:lnTo>
                  <a:lnTo>
                    <a:pt x="2124991" y="895431"/>
                  </a:lnTo>
                  <a:lnTo>
                    <a:pt x="2110061" y="844880"/>
                  </a:lnTo>
                  <a:lnTo>
                    <a:pt x="2093999" y="795369"/>
                  </a:lnTo>
                  <a:lnTo>
                    <a:pt x="2076830" y="746938"/>
                  </a:lnTo>
                  <a:lnTo>
                    <a:pt x="2058581" y="699631"/>
                  </a:lnTo>
                  <a:lnTo>
                    <a:pt x="2039278" y="653489"/>
                  </a:lnTo>
                  <a:lnTo>
                    <a:pt x="2018949" y="608553"/>
                  </a:lnTo>
                  <a:lnTo>
                    <a:pt x="1997620" y="564866"/>
                  </a:lnTo>
                  <a:lnTo>
                    <a:pt x="1975316" y="522470"/>
                  </a:lnTo>
                  <a:lnTo>
                    <a:pt x="1952065" y="481407"/>
                  </a:lnTo>
                  <a:lnTo>
                    <a:pt x="1927893" y="441718"/>
                  </a:lnTo>
                  <a:lnTo>
                    <a:pt x="1902826" y="403446"/>
                  </a:lnTo>
                  <a:lnTo>
                    <a:pt x="1876892" y="366632"/>
                  </a:lnTo>
                  <a:lnTo>
                    <a:pt x="1850116" y="331318"/>
                  </a:lnTo>
                  <a:lnTo>
                    <a:pt x="1822524" y="297546"/>
                  </a:lnTo>
                  <a:lnTo>
                    <a:pt x="1794145" y="265359"/>
                  </a:lnTo>
                  <a:lnTo>
                    <a:pt x="1765003" y="234797"/>
                  </a:lnTo>
                  <a:lnTo>
                    <a:pt x="1735125" y="205904"/>
                  </a:lnTo>
                  <a:lnTo>
                    <a:pt x="1704539" y="178720"/>
                  </a:lnTo>
                  <a:lnTo>
                    <a:pt x="1673269" y="153288"/>
                  </a:lnTo>
                  <a:lnTo>
                    <a:pt x="1641344" y="129650"/>
                  </a:lnTo>
                  <a:lnTo>
                    <a:pt x="1608789" y="107847"/>
                  </a:lnTo>
                  <a:lnTo>
                    <a:pt x="1575630" y="87922"/>
                  </a:lnTo>
                  <a:lnTo>
                    <a:pt x="1541895" y="69916"/>
                  </a:lnTo>
                  <a:lnTo>
                    <a:pt x="1472801" y="39831"/>
                  </a:lnTo>
                  <a:lnTo>
                    <a:pt x="1401717" y="17926"/>
                  </a:lnTo>
                  <a:lnTo>
                    <a:pt x="1328856" y="4537"/>
                  </a:lnTo>
                  <a:lnTo>
                    <a:pt x="1254429" y="0"/>
                  </a:lnTo>
                  <a:lnTo>
                    <a:pt x="0" y="0"/>
                  </a:lnTo>
                  <a:lnTo>
                    <a:pt x="0" y="270382"/>
                  </a:lnTo>
                  <a:lnTo>
                    <a:pt x="1254429" y="270382"/>
                  </a:lnTo>
                  <a:lnTo>
                    <a:pt x="1287506" y="271897"/>
                  </a:lnTo>
                  <a:lnTo>
                    <a:pt x="1352364" y="283802"/>
                  </a:lnTo>
                  <a:lnTo>
                    <a:pt x="1415241" y="307067"/>
                  </a:lnTo>
                  <a:lnTo>
                    <a:pt x="1475832" y="341126"/>
                  </a:lnTo>
                  <a:lnTo>
                    <a:pt x="1533834" y="385412"/>
                  </a:lnTo>
                  <a:lnTo>
                    <a:pt x="1588943" y="439357"/>
                  </a:lnTo>
                  <a:lnTo>
                    <a:pt x="1615317" y="469775"/>
                  </a:lnTo>
                  <a:lnTo>
                    <a:pt x="1640854" y="502395"/>
                  </a:lnTo>
                  <a:lnTo>
                    <a:pt x="1665516" y="537146"/>
                  </a:lnTo>
                  <a:lnTo>
                    <a:pt x="1689264" y="573958"/>
                  </a:lnTo>
                  <a:lnTo>
                    <a:pt x="1712061" y="612759"/>
                  </a:lnTo>
                  <a:lnTo>
                    <a:pt x="1733869" y="653479"/>
                  </a:lnTo>
                  <a:lnTo>
                    <a:pt x="1754649" y="696046"/>
                  </a:lnTo>
                  <a:lnTo>
                    <a:pt x="1774365" y="740391"/>
                  </a:lnTo>
                  <a:lnTo>
                    <a:pt x="1792976" y="786441"/>
                  </a:lnTo>
                  <a:lnTo>
                    <a:pt x="1810447" y="834127"/>
                  </a:lnTo>
                  <a:lnTo>
                    <a:pt x="1826738" y="883377"/>
                  </a:lnTo>
                  <a:lnTo>
                    <a:pt x="1841812" y="934120"/>
                  </a:lnTo>
                  <a:lnTo>
                    <a:pt x="1855631" y="986285"/>
                  </a:lnTo>
                  <a:lnTo>
                    <a:pt x="1868157" y="1039802"/>
                  </a:lnTo>
                  <a:lnTo>
                    <a:pt x="1879351" y="1094600"/>
                  </a:lnTo>
                  <a:lnTo>
                    <a:pt x="1889176" y="1150607"/>
                  </a:lnTo>
                  <a:lnTo>
                    <a:pt x="1897593" y="1207754"/>
                  </a:lnTo>
                  <a:lnTo>
                    <a:pt x="1904566" y="1265968"/>
                  </a:lnTo>
                  <a:lnTo>
                    <a:pt x="1910055" y="1325179"/>
                  </a:lnTo>
                  <a:lnTo>
                    <a:pt x="1914022" y="1385317"/>
                  </a:lnTo>
                  <a:lnTo>
                    <a:pt x="1916431" y="1446309"/>
                  </a:lnTo>
                  <a:lnTo>
                    <a:pt x="1917242" y="1508086"/>
                  </a:lnTo>
                  <a:lnTo>
                    <a:pt x="1917242" y="1625803"/>
                  </a:lnTo>
                  <a:lnTo>
                    <a:pt x="1254429" y="1625803"/>
                  </a:lnTo>
                  <a:lnTo>
                    <a:pt x="2062060" y="2621279"/>
                  </a:lnTo>
                  <a:close/>
                </a:path>
              </a:pathLst>
            </a:custGeom>
            <a:noFill/>
            <a:ln cap="flat" cmpd="sng" w="259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2" name="Google Shape;152;p23"/>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Proyección y Selección</a:t>
            </a:r>
            <a:endParaRPr/>
          </a:p>
        </p:txBody>
      </p:sp>
      <p:graphicFrame>
        <p:nvGraphicFramePr>
          <p:cNvPr id="153" name="Google Shape;153;p23"/>
          <p:cNvGraphicFramePr/>
          <p:nvPr/>
        </p:nvGraphicFramePr>
        <p:xfrm>
          <a:off x="390525" y="1433512"/>
          <a:ext cx="3000000" cy="3000000"/>
        </p:xfrm>
        <a:graphic>
          <a:graphicData uri="http://schemas.openxmlformats.org/drawingml/2006/table">
            <a:tbl>
              <a:tblPr bandRow="1" firstRow="1">
                <a:noFill/>
                <a:tableStyleId>{A01E2943-91DE-4DD6-BB2F-5FCA573F5628}</a:tableStyleId>
              </a:tblPr>
              <a:tblGrid>
                <a:gridCol w="443225"/>
                <a:gridCol w="1325875"/>
                <a:gridCol w="1400175"/>
                <a:gridCol w="947425"/>
              </a:tblGrid>
              <a:tr h="317500">
                <a:tc>
                  <a:txBody>
                    <a:bodyPr/>
                    <a:lstStyle/>
                    <a:p>
                      <a:pPr indent="0" lvl="0" marL="91440" marR="0" rtl="0" algn="l">
                        <a:lnSpc>
                          <a:spcPct val="100000"/>
                        </a:lnSpc>
                        <a:spcBef>
                          <a:spcPts val="0"/>
                        </a:spcBef>
                        <a:spcAft>
                          <a:spcPts val="0"/>
                        </a:spcAft>
                        <a:buNone/>
                      </a:pPr>
                      <a:r>
                        <a:rPr b="1" lang="en-US" sz="1400" u="none" cap="none" strike="noStrike">
                          <a:solidFill>
                            <a:srgbClr val="4E3629"/>
                          </a:solidFill>
                          <a:latin typeface="Arial"/>
                          <a:ea typeface="Arial"/>
                          <a:cs typeface="Arial"/>
                          <a:sym typeface="Arial"/>
                        </a:rPr>
                        <a:t>ID</a:t>
                      </a:r>
                      <a:endParaRPr sz="1400" u="none" cap="none" strike="noStrike">
                        <a:latin typeface="Arial"/>
                        <a:ea typeface="Arial"/>
                        <a:cs typeface="Arial"/>
                        <a:sym typeface="Arial"/>
                      </a:endParaRPr>
                    </a:p>
                  </a:txBody>
                  <a:tcPr marT="4000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1440" marR="0" rtl="0" algn="l">
                        <a:lnSpc>
                          <a:spcPct val="100000"/>
                        </a:lnSpc>
                        <a:spcBef>
                          <a:spcPts val="0"/>
                        </a:spcBef>
                        <a:spcAft>
                          <a:spcPts val="0"/>
                        </a:spcAft>
                        <a:buNone/>
                      </a:pPr>
                      <a:r>
                        <a:rPr b="1" lang="en-US" sz="1400" u="none" cap="none" strike="noStrike">
                          <a:solidFill>
                            <a:srgbClr val="4E3629"/>
                          </a:solidFill>
                          <a:latin typeface="Arial"/>
                          <a:ea typeface="Arial"/>
                          <a:cs typeface="Arial"/>
                          <a:sym typeface="Arial"/>
                        </a:rPr>
                        <a:t>FIRST_NAME</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b="1" lang="en-US" sz="1400" u="none" cap="none" strike="noStrike">
                          <a:solidFill>
                            <a:srgbClr val="4E3629"/>
                          </a:solidFill>
                          <a:latin typeface="Arial"/>
                          <a:ea typeface="Arial"/>
                          <a:cs typeface="Arial"/>
                          <a:sym typeface="Arial"/>
                        </a:rPr>
                        <a:t>LAST_NAME</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b="1" lang="en-US" sz="1400" u="none" cap="none" strike="noStrike">
                          <a:solidFill>
                            <a:srgbClr val="4E3629"/>
                          </a:solidFill>
                          <a:latin typeface="Arial"/>
                          <a:ea typeface="Arial"/>
                          <a:cs typeface="Arial"/>
                          <a:sym typeface="Arial"/>
                        </a:rPr>
                        <a:t>SALARY</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28575">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6699FF"/>
                    </a:solidFill>
                  </a:tcPr>
                </a:tc>
              </a:tr>
              <a:tr h="331475">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10</a:t>
                      </a:r>
                      <a:endParaRPr sz="1400" u="none" cap="none" strike="noStrike">
                        <a:latin typeface="Arial"/>
                        <a:ea typeface="Arial"/>
                        <a:cs typeface="Arial"/>
                        <a:sym typeface="Arial"/>
                      </a:endParaRPr>
                    </a:p>
                  </a:txBody>
                  <a:tcPr marT="4000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John</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Doe</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4000</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6699FF"/>
                    </a:solidFill>
                  </a:tcPr>
                </a:tc>
              </a:tr>
              <a:tr h="333375">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20</a:t>
                      </a:r>
                      <a:endParaRPr sz="1400" u="none" cap="none" strike="noStrike">
                        <a:latin typeface="Arial"/>
                        <a:ea typeface="Arial"/>
                        <a:cs typeface="Arial"/>
                        <a:sym typeface="Arial"/>
                      </a:endParaRPr>
                    </a:p>
                  </a:txBody>
                  <a:tcPr marT="4000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Jane</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Jones</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3000</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6699FF"/>
                    </a:solidFill>
                  </a:tcPr>
                </a:tc>
              </a:tr>
              <a:tr h="331475">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30</a:t>
                      </a:r>
                      <a:endParaRPr sz="1400" u="none" cap="none" strike="noStrike">
                        <a:latin typeface="Arial"/>
                        <a:ea typeface="Arial"/>
                        <a:cs typeface="Arial"/>
                        <a:sym typeface="Arial"/>
                      </a:endParaRPr>
                    </a:p>
                  </a:txBody>
                  <a:tcPr marT="4000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66"/>
                    </a:solidFill>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Sylvia</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66"/>
                    </a:solidFill>
                  </a:tcPr>
                </a:tc>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Smith</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66"/>
                    </a:solidFill>
                  </a:tcPr>
                </a:tc>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5000</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00AF50"/>
                    </a:solidFill>
                  </a:tcPr>
                </a:tc>
              </a:tr>
              <a:tr h="333375">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40</a:t>
                      </a:r>
                      <a:endParaRPr sz="1400" u="none" cap="none" strike="noStrike">
                        <a:latin typeface="Arial"/>
                        <a:ea typeface="Arial"/>
                        <a:cs typeface="Arial"/>
                        <a:sym typeface="Arial"/>
                      </a:endParaRPr>
                    </a:p>
                  </a:txBody>
                  <a:tcPr marT="40000" marB="0" marR="0" marL="0">
                    <a:lnL cap="flat" cmpd="sng" w="28575">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1440"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Hai</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Nguyen</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FFFFFF"/>
                    </a:solidFill>
                  </a:tcPr>
                </a:tc>
                <a:tc>
                  <a:txBody>
                    <a:bodyPr/>
                    <a:lstStyle/>
                    <a:p>
                      <a:pPr indent="0" lvl="0" marL="90805" marR="0" rtl="0" algn="l">
                        <a:lnSpc>
                          <a:spcPct val="100000"/>
                        </a:lnSpc>
                        <a:spcBef>
                          <a:spcPts val="0"/>
                        </a:spcBef>
                        <a:spcAft>
                          <a:spcPts val="0"/>
                        </a:spcAft>
                        <a:buNone/>
                      </a:pPr>
                      <a:r>
                        <a:rPr lang="en-US" sz="1400" u="none" cap="none" strike="noStrike">
                          <a:solidFill>
                            <a:srgbClr val="4E3629"/>
                          </a:solidFill>
                          <a:latin typeface="Arial"/>
                          <a:ea typeface="Arial"/>
                          <a:cs typeface="Arial"/>
                          <a:sym typeface="Arial"/>
                        </a:rPr>
                        <a:t>6000</a:t>
                      </a:r>
                      <a:endParaRPr sz="1400" u="none" cap="none" strike="noStrike">
                        <a:latin typeface="Arial"/>
                        <a:ea typeface="Arial"/>
                        <a:cs typeface="Arial"/>
                        <a:sym typeface="Arial"/>
                      </a:endParaRPr>
                    </a:p>
                  </a:txBody>
                  <a:tcPr marT="40000" marB="0" marR="0" marL="0">
                    <a:lnL cap="flat" cmpd="sng" w="12700">
                      <a:solidFill>
                        <a:srgbClr val="4E3629"/>
                      </a:solidFill>
                      <a:prstDash val="solid"/>
                      <a:round/>
                      <a:headEnd len="sm" w="sm" type="none"/>
                      <a:tailEnd len="sm" w="sm" type="none"/>
                    </a:lnL>
                    <a:lnR cap="flat" cmpd="sng" w="12700">
                      <a:solidFill>
                        <a:srgbClr val="4E3629"/>
                      </a:solidFill>
                      <a:prstDash val="solid"/>
                      <a:round/>
                      <a:headEnd len="sm" w="sm" type="none"/>
                      <a:tailEnd len="sm" w="sm" type="none"/>
                    </a:lnR>
                    <a:lnT cap="flat" cmpd="sng" w="12700">
                      <a:solidFill>
                        <a:srgbClr val="4E3629"/>
                      </a:solidFill>
                      <a:prstDash val="solid"/>
                      <a:round/>
                      <a:headEnd len="sm" w="sm" type="none"/>
                      <a:tailEnd len="sm" w="sm" type="none"/>
                    </a:lnT>
                    <a:lnB cap="flat" cmpd="sng" w="12700">
                      <a:solidFill>
                        <a:srgbClr val="4E3629"/>
                      </a:solidFill>
                      <a:prstDash val="solid"/>
                      <a:round/>
                      <a:headEnd len="sm" w="sm" type="none"/>
                      <a:tailEnd len="sm" w="sm" type="none"/>
                    </a:lnB>
                    <a:solidFill>
                      <a:srgbClr val="6699FF"/>
                    </a:solidFill>
                  </a:tcPr>
                </a:tc>
              </a:tr>
            </a:tbl>
          </a:graphicData>
        </a:graphic>
      </p:graphicFrame>
      <p:grpSp>
        <p:nvGrpSpPr>
          <p:cNvPr id="154" name="Google Shape;154;p23"/>
          <p:cNvGrpSpPr/>
          <p:nvPr/>
        </p:nvGrpSpPr>
        <p:grpSpPr>
          <a:xfrm>
            <a:off x="1736598" y="3288035"/>
            <a:ext cx="2673350" cy="2612390"/>
            <a:chOff x="1736598" y="3288035"/>
            <a:chExt cx="2673350" cy="2612390"/>
          </a:xfrm>
        </p:grpSpPr>
        <p:sp>
          <p:nvSpPr>
            <p:cNvPr id="155" name="Google Shape;155;p23"/>
            <p:cNvSpPr/>
            <p:nvPr/>
          </p:nvSpPr>
          <p:spPr>
            <a:xfrm>
              <a:off x="1736598" y="3288035"/>
              <a:ext cx="2673350" cy="2612390"/>
            </a:xfrm>
            <a:custGeom>
              <a:rect b="b" l="l" r="r" t="t"/>
              <a:pathLst>
                <a:path extrusionOk="0" h="2612390" w="2673350">
                  <a:moveTo>
                    <a:pt x="367677" y="0"/>
                  </a:moveTo>
                  <a:lnTo>
                    <a:pt x="0" y="0"/>
                  </a:lnTo>
                  <a:lnTo>
                    <a:pt x="0" y="2003602"/>
                  </a:lnTo>
                  <a:lnTo>
                    <a:pt x="1744941" y="2003602"/>
                  </a:lnTo>
                  <a:lnTo>
                    <a:pt x="1744941" y="2612136"/>
                  </a:lnTo>
                  <a:lnTo>
                    <a:pt x="2673096" y="1865858"/>
                  </a:lnTo>
                  <a:lnTo>
                    <a:pt x="1744941" y="1119466"/>
                  </a:lnTo>
                  <a:lnTo>
                    <a:pt x="1744941" y="1728000"/>
                  </a:lnTo>
                  <a:lnTo>
                    <a:pt x="367677" y="1728000"/>
                  </a:lnTo>
                  <a:lnTo>
                    <a:pt x="367677" y="0"/>
                  </a:lnTo>
                  <a:close/>
                </a:path>
              </a:pathLst>
            </a:custGeom>
            <a:solidFill>
              <a:srgbClr val="FFFF66"/>
            </a:solidFill>
            <a:ln>
              <a:noFill/>
            </a:ln>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156" name="Google Shape;156;p23"/>
            <p:cNvSpPr/>
            <p:nvPr/>
          </p:nvSpPr>
          <p:spPr>
            <a:xfrm>
              <a:off x="1736598" y="3288035"/>
              <a:ext cx="2673350" cy="2612390"/>
            </a:xfrm>
            <a:custGeom>
              <a:rect b="b" l="l" r="r" t="t"/>
              <a:pathLst>
                <a:path extrusionOk="0" h="2612390" w="2673350">
                  <a:moveTo>
                    <a:pt x="2673096" y="1865858"/>
                  </a:moveTo>
                  <a:lnTo>
                    <a:pt x="1744941" y="1119466"/>
                  </a:lnTo>
                  <a:lnTo>
                    <a:pt x="1744941" y="1728000"/>
                  </a:lnTo>
                  <a:lnTo>
                    <a:pt x="367677" y="1728000"/>
                  </a:lnTo>
                  <a:lnTo>
                    <a:pt x="367677" y="0"/>
                  </a:lnTo>
                  <a:lnTo>
                    <a:pt x="0" y="0"/>
                  </a:lnTo>
                  <a:lnTo>
                    <a:pt x="0" y="2003602"/>
                  </a:lnTo>
                  <a:lnTo>
                    <a:pt x="1744941" y="2003602"/>
                  </a:lnTo>
                  <a:lnTo>
                    <a:pt x="1744941" y="2612136"/>
                  </a:lnTo>
                  <a:lnTo>
                    <a:pt x="2673096" y="1865858"/>
                  </a:lnTo>
                  <a:close/>
                </a:path>
              </a:pathLst>
            </a:custGeom>
            <a:noFill/>
            <a:ln cap="flat" cmpd="sng" w="25900">
              <a:solidFill>
                <a:srgbClr val="FFFFFF"/>
              </a:solidFill>
              <a:prstDash val="solid"/>
              <a:round/>
              <a:headEnd len="sm" w="sm" type="none"/>
              <a:tailEnd len="sm" w="sm" type="none"/>
            </a:ln>
          </p:spPr>
          <p:txBody>
            <a:bodyPr anchorCtr="0" anchor="t" bIns="0" lIns="0" spcFirstLastPara="1" rIns="0" wrap="square" tIns="0">
              <a:noAutofit/>
            </a:bodyPr>
            <a:lstStyle/>
            <a:p>
              <a:pPr indent="0" lvl="0" marL="0" rtl="0" algn="l">
                <a:spcBef>
                  <a:spcPts val="0"/>
                </a:spcBef>
                <a:spcAft>
                  <a:spcPts val="0"/>
                </a:spcAft>
                <a:buNone/>
              </a:pPr>
              <a:r>
                <a:t/>
              </a:r>
              <a:endParaRPr/>
            </a:p>
          </p:txBody>
        </p:sp>
      </p:grpSp>
      <p:sp>
        <p:nvSpPr>
          <p:cNvPr id="157" name="Google Shape;157;p23"/>
          <p:cNvSpPr txBox="1"/>
          <p:nvPr/>
        </p:nvSpPr>
        <p:spPr>
          <a:xfrm>
            <a:off x="5419726" y="3695093"/>
            <a:ext cx="947419"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Proyección</a:t>
            </a:r>
            <a:endParaRPr sz="1600">
              <a:latin typeface="Calibri"/>
              <a:ea typeface="Calibri"/>
              <a:cs typeface="Calibri"/>
              <a:sym typeface="Calibri"/>
            </a:endParaRPr>
          </a:p>
        </p:txBody>
      </p:sp>
      <p:sp>
        <p:nvSpPr>
          <p:cNvPr id="158" name="Google Shape;158;p23"/>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159" name="Google Shape;159;p2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60" name="Google Shape;160;p2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61" name="Google Shape;161;p23"/>
          <p:cNvSpPr txBox="1"/>
          <p:nvPr/>
        </p:nvSpPr>
        <p:spPr>
          <a:xfrm>
            <a:off x="3493341" y="5027792"/>
            <a:ext cx="816610"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Selección</a:t>
            </a:r>
            <a:endParaRPr sz="1600">
              <a:latin typeface="Calibri"/>
              <a:ea typeface="Calibri"/>
              <a:cs typeface="Calibri"/>
              <a:sym typeface="Calibri"/>
            </a:endParaRPr>
          </a:p>
        </p:txBody>
      </p:sp>
      <p:sp>
        <p:nvSpPr>
          <p:cNvPr id="162" name="Google Shape;162;p23"/>
          <p:cNvSpPr txBox="1"/>
          <p:nvPr/>
        </p:nvSpPr>
        <p:spPr>
          <a:xfrm>
            <a:off x="4593335" y="4593335"/>
            <a:ext cx="4017645" cy="1248410"/>
          </a:xfrm>
          <a:prstGeom prst="rect">
            <a:avLst/>
          </a:prstGeom>
          <a:solidFill>
            <a:srgbClr val="9DBDC4">
              <a:alpha val="49804"/>
            </a:srgbClr>
          </a:solidFill>
          <a:ln>
            <a:noFill/>
          </a:ln>
        </p:spPr>
        <p:txBody>
          <a:bodyPr anchorCtr="0" anchor="t" bIns="0" lIns="0" spcFirstLastPara="1" rIns="0" wrap="square" tIns="19675">
            <a:spAutoFit/>
          </a:bodyPr>
          <a:lstStyle/>
          <a:p>
            <a:pPr indent="0" lvl="0" marL="71755" marR="2025014" rtl="0" algn="l">
              <a:lnSpc>
                <a:spcPct val="105000"/>
              </a:lnSpc>
              <a:spcBef>
                <a:spcPts val="0"/>
              </a:spcBef>
              <a:spcAft>
                <a:spcPts val="0"/>
              </a:spcAft>
              <a:buNone/>
            </a:pPr>
            <a:r>
              <a:rPr b="1" lang="en-US" sz="1800">
                <a:solidFill>
                  <a:srgbClr val="4E3629"/>
                </a:solidFill>
                <a:latin typeface="Courier New"/>
                <a:ea typeface="Courier New"/>
                <a:cs typeface="Courier New"/>
                <a:sym typeface="Courier New"/>
              </a:rPr>
              <a:t>SELECT salary FROM employees</a:t>
            </a:r>
            <a:endParaRPr sz="1800">
              <a:latin typeface="Courier New"/>
              <a:ea typeface="Courier New"/>
              <a:cs typeface="Courier New"/>
              <a:sym typeface="Courier New"/>
            </a:endParaRPr>
          </a:p>
          <a:p>
            <a:pPr indent="0" lvl="0" marL="71755" marR="1206500" rtl="0" algn="l">
              <a:lnSpc>
                <a:spcPct val="100000"/>
              </a:lnSpc>
              <a:spcBef>
                <a:spcPts val="110"/>
              </a:spcBef>
              <a:spcAft>
                <a:spcPts val="0"/>
              </a:spcAft>
              <a:buNone/>
            </a:pPr>
            <a:r>
              <a:rPr b="1" lang="en-US" sz="1800">
                <a:solidFill>
                  <a:srgbClr val="4E3629"/>
                </a:solidFill>
                <a:latin typeface="Courier New"/>
                <a:ea typeface="Courier New"/>
                <a:cs typeface="Courier New"/>
                <a:sym typeface="Courier New"/>
              </a:rPr>
              <a:t>WHERE last_name LIKE 'Smith';</a:t>
            </a:r>
            <a:endParaRPr sz="1800">
              <a:latin typeface="Courier New"/>
              <a:ea typeface="Courier New"/>
              <a:cs typeface="Courier New"/>
              <a:sym typeface="Courier New"/>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24"/>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Selección de Todas las Columnas</a:t>
            </a:r>
            <a:endParaRPr/>
          </a:p>
        </p:txBody>
      </p:sp>
      <p:sp>
        <p:nvSpPr>
          <p:cNvPr id="168" name="Google Shape;168;p24"/>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169" name="Google Shape;169;p2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70" name="Google Shape;170;p2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71" name="Google Shape;171;p24"/>
          <p:cNvSpPr txBox="1"/>
          <p:nvPr/>
        </p:nvSpPr>
        <p:spPr>
          <a:xfrm>
            <a:off x="483552" y="1415417"/>
            <a:ext cx="8157209" cy="122047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Puede mostrar todas las columnas de datos de una 	tabla mediante el uso de un símbolo de asterisco (*) en 	lugar de un nombre de columna en la cláusula SELECT</a:t>
            </a:r>
            <a:endParaRPr sz="2800">
              <a:latin typeface="Calibri"/>
              <a:ea typeface="Calibri"/>
              <a:cs typeface="Calibri"/>
              <a:sym typeface="Calibri"/>
            </a:endParaRPr>
          </a:p>
        </p:txBody>
      </p:sp>
      <p:sp>
        <p:nvSpPr>
          <p:cNvPr id="172" name="Google Shape;172;p24"/>
          <p:cNvSpPr txBox="1"/>
          <p:nvPr/>
        </p:nvSpPr>
        <p:spPr>
          <a:xfrm>
            <a:off x="483552" y="2669669"/>
            <a:ext cx="3113405" cy="1604645"/>
          </a:xfrm>
          <a:prstGeom prst="rect">
            <a:avLst/>
          </a:prstGeom>
          <a:noFill/>
          <a:ln>
            <a:noFill/>
          </a:ln>
        </p:spPr>
        <p:txBody>
          <a:bodyPr anchorCtr="0" anchor="t" bIns="0" lIns="0" spcFirstLastPara="1" rIns="0" wrap="square" tIns="59675">
            <a:spAutoFit/>
          </a:bodyPr>
          <a:lstStyle/>
          <a:p>
            <a:pPr indent="-177800" lvl="0" marL="182880" marR="6096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el ejemplo, 	están seleccionadas 	todas las columnas</a:t>
            </a:r>
            <a:endParaRPr sz="2800">
              <a:latin typeface="Calibri"/>
              <a:ea typeface="Calibri"/>
              <a:cs typeface="Calibri"/>
              <a:sym typeface="Calibri"/>
            </a:endParaRPr>
          </a:p>
          <a:p>
            <a:pPr indent="0" lvl="0" marL="184785" rtl="0" algn="l">
              <a:lnSpc>
                <a:spcPct val="106071"/>
              </a:lnSpc>
              <a:spcBef>
                <a:spcPts val="0"/>
              </a:spcBef>
              <a:spcAft>
                <a:spcPts val="0"/>
              </a:spcAft>
              <a:buNone/>
            </a:pPr>
            <a:r>
              <a:rPr lang="en-US" sz="2800">
                <a:solidFill>
                  <a:srgbClr val="4E3629"/>
                </a:solidFill>
                <a:latin typeface="Calibri"/>
                <a:ea typeface="Calibri"/>
                <a:cs typeface="Calibri"/>
                <a:sym typeface="Calibri"/>
              </a:rPr>
              <a:t>de la tabla de países</a:t>
            </a:r>
            <a:endParaRPr sz="2800">
              <a:latin typeface="Calibri"/>
              <a:ea typeface="Calibri"/>
              <a:cs typeface="Calibri"/>
              <a:sym typeface="Calibri"/>
            </a:endParaRPr>
          </a:p>
        </p:txBody>
      </p:sp>
      <p:graphicFrame>
        <p:nvGraphicFramePr>
          <p:cNvPr id="173" name="Google Shape;173;p24"/>
          <p:cNvGraphicFramePr/>
          <p:nvPr/>
        </p:nvGraphicFramePr>
        <p:xfrm>
          <a:off x="3721420" y="3865990"/>
          <a:ext cx="3000000" cy="3000000"/>
        </p:xfrm>
        <a:graphic>
          <a:graphicData uri="http://schemas.openxmlformats.org/drawingml/2006/table">
            <a:tbl>
              <a:tblPr bandRow="1" firstRow="1">
                <a:noFill/>
                <a:tableStyleId>{A01E2943-91DE-4DD6-BB2F-5FCA573F5628}</a:tableStyleId>
              </a:tblPr>
              <a:tblGrid>
                <a:gridCol w="1344925"/>
                <a:gridCol w="2427600"/>
                <a:gridCol w="1186825"/>
              </a:tblGrid>
              <a:tr h="4559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COUNTRY_ID</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COUNTRY_NAME</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REGION_ID</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4559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CA</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Canada</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559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Germany</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559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UK</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United Kingdom</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559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US</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United States of America</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74" name="Google Shape;174;p24"/>
          <p:cNvSpPr txBox="1"/>
          <p:nvPr/>
        </p:nvSpPr>
        <p:spPr>
          <a:xfrm>
            <a:off x="3727703" y="2897123"/>
            <a:ext cx="4959350" cy="612775"/>
          </a:xfrm>
          <a:prstGeom prst="rect">
            <a:avLst/>
          </a:prstGeom>
          <a:solidFill>
            <a:srgbClr val="9DBDC4">
              <a:alpha val="49804"/>
            </a:srgbClr>
          </a:solidFill>
          <a:ln>
            <a:noFill/>
          </a:ln>
        </p:spPr>
        <p:txBody>
          <a:bodyPr anchorCtr="0" anchor="t" bIns="0" lIns="0" spcFirstLastPara="1" rIns="0" wrap="square" tIns="0">
            <a:spAutoFit/>
          </a:bodyPr>
          <a:lstStyle/>
          <a:p>
            <a:pPr indent="0" lvl="0" marL="71755" rtl="0" algn="l">
              <a:lnSpc>
                <a:spcPct val="119166"/>
              </a:lnSpc>
              <a:spcBef>
                <a:spcPts val="0"/>
              </a:spcBef>
              <a:spcAft>
                <a:spcPts val="0"/>
              </a:spcAft>
              <a:buNone/>
            </a:pPr>
            <a:r>
              <a:rPr b="1" lang="en-US" sz="1800">
                <a:solidFill>
                  <a:srgbClr val="4E3629"/>
                </a:solidFill>
                <a:latin typeface="Courier New"/>
                <a:ea typeface="Courier New"/>
                <a:cs typeface="Courier New"/>
                <a:sym typeface="Courier New"/>
              </a:rPr>
              <a:t>SELECT *</a:t>
            </a:r>
            <a:endParaRPr sz="1800">
              <a:latin typeface="Courier New"/>
              <a:ea typeface="Courier New"/>
              <a:cs typeface="Courier New"/>
              <a:sym typeface="Courier New"/>
            </a:endParaRPr>
          </a:p>
          <a:p>
            <a:pPr indent="0" lvl="0" marL="71755" rtl="0" algn="l">
              <a:lnSpc>
                <a:spcPct val="100000"/>
              </a:lnSpc>
              <a:spcBef>
                <a:spcPts val="105"/>
              </a:spcBef>
              <a:spcAft>
                <a:spcPts val="0"/>
              </a:spcAft>
              <a:buNone/>
            </a:pPr>
            <a:r>
              <a:rPr b="1" lang="en-US" sz="1800">
                <a:solidFill>
                  <a:srgbClr val="4E3629"/>
                </a:solidFill>
                <a:latin typeface="Courier New"/>
                <a:ea typeface="Courier New"/>
                <a:cs typeface="Courier New"/>
                <a:sym typeface="Courier New"/>
              </a:rPr>
              <a:t>FROM countries;</a:t>
            </a:r>
            <a:endParaRPr sz="1800">
              <a:latin typeface="Courier New"/>
              <a:ea typeface="Courier New"/>
              <a:cs typeface="Courier New"/>
              <a:sym typeface="Courier New"/>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Selección de Todas las Columnas</a:t>
            </a:r>
            <a:endParaRPr/>
          </a:p>
        </p:txBody>
      </p:sp>
      <p:sp>
        <p:nvSpPr>
          <p:cNvPr id="180" name="Google Shape;180;p25"/>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181" name="Google Shape;181;p2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82" name="Google Shape;182;p2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83" name="Google Shape;183;p25"/>
          <p:cNvSpPr txBox="1"/>
          <p:nvPr/>
        </p:nvSpPr>
        <p:spPr>
          <a:xfrm>
            <a:off x="483552" y="1415417"/>
            <a:ext cx="7526020" cy="836294"/>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También puede mostrar todas las columnas en una 	tabla enumerándolas individualmente</a:t>
            </a:r>
            <a:endParaRPr sz="2800">
              <a:latin typeface="Calibri"/>
              <a:ea typeface="Calibri"/>
              <a:cs typeface="Calibri"/>
              <a:sym typeface="Calibri"/>
            </a:endParaRPr>
          </a:p>
        </p:txBody>
      </p:sp>
      <p:graphicFrame>
        <p:nvGraphicFramePr>
          <p:cNvPr id="184" name="Google Shape;184;p25"/>
          <p:cNvGraphicFramePr/>
          <p:nvPr/>
        </p:nvGraphicFramePr>
        <p:xfrm>
          <a:off x="1724192" y="3287247"/>
          <a:ext cx="3000000" cy="3000000"/>
        </p:xfrm>
        <a:graphic>
          <a:graphicData uri="http://schemas.openxmlformats.org/drawingml/2006/table">
            <a:tbl>
              <a:tblPr bandRow="1" firstRow="1">
                <a:noFill/>
                <a:tableStyleId>{A01E2943-91DE-4DD6-BB2F-5FCA573F5628}</a:tableStyleId>
              </a:tblPr>
              <a:tblGrid>
                <a:gridCol w="1344925"/>
                <a:gridCol w="2427600"/>
                <a:gridCol w="1186825"/>
              </a:tblGrid>
              <a:tr h="4559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COUNTRY_ID</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COUNTRY_NAME</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REGION_ID</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4559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CA</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Canada</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559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Germany</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559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UK</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United Kingdom</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559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US</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United States of America</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933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85" name="Google Shape;185;p25"/>
          <p:cNvSpPr txBox="1"/>
          <p:nvPr/>
        </p:nvSpPr>
        <p:spPr>
          <a:xfrm>
            <a:off x="405384" y="2342388"/>
            <a:ext cx="8345805" cy="673735"/>
          </a:xfrm>
          <a:prstGeom prst="rect">
            <a:avLst/>
          </a:prstGeom>
          <a:solidFill>
            <a:srgbClr val="9DBDC4">
              <a:alpha val="49804"/>
            </a:srgbClr>
          </a:solidFill>
          <a:ln>
            <a:noFill/>
          </a:ln>
        </p:spPr>
        <p:txBody>
          <a:bodyPr anchorCtr="0" anchor="t" bIns="0" lIns="0" spcFirstLastPara="1" rIns="0" wrap="square" tIns="13950">
            <a:spAutoFit/>
          </a:bodyPr>
          <a:lstStyle/>
          <a:p>
            <a:pPr indent="0" lvl="0" marL="71120" marR="2533015" rtl="0" algn="l">
              <a:lnSpc>
                <a:spcPct val="105000"/>
              </a:lnSpc>
              <a:spcBef>
                <a:spcPts val="0"/>
              </a:spcBef>
              <a:spcAft>
                <a:spcPts val="0"/>
              </a:spcAft>
              <a:buNone/>
            </a:pPr>
            <a:r>
              <a:rPr b="1" lang="en-US" sz="1800">
                <a:solidFill>
                  <a:srgbClr val="4E3629"/>
                </a:solidFill>
                <a:latin typeface="Courier New"/>
                <a:ea typeface="Courier New"/>
                <a:cs typeface="Courier New"/>
                <a:sym typeface="Courier New"/>
              </a:rPr>
              <a:t>SELECT country_id, country_name, region_id FROM countries;</a:t>
            </a:r>
            <a:endParaRPr sz="1800">
              <a:latin typeface="Courier New"/>
              <a:ea typeface="Courier New"/>
              <a:cs typeface="Courier New"/>
              <a:sym typeface="Courier New"/>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26"/>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Proyección de Columnas Concretas</a:t>
            </a:r>
            <a:endParaRPr/>
          </a:p>
        </p:txBody>
      </p:sp>
      <p:sp>
        <p:nvSpPr>
          <p:cNvPr id="191" name="Google Shape;191;p26"/>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192" name="Google Shape;192;p2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193" name="Google Shape;193;p2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194" name="Google Shape;194;p26"/>
          <p:cNvSpPr txBox="1"/>
          <p:nvPr/>
        </p:nvSpPr>
        <p:spPr>
          <a:xfrm>
            <a:off x="483552" y="1415417"/>
            <a:ext cx="7828280" cy="19888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desea PROYECTAR para que solo se muestren las 	columnas específicas de una tabla, simplemente 	enumere cada uno de los nombres de las columnas 	que desee y separe cada nombre con una coma en la 	cláusula SELECT</a:t>
            </a:r>
            <a:endParaRPr sz="2800">
              <a:latin typeface="Calibri"/>
              <a:ea typeface="Calibri"/>
              <a:cs typeface="Calibri"/>
              <a:sym typeface="Calibri"/>
            </a:endParaRPr>
          </a:p>
        </p:txBody>
      </p:sp>
      <p:graphicFrame>
        <p:nvGraphicFramePr>
          <p:cNvPr id="195" name="Google Shape;195;p26"/>
          <p:cNvGraphicFramePr/>
          <p:nvPr/>
        </p:nvGraphicFramePr>
        <p:xfrm>
          <a:off x="1847606" y="4344822"/>
          <a:ext cx="3000000" cy="3000000"/>
        </p:xfrm>
        <a:graphic>
          <a:graphicData uri="http://schemas.openxmlformats.org/drawingml/2006/table">
            <a:tbl>
              <a:tblPr bandRow="1" firstRow="1">
                <a:noFill/>
                <a:tableStyleId>{A01E2943-91DE-4DD6-BB2F-5FCA573F5628}</a:tableStyleId>
              </a:tblPr>
              <a:tblGrid>
                <a:gridCol w="1757050"/>
                <a:gridCol w="1757050"/>
                <a:gridCol w="1757050"/>
              </a:tblGrid>
              <a:tr h="263525">
                <a:tc>
                  <a:txBody>
                    <a:bodyPr/>
                    <a:lstStyle/>
                    <a:p>
                      <a:pPr indent="0" lvl="0" marL="71755" marR="0" rtl="0" algn="l">
                        <a:lnSpc>
                          <a:spcPct val="118750"/>
                        </a:lnSpc>
                        <a:spcBef>
                          <a:spcPts val="0"/>
                        </a:spcBef>
                        <a:spcAft>
                          <a:spcPts val="0"/>
                        </a:spcAft>
                        <a:buNone/>
                      </a:pPr>
                      <a:r>
                        <a:rPr b="1" lang="en-US" sz="1600" u="none" cap="none" strike="noStrike">
                          <a:solidFill>
                            <a:srgbClr val="4E3629"/>
                          </a:solidFill>
                          <a:latin typeface="Calibri"/>
                          <a:ea typeface="Calibri"/>
                          <a:cs typeface="Calibri"/>
                          <a:sym typeface="Calibri"/>
                        </a:rPr>
                        <a:t>LOCATION_ID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8750"/>
                        </a:lnSpc>
                        <a:spcBef>
                          <a:spcPts val="0"/>
                        </a:spcBef>
                        <a:spcAft>
                          <a:spcPts val="0"/>
                        </a:spcAft>
                        <a:buNone/>
                      </a:pPr>
                      <a:r>
                        <a:rPr b="1" lang="en-US" sz="1600" u="none" cap="none" strike="noStrike">
                          <a:solidFill>
                            <a:srgbClr val="4E3629"/>
                          </a:solidFill>
                          <a:latin typeface="Calibri"/>
                          <a:ea typeface="Calibri"/>
                          <a:cs typeface="Calibri"/>
                          <a:sym typeface="Calibri"/>
                        </a:rPr>
                        <a:t>CITY</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18750"/>
                        </a:lnSpc>
                        <a:spcBef>
                          <a:spcPts val="0"/>
                        </a:spcBef>
                        <a:spcAft>
                          <a:spcPts val="0"/>
                        </a:spcAft>
                        <a:buNone/>
                      </a:pPr>
                      <a:r>
                        <a:rPr b="1" lang="en-US" sz="1600" u="none" cap="none" strike="noStrike">
                          <a:solidFill>
                            <a:srgbClr val="4E3629"/>
                          </a:solidFill>
                          <a:latin typeface="Calibri"/>
                          <a:ea typeface="Calibri"/>
                          <a:cs typeface="Calibri"/>
                          <a:sym typeface="Calibri"/>
                        </a:rPr>
                        <a:t>STATE_PROVINCE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63525">
                <a:tc>
                  <a:txBody>
                    <a:bodyPr/>
                    <a:lstStyle/>
                    <a:p>
                      <a:pPr indent="0" lvl="0" marL="71755"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1800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Toronto</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Ontario</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3525">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2500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Oxford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Oxford</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3525">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1400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Southlake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Texas</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3525">
                <a:tc>
                  <a:txBody>
                    <a:bodyPr/>
                    <a:lstStyle/>
                    <a:p>
                      <a:pPr indent="0" lvl="0" marL="71120"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1500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South San Francisco</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California</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63525">
                <a:tc>
                  <a:txBody>
                    <a:bodyPr/>
                    <a:lstStyle/>
                    <a:p>
                      <a:pPr indent="0" lvl="0" marL="70485"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1700</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Seattle</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18750"/>
                        </a:lnSpc>
                        <a:spcBef>
                          <a:spcPts val="0"/>
                        </a:spcBef>
                        <a:spcAft>
                          <a:spcPts val="0"/>
                        </a:spcAft>
                        <a:buNone/>
                      </a:pPr>
                      <a:r>
                        <a:rPr lang="en-US" sz="1600" u="none" cap="none" strike="noStrike">
                          <a:solidFill>
                            <a:srgbClr val="4E3629"/>
                          </a:solidFill>
                          <a:latin typeface="Calibri"/>
                          <a:ea typeface="Calibri"/>
                          <a:cs typeface="Calibri"/>
                          <a:sym typeface="Calibri"/>
                        </a:rPr>
                        <a:t>Washington</a:t>
                      </a:r>
                      <a:endParaRPr sz="16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196" name="Google Shape;196;p26"/>
          <p:cNvSpPr txBox="1"/>
          <p:nvPr/>
        </p:nvSpPr>
        <p:spPr>
          <a:xfrm>
            <a:off x="405384" y="3582923"/>
            <a:ext cx="8071484" cy="546100"/>
          </a:xfrm>
          <a:prstGeom prst="rect">
            <a:avLst/>
          </a:prstGeom>
          <a:solidFill>
            <a:srgbClr val="9DBDC4">
              <a:alpha val="49804"/>
            </a:srgbClr>
          </a:solidFill>
          <a:ln>
            <a:noFill/>
          </a:ln>
        </p:spPr>
        <p:txBody>
          <a:bodyPr anchorCtr="0" anchor="t" bIns="0" lIns="0" spcFirstLastPara="1" rIns="0" wrap="square" tIns="0">
            <a:spAutoFit/>
          </a:bodyPr>
          <a:lstStyle/>
          <a:p>
            <a:pPr indent="0" lvl="0" marL="71120" rtl="0" algn="l">
              <a:lnSpc>
                <a:spcPct val="104444"/>
              </a:lnSpc>
              <a:spcBef>
                <a:spcPts val="0"/>
              </a:spcBef>
              <a:spcAft>
                <a:spcPts val="0"/>
              </a:spcAft>
              <a:buNone/>
            </a:pPr>
            <a:r>
              <a:rPr b="1" lang="en-US" sz="1800">
                <a:solidFill>
                  <a:srgbClr val="4E3629"/>
                </a:solidFill>
                <a:latin typeface="Courier New"/>
                <a:ea typeface="Courier New"/>
                <a:cs typeface="Courier New"/>
                <a:sym typeface="Courier New"/>
              </a:rPr>
              <a:t>SELECT location_id, city, state_province</a:t>
            </a:r>
            <a:endParaRPr sz="1800">
              <a:latin typeface="Courier New"/>
              <a:ea typeface="Courier New"/>
              <a:cs typeface="Courier New"/>
              <a:sym typeface="Courier New"/>
            </a:endParaRPr>
          </a:p>
          <a:p>
            <a:pPr indent="0" lvl="0" marL="71120" rtl="0" algn="l">
              <a:lnSpc>
                <a:spcPct val="100000"/>
              </a:lnSpc>
              <a:spcBef>
                <a:spcPts val="105"/>
              </a:spcBef>
              <a:spcAft>
                <a:spcPts val="0"/>
              </a:spcAft>
              <a:buNone/>
            </a:pPr>
            <a:r>
              <a:rPr b="1" lang="en-US" sz="1800">
                <a:solidFill>
                  <a:srgbClr val="4E3629"/>
                </a:solidFill>
                <a:latin typeface="Courier New"/>
                <a:ea typeface="Courier New"/>
                <a:cs typeface="Courier New"/>
                <a:sym typeface="Courier New"/>
              </a:rPr>
              <a:t>FROM locations;</a:t>
            </a:r>
            <a:endParaRPr sz="1800">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27"/>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Operadores Aritméticos</a:t>
            </a:r>
            <a:endParaRPr/>
          </a:p>
        </p:txBody>
      </p:sp>
      <p:sp>
        <p:nvSpPr>
          <p:cNvPr id="202" name="Google Shape;202;p27"/>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03" name="Google Shape;203;p2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04" name="Google Shape;204;p2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05" name="Google Shape;205;p27"/>
          <p:cNvSpPr txBox="1"/>
          <p:nvPr>
            <p:ph idx="1" type="body"/>
          </p:nvPr>
        </p:nvSpPr>
        <p:spPr>
          <a:xfrm>
            <a:off x="483552" y="1387985"/>
            <a:ext cx="8122800" cy="5044800"/>
          </a:xfrm>
          <a:prstGeom prst="rect">
            <a:avLst/>
          </a:prstGeom>
          <a:noFill/>
          <a:ln>
            <a:noFill/>
          </a:ln>
        </p:spPr>
        <p:txBody>
          <a:bodyPr anchorCtr="0" anchor="t" bIns="0" lIns="0" spcFirstLastPara="1" rIns="0" wrap="square" tIns="59675">
            <a:spAutoFit/>
          </a:bodyPr>
          <a:lstStyle/>
          <a:p>
            <a:pPr indent="-177800" lvl="0" marL="182880" marR="106045" rtl="0" algn="l">
              <a:lnSpc>
                <a:spcPct val="108214"/>
              </a:lnSpc>
              <a:spcBef>
                <a:spcPts val="0"/>
              </a:spcBef>
              <a:spcAft>
                <a:spcPts val="0"/>
              </a:spcAft>
              <a:buClr>
                <a:srgbClr val="D1350F"/>
              </a:buClr>
              <a:buSzPts val="2800"/>
              <a:buFont typeface="Arial"/>
              <a:buChar char="•"/>
            </a:pPr>
            <a:r>
              <a:rPr lang="en-US"/>
              <a:t>Con unas sencillas reglas y directrices, puede construir 	sentencias SQL que sean fáciles de leer y de editar</a:t>
            </a:r>
            <a:endParaRPr/>
          </a:p>
          <a:p>
            <a:pPr indent="-177800" lvl="0" marL="182880" marR="237490" rtl="0" algn="l">
              <a:lnSpc>
                <a:spcPct val="108214"/>
              </a:lnSpc>
              <a:spcBef>
                <a:spcPts val="795"/>
              </a:spcBef>
              <a:spcAft>
                <a:spcPts val="0"/>
              </a:spcAft>
              <a:buClr>
                <a:srgbClr val="D1350F"/>
              </a:buClr>
              <a:buSzPts val="2800"/>
              <a:buFont typeface="Arial"/>
              <a:buChar char="•"/>
            </a:pPr>
            <a:r>
              <a:rPr lang="en-US"/>
              <a:t>Conocer las reglas hará que el aprendizaje de SQL sea 	más fácil</a:t>
            </a:r>
            <a:endParaRPr/>
          </a:p>
          <a:p>
            <a:pPr indent="-177800" lvl="0" marL="182880" marR="576580" rtl="0" algn="l">
              <a:lnSpc>
                <a:spcPct val="108214"/>
              </a:lnSpc>
              <a:spcBef>
                <a:spcPts val="790"/>
              </a:spcBef>
              <a:spcAft>
                <a:spcPts val="0"/>
              </a:spcAft>
              <a:buClr>
                <a:srgbClr val="D1350F"/>
              </a:buClr>
              <a:buSzPts val="2800"/>
              <a:buFont typeface="Arial"/>
              <a:buChar char="•"/>
            </a:pPr>
            <a:r>
              <a:rPr lang="en-US"/>
              <a:t>Puede que necesite modificar la forma en la que se 	muestran los datos, realizar cálculos o consultar 	supuestos de posibilidades</a:t>
            </a:r>
            <a:endParaRPr/>
          </a:p>
          <a:p>
            <a:pPr indent="-177800" lvl="0" marL="182880" marR="471170" rtl="0" algn="l">
              <a:lnSpc>
                <a:spcPct val="108214"/>
              </a:lnSpc>
              <a:spcBef>
                <a:spcPts val="775"/>
              </a:spcBef>
              <a:spcAft>
                <a:spcPts val="0"/>
              </a:spcAft>
              <a:buClr>
                <a:srgbClr val="D1350F"/>
              </a:buClr>
              <a:buSzPts val="2800"/>
              <a:buFont typeface="Arial"/>
              <a:buChar char="•"/>
            </a:pPr>
            <a:r>
              <a:rPr lang="en-US"/>
              <a:t>Por ejemplo, "¿qué pasaría si a cada empleado se le 	elevara el sueldo un 5 %?</a:t>
            </a:r>
            <a:endParaRPr/>
          </a:p>
          <a:p>
            <a:pPr indent="-177800" lvl="0" marL="183515" rtl="0" algn="l">
              <a:lnSpc>
                <a:spcPct val="100000"/>
              </a:lnSpc>
              <a:spcBef>
                <a:spcPts val="415"/>
              </a:spcBef>
              <a:spcAft>
                <a:spcPts val="1200"/>
              </a:spcAft>
              <a:buClr>
                <a:srgbClr val="D1350F"/>
              </a:buClr>
              <a:buSzPts val="2800"/>
              <a:buFont typeface="Arial"/>
              <a:buChar char="•"/>
            </a:pPr>
            <a:r>
              <a:rPr lang="en-US"/>
              <a:t>¿Cómo afectaría eso a sus cifras de beneficio anuales?"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8"/>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Operadores Aritméticos</a:t>
            </a:r>
            <a:endParaRPr/>
          </a:p>
        </p:txBody>
      </p:sp>
      <p:sp>
        <p:nvSpPr>
          <p:cNvPr id="211" name="Google Shape;211;p28"/>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12" name="Google Shape;212;p2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13" name="Google Shape;213;p2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14" name="Google Shape;214;p28"/>
          <p:cNvSpPr txBox="1"/>
          <p:nvPr>
            <p:ph idx="1" type="body"/>
          </p:nvPr>
        </p:nvSpPr>
        <p:spPr>
          <a:xfrm>
            <a:off x="483552" y="1387985"/>
            <a:ext cx="8122800" cy="4909800"/>
          </a:xfrm>
          <a:prstGeom prst="rect">
            <a:avLst/>
          </a:prstGeom>
          <a:noFill/>
          <a:ln>
            <a:noFill/>
          </a:ln>
        </p:spPr>
        <p:txBody>
          <a:bodyPr anchorCtr="0" anchor="t" bIns="0" lIns="0" spcFirstLastPara="1" rIns="0" wrap="square" tIns="59675">
            <a:spAutoFit/>
          </a:bodyPr>
          <a:lstStyle/>
          <a:p>
            <a:pPr indent="-177800" lvl="0" marL="182880" marR="944880" rtl="0" algn="l">
              <a:lnSpc>
                <a:spcPct val="108214"/>
              </a:lnSpc>
              <a:spcBef>
                <a:spcPts val="0"/>
              </a:spcBef>
              <a:spcAft>
                <a:spcPts val="0"/>
              </a:spcAft>
              <a:buClr>
                <a:srgbClr val="D1350F"/>
              </a:buClr>
              <a:buSzPts val="2800"/>
              <a:buFont typeface="Arial"/>
              <a:buChar char="•"/>
            </a:pPr>
            <a:r>
              <a:rPr lang="en-US"/>
              <a:t>Estos tipos de cálculos son posibles mediante las 	expresiones aritméticas</a:t>
            </a:r>
            <a:endParaRPr/>
          </a:p>
          <a:p>
            <a:pPr indent="-177800" lvl="0" marL="182880" marR="5080" rtl="0" algn="l">
              <a:lnSpc>
                <a:spcPct val="108214"/>
              </a:lnSpc>
              <a:spcBef>
                <a:spcPts val="795"/>
              </a:spcBef>
              <a:spcAft>
                <a:spcPts val="0"/>
              </a:spcAft>
              <a:buClr>
                <a:srgbClr val="D1350F"/>
              </a:buClr>
              <a:buSzPts val="2800"/>
              <a:buFont typeface="Arial"/>
              <a:buChar char="•"/>
            </a:pPr>
            <a:r>
              <a:rPr lang="en-US"/>
              <a:t>Ya está familiarizado con las expresiones aritméticas de 	matemáticas:</a:t>
            </a:r>
            <a:endParaRPr/>
          </a:p>
          <a:p>
            <a:pPr indent="0" lvl="0" marL="355600" rtl="0" algn="l">
              <a:lnSpc>
                <a:spcPct val="100000"/>
              </a:lnSpc>
              <a:spcBef>
                <a:spcPts val="80"/>
              </a:spcBef>
              <a:spcAft>
                <a:spcPts val="0"/>
              </a:spcAft>
              <a:buNone/>
            </a:pPr>
            <a:r>
              <a:rPr lang="en-US" sz="2400">
                <a:solidFill>
                  <a:srgbClr val="D1350F"/>
                </a:solidFill>
              </a:rPr>
              <a:t>−</a:t>
            </a:r>
            <a:r>
              <a:rPr lang="en-US" sz="2400"/>
              <a:t>sumar (+), restar (-) , multiplicar (*) y dividir (/)</a:t>
            </a:r>
            <a:endParaRPr sz="2400"/>
          </a:p>
          <a:p>
            <a:pPr indent="-177800" lvl="0" marL="182880" marR="245110" rtl="0" algn="l">
              <a:lnSpc>
                <a:spcPct val="108214"/>
              </a:lnSpc>
              <a:spcBef>
                <a:spcPts val="820"/>
              </a:spcBef>
              <a:spcAft>
                <a:spcPts val="0"/>
              </a:spcAft>
              <a:buClr>
                <a:srgbClr val="D1350F"/>
              </a:buClr>
              <a:buSzPts val="2800"/>
              <a:buFont typeface="Arial"/>
              <a:buChar char="•"/>
            </a:pPr>
            <a:r>
              <a:rPr lang="en-US"/>
              <a:t>Tenga en cuenta que este ejemplo no crea nuevas 	columnas en las tablas ni cambia los valores reales de 	los datos</a:t>
            </a:r>
            <a:endParaRPr/>
          </a:p>
          <a:p>
            <a:pPr indent="-177800" lvl="0" marL="182880" marR="568325" rtl="0" algn="l">
              <a:lnSpc>
                <a:spcPct val="108214"/>
              </a:lnSpc>
              <a:spcBef>
                <a:spcPts val="785"/>
              </a:spcBef>
              <a:spcAft>
                <a:spcPts val="1200"/>
              </a:spcAft>
              <a:buClr>
                <a:srgbClr val="D1350F"/>
              </a:buClr>
              <a:buSzPts val="2800"/>
              <a:buFont typeface="Arial"/>
              <a:buChar char="•"/>
            </a:pPr>
            <a:r>
              <a:rPr lang="en-US"/>
              <a:t>Los resultados de los cálculos solo aparecerán en la 	salida</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29"/>
          <p:cNvSpPr txBox="1"/>
          <p:nvPr>
            <p:ph type="title"/>
          </p:nvPr>
        </p:nvSpPr>
        <p:spPr>
          <a:xfrm>
            <a:off x="392112" y="748031"/>
            <a:ext cx="53511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Operadores Aritméticos</a:t>
            </a:r>
            <a:endParaRPr/>
          </a:p>
        </p:txBody>
      </p:sp>
      <p:sp>
        <p:nvSpPr>
          <p:cNvPr id="220" name="Google Shape;220;p29"/>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21" name="Google Shape;221;p2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22" name="Google Shape;222;p2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23" name="Google Shape;223;p29"/>
          <p:cNvSpPr txBox="1"/>
          <p:nvPr/>
        </p:nvSpPr>
        <p:spPr>
          <a:xfrm>
            <a:off x="483552" y="1415417"/>
            <a:ext cx="4455795" cy="439483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El ejemplo que se muestra 	utiliza el operador de suma 	para calcular un aumento de 	sueldo de 300 para todos los 	empleados y muestra una 	nueva columna, SALARY+300, 	en la salida</a:t>
            </a:r>
            <a:endParaRPr sz="2800">
              <a:latin typeface="Calibri"/>
              <a:ea typeface="Calibri"/>
              <a:cs typeface="Calibri"/>
              <a:sym typeface="Calibri"/>
            </a:endParaRPr>
          </a:p>
          <a:p>
            <a:pPr indent="-177800" lvl="0" marL="182880" marR="379730" rtl="0" algn="l">
              <a:lnSpc>
                <a:spcPct val="108214"/>
              </a:lnSpc>
              <a:spcBef>
                <a:spcPts val="76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Colocar espacios en blanco 	antes y después de un 	operador aritmético no 	afectará a la salida</a:t>
            </a:r>
            <a:endParaRPr sz="2800">
              <a:latin typeface="Calibri"/>
              <a:ea typeface="Calibri"/>
              <a:cs typeface="Calibri"/>
              <a:sym typeface="Calibri"/>
            </a:endParaRPr>
          </a:p>
        </p:txBody>
      </p:sp>
      <p:graphicFrame>
        <p:nvGraphicFramePr>
          <p:cNvPr id="224" name="Google Shape;224;p29"/>
          <p:cNvGraphicFramePr/>
          <p:nvPr/>
        </p:nvGraphicFramePr>
        <p:xfrm>
          <a:off x="5254104" y="1255522"/>
          <a:ext cx="3000000" cy="3000000"/>
        </p:xfrm>
        <a:graphic>
          <a:graphicData uri="http://schemas.openxmlformats.org/drawingml/2006/table">
            <a:tbl>
              <a:tblPr bandRow="1" firstRow="1">
                <a:noFill/>
                <a:tableStyleId>{A01E2943-91DE-4DD6-BB2F-5FCA573F5628}</a:tableStyleId>
              </a:tblPr>
              <a:tblGrid>
                <a:gridCol w="1289675"/>
                <a:gridCol w="907425"/>
                <a:gridCol w="1357000"/>
              </a:tblGrid>
              <a:tr h="902975">
                <a:tc gridSpan="3">
                  <a:txBody>
                    <a:bodyPr/>
                    <a:lstStyle/>
                    <a:p>
                      <a:pPr indent="0" lvl="0" marL="71755" marR="60325" rtl="0" algn="l">
                        <a:lnSpc>
                          <a:spcPct val="100000"/>
                        </a:lnSpc>
                        <a:spcBef>
                          <a:spcPts val="0"/>
                        </a:spcBef>
                        <a:spcAft>
                          <a:spcPts val="0"/>
                        </a:spcAft>
                        <a:buNone/>
                      </a:pPr>
                      <a:r>
                        <a:rPr b="1" lang="en-US" sz="1800" u="none" cap="none" strike="noStrike">
                          <a:solidFill>
                            <a:srgbClr val="4E3629"/>
                          </a:solidFill>
                          <a:latin typeface="Courier New"/>
                          <a:ea typeface="Courier New"/>
                          <a:cs typeface="Courier New"/>
                          <a:sym typeface="Courier New"/>
                        </a:rPr>
                        <a:t>SELECT last_name, salary, salary + 300</a:t>
                      </a:r>
                      <a:endParaRPr sz="1800" u="none" cap="none" strike="noStrike">
                        <a:latin typeface="Courier New"/>
                        <a:ea typeface="Courier New"/>
                        <a:cs typeface="Courier New"/>
                        <a:sym typeface="Courier New"/>
                      </a:endParaRPr>
                    </a:p>
                    <a:p>
                      <a:pPr indent="0" lvl="0" marL="71755" marR="0" rtl="0" algn="l">
                        <a:lnSpc>
                          <a:spcPct val="100000"/>
                        </a:lnSpc>
                        <a:spcBef>
                          <a:spcPts val="105"/>
                        </a:spcBef>
                        <a:spcAft>
                          <a:spcPts val="0"/>
                        </a:spcAft>
                        <a:buNone/>
                      </a:pPr>
                      <a:r>
                        <a:rPr b="1" lang="en-US" sz="1800" u="none" cap="none" strike="noStrike">
                          <a:solidFill>
                            <a:srgbClr val="4E3629"/>
                          </a:solidFill>
                          <a:latin typeface="Courier New"/>
                          <a:ea typeface="Courier New"/>
                          <a:cs typeface="Courier New"/>
                          <a:sym typeface="Courier New"/>
                        </a:rPr>
                        <a:t>FROM employees;</a:t>
                      </a:r>
                      <a:endParaRPr sz="1800" u="none" cap="none" strike="noStrike">
                        <a:latin typeface="Courier New"/>
                        <a:ea typeface="Courier New"/>
                        <a:cs typeface="Courier New"/>
                        <a:sym typeface="Courier New"/>
                      </a:endParaRPr>
                    </a:p>
                  </a:txBody>
                  <a:tcPr marT="4450" marB="0" marR="0" marL="0">
                    <a:lnB cap="flat" cmpd="sng" w="12700">
                      <a:solidFill>
                        <a:srgbClr val="D1350F"/>
                      </a:solidFill>
                      <a:prstDash val="solid"/>
                      <a:round/>
                      <a:headEnd len="sm" w="sm" type="none"/>
                      <a:tailEnd len="sm" w="sm" type="none"/>
                    </a:lnB>
                    <a:solidFill>
                      <a:srgbClr val="9DBDC4">
                        <a:alpha val="49804"/>
                      </a:srgbClr>
                    </a:solidFill>
                  </a:tcPr>
                </a:tc>
                <a:tc hMerge="1"/>
                <a:tc hMerge="1"/>
              </a:tr>
              <a:tr h="36512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4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4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SALARY+300</a:t>
                      </a:r>
                      <a:endParaRPr sz="1600" u="none" cap="none" strike="noStrike">
                        <a:latin typeface="Calibri"/>
                        <a:ea typeface="Calibri"/>
                        <a:cs typeface="Calibri"/>
                        <a:sym typeface="Calibri"/>
                      </a:endParaRPr>
                    </a:p>
                  </a:txBody>
                  <a:tcPr marT="48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24300</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17300</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17300</a:t>
                      </a:r>
                      <a:endParaRPr sz="1600" u="none" cap="none" strike="noStrike">
                        <a:latin typeface="Calibri"/>
                        <a:ea typeface="Calibri"/>
                        <a:cs typeface="Calibri"/>
                        <a:sym typeface="Calibri"/>
                      </a:endParaRPr>
                    </a:p>
                  </a:txBody>
                  <a:tcPr marT="647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4700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12000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12300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8600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Zlotkey</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10500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10800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11300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Taylor</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8600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8900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987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Grant</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7000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7300</a:t>
                      </a:r>
                      <a:endParaRPr sz="1600" u="none" cap="none" strike="noStrike">
                        <a:latin typeface="Calibri"/>
                        <a:ea typeface="Calibri"/>
                        <a:cs typeface="Calibri"/>
                        <a:sym typeface="Calibri"/>
                      </a:endParaRPr>
                    </a:p>
                  </a:txBody>
                  <a:tcPr marT="64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0"/>
          <p:cNvSpPr txBox="1"/>
          <p:nvPr>
            <p:ph type="title"/>
          </p:nvPr>
        </p:nvSpPr>
        <p:spPr>
          <a:xfrm>
            <a:off x="392112" y="748031"/>
            <a:ext cx="683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Prioridad de los Operadores Aritméticos</a:t>
            </a:r>
            <a:endParaRPr/>
          </a:p>
        </p:txBody>
      </p:sp>
      <p:sp>
        <p:nvSpPr>
          <p:cNvPr id="230" name="Google Shape;230;p30"/>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31" name="Google Shape;231;p3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32" name="Google Shape;232;p3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33" name="Google Shape;233;p30"/>
          <p:cNvSpPr txBox="1"/>
          <p:nvPr/>
        </p:nvSpPr>
        <p:spPr>
          <a:xfrm>
            <a:off x="483552" y="1415417"/>
            <a:ext cx="8105140" cy="2960370"/>
          </a:xfrm>
          <a:prstGeom prst="rect">
            <a:avLst/>
          </a:prstGeom>
          <a:noFill/>
          <a:ln>
            <a:noFill/>
          </a:ln>
        </p:spPr>
        <p:txBody>
          <a:bodyPr anchorCtr="0" anchor="t" bIns="0" lIns="0" spcFirstLastPara="1" rIns="0" wrap="square" tIns="59675">
            <a:spAutoFit/>
          </a:bodyPr>
          <a:lstStyle/>
          <a:p>
            <a:pPr indent="-177800" lvl="0" marL="182880" marR="57975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prioridad es el orden en el que Oracle evalúa los 	diferentes operadores en la misma expresión</a:t>
            </a:r>
            <a:endParaRPr sz="2800">
              <a:latin typeface="Calibri"/>
              <a:ea typeface="Calibri"/>
              <a:cs typeface="Calibri"/>
              <a:sym typeface="Calibri"/>
            </a:endParaRPr>
          </a:p>
          <a:p>
            <a:pPr indent="-177800" lvl="0" marL="182880" marR="508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Al evaluar una expresión con varios operadores, Oracle 	evalúa los operadores con mayor prioridad antes de 	evaluar los de menor prioridad</a:t>
            </a:r>
            <a:endParaRPr sz="2800">
              <a:latin typeface="Calibri"/>
              <a:ea typeface="Calibri"/>
              <a:cs typeface="Calibri"/>
              <a:sym typeface="Calibri"/>
            </a:endParaRPr>
          </a:p>
          <a:p>
            <a:pPr indent="-177800" lvl="0" marL="182880" marR="366395"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Oracle evalúa los operadores con la misma prioridad 	de izquierda a derecha dentro de una expresión</a:t>
            </a:r>
            <a:endParaRPr sz="2800">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1"/>
          <p:cNvSpPr txBox="1"/>
          <p:nvPr>
            <p:ph type="title"/>
          </p:nvPr>
        </p:nvSpPr>
        <p:spPr>
          <a:xfrm>
            <a:off x="392112" y="748031"/>
            <a:ext cx="683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Prioridad de los Operadores Aritméticos</a:t>
            </a:r>
            <a:endParaRPr/>
          </a:p>
        </p:txBody>
      </p:sp>
      <p:sp>
        <p:nvSpPr>
          <p:cNvPr id="239" name="Google Shape;239;p31"/>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40" name="Google Shape;240;p3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41" name="Google Shape;241;p3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42" name="Google Shape;242;p31"/>
          <p:cNvSpPr txBox="1"/>
          <p:nvPr/>
        </p:nvSpPr>
        <p:spPr>
          <a:xfrm>
            <a:off x="483552" y="1415417"/>
            <a:ext cx="8104505" cy="3061335"/>
          </a:xfrm>
          <a:prstGeom prst="rect">
            <a:avLst/>
          </a:prstGeom>
          <a:noFill/>
          <a:ln>
            <a:noFill/>
          </a:ln>
        </p:spPr>
        <p:txBody>
          <a:bodyPr anchorCtr="0" anchor="t" bIns="0" lIns="0" spcFirstLastPara="1" rIns="0" wrap="square" tIns="59675">
            <a:spAutoFit/>
          </a:bodyPr>
          <a:lstStyle/>
          <a:p>
            <a:pPr indent="-177800" lvl="0" marL="182880" marR="24765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operadores aritméticos realizan las operaciones 	matemáticas de multiplicación, división, suma y resta</a:t>
            </a:r>
            <a:endParaRPr sz="2800">
              <a:latin typeface="Calibri"/>
              <a:ea typeface="Calibri"/>
              <a:cs typeface="Calibri"/>
              <a:sym typeface="Calibri"/>
            </a:endParaRPr>
          </a:p>
          <a:p>
            <a:pPr indent="-177800" lvl="0" marL="182880" marR="6731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estos operadores aparecen juntos en una expresión, 	la multiplicación y la división se evaluarán primero.</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Por lo que el orden es: * / + -</a:t>
            </a:r>
            <a:endParaRPr sz="2800">
              <a:latin typeface="Calibri"/>
              <a:ea typeface="Calibri"/>
              <a:cs typeface="Calibri"/>
              <a:sym typeface="Calibri"/>
            </a:endParaRPr>
          </a:p>
          <a:p>
            <a:pPr indent="-177800" lvl="0" marL="182880" marR="5080" rtl="0" algn="l">
              <a:lnSpc>
                <a:spcPct val="108214"/>
              </a:lnSpc>
              <a:spcBef>
                <a:spcPts val="83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Una forma fácil recordar la prioridad de los operadores 	es la fórmula mnemotécnica: Mi Deuda Se Reduce</a:t>
            </a:r>
            <a:endParaRPr sz="2800">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2"/>
          <p:cNvSpPr txBox="1"/>
          <p:nvPr>
            <p:ph type="title"/>
          </p:nvPr>
        </p:nvSpPr>
        <p:spPr>
          <a:xfrm>
            <a:off x="392112" y="748031"/>
            <a:ext cx="683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Prioridad de los Operadores Aritméticos</a:t>
            </a:r>
            <a:endParaRPr/>
          </a:p>
        </p:txBody>
      </p:sp>
      <p:sp>
        <p:nvSpPr>
          <p:cNvPr id="248" name="Google Shape;248;p32"/>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49" name="Google Shape;249;p3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0" name="Google Shape;250;p32"/>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51" name="Google Shape;251;p32"/>
          <p:cNvSpPr txBox="1"/>
          <p:nvPr/>
        </p:nvSpPr>
        <p:spPr>
          <a:xfrm>
            <a:off x="483552" y="1415417"/>
            <a:ext cx="8104505" cy="3344545"/>
          </a:xfrm>
          <a:prstGeom prst="rect">
            <a:avLst/>
          </a:prstGeom>
          <a:noFill/>
          <a:ln>
            <a:noFill/>
          </a:ln>
        </p:spPr>
        <p:txBody>
          <a:bodyPr anchorCtr="0" anchor="t" bIns="0" lIns="0" spcFirstLastPara="1" rIns="0" wrap="square" tIns="59675">
            <a:spAutoFit/>
          </a:bodyPr>
          <a:lstStyle/>
          <a:p>
            <a:pPr indent="-177800" lvl="0" marL="182880" marR="51879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los operadores en una expresión tienen la misma 	prioridad, la evaluación se realiza de izquierda a 	derecha</a:t>
            </a:r>
            <a:endParaRPr sz="2800">
              <a:latin typeface="Calibri"/>
              <a:ea typeface="Calibri"/>
              <a:cs typeface="Calibri"/>
              <a:sym typeface="Calibri"/>
            </a:endParaRPr>
          </a:p>
          <a:p>
            <a:pPr indent="-177800" lvl="0" marL="182880" marR="5080" rtl="0" algn="l">
              <a:lnSpc>
                <a:spcPct val="108214"/>
              </a:lnSpc>
              <a:spcBef>
                <a:spcPts val="78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Siempre puede utilizar los paréntesis para forzar que la 	expresión entre paréntesis se evalúe primero</a:t>
            </a:r>
            <a:endParaRPr sz="2800">
              <a:latin typeface="Calibri"/>
              <a:ea typeface="Calibri"/>
              <a:cs typeface="Calibri"/>
              <a:sym typeface="Calibri"/>
            </a:endParaRPr>
          </a:p>
          <a:p>
            <a:pPr indent="-177800" lvl="0" marL="182880" marR="62865"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las tablas de ejemplo que aparecen en la siguiente 	diapositiva, tenga en cuenta las diferencias en la salida 	entre la consulta que utilizó los paréntesis y la que no</a:t>
            </a:r>
            <a:endParaRPr sz="2800">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3"/>
          <p:cNvSpPr txBox="1"/>
          <p:nvPr>
            <p:ph type="title"/>
          </p:nvPr>
        </p:nvSpPr>
        <p:spPr>
          <a:xfrm>
            <a:off x="392112" y="748031"/>
            <a:ext cx="68376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Prioridad de los Operadores Aritméticos</a:t>
            </a:r>
            <a:endParaRPr/>
          </a:p>
        </p:txBody>
      </p:sp>
      <p:sp>
        <p:nvSpPr>
          <p:cNvPr id="257" name="Google Shape;257;p33"/>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58" name="Google Shape;258;p3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59" name="Google Shape;259;p3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lnSpc>
                <a:spcPct val="113750"/>
              </a:lnSpc>
              <a:spcBef>
                <a:spcPts val="0"/>
              </a:spcBef>
              <a:spcAft>
                <a:spcPts val="0"/>
              </a:spcAft>
              <a:buNone/>
            </a:pPr>
            <a:fld id="{00000000-1234-1234-1234-123412341234}" type="slidenum">
              <a:rPr lang="en-US"/>
              <a:t>‹#›</a:t>
            </a:fld>
            <a:endParaRPr/>
          </a:p>
        </p:txBody>
      </p:sp>
      <p:graphicFrame>
        <p:nvGraphicFramePr>
          <p:cNvPr id="260" name="Google Shape;260;p33"/>
          <p:cNvGraphicFramePr/>
          <p:nvPr/>
        </p:nvGraphicFramePr>
        <p:xfrm>
          <a:off x="398463" y="2798808"/>
          <a:ext cx="3000000" cy="3000000"/>
        </p:xfrm>
        <a:graphic>
          <a:graphicData uri="http://schemas.openxmlformats.org/drawingml/2006/table">
            <a:tbl>
              <a:tblPr bandRow="1" firstRow="1">
                <a:noFill/>
                <a:tableStyleId>{A01E2943-91DE-4DD6-BB2F-5FCA573F5628}</a:tableStyleId>
              </a:tblPr>
              <a:tblGrid>
                <a:gridCol w="1346200"/>
                <a:gridCol w="939800"/>
                <a:gridCol w="1772925"/>
              </a:tblGrid>
              <a:tr h="4076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12*SALARY+100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40767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288100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675">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204100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675">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204100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675">
                <a:tc>
                  <a:txBody>
                    <a:bodyPr/>
                    <a:lstStyle/>
                    <a:p>
                      <a:pPr indent="0" lvl="0" marL="71120"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52900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675">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12000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144100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675">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048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99700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261" name="Google Shape;261;p33"/>
          <p:cNvGraphicFramePr/>
          <p:nvPr/>
        </p:nvGraphicFramePr>
        <p:xfrm>
          <a:off x="4831903" y="2781476"/>
          <a:ext cx="3000000" cy="3000000"/>
        </p:xfrm>
        <a:graphic>
          <a:graphicData uri="http://schemas.openxmlformats.org/drawingml/2006/table">
            <a:tbl>
              <a:tblPr bandRow="1" firstRow="1">
                <a:noFill/>
                <a:tableStyleId>{A01E2943-91DE-4DD6-BB2F-5FCA573F5628}</a:tableStyleId>
              </a:tblPr>
              <a:tblGrid>
                <a:gridCol w="1200150"/>
                <a:gridCol w="828675"/>
                <a:gridCol w="1872625"/>
              </a:tblGrid>
              <a:tr h="411475">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12*(SALARY+100)</a:t>
                      </a:r>
                      <a:endParaRPr sz="1600" u="none" cap="none" strike="noStrike">
                        <a:latin typeface="Calibri"/>
                        <a:ea typeface="Calibri"/>
                        <a:cs typeface="Calibri"/>
                        <a:sym typeface="Calibri"/>
                      </a:endParaRPr>
                    </a:p>
                  </a:txBody>
                  <a:tcPr marT="711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289200</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205200</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205200</a:t>
                      </a:r>
                      <a:endParaRPr sz="1600" u="none" cap="none" strike="noStrike">
                        <a:latin typeface="Calibri"/>
                        <a:ea typeface="Calibri"/>
                        <a:cs typeface="Calibri"/>
                        <a:sym typeface="Calibri"/>
                      </a:endParaRPr>
                    </a:p>
                  </a:txBody>
                  <a:tcPr marT="685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54000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12000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145200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07025">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100800</a:t>
                      </a:r>
                      <a:endParaRPr sz="1600" u="none" cap="none" strike="noStrike">
                        <a:latin typeface="Calibri"/>
                        <a:ea typeface="Calibri"/>
                        <a:cs typeface="Calibri"/>
                        <a:sym typeface="Calibri"/>
                      </a:endParaRPr>
                    </a:p>
                  </a:txBody>
                  <a:tcPr marT="692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262" name="Google Shape;262;p33"/>
          <p:cNvSpPr txBox="1"/>
          <p:nvPr/>
        </p:nvSpPr>
        <p:spPr>
          <a:xfrm>
            <a:off x="405384" y="1732788"/>
            <a:ext cx="4058920" cy="952500"/>
          </a:xfrm>
          <a:prstGeom prst="rect">
            <a:avLst/>
          </a:prstGeom>
          <a:solidFill>
            <a:srgbClr val="9DBDC4">
              <a:alpha val="49804"/>
            </a:srgbClr>
          </a:solidFill>
          <a:ln>
            <a:noFill/>
          </a:ln>
        </p:spPr>
        <p:txBody>
          <a:bodyPr anchorCtr="0" anchor="t" bIns="0" lIns="0" spcFirstLastPara="1" rIns="0" wrap="square" tIns="9525">
            <a:spAutoFit/>
          </a:bodyPr>
          <a:lstStyle/>
          <a:p>
            <a:pPr indent="-957580" lvl="0" marL="1028065" marR="565150" rtl="0" algn="l">
              <a:lnSpc>
                <a:spcPct val="105000"/>
              </a:lnSpc>
              <a:spcBef>
                <a:spcPts val="0"/>
              </a:spcBef>
              <a:spcAft>
                <a:spcPts val="0"/>
              </a:spcAft>
              <a:buNone/>
            </a:pPr>
            <a:r>
              <a:rPr b="1" lang="en-US" sz="1800">
                <a:solidFill>
                  <a:srgbClr val="4E3629"/>
                </a:solidFill>
                <a:latin typeface="Courier New"/>
                <a:ea typeface="Courier New"/>
                <a:cs typeface="Courier New"/>
                <a:sym typeface="Courier New"/>
              </a:rPr>
              <a:t>SELECT last_name, salary, 12*salary +100</a:t>
            </a:r>
            <a:endParaRPr sz="1800">
              <a:latin typeface="Courier New"/>
              <a:ea typeface="Courier New"/>
              <a:cs typeface="Courier New"/>
              <a:sym typeface="Courier New"/>
            </a:endParaRPr>
          </a:p>
          <a:p>
            <a:pPr indent="0" lvl="0" marL="71120" rtl="0" algn="l">
              <a:lnSpc>
                <a:spcPct val="100000"/>
              </a:lnSpc>
              <a:spcBef>
                <a:spcPts val="11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
        <p:nvSpPr>
          <p:cNvPr id="263" name="Google Shape;263;p33"/>
          <p:cNvSpPr txBox="1"/>
          <p:nvPr/>
        </p:nvSpPr>
        <p:spPr>
          <a:xfrm>
            <a:off x="4838700" y="1732788"/>
            <a:ext cx="3912235" cy="952500"/>
          </a:xfrm>
          <a:prstGeom prst="rect">
            <a:avLst/>
          </a:prstGeom>
          <a:solidFill>
            <a:srgbClr val="9DBDC4">
              <a:alpha val="49804"/>
            </a:srgbClr>
          </a:solidFill>
          <a:ln>
            <a:noFill/>
          </a:ln>
        </p:spPr>
        <p:txBody>
          <a:bodyPr anchorCtr="0" anchor="t" bIns="0" lIns="0" spcFirstLastPara="1" rIns="0" wrap="square" tIns="9525">
            <a:spAutoFit/>
          </a:bodyPr>
          <a:lstStyle/>
          <a:p>
            <a:pPr indent="-957580" lvl="0" marL="1028700" marR="419100" rtl="0" algn="l">
              <a:lnSpc>
                <a:spcPct val="105000"/>
              </a:lnSpc>
              <a:spcBef>
                <a:spcPts val="0"/>
              </a:spcBef>
              <a:spcAft>
                <a:spcPts val="0"/>
              </a:spcAft>
              <a:buNone/>
            </a:pPr>
            <a:r>
              <a:rPr b="1" lang="en-US" sz="1800">
                <a:solidFill>
                  <a:srgbClr val="4E3629"/>
                </a:solidFill>
                <a:latin typeface="Courier New"/>
                <a:ea typeface="Courier New"/>
                <a:cs typeface="Courier New"/>
                <a:sym typeface="Courier New"/>
              </a:rPr>
              <a:t>SELECT last_name, salary, 12*(salary +100)</a:t>
            </a:r>
            <a:endParaRPr sz="1800">
              <a:latin typeface="Courier New"/>
              <a:ea typeface="Courier New"/>
              <a:cs typeface="Courier New"/>
              <a:sym typeface="Courier New"/>
            </a:endParaRPr>
          </a:p>
          <a:p>
            <a:pPr indent="0" lvl="0" marL="71120" rtl="0" algn="l">
              <a:lnSpc>
                <a:spcPct val="100000"/>
              </a:lnSpc>
              <a:spcBef>
                <a:spcPts val="11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p34"/>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Valores NULL</a:t>
            </a:r>
            <a:endParaRPr/>
          </a:p>
        </p:txBody>
      </p:sp>
      <p:sp>
        <p:nvSpPr>
          <p:cNvPr id="269" name="Google Shape;269;p34"/>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70" name="Google Shape;270;p3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71" name="Google Shape;271;p3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72" name="Google Shape;272;p34"/>
          <p:cNvSpPr txBox="1"/>
          <p:nvPr/>
        </p:nvSpPr>
        <p:spPr>
          <a:xfrm>
            <a:off x="483552" y="1355371"/>
            <a:ext cx="8089900" cy="3991610"/>
          </a:xfrm>
          <a:prstGeom prst="rect">
            <a:avLst/>
          </a:prstGeom>
          <a:noFill/>
          <a:ln>
            <a:noFill/>
          </a:ln>
        </p:spPr>
        <p:txBody>
          <a:bodyPr anchorCtr="0" anchor="t" bIns="0" lIns="0" spcFirstLastPara="1" rIns="0" wrap="square" tIns="717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SQL, NULL es una palabra interesante</a:t>
            </a:r>
            <a:endParaRPr sz="2800">
              <a:latin typeface="Calibri"/>
              <a:ea typeface="Calibri"/>
              <a:cs typeface="Calibri"/>
              <a:sym typeface="Calibri"/>
            </a:endParaRPr>
          </a:p>
          <a:p>
            <a:pPr indent="-177800" lvl="0" marL="182880" marR="5080" rtl="0" algn="l">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Para comprender el concepto NULL, debe saber qué es 	NULL y qué no es NULL</a:t>
            </a:r>
            <a:endParaRPr sz="2800">
              <a:latin typeface="Calibri"/>
              <a:ea typeface="Calibri"/>
              <a:cs typeface="Calibri"/>
              <a:sym typeface="Calibri"/>
            </a:endParaRPr>
          </a:p>
          <a:p>
            <a:pPr indent="-177800" lvl="0" marL="182880" marR="392430" rtl="0" algn="l">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NULL es un valor que no está disponible, sin asignar, 	desconocido o que no es aplicable</a:t>
            </a:r>
            <a:endParaRPr sz="2800">
              <a:latin typeface="Calibri"/>
              <a:ea typeface="Calibri"/>
              <a:cs typeface="Calibri"/>
              <a:sym typeface="Calibri"/>
            </a:endParaRPr>
          </a:p>
          <a:p>
            <a:pPr indent="-177800" lvl="0" marL="182880" marR="1063625"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valor NULL no es lo mismo que un cero o un 	espacio</a:t>
            </a:r>
            <a:endParaRPr sz="2800">
              <a:latin typeface="Calibri"/>
              <a:ea typeface="Calibri"/>
              <a:cs typeface="Calibri"/>
              <a:sym typeface="Calibri"/>
            </a:endParaRPr>
          </a:p>
          <a:p>
            <a:pPr indent="-177800" lvl="0" marL="182880" marR="847090" rtl="0" algn="l">
              <a:lnSpc>
                <a:spcPct val="108214"/>
              </a:lnSpc>
              <a:spcBef>
                <a:spcPts val="79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SQL, un cero es un número y un espacio es un 	carácter</a:t>
            </a:r>
            <a:endParaRPr sz="2800">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5"/>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Valores NULL</a:t>
            </a:r>
            <a:endParaRPr/>
          </a:p>
        </p:txBody>
      </p:sp>
      <p:sp>
        <p:nvSpPr>
          <p:cNvPr id="278" name="Google Shape;278;p35"/>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79" name="Google Shape;279;p35"/>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0" name="Google Shape;280;p35"/>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81" name="Google Shape;281;p35"/>
          <p:cNvSpPr txBox="1"/>
          <p:nvPr/>
        </p:nvSpPr>
        <p:spPr>
          <a:xfrm>
            <a:off x="483552" y="1355371"/>
            <a:ext cx="7719059" cy="2636520"/>
          </a:xfrm>
          <a:prstGeom prst="rect">
            <a:avLst/>
          </a:prstGeom>
          <a:noFill/>
          <a:ln>
            <a:noFill/>
          </a:ln>
        </p:spPr>
        <p:txBody>
          <a:bodyPr anchorCtr="0" anchor="t" bIns="0" lIns="0" spcFirstLastPara="1" rIns="0" wrap="square" tIns="71750">
            <a:spAutoFit/>
          </a:bodyPr>
          <a:lstStyle/>
          <a:p>
            <a:pPr indent="-177800" lvl="0" marL="183515" rtl="0" algn="just">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A veces, no conoce el valor de una columna</a:t>
            </a:r>
            <a:endParaRPr sz="2800">
              <a:latin typeface="Calibri"/>
              <a:ea typeface="Calibri"/>
              <a:cs typeface="Calibri"/>
              <a:sym typeface="Calibri"/>
            </a:endParaRPr>
          </a:p>
          <a:p>
            <a:pPr indent="-177800" lvl="0" marL="182880" marR="675005" rtl="0" algn="just">
              <a:lnSpc>
                <a:spcPct val="108214"/>
              </a:lnSpc>
              <a:spcBef>
                <a:spcPts val="844"/>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una base de datos, puede almacenar valores 	desconocidos en sus bases de datos</a:t>
            </a:r>
            <a:endParaRPr sz="2800">
              <a:latin typeface="Calibri"/>
              <a:ea typeface="Calibri"/>
              <a:cs typeface="Calibri"/>
              <a:sym typeface="Calibri"/>
            </a:endParaRPr>
          </a:p>
          <a:p>
            <a:pPr indent="-177800" lvl="0" marL="182880" marR="5080" rtl="0" algn="just">
              <a:lnSpc>
                <a:spcPct val="108214"/>
              </a:lnSpc>
              <a:spcBef>
                <a:spcPts val="79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Las bases de datos relacionales utilizan un marcador 	llamado NULL o null para representar dichos valores 	desconocidos</a:t>
            </a:r>
            <a:endParaRPr sz="2800">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5" name="Shape 285"/>
        <p:cNvGrpSpPr/>
        <p:nvPr/>
      </p:nvGrpSpPr>
      <p:grpSpPr>
        <a:xfrm>
          <a:off x="0" y="0"/>
          <a:ext cx="0" cy="0"/>
          <a:chOff x="0" y="0"/>
          <a:chExt cx="0" cy="0"/>
        </a:xfrm>
      </p:grpSpPr>
      <p:sp>
        <p:nvSpPr>
          <p:cNvPr id="286" name="Google Shape;286;p36"/>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Valores NULL</a:t>
            </a:r>
            <a:endParaRPr/>
          </a:p>
        </p:txBody>
      </p:sp>
      <p:sp>
        <p:nvSpPr>
          <p:cNvPr id="287" name="Google Shape;287;p36"/>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288" name="Google Shape;288;p36"/>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289" name="Google Shape;289;p36"/>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290" name="Google Shape;290;p36"/>
          <p:cNvSpPr txBox="1"/>
          <p:nvPr/>
        </p:nvSpPr>
        <p:spPr>
          <a:xfrm>
            <a:off x="483552" y="1415417"/>
            <a:ext cx="6986270" cy="4112895"/>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cualquier valor de columna en una expresión 	aritmética es null, el</a:t>
            </a:r>
            <a:endParaRPr sz="2800">
              <a:latin typeface="Calibri"/>
              <a:ea typeface="Calibri"/>
              <a:cs typeface="Calibri"/>
              <a:sym typeface="Calibri"/>
            </a:endParaRPr>
          </a:p>
          <a:p>
            <a:pPr indent="0" lvl="0" marL="184785" rtl="0" algn="l">
              <a:lnSpc>
                <a:spcPct val="100178"/>
              </a:lnSpc>
              <a:spcBef>
                <a:spcPts val="0"/>
              </a:spcBef>
              <a:spcAft>
                <a:spcPts val="0"/>
              </a:spcAft>
              <a:buNone/>
            </a:pPr>
            <a:r>
              <a:rPr lang="en-US" sz="2800">
                <a:solidFill>
                  <a:srgbClr val="4E3629"/>
                </a:solidFill>
                <a:latin typeface="Calibri"/>
                <a:ea typeface="Calibri"/>
                <a:cs typeface="Calibri"/>
                <a:sym typeface="Calibri"/>
              </a:rPr>
              <a:t>resultado es nulo o</a:t>
            </a:r>
            <a:endParaRPr sz="2800">
              <a:latin typeface="Calibri"/>
              <a:ea typeface="Calibri"/>
              <a:cs typeface="Calibri"/>
              <a:sym typeface="Calibri"/>
            </a:endParaRPr>
          </a:p>
          <a:p>
            <a:pPr indent="0" lvl="0" marL="184785" rtl="0" algn="l">
              <a:lnSpc>
                <a:spcPct val="114107"/>
              </a:lnSpc>
              <a:spcBef>
                <a:spcPts val="0"/>
              </a:spcBef>
              <a:spcAft>
                <a:spcPts val="0"/>
              </a:spcAft>
              <a:buNone/>
            </a:pPr>
            <a:r>
              <a:rPr lang="en-US" sz="2800">
                <a:solidFill>
                  <a:srgbClr val="4E3629"/>
                </a:solidFill>
                <a:latin typeface="Calibri"/>
                <a:ea typeface="Calibri"/>
                <a:cs typeface="Calibri"/>
                <a:sym typeface="Calibri"/>
              </a:rPr>
              <a:t>desconocido</a:t>
            </a:r>
            <a:endParaRPr sz="2800">
              <a:latin typeface="Calibri"/>
              <a:ea typeface="Calibri"/>
              <a:cs typeface="Calibri"/>
              <a:sym typeface="Calibri"/>
            </a:endParaRPr>
          </a:p>
          <a:p>
            <a:pPr indent="-177800" lvl="0" marL="182880" marR="3542029" rtl="0" algn="l">
              <a:lnSpc>
                <a:spcPct val="108214"/>
              </a:lnSpc>
              <a:spcBef>
                <a:spcPts val="84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 intenta dividir un 	número entre un valor 	null, el resultado será 	nulo o desconocido</a:t>
            </a:r>
            <a:endParaRPr sz="2800">
              <a:latin typeface="Calibri"/>
              <a:ea typeface="Calibri"/>
              <a:cs typeface="Calibri"/>
              <a:sym typeface="Calibri"/>
            </a:endParaRPr>
          </a:p>
          <a:p>
            <a:pPr indent="-177800" lvl="0" marL="182880" marR="3107690" rtl="0" algn="l">
              <a:lnSpc>
                <a:spcPct val="108214"/>
              </a:lnSpc>
              <a:spcBef>
                <a:spcPts val="78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embargo, si se intenta 	una división entre cero,</a:t>
            </a:r>
            <a:endParaRPr sz="2800">
              <a:latin typeface="Calibri"/>
              <a:ea typeface="Calibri"/>
              <a:cs typeface="Calibri"/>
              <a:sym typeface="Calibri"/>
            </a:endParaRPr>
          </a:p>
        </p:txBody>
      </p:sp>
      <p:sp>
        <p:nvSpPr>
          <p:cNvPr id="291" name="Google Shape;291;p36"/>
          <p:cNvSpPr txBox="1"/>
          <p:nvPr/>
        </p:nvSpPr>
        <p:spPr>
          <a:xfrm>
            <a:off x="655764" y="5460436"/>
            <a:ext cx="4471670" cy="45212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lang="en-US" sz="2800">
                <a:solidFill>
                  <a:srgbClr val="4E3629"/>
                </a:solidFill>
                <a:latin typeface="Calibri"/>
                <a:ea typeface="Calibri"/>
                <a:cs typeface="Calibri"/>
                <a:sym typeface="Calibri"/>
              </a:rPr>
              <a:t>aparecerá un mensaje de error</a:t>
            </a:r>
            <a:endParaRPr sz="2800">
              <a:latin typeface="Calibri"/>
              <a:ea typeface="Calibri"/>
              <a:cs typeface="Calibri"/>
              <a:sym typeface="Calibri"/>
            </a:endParaRPr>
          </a:p>
        </p:txBody>
      </p:sp>
      <p:sp>
        <p:nvSpPr>
          <p:cNvPr id="292" name="Google Shape;292;p36"/>
          <p:cNvSpPr txBox="1"/>
          <p:nvPr/>
        </p:nvSpPr>
        <p:spPr>
          <a:xfrm>
            <a:off x="6736273" y="5688641"/>
            <a:ext cx="1835785" cy="269240"/>
          </a:xfrm>
          <a:prstGeom prst="rect">
            <a:avLst/>
          </a:prstGeom>
          <a:noFill/>
          <a:ln>
            <a:noFill/>
          </a:ln>
        </p:spPr>
        <p:txBody>
          <a:bodyPr anchorCtr="0" anchor="t" bIns="0" lIns="0" spcFirstLastPara="1" rIns="0" wrap="square" tIns="12050">
            <a:spAutoFit/>
          </a:bodyPr>
          <a:lstStyle/>
          <a:p>
            <a:pPr indent="0" lvl="0" marL="12700" rtl="0" algn="l">
              <a:lnSpc>
                <a:spcPct val="100000"/>
              </a:lnSpc>
              <a:spcBef>
                <a:spcPts val="0"/>
              </a:spcBef>
              <a:spcAft>
                <a:spcPts val="0"/>
              </a:spcAft>
              <a:buNone/>
            </a:pPr>
            <a:r>
              <a:rPr b="1" lang="en-US" sz="1600">
                <a:solidFill>
                  <a:srgbClr val="4E3629"/>
                </a:solidFill>
                <a:latin typeface="Calibri"/>
                <a:ea typeface="Calibri"/>
                <a:cs typeface="Calibri"/>
                <a:sym typeface="Calibri"/>
              </a:rPr>
              <a:t>Salarios y Comisiones</a:t>
            </a:r>
            <a:endParaRPr sz="1600">
              <a:latin typeface="Calibri"/>
              <a:ea typeface="Calibri"/>
              <a:cs typeface="Calibri"/>
              <a:sym typeface="Calibri"/>
            </a:endParaRPr>
          </a:p>
        </p:txBody>
      </p:sp>
      <p:graphicFrame>
        <p:nvGraphicFramePr>
          <p:cNvPr id="293" name="Google Shape;293;p36"/>
          <p:cNvGraphicFramePr/>
          <p:nvPr/>
        </p:nvGraphicFramePr>
        <p:xfrm>
          <a:off x="4451324" y="2046858"/>
          <a:ext cx="3000000" cy="3000000"/>
        </p:xfrm>
        <a:graphic>
          <a:graphicData uri="http://schemas.openxmlformats.org/drawingml/2006/table">
            <a:tbl>
              <a:tblPr bandRow="1" firstRow="1">
                <a:noFill/>
                <a:tableStyleId>{A01E2943-91DE-4DD6-BB2F-5FCA573F5628}</a:tableStyleId>
              </a:tblPr>
              <a:tblGrid>
                <a:gridCol w="1195075"/>
                <a:gridCol w="972825"/>
                <a:gridCol w="748025"/>
                <a:gridCol w="1485275"/>
              </a:tblGrid>
              <a:tr h="384175">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LAST_NAME</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JOB_ID</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SALARY</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400" u="none" cap="none" strike="noStrike">
                          <a:solidFill>
                            <a:srgbClr val="4E3629"/>
                          </a:solidFill>
                          <a:latin typeface="Calibri"/>
                          <a:ea typeface="Calibri"/>
                          <a:cs typeface="Calibri"/>
                          <a:sym typeface="Calibri"/>
                        </a:rPr>
                        <a:t>COMMISSION_PCT</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3841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King</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AD_PRES</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24000</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4175">
                <a:tc>
                  <a:txBody>
                    <a:bodyPr/>
                    <a:lstStyle/>
                    <a:p>
                      <a:pPr indent="0" lvl="0" marL="7175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Kochhar</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AD_VP</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17000</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4175">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De Haan</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AD_VP</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17000</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4175">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Whalen</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AD_ASST</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4400</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4175">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Higgins</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AC_MGR</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12000</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2390"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736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426075">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Gietz</a:t>
                      </a:r>
                      <a:endParaRPr sz="1400" u="none" cap="none" strike="noStrike">
                        <a:latin typeface="Calibri"/>
                        <a:ea typeface="Calibri"/>
                        <a:cs typeface="Calibri"/>
                        <a:sym typeface="Calibri"/>
                      </a:endParaRPr>
                    </a:p>
                  </a:txBody>
                  <a:tcPr marT="9462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13571"/>
                        </a:lnSpc>
                        <a:spcBef>
                          <a:spcPts val="0"/>
                        </a:spcBef>
                        <a:spcAft>
                          <a:spcPts val="0"/>
                        </a:spcAft>
                        <a:buNone/>
                      </a:pPr>
                      <a:r>
                        <a:rPr lang="en-US" sz="1400" u="none" cap="none" strike="noStrike">
                          <a:solidFill>
                            <a:srgbClr val="4E3629"/>
                          </a:solidFill>
                          <a:latin typeface="Calibri"/>
                          <a:ea typeface="Calibri"/>
                          <a:cs typeface="Calibri"/>
                          <a:sym typeface="Calibri"/>
                        </a:rPr>
                        <a:t>AC_ACCOU</a:t>
                      </a:r>
                      <a:endParaRPr sz="1400" u="none" cap="none" strike="noStrike">
                        <a:latin typeface="Calibri"/>
                        <a:ea typeface="Calibri"/>
                        <a:cs typeface="Calibri"/>
                        <a:sym typeface="Calibri"/>
                      </a:endParaRPr>
                    </a:p>
                    <a:p>
                      <a:pPr indent="0" lvl="0" marL="73025" marR="0" rtl="0" algn="l">
                        <a:lnSpc>
                          <a:spcPct val="119285"/>
                        </a:lnSpc>
                        <a:spcBef>
                          <a:spcPts val="0"/>
                        </a:spcBef>
                        <a:spcAft>
                          <a:spcPts val="0"/>
                        </a:spcAft>
                        <a:buNone/>
                      </a:pPr>
                      <a:r>
                        <a:rPr lang="en-US" sz="1400" u="none" cap="none" strike="noStrike">
                          <a:solidFill>
                            <a:srgbClr val="4E3629"/>
                          </a:solidFill>
                          <a:latin typeface="Calibri"/>
                          <a:ea typeface="Calibri"/>
                          <a:cs typeface="Calibri"/>
                          <a:sym typeface="Calibri"/>
                        </a:rPr>
                        <a:t>NT</a:t>
                      </a:r>
                      <a:endParaRPr sz="14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8300</a:t>
                      </a:r>
                      <a:endParaRPr sz="1400" u="none" cap="none" strike="noStrike">
                        <a:latin typeface="Calibri"/>
                        <a:ea typeface="Calibri"/>
                        <a:cs typeface="Calibri"/>
                        <a:sym typeface="Calibri"/>
                      </a:endParaRPr>
                    </a:p>
                  </a:txBody>
                  <a:tcPr marT="9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t>
                      </a:r>
                      <a:endParaRPr sz="1400" u="none" cap="none" strike="noStrike">
                        <a:latin typeface="Calibri"/>
                        <a:ea typeface="Calibri"/>
                        <a:cs typeface="Calibri"/>
                        <a:sym typeface="Calibri"/>
                      </a:endParaRPr>
                    </a:p>
                  </a:txBody>
                  <a:tcPr marT="9525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4175">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Zlotkey</a:t>
                      </a:r>
                      <a:endParaRPr sz="1400" u="none" cap="none" strike="noStrike">
                        <a:latin typeface="Calibri"/>
                        <a:ea typeface="Calibri"/>
                        <a:cs typeface="Calibri"/>
                        <a:sym typeface="Calibri"/>
                      </a:endParaRPr>
                    </a:p>
                  </a:txBody>
                  <a:tcPr marT="7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SA_MAN</a:t>
                      </a:r>
                      <a:endParaRPr sz="1400" u="none" cap="none" strike="noStrike">
                        <a:latin typeface="Calibri"/>
                        <a:ea typeface="Calibri"/>
                        <a:cs typeface="Calibri"/>
                        <a:sym typeface="Calibri"/>
                      </a:endParaRPr>
                    </a:p>
                  </a:txBody>
                  <a:tcPr marT="7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10500</a:t>
                      </a:r>
                      <a:endParaRPr sz="1400" u="none" cap="none" strike="noStrike">
                        <a:latin typeface="Calibri"/>
                        <a:ea typeface="Calibri"/>
                        <a:cs typeface="Calibri"/>
                        <a:sym typeface="Calibri"/>
                      </a:endParaRPr>
                    </a:p>
                  </a:txBody>
                  <a:tcPr marT="7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.2</a:t>
                      </a:r>
                      <a:endParaRPr sz="1400" u="none" cap="none" strike="noStrike">
                        <a:latin typeface="Calibri"/>
                        <a:ea typeface="Calibri"/>
                        <a:cs typeface="Calibri"/>
                        <a:sym typeface="Calibri"/>
                      </a:endParaRPr>
                    </a:p>
                  </a:txBody>
                  <a:tcPr marT="7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384175">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Abel</a:t>
                      </a:r>
                      <a:endParaRPr sz="1400" u="none" cap="none" strike="noStrike">
                        <a:latin typeface="Calibri"/>
                        <a:ea typeface="Calibri"/>
                        <a:cs typeface="Calibri"/>
                        <a:sym typeface="Calibri"/>
                      </a:endParaRPr>
                    </a:p>
                  </a:txBody>
                  <a:tcPr marT="7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SA_REP</a:t>
                      </a:r>
                      <a:endParaRPr sz="1400" u="none" cap="none" strike="noStrike">
                        <a:latin typeface="Calibri"/>
                        <a:ea typeface="Calibri"/>
                        <a:cs typeface="Calibri"/>
                        <a:sym typeface="Calibri"/>
                      </a:endParaRPr>
                    </a:p>
                  </a:txBody>
                  <a:tcPr marT="7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11000</a:t>
                      </a:r>
                      <a:endParaRPr sz="1400" u="none" cap="none" strike="noStrike">
                        <a:latin typeface="Calibri"/>
                        <a:ea typeface="Calibri"/>
                        <a:cs typeface="Calibri"/>
                        <a:sym typeface="Calibri"/>
                      </a:endParaRPr>
                    </a:p>
                  </a:txBody>
                  <a:tcPr marT="7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3025" marR="0" rtl="0" algn="l">
                        <a:lnSpc>
                          <a:spcPct val="100000"/>
                        </a:lnSpc>
                        <a:spcBef>
                          <a:spcPts val="0"/>
                        </a:spcBef>
                        <a:spcAft>
                          <a:spcPts val="0"/>
                        </a:spcAft>
                        <a:buNone/>
                      </a:pPr>
                      <a:r>
                        <a:rPr lang="en-US" sz="1400" u="none" cap="none" strike="noStrike">
                          <a:solidFill>
                            <a:srgbClr val="4E3629"/>
                          </a:solidFill>
                          <a:latin typeface="Calibri"/>
                          <a:ea typeface="Calibri"/>
                          <a:cs typeface="Calibri"/>
                          <a:sym typeface="Calibri"/>
                        </a:rPr>
                        <a:t>.3</a:t>
                      </a:r>
                      <a:endParaRPr sz="1400" u="none" cap="none" strike="noStrike">
                        <a:latin typeface="Calibri"/>
                        <a:ea typeface="Calibri"/>
                        <a:cs typeface="Calibri"/>
                        <a:sym typeface="Calibri"/>
                      </a:endParaRPr>
                    </a:p>
                  </a:txBody>
                  <a:tcPr marT="7430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37"/>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Valores NULL</a:t>
            </a:r>
            <a:endParaRPr/>
          </a:p>
        </p:txBody>
      </p:sp>
      <p:sp>
        <p:nvSpPr>
          <p:cNvPr id="299" name="Google Shape;299;p37"/>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300" name="Google Shape;300;p37"/>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01" name="Google Shape;301;p37"/>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graphicFrame>
        <p:nvGraphicFramePr>
          <p:cNvPr id="302" name="Google Shape;302;p37"/>
          <p:cNvGraphicFramePr/>
          <p:nvPr/>
        </p:nvGraphicFramePr>
        <p:xfrm>
          <a:off x="686172" y="2783144"/>
          <a:ext cx="3000000" cy="3000000"/>
        </p:xfrm>
        <a:graphic>
          <a:graphicData uri="http://schemas.openxmlformats.org/drawingml/2006/table">
            <a:tbl>
              <a:tblPr bandRow="1" firstRow="1">
                <a:noFill/>
                <a:tableStyleId>{A01E2943-91DE-4DD6-BB2F-5FCA573F5628}</a:tableStyleId>
              </a:tblPr>
              <a:tblGrid>
                <a:gridCol w="1231275"/>
                <a:gridCol w="1352550"/>
                <a:gridCol w="853450"/>
                <a:gridCol w="1773550"/>
                <a:gridCol w="2571750"/>
              </a:tblGrid>
              <a:tr h="275600">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LAST_NAME</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JOB_ID</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COMMISSION_PCT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b="1" lang="en-US" sz="1600" u="none" cap="none" strike="noStrike">
                          <a:solidFill>
                            <a:srgbClr val="4E3629"/>
                          </a:solidFill>
                          <a:latin typeface="Calibri"/>
                          <a:ea typeface="Calibri"/>
                          <a:cs typeface="Calibri"/>
                          <a:sym typeface="Calibri"/>
                        </a:rPr>
                        <a:t>SALARY*COMMISSION_PCT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King</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AD_PRES</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24000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Kochhar</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De Haan</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AD_VP</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Whalen</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AD_ASST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4400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Higgins</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AC_MGR</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12000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Gietz</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AC_ACCOUNT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8300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Zlotkey</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SA_MAN</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10500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2100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Abel</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11000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3300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5600">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Taylor</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SA_REP</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8600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.2</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71755" marR="0" rtl="0" algn="l">
                        <a:lnSpc>
                          <a:spcPct val="100000"/>
                        </a:lnSpc>
                        <a:spcBef>
                          <a:spcPts val="0"/>
                        </a:spcBef>
                        <a:spcAft>
                          <a:spcPts val="0"/>
                        </a:spcAft>
                        <a:buNone/>
                      </a:pPr>
                      <a:r>
                        <a:rPr lang="en-US" sz="1600" u="none" cap="none" strike="noStrike">
                          <a:solidFill>
                            <a:srgbClr val="4E3629"/>
                          </a:solidFill>
                          <a:latin typeface="Calibri"/>
                          <a:ea typeface="Calibri"/>
                          <a:cs typeface="Calibri"/>
                          <a:sym typeface="Calibri"/>
                        </a:rPr>
                        <a:t>1720</a:t>
                      </a:r>
                      <a:endParaRPr sz="1600" u="none" cap="none" strike="noStrike">
                        <a:latin typeface="Calibri"/>
                        <a:ea typeface="Calibri"/>
                        <a:cs typeface="Calibri"/>
                        <a:sym typeface="Calibri"/>
                      </a:endParaRPr>
                    </a:p>
                  </a:txBody>
                  <a:tcPr marT="3175"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03" name="Google Shape;303;p37"/>
          <p:cNvSpPr txBox="1"/>
          <p:nvPr/>
        </p:nvSpPr>
        <p:spPr>
          <a:xfrm>
            <a:off x="405384" y="1507236"/>
            <a:ext cx="8345805" cy="931544"/>
          </a:xfrm>
          <a:prstGeom prst="rect">
            <a:avLst/>
          </a:prstGeom>
          <a:solidFill>
            <a:srgbClr val="9DBDC4">
              <a:alpha val="49804"/>
            </a:srgbClr>
          </a:solidFill>
          <a:ln>
            <a:noFill/>
          </a:ln>
        </p:spPr>
        <p:txBody>
          <a:bodyPr anchorCtr="0" anchor="t" bIns="0" lIns="0" spcFirstLastPara="1" rIns="0" wrap="square" tIns="19675">
            <a:spAutoFit/>
          </a:bodyPr>
          <a:lstStyle/>
          <a:p>
            <a:pPr indent="0" lvl="0" marL="71120" marR="1577340" rtl="0" algn="l">
              <a:lnSpc>
                <a:spcPct val="100000"/>
              </a:lnSpc>
              <a:spcBef>
                <a:spcPts val="0"/>
              </a:spcBef>
              <a:spcAft>
                <a:spcPts val="0"/>
              </a:spcAft>
              <a:buNone/>
            </a:pPr>
            <a:r>
              <a:rPr b="1" lang="en-US" sz="1800">
                <a:solidFill>
                  <a:srgbClr val="4E3629"/>
                </a:solidFill>
                <a:latin typeface="Courier New"/>
                <a:ea typeface="Courier New"/>
                <a:cs typeface="Courier New"/>
                <a:sym typeface="Courier New"/>
              </a:rPr>
              <a:t>SELECT last_name, job_id, salary, commission_pct, salary*commission_pct</a:t>
            </a:r>
            <a:endParaRPr sz="1800">
              <a:latin typeface="Courier New"/>
              <a:ea typeface="Courier New"/>
              <a:cs typeface="Courier New"/>
              <a:sym typeface="Courier New"/>
            </a:endParaRPr>
          </a:p>
          <a:p>
            <a:pPr indent="0" lvl="0" marL="71120" rtl="0" algn="l">
              <a:lnSpc>
                <a:spcPct val="100000"/>
              </a:lnSpc>
              <a:spcBef>
                <a:spcPts val="11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7" name="Shape 307"/>
        <p:cNvGrpSpPr/>
        <p:nvPr/>
      </p:nvGrpSpPr>
      <p:grpSpPr>
        <a:xfrm>
          <a:off x="0" y="0"/>
          <a:ext cx="0" cy="0"/>
          <a:chOff x="0" y="0"/>
          <a:chExt cx="0" cy="0"/>
        </a:xfrm>
      </p:grpSpPr>
      <p:sp>
        <p:nvSpPr>
          <p:cNvPr id="308" name="Google Shape;308;p38"/>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Alias</a:t>
            </a:r>
            <a:endParaRPr/>
          </a:p>
        </p:txBody>
      </p:sp>
      <p:sp>
        <p:nvSpPr>
          <p:cNvPr id="309" name="Google Shape;309;p38"/>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310" name="Google Shape;310;p38"/>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11" name="Google Shape;311;p38"/>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12" name="Google Shape;312;p38"/>
          <p:cNvSpPr txBox="1"/>
          <p:nvPr/>
        </p:nvSpPr>
        <p:spPr>
          <a:xfrm>
            <a:off x="483552" y="1381889"/>
            <a:ext cx="8166100" cy="4511675"/>
          </a:xfrm>
          <a:prstGeom prst="rect">
            <a:avLst/>
          </a:prstGeom>
          <a:noFill/>
          <a:ln>
            <a:noFill/>
          </a:ln>
        </p:spPr>
        <p:txBody>
          <a:bodyPr anchorCtr="0" anchor="t" bIns="0" lIns="0" spcFirstLastPara="1" rIns="0" wrap="square" tIns="97150">
            <a:spAutoFit/>
          </a:bodyPr>
          <a:lstStyle/>
          <a:p>
            <a:pPr indent="-177800" lvl="0" marL="182880" marR="549910" rtl="0" algn="l">
              <a:lnSpc>
                <a:spcPct val="8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alias es una forma de cambiar el nombre de una 	cabecera de columna en la salida</a:t>
            </a:r>
            <a:endParaRPr sz="2800">
              <a:latin typeface="Calibri"/>
              <a:ea typeface="Calibri"/>
              <a:cs typeface="Calibri"/>
              <a:sym typeface="Calibri"/>
            </a:endParaRPr>
          </a:p>
          <a:p>
            <a:pPr indent="-177800" lvl="0" marL="182880" marR="268605"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Sin alias, cuando se muestra el resultado de una 	sentencia SQL, el nombre de las columnas que se 	muestran será el mismo que los nombres de columna 	de la tabla o un nombre que muestre una operación 	aritmética como 12*(SALARY + 100)</a:t>
            </a:r>
            <a:endParaRPr sz="2800">
              <a:latin typeface="Calibri"/>
              <a:ea typeface="Calibri"/>
              <a:cs typeface="Calibri"/>
              <a:sym typeface="Calibri"/>
            </a:endParaRPr>
          </a:p>
          <a:p>
            <a:pPr indent="-177800" lvl="0" marL="182880" marR="259715" rtl="0" algn="l">
              <a:lnSpc>
                <a:spcPct val="80000"/>
              </a:lnSpc>
              <a:spcBef>
                <a:spcPts val="80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Es probable que desee que la salida le muestre un 	nombre que sea más fácil de comprender, un nombre 	más "descriptivo"</a:t>
            </a:r>
            <a:endParaRPr sz="2800">
              <a:latin typeface="Calibri"/>
              <a:ea typeface="Calibri"/>
              <a:cs typeface="Calibri"/>
              <a:sym typeface="Calibri"/>
            </a:endParaRPr>
          </a:p>
          <a:p>
            <a:pPr indent="-177800" lvl="0" marL="182880" marR="5080" rtl="0" algn="l">
              <a:lnSpc>
                <a:spcPct val="80000"/>
              </a:lnSpc>
              <a:spcBef>
                <a:spcPts val="80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Los alias de columna le permiten cambiar el nombre de 	las columnas en la salida</a:t>
            </a:r>
            <a:endParaRPr sz="2800">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9"/>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Alias</a:t>
            </a:r>
            <a:endParaRPr/>
          </a:p>
        </p:txBody>
      </p:sp>
      <p:sp>
        <p:nvSpPr>
          <p:cNvPr id="318" name="Google Shape;318;p39"/>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319" name="Google Shape;319;p39"/>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0" name="Google Shape;320;p39"/>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21" name="Google Shape;321;p39"/>
          <p:cNvSpPr txBox="1"/>
          <p:nvPr/>
        </p:nvSpPr>
        <p:spPr>
          <a:xfrm>
            <a:off x="483552" y="1415417"/>
            <a:ext cx="8001000" cy="3884295"/>
          </a:xfrm>
          <a:prstGeom prst="rect">
            <a:avLst/>
          </a:prstGeom>
          <a:noFill/>
          <a:ln>
            <a:noFill/>
          </a:ln>
        </p:spPr>
        <p:txBody>
          <a:bodyPr anchorCtr="0" anchor="t" bIns="0" lIns="0" spcFirstLastPara="1" rIns="0" wrap="square" tIns="59675">
            <a:spAutoFit/>
          </a:bodyPr>
          <a:lstStyle/>
          <a:p>
            <a:pPr indent="-177800" lvl="0" marL="182880" marR="314325"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Hay varias reglas al utilizar los alias de columna para 	dar formato a la salida</a:t>
            </a:r>
            <a:endParaRPr sz="2800">
              <a:latin typeface="Calibri"/>
              <a:ea typeface="Calibri"/>
              <a:cs typeface="Calibri"/>
              <a:sym typeface="Calibri"/>
            </a:endParaRPr>
          </a:p>
          <a:p>
            <a:pPr indent="-177800" lvl="0" marL="183515" rtl="0" algn="l">
              <a:lnSpc>
                <a:spcPct val="100000"/>
              </a:lnSpc>
              <a:spcBef>
                <a:spcPts val="415"/>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Un alias de columna:</a:t>
            </a:r>
            <a:endParaRPr sz="2800">
              <a:latin typeface="Calibri"/>
              <a:ea typeface="Calibri"/>
              <a:cs typeface="Calibri"/>
              <a:sym typeface="Calibri"/>
            </a:endParaRPr>
          </a:p>
          <a:p>
            <a:pPr indent="0" lvl="0" marL="355600" rtl="0" algn="l">
              <a:lnSpc>
                <a:spcPct val="100000"/>
              </a:lnSpc>
              <a:spcBef>
                <a:spcPts val="14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Cambia el nombre de una cabecera de columna</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Es útil para realizar cálculos</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Sigue de forma inmediata al nombre de columna</a:t>
            </a:r>
            <a:endParaRPr sz="2400">
              <a:latin typeface="Calibri"/>
              <a:ea typeface="Calibri"/>
              <a:cs typeface="Calibri"/>
              <a:sym typeface="Calibri"/>
            </a:endParaRPr>
          </a:p>
          <a:p>
            <a:pPr indent="-175260" lvl="0" marL="530860" marR="508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Puede tener la palabra clave opcional AS entre el nombre de columna y el alias</a:t>
            </a:r>
            <a:endParaRPr sz="2400">
              <a:latin typeface="Calibri"/>
              <a:ea typeface="Calibri"/>
              <a:cs typeface="Calibri"/>
              <a:sym typeface="Calibri"/>
            </a:endParaRPr>
          </a:p>
          <a:p>
            <a:pPr indent="-175260" lvl="0" marL="530860" marR="6350" rtl="0" algn="l">
              <a:lnSpc>
                <a:spcPct val="107916"/>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Necesita comillas dobles si el alias contiene espacios o caracteres especiales o es sensible a mayúsculas/minúsculas</a:t>
            </a:r>
            <a:endParaRPr sz="2400">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0"/>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Uso de Alias de Columna</a:t>
            </a:r>
            <a:endParaRPr/>
          </a:p>
        </p:txBody>
      </p:sp>
      <p:sp>
        <p:nvSpPr>
          <p:cNvPr id="327" name="Google Shape;327;p40"/>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328" name="Google Shape;328;p40"/>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29" name="Google Shape;329;p40"/>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30" name="Google Shape;330;p40"/>
          <p:cNvSpPr txBox="1"/>
          <p:nvPr/>
        </p:nvSpPr>
        <p:spPr>
          <a:xfrm>
            <a:off x="483552" y="1415417"/>
            <a:ext cx="552450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La sintaxis de los alias es la siguiente:</a:t>
            </a:r>
            <a:endParaRPr sz="2800">
              <a:latin typeface="Calibri"/>
              <a:ea typeface="Calibri"/>
              <a:cs typeface="Calibri"/>
              <a:sym typeface="Calibri"/>
            </a:endParaRPr>
          </a:p>
        </p:txBody>
      </p:sp>
      <p:sp>
        <p:nvSpPr>
          <p:cNvPr id="331" name="Google Shape;331;p40"/>
          <p:cNvSpPr txBox="1"/>
          <p:nvPr/>
        </p:nvSpPr>
        <p:spPr>
          <a:xfrm>
            <a:off x="483552" y="2872361"/>
            <a:ext cx="1605280" cy="452120"/>
          </a:xfrm>
          <a:prstGeom prst="rect">
            <a:avLst/>
          </a:prstGeom>
          <a:noFill/>
          <a:ln>
            <a:noFill/>
          </a:ln>
        </p:spPr>
        <p:txBody>
          <a:bodyPr anchorCtr="0" anchor="t" bIns="0" lIns="0" spcFirstLastPara="1" rIns="0" wrap="square" tIns="12050">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Ejemplos:</a:t>
            </a:r>
            <a:endParaRPr sz="2800">
              <a:latin typeface="Calibri"/>
              <a:ea typeface="Calibri"/>
              <a:cs typeface="Calibri"/>
              <a:sym typeface="Calibri"/>
            </a:endParaRPr>
          </a:p>
        </p:txBody>
      </p:sp>
      <p:graphicFrame>
        <p:nvGraphicFramePr>
          <p:cNvPr id="332" name="Google Shape;332;p40"/>
          <p:cNvGraphicFramePr/>
          <p:nvPr/>
        </p:nvGraphicFramePr>
        <p:xfrm>
          <a:off x="5084230" y="3351931"/>
          <a:ext cx="3000000" cy="3000000"/>
        </p:xfrm>
        <a:graphic>
          <a:graphicData uri="http://schemas.openxmlformats.org/drawingml/2006/table">
            <a:tbl>
              <a:tblPr bandRow="1" firstRow="1">
                <a:noFill/>
                <a:tableStyleId>{A01E2943-91DE-4DD6-BB2F-5FCA573F5628}</a:tableStyleId>
              </a:tblPr>
              <a:tblGrid>
                <a:gridCol w="1484000"/>
                <a:gridCol w="2187575"/>
              </a:tblGrid>
              <a:tr h="273675">
                <a:tc>
                  <a:txBody>
                    <a:bodyPr/>
                    <a:lstStyle/>
                    <a:p>
                      <a:pPr indent="0" lvl="0" marL="229870"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NAME</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229870"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COMM</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4325">
                <a:tc>
                  <a:txBody>
                    <a:bodyPr/>
                    <a:lstStyle/>
                    <a:p>
                      <a:pPr indent="0" lvl="0" marL="22987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King</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22987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22987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Kochhar</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22987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22987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De Haan</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229870"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graphicFrame>
        <p:nvGraphicFramePr>
          <p:cNvPr id="333" name="Google Shape;333;p40"/>
          <p:cNvGraphicFramePr/>
          <p:nvPr/>
        </p:nvGraphicFramePr>
        <p:xfrm>
          <a:off x="5084230" y="4747948"/>
          <a:ext cx="3000000" cy="3000000"/>
        </p:xfrm>
        <a:graphic>
          <a:graphicData uri="http://schemas.openxmlformats.org/drawingml/2006/table">
            <a:tbl>
              <a:tblPr bandRow="1" firstRow="1">
                <a:noFill/>
                <a:tableStyleId>{A01E2943-91DE-4DD6-BB2F-5FCA573F5628}</a:tableStyleId>
              </a:tblPr>
              <a:tblGrid>
                <a:gridCol w="1927850"/>
                <a:gridCol w="1744350"/>
              </a:tblGrid>
              <a:tr h="274325">
                <a:tc>
                  <a:txBody>
                    <a:bodyPr/>
                    <a:lstStyle/>
                    <a:p>
                      <a:pPr indent="0" lvl="0" marL="111125"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Name</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c>
                  <a:txBody>
                    <a:bodyPr/>
                    <a:lstStyle/>
                    <a:p>
                      <a:pPr indent="0" lvl="0" marL="111125" marR="0" rtl="0" algn="l">
                        <a:lnSpc>
                          <a:spcPct val="113277"/>
                        </a:lnSpc>
                        <a:spcBef>
                          <a:spcPts val="0"/>
                        </a:spcBef>
                        <a:spcAft>
                          <a:spcPts val="0"/>
                        </a:spcAft>
                        <a:buNone/>
                      </a:pPr>
                      <a:r>
                        <a:rPr b="1" lang="en-US" sz="1800" u="none" cap="none" strike="noStrike">
                          <a:solidFill>
                            <a:srgbClr val="4E3629"/>
                          </a:solidFill>
                          <a:latin typeface="Calibri"/>
                          <a:ea typeface="Calibri"/>
                          <a:cs typeface="Calibri"/>
                          <a:sym typeface="Calibri"/>
                        </a:rPr>
                        <a:t>Annual Salary</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28575">
                      <a:solidFill>
                        <a:srgbClr val="D1350F"/>
                      </a:solidFill>
                      <a:prstDash val="solid"/>
                      <a:round/>
                      <a:headEnd len="sm" w="sm" type="none"/>
                      <a:tailEnd len="sm" w="sm" type="none"/>
                    </a:lnB>
                  </a:tcPr>
                </a:tc>
              </a:tr>
              <a:tr h="274325">
                <a:tc>
                  <a:txBody>
                    <a:bodyPr/>
                    <a:lstStyle/>
                    <a:p>
                      <a:pPr indent="0" lvl="0" marL="11112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King</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112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288000</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28575">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1112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Kochhar</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112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204000</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r h="274325">
                <a:tc>
                  <a:txBody>
                    <a:bodyPr/>
                    <a:lstStyle/>
                    <a:p>
                      <a:pPr indent="0" lvl="0" marL="11112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De Haan</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c>
                  <a:txBody>
                    <a:bodyPr/>
                    <a:lstStyle/>
                    <a:p>
                      <a:pPr indent="0" lvl="0" marL="111125" marR="0" rtl="0" algn="l">
                        <a:lnSpc>
                          <a:spcPct val="113277"/>
                        </a:lnSpc>
                        <a:spcBef>
                          <a:spcPts val="0"/>
                        </a:spcBef>
                        <a:spcAft>
                          <a:spcPts val="0"/>
                        </a:spcAft>
                        <a:buNone/>
                      </a:pPr>
                      <a:r>
                        <a:rPr lang="en-US" sz="1800" u="none" cap="none" strike="noStrike">
                          <a:solidFill>
                            <a:srgbClr val="4E3629"/>
                          </a:solidFill>
                          <a:latin typeface="Calibri"/>
                          <a:ea typeface="Calibri"/>
                          <a:cs typeface="Calibri"/>
                          <a:sym typeface="Calibri"/>
                        </a:rPr>
                        <a:t>204000</a:t>
                      </a:r>
                      <a:endParaRPr sz="1800" u="none" cap="none" strike="noStrike">
                        <a:latin typeface="Calibri"/>
                        <a:ea typeface="Calibri"/>
                        <a:cs typeface="Calibri"/>
                        <a:sym typeface="Calibri"/>
                      </a:endParaRPr>
                    </a:p>
                  </a:txBody>
                  <a:tcPr marT="0" marB="0" marR="0" marL="0">
                    <a:lnL cap="flat" cmpd="sng" w="12700">
                      <a:solidFill>
                        <a:srgbClr val="D1350F"/>
                      </a:solidFill>
                      <a:prstDash val="solid"/>
                      <a:round/>
                      <a:headEnd len="sm" w="sm" type="none"/>
                      <a:tailEnd len="sm" w="sm" type="none"/>
                    </a:lnL>
                    <a:lnR cap="flat" cmpd="sng" w="12700">
                      <a:solidFill>
                        <a:srgbClr val="D1350F"/>
                      </a:solidFill>
                      <a:prstDash val="solid"/>
                      <a:round/>
                      <a:headEnd len="sm" w="sm" type="none"/>
                      <a:tailEnd len="sm" w="sm" type="none"/>
                    </a:lnR>
                    <a:lnT cap="flat" cmpd="sng" w="12700">
                      <a:solidFill>
                        <a:srgbClr val="D1350F"/>
                      </a:solidFill>
                      <a:prstDash val="solid"/>
                      <a:round/>
                      <a:headEnd len="sm" w="sm" type="none"/>
                      <a:tailEnd len="sm" w="sm" type="none"/>
                    </a:lnT>
                    <a:lnB cap="flat" cmpd="sng" w="12700">
                      <a:solidFill>
                        <a:srgbClr val="D1350F"/>
                      </a:solidFill>
                      <a:prstDash val="solid"/>
                      <a:round/>
                      <a:headEnd len="sm" w="sm" type="none"/>
                      <a:tailEnd len="sm" w="sm" type="none"/>
                    </a:lnB>
                  </a:tcPr>
                </a:tc>
              </a:tr>
            </a:tbl>
          </a:graphicData>
        </a:graphic>
      </p:graphicFrame>
      <p:sp>
        <p:nvSpPr>
          <p:cNvPr id="334" name="Google Shape;334;p40"/>
          <p:cNvSpPr txBox="1"/>
          <p:nvPr/>
        </p:nvSpPr>
        <p:spPr>
          <a:xfrm>
            <a:off x="405384" y="2157983"/>
            <a:ext cx="8345805" cy="628015"/>
          </a:xfrm>
          <a:prstGeom prst="rect">
            <a:avLst/>
          </a:prstGeom>
          <a:solidFill>
            <a:srgbClr val="9DBDC4">
              <a:alpha val="49804"/>
            </a:srgbClr>
          </a:solidFill>
          <a:ln>
            <a:noFill/>
          </a:ln>
        </p:spPr>
        <p:txBody>
          <a:bodyPr anchorCtr="0" anchor="t" bIns="0" lIns="0" spcFirstLastPara="1" rIns="0" wrap="square" tIns="3175">
            <a:spAutoFit/>
          </a:bodyPr>
          <a:lstStyle/>
          <a:p>
            <a:pPr indent="0" lvl="0" marL="71120" marR="2805430" rtl="0" algn="l">
              <a:lnSpc>
                <a:spcPct val="126111"/>
              </a:lnSpc>
              <a:spcBef>
                <a:spcPts val="0"/>
              </a:spcBef>
              <a:spcAft>
                <a:spcPts val="0"/>
              </a:spcAft>
              <a:buNone/>
            </a:pPr>
            <a:r>
              <a:rPr b="1" lang="en-US" sz="1800">
                <a:solidFill>
                  <a:srgbClr val="4E3629"/>
                </a:solidFill>
                <a:latin typeface="Courier New"/>
                <a:ea typeface="Courier New"/>
                <a:cs typeface="Courier New"/>
                <a:sym typeface="Courier New"/>
              </a:rPr>
              <a:t>SELECT * |column|expr [ AS alias], ..... FROM	table;</a:t>
            </a:r>
            <a:endParaRPr sz="1800">
              <a:latin typeface="Courier New"/>
              <a:ea typeface="Courier New"/>
              <a:cs typeface="Courier New"/>
              <a:sym typeface="Courier New"/>
            </a:endParaRPr>
          </a:p>
        </p:txBody>
      </p:sp>
      <p:sp>
        <p:nvSpPr>
          <p:cNvPr id="335" name="Google Shape;335;p40"/>
          <p:cNvSpPr txBox="1"/>
          <p:nvPr/>
        </p:nvSpPr>
        <p:spPr>
          <a:xfrm>
            <a:off x="405384" y="3375659"/>
            <a:ext cx="4456430" cy="966469"/>
          </a:xfrm>
          <a:prstGeom prst="rect">
            <a:avLst/>
          </a:prstGeom>
          <a:solidFill>
            <a:srgbClr val="9DBDC4">
              <a:alpha val="49804"/>
            </a:srgbClr>
          </a:solidFill>
          <a:ln>
            <a:noFill/>
          </a:ln>
        </p:spPr>
        <p:txBody>
          <a:bodyPr anchorCtr="0" anchor="t" bIns="0" lIns="0" spcFirstLastPara="1" rIns="0" wrap="square" tIns="15875">
            <a:spAutoFit/>
          </a:bodyPr>
          <a:lstStyle/>
          <a:p>
            <a:pPr indent="-957580" lvl="0" marL="1028065" marR="417830" rtl="0" algn="l">
              <a:lnSpc>
                <a:spcPct val="105000"/>
              </a:lnSpc>
              <a:spcBef>
                <a:spcPts val="0"/>
              </a:spcBef>
              <a:spcAft>
                <a:spcPts val="0"/>
              </a:spcAft>
              <a:buNone/>
            </a:pPr>
            <a:r>
              <a:rPr b="1" lang="en-US" sz="1800">
                <a:solidFill>
                  <a:srgbClr val="4E3629"/>
                </a:solidFill>
                <a:latin typeface="Courier New"/>
                <a:ea typeface="Courier New"/>
                <a:cs typeface="Courier New"/>
                <a:sym typeface="Courier New"/>
              </a:rPr>
              <a:t>SELECT last_name AS name, commission_pct AS comm</a:t>
            </a:r>
            <a:endParaRPr sz="1800">
              <a:latin typeface="Courier New"/>
              <a:ea typeface="Courier New"/>
              <a:cs typeface="Courier New"/>
              <a:sym typeface="Courier New"/>
            </a:endParaRPr>
          </a:p>
          <a:p>
            <a:pPr indent="0" lvl="0" marL="71120" rtl="0" algn="l">
              <a:lnSpc>
                <a:spcPct val="100000"/>
              </a:lnSpc>
              <a:spcBef>
                <a:spcPts val="11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
        <p:nvSpPr>
          <p:cNvPr id="336" name="Google Shape;336;p40"/>
          <p:cNvSpPr txBox="1"/>
          <p:nvPr/>
        </p:nvSpPr>
        <p:spPr>
          <a:xfrm>
            <a:off x="405384" y="4754879"/>
            <a:ext cx="4456430" cy="965200"/>
          </a:xfrm>
          <a:prstGeom prst="rect">
            <a:avLst/>
          </a:prstGeom>
          <a:solidFill>
            <a:srgbClr val="9DBDC4">
              <a:alpha val="49804"/>
            </a:srgbClr>
          </a:solidFill>
          <a:ln>
            <a:noFill/>
          </a:ln>
        </p:spPr>
        <p:txBody>
          <a:bodyPr anchorCtr="0" anchor="t" bIns="0" lIns="0" spcFirstLastPara="1" rIns="0" wrap="square" tIns="15875">
            <a:spAutoFit/>
          </a:bodyPr>
          <a:lstStyle/>
          <a:p>
            <a:pPr indent="-957580" lvl="0" marL="1028065" marR="7620" rtl="0" algn="l">
              <a:lnSpc>
                <a:spcPct val="105000"/>
              </a:lnSpc>
              <a:spcBef>
                <a:spcPts val="0"/>
              </a:spcBef>
              <a:spcAft>
                <a:spcPts val="0"/>
              </a:spcAft>
              <a:buNone/>
            </a:pPr>
            <a:r>
              <a:rPr b="1" lang="en-US" sz="1800">
                <a:solidFill>
                  <a:srgbClr val="4E3629"/>
                </a:solidFill>
                <a:latin typeface="Courier New"/>
                <a:ea typeface="Courier New"/>
                <a:cs typeface="Courier New"/>
                <a:sym typeface="Courier New"/>
              </a:rPr>
              <a:t>SELECT last_name "Name", salary*12 "Annual Salary"</a:t>
            </a:r>
            <a:endParaRPr sz="1800">
              <a:latin typeface="Courier New"/>
              <a:ea typeface="Courier New"/>
              <a:cs typeface="Courier New"/>
              <a:sym typeface="Courier New"/>
            </a:endParaRPr>
          </a:p>
          <a:p>
            <a:pPr indent="0" lvl="0" marL="71120" rtl="0" algn="l">
              <a:lnSpc>
                <a:spcPct val="100000"/>
              </a:lnSpc>
              <a:spcBef>
                <a:spcPts val="110"/>
              </a:spcBef>
              <a:spcAft>
                <a:spcPts val="0"/>
              </a:spcAft>
              <a:buNone/>
            </a:pPr>
            <a:r>
              <a:rPr b="1" lang="en-US" sz="1800">
                <a:solidFill>
                  <a:srgbClr val="4E3629"/>
                </a:solidFill>
                <a:latin typeface="Courier New"/>
                <a:ea typeface="Courier New"/>
                <a:cs typeface="Courier New"/>
                <a:sym typeface="Courier New"/>
              </a:rPr>
              <a:t>FROM employees;</a:t>
            </a:r>
            <a:endParaRPr sz="1800">
              <a:latin typeface="Courier New"/>
              <a:ea typeface="Courier New"/>
              <a:cs typeface="Courier New"/>
              <a:sym typeface="Courier New"/>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1"/>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342" name="Google Shape;342;p41"/>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343" name="Google Shape;343;p41"/>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44" name="Google Shape;344;p41"/>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45" name="Google Shape;345;p41"/>
          <p:cNvSpPr txBox="1"/>
          <p:nvPr/>
        </p:nvSpPr>
        <p:spPr>
          <a:xfrm>
            <a:off x="483552" y="1415417"/>
            <a:ext cx="7704455" cy="3500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Expresión aritmética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Operador aritmético</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Columna</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Alias de columna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FROM</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NULL</a:t>
            </a:r>
            <a:endParaRPr sz="2400">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42"/>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Terminología</a:t>
            </a:r>
            <a:endParaRPr/>
          </a:p>
        </p:txBody>
      </p:sp>
      <p:sp>
        <p:nvSpPr>
          <p:cNvPr id="351" name="Google Shape;351;p42"/>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352" name="Google Shape;352;p42"/>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53" name="Google Shape;353;p42"/>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54" name="Google Shape;354;p42"/>
          <p:cNvSpPr txBox="1"/>
          <p:nvPr/>
        </p:nvSpPr>
        <p:spPr>
          <a:xfrm>
            <a:off x="483552" y="1415417"/>
            <a:ext cx="7704455" cy="3500120"/>
          </a:xfrm>
          <a:prstGeom prst="rect">
            <a:avLst/>
          </a:prstGeom>
          <a:noFill/>
          <a:ln>
            <a:noFill/>
          </a:ln>
        </p:spPr>
        <p:txBody>
          <a:bodyPr anchorCtr="0" anchor="t" bIns="0" lIns="0" spcFirstLastPara="1" rIns="0" wrap="square" tIns="59675">
            <a:spAutoFit/>
          </a:bodyPr>
          <a:lstStyle/>
          <a:p>
            <a:pPr indent="-177800" lvl="0" marL="182880" marR="5080" rtl="0" algn="l">
              <a:lnSpc>
                <a:spcPct val="108214"/>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Entre los términos clave utilizados en esta lección se 	incluyen:</a:t>
            </a:r>
            <a:endParaRPr sz="2800">
              <a:latin typeface="Calibri"/>
              <a:ea typeface="Calibri"/>
              <a:cs typeface="Calibri"/>
              <a:sym typeface="Calibri"/>
            </a:endParaRPr>
          </a:p>
          <a:p>
            <a:pPr indent="0" lvl="0" marL="355600" rtl="0" algn="l">
              <a:lnSpc>
                <a:spcPct val="100000"/>
              </a:lnSpc>
              <a:spcBef>
                <a:spcPts val="9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Proyección</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SELECT</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Selección</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Sentencia SELECT</a:t>
            </a:r>
            <a:endParaRPr sz="2400">
              <a:latin typeface="Calibri"/>
              <a:ea typeface="Calibri"/>
              <a:cs typeface="Calibri"/>
              <a:sym typeface="Calibri"/>
            </a:endParaRPr>
          </a:p>
          <a:p>
            <a:pPr indent="0" lvl="0" marL="355600" rtl="0" algn="l">
              <a:lnSpc>
                <a:spcPct val="100000"/>
              </a:lnSpc>
              <a:spcBef>
                <a:spcPts val="10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Sentencia</a:t>
            </a:r>
            <a:endParaRPr sz="2400">
              <a:latin typeface="Calibri"/>
              <a:ea typeface="Calibri"/>
              <a:cs typeface="Calibri"/>
              <a:sym typeface="Calibri"/>
            </a:endParaRPr>
          </a:p>
          <a:p>
            <a:pPr indent="0" lvl="0" marL="355600" rtl="0" algn="l">
              <a:lnSpc>
                <a:spcPct val="100000"/>
              </a:lnSpc>
              <a:spcBef>
                <a:spcPts val="11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Cláusula WHERE</a:t>
            </a:r>
            <a:endParaRPr sz="2400">
              <a:latin typeface="Calibri"/>
              <a:ea typeface="Calibri"/>
              <a:cs typeface="Calibri"/>
              <a:sym typeface="Calibri"/>
            </a:endParaRPr>
          </a:p>
          <a:p>
            <a:pPr indent="0" lvl="0" marL="355600" rtl="0" algn="l">
              <a:lnSpc>
                <a:spcPct val="100000"/>
              </a:lnSpc>
              <a:spcBef>
                <a:spcPts val="120"/>
              </a:spcBef>
              <a:spcAft>
                <a:spcPts val="0"/>
              </a:spcAft>
              <a:buNone/>
            </a:pPr>
            <a:r>
              <a:rPr lang="en-US" sz="2400">
                <a:solidFill>
                  <a:srgbClr val="D1350F"/>
                </a:solidFill>
                <a:latin typeface="Calibri"/>
                <a:ea typeface="Calibri"/>
                <a:cs typeface="Calibri"/>
                <a:sym typeface="Calibri"/>
              </a:rPr>
              <a:t>− </a:t>
            </a:r>
            <a:r>
              <a:rPr lang="en-US" sz="2400">
                <a:solidFill>
                  <a:srgbClr val="4E3629"/>
                </a:solidFill>
                <a:latin typeface="Calibri"/>
                <a:ea typeface="Calibri"/>
                <a:cs typeface="Calibri"/>
                <a:sym typeface="Calibri"/>
              </a:rPr>
              <a:t>* (Asterisco)</a:t>
            </a:r>
            <a:endParaRPr sz="2400">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43"/>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360" name="Google Shape;360;p43"/>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361" name="Google Shape;361;p43"/>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62" name="Google Shape;362;p43"/>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63" name="Google Shape;363;p43"/>
          <p:cNvSpPr txBox="1"/>
          <p:nvPr/>
        </p:nvSpPr>
        <p:spPr>
          <a:xfrm>
            <a:off x="483552" y="1393401"/>
            <a:ext cx="8068945" cy="3644265"/>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84455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Emparejar proyección y selección con sus capacidades correctas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Crear una sentencia SELECT básica</a:t>
            </a:r>
            <a:endParaRPr sz="2400">
              <a:latin typeface="Calibri"/>
              <a:ea typeface="Calibri"/>
              <a:cs typeface="Calibri"/>
              <a:sym typeface="Calibri"/>
            </a:endParaRPr>
          </a:p>
          <a:p>
            <a:pPr indent="-175260" lvl="0" marL="530860" marR="508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la sintaxis correcta para mostrar todas las filas de una tabla</a:t>
            </a:r>
            <a:endParaRPr sz="2400">
              <a:latin typeface="Calibri"/>
              <a:ea typeface="Calibri"/>
              <a:cs typeface="Calibri"/>
              <a:sym typeface="Calibri"/>
            </a:endParaRPr>
          </a:p>
          <a:p>
            <a:pPr indent="-175260" lvl="0" marL="530860" marR="125095" rtl="0" algn="l">
              <a:lnSpc>
                <a:spcPct val="107916"/>
              </a:lnSpc>
              <a:spcBef>
                <a:spcPts val="41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Utilizar la sintaxis correcta para seleccionar columnas específicas de una tabla, modificar la forma en que se muestran los datos y realizar cálculos utilizando expresiones aritméticas y operadores</a:t>
            </a:r>
            <a:endParaRPr sz="2400">
              <a:latin typeface="Calibri"/>
              <a:ea typeface="Calibri"/>
              <a:cs typeface="Calibri"/>
              <a:sym typeface="Calibri"/>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4"/>
          <p:cNvSpPr txBox="1"/>
          <p:nvPr>
            <p:ph type="title"/>
          </p:nvPr>
        </p:nvSpPr>
        <p:spPr>
          <a:xfrm>
            <a:off x="392112" y="748031"/>
            <a:ext cx="6448500" cy="520800"/>
          </a:xfrm>
          <a:prstGeom prst="rect">
            <a:avLst/>
          </a:prstGeom>
          <a:noFill/>
          <a:ln>
            <a:noFill/>
          </a:ln>
        </p:spPr>
        <p:txBody>
          <a:bodyPr anchorCtr="0" anchor="t" bIns="0" lIns="0" spcFirstLastPara="1" rIns="0" wrap="square" tIns="12700">
            <a:spAutoFit/>
          </a:bodyPr>
          <a:lstStyle/>
          <a:p>
            <a:pPr indent="0" lvl="0" marL="12700" rtl="0" algn="l">
              <a:lnSpc>
                <a:spcPct val="100000"/>
              </a:lnSpc>
              <a:spcBef>
                <a:spcPts val="0"/>
              </a:spcBef>
              <a:spcAft>
                <a:spcPts val="0"/>
              </a:spcAft>
              <a:buNone/>
            </a:pPr>
            <a:r>
              <a:rPr lang="en-US"/>
              <a:t>Resumen</a:t>
            </a:r>
            <a:endParaRPr/>
          </a:p>
        </p:txBody>
      </p:sp>
      <p:sp>
        <p:nvSpPr>
          <p:cNvPr id="369" name="Google Shape;369;p44"/>
          <p:cNvSpPr txBox="1"/>
          <p:nvPr>
            <p:ph idx="10" type="dt"/>
          </p:nvPr>
        </p:nvSpPr>
        <p:spPr>
          <a:xfrm>
            <a:off x="2827230" y="6510552"/>
            <a:ext cx="1427400" cy="270600"/>
          </a:xfrm>
          <a:prstGeom prst="rect">
            <a:avLst/>
          </a:prstGeom>
          <a:noFill/>
          <a:ln>
            <a:noFill/>
          </a:ln>
        </p:spPr>
        <p:txBody>
          <a:bodyPr anchorCtr="0" anchor="t" bIns="0" lIns="0" spcFirstLastPara="1" rIns="0" wrap="square" tIns="0">
            <a:spAutoFit/>
          </a:bodyPr>
          <a:lstStyle/>
          <a:p>
            <a:pPr indent="0" lvl="0" marL="12700" rtl="0" algn="l">
              <a:lnSpc>
                <a:spcPct val="106875"/>
              </a:lnSpc>
              <a:spcBef>
                <a:spcPts val="0"/>
              </a:spcBef>
              <a:spcAft>
                <a:spcPts val="0"/>
              </a:spcAft>
              <a:buNone/>
            </a:pPr>
            <a:r>
              <a:rPr lang="en-US"/>
              <a:t>DP 1-3</a:t>
            </a:r>
            <a:endParaRPr/>
          </a:p>
          <a:p>
            <a:pPr indent="0" lvl="0" marL="12700" rtl="0" algn="l">
              <a:lnSpc>
                <a:spcPct val="120624"/>
              </a:lnSpc>
              <a:spcBef>
                <a:spcPts val="0"/>
              </a:spcBef>
              <a:spcAft>
                <a:spcPts val="0"/>
              </a:spcAft>
              <a:buNone/>
            </a:pPr>
            <a:r>
              <a:rPr lang="en-US"/>
              <a:t>Anatomía de una Sentencia SQL</a:t>
            </a:r>
            <a:endParaRPr/>
          </a:p>
        </p:txBody>
      </p:sp>
      <p:sp>
        <p:nvSpPr>
          <p:cNvPr id="370" name="Google Shape;370;p44"/>
          <p:cNvSpPr txBox="1"/>
          <p:nvPr>
            <p:ph idx="11" type="ftr"/>
          </p:nvPr>
        </p:nvSpPr>
        <p:spPr>
          <a:xfrm>
            <a:off x="5172119" y="6589648"/>
            <a:ext cx="3223200" cy="130800"/>
          </a:xfrm>
          <a:prstGeom prst="rect">
            <a:avLst/>
          </a:prstGeom>
          <a:noFill/>
          <a:ln>
            <a:noFill/>
          </a:ln>
        </p:spPr>
        <p:txBody>
          <a:bodyPr anchorCtr="0" anchor="t" bIns="0" lIns="0" spcFirstLastPara="1" rIns="0" wrap="square" tIns="0">
            <a:spAutoFit/>
          </a:bodyPr>
          <a:lstStyle/>
          <a:p>
            <a:pPr indent="0" lvl="0" marL="12700" rtl="0" algn="l">
              <a:lnSpc>
                <a:spcPct val="113750"/>
              </a:lnSpc>
              <a:spcBef>
                <a:spcPts val="0"/>
              </a:spcBef>
              <a:spcAft>
                <a:spcPts val="0"/>
              </a:spcAft>
              <a:buNone/>
            </a:pPr>
            <a:r>
              <a:rPr lang="en-US"/>
              <a:t>Copyright © 2020, Oracle y/o sus filiales. Todos los derechos reservados.</a:t>
            </a:r>
            <a:endParaRPr/>
          </a:p>
        </p:txBody>
      </p:sp>
      <p:sp>
        <p:nvSpPr>
          <p:cNvPr id="371" name="Google Shape;371;p44"/>
          <p:cNvSpPr txBox="1"/>
          <p:nvPr>
            <p:ph idx="12" type="sldNum"/>
          </p:nvPr>
        </p:nvSpPr>
        <p:spPr>
          <a:xfrm>
            <a:off x="8601456" y="6589648"/>
            <a:ext cx="198900" cy="130800"/>
          </a:xfrm>
          <a:prstGeom prst="rect">
            <a:avLst/>
          </a:prstGeom>
          <a:noFill/>
          <a:ln>
            <a:noFill/>
          </a:ln>
        </p:spPr>
        <p:txBody>
          <a:bodyPr anchorCtr="0" anchor="t" bIns="0" lIns="0" spcFirstLastPara="1" rIns="0" wrap="square" tIns="0">
            <a:spAutoFit/>
          </a:bodyPr>
          <a:lstStyle/>
          <a:p>
            <a:pPr indent="0" lvl="0" marL="38100" rtl="0" algn="r">
              <a:spcBef>
                <a:spcPts val="0"/>
              </a:spcBef>
              <a:spcAft>
                <a:spcPts val="0"/>
              </a:spcAft>
              <a:buClr>
                <a:srgbClr val="000000"/>
              </a:buClr>
              <a:buFont typeface="Arial"/>
              <a:buNone/>
            </a:pPr>
            <a:fld id="{00000000-1234-1234-1234-123412341234}" type="slidenum">
              <a:rPr lang="en-US"/>
              <a:t>‹#›</a:t>
            </a:fld>
            <a:endParaRPr sz="1000">
              <a:solidFill>
                <a:schemeClr val="dk2"/>
              </a:solidFill>
              <a:latin typeface="Arial"/>
              <a:ea typeface="Arial"/>
              <a:cs typeface="Arial"/>
              <a:sym typeface="Arial"/>
            </a:endParaRPr>
          </a:p>
        </p:txBody>
      </p:sp>
      <p:sp>
        <p:nvSpPr>
          <p:cNvPr id="372" name="Google Shape;372;p44"/>
          <p:cNvSpPr txBox="1"/>
          <p:nvPr/>
        </p:nvSpPr>
        <p:spPr>
          <a:xfrm>
            <a:off x="483552" y="1393401"/>
            <a:ext cx="7548880" cy="2656840"/>
          </a:xfrm>
          <a:prstGeom prst="rect">
            <a:avLst/>
          </a:prstGeom>
          <a:noFill/>
          <a:ln>
            <a:noFill/>
          </a:ln>
        </p:spPr>
        <p:txBody>
          <a:bodyPr anchorCtr="0" anchor="t" bIns="0" lIns="0" spcFirstLastPara="1" rIns="0" wrap="square" tIns="34275">
            <a:spAutoFit/>
          </a:bodyPr>
          <a:lstStyle/>
          <a:p>
            <a:pPr indent="-177800" lvl="0" marL="183515" rtl="0" algn="l">
              <a:lnSpc>
                <a:spcPct val="100000"/>
              </a:lnSpc>
              <a:spcBef>
                <a:spcPts val="0"/>
              </a:spcBef>
              <a:spcAft>
                <a:spcPts val="0"/>
              </a:spcAft>
              <a:buClr>
                <a:srgbClr val="D1350F"/>
              </a:buClr>
              <a:buSzPts val="2800"/>
              <a:buFont typeface="Arial"/>
              <a:buChar char="•"/>
            </a:pPr>
            <a:r>
              <a:rPr lang="en-US" sz="2800">
                <a:solidFill>
                  <a:srgbClr val="4E3629"/>
                </a:solidFill>
                <a:latin typeface="Calibri"/>
                <a:ea typeface="Calibri"/>
                <a:cs typeface="Calibri"/>
                <a:sym typeface="Calibri"/>
              </a:rPr>
              <a:t>En esta lección, debe haber aprendido lo siguiente:</a:t>
            </a:r>
            <a:endParaRPr sz="2800">
              <a:latin typeface="Calibri"/>
              <a:ea typeface="Calibri"/>
              <a:cs typeface="Calibri"/>
              <a:sym typeface="Calibri"/>
            </a:endParaRPr>
          </a:p>
          <a:p>
            <a:pPr indent="-175260" lvl="0" marL="530860" marR="320040" rtl="0" algn="l">
              <a:lnSpc>
                <a:spcPct val="107916"/>
              </a:lnSpc>
              <a:spcBef>
                <a:spcPts val="47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Formular consultas mediante la prioridad de operador correcta para mostrar los resultados deseados</a:t>
            </a:r>
            <a:endParaRPr sz="2400">
              <a:latin typeface="Calibri"/>
              <a:ea typeface="Calibri"/>
              <a:cs typeface="Calibri"/>
              <a:sym typeface="Calibri"/>
            </a:endParaRPr>
          </a:p>
          <a:p>
            <a:pPr indent="0" lvl="0" marL="355600" rtl="0" algn="l">
              <a:lnSpc>
                <a:spcPct val="100000"/>
              </a:lnSpc>
              <a:spcBef>
                <a:spcPts val="70"/>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Definir un valor nulo</a:t>
            </a:r>
            <a:endParaRPr sz="2400">
              <a:latin typeface="Calibri"/>
              <a:ea typeface="Calibri"/>
              <a:cs typeface="Calibri"/>
              <a:sym typeface="Calibri"/>
            </a:endParaRPr>
          </a:p>
          <a:p>
            <a:pPr indent="-175260" lvl="0" marL="530860" marR="370840" rtl="0" algn="l">
              <a:lnSpc>
                <a:spcPct val="107916"/>
              </a:lnSpc>
              <a:spcBef>
                <a:spcPts val="434"/>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Demostrar el efecto que los valores nulos crean en las expresiones aritméticas</a:t>
            </a:r>
            <a:endParaRPr sz="2400">
              <a:latin typeface="Calibri"/>
              <a:ea typeface="Calibri"/>
              <a:cs typeface="Calibri"/>
              <a:sym typeface="Calibri"/>
            </a:endParaRPr>
          </a:p>
          <a:p>
            <a:pPr indent="0" lvl="0" marL="355600" rtl="0" algn="l">
              <a:lnSpc>
                <a:spcPct val="100000"/>
              </a:lnSpc>
              <a:spcBef>
                <a:spcPts val="85"/>
              </a:spcBef>
              <a:spcAft>
                <a:spcPts val="0"/>
              </a:spcAft>
              <a:buNone/>
            </a:pPr>
            <a:r>
              <a:rPr lang="en-US" sz="2400">
                <a:solidFill>
                  <a:srgbClr val="D1350F"/>
                </a:solidFill>
                <a:latin typeface="Calibri"/>
                <a:ea typeface="Calibri"/>
                <a:cs typeface="Calibri"/>
                <a:sym typeface="Calibri"/>
              </a:rPr>
              <a:t>−</a:t>
            </a:r>
            <a:r>
              <a:rPr lang="en-US" sz="2400">
                <a:solidFill>
                  <a:srgbClr val="4E3629"/>
                </a:solidFill>
                <a:latin typeface="Calibri"/>
                <a:ea typeface="Calibri"/>
                <a:cs typeface="Calibri"/>
                <a:sym typeface="Calibri"/>
              </a:rPr>
              <a:t>Construir una consulta con un alias de columna</a:t>
            </a:r>
            <a:endParaRPr sz="2400">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