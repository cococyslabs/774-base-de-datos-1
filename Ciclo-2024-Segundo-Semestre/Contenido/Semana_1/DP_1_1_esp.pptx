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schemas.openxmlformats.org/officeDocument/2006/relationships/slide" Target="slides/slide19.xml"/><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 name="Google Shape;66;p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 name="Google Shape;77;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 name="Google Shape;85;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2021-07-15 09:05:10</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Software de aplicación: programa que proporciona las instrucciones informáticas que otorgan al usuario las herramientas para realizar una tarea. Software de sistema: programas que interactúan con el hardware informático.</a:t>
            </a:r>
            <a:endParaRPr/>
          </a:p>
        </p:txBody>
      </p:sp>
      <p:sp>
        <p:nvSpPr>
          <p:cNvPr id="103" name="Google Shape;103;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2021-07-15 09:05:10</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"Oracle Application Express Learner Guide" se encuentra en la sección 0, Recursos del Curso, del curso Programación de Bases de Datos con SQL. Este documento le ayudará a familiarizarse con el uso de Oracle Application Express y cada uno de sus componentes desde la perspectiva de un usuario final.</a:t>
            </a:r>
            <a:endParaRPr/>
          </a:p>
        </p:txBody>
      </p:sp>
      <p:sp>
        <p:nvSpPr>
          <p:cNvPr id="148" name="Google Shape;148;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2021-07-15 09:05:10</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"Oracle Application Express Learner Guide" se encuentra en la sección 0, Recursos del Curso, del curso Programación de Bases de Datos con SQL. Este documento le ayudará a familiarizarse con el uso de Oracle Application Express y cada uno de sus componentes desde la perspectiva de un usuario final.</a:t>
            </a:r>
            <a:endParaRPr/>
          </a:p>
        </p:txBody>
      </p:sp>
      <p:sp>
        <p:nvSpPr>
          <p:cNvPr id="157" name="Google Shape;157;p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2021-07-15 09:05:10</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Sintaxis: las reglas que rigen la formación de sentencias en un lenguaje de programación. Los alumnos deben introducir el ejemplo anterior en APEX para ver la salida de resultados.</a:t>
            </a:r>
            <a:endParaRPr/>
          </a:p>
        </p:txBody>
      </p:sp>
      <p:sp>
        <p:nvSpPr>
          <p:cNvPr id="166" name="Google Shape;166;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2021-07-15 09:05:11</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La &lt;condition&gt; comienza con la palabra WHERE seguida de un &lt;column name&gt; y un operador de comparación (=, &gt;, &lt;, etc.) seguido de un valor o IS NULL, IS NOT NULL. Subjuego: una parte de un grupo mayor de cosas relacionadas.</a:t>
            </a:r>
            <a:endParaRPr/>
          </a:p>
          <a:p>
            <a:pPr indent="0" lvl="0" marL="0" rtl="0" algn="l">
              <a:spcBef>
                <a:spcPts val="0"/>
              </a:spcBef>
              <a:spcAft>
                <a:spcPts val="0"/>
              </a:spcAft>
              <a:buNone/>
            </a:pPr>
            <a:r>
              <a:rPr lang="en-US"/>
              <a:t>Operador de comparación: se utiliza en condiciones que comparan una expresión con otra expresión o valor. La sintaxis de las sentencias SELECT y los operadores se tratan con más detalle en las siguientes lecciones.</a:t>
            </a:r>
            <a:endParaRPr/>
          </a:p>
        </p:txBody>
      </p:sp>
      <p:sp>
        <p:nvSpPr>
          <p:cNvPr id="178" name="Google Shape;178;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2021-07-15 09:05:11</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Al aprender a escribir las sentencias SQL, es normal que se cometan errores al principio. Con práctica y experiencia, cometerá menos errores, y podrá rectificar errores más fácilmente.</a:t>
            </a:r>
            <a:endParaRPr/>
          </a:p>
        </p:txBody>
      </p:sp>
      <p:sp>
        <p:nvSpPr>
          <p:cNvPr id="190" name="Google Shape;190;p1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2021-07-15 09:05:11</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El profesor mostrará las tablas que se han creado en el esquema de su base de datos mediante el Explorador de objetos. </a:t>
            </a:r>
            <a:endParaRPr/>
          </a:p>
        </p:txBody>
      </p:sp>
      <p:sp>
        <p:nvSpPr>
          <p:cNvPr id="202" name="Google Shape;202;p1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1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1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29333a4f36_0_0:notes"/>
          <p:cNvSpPr/>
          <p:nvPr>
            <p:ph idx="2" type="sldImg"/>
          </p:nvPr>
        </p:nvSpPr>
        <p:spPr>
          <a:xfrm>
            <a:off x="1524300" y="514350"/>
            <a:ext cx="6096300" cy="25719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29333a4f36_0_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1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showMasterSp="0" type="obj">
  <p:cSld name="OBJECT">
    <p:bg>
      <p:bgPr>
        <a:solidFill>
          <a:schemeClr val="accent3"/>
        </a:solidFill>
      </p:bgPr>
    </p:bg>
    <p:spTree>
      <p:nvGrpSpPr>
        <p:cNvPr id="50" name="Shape 50"/>
        <p:cNvGrpSpPr/>
        <p:nvPr/>
      </p:nvGrpSpPr>
      <p:grpSpPr>
        <a:xfrm>
          <a:off x="0" y="0"/>
          <a:ext cx="0" cy="0"/>
          <a:chOff x="0" y="0"/>
          <a:chExt cx="0" cy="0"/>
        </a:xfrm>
      </p:grpSpPr>
      <p:sp>
        <p:nvSpPr>
          <p:cNvPr id="51" name="Google Shape;51;p13"/>
          <p:cNvSpPr/>
          <p:nvPr/>
        </p:nvSpPr>
        <p:spPr>
          <a:xfrm>
            <a:off x="0" y="0"/>
            <a:ext cx="9144000" cy="6858000"/>
          </a:xfrm>
          <a:custGeom>
            <a:rect b="b" l="l" r="r" t="t"/>
            <a:pathLst>
              <a:path extrusionOk="0" h="6858000" w="9144000">
                <a:moveTo>
                  <a:pt x="9144000" y="0"/>
                </a:moveTo>
                <a:lnTo>
                  <a:pt x="0" y="0"/>
                </a:lnTo>
                <a:lnTo>
                  <a:pt x="0" y="6858000"/>
                </a:lnTo>
                <a:lnTo>
                  <a:pt x="9144000" y="6858000"/>
                </a:lnTo>
                <a:lnTo>
                  <a:pt x="9144000" y="0"/>
                </a:lnTo>
                <a:close/>
              </a:path>
            </a:pathLst>
          </a:custGeom>
          <a:solidFill>
            <a:srgbClr val="DFE1E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52" name="Google Shape;52;p13"/>
          <p:cNvPicPr preferRelativeResize="0"/>
          <p:nvPr/>
        </p:nvPicPr>
        <p:blipFill rotWithShape="1">
          <a:blip r:embed="rId2">
            <a:alphaModFix/>
          </a:blip>
          <a:srcRect b="0" l="0" r="0" t="0"/>
          <a:stretch/>
        </p:blipFill>
        <p:spPr>
          <a:xfrm>
            <a:off x="192023" y="192023"/>
            <a:ext cx="8759950" cy="914399"/>
          </a:xfrm>
          <a:prstGeom prst="rect">
            <a:avLst/>
          </a:prstGeom>
          <a:noFill/>
          <a:ln>
            <a:noFill/>
          </a:ln>
        </p:spPr>
      </p:pic>
      <p:pic>
        <p:nvPicPr>
          <p:cNvPr id="53" name="Google Shape;53;p13"/>
          <p:cNvPicPr preferRelativeResize="0"/>
          <p:nvPr/>
        </p:nvPicPr>
        <p:blipFill rotWithShape="1">
          <a:blip r:embed="rId3">
            <a:alphaModFix/>
          </a:blip>
          <a:srcRect b="0" l="0" r="0" t="0"/>
          <a:stretch/>
        </p:blipFill>
        <p:spPr>
          <a:xfrm>
            <a:off x="192023" y="5751576"/>
            <a:ext cx="8759950" cy="914399"/>
          </a:xfrm>
          <a:prstGeom prst="rect">
            <a:avLst/>
          </a:prstGeom>
          <a:noFill/>
          <a:ln>
            <a:noFill/>
          </a:ln>
        </p:spPr>
      </p:pic>
      <p:pic>
        <p:nvPicPr>
          <p:cNvPr id="54" name="Google Shape;54;p13"/>
          <p:cNvPicPr preferRelativeResize="0"/>
          <p:nvPr/>
        </p:nvPicPr>
        <p:blipFill rotWithShape="1">
          <a:blip r:embed="rId4">
            <a:alphaModFix/>
          </a:blip>
          <a:srcRect b="0" l="0" r="0" t="0"/>
          <a:stretch/>
        </p:blipFill>
        <p:spPr>
          <a:xfrm>
            <a:off x="1834895" y="2514600"/>
            <a:ext cx="5474207" cy="1828799"/>
          </a:xfrm>
          <a:prstGeom prst="rect">
            <a:avLst/>
          </a:prstGeom>
          <a:noFill/>
          <a:ln>
            <a:noFill/>
          </a:ln>
        </p:spPr>
      </p:pic>
      <p:sp>
        <p:nvSpPr>
          <p:cNvPr id="55" name="Google Shape;55;p13"/>
          <p:cNvSpPr txBox="1"/>
          <p:nvPr>
            <p:ph idx="11" type="ftr"/>
          </p:nvPr>
        </p:nvSpPr>
        <p:spPr>
          <a:xfrm>
            <a:off x="5172119" y="6589648"/>
            <a:ext cx="3223200" cy="1341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3"/>
          <p:cNvSpPr txBox="1"/>
          <p:nvPr>
            <p:ph idx="10" type="dt"/>
          </p:nvPr>
        </p:nvSpPr>
        <p:spPr>
          <a:xfrm>
            <a:off x="2827230" y="6510552"/>
            <a:ext cx="1195800" cy="2496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13"/>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lvl1pPr indent="0" lvl="0" marL="38100">
              <a:lnSpc>
                <a:spcPct val="107058"/>
              </a:lnSpc>
              <a:spcBef>
                <a:spcPts val="0"/>
              </a:spcBef>
              <a:buNone/>
              <a:defRPr b="0" i="0" sz="850">
                <a:solidFill>
                  <a:srgbClr val="4E3629"/>
                </a:solidFill>
                <a:latin typeface="Calibri"/>
                <a:ea typeface="Calibri"/>
                <a:cs typeface="Calibri"/>
                <a:sym typeface="Calibri"/>
              </a:defRPr>
            </a:lvl1pPr>
            <a:lvl2pPr indent="0" lvl="1" marL="38100">
              <a:lnSpc>
                <a:spcPct val="107058"/>
              </a:lnSpc>
              <a:spcBef>
                <a:spcPts val="0"/>
              </a:spcBef>
              <a:buNone/>
              <a:defRPr b="0" i="0" sz="850">
                <a:solidFill>
                  <a:srgbClr val="4E3629"/>
                </a:solidFill>
                <a:latin typeface="Calibri"/>
                <a:ea typeface="Calibri"/>
                <a:cs typeface="Calibri"/>
                <a:sym typeface="Calibri"/>
              </a:defRPr>
            </a:lvl2pPr>
            <a:lvl3pPr indent="0" lvl="2" marL="38100">
              <a:lnSpc>
                <a:spcPct val="107058"/>
              </a:lnSpc>
              <a:spcBef>
                <a:spcPts val="0"/>
              </a:spcBef>
              <a:buNone/>
              <a:defRPr b="0" i="0" sz="850">
                <a:solidFill>
                  <a:srgbClr val="4E3629"/>
                </a:solidFill>
                <a:latin typeface="Calibri"/>
                <a:ea typeface="Calibri"/>
                <a:cs typeface="Calibri"/>
                <a:sym typeface="Calibri"/>
              </a:defRPr>
            </a:lvl3pPr>
            <a:lvl4pPr indent="0" lvl="3" marL="38100">
              <a:lnSpc>
                <a:spcPct val="107058"/>
              </a:lnSpc>
              <a:spcBef>
                <a:spcPts val="0"/>
              </a:spcBef>
              <a:buNone/>
              <a:defRPr b="0" i="0" sz="850">
                <a:solidFill>
                  <a:srgbClr val="4E3629"/>
                </a:solidFill>
                <a:latin typeface="Calibri"/>
                <a:ea typeface="Calibri"/>
                <a:cs typeface="Calibri"/>
                <a:sym typeface="Calibri"/>
              </a:defRPr>
            </a:lvl4pPr>
            <a:lvl5pPr indent="0" lvl="4" marL="38100">
              <a:lnSpc>
                <a:spcPct val="107058"/>
              </a:lnSpc>
              <a:spcBef>
                <a:spcPts val="0"/>
              </a:spcBef>
              <a:buNone/>
              <a:defRPr b="0" i="0" sz="850">
                <a:solidFill>
                  <a:srgbClr val="4E3629"/>
                </a:solidFill>
                <a:latin typeface="Calibri"/>
                <a:ea typeface="Calibri"/>
                <a:cs typeface="Calibri"/>
                <a:sym typeface="Calibri"/>
              </a:defRPr>
            </a:lvl5pPr>
            <a:lvl6pPr indent="0" lvl="5" marL="38100">
              <a:lnSpc>
                <a:spcPct val="107058"/>
              </a:lnSpc>
              <a:spcBef>
                <a:spcPts val="0"/>
              </a:spcBef>
              <a:buNone/>
              <a:defRPr b="0" i="0" sz="850">
                <a:solidFill>
                  <a:srgbClr val="4E3629"/>
                </a:solidFill>
                <a:latin typeface="Calibri"/>
                <a:ea typeface="Calibri"/>
                <a:cs typeface="Calibri"/>
                <a:sym typeface="Calibri"/>
              </a:defRPr>
            </a:lvl6pPr>
            <a:lvl7pPr indent="0" lvl="6" marL="38100">
              <a:lnSpc>
                <a:spcPct val="107058"/>
              </a:lnSpc>
              <a:spcBef>
                <a:spcPts val="0"/>
              </a:spcBef>
              <a:buNone/>
              <a:defRPr b="0" i="0" sz="850">
                <a:solidFill>
                  <a:srgbClr val="4E3629"/>
                </a:solidFill>
                <a:latin typeface="Calibri"/>
                <a:ea typeface="Calibri"/>
                <a:cs typeface="Calibri"/>
                <a:sym typeface="Calibri"/>
              </a:defRPr>
            </a:lvl7pPr>
            <a:lvl8pPr indent="0" lvl="7" marL="38100">
              <a:lnSpc>
                <a:spcPct val="107058"/>
              </a:lnSpc>
              <a:spcBef>
                <a:spcPts val="0"/>
              </a:spcBef>
              <a:buNone/>
              <a:defRPr b="0" i="0" sz="850">
                <a:solidFill>
                  <a:srgbClr val="4E3629"/>
                </a:solidFill>
                <a:latin typeface="Calibri"/>
                <a:ea typeface="Calibri"/>
                <a:cs typeface="Calibri"/>
                <a:sym typeface="Calibri"/>
              </a:defRPr>
            </a:lvl8pPr>
            <a:lvl9pPr indent="0" lvl="8" marL="38100">
              <a:lnSpc>
                <a:spcPct val="107058"/>
              </a:lnSpc>
              <a:spcBef>
                <a:spcPts val="0"/>
              </a:spcBef>
              <a:buNone/>
              <a:defRPr b="0" i="0" sz="850">
                <a:solidFill>
                  <a:srgbClr val="4E3629"/>
                </a:solidFill>
                <a:latin typeface="Calibri"/>
                <a:ea typeface="Calibri"/>
                <a:cs typeface="Calibri"/>
                <a:sym typeface="Calibri"/>
              </a:defRPr>
            </a:lvl9pPr>
          </a:lstStyle>
          <a:p>
            <a:pPr indent="0" lvl="0" marL="38100" rtl="0" algn="r">
              <a:spcBef>
                <a:spcPts val="0"/>
              </a:spcBef>
              <a:spcAft>
                <a:spcPts val="0"/>
              </a:spcAft>
              <a:buNone/>
            </a:pPr>
            <a:fld id="{00000000-1234-1234-1234-123412341234}" type="slidenum">
              <a:rPr lang="en-US"/>
              <a:t>‹#›</a:t>
            </a:fld>
            <a:endParaRPr sz="1000">
              <a:solidFill>
                <a:schemeClr val="dk2"/>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8" name="Shape 58"/>
        <p:cNvGrpSpPr/>
        <p:nvPr/>
      </p:nvGrpSpPr>
      <p:grpSpPr>
        <a:xfrm>
          <a:off x="0" y="0"/>
          <a:ext cx="0" cy="0"/>
          <a:chOff x="0" y="0"/>
          <a:chExt cx="0" cy="0"/>
        </a:xfrm>
      </p:grpSpPr>
      <p:sp>
        <p:nvSpPr>
          <p:cNvPr id="59" name="Google Shape;59;p14"/>
          <p:cNvSpPr txBox="1"/>
          <p:nvPr>
            <p:ph type="title"/>
          </p:nvPr>
        </p:nvSpPr>
        <p:spPr>
          <a:xfrm>
            <a:off x="392112" y="748031"/>
            <a:ext cx="6215400" cy="5283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0" i="0" sz="3300">
                <a:solidFill>
                  <a:srgbClr val="4E3629"/>
                </a:solidFill>
                <a:latin typeface="Calibri"/>
                <a:ea typeface="Calibri"/>
                <a:cs typeface="Calibri"/>
                <a:sym typeface="Calibri"/>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0" name="Google Shape;60;p14"/>
          <p:cNvSpPr txBox="1"/>
          <p:nvPr>
            <p:ph idx="1" type="body"/>
          </p:nvPr>
        </p:nvSpPr>
        <p:spPr>
          <a:xfrm>
            <a:off x="483552" y="1415417"/>
            <a:ext cx="8138100" cy="33444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b="0" i="0" sz="2800">
                <a:solidFill>
                  <a:srgbClr val="4E3629"/>
                </a:solidFill>
                <a:latin typeface="Calibri"/>
                <a:ea typeface="Calibri"/>
                <a:cs typeface="Calibri"/>
                <a:sym typeface="Calibri"/>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61" name="Google Shape;61;p14"/>
          <p:cNvSpPr txBox="1"/>
          <p:nvPr>
            <p:ph idx="11" type="ftr"/>
          </p:nvPr>
        </p:nvSpPr>
        <p:spPr>
          <a:xfrm>
            <a:off x="5172119" y="6589648"/>
            <a:ext cx="3223200" cy="1341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4"/>
          <p:cNvSpPr txBox="1"/>
          <p:nvPr>
            <p:ph idx="10" type="dt"/>
          </p:nvPr>
        </p:nvSpPr>
        <p:spPr>
          <a:xfrm>
            <a:off x="2827230" y="6510552"/>
            <a:ext cx="1195800" cy="2496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4"/>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lvl1pPr indent="0" lvl="0" marL="38100">
              <a:lnSpc>
                <a:spcPct val="107058"/>
              </a:lnSpc>
              <a:spcBef>
                <a:spcPts val="0"/>
              </a:spcBef>
              <a:buNone/>
              <a:defRPr b="0" i="0" sz="850">
                <a:solidFill>
                  <a:srgbClr val="4E3629"/>
                </a:solidFill>
                <a:latin typeface="Calibri"/>
                <a:ea typeface="Calibri"/>
                <a:cs typeface="Calibri"/>
                <a:sym typeface="Calibri"/>
              </a:defRPr>
            </a:lvl1pPr>
            <a:lvl2pPr indent="0" lvl="1" marL="38100">
              <a:lnSpc>
                <a:spcPct val="107058"/>
              </a:lnSpc>
              <a:spcBef>
                <a:spcPts val="0"/>
              </a:spcBef>
              <a:buNone/>
              <a:defRPr b="0" i="0" sz="850">
                <a:solidFill>
                  <a:srgbClr val="4E3629"/>
                </a:solidFill>
                <a:latin typeface="Calibri"/>
                <a:ea typeface="Calibri"/>
                <a:cs typeface="Calibri"/>
                <a:sym typeface="Calibri"/>
              </a:defRPr>
            </a:lvl2pPr>
            <a:lvl3pPr indent="0" lvl="2" marL="38100">
              <a:lnSpc>
                <a:spcPct val="107058"/>
              </a:lnSpc>
              <a:spcBef>
                <a:spcPts val="0"/>
              </a:spcBef>
              <a:buNone/>
              <a:defRPr b="0" i="0" sz="850">
                <a:solidFill>
                  <a:srgbClr val="4E3629"/>
                </a:solidFill>
                <a:latin typeface="Calibri"/>
                <a:ea typeface="Calibri"/>
                <a:cs typeface="Calibri"/>
                <a:sym typeface="Calibri"/>
              </a:defRPr>
            </a:lvl3pPr>
            <a:lvl4pPr indent="0" lvl="3" marL="38100">
              <a:lnSpc>
                <a:spcPct val="107058"/>
              </a:lnSpc>
              <a:spcBef>
                <a:spcPts val="0"/>
              </a:spcBef>
              <a:buNone/>
              <a:defRPr b="0" i="0" sz="850">
                <a:solidFill>
                  <a:srgbClr val="4E3629"/>
                </a:solidFill>
                <a:latin typeface="Calibri"/>
                <a:ea typeface="Calibri"/>
                <a:cs typeface="Calibri"/>
                <a:sym typeface="Calibri"/>
              </a:defRPr>
            </a:lvl4pPr>
            <a:lvl5pPr indent="0" lvl="4" marL="38100">
              <a:lnSpc>
                <a:spcPct val="107058"/>
              </a:lnSpc>
              <a:spcBef>
                <a:spcPts val="0"/>
              </a:spcBef>
              <a:buNone/>
              <a:defRPr b="0" i="0" sz="850">
                <a:solidFill>
                  <a:srgbClr val="4E3629"/>
                </a:solidFill>
                <a:latin typeface="Calibri"/>
                <a:ea typeface="Calibri"/>
                <a:cs typeface="Calibri"/>
                <a:sym typeface="Calibri"/>
              </a:defRPr>
            </a:lvl5pPr>
            <a:lvl6pPr indent="0" lvl="5" marL="38100">
              <a:lnSpc>
                <a:spcPct val="107058"/>
              </a:lnSpc>
              <a:spcBef>
                <a:spcPts val="0"/>
              </a:spcBef>
              <a:buNone/>
              <a:defRPr b="0" i="0" sz="850">
                <a:solidFill>
                  <a:srgbClr val="4E3629"/>
                </a:solidFill>
                <a:latin typeface="Calibri"/>
                <a:ea typeface="Calibri"/>
                <a:cs typeface="Calibri"/>
                <a:sym typeface="Calibri"/>
              </a:defRPr>
            </a:lvl6pPr>
            <a:lvl7pPr indent="0" lvl="6" marL="38100">
              <a:lnSpc>
                <a:spcPct val="107058"/>
              </a:lnSpc>
              <a:spcBef>
                <a:spcPts val="0"/>
              </a:spcBef>
              <a:buNone/>
              <a:defRPr b="0" i="0" sz="850">
                <a:solidFill>
                  <a:srgbClr val="4E3629"/>
                </a:solidFill>
                <a:latin typeface="Calibri"/>
                <a:ea typeface="Calibri"/>
                <a:cs typeface="Calibri"/>
                <a:sym typeface="Calibri"/>
              </a:defRPr>
            </a:lvl7pPr>
            <a:lvl8pPr indent="0" lvl="7" marL="38100">
              <a:lnSpc>
                <a:spcPct val="107058"/>
              </a:lnSpc>
              <a:spcBef>
                <a:spcPts val="0"/>
              </a:spcBef>
              <a:buNone/>
              <a:defRPr b="0" i="0" sz="850">
                <a:solidFill>
                  <a:srgbClr val="4E3629"/>
                </a:solidFill>
                <a:latin typeface="Calibri"/>
                <a:ea typeface="Calibri"/>
                <a:cs typeface="Calibri"/>
                <a:sym typeface="Calibri"/>
              </a:defRPr>
            </a:lvl8pPr>
            <a:lvl9pPr indent="0" lvl="8" marL="38100">
              <a:lnSpc>
                <a:spcPct val="107058"/>
              </a:lnSpc>
              <a:spcBef>
                <a:spcPts val="0"/>
              </a:spcBef>
              <a:buNone/>
              <a:defRPr b="0" i="0" sz="850">
                <a:solidFill>
                  <a:srgbClr val="4E3629"/>
                </a:solidFill>
                <a:latin typeface="Calibri"/>
                <a:ea typeface="Calibri"/>
                <a:cs typeface="Calibri"/>
                <a:sym typeface="Calibri"/>
              </a:defRPr>
            </a:lvl9pPr>
          </a:lstStyle>
          <a:p>
            <a:pPr indent="0" lvl="0" marL="38100" rtl="0" algn="r">
              <a:spcBef>
                <a:spcPts val="0"/>
              </a:spcBef>
              <a:spcAft>
                <a:spcPts val="0"/>
              </a:spcAft>
              <a:buNone/>
            </a:pPr>
            <a:fld id="{00000000-1234-1234-1234-123412341234}" type="slidenum">
              <a:rPr lang="en-US"/>
              <a:t>‹#›</a:t>
            </a:fld>
            <a:endParaRPr sz="1000">
              <a:solidFill>
                <a:schemeClr val="dk2"/>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3"/>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accent3"/>
        </a:solidFill>
      </p:bgPr>
    </p:bg>
    <p:spTree>
      <p:nvGrpSpPr>
        <p:cNvPr id="67" name="Shape 67"/>
        <p:cNvGrpSpPr/>
        <p:nvPr/>
      </p:nvGrpSpPr>
      <p:grpSpPr>
        <a:xfrm>
          <a:off x="0" y="0"/>
          <a:ext cx="0" cy="0"/>
          <a:chOff x="0" y="0"/>
          <a:chExt cx="0" cy="0"/>
        </a:xfrm>
      </p:grpSpPr>
      <p:grpSp>
        <p:nvGrpSpPr>
          <p:cNvPr id="68" name="Google Shape;68;p15"/>
          <p:cNvGrpSpPr/>
          <p:nvPr/>
        </p:nvGrpSpPr>
        <p:grpSpPr>
          <a:xfrm>
            <a:off x="0" y="0"/>
            <a:ext cx="9144000" cy="6858000"/>
            <a:chOff x="0" y="0"/>
            <a:chExt cx="9144000" cy="6858000"/>
          </a:xfrm>
        </p:grpSpPr>
        <p:pic>
          <p:nvPicPr>
            <p:cNvPr id="69" name="Google Shape;69;p15"/>
            <p:cNvPicPr preferRelativeResize="0"/>
            <p:nvPr/>
          </p:nvPicPr>
          <p:blipFill rotWithShape="1">
            <a:blip r:embed="rId3">
              <a:alphaModFix/>
            </a:blip>
            <a:srcRect b="0" l="0" r="0" t="0"/>
            <a:stretch/>
          </p:blipFill>
          <p:spPr>
            <a:xfrm>
              <a:off x="0" y="0"/>
              <a:ext cx="9144000" cy="6858000"/>
            </a:xfrm>
            <a:prstGeom prst="rect">
              <a:avLst/>
            </a:prstGeom>
            <a:noFill/>
            <a:ln>
              <a:noFill/>
            </a:ln>
          </p:spPr>
        </p:pic>
        <p:sp>
          <p:nvSpPr>
            <p:cNvPr id="70" name="Google Shape;70;p15"/>
            <p:cNvSpPr/>
            <p:nvPr/>
          </p:nvSpPr>
          <p:spPr>
            <a:xfrm>
              <a:off x="560831" y="702563"/>
              <a:ext cx="8022590" cy="5453380"/>
            </a:xfrm>
            <a:custGeom>
              <a:rect b="b" l="l" r="r" t="t"/>
              <a:pathLst>
                <a:path extrusionOk="0" h="5453380" w="8022590">
                  <a:moveTo>
                    <a:pt x="8022335" y="0"/>
                  </a:moveTo>
                  <a:lnTo>
                    <a:pt x="0" y="0"/>
                  </a:lnTo>
                  <a:lnTo>
                    <a:pt x="0" y="5452872"/>
                  </a:lnTo>
                  <a:lnTo>
                    <a:pt x="8022335" y="5452872"/>
                  </a:lnTo>
                  <a:lnTo>
                    <a:pt x="8022335" y="0"/>
                  </a:lnTo>
                  <a:close/>
                </a:path>
              </a:pathLst>
            </a:custGeom>
            <a:solidFill>
              <a:srgbClr val="DFE1E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71" name="Google Shape;71;p15"/>
            <p:cNvPicPr preferRelativeResize="0"/>
            <p:nvPr/>
          </p:nvPicPr>
          <p:blipFill rotWithShape="1">
            <a:blip r:embed="rId4">
              <a:alphaModFix/>
            </a:blip>
            <a:srcRect b="0" l="0" r="0" t="0"/>
            <a:stretch/>
          </p:blipFill>
          <p:spPr>
            <a:xfrm>
              <a:off x="970787" y="5570219"/>
              <a:ext cx="1258823" cy="420623"/>
            </a:xfrm>
            <a:prstGeom prst="rect">
              <a:avLst/>
            </a:prstGeom>
            <a:noFill/>
            <a:ln>
              <a:noFill/>
            </a:ln>
          </p:spPr>
        </p:pic>
      </p:grpSp>
      <p:sp>
        <p:nvSpPr>
          <p:cNvPr id="72" name="Google Shape;72;p15"/>
          <p:cNvSpPr txBox="1"/>
          <p:nvPr>
            <p:ph type="title"/>
          </p:nvPr>
        </p:nvSpPr>
        <p:spPr>
          <a:xfrm>
            <a:off x="958315" y="855591"/>
            <a:ext cx="7047900" cy="1574400"/>
          </a:xfrm>
          <a:prstGeom prst="rect">
            <a:avLst/>
          </a:prstGeom>
          <a:noFill/>
          <a:ln>
            <a:noFill/>
          </a:ln>
        </p:spPr>
        <p:txBody>
          <a:bodyPr anchorCtr="0" anchor="t" bIns="0" lIns="0" spcFirstLastPara="1" rIns="0" wrap="square" tIns="153650">
            <a:spAutoFit/>
          </a:bodyPr>
          <a:lstStyle/>
          <a:p>
            <a:pPr indent="0" lvl="0" marL="12700" marR="5080" rtl="0" algn="l">
              <a:lnSpc>
                <a:spcPct val="96041"/>
              </a:lnSpc>
              <a:spcBef>
                <a:spcPts val="0"/>
              </a:spcBef>
              <a:spcAft>
                <a:spcPts val="0"/>
              </a:spcAft>
              <a:buNone/>
            </a:pPr>
            <a:r>
              <a:rPr lang="en-US" sz="4800"/>
              <a:t>Database Programming with SQL</a:t>
            </a:r>
            <a:endParaRPr sz="4800"/>
          </a:p>
        </p:txBody>
      </p:sp>
      <p:sp>
        <p:nvSpPr>
          <p:cNvPr id="73" name="Google Shape;73;p15"/>
          <p:cNvSpPr txBox="1"/>
          <p:nvPr/>
        </p:nvSpPr>
        <p:spPr>
          <a:xfrm>
            <a:off x="962879" y="2400950"/>
            <a:ext cx="3373120" cy="888365"/>
          </a:xfrm>
          <a:prstGeom prst="rect">
            <a:avLst/>
          </a:prstGeom>
          <a:noFill/>
          <a:ln>
            <a:noFill/>
          </a:ln>
        </p:spPr>
        <p:txBody>
          <a:bodyPr anchorCtr="0" anchor="t" bIns="0" lIns="0" spcFirstLastPara="1" rIns="0" wrap="square" tIns="78100">
            <a:spAutoFit/>
          </a:bodyPr>
          <a:lstStyle/>
          <a:p>
            <a:pPr indent="0" lvl="0" marL="12700" rtl="0" algn="l">
              <a:lnSpc>
                <a:spcPct val="100000"/>
              </a:lnSpc>
              <a:spcBef>
                <a:spcPts val="0"/>
              </a:spcBef>
              <a:spcAft>
                <a:spcPts val="0"/>
              </a:spcAft>
              <a:buNone/>
            </a:pPr>
            <a:r>
              <a:rPr b="1" lang="en-US" sz="2400">
                <a:solidFill>
                  <a:srgbClr val="4E3629"/>
                </a:solidFill>
                <a:latin typeface="Calibri"/>
                <a:ea typeface="Calibri"/>
                <a:cs typeface="Calibri"/>
                <a:sym typeface="Calibri"/>
              </a:rPr>
              <a:t>1-1</a:t>
            </a:r>
            <a:endParaRPr sz="2400">
              <a:latin typeface="Calibri"/>
              <a:ea typeface="Calibri"/>
              <a:cs typeface="Calibri"/>
              <a:sym typeface="Calibri"/>
            </a:endParaRPr>
          </a:p>
          <a:p>
            <a:pPr indent="0" lvl="0" marL="12700" rtl="0" algn="l">
              <a:lnSpc>
                <a:spcPct val="100000"/>
              </a:lnSpc>
              <a:spcBef>
                <a:spcPts val="515"/>
              </a:spcBef>
              <a:spcAft>
                <a:spcPts val="0"/>
              </a:spcAft>
              <a:buNone/>
            </a:pPr>
            <a:r>
              <a:rPr b="1" lang="en-US" sz="2400">
                <a:solidFill>
                  <a:srgbClr val="4E3629"/>
                </a:solidFill>
                <a:latin typeface="Calibri"/>
                <a:ea typeface="Calibri"/>
                <a:cs typeface="Calibri"/>
                <a:sym typeface="Calibri"/>
              </a:rPr>
              <a:t>Oracle Application Express</a:t>
            </a:r>
            <a:endParaRPr sz="2400">
              <a:latin typeface="Calibri"/>
              <a:ea typeface="Calibri"/>
              <a:cs typeface="Calibri"/>
              <a:sym typeface="Calibri"/>
            </a:endParaRPr>
          </a:p>
        </p:txBody>
      </p:sp>
      <p:pic>
        <p:nvPicPr>
          <p:cNvPr id="74" name="Google Shape;74;p15"/>
          <p:cNvPicPr preferRelativeResize="0"/>
          <p:nvPr/>
        </p:nvPicPr>
        <p:blipFill rotWithShape="1">
          <a:blip r:embed="rId5">
            <a:alphaModFix/>
          </a:blip>
          <a:srcRect b="0" l="0" r="0" t="0"/>
          <a:stretch/>
        </p:blipFill>
        <p:spPr>
          <a:xfrm>
            <a:off x="171797" y="3589113"/>
            <a:ext cx="5058157" cy="296570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type="title"/>
          </p:nvPr>
        </p:nvSpPr>
        <p:spPr>
          <a:xfrm>
            <a:off x="392112" y="748031"/>
            <a:ext cx="6215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Objetivos</a:t>
            </a:r>
            <a:endParaRPr/>
          </a:p>
        </p:txBody>
      </p:sp>
      <p:sp>
        <p:nvSpPr>
          <p:cNvPr id="80" name="Google Shape;80;p16"/>
          <p:cNvSpPr txBox="1"/>
          <p:nvPr>
            <p:ph idx="10" type="dt"/>
          </p:nvPr>
        </p:nvSpPr>
        <p:spPr>
          <a:xfrm>
            <a:off x="2827230" y="6510552"/>
            <a:ext cx="1195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1-1</a:t>
            </a:r>
            <a:endParaRPr/>
          </a:p>
          <a:p>
            <a:pPr indent="0" lvl="0" marL="12700" rtl="0" algn="l">
              <a:lnSpc>
                <a:spcPct val="120624"/>
              </a:lnSpc>
              <a:spcBef>
                <a:spcPts val="0"/>
              </a:spcBef>
              <a:spcAft>
                <a:spcPts val="0"/>
              </a:spcAft>
              <a:buNone/>
            </a:pPr>
            <a:r>
              <a:rPr lang="en-US"/>
              <a:t>Oracle Application Express</a:t>
            </a:r>
            <a:endParaRPr/>
          </a:p>
        </p:txBody>
      </p:sp>
      <p:sp>
        <p:nvSpPr>
          <p:cNvPr id="81" name="Google Shape;81;p16"/>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82" name="Google Shape;82;p16"/>
          <p:cNvSpPr txBox="1"/>
          <p:nvPr>
            <p:ph idx="1" type="body"/>
          </p:nvPr>
        </p:nvSpPr>
        <p:spPr>
          <a:xfrm>
            <a:off x="483552" y="1415417"/>
            <a:ext cx="8138100" cy="3376500"/>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a:t>En esta lección se abordan los siguientes objetivos:</a:t>
            </a:r>
            <a:endParaRPr/>
          </a:p>
          <a:p>
            <a:pPr indent="-175260" lvl="0" marL="530860" marR="836294" rtl="0" algn="l">
              <a:lnSpc>
                <a:spcPct val="107916"/>
              </a:lnSpc>
              <a:spcBef>
                <a:spcPts val="475"/>
              </a:spcBef>
              <a:spcAft>
                <a:spcPts val="0"/>
              </a:spcAft>
              <a:buNone/>
            </a:pPr>
            <a:r>
              <a:rPr lang="en-US" sz="2400">
                <a:solidFill>
                  <a:srgbClr val="D1350F"/>
                </a:solidFill>
              </a:rPr>
              <a:t>−</a:t>
            </a:r>
            <a:r>
              <a:rPr lang="en-US" sz="2400"/>
              <a:t>Distinguir entre software de aplicaciones y software de sistema y dar un ejemplo de cada</a:t>
            </a:r>
            <a:endParaRPr sz="2400"/>
          </a:p>
          <a:p>
            <a:pPr indent="0" lvl="0" marL="355600" rtl="0" algn="l">
              <a:lnSpc>
                <a:spcPct val="100000"/>
              </a:lnSpc>
              <a:spcBef>
                <a:spcPts val="70"/>
              </a:spcBef>
              <a:spcAft>
                <a:spcPts val="0"/>
              </a:spcAft>
              <a:buNone/>
            </a:pPr>
            <a:r>
              <a:rPr lang="en-US" sz="2400">
                <a:solidFill>
                  <a:srgbClr val="D1350F"/>
                </a:solidFill>
              </a:rPr>
              <a:t>−</a:t>
            </a:r>
            <a:r>
              <a:rPr lang="en-US" sz="2400"/>
              <a:t>Conectarse al entorno de prácticas Oracle Application Express</a:t>
            </a:r>
            <a:endParaRPr sz="2400"/>
          </a:p>
          <a:p>
            <a:pPr indent="-175260" lvl="0" marL="530860" marR="238125" rtl="0" algn="l">
              <a:lnSpc>
                <a:spcPct val="107916"/>
              </a:lnSpc>
              <a:spcBef>
                <a:spcPts val="434"/>
              </a:spcBef>
              <a:spcAft>
                <a:spcPts val="0"/>
              </a:spcAft>
              <a:buNone/>
            </a:pPr>
            <a:r>
              <a:rPr lang="en-US" sz="2400">
                <a:solidFill>
                  <a:srgbClr val="D1350F"/>
                </a:solidFill>
              </a:rPr>
              <a:t>−</a:t>
            </a:r>
            <a:r>
              <a:rPr lang="en-US" sz="2400"/>
              <a:t>Ejecutar una consulta simple para recuperar información de la base de datos</a:t>
            </a:r>
            <a:endParaRPr sz="2400"/>
          </a:p>
          <a:p>
            <a:pPr indent="-175260" lvl="0" marL="530860" marR="356870" rtl="0" algn="l">
              <a:lnSpc>
                <a:spcPct val="107916"/>
              </a:lnSpc>
              <a:spcBef>
                <a:spcPts val="415"/>
              </a:spcBef>
              <a:spcAft>
                <a:spcPts val="1200"/>
              </a:spcAft>
              <a:buNone/>
            </a:pPr>
            <a:r>
              <a:rPr lang="en-US" sz="2400">
                <a:solidFill>
                  <a:srgbClr val="D1350F"/>
                </a:solidFill>
              </a:rPr>
              <a:t>−</a:t>
            </a:r>
            <a:r>
              <a:rPr lang="en-US" sz="2400"/>
              <a:t>Aplicar las reglas de SQL para mostrar todas las columnas y un subjuego de columnas especificado por criterios</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ph type="title"/>
          </p:nvPr>
        </p:nvSpPr>
        <p:spPr>
          <a:xfrm>
            <a:off x="392112" y="748031"/>
            <a:ext cx="6215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a:t>
            </a:r>
            <a:endParaRPr/>
          </a:p>
        </p:txBody>
      </p:sp>
      <p:sp>
        <p:nvSpPr>
          <p:cNvPr id="88" name="Google Shape;88;p17"/>
          <p:cNvSpPr txBox="1"/>
          <p:nvPr>
            <p:ph idx="10" type="dt"/>
          </p:nvPr>
        </p:nvSpPr>
        <p:spPr>
          <a:xfrm>
            <a:off x="2827230" y="6510552"/>
            <a:ext cx="1195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1-1</a:t>
            </a:r>
            <a:endParaRPr/>
          </a:p>
          <a:p>
            <a:pPr indent="0" lvl="0" marL="12700" rtl="0" algn="l">
              <a:lnSpc>
                <a:spcPct val="120624"/>
              </a:lnSpc>
              <a:spcBef>
                <a:spcPts val="0"/>
              </a:spcBef>
              <a:spcAft>
                <a:spcPts val="0"/>
              </a:spcAft>
              <a:buNone/>
            </a:pPr>
            <a:r>
              <a:rPr lang="en-US"/>
              <a:t>Oracle Application Express</a:t>
            </a:r>
            <a:endParaRPr/>
          </a:p>
        </p:txBody>
      </p:sp>
      <p:sp>
        <p:nvSpPr>
          <p:cNvPr id="89" name="Google Shape;89;p1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90" name="Google Shape;90;p17"/>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91" name="Google Shape;91;p17"/>
          <p:cNvSpPr txBox="1"/>
          <p:nvPr/>
        </p:nvSpPr>
        <p:spPr>
          <a:xfrm>
            <a:off x="483552" y="1415417"/>
            <a:ext cx="8114665" cy="4213225"/>
          </a:xfrm>
          <a:prstGeom prst="rect">
            <a:avLst/>
          </a:prstGeom>
          <a:noFill/>
          <a:ln>
            <a:noFill/>
          </a:ln>
        </p:spPr>
        <p:txBody>
          <a:bodyPr anchorCtr="0" anchor="t" bIns="0" lIns="0" spcFirstLastPara="1" rIns="0" wrap="square" tIns="59675">
            <a:spAutoFit/>
          </a:bodyPr>
          <a:lstStyle/>
          <a:p>
            <a:pPr indent="-177800" lvl="0" marL="182880" marR="9588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Cada día, de un modo u otro, se entra en contacto con 	aplicaciones informáticas</a:t>
            </a:r>
            <a:endParaRPr sz="2800">
              <a:latin typeface="Calibri"/>
              <a:ea typeface="Calibri"/>
              <a:cs typeface="Calibri"/>
              <a:sym typeface="Calibri"/>
            </a:endParaRPr>
          </a:p>
          <a:p>
            <a:pPr indent="-177800" lvl="0" marL="182880" marR="12065"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hoy ha comprobado el correo electrónico, 	probablemente lo haya hecho mediante una aplicación</a:t>
            </a:r>
            <a:endParaRPr sz="2800">
              <a:latin typeface="Calibri"/>
              <a:ea typeface="Calibri"/>
              <a:cs typeface="Calibri"/>
              <a:sym typeface="Calibri"/>
            </a:endParaRPr>
          </a:p>
          <a:p>
            <a:pPr indent="-177800" lvl="0" marL="182880" marR="5080" rtl="0" algn="l">
              <a:lnSpc>
                <a:spcPct val="108214"/>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ha comprado un artículo en una tienda de 	comestibles, el dependiente ha escaneado dicho 	artículo utilizando una aplicación que calcula su cuenta 	y actualiza el inventario de la tienda</a:t>
            </a:r>
            <a:endParaRPr sz="2800">
              <a:latin typeface="Calibri"/>
              <a:ea typeface="Calibri"/>
              <a:cs typeface="Calibri"/>
              <a:sym typeface="Calibri"/>
            </a:endParaRPr>
          </a:p>
          <a:p>
            <a:pPr indent="-177800" lvl="0" marL="182880" marR="688975" rtl="0" algn="l">
              <a:lnSpc>
                <a:spcPct val="108214"/>
              </a:lnSpc>
              <a:spcBef>
                <a:spcPts val="77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este curso, aprenderá la sintaxis de SQL con la 	aplicación denominada Oracle Application Express</a:t>
            </a:r>
            <a:endParaRPr sz="280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ph type="title"/>
          </p:nvPr>
        </p:nvSpPr>
        <p:spPr>
          <a:xfrm>
            <a:off x="392112" y="748031"/>
            <a:ext cx="6215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Programas de Aplicación</a:t>
            </a:r>
            <a:endParaRPr/>
          </a:p>
        </p:txBody>
      </p:sp>
      <p:sp>
        <p:nvSpPr>
          <p:cNvPr id="97" name="Google Shape;97;p18"/>
          <p:cNvSpPr txBox="1"/>
          <p:nvPr>
            <p:ph idx="10" type="dt"/>
          </p:nvPr>
        </p:nvSpPr>
        <p:spPr>
          <a:xfrm>
            <a:off x="2827230" y="6510552"/>
            <a:ext cx="1195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1-1</a:t>
            </a:r>
            <a:endParaRPr/>
          </a:p>
          <a:p>
            <a:pPr indent="0" lvl="0" marL="12700" rtl="0" algn="l">
              <a:lnSpc>
                <a:spcPct val="120624"/>
              </a:lnSpc>
              <a:spcBef>
                <a:spcPts val="0"/>
              </a:spcBef>
              <a:spcAft>
                <a:spcPts val="0"/>
              </a:spcAft>
              <a:buNone/>
            </a:pPr>
            <a:r>
              <a:rPr lang="en-US"/>
              <a:t>Oracle Application Express</a:t>
            </a:r>
            <a:endParaRPr/>
          </a:p>
        </p:txBody>
      </p:sp>
      <p:sp>
        <p:nvSpPr>
          <p:cNvPr id="98" name="Google Shape;98;p1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99" name="Google Shape;99;p18"/>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00" name="Google Shape;100;p18"/>
          <p:cNvSpPr txBox="1"/>
          <p:nvPr/>
        </p:nvSpPr>
        <p:spPr>
          <a:xfrm>
            <a:off x="483552" y="1415417"/>
            <a:ext cx="8154670" cy="449707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Aunque las computadoras han existido desde hace 	mucho tiempo (posiblemente antes de que naciera), su 	uso para la informática empresarial y personal no tuvo 	lugar hasta que se desarrollaron los programas de 	aplicaciones</a:t>
            </a:r>
            <a:endParaRPr sz="2800">
              <a:latin typeface="Calibri"/>
              <a:ea typeface="Calibri"/>
              <a:cs typeface="Calibri"/>
              <a:sym typeface="Calibri"/>
            </a:endParaRPr>
          </a:p>
          <a:p>
            <a:pPr indent="-177800" lvl="0" marL="182880" marR="198120" rtl="0" algn="l">
              <a:lnSpc>
                <a:spcPct val="108214"/>
              </a:lnSpc>
              <a:spcBef>
                <a:spcPts val="77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Los programas de aplicación permiten al usuario final, 	personas como usted y yo, comprar programas 	completamente desarrollados, listos para usar</a:t>
            </a:r>
            <a:endParaRPr sz="2800">
              <a:latin typeface="Calibri"/>
              <a:ea typeface="Calibri"/>
              <a:cs typeface="Calibri"/>
              <a:sym typeface="Calibri"/>
            </a:endParaRPr>
          </a:p>
          <a:p>
            <a:pPr indent="-177800" lvl="0" marL="182880" marR="833755"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Ya no era necesario saber cómo funcionaba el 	programa, tan solo que lo hacía y realizaba lo que 	queríamos que hiciera</a:t>
            </a:r>
            <a:endParaRPr sz="280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9"/>
          <p:cNvSpPr txBox="1"/>
          <p:nvPr>
            <p:ph type="title"/>
          </p:nvPr>
        </p:nvSpPr>
        <p:spPr>
          <a:xfrm>
            <a:off x="392112" y="748031"/>
            <a:ext cx="6215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Programas de Aplicación</a:t>
            </a:r>
            <a:endParaRPr/>
          </a:p>
        </p:txBody>
      </p:sp>
      <p:sp>
        <p:nvSpPr>
          <p:cNvPr id="106" name="Google Shape;106;p19"/>
          <p:cNvSpPr txBox="1"/>
          <p:nvPr>
            <p:ph idx="10" type="dt"/>
          </p:nvPr>
        </p:nvSpPr>
        <p:spPr>
          <a:xfrm>
            <a:off x="2827230" y="6510552"/>
            <a:ext cx="1195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1-1</a:t>
            </a:r>
            <a:endParaRPr/>
          </a:p>
          <a:p>
            <a:pPr indent="0" lvl="0" marL="12700" rtl="0" algn="l">
              <a:lnSpc>
                <a:spcPct val="120624"/>
              </a:lnSpc>
              <a:spcBef>
                <a:spcPts val="0"/>
              </a:spcBef>
              <a:spcAft>
                <a:spcPts val="0"/>
              </a:spcAft>
              <a:buNone/>
            </a:pPr>
            <a:r>
              <a:rPr lang="en-US"/>
              <a:t>Oracle Application Express</a:t>
            </a:r>
            <a:endParaRPr/>
          </a:p>
        </p:txBody>
      </p:sp>
      <p:sp>
        <p:nvSpPr>
          <p:cNvPr id="107" name="Google Shape;107;p1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08" name="Google Shape;108;p19"/>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09" name="Google Shape;109;p19"/>
          <p:cNvSpPr txBox="1"/>
          <p:nvPr/>
        </p:nvSpPr>
        <p:spPr>
          <a:xfrm>
            <a:off x="483552" y="1381889"/>
            <a:ext cx="8152765" cy="4170045"/>
          </a:xfrm>
          <a:prstGeom prst="rect">
            <a:avLst/>
          </a:prstGeom>
          <a:noFill/>
          <a:ln>
            <a:noFill/>
          </a:ln>
        </p:spPr>
        <p:txBody>
          <a:bodyPr anchorCtr="0" anchor="t" bIns="0" lIns="0" spcFirstLastPara="1" rIns="0" wrap="square" tIns="97150">
            <a:spAutoFit/>
          </a:bodyPr>
          <a:lstStyle/>
          <a:p>
            <a:pPr indent="-177800" lvl="0" marL="182880" marR="5080"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software de programas de aplicación es diferente del 	software de sistema</a:t>
            </a:r>
            <a:endParaRPr sz="2800">
              <a:latin typeface="Calibri"/>
              <a:ea typeface="Calibri"/>
              <a:cs typeface="Calibri"/>
              <a:sym typeface="Calibri"/>
            </a:endParaRPr>
          </a:p>
          <a:p>
            <a:pPr indent="-177800" lvl="0" marL="182880" marR="483870" rtl="0" algn="l">
              <a:lnSpc>
                <a:spcPct val="80000"/>
              </a:lnSpc>
              <a:spcBef>
                <a:spcPts val="8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software de sistema consta de programas de bajo 	nivel diseñados para interactuar con el hardware 	informático</a:t>
            </a:r>
            <a:endParaRPr sz="2800">
              <a:latin typeface="Calibri"/>
              <a:ea typeface="Calibri"/>
              <a:cs typeface="Calibri"/>
              <a:sym typeface="Calibri"/>
            </a:endParaRPr>
          </a:p>
          <a:p>
            <a:pPr indent="-177800" lvl="0" marL="182880" marR="609600" rtl="0" algn="l">
              <a:lnSpc>
                <a:spcPct val="80000"/>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Los sistemas operativos, los compiladores y las 	utilidades del sistema son ejemplos de software de 	sistema</a:t>
            </a:r>
            <a:endParaRPr sz="2800">
              <a:latin typeface="Calibri"/>
              <a:ea typeface="Calibri"/>
              <a:cs typeface="Calibri"/>
              <a:sym typeface="Calibri"/>
            </a:endParaRPr>
          </a:p>
          <a:p>
            <a:pPr indent="-177800" lvl="0" marL="182880" marR="767715" rtl="0" algn="l">
              <a:lnSpc>
                <a:spcPct val="80000"/>
              </a:lnSpc>
              <a:spcBef>
                <a:spcPts val="8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el contrario, el software de aplicación incluye 	programas para procesamiento de texto, bases de 	datos, juegos, correo electrónico y gráficos</a:t>
            </a:r>
            <a:endParaRPr sz="280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0"/>
          <p:cNvSpPr txBox="1"/>
          <p:nvPr>
            <p:ph type="title"/>
          </p:nvPr>
        </p:nvSpPr>
        <p:spPr>
          <a:xfrm>
            <a:off x="392112" y="748031"/>
            <a:ext cx="6215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Programas de Aplicación</a:t>
            </a:r>
            <a:endParaRPr/>
          </a:p>
        </p:txBody>
      </p:sp>
      <p:sp>
        <p:nvSpPr>
          <p:cNvPr id="115" name="Google Shape;115;p20"/>
          <p:cNvSpPr txBox="1"/>
          <p:nvPr>
            <p:ph idx="10" type="dt"/>
          </p:nvPr>
        </p:nvSpPr>
        <p:spPr>
          <a:xfrm>
            <a:off x="2827230" y="6510552"/>
            <a:ext cx="1195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1-1</a:t>
            </a:r>
            <a:endParaRPr/>
          </a:p>
          <a:p>
            <a:pPr indent="0" lvl="0" marL="12700" rtl="0" algn="l">
              <a:lnSpc>
                <a:spcPct val="120624"/>
              </a:lnSpc>
              <a:spcBef>
                <a:spcPts val="0"/>
              </a:spcBef>
              <a:spcAft>
                <a:spcPts val="0"/>
              </a:spcAft>
              <a:buNone/>
            </a:pPr>
            <a:r>
              <a:rPr lang="en-US"/>
              <a:t>Oracle Application Express</a:t>
            </a:r>
            <a:endParaRPr/>
          </a:p>
        </p:txBody>
      </p:sp>
      <p:sp>
        <p:nvSpPr>
          <p:cNvPr id="116" name="Google Shape;116;p2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17" name="Google Shape;117;p20"/>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18" name="Google Shape;118;p20"/>
          <p:cNvSpPr txBox="1"/>
          <p:nvPr/>
        </p:nvSpPr>
        <p:spPr>
          <a:xfrm>
            <a:off x="483552" y="1415417"/>
            <a:ext cx="8068945" cy="3728720"/>
          </a:xfrm>
          <a:prstGeom prst="rect">
            <a:avLst/>
          </a:prstGeom>
          <a:noFill/>
          <a:ln>
            <a:noFill/>
          </a:ln>
        </p:spPr>
        <p:txBody>
          <a:bodyPr anchorCtr="0" anchor="t" bIns="0" lIns="0" spcFirstLastPara="1" rIns="0" wrap="square" tIns="59675">
            <a:spAutoFit/>
          </a:bodyPr>
          <a:lstStyle/>
          <a:p>
            <a:pPr indent="-177800" lvl="0" marL="182880" marR="120967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Yahoo.com utiliza la base de datos Oracle para 	almacenar datos</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lugar de hacer que todos los usuarios que deseen 	buscar en la base de datos o recuperar correo 	electrónico aprendan SQL, una aplicación tiene todo el 	SQL (y otros lenguajes de codificación) programado en 	ella</a:t>
            </a:r>
            <a:endParaRPr sz="2800">
              <a:latin typeface="Calibri"/>
              <a:ea typeface="Calibri"/>
              <a:cs typeface="Calibri"/>
              <a:sym typeface="Calibri"/>
            </a:endParaRPr>
          </a:p>
          <a:p>
            <a:pPr indent="-177800" lvl="0" marL="182880" marR="74930" rtl="0" algn="l">
              <a:lnSpc>
                <a:spcPct val="108214"/>
              </a:lnSpc>
              <a:spcBef>
                <a:spcPts val="77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Con unos clics del mouse, los usuarios tienen acceso a 	toda la información que necesitan</a:t>
            </a:r>
            <a:endParaRPr sz="28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1"/>
          <p:cNvSpPr txBox="1"/>
          <p:nvPr>
            <p:ph type="title"/>
          </p:nvPr>
        </p:nvSpPr>
        <p:spPr>
          <a:xfrm>
            <a:off x="392112" y="748031"/>
            <a:ext cx="6215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Uso de Aplicaciones</a:t>
            </a:r>
            <a:endParaRPr/>
          </a:p>
        </p:txBody>
      </p:sp>
      <p:sp>
        <p:nvSpPr>
          <p:cNvPr id="124" name="Google Shape;124;p21"/>
          <p:cNvSpPr txBox="1"/>
          <p:nvPr>
            <p:ph idx="10" type="dt"/>
          </p:nvPr>
        </p:nvSpPr>
        <p:spPr>
          <a:xfrm>
            <a:off x="2827230" y="6510552"/>
            <a:ext cx="1195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1-1</a:t>
            </a:r>
            <a:endParaRPr/>
          </a:p>
          <a:p>
            <a:pPr indent="0" lvl="0" marL="12700" rtl="0" algn="l">
              <a:lnSpc>
                <a:spcPct val="120624"/>
              </a:lnSpc>
              <a:spcBef>
                <a:spcPts val="0"/>
              </a:spcBef>
              <a:spcAft>
                <a:spcPts val="0"/>
              </a:spcAft>
              <a:buNone/>
            </a:pPr>
            <a:r>
              <a:rPr lang="en-US"/>
              <a:t>Oracle Application Express</a:t>
            </a:r>
            <a:endParaRPr/>
          </a:p>
        </p:txBody>
      </p:sp>
      <p:sp>
        <p:nvSpPr>
          <p:cNvPr id="125" name="Google Shape;125;p2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26" name="Google Shape;126;p21"/>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27" name="Google Shape;127;p21"/>
          <p:cNvSpPr txBox="1"/>
          <p:nvPr/>
        </p:nvSpPr>
        <p:spPr>
          <a:xfrm>
            <a:off x="483552" y="1381889"/>
            <a:ext cx="8029575" cy="4511040"/>
          </a:xfrm>
          <a:prstGeom prst="rect">
            <a:avLst/>
          </a:prstGeom>
          <a:noFill/>
          <a:ln>
            <a:noFill/>
          </a:ln>
        </p:spPr>
        <p:txBody>
          <a:bodyPr anchorCtr="0" anchor="t" bIns="0" lIns="0" spcFirstLastPara="1" rIns="0" wrap="square" tIns="12050">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Una aplicación es como un vehículo</a:t>
            </a:r>
            <a:endParaRPr sz="2800">
              <a:latin typeface="Calibri"/>
              <a:ea typeface="Calibri"/>
              <a:cs typeface="Calibri"/>
              <a:sym typeface="Calibri"/>
            </a:endParaRPr>
          </a:p>
          <a:p>
            <a:pPr indent="-177800" lvl="0" marL="182880" marR="947419" rtl="0" algn="l">
              <a:lnSpc>
                <a:spcPct val="80000"/>
              </a:lnSpc>
              <a:spcBef>
                <a:spcPts val="8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conducir un vehículo, es necesario saber lo 	suficiente para hacerlo funcionar</a:t>
            </a:r>
            <a:endParaRPr sz="2800">
              <a:latin typeface="Calibri"/>
              <a:ea typeface="Calibri"/>
              <a:cs typeface="Calibri"/>
              <a:sym typeface="Calibri"/>
            </a:endParaRPr>
          </a:p>
          <a:p>
            <a:pPr indent="-177800" lvl="0" marL="182880" marR="155575" rtl="0" algn="l">
              <a:lnSpc>
                <a:spcPct val="80000"/>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Tiene una especie de "shell" para ocultar todas las 	cosas que no necesita saber, como el modo en que 	funciona la transmisión o cómo se usa el combustible 	como la gasolina o el diésel para alimentar el motor</a:t>
            </a:r>
            <a:endParaRPr sz="2800">
              <a:latin typeface="Calibri"/>
              <a:ea typeface="Calibri"/>
              <a:cs typeface="Calibri"/>
              <a:sym typeface="Calibri"/>
            </a:endParaRPr>
          </a:p>
          <a:p>
            <a:pPr indent="-177800" lvl="0" marL="182880" marR="5080" rtl="0" algn="l">
              <a:lnSpc>
                <a:spcPct val="80000"/>
              </a:lnSpc>
              <a:spcBef>
                <a:spcPts val="81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¿Podría haber obtenido el carnet de conducir si 	hubiera tenido que demostrar la comprensión de cada 	sistema (eléctrico, de transmisión, hidráulico, de 	combustible, etc.) que se utiliza para que funcione un 	vehículo?</a:t>
            </a:r>
            <a:endParaRPr sz="2800">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2"/>
          <p:cNvSpPr txBox="1"/>
          <p:nvPr>
            <p:ph type="title"/>
          </p:nvPr>
        </p:nvSpPr>
        <p:spPr>
          <a:xfrm>
            <a:off x="392112" y="748031"/>
            <a:ext cx="6215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Oracle Application Express</a:t>
            </a:r>
            <a:endParaRPr/>
          </a:p>
        </p:txBody>
      </p:sp>
      <p:sp>
        <p:nvSpPr>
          <p:cNvPr id="133" name="Google Shape;133;p22"/>
          <p:cNvSpPr txBox="1"/>
          <p:nvPr>
            <p:ph idx="10" type="dt"/>
          </p:nvPr>
        </p:nvSpPr>
        <p:spPr>
          <a:xfrm>
            <a:off x="2827230" y="6510552"/>
            <a:ext cx="1195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1-1</a:t>
            </a:r>
            <a:endParaRPr/>
          </a:p>
          <a:p>
            <a:pPr indent="0" lvl="0" marL="12700" rtl="0" algn="l">
              <a:lnSpc>
                <a:spcPct val="120624"/>
              </a:lnSpc>
              <a:spcBef>
                <a:spcPts val="0"/>
              </a:spcBef>
              <a:spcAft>
                <a:spcPts val="0"/>
              </a:spcAft>
              <a:buNone/>
            </a:pPr>
            <a:r>
              <a:rPr lang="en-US"/>
              <a:t>Oracle Application Express</a:t>
            </a:r>
            <a:endParaRPr/>
          </a:p>
        </p:txBody>
      </p:sp>
      <p:sp>
        <p:nvSpPr>
          <p:cNvPr id="134" name="Google Shape;134;p2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35" name="Google Shape;135;p22"/>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36" name="Google Shape;136;p22"/>
          <p:cNvSpPr txBox="1"/>
          <p:nvPr/>
        </p:nvSpPr>
        <p:spPr>
          <a:xfrm>
            <a:off x="483552" y="1355371"/>
            <a:ext cx="8186420" cy="3789045"/>
          </a:xfrm>
          <a:prstGeom prst="rect">
            <a:avLst/>
          </a:prstGeom>
          <a:noFill/>
          <a:ln>
            <a:noFill/>
          </a:ln>
        </p:spPr>
        <p:txBody>
          <a:bodyPr anchorCtr="0" anchor="t" bIns="0" lIns="0" spcFirstLastPara="1" rIns="0" wrap="square" tIns="71750">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este curso, utilizará Oracle Application Express</a:t>
            </a:r>
            <a:endParaRPr sz="2800">
              <a:latin typeface="Calibri"/>
              <a:ea typeface="Calibri"/>
              <a:cs typeface="Calibri"/>
              <a:sym typeface="Calibri"/>
            </a:endParaRPr>
          </a:p>
          <a:p>
            <a:pPr indent="-177800" lvl="0" marL="182880" marR="22225" rtl="0" algn="l">
              <a:lnSpc>
                <a:spcPct val="108214"/>
              </a:lnSpc>
              <a:spcBef>
                <a:spcPts val="844"/>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Esta aplicación permite a muchos de los 	desarrolladores crear y acceder a las aplicaciones como 	si estuvieran en ejecución en bases de datos 	independientes</a:t>
            </a:r>
            <a:endParaRPr sz="2800">
              <a:latin typeface="Calibri"/>
              <a:ea typeface="Calibri"/>
              <a:cs typeface="Calibri"/>
              <a:sym typeface="Calibri"/>
            </a:endParaRPr>
          </a:p>
          <a:p>
            <a:pPr indent="-177800" lvl="0" marL="182880" marR="5080"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Con funciones integradas como temas de diseño, 	controles de navegación, manejadores de formularios e 	informes flexibles, Oracle Application Express acelera el 	proceso de desarrollo de la aplicación</a:t>
            </a:r>
            <a:endParaRPr sz="2800">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3"/>
          <p:cNvSpPr txBox="1"/>
          <p:nvPr>
            <p:ph type="title"/>
          </p:nvPr>
        </p:nvSpPr>
        <p:spPr>
          <a:xfrm>
            <a:off x="392112" y="748031"/>
            <a:ext cx="6215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Oracle Application Express</a:t>
            </a:r>
            <a:endParaRPr/>
          </a:p>
        </p:txBody>
      </p:sp>
      <p:sp>
        <p:nvSpPr>
          <p:cNvPr id="142" name="Google Shape;142;p23"/>
          <p:cNvSpPr txBox="1"/>
          <p:nvPr>
            <p:ph idx="10" type="dt"/>
          </p:nvPr>
        </p:nvSpPr>
        <p:spPr>
          <a:xfrm>
            <a:off x="2827230" y="6510552"/>
            <a:ext cx="1195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1-1</a:t>
            </a:r>
            <a:endParaRPr/>
          </a:p>
          <a:p>
            <a:pPr indent="0" lvl="0" marL="12700" rtl="0" algn="l">
              <a:lnSpc>
                <a:spcPct val="120624"/>
              </a:lnSpc>
              <a:spcBef>
                <a:spcPts val="0"/>
              </a:spcBef>
              <a:spcAft>
                <a:spcPts val="0"/>
              </a:spcAft>
              <a:buNone/>
            </a:pPr>
            <a:r>
              <a:rPr lang="en-US"/>
              <a:t>Oracle Application Express</a:t>
            </a:r>
            <a:endParaRPr/>
          </a:p>
        </p:txBody>
      </p:sp>
      <p:sp>
        <p:nvSpPr>
          <p:cNvPr id="143" name="Google Shape;143;p2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44" name="Google Shape;144;p23"/>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45" name="Google Shape;145;p23"/>
          <p:cNvSpPr txBox="1"/>
          <p:nvPr/>
        </p:nvSpPr>
        <p:spPr>
          <a:xfrm>
            <a:off x="483552" y="1393401"/>
            <a:ext cx="7823200" cy="2973070"/>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Dos componentes en Oracle Application Express son:</a:t>
            </a:r>
            <a:endParaRPr sz="2800">
              <a:latin typeface="Calibri"/>
              <a:ea typeface="Calibri"/>
              <a:cs typeface="Calibri"/>
              <a:sym typeface="Calibri"/>
            </a:endParaRPr>
          </a:p>
          <a:p>
            <a:pPr indent="0" lvl="0" marL="355600" rtl="0" algn="l">
              <a:lnSpc>
                <a:spcPct val="100000"/>
              </a:lnSpc>
              <a:spcBef>
                <a:spcPts val="14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Taller de SQL</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Creador de Aplicaciones</a:t>
            </a:r>
            <a:endParaRPr sz="2400">
              <a:latin typeface="Calibri"/>
              <a:ea typeface="Calibri"/>
              <a:cs typeface="Calibri"/>
              <a:sym typeface="Calibri"/>
            </a:endParaRPr>
          </a:p>
          <a:p>
            <a:pPr indent="-177800" lvl="0" marL="182880" marR="94615" rtl="0" algn="l">
              <a:lnSpc>
                <a:spcPct val="108214"/>
              </a:lnSpc>
              <a:spcBef>
                <a:spcPts val="8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obtener más información sobre SQL, utilizará el 	componente Taller de SQL</a:t>
            </a:r>
            <a:endParaRPr sz="2800">
              <a:latin typeface="Calibri"/>
              <a:ea typeface="Calibri"/>
              <a:cs typeface="Calibri"/>
              <a:sym typeface="Calibri"/>
            </a:endParaRPr>
          </a:p>
          <a:p>
            <a:pPr indent="-177800" lvl="0" marL="182880" marR="604520"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diseñar una aplicación, se utiliza Creador de 	Aplicaciones</a:t>
            </a:r>
            <a:endParaRPr sz="2800">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4"/>
          <p:cNvSpPr txBox="1"/>
          <p:nvPr>
            <p:ph type="title"/>
          </p:nvPr>
        </p:nvSpPr>
        <p:spPr>
          <a:xfrm>
            <a:off x="392112" y="748031"/>
            <a:ext cx="6215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Oracle Application Express</a:t>
            </a:r>
            <a:endParaRPr/>
          </a:p>
        </p:txBody>
      </p:sp>
      <p:sp>
        <p:nvSpPr>
          <p:cNvPr id="151" name="Google Shape;151;p24"/>
          <p:cNvSpPr txBox="1"/>
          <p:nvPr>
            <p:ph idx="10" type="dt"/>
          </p:nvPr>
        </p:nvSpPr>
        <p:spPr>
          <a:xfrm>
            <a:off x="2827230" y="6510552"/>
            <a:ext cx="1195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1-1</a:t>
            </a:r>
            <a:endParaRPr/>
          </a:p>
          <a:p>
            <a:pPr indent="0" lvl="0" marL="12700" rtl="0" algn="l">
              <a:lnSpc>
                <a:spcPct val="120624"/>
              </a:lnSpc>
              <a:spcBef>
                <a:spcPts val="0"/>
              </a:spcBef>
              <a:spcAft>
                <a:spcPts val="0"/>
              </a:spcAft>
              <a:buNone/>
            </a:pPr>
            <a:r>
              <a:rPr lang="en-US"/>
              <a:t>Oracle Application Express</a:t>
            </a:r>
            <a:endParaRPr/>
          </a:p>
        </p:txBody>
      </p:sp>
      <p:sp>
        <p:nvSpPr>
          <p:cNvPr id="152" name="Google Shape;152;p24"/>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53" name="Google Shape;153;p24"/>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54" name="Google Shape;154;p24"/>
          <p:cNvSpPr txBox="1"/>
          <p:nvPr>
            <p:ph idx="1" type="body"/>
          </p:nvPr>
        </p:nvSpPr>
        <p:spPr>
          <a:xfrm>
            <a:off x="483552" y="1415417"/>
            <a:ext cx="8138100" cy="3957900"/>
          </a:xfrm>
          <a:prstGeom prst="rect">
            <a:avLst/>
          </a:prstGeom>
          <a:noFill/>
          <a:ln>
            <a:noFill/>
          </a:ln>
        </p:spPr>
        <p:txBody>
          <a:bodyPr anchorCtr="0" anchor="t" bIns="0" lIns="0" spcFirstLastPara="1" rIns="0" wrap="square" tIns="59675">
            <a:spAutoFit/>
          </a:bodyPr>
          <a:lstStyle/>
          <a:p>
            <a:pPr indent="-177800" lvl="0" marL="182880" marR="499109" rtl="0" algn="l">
              <a:lnSpc>
                <a:spcPct val="108214"/>
              </a:lnSpc>
              <a:spcBef>
                <a:spcPts val="0"/>
              </a:spcBef>
              <a:spcAft>
                <a:spcPts val="0"/>
              </a:spcAft>
              <a:buClr>
                <a:srgbClr val="D1350F"/>
              </a:buClr>
              <a:buSzPts val="2800"/>
              <a:buFont typeface="Arial"/>
              <a:buChar char="•"/>
            </a:pPr>
            <a:r>
              <a:rPr lang="en-US"/>
              <a:t>Oracle Application Express (APEX) es la herramienta 	que utilizaremos para que pueda crear tablas y 	recuperar información de una base de datos Oracle</a:t>
            </a:r>
            <a:endParaRPr/>
          </a:p>
          <a:p>
            <a:pPr indent="-177800" lvl="0" marL="182880" marR="5080" rtl="0" algn="l">
              <a:lnSpc>
                <a:spcPct val="108214"/>
              </a:lnSpc>
              <a:spcBef>
                <a:spcPts val="785"/>
              </a:spcBef>
              <a:spcAft>
                <a:spcPts val="0"/>
              </a:spcAft>
              <a:buClr>
                <a:srgbClr val="D1350F"/>
              </a:buClr>
              <a:buSzPts val="2800"/>
              <a:buFont typeface="Arial"/>
              <a:buChar char="•"/>
            </a:pPr>
            <a:r>
              <a:rPr lang="en-US"/>
              <a:t>Al recuperar información de una base de datos, a 	menudo deberá buscar un subjuego de los datos según 	unos criterios de búsqueda específicos</a:t>
            </a:r>
            <a:endParaRPr/>
          </a:p>
          <a:p>
            <a:pPr indent="-177800" lvl="0" marL="182880" marR="754380" rtl="0" algn="l">
              <a:lnSpc>
                <a:spcPct val="108214"/>
              </a:lnSpc>
              <a:spcBef>
                <a:spcPts val="790"/>
              </a:spcBef>
              <a:spcAft>
                <a:spcPts val="1200"/>
              </a:spcAft>
              <a:buClr>
                <a:srgbClr val="D1350F"/>
              </a:buClr>
              <a:buSzPts val="2800"/>
              <a:buFont typeface="Arial"/>
              <a:buChar char="•"/>
            </a:pPr>
            <a:r>
              <a:rPr lang="en-US"/>
              <a:t>Familiarizarse con SQL le ayudará a encontrar más 	rápidamente la información que necesita</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5"/>
          <p:cNvSpPr txBox="1"/>
          <p:nvPr>
            <p:ph type="title"/>
          </p:nvPr>
        </p:nvSpPr>
        <p:spPr>
          <a:xfrm>
            <a:off x="392112" y="748031"/>
            <a:ext cx="6215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Oracle Application Express</a:t>
            </a:r>
            <a:endParaRPr/>
          </a:p>
        </p:txBody>
      </p:sp>
      <p:sp>
        <p:nvSpPr>
          <p:cNvPr id="160" name="Google Shape;160;p25"/>
          <p:cNvSpPr txBox="1"/>
          <p:nvPr>
            <p:ph idx="10" type="dt"/>
          </p:nvPr>
        </p:nvSpPr>
        <p:spPr>
          <a:xfrm>
            <a:off x="2827230" y="6510552"/>
            <a:ext cx="1195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1-1</a:t>
            </a:r>
            <a:endParaRPr/>
          </a:p>
          <a:p>
            <a:pPr indent="0" lvl="0" marL="12700" rtl="0" algn="l">
              <a:lnSpc>
                <a:spcPct val="120624"/>
              </a:lnSpc>
              <a:spcBef>
                <a:spcPts val="0"/>
              </a:spcBef>
              <a:spcAft>
                <a:spcPts val="0"/>
              </a:spcAft>
              <a:buNone/>
            </a:pPr>
            <a:r>
              <a:rPr lang="en-US"/>
              <a:t>Oracle Application Express</a:t>
            </a:r>
            <a:endParaRPr/>
          </a:p>
        </p:txBody>
      </p:sp>
      <p:sp>
        <p:nvSpPr>
          <p:cNvPr id="161" name="Google Shape;161;p2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62" name="Google Shape;162;p25"/>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63" name="Google Shape;163;p25"/>
          <p:cNvSpPr txBox="1"/>
          <p:nvPr/>
        </p:nvSpPr>
        <p:spPr>
          <a:xfrm>
            <a:off x="483552" y="1415417"/>
            <a:ext cx="8068945" cy="4213225"/>
          </a:xfrm>
          <a:prstGeom prst="rect">
            <a:avLst/>
          </a:prstGeom>
          <a:noFill/>
          <a:ln>
            <a:noFill/>
          </a:ln>
        </p:spPr>
        <p:txBody>
          <a:bodyPr anchorCtr="0" anchor="t" bIns="0" lIns="0" spcFirstLastPara="1" rIns="0" wrap="square" tIns="59675">
            <a:spAutoFit/>
          </a:bodyPr>
          <a:lstStyle/>
          <a:p>
            <a:pPr indent="-177800" lvl="0" marL="182880" marR="43434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cuentas de Oracle Application Express (APEX) se 	suministran sin tablas ni datos</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obtener el archivo de script, vaya a Section 0 – 	Course Resources de Learner – Learning Path del curso 	y seleccione el script que desee</a:t>
            </a:r>
            <a:endParaRPr sz="2800">
              <a:latin typeface="Calibri"/>
              <a:ea typeface="Calibri"/>
              <a:cs typeface="Calibri"/>
              <a:sym typeface="Calibri"/>
            </a:endParaRPr>
          </a:p>
          <a:p>
            <a:pPr indent="-177800" lvl="0" marL="182880" marR="10033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Al ejecutar el script, las tablas y los datos utilizados en 	el curso se agregarán a su esquema</a:t>
            </a:r>
            <a:endParaRPr sz="2800">
              <a:latin typeface="Calibri"/>
              <a:ea typeface="Calibri"/>
              <a:cs typeface="Calibri"/>
              <a:sym typeface="Calibri"/>
            </a:endParaRPr>
          </a:p>
          <a:p>
            <a:pPr indent="-177800" lvl="0" marL="182880" marR="332740"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obtener más información sobre el uso de APEX, 	consulte las Guías para el alumno y el instructor de 	iAcademy APEX</a:t>
            </a:r>
            <a:endParaRPr sz="2800">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6"/>
          <p:cNvSpPr txBox="1"/>
          <p:nvPr>
            <p:ph type="title"/>
          </p:nvPr>
        </p:nvSpPr>
        <p:spPr>
          <a:xfrm>
            <a:off x="392112" y="748031"/>
            <a:ext cx="6215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Sentencia SELECT básica</a:t>
            </a:r>
            <a:endParaRPr/>
          </a:p>
        </p:txBody>
      </p:sp>
      <p:sp>
        <p:nvSpPr>
          <p:cNvPr id="169" name="Google Shape;169;p26"/>
          <p:cNvSpPr txBox="1"/>
          <p:nvPr>
            <p:ph idx="10" type="dt"/>
          </p:nvPr>
        </p:nvSpPr>
        <p:spPr>
          <a:xfrm>
            <a:off x="2827230" y="6510552"/>
            <a:ext cx="1195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1-1</a:t>
            </a:r>
            <a:endParaRPr/>
          </a:p>
          <a:p>
            <a:pPr indent="0" lvl="0" marL="12700" rtl="0" algn="l">
              <a:lnSpc>
                <a:spcPct val="120624"/>
              </a:lnSpc>
              <a:spcBef>
                <a:spcPts val="0"/>
              </a:spcBef>
              <a:spcAft>
                <a:spcPts val="0"/>
              </a:spcAft>
              <a:buNone/>
            </a:pPr>
            <a:r>
              <a:rPr lang="en-US"/>
              <a:t>Oracle Application Express</a:t>
            </a:r>
            <a:endParaRPr/>
          </a:p>
        </p:txBody>
      </p:sp>
      <p:sp>
        <p:nvSpPr>
          <p:cNvPr id="170" name="Google Shape;170;p2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71" name="Google Shape;171;p26"/>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72" name="Google Shape;172;p26"/>
          <p:cNvSpPr txBox="1"/>
          <p:nvPr/>
        </p:nvSpPr>
        <p:spPr>
          <a:xfrm>
            <a:off x="483552" y="1415417"/>
            <a:ext cx="7703184" cy="132207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comando SELECT * devuelve todas las filas de una 	tabla</a:t>
            </a:r>
            <a:endParaRPr sz="2800">
              <a:latin typeface="Calibri"/>
              <a:ea typeface="Calibri"/>
              <a:cs typeface="Calibri"/>
              <a:sym typeface="Calibri"/>
            </a:endParaRPr>
          </a:p>
          <a:p>
            <a:pPr indent="-177800" lvl="0" marL="183515" rtl="0" algn="l">
              <a:lnSpc>
                <a:spcPct val="100000"/>
              </a:lnSpc>
              <a:spcBef>
                <a:spcPts val="4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sintaxis es la siguiente:</a:t>
            </a:r>
            <a:endParaRPr sz="2800">
              <a:latin typeface="Calibri"/>
              <a:ea typeface="Calibri"/>
              <a:cs typeface="Calibri"/>
              <a:sym typeface="Calibri"/>
            </a:endParaRPr>
          </a:p>
        </p:txBody>
      </p:sp>
      <p:sp>
        <p:nvSpPr>
          <p:cNvPr id="173" name="Google Shape;173;p26"/>
          <p:cNvSpPr txBox="1"/>
          <p:nvPr/>
        </p:nvSpPr>
        <p:spPr>
          <a:xfrm>
            <a:off x="483552" y="3742565"/>
            <a:ext cx="2037714" cy="452120"/>
          </a:xfrm>
          <a:prstGeom prst="rect">
            <a:avLst/>
          </a:prstGeom>
          <a:noFill/>
          <a:ln>
            <a:noFill/>
          </a:ln>
        </p:spPr>
        <p:txBody>
          <a:bodyPr anchorCtr="0" anchor="t" bIns="0" lIns="0" spcFirstLastPara="1" rIns="0" wrap="square" tIns="12050">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ejemplo:</a:t>
            </a:r>
            <a:endParaRPr sz="2800">
              <a:latin typeface="Calibri"/>
              <a:ea typeface="Calibri"/>
              <a:cs typeface="Calibri"/>
              <a:sym typeface="Calibri"/>
            </a:endParaRPr>
          </a:p>
        </p:txBody>
      </p:sp>
      <p:sp>
        <p:nvSpPr>
          <p:cNvPr id="174" name="Google Shape;174;p26"/>
          <p:cNvSpPr txBox="1"/>
          <p:nvPr/>
        </p:nvSpPr>
        <p:spPr>
          <a:xfrm>
            <a:off x="381000" y="2933700"/>
            <a:ext cx="8357870" cy="495300"/>
          </a:xfrm>
          <a:prstGeom prst="rect">
            <a:avLst/>
          </a:prstGeom>
          <a:solidFill>
            <a:srgbClr val="9DBDC4">
              <a:alpha val="49804"/>
            </a:srgbClr>
          </a:solidFill>
          <a:ln>
            <a:noFill/>
          </a:ln>
        </p:spPr>
        <p:txBody>
          <a:bodyPr anchorCtr="0" anchor="t" bIns="0" lIns="0" spcFirstLastPara="1" rIns="0" wrap="square" tIns="0">
            <a:spAutoFit/>
          </a:bodyPr>
          <a:lstStyle/>
          <a:p>
            <a:pPr indent="0" lvl="0" marL="118110" rtl="0" algn="l">
              <a:lnSpc>
                <a:spcPct val="96388"/>
              </a:lnSpc>
              <a:spcBef>
                <a:spcPts val="0"/>
              </a:spcBef>
              <a:spcAft>
                <a:spcPts val="0"/>
              </a:spcAft>
              <a:buNone/>
            </a:pPr>
            <a:r>
              <a:rPr b="1" lang="en-US" sz="1800">
                <a:solidFill>
                  <a:srgbClr val="4E3629"/>
                </a:solidFill>
                <a:latin typeface="Courier New"/>
                <a:ea typeface="Courier New"/>
                <a:cs typeface="Courier New"/>
                <a:sym typeface="Courier New"/>
              </a:rPr>
              <a:t>SELECT *</a:t>
            </a:r>
            <a:endParaRPr sz="1800">
              <a:latin typeface="Courier New"/>
              <a:ea typeface="Courier New"/>
              <a:cs typeface="Courier New"/>
              <a:sym typeface="Courier New"/>
            </a:endParaRPr>
          </a:p>
          <a:p>
            <a:pPr indent="0" lvl="0" marL="11811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&lt;table name&gt;;</a:t>
            </a:r>
            <a:endParaRPr sz="1800">
              <a:latin typeface="Courier New"/>
              <a:ea typeface="Courier New"/>
              <a:cs typeface="Courier New"/>
              <a:sym typeface="Courier New"/>
            </a:endParaRPr>
          </a:p>
        </p:txBody>
      </p:sp>
      <p:sp>
        <p:nvSpPr>
          <p:cNvPr id="175" name="Google Shape;175;p26"/>
          <p:cNvSpPr txBox="1"/>
          <p:nvPr/>
        </p:nvSpPr>
        <p:spPr>
          <a:xfrm>
            <a:off x="381000" y="4277867"/>
            <a:ext cx="8357870" cy="528955"/>
          </a:xfrm>
          <a:prstGeom prst="rect">
            <a:avLst/>
          </a:prstGeom>
          <a:solidFill>
            <a:srgbClr val="9DBDC4">
              <a:alpha val="49804"/>
            </a:srgbClr>
          </a:solidFill>
          <a:ln>
            <a:noFill/>
          </a:ln>
        </p:spPr>
        <p:txBody>
          <a:bodyPr anchorCtr="0" anchor="t" bIns="0" lIns="0" spcFirstLastPara="1" rIns="0" wrap="square" tIns="0">
            <a:spAutoFit/>
          </a:bodyPr>
          <a:lstStyle/>
          <a:p>
            <a:pPr indent="0" lvl="0" marL="118110" rtl="0" algn="l">
              <a:lnSpc>
                <a:spcPct val="103888"/>
              </a:lnSpc>
              <a:spcBef>
                <a:spcPts val="0"/>
              </a:spcBef>
              <a:spcAft>
                <a:spcPts val="0"/>
              </a:spcAft>
              <a:buNone/>
            </a:pPr>
            <a:r>
              <a:rPr b="1" lang="en-US" sz="1800">
                <a:solidFill>
                  <a:srgbClr val="4E3629"/>
                </a:solidFill>
                <a:latin typeface="Courier New"/>
                <a:ea typeface="Courier New"/>
                <a:cs typeface="Courier New"/>
                <a:sym typeface="Courier New"/>
              </a:rPr>
              <a:t>SELECT *</a:t>
            </a:r>
            <a:endParaRPr sz="1800">
              <a:latin typeface="Courier New"/>
              <a:ea typeface="Courier New"/>
              <a:cs typeface="Courier New"/>
              <a:sym typeface="Courier New"/>
            </a:endParaRPr>
          </a:p>
          <a:p>
            <a:pPr indent="0" lvl="0" marL="11811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a:t>
            </a:r>
            <a:endParaRPr sz="1800">
              <a:latin typeface="Courier New"/>
              <a:ea typeface="Courier New"/>
              <a:cs typeface="Courier New"/>
              <a:sym typeface="Courier New"/>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7"/>
          <p:cNvSpPr txBox="1"/>
          <p:nvPr>
            <p:ph type="title"/>
          </p:nvPr>
        </p:nvSpPr>
        <p:spPr>
          <a:xfrm>
            <a:off x="392112" y="748031"/>
            <a:ext cx="6215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Sentencia SELECT con una Condición</a:t>
            </a:r>
            <a:endParaRPr/>
          </a:p>
        </p:txBody>
      </p:sp>
      <p:sp>
        <p:nvSpPr>
          <p:cNvPr id="181" name="Google Shape;181;p27"/>
          <p:cNvSpPr txBox="1"/>
          <p:nvPr>
            <p:ph idx="10" type="dt"/>
          </p:nvPr>
        </p:nvSpPr>
        <p:spPr>
          <a:xfrm>
            <a:off x="2827230" y="6510552"/>
            <a:ext cx="1195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1-1</a:t>
            </a:r>
            <a:endParaRPr/>
          </a:p>
          <a:p>
            <a:pPr indent="0" lvl="0" marL="12700" rtl="0" algn="l">
              <a:lnSpc>
                <a:spcPct val="120624"/>
              </a:lnSpc>
              <a:spcBef>
                <a:spcPts val="0"/>
              </a:spcBef>
              <a:spcAft>
                <a:spcPts val="0"/>
              </a:spcAft>
              <a:buNone/>
            </a:pPr>
            <a:r>
              <a:rPr lang="en-US"/>
              <a:t>Oracle Application Express</a:t>
            </a:r>
            <a:endParaRPr/>
          </a:p>
        </p:txBody>
      </p:sp>
      <p:sp>
        <p:nvSpPr>
          <p:cNvPr id="182" name="Google Shape;182;p2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83" name="Google Shape;183;p27"/>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84" name="Google Shape;184;p27"/>
          <p:cNvSpPr txBox="1"/>
          <p:nvPr/>
        </p:nvSpPr>
        <p:spPr>
          <a:xfrm>
            <a:off x="483552" y="1415417"/>
            <a:ext cx="7798434" cy="132207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devolver un subjuego de los datos, modifique la 	sentencia SELECT</a:t>
            </a:r>
            <a:endParaRPr sz="2800">
              <a:latin typeface="Calibri"/>
              <a:ea typeface="Calibri"/>
              <a:cs typeface="Calibri"/>
              <a:sym typeface="Calibri"/>
            </a:endParaRPr>
          </a:p>
          <a:p>
            <a:pPr indent="-177800" lvl="0" marL="183515" rtl="0" algn="l">
              <a:lnSpc>
                <a:spcPct val="100000"/>
              </a:lnSpc>
              <a:spcBef>
                <a:spcPts val="4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sintaxis es la siguiente:</a:t>
            </a:r>
            <a:endParaRPr sz="2800">
              <a:latin typeface="Calibri"/>
              <a:ea typeface="Calibri"/>
              <a:cs typeface="Calibri"/>
              <a:sym typeface="Calibri"/>
            </a:endParaRPr>
          </a:p>
        </p:txBody>
      </p:sp>
      <p:sp>
        <p:nvSpPr>
          <p:cNvPr id="185" name="Google Shape;185;p27"/>
          <p:cNvSpPr txBox="1"/>
          <p:nvPr/>
        </p:nvSpPr>
        <p:spPr>
          <a:xfrm>
            <a:off x="483552" y="3742565"/>
            <a:ext cx="2037714" cy="452120"/>
          </a:xfrm>
          <a:prstGeom prst="rect">
            <a:avLst/>
          </a:prstGeom>
          <a:noFill/>
          <a:ln>
            <a:noFill/>
          </a:ln>
        </p:spPr>
        <p:txBody>
          <a:bodyPr anchorCtr="0" anchor="t" bIns="0" lIns="0" spcFirstLastPara="1" rIns="0" wrap="square" tIns="12050">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ejemplo:</a:t>
            </a:r>
            <a:endParaRPr sz="2800">
              <a:latin typeface="Calibri"/>
              <a:ea typeface="Calibri"/>
              <a:cs typeface="Calibri"/>
              <a:sym typeface="Calibri"/>
            </a:endParaRPr>
          </a:p>
        </p:txBody>
      </p:sp>
      <p:sp>
        <p:nvSpPr>
          <p:cNvPr id="186" name="Google Shape;186;p27"/>
          <p:cNvSpPr txBox="1"/>
          <p:nvPr/>
        </p:nvSpPr>
        <p:spPr>
          <a:xfrm>
            <a:off x="405384" y="2839211"/>
            <a:ext cx="8357870" cy="794385"/>
          </a:xfrm>
          <a:prstGeom prst="rect">
            <a:avLst/>
          </a:prstGeom>
          <a:solidFill>
            <a:srgbClr val="9DBDC4">
              <a:alpha val="49804"/>
            </a:srgbClr>
          </a:solidFill>
          <a:ln>
            <a:noFill/>
          </a:ln>
        </p:spPr>
        <p:txBody>
          <a:bodyPr anchorCtr="0" anchor="t" bIns="0" lIns="0" spcFirstLastPara="1" rIns="0" wrap="square" tIns="0">
            <a:spAutoFit/>
          </a:bodyPr>
          <a:lstStyle/>
          <a:p>
            <a:pPr indent="0" lvl="0" marL="118110" rtl="0" algn="l">
              <a:lnSpc>
                <a:spcPct val="101666"/>
              </a:lnSpc>
              <a:spcBef>
                <a:spcPts val="0"/>
              </a:spcBef>
              <a:spcAft>
                <a:spcPts val="0"/>
              </a:spcAft>
              <a:buNone/>
            </a:pPr>
            <a:r>
              <a:rPr b="1" lang="en-US" sz="1800">
                <a:solidFill>
                  <a:srgbClr val="4E3629"/>
                </a:solidFill>
                <a:latin typeface="Courier New"/>
                <a:ea typeface="Courier New"/>
                <a:cs typeface="Courier New"/>
                <a:sym typeface="Courier New"/>
              </a:rPr>
              <a:t>SELECT &lt;column name 1, column name 2, etc.&gt;</a:t>
            </a:r>
            <a:endParaRPr sz="1800">
              <a:latin typeface="Courier New"/>
              <a:ea typeface="Courier New"/>
              <a:cs typeface="Courier New"/>
              <a:sym typeface="Courier New"/>
            </a:endParaRPr>
          </a:p>
          <a:p>
            <a:pPr indent="0" lvl="0" marL="118110" marR="577342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&lt;table name&gt; WHERE &lt;condition&gt;;</a:t>
            </a:r>
            <a:endParaRPr sz="1800">
              <a:latin typeface="Courier New"/>
              <a:ea typeface="Courier New"/>
              <a:cs typeface="Courier New"/>
              <a:sym typeface="Courier New"/>
            </a:endParaRPr>
          </a:p>
        </p:txBody>
      </p:sp>
      <p:sp>
        <p:nvSpPr>
          <p:cNvPr id="187" name="Google Shape;187;p27"/>
          <p:cNvSpPr txBox="1"/>
          <p:nvPr/>
        </p:nvSpPr>
        <p:spPr>
          <a:xfrm>
            <a:off x="405384" y="4451603"/>
            <a:ext cx="8357870" cy="797560"/>
          </a:xfrm>
          <a:prstGeom prst="rect">
            <a:avLst/>
          </a:prstGeom>
          <a:solidFill>
            <a:srgbClr val="9DBDC4">
              <a:alpha val="49804"/>
            </a:srgbClr>
          </a:solidFill>
          <a:ln>
            <a:noFill/>
          </a:ln>
        </p:spPr>
        <p:txBody>
          <a:bodyPr anchorCtr="0" anchor="t" bIns="0" lIns="0" spcFirstLastPara="1" rIns="0" wrap="square" tIns="0">
            <a:spAutoFit/>
          </a:bodyPr>
          <a:lstStyle/>
          <a:p>
            <a:pPr indent="0" lvl="0" marL="118110" rtl="0" algn="l">
              <a:lnSpc>
                <a:spcPct val="102500"/>
              </a:lnSpc>
              <a:spcBef>
                <a:spcPts val="0"/>
              </a:spcBef>
              <a:spcAft>
                <a:spcPts val="0"/>
              </a:spcAft>
              <a:buNone/>
            </a:pPr>
            <a:r>
              <a:rPr b="1" lang="en-US" sz="1800">
                <a:solidFill>
                  <a:srgbClr val="4E3629"/>
                </a:solidFill>
                <a:latin typeface="Courier New"/>
                <a:ea typeface="Courier New"/>
                <a:cs typeface="Courier New"/>
                <a:sym typeface="Courier New"/>
              </a:rPr>
              <a:t>SELECT first_name, last_name, job_id</a:t>
            </a:r>
            <a:endParaRPr sz="1800">
              <a:latin typeface="Courier New"/>
              <a:ea typeface="Courier New"/>
              <a:cs typeface="Courier New"/>
              <a:sym typeface="Courier New"/>
            </a:endParaRPr>
          </a:p>
          <a:p>
            <a:pPr indent="0" lvl="0" marL="11811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a:t>
            </a:r>
            <a:endParaRPr sz="1800">
              <a:latin typeface="Courier New"/>
              <a:ea typeface="Courier New"/>
              <a:cs typeface="Courier New"/>
              <a:sym typeface="Courier New"/>
            </a:endParaRPr>
          </a:p>
          <a:p>
            <a:pPr indent="0" lvl="0" marL="11811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job_id = 'SA_REP';</a:t>
            </a:r>
            <a:endParaRPr sz="1800">
              <a:latin typeface="Courier New"/>
              <a:ea typeface="Courier New"/>
              <a:cs typeface="Courier New"/>
              <a:sym typeface="Courier New"/>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8"/>
          <p:cNvSpPr txBox="1"/>
          <p:nvPr>
            <p:ph type="title"/>
          </p:nvPr>
        </p:nvSpPr>
        <p:spPr>
          <a:xfrm>
            <a:off x="392112" y="748031"/>
            <a:ext cx="6215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Corrección de Errores.</a:t>
            </a:r>
            <a:endParaRPr/>
          </a:p>
        </p:txBody>
      </p:sp>
      <p:sp>
        <p:nvSpPr>
          <p:cNvPr id="193" name="Google Shape;193;p28"/>
          <p:cNvSpPr txBox="1"/>
          <p:nvPr/>
        </p:nvSpPr>
        <p:spPr>
          <a:xfrm>
            <a:off x="483552" y="1415417"/>
            <a:ext cx="8172450" cy="170624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Al introducir comandos SQL, es importante utilizar la 	ortografía correcta, de lo contrario, recibirá un mensaje 	de error</a:t>
            </a:r>
            <a:endParaRPr sz="2800">
              <a:latin typeface="Calibri"/>
              <a:ea typeface="Calibri"/>
              <a:cs typeface="Calibri"/>
              <a:sym typeface="Calibri"/>
            </a:endParaRPr>
          </a:p>
          <a:p>
            <a:pPr indent="-177800" lvl="0" marL="183515" rtl="0" algn="l">
              <a:lnSpc>
                <a:spcPct val="100000"/>
              </a:lnSpc>
              <a:spcBef>
                <a:spcPts val="409"/>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ejemplo (SELECT: ortografía incorrecta):</a:t>
            </a:r>
            <a:endParaRPr sz="2800">
              <a:latin typeface="Calibri"/>
              <a:ea typeface="Calibri"/>
              <a:cs typeface="Calibri"/>
              <a:sym typeface="Calibri"/>
            </a:endParaRPr>
          </a:p>
        </p:txBody>
      </p:sp>
      <p:sp>
        <p:nvSpPr>
          <p:cNvPr id="194" name="Google Shape;194;p28"/>
          <p:cNvSpPr txBox="1"/>
          <p:nvPr/>
        </p:nvSpPr>
        <p:spPr>
          <a:xfrm>
            <a:off x="483552" y="4085465"/>
            <a:ext cx="7659370" cy="1743075"/>
          </a:xfrm>
          <a:prstGeom prst="rect">
            <a:avLst/>
          </a:prstGeom>
          <a:noFill/>
          <a:ln>
            <a:noFill/>
          </a:ln>
        </p:spPr>
        <p:txBody>
          <a:bodyPr anchorCtr="0" anchor="t" bIns="0" lIns="0" spcFirstLastPara="1" rIns="0" wrap="square" tIns="12700">
            <a:spAutoFit/>
          </a:bodyPr>
          <a:lstStyle/>
          <a:p>
            <a:pPr indent="0" lvl="0" marL="355600" rtl="0" algn="l">
              <a:lnSpc>
                <a:spcPct val="100000"/>
              </a:lnSpc>
              <a:spcBef>
                <a:spcPts val="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Daría como resultado el mensaje de error:</a:t>
            </a:r>
            <a:endParaRPr sz="2400">
              <a:latin typeface="Calibri"/>
              <a:ea typeface="Calibri"/>
              <a:cs typeface="Calibri"/>
              <a:sym typeface="Calibri"/>
            </a:endParaRPr>
          </a:p>
          <a:p>
            <a:pPr indent="0" lvl="0" marL="0" rtl="0" algn="l">
              <a:lnSpc>
                <a:spcPct val="100000"/>
              </a:lnSpc>
              <a:spcBef>
                <a:spcPts val="1700"/>
              </a:spcBef>
              <a:spcAft>
                <a:spcPts val="0"/>
              </a:spcAft>
              <a:buNone/>
            </a:pPr>
            <a:r>
              <a:t/>
            </a:r>
            <a:endParaRPr sz="2400">
              <a:latin typeface="Calibri"/>
              <a:ea typeface="Calibri"/>
              <a:cs typeface="Calibri"/>
              <a:sym typeface="Calibri"/>
            </a:endParaRPr>
          </a:p>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rectificar, solo tiene que corregir la ortografía y 	volver a ejecutarlo</a:t>
            </a:r>
            <a:endParaRPr sz="2800">
              <a:latin typeface="Calibri"/>
              <a:ea typeface="Calibri"/>
              <a:cs typeface="Calibri"/>
              <a:sym typeface="Calibri"/>
            </a:endParaRPr>
          </a:p>
        </p:txBody>
      </p:sp>
      <p:pic>
        <p:nvPicPr>
          <p:cNvPr id="195" name="Google Shape;195;p28"/>
          <p:cNvPicPr preferRelativeResize="0"/>
          <p:nvPr/>
        </p:nvPicPr>
        <p:blipFill rotWithShape="1">
          <a:blip r:embed="rId3">
            <a:alphaModFix/>
          </a:blip>
          <a:srcRect b="0" l="0" r="0" t="0"/>
          <a:stretch/>
        </p:blipFill>
        <p:spPr>
          <a:xfrm>
            <a:off x="1997964" y="4443984"/>
            <a:ext cx="4509515" cy="637031"/>
          </a:xfrm>
          <a:prstGeom prst="rect">
            <a:avLst/>
          </a:prstGeom>
          <a:noFill/>
          <a:ln>
            <a:noFill/>
          </a:ln>
        </p:spPr>
      </p:pic>
      <p:sp>
        <p:nvSpPr>
          <p:cNvPr id="196" name="Google Shape;196;p28"/>
          <p:cNvSpPr txBox="1"/>
          <p:nvPr/>
        </p:nvSpPr>
        <p:spPr>
          <a:xfrm>
            <a:off x="393191" y="3206495"/>
            <a:ext cx="8345805" cy="551815"/>
          </a:xfrm>
          <a:prstGeom prst="rect">
            <a:avLst/>
          </a:prstGeom>
          <a:solidFill>
            <a:srgbClr val="9DBDC4">
              <a:alpha val="49804"/>
            </a:srgbClr>
          </a:solidFill>
          <a:ln>
            <a:noFill/>
          </a:ln>
        </p:spPr>
        <p:txBody>
          <a:bodyPr anchorCtr="0" anchor="t" bIns="0" lIns="0" spcFirstLastPara="1" rIns="0" wrap="square" tIns="0">
            <a:spAutoFit/>
          </a:bodyPr>
          <a:lstStyle/>
          <a:p>
            <a:pPr indent="0" lvl="0" marL="118745" rtl="0" algn="l">
              <a:lnSpc>
                <a:spcPct val="108611"/>
              </a:lnSpc>
              <a:spcBef>
                <a:spcPts val="0"/>
              </a:spcBef>
              <a:spcAft>
                <a:spcPts val="0"/>
              </a:spcAft>
              <a:buNone/>
            </a:pPr>
            <a:r>
              <a:rPr b="1" lang="en-US" sz="1800">
                <a:solidFill>
                  <a:srgbClr val="D1350F"/>
                </a:solidFill>
                <a:latin typeface="Courier New"/>
                <a:ea typeface="Courier New"/>
                <a:cs typeface="Courier New"/>
                <a:sym typeface="Courier New"/>
              </a:rPr>
              <a:t>SELCT </a:t>
            </a:r>
            <a:r>
              <a:rPr b="1" lang="en-US" sz="1800">
                <a:solidFill>
                  <a:srgbClr val="4E3629"/>
                </a:solidFill>
                <a:latin typeface="Courier New"/>
                <a:ea typeface="Courier New"/>
                <a:cs typeface="Courier New"/>
                <a:sym typeface="Courier New"/>
              </a:rPr>
              <a:t>*</a:t>
            </a:r>
            <a:endParaRPr sz="1800">
              <a:latin typeface="Courier New"/>
              <a:ea typeface="Courier New"/>
              <a:cs typeface="Courier New"/>
              <a:sym typeface="Courier New"/>
            </a:endParaRPr>
          </a:p>
          <a:p>
            <a:pPr indent="0" lvl="0" marL="11874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a:t>
            </a:r>
            <a:endParaRPr sz="1800">
              <a:latin typeface="Courier New"/>
              <a:ea typeface="Courier New"/>
              <a:cs typeface="Courier New"/>
              <a:sym typeface="Courier New"/>
            </a:endParaRPr>
          </a:p>
        </p:txBody>
      </p:sp>
      <p:sp>
        <p:nvSpPr>
          <p:cNvPr id="197" name="Google Shape;197;p28"/>
          <p:cNvSpPr txBox="1"/>
          <p:nvPr>
            <p:ph idx="10" type="dt"/>
          </p:nvPr>
        </p:nvSpPr>
        <p:spPr>
          <a:xfrm>
            <a:off x="2827230" y="6510552"/>
            <a:ext cx="1195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1-1</a:t>
            </a:r>
            <a:endParaRPr/>
          </a:p>
          <a:p>
            <a:pPr indent="0" lvl="0" marL="12700" rtl="0" algn="l">
              <a:lnSpc>
                <a:spcPct val="120624"/>
              </a:lnSpc>
              <a:spcBef>
                <a:spcPts val="0"/>
              </a:spcBef>
              <a:spcAft>
                <a:spcPts val="0"/>
              </a:spcAft>
              <a:buNone/>
            </a:pPr>
            <a:r>
              <a:rPr lang="en-US"/>
              <a:t>Oracle Application Express</a:t>
            </a:r>
            <a:endParaRPr/>
          </a:p>
        </p:txBody>
      </p:sp>
      <p:sp>
        <p:nvSpPr>
          <p:cNvPr id="198" name="Google Shape;198;p2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99" name="Google Shape;199;p28"/>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9"/>
          <p:cNvSpPr txBox="1"/>
          <p:nvPr>
            <p:ph type="title"/>
          </p:nvPr>
        </p:nvSpPr>
        <p:spPr>
          <a:xfrm>
            <a:off x="392112" y="748031"/>
            <a:ext cx="6215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Corrección de Errores.</a:t>
            </a:r>
            <a:endParaRPr/>
          </a:p>
        </p:txBody>
      </p:sp>
      <p:sp>
        <p:nvSpPr>
          <p:cNvPr id="205" name="Google Shape;205;p29"/>
          <p:cNvSpPr txBox="1"/>
          <p:nvPr/>
        </p:nvSpPr>
        <p:spPr>
          <a:xfrm>
            <a:off x="483552" y="1381889"/>
            <a:ext cx="7012305" cy="1577975"/>
          </a:xfrm>
          <a:prstGeom prst="rect">
            <a:avLst/>
          </a:prstGeom>
          <a:noFill/>
          <a:ln>
            <a:noFill/>
          </a:ln>
        </p:spPr>
        <p:txBody>
          <a:bodyPr anchorCtr="0" anchor="t" bIns="0" lIns="0" spcFirstLastPara="1" rIns="0" wrap="square" tIns="97150">
            <a:spAutoFit/>
          </a:bodyPr>
          <a:lstStyle/>
          <a:p>
            <a:pPr indent="-177800" lvl="0" marL="182880" marR="5080"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También es importante utilizar los nombres y la 	ortografía correctos de las columnas y tablas</a:t>
            </a:r>
            <a:endParaRPr sz="2800">
              <a:latin typeface="Calibri"/>
              <a:ea typeface="Calibri"/>
              <a:cs typeface="Calibri"/>
              <a:sym typeface="Calibri"/>
            </a:endParaRPr>
          </a:p>
          <a:p>
            <a:pPr indent="-177800" lvl="0" marL="182880" marR="426084" rtl="0" algn="l">
              <a:lnSpc>
                <a:spcPct val="80000"/>
              </a:lnSpc>
              <a:spcBef>
                <a:spcPts val="8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ejemplo (nombre de la tabla employees: 	ortografía incorrecta):</a:t>
            </a:r>
            <a:endParaRPr sz="2800">
              <a:latin typeface="Calibri"/>
              <a:ea typeface="Calibri"/>
              <a:cs typeface="Calibri"/>
              <a:sym typeface="Calibri"/>
            </a:endParaRPr>
          </a:p>
        </p:txBody>
      </p:sp>
      <p:sp>
        <p:nvSpPr>
          <p:cNvPr id="206" name="Google Shape;206;p29"/>
          <p:cNvSpPr txBox="1"/>
          <p:nvPr/>
        </p:nvSpPr>
        <p:spPr>
          <a:xfrm>
            <a:off x="483552" y="3798953"/>
            <a:ext cx="7659370" cy="1861185"/>
          </a:xfrm>
          <a:prstGeom prst="rect">
            <a:avLst/>
          </a:prstGeom>
          <a:noFill/>
          <a:ln>
            <a:noFill/>
          </a:ln>
        </p:spPr>
        <p:txBody>
          <a:bodyPr anchorCtr="0" anchor="t" bIns="0" lIns="0" spcFirstLastPara="1" rIns="0" wrap="square" tIns="12700">
            <a:spAutoFit/>
          </a:bodyPr>
          <a:lstStyle/>
          <a:p>
            <a:pPr indent="0" lvl="0" marL="355600" rtl="0" algn="l">
              <a:lnSpc>
                <a:spcPct val="100000"/>
              </a:lnSpc>
              <a:spcBef>
                <a:spcPts val="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Daría como resultado el mensaje de error:</a:t>
            </a:r>
            <a:endParaRPr sz="2400">
              <a:latin typeface="Calibri"/>
              <a:ea typeface="Calibri"/>
              <a:cs typeface="Calibri"/>
              <a:sym typeface="Calibri"/>
            </a:endParaRPr>
          </a:p>
          <a:p>
            <a:pPr indent="0" lvl="0" marL="0" rtl="0" algn="l">
              <a:lnSpc>
                <a:spcPct val="100000"/>
              </a:lnSpc>
              <a:spcBef>
                <a:spcPts val="0"/>
              </a:spcBef>
              <a:spcAft>
                <a:spcPts val="0"/>
              </a:spcAft>
              <a:buNone/>
            </a:pPr>
            <a:r>
              <a:t/>
            </a:r>
            <a:endParaRPr sz="2400">
              <a:latin typeface="Calibri"/>
              <a:ea typeface="Calibri"/>
              <a:cs typeface="Calibri"/>
              <a:sym typeface="Calibri"/>
            </a:endParaRPr>
          </a:p>
          <a:p>
            <a:pPr indent="0" lvl="0" marL="0" rtl="0" algn="l">
              <a:lnSpc>
                <a:spcPct val="100000"/>
              </a:lnSpc>
              <a:spcBef>
                <a:spcPts val="340"/>
              </a:spcBef>
              <a:spcAft>
                <a:spcPts val="0"/>
              </a:spcAft>
              <a:buNone/>
            </a:pPr>
            <a:r>
              <a:t/>
            </a:r>
            <a:endParaRPr sz="2400">
              <a:latin typeface="Calibri"/>
              <a:ea typeface="Calibri"/>
              <a:cs typeface="Calibri"/>
              <a:sym typeface="Calibri"/>
            </a:endParaRPr>
          </a:p>
          <a:p>
            <a:pPr indent="-177800" lvl="0" marL="182880" marR="5080"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rectificar, solo tiene que corregir la ortografía y 	volver a ejecutarlo</a:t>
            </a:r>
            <a:endParaRPr sz="2800">
              <a:latin typeface="Calibri"/>
              <a:ea typeface="Calibri"/>
              <a:cs typeface="Calibri"/>
              <a:sym typeface="Calibri"/>
            </a:endParaRPr>
          </a:p>
        </p:txBody>
      </p:sp>
      <p:pic>
        <p:nvPicPr>
          <p:cNvPr id="207" name="Google Shape;207;p29"/>
          <p:cNvPicPr preferRelativeResize="0"/>
          <p:nvPr/>
        </p:nvPicPr>
        <p:blipFill rotWithShape="1">
          <a:blip r:embed="rId3">
            <a:alphaModFix/>
          </a:blip>
          <a:srcRect b="0" l="0" r="0" t="0"/>
          <a:stretch/>
        </p:blipFill>
        <p:spPr>
          <a:xfrm>
            <a:off x="2488692" y="4232147"/>
            <a:ext cx="4166615" cy="629411"/>
          </a:xfrm>
          <a:prstGeom prst="rect">
            <a:avLst/>
          </a:prstGeom>
          <a:noFill/>
          <a:ln>
            <a:noFill/>
          </a:ln>
        </p:spPr>
      </p:pic>
      <p:sp>
        <p:nvSpPr>
          <p:cNvPr id="208" name="Google Shape;208;p29"/>
          <p:cNvSpPr txBox="1"/>
          <p:nvPr/>
        </p:nvSpPr>
        <p:spPr>
          <a:xfrm>
            <a:off x="405384" y="3105911"/>
            <a:ext cx="8357870" cy="550545"/>
          </a:xfrm>
          <a:prstGeom prst="rect">
            <a:avLst/>
          </a:prstGeom>
          <a:solidFill>
            <a:srgbClr val="9DBDC4">
              <a:alpha val="49804"/>
            </a:srgbClr>
          </a:solidFill>
          <a:ln>
            <a:noFill/>
          </a:ln>
        </p:spPr>
        <p:txBody>
          <a:bodyPr anchorCtr="0" anchor="t" bIns="0" lIns="0" spcFirstLastPara="1" rIns="0" wrap="square" tIns="0">
            <a:spAutoFit/>
          </a:bodyPr>
          <a:lstStyle/>
          <a:p>
            <a:pPr indent="0" lvl="0" marL="118110" rtl="0" algn="l">
              <a:lnSpc>
                <a:spcPct val="108055"/>
              </a:lnSpc>
              <a:spcBef>
                <a:spcPts val="0"/>
              </a:spcBef>
              <a:spcAft>
                <a:spcPts val="0"/>
              </a:spcAft>
              <a:buNone/>
            </a:pPr>
            <a:r>
              <a:rPr b="1" lang="en-US" sz="1800">
                <a:solidFill>
                  <a:srgbClr val="4E3629"/>
                </a:solidFill>
                <a:latin typeface="Courier New"/>
                <a:ea typeface="Courier New"/>
                <a:cs typeface="Courier New"/>
                <a:sym typeface="Courier New"/>
              </a:rPr>
              <a:t>SELECT *</a:t>
            </a:r>
            <a:endParaRPr sz="1800">
              <a:latin typeface="Courier New"/>
              <a:ea typeface="Courier New"/>
              <a:cs typeface="Courier New"/>
              <a:sym typeface="Courier New"/>
            </a:endParaRPr>
          </a:p>
          <a:p>
            <a:pPr indent="0" lvl="0" marL="11811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a:t>
            </a:r>
            <a:r>
              <a:rPr b="1" lang="en-US" sz="1800">
                <a:solidFill>
                  <a:srgbClr val="D1350F"/>
                </a:solidFill>
                <a:latin typeface="Courier New"/>
                <a:ea typeface="Courier New"/>
                <a:cs typeface="Courier New"/>
                <a:sym typeface="Courier New"/>
              </a:rPr>
              <a:t>employee</a:t>
            </a:r>
            <a:r>
              <a:rPr b="1" lang="en-US" sz="1800">
                <a:solidFill>
                  <a:srgbClr val="4E3629"/>
                </a:solidFill>
                <a:latin typeface="Courier New"/>
                <a:ea typeface="Courier New"/>
                <a:cs typeface="Courier New"/>
                <a:sym typeface="Courier New"/>
              </a:rPr>
              <a:t>;</a:t>
            </a:r>
            <a:endParaRPr sz="1800">
              <a:latin typeface="Courier New"/>
              <a:ea typeface="Courier New"/>
              <a:cs typeface="Courier New"/>
              <a:sym typeface="Courier New"/>
            </a:endParaRPr>
          </a:p>
        </p:txBody>
      </p:sp>
      <p:sp>
        <p:nvSpPr>
          <p:cNvPr id="209" name="Google Shape;209;p29"/>
          <p:cNvSpPr txBox="1"/>
          <p:nvPr>
            <p:ph idx="10" type="dt"/>
          </p:nvPr>
        </p:nvSpPr>
        <p:spPr>
          <a:xfrm>
            <a:off x="2827230" y="6510552"/>
            <a:ext cx="1195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1-1</a:t>
            </a:r>
            <a:endParaRPr/>
          </a:p>
          <a:p>
            <a:pPr indent="0" lvl="0" marL="12700" rtl="0" algn="l">
              <a:lnSpc>
                <a:spcPct val="120624"/>
              </a:lnSpc>
              <a:spcBef>
                <a:spcPts val="0"/>
              </a:spcBef>
              <a:spcAft>
                <a:spcPts val="0"/>
              </a:spcAft>
              <a:buNone/>
            </a:pPr>
            <a:r>
              <a:rPr lang="en-US"/>
              <a:t>Oracle Application Express</a:t>
            </a:r>
            <a:endParaRPr/>
          </a:p>
        </p:txBody>
      </p:sp>
      <p:sp>
        <p:nvSpPr>
          <p:cNvPr id="210" name="Google Shape;210;p2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11" name="Google Shape;211;p29"/>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0"/>
          <p:cNvSpPr txBox="1"/>
          <p:nvPr>
            <p:ph type="title"/>
          </p:nvPr>
        </p:nvSpPr>
        <p:spPr>
          <a:xfrm>
            <a:off x="392112" y="748031"/>
            <a:ext cx="6215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Corrección de Errores.</a:t>
            </a:r>
            <a:endParaRPr/>
          </a:p>
        </p:txBody>
      </p:sp>
      <p:sp>
        <p:nvSpPr>
          <p:cNvPr id="217" name="Google Shape;217;p30"/>
          <p:cNvSpPr txBox="1"/>
          <p:nvPr/>
        </p:nvSpPr>
        <p:spPr>
          <a:xfrm>
            <a:off x="483552" y="1415417"/>
            <a:ext cx="7276465" cy="83629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ejemplo, (columna first_name introducida de 	forma incorrecta):</a:t>
            </a:r>
            <a:endParaRPr sz="2800">
              <a:latin typeface="Calibri"/>
              <a:ea typeface="Calibri"/>
              <a:cs typeface="Calibri"/>
              <a:sym typeface="Calibri"/>
            </a:endParaRPr>
          </a:p>
        </p:txBody>
      </p:sp>
      <p:sp>
        <p:nvSpPr>
          <p:cNvPr id="218" name="Google Shape;218;p30"/>
          <p:cNvSpPr txBox="1"/>
          <p:nvPr/>
        </p:nvSpPr>
        <p:spPr>
          <a:xfrm>
            <a:off x="826452" y="3215261"/>
            <a:ext cx="5415915" cy="3911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Daría como resultado el mensaje de error:</a:t>
            </a:r>
            <a:endParaRPr sz="2400">
              <a:latin typeface="Calibri"/>
              <a:ea typeface="Calibri"/>
              <a:cs typeface="Calibri"/>
              <a:sym typeface="Calibri"/>
            </a:endParaRPr>
          </a:p>
        </p:txBody>
      </p:sp>
      <p:sp>
        <p:nvSpPr>
          <p:cNvPr id="219" name="Google Shape;219;p30"/>
          <p:cNvSpPr txBox="1"/>
          <p:nvPr/>
        </p:nvSpPr>
        <p:spPr>
          <a:xfrm>
            <a:off x="483552" y="4608197"/>
            <a:ext cx="7364095" cy="83629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rectificar, simplemente introduzca el nombre 	correcto de la columna y vuelva a ejecutarlo</a:t>
            </a:r>
            <a:endParaRPr sz="2800">
              <a:latin typeface="Calibri"/>
              <a:ea typeface="Calibri"/>
              <a:cs typeface="Calibri"/>
              <a:sym typeface="Calibri"/>
            </a:endParaRPr>
          </a:p>
        </p:txBody>
      </p:sp>
      <p:pic>
        <p:nvPicPr>
          <p:cNvPr id="220" name="Google Shape;220;p30"/>
          <p:cNvPicPr preferRelativeResize="0"/>
          <p:nvPr/>
        </p:nvPicPr>
        <p:blipFill rotWithShape="1">
          <a:blip r:embed="rId3">
            <a:alphaModFix/>
          </a:blip>
          <a:srcRect b="0" l="0" r="0" t="0"/>
          <a:stretch/>
        </p:blipFill>
        <p:spPr>
          <a:xfrm>
            <a:off x="2529840" y="3697223"/>
            <a:ext cx="4084319" cy="752855"/>
          </a:xfrm>
          <a:prstGeom prst="rect">
            <a:avLst/>
          </a:prstGeom>
          <a:noFill/>
          <a:ln>
            <a:noFill/>
          </a:ln>
        </p:spPr>
      </p:pic>
      <p:sp>
        <p:nvSpPr>
          <p:cNvPr id="221" name="Google Shape;221;p30"/>
          <p:cNvSpPr txBox="1"/>
          <p:nvPr/>
        </p:nvSpPr>
        <p:spPr>
          <a:xfrm>
            <a:off x="405384" y="2415539"/>
            <a:ext cx="8357870" cy="597535"/>
          </a:xfrm>
          <a:prstGeom prst="rect">
            <a:avLst/>
          </a:prstGeom>
          <a:solidFill>
            <a:srgbClr val="9DBDC4">
              <a:alpha val="49804"/>
            </a:srgbClr>
          </a:solidFill>
          <a:ln>
            <a:noFill/>
          </a:ln>
        </p:spPr>
        <p:txBody>
          <a:bodyPr anchorCtr="0" anchor="t" bIns="0" lIns="0" spcFirstLastPara="1" rIns="0" wrap="square" tIns="5700">
            <a:spAutoFit/>
          </a:bodyPr>
          <a:lstStyle/>
          <a:p>
            <a:pPr indent="0" lvl="0" marL="255270" marR="6045835" rtl="0" algn="l">
              <a:lnSpc>
                <a:spcPct val="120000"/>
              </a:lnSpc>
              <a:spcBef>
                <a:spcPts val="0"/>
              </a:spcBef>
              <a:spcAft>
                <a:spcPts val="0"/>
              </a:spcAft>
              <a:buNone/>
            </a:pPr>
            <a:r>
              <a:rPr b="1" lang="en-US" sz="1800">
                <a:solidFill>
                  <a:srgbClr val="4E3629"/>
                </a:solidFill>
                <a:latin typeface="Courier New"/>
                <a:ea typeface="Courier New"/>
                <a:cs typeface="Courier New"/>
                <a:sym typeface="Courier New"/>
              </a:rPr>
              <a:t>SELECT </a:t>
            </a:r>
            <a:r>
              <a:rPr b="1" lang="en-US" sz="1800">
                <a:solidFill>
                  <a:srgbClr val="D1350F"/>
                </a:solidFill>
                <a:latin typeface="Courier New"/>
                <a:ea typeface="Courier New"/>
                <a:cs typeface="Courier New"/>
                <a:sym typeface="Courier New"/>
              </a:rPr>
              <a:t>name </a:t>
            </a:r>
            <a:r>
              <a:rPr b="1" lang="en-US" sz="1800">
                <a:solidFill>
                  <a:srgbClr val="4E3629"/>
                </a:solidFill>
                <a:latin typeface="Courier New"/>
                <a:ea typeface="Courier New"/>
                <a:cs typeface="Courier New"/>
                <a:sym typeface="Courier New"/>
              </a:rPr>
              <a:t>FROM employees;</a:t>
            </a:r>
            <a:endParaRPr sz="1800">
              <a:latin typeface="Courier New"/>
              <a:ea typeface="Courier New"/>
              <a:cs typeface="Courier New"/>
              <a:sym typeface="Courier New"/>
            </a:endParaRPr>
          </a:p>
        </p:txBody>
      </p:sp>
      <p:sp>
        <p:nvSpPr>
          <p:cNvPr id="222" name="Google Shape;222;p30"/>
          <p:cNvSpPr txBox="1"/>
          <p:nvPr>
            <p:ph idx="10" type="dt"/>
          </p:nvPr>
        </p:nvSpPr>
        <p:spPr>
          <a:xfrm>
            <a:off x="2827230" y="6510552"/>
            <a:ext cx="1195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1-1</a:t>
            </a:r>
            <a:endParaRPr/>
          </a:p>
          <a:p>
            <a:pPr indent="0" lvl="0" marL="12700" rtl="0" algn="l">
              <a:lnSpc>
                <a:spcPct val="120624"/>
              </a:lnSpc>
              <a:spcBef>
                <a:spcPts val="0"/>
              </a:spcBef>
              <a:spcAft>
                <a:spcPts val="0"/>
              </a:spcAft>
              <a:buNone/>
            </a:pPr>
            <a:r>
              <a:rPr lang="en-US"/>
              <a:t>Oracle Application Express</a:t>
            </a:r>
            <a:endParaRPr/>
          </a:p>
        </p:txBody>
      </p:sp>
      <p:sp>
        <p:nvSpPr>
          <p:cNvPr id="223" name="Google Shape;223;p3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24" name="Google Shape;224;p30"/>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1"/>
          <p:cNvSpPr txBox="1"/>
          <p:nvPr>
            <p:ph type="title"/>
          </p:nvPr>
        </p:nvSpPr>
        <p:spPr>
          <a:xfrm>
            <a:off x="392112" y="748031"/>
            <a:ext cx="6215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Terminología</a:t>
            </a:r>
            <a:endParaRPr/>
          </a:p>
        </p:txBody>
      </p:sp>
      <p:sp>
        <p:nvSpPr>
          <p:cNvPr id="230" name="Google Shape;230;p31"/>
          <p:cNvSpPr txBox="1"/>
          <p:nvPr>
            <p:ph idx="10" type="dt"/>
          </p:nvPr>
        </p:nvSpPr>
        <p:spPr>
          <a:xfrm>
            <a:off x="2827230" y="6510552"/>
            <a:ext cx="1195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1-1</a:t>
            </a:r>
            <a:endParaRPr/>
          </a:p>
          <a:p>
            <a:pPr indent="0" lvl="0" marL="12700" rtl="0" algn="l">
              <a:lnSpc>
                <a:spcPct val="120624"/>
              </a:lnSpc>
              <a:spcBef>
                <a:spcPts val="0"/>
              </a:spcBef>
              <a:spcAft>
                <a:spcPts val="0"/>
              </a:spcAft>
              <a:buNone/>
            </a:pPr>
            <a:r>
              <a:rPr lang="en-US"/>
              <a:t>Oracle Application Express</a:t>
            </a:r>
            <a:endParaRPr/>
          </a:p>
        </p:txBody>
      </p:sp>
      <p:sp>
        <p:nvSpPr>
          <p:cNvPr id="231" name="Google Shape;231;p3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32" name="Google Shape;232;p31"/>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233" name="Google Shape;233;p31"/>
          <p:cNvSpPr txBox="1"/>
          <p:nvPr/>
        </p:nvSpPr>
        <p:spPr>
          <a:xfrm>
            <a:off x="483552" y="1415417"/>
            <a:ext cx="7704455" cy="311912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Entre los términos clave utilizados en esta lección se 	incluyen:</a:t>
            </a:r>
            <a:endParaRPr sz="2800">
              <a:latin typeface="Calibri"/>
              <a:ea typeface="Calibri"/>
              <a:cs typeface="Calibri"/>
              <a:sym typeface="Calibri"/>
            </a:endParaRPr>
          </a:p>
          <a:p>
            <a:pPr indent="0" lvl="0" marL="355600" rtl="0" algn="l">
              <a:lnSpc>
                <a:spcPct val="100000"/>
              </a:lnSpc>
              <a:spcBef>
                <a:spcPts val="9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Software de la aplicación</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Software de sistema</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Oracle Application Express</a:t>
            </a:r>
            <a:endParaRPr sz="2400">
              <a:latin typeface="Calibri"/>
              <a:ea typeface="Calibri"/>
              <a:cs typeface="Calibri"/>
              <a:sym typeface="Calibri"/>
            </a:endParaRPr>
          </a:p>
          <a:p>
            <a:pPr indent="0" lvl="0" marL="35560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Sintaxis</a:t>
            </a:r>
            <a:endParaRPr sz="2400">
              <a:latin typeface="Calibri"/>
              <a:ea typeface="Calibri"/>
              <a:cs typeface="Calibri"/>
              <a:sym typeface="Calibri"/>
            </a:endParaRPr>
          </a:p>
          <a:p>
            <a:pPr indent="0" lvl="0" marL="355600" rtl="0" algn="l">
              <a:lnSpc>
                <a:spcPct val="100000"/>
              </a:lnSpc>
              <a:spcBef>
                <a:spcPts val="10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Subjuego</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Operador de comparación</a:t>
            </a:r>
            <a:endParaRPr sz="2400">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2"/>
          <p:cNvSpPr txBox="1"/>
          <p:nvPr>
            <p:ph type="title"/>
          </p:nvPr>
        </p:nvSpPr>
        <p:spPr>
          <a:xfrm>
            <a:off x="392097" y="748006"/>
            <a:ext cx="7952700" cy="2308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US" sz="5000"/>
              <a:t>Tiempo de lectura, </a:t>
            </a:r>
            <a:r>
              <a:rPr lang="en-US" sz="5000"/>
              <a:t>según</a:t>
            </a:r>
            <a:r>
              <a:rPr lang="en-US" sz="5000"/>
              <a:t> la </a:t>
            </a:r>
            <a:r>
              <a:rPr lang="en-US" sz="5000"/>
              <a:t>metodología</a:t>
            </a:r>
            <a:r>
              <a:rPr lang="en-US" sz="5000"/>
              <a:t> de COCOCYS.</a:t>
            </a:r>
            <a:endParaRPr sz="5000"/>
          </a:p>
          <a:p>
            <a:pPr indent="0" lvl="0" marL="0" rtl="0" algn="l">
              <a:spcBef>
                <a:spcPts val="0"/>
              </a:spcBef>
              <a:spcAft>
                <a:spcPts val="0"/>
              </a:spcAft>
              <a:buNone/>
            </a:pPr>
            <a:r>
              <a:t/>
            </a:r>
            <a:endParaRPr sz="5000"/>
          </a:p>
        </p:txBody>
      </p:sp>
      <p:sp>
        <p:nvSpPr>
          <p:cNvPr id="239" name="Google Shape;239;p32"/>
          <p:cNvSpPr txBox="1"/>
          <p:nvPr/>
        </p:nvSpPr>
        <p:spPr>
          <a:xfrm>
            <a:off x="2800725" y="3648525"/>
            <a:ext cx="3000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https://docs.google.com/document/d/1ZM5VB-w6fw3rBxESfe1Qf_6LcGmryAMgpLwmFJznnF0/edit?usp=sharing</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3"/>
          <p:cNvSpPr txBox="1"/>
          <p:nvPr>
            <p:ph type="title"/>
          </p:nvPr>
        </p:nvSpPr>
        <p:spPr>
          <a:xfrm>
            <a:off x="392112" y="748031"/>
            <a:ext cx="6215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Resumen</a:t>
            </a:r>
            <a:endParaRPr/>
          </a:p>
        </p:txBody>
      </p:sp>
      <p:sp>
        <p:nvSpPr>
          <p:cNvPr id="245" name="Google Shape;245;p33"/>
          <p:cNvSpPr txBox="1"/>
          <p:nvPr>
            <p:ph idx="10" type="dt"/>
          </p:nvPr>
        </p:nvSpPr>
        <p:spPr>
          <a:xfrm>
            <a:off x="2827230" y="6510552"/>
            <a:ext cx="1195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1-1</a:t>
            </a:r>
            <a:endParaRPr/>
          </a:p>
          <a:p>
            <a:pPr indent="0" lvl="0" marL="12700" rtl="0" algn="l">
              <a:lnSpc>
                <a:spcPct val="120624"/>
              </a:lnSpc>
              <a:spcBef>
                <a:spcPts val="0"/>
              </a:spcBef>
              <a:spcAft>
                <a:spcPts val="0"/>
              </a:spcAft>
              <a:buNone/>
            </a:pPr>
            <a:r>
              <a:rPr lang="en-US"/>
              <a:t>Oracle Application Express</a:t>
            </a:r>
            <a:endParaRPr/>
          </a:p>
        </p:txBody>
      </p:sp>
      <p:sp>
        <p:nvSpPr>
          <p:cNvPr id="246" name="Google Shape;246;p3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47" name="Google Shape;247;p33"/>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248" name="Google Shape;248;p33"/>
          <p:cNvSpPr txBox="1"/>
          <p:nvPr>
            <p:ph idx="1" type="body"/>
          </p:nvPr>
        </p:nvSpPr>
        <p:spPr>
          <a:xfrm>
            <a:off x="483552" y="1415417"/>
            <a:ext cx="8138100" cy="3376500"/>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a:t>En esta lección, debe haber aprendido lo siguiente:</a:t>
            </a:r>
            <a:endParaRPr/>
          </a:p>
          <a:p>
            <a:pPr indent="-175260" lvl="0" marL="530860" marR="836294" rtl="0" algn="l">
              <a:lnSpc>
                <a:spcPct val="107916"/>
              </a:lnSpc>
              <a:spcBef>
                <a:spcPts val="475"/>
              </a:spcBef>
              <a:spcAft>
                <a:spcPts val="0"/>
              </a:spcAft>
              <a:buNone/>
            </a:pPr>
            <a:r>
              <a:rPr lang="en-US" sz="2400">
                <a:solidFill>
                  <a:srgbClr val="D1350F"/>
                </a:solidFill>
              </a:rPr>
              <a:t>−</a:t>
            </a:r>
            <a:r>
              <a:rPr lang="en-US" sz="2400"/>
              <a:t>Distinguir entre software de aplicaciones y software de sistema y dar un ejemplo de cada</a:t>
            </a:r>
            <a:endParaRPr sz="2400"/>
          </a:p>
          <a:p>
            <a:pPr indent="0" lvl="0" marL="355600" rtl="0" algn="l">
              <a:lnSpc>
                <a:spcPct val="100000"/>
              </a:lnSpc>
              <a:spcBef>
                <a:spcPts val="70"/>
              </a:spcBef>
              <a:spcAft>
                <a:spcPts val="0"/>
              </a:spcAft>
              <a:buNone/>
            </a:pPr>
            <a:r>
              <a:rPr lang="en-US" sz="2400">
                <a:solidFill>
                  <a:srgbClr val="D1350F"/>
                </a:solidFill>
              </a:rPr>
              <a:t>−</a:t>
            </a:r>
            <a:r>
              <a:rPr lang="en-US" sz="2400"/>
              <a:t>Conectarse al entorno de prácticas Oracle Application Express</a:t>
            </a:r>
            <a:endParaRPr sz="2400"/>
          </a:p>
          <a:p>
            <a:pPr indent="-175260" lvl="0" marL="530860" marR="238125" rtl="0" algn="l">
              <a:lnSpc>
                <a:spcPct val="107916"/>
              </a:lnSpc>
              <a:spcBef>
                <a:spcPts val="434"/>
              </a:spcBef>
              <a:spcAft>
                <a:spcPts val="0"/>
              </a:spcAft>
              <a:buNone/>
            </a:pPr>
            <a:r>
              <a:rPr lang="en-US" sz="2400">
                <a:solidFill>
                  <a:srgbClr val="D1350F"/>
                </a:solidFill>
              </a:rPr>
              <a:t>−</a:t>
            </a:r>
            <a:r>
              <a:rPr lang="en-US" sz="2400"/>
              <a:t>Ejecutar una consulta simple para recuperar información de la base de datos</a:t>
            </a:r>
            <a:endParaRPr sz="2400"/>
          </a:p>
          <a:p>
            <a:pPr indent="-175260" lvl="0" marL="530860" marR="356870" rtl="0" algn="l">
              <a:lnSpc>
                <a:spcPct val="107916"/>
              </a:lnSpc>
              <a:spcBef>
                <a:spcPts val="415"/>
              </a:spcBef>
              <a:spcAft>
                <a:spcPts val="1200"/>
              </a:spcAft>
              <a:buNone/>
            </a:pPr>
            <a:r>
              <a:rPr lang="en-US" sz="2400">
                <a:solidFill>
                  <a:srgbClr val="D1350F"/>
                </a:solidFill>
              </a:rPr>
              <a:t>−</a:t>
            </a:r>
            <a:r>
              <a:rPr lang="en-US" sz="2400"/>
              <a:t>Aplicar las reglas de SQL para mostrar todas las columnas y un subjuego de columnas especificado por criterios</a:t>
            </a:r>
            <a:endParaRPr sz="24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