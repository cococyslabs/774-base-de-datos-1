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05C6F4-082C-4F3F-A23D-E8EF3822720B}">
  <a:tblStyle styleId="{F105C6F4-082C-4F3F-A23D-E8EF382272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13:58:35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bastante normal que los jefes  no solo deseen la suma de los  salarios de un rol de trabajo por  departamento, sino que  probablemente también  desearán el total por  departamento y el total de   todos los departamentos.</a:t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13:58:38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ejemplo anterior de ROLLUP  generó subtotales para cada  departamento y un total para el  informe.                                  Con CUBE se proporciona dicha  información, pero se agregan  subtotales para cada trabajo en  todos                                         los departamentos.</a:t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415417"/>
            <a:ext cx="80409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91071" y="6459263"/>
            <a:ext cx="1781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227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Programming with  SQL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6882765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9-2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Uso de las Operaciones Rollup y Cube, y Grouping Sets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44424" y="3604259"/>
            <a:ext cx="5050536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73" name="Google Shape;73;p15"/>
          <p:cNvSpPr txBox="1"/>
          <p:nvPr/>
        </p:nvSpPr>
        <p:spPr>
          <a:xfrm>
            <a:off x="483552" y="1393401"/>
            <a:ext cx="7837170" cy="26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Utilizar ROLLUP para generar valores subtotales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Utilizar CUBE para generar valores de tabulación cruzada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16713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Utilizar GROUPING SETS para generar un juego de  resultados único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Utilizar la función GROUPING para identificar los valores de  fila adicionales creados por una operación ROLLUP o CUBE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5431535" y="3954779"/>
            <a:ext cx="3046476" cy="2415527"/>
            <a:chOff x="5431535" y="3954779"/>
            <a:chExt cx="3046476" cy="2415527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31535" y="3954779"/>
              <a:ext cx="3046476" cy="24155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23560" y="4146804"/>
              <a:ext cx="2662427" cy="20314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415417"/>
            <a:ext cx="7967980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Vamos a profundizar un poco más en el problema que  se le presentó en la última lección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63563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buscar la altura media de todos los alumnos,  utilice esta consulta: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83552" y="3640457"/>
            <a:ext cx="7672070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desea saber la altura media de los alumnos según  sus años en el centro educativo, podría escribir una  serie de sentencias SQL distintas, como esta: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05384" y="3212592"/>
            <a:ext cx="8345805" cy="43307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AVG(height) FROM students;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91" name="Google Shape;91;p16"/>
          <p:cNvGraphicFramePr/>
          <p:nvPr/>
        </p:nvGraphicFramePr>
        <p:xfrm>
          <a:off x="393183" y="49331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{F105C6F4-082C-4F3F-A23D-E8EF3822720B}</a:tableStyleId>
              </a:tblPr>
              <a:tblGrid>
                <a:gridCol w="887725"/>
                <a:gridCol w="1637025"/>
                <a:gridCol w="681350"/>
                <a:gridCol w="1227450"/>
                <a:gridCol w="818525"/>
                <a:gridCol w="2045975"/>
                <a:gridCol w="271775"/>
                <a:gridCol w="770250"/>
              </a:tblGrid>
              <a:tr h="24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AVG(height)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60325" rtl="0" algn="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students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WHERE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year_in_school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</a:tr>
              <a:tr h="5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</a:tr>
              <a:tr h="24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AVG(height)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60325" rtl="0" algn="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students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WHERE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year_in_school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2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</a:tr>
              <a:tr h="11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FE1E0"/>
                    </a:solidFill>
                  </a:tcPr>
                </a:tc>
              </a:tr>
              <a:tr h="24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1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AVG(height)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60325" rtl="0" algn="r">
                        <a:lnSpc>
                          <a:spcPct val="101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1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students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WHERE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1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year_in_school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9690" rtl="0" algn="r">
                        <a:lnSpc>
                          <a:spcPct val="101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" marR="0" rtl="0" algn="l">
                        <a:lnSpc>
                          <a:spcPct val="101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solidFill>
                      <a:srgbClr val="CDDD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97" name="Google Shape;97;p17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483552" y="1415417"/>
            <a:ext cx="7597775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19177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 bien, podría simplificar el problema mediante la  escritura de una sola sentencia que contenga las  cláusulas GROUP BY y HAVING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ocurre si, una vez que haya seleccionado sus  grupos y calculado los valores agregados en esos  grupos, también deseara los subtotales por grupo y  una suma total de todas las filas seleccionadas?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106" name="Google Shape;106;p18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483552" y="1415417"/>
            <a:ext cx="8171180" cy="411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Podría importar los resultados en una aplicación de  hoja de cálculo, sacar la calculadora, o bien, calcular los  totales manualmente en papel con la aritmética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3004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Pero, mejor aún, podría utilizar algunas de las  extensiones de la cláusula GROUP BY, creadas  específicamente para este fin: ROLLUP, CUBE y  GROUPING SETS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74625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utilizar estas extensiones se necesita menos trabajo  por su parte. Además, todas ellas tienen un uso muy  eficaz, desde el punto de vista de la base 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92112" y="748031"/>
            <a:ext cx="1354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ROLLUP</a:t>
            </a:r>
            <a:endParaRPr sz="3300"/>
          </a:p>
        </p:txBody>
      </p:sp>
      <p:sp>
        <p:nvSpPr>
          <p:cNvPr id="115" name="Google Shape;115;p19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483552" y="1415417"/>
            <a:ext cx="8176895" cy="411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83234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las consultas con GROUP BY, a menudo se deben  producir subtotales y totales, y la operación ROLLUP  puede realizar esta acción por usted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15900" rtl="0" algn="just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utilizar el operador ROLLUP, ese tipo de requisito  significaría escribir varias consultas y, a continuación,  introducir los resultados, por ejemplo, en una hoja de  cálculo para calcular y aplicar formato a los resultados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ROLLUP crea subtotales que se acumulan desde el nivel  más detallado hasta la suma total, siguiendo la lista de  agrupamiento especificada en la cláusula GROUP BY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92112" y="748031"/>
            <a:ext cx="1354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ROLLUP</a:t>
            </a:r>
            <a:endParaRPr sz="3300"/>
          </a:p>
        </p:txBody>
      </p:sp>
      <p:sp>
        <p:nvSpPr>
          <p:cNvPr id="124" name="Google Shape;124;p20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483552" y="1381889"/>
            <a:ext cx="8057515" cy="427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4785" marR="889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acción de ROLLUP es directa: crea subtotales que se  acumulan desde el nivel más detallado hasta la suma  total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42875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ROLLUP utiliza una lista ordenada de las columnas del  agrupamiento en su lista de argumentos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822960" rtl="0" algn="l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primer lugar, calcula los valores de agregación  estándar especificados en la cláusula GROUP BY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crea subtotales de nivel superior de  forma progresiva, de derecha a izquierda a través de la  lista de columnas del agrupamiento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último, crea una suma total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92112" y="748031"/>
            <a:ext cx="5330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Tabla de Resultados de ROLLUP</a:t>
            </a:r>
            <a:endParaRPr sz="3300"/>
          </a:p>
        </p:txBody>
      </p:sp>
      <p:sp>
        <p:nvSpPr>
          <p:cNvPr id="133" name="Google Shape;133;p21"/>
          <p:cNvSpPr txBox="1"/>
          <p:nvPr/>
        </p:nvSpPr>
        <p:spPr>
          <a:xfrm>
            <a:off x="483552" y="1415417"/>
            <a:ext cx="787400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tabla de resultados siguiente, las filas resaltadas  en rojo las generas la operación ROLLUP: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21"/>
          <p:cNvGrpSpPr/>
          <p:nvPr/>
        </p:nvGrpSpPr>
        <p:grpSpPr>
          <a:xfrm>
            <a:off x="5674229" y="4495412"/>
            <a:ext cx="343539" cy="133350"/>
            <a:chOff x="5674229" y="4495412"/>
            <a:chExt cx="343539" cy="133350"/>
          </a:xfrm>
        </p:grpSpPr>
        <p:sp>
          <p:nvSpPr>
            <p:cNvPr id="135" name="Google Shape;135;p21"/>
            <p:cNvSpPr/>
            <p:nvPr/>
          </p:nvSpPr>
          <p:spPr>
            <a:xfrm>
              <a:off x="5674233" y="4562094"/>
              <a:ext cx="343535" cy="0"/>
            </a:xfrm>
            <a:custGeom>
              <a:rect b="b" l="l" r="r" t="t"/>
              <a:pathLst>
                <a:path extrusionOk="0" h="120000" w="343535">
                  <a:moveTo>
                    <a:pt x="343281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5674229" y="4495412"/>
              <a:ext cx="114300" cy="133350"/>
            </a:xfrm>
            <a:custGeom>
              <a:rect b="b" l="l" r="r" t="t"/>
              <a:pathLst>
                <a:path extrusionOk="0" h="133350" w="114300">
                  <a:moveTo>
                    <a:pt x="114300" y="0"/>
                  </a:moveTo>
                  <a:lnTo>
                    <a:pt x="0" y="66674"/>
                  </a:lnTo>
                  <a:lnTo>
                    <a:pt x="114300" y="133349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37" name="Google Shape;137;p21"/>
          <p:cNvGrpSpPr/>
          <p:nvPr/>
        </p:nvGrpSpPr>
        <p:grpSpPr>
          <a:xfrm>
            <a:off x="5674229" y="5318386"/>
            <a:ext cx="365761" cy="133350"/>
            <a:chOff x="5674229" y="5318386"/>
            <a:chExt cx="365761" cy="133350"/>
          </a:xfrm>
        </p:grpSpPr>
        <p:sp>
          <p:nvSpPr>
            <p:cNvPr id="138" name="Google Shape;138;p21"/>
            <p:cNvSpPr/>
            <p:nvPr/>
          </p:nvSpPr>
          <p:spPr>
            <a:xfrm>
              <a:off x="5674230" y="5385055"/>
              <a:ext cx="365760" cy="0"/>
            </a:xfrm>
            <a:custGeom>
              <a:rect b="b" l="l" r="r" t="t"/>
              <a:pathLst>
                <a:path extrusionOk="0" h="120000" w="365760">
                  <a:moveTo>
                    <a:pt x="36534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5674229" y="5318386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114300" y="133350"/>
                  </a:moveTo>
                  <a:lnTo>
                    <a:pt x="0" y="66675"/>
                  </a:lnTo>
                  <a:lnTo>
                    <a:pt x="114312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0" name="Google Shape;140;p21"/>
          <p:cNvSpPr txBox="1"/>
          <p:nvPr/>
        </p:nvSpPr>
        <p:spPr>
          <a:xfrm>
            <a:off x="6175913" y="4388918"/>
            <a:ext cx="2150110" cy="1471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Subtotal de dept_id 10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Subtotal de dept_id 20  Suma total del informe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21"/>
          <p:cNvGrpSpPr/>
          <p:nvPr/>
        </p:nvGrpSpPr>
        <p:grpSpPr>
          <a:xfrm>
            <a:off x="5678801" y="5675002"/>
            <a:ext cx="365761" cy="133350"/>
            <a:chOff x="5678801" y="5675002"/>
            <a:chExt cx="365761" cy="133350"/>
          </a:xfrm>
        </p:grpSpPr>
        <p:sp>
          <p:nvSpPr>
            <p:cNvPr id="142" name="Google Shape;142;p21"/>
            <p:cNvSpPr/>
            <p:nvPr/>
          </p:nvSpPr>
          <p:spPr>
            <a:xfrm>
              <a:off x="5678802" y="5741671"/>
              <a:ext cx="365760" cy="0"/>
            </a:xfrm>
            <a:custGeom>
              <a:rect b="b" l="l" r="r" t="t"/>
              <a:pathLst>
                <a:path extrusionOk="0" h="120000" w="365760">
                  <a:moveTo>
                    <a:pt x="36534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5678801" y="5675002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114300" y="133350"/>
                  </a:moveTo>
                  <a:lnTo>
                    <a:pt x="0" y="66675"/>
                  </a:lnTo>
                  <a:lnTo>
                    <a:pt x="114312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aphicFrame>
        <p:nvGraphicFramePr>
          <p:cNvPr id="144" name="Google Shape;144;p21"/>
          <p:cNvGraphicFramePr/>
          <p:nvPr/>
        </p:nvGraphicFramePr>
        <p:xfrm>
          <a:off x="397889" y="37155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{F105C6F4-082C-4F3F-A23D-E8EF3822720B}</a:tableStyleId>
              </a:tblPr>
              <a:tblGrid>
                <a:gridCol w="1640850"/>
                <a:gridCol w="1640850"/>
                <a:gridCol w="1640850"/>
              </a:tblGrid>
              <a:tr h="3406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SUM(SALARY)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9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9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9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9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9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900"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21"/>
          <p:cNvSpPr/>
          <p:nvPr/>
        </p:nvSpPr>
        <p:spPr>
          <a:xfrm>
            <a:off x="405384" y="2252472"/>
            <a:ext cx="8345805" cy="1247140"/>
          </a:xfrm>
          <a:custGeom>
            <a:rect b="b" l="l" r="r" t="t"/>
            <a:pathLst>
              <a:path extrusionOk="0" h="1247139" w="8345805">
                <a:moveTo>
                  <a:pt x="8345424" y="0"/>
                </a:moveTo>
                <a:lnTo>
                  <a:pt x="0" y="0"/>
                </a:lnTo>
                <a:lnTo>
                  <a:pt x="0" y="1246631"/>
                </a:lnTo>
                <a:lnTo>
                  <a:pt x="8345424" y="1246631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" name="Google Shape;146;p21"/>
          <p:cNvSpPr txBox="1"/>
          <p:nvPr/>
        </p:nvSpPr>
        <p:spPr>
          <a:xfrm>
            <a:off x="392112" y="2286721"/>
            <a:ext cx="5623560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department_id, job_id, SUM(salary)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&lt; 50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GROUP BY ROLLUP (department_id, job_id);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21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392112" y="748031"/>
            <a:ext cx="5683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Fórmula de Resultado de ROLLUP</a:t>
            </a:r>
            <a:endParaRPr sz="3300"/>
          </a:p>
        </p:txBody>
      </p:sp>
      <p:sp>
        <p:nvSpPr>
          <p:cNvPr id="155" name="Google Shape;155;p22"/>
          <p:cNvSpPr txBox="1"/>
          <p:nvPr/>
        </p:nvSpPr>
        <p:spPr>
          <a:xfrm>
            <a:off x="483552" y="1415417"/>
            <a:ext cx="8141334" cy="24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4577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número de columnas o expresiones que aparecen  en la lista de argumentos de ROLLUP determina el  número de agrupamientos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fórmula es (número de columnas) + 1, donde el  número de columnas es el número de columnas que se  indica en la lista de argumentos de ROLLUP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0440" y="3857244"/>
            <a:ext cx="2915411" cy="231647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392112" y="748031"/>
            <a:ext cx="5683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Fórmula de Resultado de ROLLUP</a:t>
            </a:r>
            <a:endParaRPr sz="3300"/>
          </a:p>
        </p:txBody>
      </p:sp>
      <p:sp>
        <p:nvSpPr>
          <p:cNvPr id="165" name="Google Shape;165;p23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483552" y="1415417"/>
            <a:ext cx="8163559" cy="160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siguiente consulta de ejemplo, se muestran dos  columnas en la lista de argumentos de ROLLUP y, por lo  tanto, verá que se generan tres valores  automáticamente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405384" y="3134867"/>
            <a:ext cx="8345805" cy="124523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0" marR="27406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department_id, job_id, SUM(salary)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&lt; 50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GROUP BY ROLLUP (department_id, job_id);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92112" y="748031"/>
            <a:ext cx="1959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Sin ROLLUP</a:t>
            </a:r>
            <a:endParaRPr sz="3300"/>
          </a:p>
        </p:txBody>
      </p:sp>
      <p:sp>
        <p:nvSpPr>
          <p:cNvPr id="175" name="Google Shape;175;p24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483552" y="1415417"/>
            <a:ext cx="813054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utiliza GROUP BY sin ROLLUP para la misma consulta,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0" rtl="0" algn="l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aspecto tendría el resultado?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483552" y="4713353"/>
            <a:ext cx="7963534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Tendría que ejecutar varias consultas para obtener los  subtotales obtenidos con ROLLUP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24"/>
          <p:cNvGraphicFramePr/>
          <p:nvPr/>
        </p:nvGraphicFramePr>
        <p:xfrm>
          <a:off x="826066" y="3644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{F105C6F4-082C-4F3F-A23D-E8EF3822720B}</a:tableStyleId>
              </a:tblPr>
              <a:tblGrid>
                <a:gridCol w="2493000"/>
                <a:gridCol w="2493000"/>
                <a:gridCol w="2493000"/>
              </a:tblGrid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SUM(SALARY)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24"/>
          <p:cNvSpPr txBox="1"/>
          <p:nvPr/>
        </p:nvSpPr>
        <p:spPr>
          <a:xfrm>
            <a:off x="405384" y="2252472"/>
            <a:ext cx="8345805" cy="12471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0" marR="27406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department_id, job_id, SUM(salary)  FROM	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&lt; 50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GROUP BY (department_id, job_id);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92112" y="748031"/>
            <a:ext cx="951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CUBE</a:t>
            </a:r>
            <a:endParaRPr sz="3300"/>
          </a:p>
        </p:txBody>
      </p:sp>
      <p:sp>
        <p:nvSpPr>
          <p:cNvPr id="187" name="Google Shape;187;p25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483552" y="1381889"/>
            <a:ext cx="7974965" cy="427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4785" marR="64706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CUBE, al igual que ROLLUP, es una extensión de la  cláusula GROUP BY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Genera informes de tabulación cruzada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32080" rtl="0" algn="l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puede aplicar a todas las funciones de agregación,  incluidas AVG, SUM, MIN, MAX y COUNT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06375" rtl="0" algn="just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columnas que se muestran en la cláusula GROUP  BY están incluidas en referencias cruzadas para crear  un superjuego de grupos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agregación especificadas en la lista  SELECT se aplican a estos grupos para crear valores de  resumen para las filas superagregadas adicionales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92112" y="748031"/>
            <a:ext cx="951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CUBE</a:t>
            </a:r>
            <a:endParaRPr sz="3300"/>
          </a:p>
        </p:txBody>
      </p:sp>
      <p:sp>
        <p:nvSpPr>
          <p:cNvPr id="196" name="Google Shape;196;p26"/>
          <p:cNvSpPr txBox="1"/>
          <p:nvPr/>
        </p:nvSpPr>
        <p:spPr>
          <a:xfrm>
            <a:off x="483552" y="1415417"/>
            <a:ext cx="8003540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271145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Todas las combinaciones posibles de filas se agregan  con CUBE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just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tiene n columnas en la cláusula GROUP BY, habrá 2n  posibles combinaciones de superagregados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04800" rtl="0" algn="just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Matemáticamente, estas combinaciones forman un  cubo de n dimensiones, que es de donde procede el  nombre del operador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26"/>
          <p:cNvGrpSpPr/>
          <p:nvPr/>
        </p:nvGrpSpPr>
        <p:grpSpPr>
          <a:xfrm>
            <a:off x="3278123" y="4379976"/>
            <a:ext cx="2046731" cy="2060447"/>
            <a:chOff x="3278123" y="4379976"/>
            <a:chExt cx="2046731" cy="2060447"/>
          </a:xfrm>
        </p:grpSpPr>
        <p:pic>
          <p:nvPicPr>
            <p:cNvPr id="198" name="Google Shape;198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78123" y="4379976"/>
              <a:ext cx="2046731" cy="2060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61943" y="4463795"/>
              <a:ext cx="1879091" cy="18928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0" name="Google Shape;200;p26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392112" y="748031"/>
            <a:ext cx="951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CUBE</a:t>
            </a:r>
            <a:endParaRPr sz="3300"/>
          </a:p>
        </p:txBody>
      </p:sp>
      <p:sp>
        <p:nvSpPr>
          <p:cNvPr id="208" name="Google Shape;208;p27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09" name="Google Shape;209;p2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483552" y="1415417"/>
            <a:ext cx="8034655" cy="372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8445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CUBE se utiliza a menudo en las consultas que utilizan  columnas de tablas independientes, en lugar de  distintas columnas de una sola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Imagine, por ejemplo, un usuario que consulta la tabla  Sales para una compañía como AMAZON.COM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808355" rtl="0" algn="just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 informe de tabulación cruzada normalmente  solicitado podría incluir subtotales para todas las  combinaciones posibles de las ventas de un mes,  región y producto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392112" y="748031"/>
            <a:ext cx="951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CUBE</a:t>
            </a:r>
            <a:endParaRPr sz="3300"/>
          </a:p>
        </p:txBody>
      </p:sp>
      <p:sp>
        <p:nvSpPr>
          <p:cNvPr id="217" name="Google Shape;217;p28"/>
          <p:cNvSpPr txBox="1"/>
          <p:nvPr/>
        </p:nvSpPr>
        <p:spPr>
          <a:xfrm>
            <a:off x="483552" y="1415417"/>
            <a:ext cx="793559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siguiente sentencia, las filas en rojo las genera la  operación CUBE: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28"/>
          <p:cNvGraphicFramePr/>
          <p:nvPr/>
        </p:nvGraphicFramePr>
        <p:xfrm>
          <a:off x="5025082" y="3407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{F105C6F4-082C-4F3F-A23D-E8EF3822720B}</a:tableStyleId>
              </a:tblPr>
              <a:tblGrid>
                <a:gridCol w="1487175"/>
                <a:gridCol w="947425"/>
                <a:gridCol w="1273800"/>
              </a:tblGrid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SUM(SALARY)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08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28"/>
          <p:cNvSpPr/>
          <p:nvPr/>
        </p:nvSpPr>
        <p:spPr>
          <a:xfrm>
            <a:off x="405384" y="2220467"/>
            <a:ext cx="8345805" cy="1085215"/>
          </a:xfrm>
          <a:custGeom>
            <a:rect b="b" l="l" r="r" t="t"/>
            <a:pathLst>
              <a:path extrusionOk="0" h="1085214" w="8345805">
                <a:moveTo>
                  <a:pt x="8345424" y="0"/>
                </a:moveTo>
                <a:lnTo>
                  <a:pt x="0" y="0"/>
                </a:lnTo>
                <a:lnTo>
                  <a:pt x="0" y="1085088"/>
                </a:lnTo>
                <a:lnTo>
                  <a:pt x="8345424" y="1085088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0" name="Google Shape;220;p28"/>
          <p:cNvSpPr txBox="1"/>
          <p:nvPr/>
        </p:nvSpPr>
        <p:spPr>
          <a:xfrm>
            <a:off x="392112" y="2173921"/>
            <a:ext cx="5623560" cy="3538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department_id, job_id, SUM(salary)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&lt; 50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GROUP BY CUBE (department_id, job_id);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62050" marR="2662555" rtl="0" algn="l">
              <a:lnSpc>
                <a:spcPct val="110400"/>
              </a:lnSpc>
              <a:spcBef>
                <a:spcPts val="125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Total del informe  Subtotal de MK_MAN  Subtotal de MK_REP  Subtotal de AD_ASST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6205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Subtotal de departamento 10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62050" marR="0" rtl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Subtotal de departamento 20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28"/>
          <p:cNvGrpSpPr/>
          <p:nvPr/>
        </p:nvGrpSpPr>
        <p:grpSpPr>
          <a:xfrm>
            <a:off x="4088129" y="3841967"/>
            <a:ext cx="678815" cy="133350"/>
            <a:chOff x="4088129" y="3841967"/>
            <a:chExt cx="678815" cy="133350"/>
          </a:xfrm>
        </p:grpSpPr>
        <p:sp>
          <p:nvSpPr>
            <p:cNvPr id="222" name="Google Shape;222;p28"/>
            <p:cNvSpPr/>
            <p:nvPr/>
          </p:nvSpPr>
          <p:spPr>
            <a:xfrm>
              <a:off x="4088129" y="3908386"/>
              <a:ext cx="678815" cy="1905"/>
            </a:xfrm>
            <a:custGeom>
              <a:rect b="b" l="l" r="r" t="t"/>
              <a:pathLst>
                <a:path extrusionOk="0" h="1904" w="678814">
                  <a:moveTo>
                    <a:pt x="0" y="1498"/>
                  </a:moveTo>
                  <a:lnTo>
                    <a:pt x="678243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4651921" y="3841967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304" y="133349"/>
                  </a:moveTo>
                  <a:lnTo>
                    <a:pt x="114452" y="6642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24" name="Google Shape;224;p28"/>
          <p:cNvGrpSpPr/>
          <p:nvPr/>
        </p:nvGrpSpPr>
        <p:grpSpPr>
          <a:xfrm>
            <a:off x="4101846" y="4105619"/>
            <a:ext cx="678815" cy="133350"/>
            <a:chOff x="4101846" y="4105619"/>
            <a:chExt cx="678815" cy="133350"/>
          </a:xfrm>
        </p:grpSpPr>
        <p:sp>
          <p:nvSpPr>
            <p:cNvPr id="225" name="Google Shape;225;p28"/>
            <p:cNvSpPr/>
            <p:nvPr/>
          </p:nvSpPr>
          <p:spPr>
            <a:xfrm>
              <a:off x="4101846" y="4172038"/>
              <a:ext cx="678815" cy="1905"/>
            </a:xfrm>
            <a:custGeom>
              <a:rect b="b" l="l" r="r" t="t"/>
              <a:pathLst>
                <a:path extrusionOk="0" h="1904" w="678814">
                  <a:moveTo>
                    <a:pt x="0" y="1498"/>
                  </a:moveTo>
                  <a:lnTo>
                    <a:pt x="678243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4665635" y="4105619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304" y="133349"/>
                  </a:moveTo>
                  <a:lnTo>
                    <a:pt x="114452" y="6642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27" name="Google Shape;227;p28"/>
          <p:cNvGrpSpPr/>
          <p:nvPr/>
        </p:nvGrpSpPr>
        <p:grpSpPr>
          <a:xfrm>
            <a:off x="4098797" y="4369271"/>
            <a:ext cx="678815" cy="133350"/>
            <a:chOff x="4098797" y="4369271"/>
            <a:chExt cx="678815" cy="133350"/>
          </a:xfrm>
        </p:grpSpPr>
        <p:sp>
          <p:nvSpPr>
            <p:cNvPr id="228" name="Google Shape;228;p28"/>
            <p:cNvSpPr/>
            <p:nvPr/>
          </p:nvSpPr>
          <p:spPr>
            <a:xfrm>
              <a:off x="4098797" y="4435691"/>
              <a:ext cx="678815" cy="1905"/>
            </a:xfrm>
            <a:custGeom>
              <a:rect b="b" l="l" r="r" t="t"/>
              <a:pathLst>
                <a:path extrusionOk="0" h="1904" w="678814">
                  <a:moveTo>
                    <a:pt x="0" y="1498"/>
                  </a:moveTo>
                  <a:lnTo>
                    <a:pt x="678243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4662588" y="4369271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304" y="133350"/>
                  </a:moveTo>
                  <a:lnTo>
                    <a:pt x="114452" y="66421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30" name="Google Shape;230;p28"/>
          <p:cNvGrpSpPr/>
          <p:nvPr/>
        </p:nvGrpSpPr>
        <p:grpSpPr>
          <a:xfrm>
            <a:off x="4098797" y="4666451"/>
            <a:ext cx="678815" cy="133350"/>
            <a:chOff x="4098797" y="4666451"/>
            <a:chExt cx="678815" cy="133350"/>
          </a:xfrm>
        </p:grpSpPr>
        <p:sp>
          <p:nvSpPr>
            <p:cNvPr id="231" name="Google Shape;231;p28"/>
            <p:cNvSpPr/>
            <p:nvPr/>
          </p:nvSpPr>
          <p:spPr>
            <a:xfrm>
              <a:off x="4098797" y="4732870"/>
              <a:ext cx="678815" cy="1905"/>
            </a:xfrm>
            <a:custGeom>
              <a:rect b="b" l="l" r="r" t="t"/>
              <a:pathLst>
                <a:path extrusionOk="0" h="1904" w="678814">
                  <a:moveTo>
                    <a:pt x="0" y="1498"/>
                  </a:moveTo>
                  <a:lnTo>
                    <a:pt x="678243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4662588" y="4666451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304" y="133350"/>
                  </a:moveTo>
                  <a:lnTo>
                    <a:pt x="114452" y="66421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33" name="Google Shape;233;p28"/>
          <p:cNvGrpSpPr/>
          <p:nvPr/>
        </p:nvGrpSpPr>
        <p:grpSpPr>
          <a:xfrm>
            <a:off x="4098797" y="4930103"/>
            <a:ext cx="678815" cy="133350"/>
            <a:chOff x="4098797" y="4930103"/>
            <a:chExt cx="678815" cy="133350"/>
          </a:xfrm>
        </p:grpSpPr>
        <p:sp>
          <p:nvSpPr>
            <p:cNvPr id="234" name="Google Shape;234;p28"/>
            <p:cNvSpPr/>
            <p:nvPr/>
          </p:nvSpPr>
          <p:spPr>
            <a:xfrm>
              <a:off x="4098797" y="4996523"/>
              <a:ext cx="678815" cy="1905"/>
            </a:xfrm>
            <a:custGeom>
              <a:rect b="b" l="l" r="r" t="t"/>
              <a:pathLst>
                <a:path extrusionOk="0" h="1904" w="678814">
                  <a:moveTo>
                    <a:pt x="0" y="1498"/>
                  </a:moveTo>
                  <a:lnTo>
                    <a:pt x="678243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4662588" y="4930103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304" y="133350"/>
                  </a:moveTo>
                  <a:lnTo>
                    <a:pt x="114452" y="66421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36" name="Google Shape;236;p28"/>
          <p:cNvGrpSpPr/>
          <p:nvPr/>
        </p:nvGrpSpPr>
        <p:grpSpPr>
          <a:xfrm>
            <a:off x="4088129" y="5571707"/>
            <a:ext cx="678815" cy="133350"/>
            <a:chOff x="4088129" y="5571707"/>
            <a:chExt cx="678815" cy="133350"/>
          </a:xfrm>
        </p:grpSpPr>
        <p:sp>
          <p:nvSpPr>
            <p:cNvPr id="237" name="Google Shape;237;p28"/>
            <p:cNvSpPr/>
            <p:nvPr/>
          </p:nvSpPr>
          <p:spPr>
            <a:xfrm>
              <a:off x="4088129" y="5638126"/>
              <a:ext cx="678815" cy="1905"/>
            </a:xfrm>
            <a:custGeom>
              <a:rect b="b" l="l" r="r" t="t"/>
              <a:pathLst>
                <a:path extrusionOk="0" h="1904" w="678814">
                  <a:moveTo>
                    <a:pt x="0" y="1498"/>
                  </a:moveTo>
                  <a:lnTo>
                    <a:pt x="678243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4651921" y="5571707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304" y="133349"/>
                  </a:moveTo>
                  <a:lnTo>
                    <a:pt x="114452" y="6642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9" name="Google Shape;239;p28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40" name="Google Shape;240;p2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392112" y="748031"/>
            <a:ext cx="2804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GROUPING SETS</a:t>
            </a:r>
            <a:endParaRPr sz="3300"/>
          </a:p>
        </p:txBody>
      </p:sp>
      <p:sp>
        <p:nvSpPr>
          <p:cNvPr id="247" name="Google Shape;247;p29"/>
          <p:cNvSpPr txBox="1"/>
          <p:nvPr/>
        </p:nvSpPr>
        <p:spPr>
          <a:xfrm>
            <a:off x="483552" y="1415417"/>
            <a:ext cx="8065134" cy="257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94551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GROUPING SETS es otra extensión de la cláusula  GROUP BY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utiliza para especificar varias agrupaciones 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08915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Esto le proporciona la funcionalidad de tener varias  cláusulas GROUP BY en la misma sentencia SELECT, lo  cual no está permitido en la sintaxis normal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3411" y="4046220"/>
            <a:ext cx="2261615" cy="225856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50" name="Google Shape;250;p2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392112" y="748031"/>
            <a:ext cx="2804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GROUPING SETS</a:t>
            </a:r>
            <a:endParaRPr sz="3300"/>
          </a:p>
        </p:txBody>
      </p:sp>
      <p:sp>
        <p:nvSpPr>
          <p:cNvPr id="257" name="Google Shape;257;p30"/>
          <p:cNvSpPr txBox="1"/>
          <p:nvPr/>
        </p:nvSpPr>
        <p:spPr>
          <a:xfrm>
            <a:off x="483552" y="1415417"/>
            <a:ext cx="8120380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39306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desea ver los datos de la tabla EMPLOYEES  agrupados por (department_id, job_id, manager_id)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36334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Pero también agrupados por (department_id,  manager_id)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150" marR="508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Y también agrupados por (job_id, manager_id),  normalmente tendría que escribir tres sentencias  select distintas siendo la única diferencia entre ellas las  cláusulas GROUP BY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6311" y="4597908"/>
            <a:ext cx="1929383" cy="192481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60" name="Google Shape;260;p3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392112" y="748031"/>
            <a:ext cx="2804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GROUPING SETS</a:t>
            </a:r>
            <a:endParaRPr sz="3300"/>
          </a:p>
        </p:txBody>
      </p:sp>
      <p:sp>
        <p:nvSpPr>
          <p:cNvPr id="267" name="Google Shape;267;p31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68" name="Google Shape;268;p3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70" name="Google Shape;270;p31"/>
          <p:cNvSpPr txBox="1"/>
          <p:nvPr/>
        </p:nvSpPr>
        <p:spPr>
          <a:xfrm>
            <a:off x="483552" y="1415417"/>
            <a:ext cx="7934325" cy="421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69850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la base de datos, esto significa recuperar los  mismos datos tres veces distintas, lo que podría  suponer una gran sobrecarga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25666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Imagine que su compañía tiene 3.000.000 de  empleados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14107"/>
              </a:lnSpc>
              <a:spcBef>
                <a:spcPts val="42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Estaría pidiendo a la base de datos que recuperase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36195" rtl="0" algn="l">
              <a:lnSpc>
                <a:spcPct val="108214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9 millones de filas en lugar de solo 3 millones de filas,  una gran diferencia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lo tanto, el uso de GROUPING SETS es mucho más  eficiente al escribir informes complejos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392112" y="748031"/>
            <a:ext cx="2804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GROUPING SETS</a:t>
            </a:r>
            <a:endParaRPr sz="3300"/>
          </a:p>
        </p:txBody>
      </p:sp>
      <p:sp>
        <p:nvSpPr>
          <p:cNvPr id="276" name="Google Shape;276;p32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483552" y="1415417"/>
            <a:ext cx="775906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siguiente sentencia, las filas resaltadas en color  las genera la operación GROUPING SETS: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0" name="Google Shape;280;p32"/>
          <p:cNvGraphicFramePr/>
          <p:nvPr/>
        </p:nvGraphicFramePr>
        <p:xfrm>
          <a:off x="3482097" y="3895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{F105C6F4-082C-4F3F-A23D-E8EF3822720B}</a:tableStyleId>
              </a:tblPr>
              <a:tblGrid>
                <a:gridCol w="1376675"/>
                <a:gridCol w="1376675"/>
                <a:gridCol w="1384300"/>
                <a:gridCol w="1124575"/>
              </a:tblGrid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SUM(SALARY)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6F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18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18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18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6F2F9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18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6F2F9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6F2F9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18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6F2F9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6F2F9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18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6F2F9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81" name="Google Shape;281;p32"/>
          <p:cNvSpPr txBox="1"/>
          <p:nvPr/>
        </p:nvSpPr>
        <p:spPr>
          <a:xfrm>
            <a:off x="405384" y="2212848"/>
            <a:ext cx="8345805" cy="16586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department_id, job_id, manager_id, SUM(salary)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61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&lt; 50  GROUP BY GROUPING SETS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2059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b="1" lang="en-US" sz="1800">
                <a:solidFill>
                  <a:srgbClr val="006FC0"/>
                </a:solidFill>
                <a:latin typeface="Courier New"/>
                <a:ea typeface="Courier New"/>
                <a:cs typeface="Courier New"/>
                <a:sym typeface="Courier New"/>
              </a:rPr>
              <a:t>job_id, manager_id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),(</a:t>
            </a:r>
            <a:r>
              <a:rPr b="1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department_id, job_id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),  (</a:t>
            </a:r>
            <a:r>
              <a:rPr b="1" lang="en-US" sz="1800">
                <a:solidFill>
                  <a:srgbClr val="6F2F9F"/>
                </a:solidFill>
                <a:latin typeface="Courier New"/>
                <a:ea typeface="Courier New"/>
                <a:cs typeface="Courier New"/>
                <a:sym typeface="Courier New"/>
              </a:rPr>
              <a:t>department_id, manager_id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>
            <p:ph type="title"/>
          </p:nvPr>
        </p:nvSpPr>
        <p:spPr>
          <a:xfrm>
            <a:off x="392112" y="748031"/>
            <a:ext cx="3731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Funciones GROUPING</a:t>
            </a:r>
            <a:endParaRPr sz="3300"/>
          </a:p>
        </p:txBody>
      </p:sp>
      <p:sp>
        <p:nvSpPr>
          <p:cNvPr id="287" name="Google Shape;287;p33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88" name="Google Shape;288;p3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90" name="Google Shape;290;p33"/>
          <p:cNvSpPr txBox="1"/>
          <p:nvPr/>
        </p:nvSpPr>
        <p:spPr>
          <a:xfrm>
            <a:off x="521558" y="1425172"/>
            <a:ext cx="4090035" cy="4293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228600" lvl="0" marL="24130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AD7E64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utilizar ROLLUP o CUBE  para crear informes con  subtotales, muy a menudo  también tiene que poder  saber qué filas de la salida  son filas reales devueltas  de la base de datos y qué  filas son filas de subtotal  calculado resultantes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41300" marR="0" rtl="0" algn="l">
              <a:lnSpc>
                <a:spcPct val="99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las operaciones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41300" marR="0" rtl="0" algn="l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ROLLUP o CUBE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1" name="Google Shape;291;p33"/>
          <p:cNvGraphicFramePr/>
          <p:nvPr/>
        </p:nvGraphicFramePr>
        <p:xfrm>
          <a:off x="4805930" y="14970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{F105C6F4-082C-4F3F-A23D-E8EF3822720B}</a:tableStyleId>
              </a:tblPr>
              <a:tblGrid>
                <a:gridCol w="1578600"/>
                <a:gridCol w="1085225"/>
                <a:gridCol w="1332225"/>
              </a:tblGrid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SUM(SALARY)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/>
          <p:nvPr>
            <p:ph type="title"/>
          </p:nvPr>
        </p:nvSpPr>
        <p:spPr>
          <a:xfrm>
            <a:off x="392112" y="748031"/>
            <a:ext cx="3731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Funciones GROUPING</a:t>
            </a:r>
            <a:endParaRPr sz="3300"/>
          </a:p>
        </p:txBody>
      </p:sp>
      <p:sp>
        <p:nvSpPr>
          <p:cNvPr id="297" name="Google Shape;297;p34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298" name="Google Shape;298;p3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00" name="Google Shape;300;p34"/>
          <p:cNvSpPr txBox="1"/>
          <p:nvPr>
            <p:ph idx="1" type="body"/>
          </p:nvPr>
        </p:nvSpPr>
        <p:spPr>
          <a:xfrm>
            <a:off x="483552" y="1415417"/>
            <a:ext cx="8040900" cy="4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Si observa el informe de la derecha, ¿cómo podría  distinguir entre las filas reales de la base de datos y las  filas calculadas?</a:t>
            </a:r>
            <a:endParaRPr/>
          </a:p>
          <a:p>
            <a:pPr indent="-177800" lvl="0" marL="184785" marR="431101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¿Cómo puede notar la  diferencia entre un valor  NULL almacenado  devuelto por la consulta</a:t>
            </a:r>
            <a:endParaRPr/>
          </a:p>
          <a:p>
            <a:pPr indent="0" lvl="0" marL="18478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y los valores NULL creados</a:t>
            </a:r>
            <a:endParaRPr/>
          </a:p>
          <a:p>
            <a:pPr indent="0" lvl="0" marL="184785" rtl="0" algn="l">
              <a:lnSpc>
                <a:spcPct val="114107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mediante ROLLUP o CUBE</a:t>
            </a:r>
            <a:endParaRPr/>
          </a:p>
        </p:txBody>
      </p:sp>
      <p:graphicFrame>
        <p:nvGraphicFramePr>
          <p:cNvPr id="301" name="Google Shape;301;p34"/>
          <p:cNvGraphicFramePr/>
          <p:nvPr/>
        </p:nvGraphicFramePr>
        <p:xfrm>
          <a:off x="4749400" y="2413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{F105C6F4-082C-4F3F-A23D-E8EF3822720B}</a:tableStyleId>
              </a:tblPr>
              <a:tblGrid>
                <a:gridCol w="1578600"/>
                <a:gridCol w="1085225"/>
                <a:gridCol w="1332225"/>
              </a:tblGrid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SUM(SALARY)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76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392112" y="748031"/>
            <a:ext cx="3731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Funciones GROUPING</a:t>
            </a:r>
            <a:endParaRPr sz="3300"/>
          </a:p>
        </p:txBody>
      </p:sp>
      <p:sp>
        <p:nvSpPr>
          <p:cNvPr id="307" name="Google Shape;307;p35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308" name="Google Shape;308;p3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10" name="Google Shape;310;p35"/>
          <p:cNvSpPr txBox="1"/>
          <p:nvPr/>
        </p:nvSpPr>
        <p:spPr>
          <a:xfrm>
            <a:off x="483552" y="1355371"/>
            <a:ext cx="798639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función GROUPING resuelve estos problemas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Utilizando una sola columna de la consulta como  argumento, la función GROUPING devolverá un 1 para  una fila agregada (calculada) y un 0 para una fila no  agregada (devuelta)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5240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sintaxis de GROUPING es simplemente GROUPING  (nombre_columna)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3335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Solo se utiliza en la cláusula SELECT y solo acepta una  expresión de columna como argumento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392112" y="748031"/>
            <a:ext cx="3731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Funciones GROUPING</a:t>
            </a:r>
            <a:endParaRPr sz="3300"/>
          </a:p>
        </p:txBody>
      </p:sp>
      <p:sp>
        <p:nvSpPr>
          <p:cNvPr id="316" name="Google Shape;316;p36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317" name="Google Shape;317;p3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19" name="Google Shape;319;p36"/>
          <p:cNvSpPr txBox="1"/>
          <p:nvPr/>
        </p:nvSpPr>
        <p:spPr>
          <a:xfrm>
            <a:off x="483552" y="1415417"/>
            <a:ext cx="146621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36"/>
          <p:cNvGraphicFramePr/>
          <p:nvPr/>
        </p:nvGraphicFramePr>
        <p:xfrm>
          <a:off x="820624" y="3669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{F105C6F4-082C-4F3F-A23D-E8EF3822720B}</a:tableStyleId>
              </a:tblPr>
              <a:tblGrid>
                <a:gridCol w="1497975"/>
                <a:gridCol w="1497975"/>
                <a:gridCol w="1497975"/>
                <a:gridCol w="1497975"/>
                <a:gridCol w="1497975"/>
              </a:tblGrid>
              <a:tr h="2942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SUM(SALARY)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 sub total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sub total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MK_MAN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100"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18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36"/>
          <p:cNvSpPr txBox="1"/>
          <p:nvPr/>
        </p:nvSpPr>
        <p:spPr>
          <a:xfrm>
            <a:off x="405384" y="1959864"/>
            <a:ext cx="8345805" cy="1656714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department_id, job_id, SUM(salary),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8940" marR="19221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F"/>
                </a:solidFill>
                <a:latin typeface="Courier New"/>
                <a:ea typeface="Courier New"/>
                <a:cs typeface="Courier New"/>
                <a:sym typeface="Courier New"/>
              </a:rPr>
              <a:t>GROUPING(department_id) AS "Dept sub total",  GROUPING(job_id) AS "Job sub total"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&lt; 50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GROUP BY CUBE (department_id, job_id);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327" name="Google Shape;327;p37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328" name="Google Shape;328;p3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30" name="Google Shape;330;p37"/>
          <p:cNvSpPr txBox="1"/>
          <p:nvPr/>
        </p:nvSpPr>
        <p:spPr>
          <a:xfrm>
            <a:off x="483552" y="1415417"/>
            <a:ext cx="7702550" cy="236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CUBE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FUNCIÓN GROUPING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GROUPING SETS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ROLLUP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336" name="Google Shape;336;p38"/>
          <p:cNvSpPr txBox="1"/>
          <p:nvPr/>
        </p:nvSpPr>
        <p:spPr>
          <a:xfrm>
            <a:off x="483552" y="1393401"/>
            <a:ext cx="7837170" cy="26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Utilizar ROLLUP para generar valores subtotales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Utilizar CUBE para generar valores de tabulación cruzada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16713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Utilizar GROUPING SETS para generar un juego de  resultados único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Utilizar la función GROUPING para identificar los valores de  fila adicionales creados por una operación ROLLUP o CUBE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38"/>
          <p:cNvGrpSpPr/>
          <p:nvPr/>
        </p:nvGrpSpPr>
        <p:grpSpPr>
          <a:xfrm>
            <a:off x="4556759" y="4128515"/>
            <a:ext cx="3863327" cy="2122931"/>
            <a:chOff x="4556759" y="4128515"/>
            <a:chExt cx="3863327" cy="2122931"/>
          </a:xfrm>
        </p:grpSpPr>
        <p:pic>
          <p:nvPicPr>
            <p:cNvPr id="338" name="Google Shape;33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56759" y="4128515"/>
              <a:ext cx="3863327" cy="21229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48784" y="4320539"/>
              <a:ext cx="3479291" cy="17388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0" name="Google Shape;340;p38"/>
          <p:cNvSpPr txBox="1"/>
          <p:nvPr>
            <p:ph idx="10" type="dt"/>
          </p:nvPr>
        </p:nvSpPr>
        <p:spPr>
          <a:xfrm>
            <a:off x="2891071" y="6459263"/>
            <a:ext cx="1781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9-2</a:t>
            </a:r>
            <a:endParaRPr/>
          </a:p>
          <a:p>
            <a:pPr indent="0" lvl="0" marL="12700" marR="5080" rtl="0" algn="l">
              <a:lnSpc>
                <a:spcPct val="114874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/>
              <a:t>Uso de las Operaciones Rollup y Cube, y  Grouping Sets</a:t>
            </a:r>
            <a:endParaRPr/>
          </a:p>
        </p:txBody>
      </p:sp>
      <p:sp>
        <p:nvSpPr>
          <p:cNvPr id="341" name="Google Shape;341;p3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