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07C349-FFC6-4940-B9BC-9468417FF322}">
  <a:tblStyle styleId="{1507C349-FFC6-4940-B9BC-9468417FF32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13:58:04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tabla students no está disponible en APEX.</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13:58:07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Job_id es aceptable en la lista SELECT, pero last_name no, ya que cada grupo único de job_id solo produce una fila de salida (ya que es la columna GROUP BY). Sin embargo, puede haber muchos empleados distintos que tengan ese mismo job_id, por ejemplo, hay tres empleados con un valor de job_id SA_REP.</a:t>
            </a:r>
            <a:endParaRPr/>
          </a:p>
        </p:txBody>
      </p:sp>
      <p:sp>
        <p:nvSpPr>
          <p:cNvPr id="174" name="Google Shape;174;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13:58:08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Como empleado, King está excluido por la cláusula WHERE, el valor MAX(salary) para el departamento 90 se devuelve como 17000.</a:t>
            </a:r>
            <a:endParaRPr/>
          </a:p>
        </p:txBody>
      </p:sp>
      <p:sp>
        <p:nvSpPr>
          <p:cNvPr id="212" name="Google Shape;212;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13:58:09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Se puede utilizar una cláusula WHERE solo para incluir/excluir algunas filas, no grupos de filas. Por lo tanto, no podemos utilizar las funciones de grupo en una cláusula WHERE.</a:t>
            </a:r>
            <a:endParaRPr/>
          </a:p>
        </p:txBody>
      </p:sp>
      <p:sp>
        <p:nvSpPr>
          <p:cNvPr id="278" name="Google Shape;278;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consulta encuentra primero el salario MAX de cada departamento en la tabla employees. A continuación, la cláusula HAVING restringe los grupos devueltos a los departamentos que tengan  más de 1 empleado.</a:t>
            </a:r>
            <a:endParaRPr/>
          </a:p>
        </p:txBody>
      </p:sp>
      <p:sp>
        <p:nvSpPr>
          <p:cNvPr id="302" name="Google Shape;302;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13:58:10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cláusulas HAVING y GROUP BY pueden utilizar diferentes columnas. En el ejemplo de la diapositiva se realizan GROUP BY en los valores region_id, pero la cláusula HAVING restringe los grupos según la población.</a:t>
            </a:r>
            <a:endParaRPr/>
          </a:p>
        </p:txBody>
      </p:sp>
      <p:sp>
        <p:nvSpPr>
          <p:cNvPr id="316" name="Google Shape;31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2478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0536" y="3227387"/>
            <a:ext cx="4153500" cy="2651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7406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494792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9-1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Uso de las Cláusulas Group By y Having</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256078"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7527925" cy="232791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SQL utilizando GROUP BY</a:t>
            </a:r>
            <a:endParaRPr sz="2400">
              <a:latin typeface="Calibri"/>
              <a:ea typeface="Calibri"/>
              <a:cs typeface="Calibri"/>
              <a:sym typeface="Calibri"/>
            </a:endParaRPr>
          </a:p>
          <a:p>
            <a:pPr indent="0" lvl="0" marL="355600" rtl="0" algn="l">
              <a:lnSpc>
                <a:spcPct val="113958"/>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SQL utilizando GROUP BY</a:t>
            </a:r>
            <a:endParaRPr sz="2400">
              <a:latin typeface="Calibri"/>
              <a:ea typeface="Calibri"/>
              <a:cs typeface="Calibri"/>
              <a:sym typeface="Calibri"/>
            </a:endParaRPr>
          </a:p>
          <a:p>
            <a:pPr indent="0" lvl="0" marL="530860" rtl="0" algn="l">
              <a:lnSpc>
                <a:spcPct val="113958"/>
              </a:lnSpc>
              <a:spcBef>
                <a:spcPts val="0"/>
              </a:spcBef>
              <a:spcAft>
                <a:spcPts val="0"/>
              </a:spcAft>
              <a:buNone/>
            </a:pPr>
            <a:r>
              <a:rPr lang="en-US" sz="2400">
                <a:solidFill>
                  <a:srgbClr val="4E3629"/>
                </a:solidFill>
                <a:latin typeface="Calibri"/>
                <a:ea typeface="Calibri"/>
                <a:cs typeface="Calibri"/>
                <a:sym typeface="Calibri"/>
              </a:rPr>
              <a:t>….HAVING</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GROUP BY en más de una columna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Anidar funciones de grupo</a:t>
            </a:r>
            <a:endParaRPr sz="2400">
              <a:latin typeface="Calibri"/>
              <a:ea typeface="Calibri"/>
              <a:cs typeface="Calibri"/>
              <a:sym typeface="Calibri"/>
            </a:endParaRPr>
          </a:p>
        </p:txBody>
      </p:sp>
      <p:grpSp>
        <p:nvGrpSpPr>
          <p:cNvPr id="74" name="Google Shape;74;p15"/>
          <p:cNvGrpSpPr/>
          <p:nvPr/>
        </p:nvGrpSpPr>
        <p:grpSpPr>
          <a:xfrm>
            <a:off x="5041391" y="3566160"/>
            <a:ext cx="3337559" cy="2638043"/>
            <a:chOff x="5041391" y="3566160"/>
            <a:chExt cx="3337559" cy="2638043"/>
          </a:xfrm>
        </p:grpSpPr>
        <p:pic>
          <p:nvPicPr>
            <p:cNvPr id="75" name="Google Shape;75;p15"/>
            <p:cNvPicPr preferRelativeResize="0"/>
            <p:nvPr/>
          </p:nvPicPr>
          <p:blipFill rotWithShape="1">
            <a:blip r:embed="rId3">
              <a:alphaModFix/>
            </a:blip>
            <a:srcRect b="0" l="0" r="0" t="0"/>
            <a:stretch/>
          </p:blipFill>
          <p:spPr>
            <a:xfrm>
              <a:off x="5041391" y="3566160"/>
              <a:ext cx="3337559"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233415" y="3758184"/>
              <a:ext cx="2953511" cy="2253995"/>
            </a:xfrm>
            <a:prstGeom prst="rect">
              <a:avLst/>
            </a:prstGeom>
            <a:noFill/>
            <a:ln>
              <a:noFill/>
            </a:ln>
          </p:spPr>
        </p:pic>
      </p:grpSp>
      <p:sp>
        <p:nvSpPr>
          <p:cNvPr id="77" name="Google Shape;77;p15"/>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nvSpPr>
        <p:spPr>
          <a:xfrm>
            <a:off x="483552" y="1415417"/>
            <a:ext cx="7297420" cy="1322070"/>
          </a:xfrm>
          <a:prstGeom prst="rect">
            <a:avLst/>
          </a:prstGeom>
          <a:noFill/>
          <a:ln>
            <a:noFill/>
          </a:ln>
        </p:spPr>
        <p:txBody>
          <a:bodyPr anchorCtr="0" anchor="t" bIns="0" lIns="0" spcFirstLastPara="1" rIns="0" wrap="square" tIns="59675">
            <a:spAutoFit/>
          </a:bodyPr>
          <a:lstStyle/>
          <a:p>
            <a:pPr indent="-177800" lvl="0" marL="182880" marR="5340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deseara saber la altura media de todos los 	alumnos?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Podría escribir una consulta similar a la siguiente:</a:t>
            </a:r>
            <a:endParaRPr sz="2800">
              <a:latin typeface="Calibri"/>
              <a:ea typeface="Calibri"/>
              <a:cs typeface="Calibri"/>
              <a:sym typeface="Calibri"/>
            </a:endParaRPr>
          </a:p>
        </p:txBody>
      </p:sp>
      <p:pic>
        <p:nvPicPr>
          <p:cNvPr id="86" name="Google Shape;86;p16"/>
          <p:cNvPicPr preferRelativeResize="0"/>
          <p:nvPr/>
        </p:nvPicPr>
        <p:blipFill rotWithShape="1">
          <a:blip r:embed="rId3">
            <a:alphaModFix/>
          </a:blip>
          <a:srcRect b="0" l="0" r="0" t="0"/>
          <a:stretch/>
        </p:blipFill>
        <p:spPr>
          <a:xfrm>
            <a:off x="6188964" y="2863595"/>
            <a:ext cx="2435351" cy="3229355"/>
          </a:xfrm>
          <a:prstGeom prst="rect">
            <a:avLst/>
          </a:prstGeom>
          <a:noFill/>
          <a:ln>
            <a:noFill/>
          </a:ln>
        </p:spPr>
      </p:pic>
      <p:sp>
        <p:nvSpPr>
          <p:cNvPr id="87" name="Google Shape;87;p16"/>
          <p:cNvSpPr txBox="1"/>
          <p:nvPr/>
        </p:nvSpPr>
        <p:spPr>
          <a:xfrm>
            <a:off x="399288" y="2865120"/>
            <a:ext cx="4849495" cy="550545"/>
          </a:xfrm>
          <a:prstGeom prst="rect">
            <a:avLst/>
          </a:prstGeom>
          <a:solidFill>
            <a:srgbClr val="9DBDC4">
              <a:alpha val="49804"/>
            </a:srgbClr>
          </a:solidFill>
          <a:ln>
            <a:noFill/>
          </a:ln>
        </p:spPr>
        <p:txBody>
          <a:bodyPr anchorCtr="0" anchor="t" bIns="0" lIns="0" spcFirstLastPara="1" rIns="0" wrap="square" tIns="1104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AVG(height) FROM students;</a:t>
            </a:r>
            <a:endParaRPr sz="1800">
              <a:latin typeface="Courier New"/>
              <a:ea typeface="Courier New"/>
              <a:cs typeface="Courier New"/>
              <a:sym typeface="Courier New"/>
            </a:endParaRPr>
          </a:p>
        </p:txBody>
      </p:sp>
      <p:sp>
        <p:nvSpPr>
          <p:cNvPr id="88" name="Google Shape;88;p16"/>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89" name="Google Shape;89;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0" name="Google Shape;90;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6" name="Google Shape;96;p17"/>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97" name="Google Shape;97;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8" name="Google Shape;98;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9" name="Google Shape;99;p17"/>
          <p:cNvSpPr txBox="1"/>
          <p:nvPr/>
        </p:nvSpPr>
        <p:spPr>
          <a:xfrm>
            <a:off x="483552" y="1415417"/>
            <a:ext cx="8042275" cy="4417695"/>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 ¿qué ocurriría si deseara saber la altura media de los 	alumnos en función de su año en el centro educativo?</a:t>
            </a:r>
            <a:endParaRPr sz="2800">
              <a:latin typeface="Calibri"/>
              <a:ea typeface="Calibri"/>
              <a:cs typeface="Calibri"/>
              <a:sym typeface="Calibri"/>
            </a:endParaRPr>
          </a:p>
          <a:p>
            <a:pPr indent="-177800" lvl="0" marL="182880" marR="44450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 lo que usted conoce ahora mismo, tendría que 	escribir una serie de diferentes sentencias SQL para 	realizar este proceso:</a:t>
            </a:r>
            <a:endParaRPr sz="2800">
              <a:latin typeface="Calibri"/>
              <a:ea typeface="Calibri"/>
              <a:cs typeface="Calibri"/>
              <a:sym typeface="Calibri"/>
            </a:endParaRPr>
          </a:p>
          <a:p>
            <a:pPr indent="0" lvl="0" marL="0" rtl="0" algn="l">
              <a:lnSpc>
                <a:spcPct val="100000"/>
              </a:lnSpc>
              <a:spcBef>
                <a:spcPts val="0"/>
              </a:spcBef>
              <a:spcAft>
                <a:spcPts val="0"/>
              </a:spcAft>
              <a:buClr>
                <a:srgbClr val="D1350F"/>
              </a:buClr>
              <a:buSzPts val="2800"/>
              <a:buFont typeface="Arial"/>
              <a:buNone/>
            </a:pPr>
            <a:r>
              <a:t/>
            </a:r>
            <a:endParaRPr sz="2800">
              <a:latin typeface="Calibri"/>
              <a:ea typeface="Calibri"/>
              <a:cs typeface="Calibri"/>
              <a:sym typeface="Calibri"/>
            </a:endParaRPr>
          </a:p>
          <a:p>
            <a:pPr indent="0" lvl="0" marL="0" rtl="0" algn="l">
              <a:lnSpc>
                <a:spcPct val="100000"/>
              </a:lnSpc>
              <a:spcBef>
                <a:spcPts val="1215"/>
              </a:spcBef>
              <a:spcAft>
                <a:spcPts val="0"/>
              </a:spcAft>
              <a:buClr>
                <a:srgbClr val="D1350F"/>
              </a:buClr>
              <a:buSzPts val="2800"/>
              <a:buFont typeface="Arial"/>
              <a:buNone/>
            </a:pPr>
            <a:r>
              <a:t/>
            </a:r>
            <a:endParaRPr sz="2800">
              <a:latin typeface="Calibri"/>
              <a:ea typeface="Calibri"/>
              <a:cs typeface="Calibri"/>
              <a:sym typeface="Calibri"/>
            </a:endParaRPr>
          </a:p>
          <a:p>
            <a:pPr indent="-177800" lvl="0" marL="183515" rtl="0" algn="just">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 así sucesivamente</a:t>
            </a:r>
            <a:endParaRPr sz="2800">
              <a:latin typeface="Calibri"/>
              <a:ea typeface="Calibri"/>
              <a:cs typeface="Calibri"/>
              <a:sym typeface="Calibri"/>
            </a:endParaRPr>
          </a:p>
          <a:p>
            <a:pPr indent="-177800" lvl="0" marL="182880" marR="530860" rtl="0" algn="just">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simplificar problemas como este con solo una 	sentencia, utiliza las cláusulas GROUP BY y HAVING</a:t>
            </a:r>
            <a:endParaRPr sz="2800">
              <a:latin typeface="Calibri"/>
              <a:ea typeface="Calibri"/>
              <a:cs typeface="Calibri"/>
              <a:sym typeface="Calibri"/>
            </a:endParaRPr>
          </a:p>
        </p:txBody>
      </p:sp>
      <p:graphicFrame>
        <p:nvGraphicFramePr>
          <p:cNvPr id="100" name="Google Shape;100;p17"/>
          <p:cNvGraphicFramePr/>
          <p:nvPr/>
        </p:nvGraphicFramePr>
        <p:xfrm>
          <a:off x="393183" y="3529584"/>
          <a:ext cx="3000000" cy="3000000"/>
        </p:xfrm>
        <a:graphic>
          <a:graphicData uri="http://schemas.openxmlformats.org/drawingml/2006/table">
            <a:tbl>
              <a:tblPr bandRow="1" firstRow="1">
                <a:noFill/>
                <a:tableStyleId>{1507C349-FFC6-4940-B9BC-9468417FF322}</a:tableStyleId>
              </a:tblPr>
              <a:tblGrid>
                <a:gridCol w="887725"/>
                <a:gridCol w="1637025"/>
                <a:gridCol w="681350"/>
                <a:gridCol w="1227450"/>
                <a:gridCol w="818525"/>
                <a:gridCol w="2045975"/>
                <a:gridCol w="271775"/>
                <a:gridCol w="770250"/>
              </a:tblGrid>
              <a:tr h="261625">
                <a:tc>
                  <a:txBody>
                    <a:bodyPr/>
                    <a:lstStyle/>
                    <a:p>
                      <a:pPr indent="0" lvl="0" marL="0" marR="60325"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SELECT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35"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AVG(height)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FROM</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270"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students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WHERE</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year_in_school</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7310" marR="0" rtl="0" algn="l">
                        <a:lnSpc>
                          <a:spcPct val="105555"/>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r h="103500">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r>
              <a:tr h="260350">
                <a:tc>
                  <a:txBody>
                    <a:bodyPr/>
                    <a:lstStyle/>
                    <a:p>
                      <a:pPr indent="0" lvl="0" marL="0" marR="60325"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SELECT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35"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AVG(height)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FROM</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27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students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WHERE</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year_in_school</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7310" marR="0" rtl="0" algn="l">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11;</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r h="101600">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None/>
                      </a:pPr>
                      <a:r>
                        <a:t/>
                      </a:r>
                      <a:endParaRPr sz="500" u="none" cap="none" strike="noStrike">
                        <a:latin typeface="Times New Roman"/>
                        <a:ea typeface="Times New Roman"/>
                        <a:cs typeface="Times New Roman"/>
                        <a:sym typeface="Times New Roman"/>
                      </a:endParaRPr>
                    </a:p>
                  </a:txBody>
                  <a:tcPr marT="0" marB="0" marR="0" marL="0"/>
                </a:tc>
              </a:tr>
              <a:tr h="260350">
                <a:tc>
                  <a:txBody>
                    <a:bodyPr/>
                    <a:lstStyle/>
                    <a:p>
                      <a:pPr indent="0" lvl="0" marL="0" marR="60325"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SELECT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35"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AVG(height)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FROM</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27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students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WHERE</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year_in_school</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0" marR="0" rtl="0" algn="ctr">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67310" marR="0" rtl="0" algn="l">
                        <a:lnSpc>
                          <a:spcPct val="104944"/>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12;</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p:nvPr/>
        </p:nvSpPr>
        <p:spPr>
          <a:xfrm>
            <a:off x="4572761"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6" name="Google Shape;106;p18"/>
          <p:cNvSpPr txBox="1"/>
          <p:nvPr/>
        </p:nvSpPr>
        <p:spPr>
          <a:xfrm>
            <a:off x="483552" y="1491489"/>
            <a:ext cx="3884295" cy="4011295"/>
          </a:xfrm>
          <a:prstGeom prst="rect">
            <a:avLst/>
          </a:prstGeom>
          <a:noFill/>
          <a:ln>
            <a:noFill/>
          </a:ln>
        </p:spPr>
        <p:txBody>
          <a:bodyPr anchorCtr="0" anchor="t" bIns="0" lIns="0" spcFirstLastPara="1" rIns="0" wrap="square" tIns="59675">
            <a:spAutoFit/>
          </a:bodyPr>
          <a:lstStyle/>
          <a:p>
            <a:pPr indent="-457200" lvl="0" marL="469265" marR="20447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Utilice la cláusula GROUP BY para dividir las filas de una tabla en grupos</a:t>
            </a:r>
            <a:endParaRPr sz="2800">
              <a:latin typeface="Calibri"/>
              <a:ea typeface="Calibri"/>
              <a:cs typeface="Calibri"/>
              <a:sym typeface="Calibri"/>
            </a:endParaRPr>
          </a:p>
          <a:p>
            <a:pPr indent="0" lvl="0" marL="469265" rtl="0" algn="l">
              <a:lnSpc>
                <a:spcPct val="105892"/>
              </a:lnSpc>
              <a:spcBef>
                <a:spcPts val="0"/>
              </a:spcBef>
              <a:spcAft>
                <a:spcPts val="0"/>
              </a:spcAft>
              <a:buNone/>
            </a:pPr>
            <a:r>
              <a:rPr lang="en-US" sz="2800">
                <a:solidFill>
                  <a:srgbClr val="4E3629"/>
                </a:solidFill>
                <a:latin typeface="Calibri"/>
                <a:ea typeface="Calibri"/>
                <a:cs typeface="Calibri"/>
                <a:sym typeface="Calibri"/>
              </a:rPr>
              <a:t>más pequeños</a:t>
            </a:r>
            <a:endParaRPr sz="2800">
              <a:latin typeface="Calibri"/>
              <a:ea typeface="Calibri"/>
              <a:cs typeface="Calibri"/>
              <a:sym typeface="Calibri"/>
            </a:endParaRPr>
          </a:p>
          <a:p>
            <a:pPr indent="-457200" lvl="0" marL="469900" marR="5080"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puede utilizar las funciones de grupo para devolver información de resumen de cada grupo</a:t>
            </a:r>
            <a:endParaRPr sz="2800">
              <a:latin typeface="Calibri"/>
              <a:ea typeface="Calibri"/>
              <a:cs typeface="Calibri"/>
              <a:sym typeface="Calibri"/>
            </a:endParaRPr>
          </a:p>
        </p:txBody>
      </p:sp>
      <p:sp>
        <p:nvSpPr>
          <p:cNvPr id="107" name="Google Shape;107;p18"/>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GROUP BY</a:t>
            </a:r>
            <a:endParaRPr/>
          </a:p>
        </p:txBody>
      </p:sp>
      <p:graphicFrame>
        <p:nvGraphicFramePr>
          <p:cNvPr id="108" name="Google Shape;108;p18"/>
          <p:cNvGraphicFramePr/>
          <p:nvPr/>
        </p:nvGraphicFramePr>
        <p:xfrm>
          <a:off x="4968610" y="3016368"/>
          <a:ext cx="3000000" cy="3000000"/>
        </p:xfrm>
        <a:graphic>
          <a:graphicData uri="http://schemas.openxmlformats.org/drawingml/2006/table">
            <a:tbl>
              <a:tblPr bandRow="1" firstRow="1">
                <a:noFill/>
                <a:tableStyleId>{1507C349-FFC6-4940-B9BC-9468417FF322}</a:tableStyleId>
              </a:tblPr>
              <a:tblGrid>
                <a:gridCol w="1606550"/>
                <a:gridCol w="2323475"/>
              </a:tblGrid>
              <a:tr h="2933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AVG(SALARY)</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9500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6400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10033.3333333333333333</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19333.3333333333333333</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10150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09" name="Google Shape;109;p18"/>
          <p:cNvSpPr/>
          <p:nvPr/>
        </p:nvSpPr>
        <p:spPr>
          <a:xfrm>
            <a:off x="4378452" y="1427988"/>
            <a:ext cx="4526280" cy="1315720"/>
          </a:xfrm>
          <a:custGeom>
            <a:rect b="b" l="l" r="r" t="t"/>
            <a:pathLst>
              <a:path extrusionOk="0" h="1315720" w="4526280">
                <a:moveTo>
                  <a:pt x="4526280" y="0"/>
                </a:moveTo>
                <a:lnTo>
                  <a:pt x="0" y="0"/>
                </a:lnTo>
                <a:lnTo>
                  <a:pt x="0" y="1315212"/>
                </a:lnTo>
                <a:lnTo>
                  <a:pt x="4526280" y="1315212"/>
                </a:lnTo>
                <a:lnTo>
                  <a:pt x="4526280"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0" name="Google Shape;110;p18"/>
          <p:cNvSpPr txBox="1"/>
          <p:nvPr/>
        </p:nvSpPr>
        <p:spPr>
          <a:xfrm>
            <a:off x="4365806" y="1496685"/>
            <a:ext cx="4530725" cy="112268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AVG(salary) FROM employees</a:t>
            </a:r>
            <a:endParaRPr sz="1800">
              <a:latin typeface="Courier New"/>
              <a:ea typeface="Courier New"/>
              <a:cs typeface="Courier New"/>
              <a:sym typeface="Courier New"/>
            </a:endParaRPr>
          </a:p>
          <a:p>
            <a:pPr indent="0" lvl="0" marL="12700" marR="13709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 ORDER BY department_id;</a:t>
            </a:r>
            <a:endParaRPr sz="1800">
              <a:latin typeface="Courier New"/>
              <a:ea typeface="Courier New"/>
              <a:cs typeface="Courier New"/>
              <a:sym typeface="Courier New"/>
            </a:endParaRPr>
          </a:p>
        </p:txBody>
      </p:sp>
      <p:sp>
        <p:nvSpPr>
          <p:cNvPr id="111" name="Google Shape;111;p18"/>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12" name="Google Shape;112;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3" name="Google Shape;113;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pSp>
        <p:nvGrpSpPr>
          <p:cNvPr id="118" name="Google Shape;118;p19"/>
          <p:cNvGrpSpPr/>
          <p:nvPr/>
        </p:nvGrpSpPr>
        <p:grpSpPr>
          <a:xfrm>
            <a:off x="4341876" y="1524000"/>
            <a:ext cx="4563110" cy="4420361"/>
            <a:chOff x="4341876" y="1524000"/>
            <a:chExt cx="4563110" cy="4420361"/>
          </a:xfrm>
        </p:grpSpPr>
        <p:sp>
          <p:nvSpPr>
            <p:cNvPr id="119" name="Google Shape;119;p19"/>
            <p:cNvSpPr/>
            <p:nvPr/>
          </p:nvSpPr>
          <p:spPr>
            <a:xfrm>
              <a:off x="4572762"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0" name="Google Shape;120;p19"/>
            <p:cNvSpPr/>
            <p:nvPr/>
          </p:nvSpPr>
          <p:spPr>
            <a:xfrm>
              <a:off x="4341876" y="1524000"/>
              <a:ext cx="4563110" cy="1313815"/>
            </a:xfrm>
            <a:custGeom>
              <a:rect b="b" l="l" r="r" t="t"/>
              <a:pathLst>
                <a:path extrusionOk="0" h="1313814" w="4563109">
                  <a:moveTo>
                    <a:pt x="4562856" y="0"/>
                  </a:moveTo>
                  <a:lnTo>
                    <a:pt x="0" y="0"/>
                  </a:lnTo>
                  <a:lnTo>
                    <a:pt x="0" y="1313688"/>
                  </a:lnTo>
                  <a:lnTo>
                    <a:pt x="4562856" y="1313688"/>
                  </a:lnTo>
                  <a:lnTo>
                    <a:pt x="4562856"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21" name="Google Shape;121;p19"/>
          <p:cNvSpPr txBox="1"/>
          <p:nvPr/>
        </p:nvSpPr>
        <p:spPr>
          <a:xfrm>
            <a:off x="483552" y="1491489"/>
            <a:ext cx="3764279" cy="3242310"/>
          </a:xfrm>
          <a:prstGeom prst="rect">
            <a:avLst/>
          </a:prstGeom>
          <a:noFill/>
          <a:ln>
            <a:noFill/>
          </a:ln>
        </p:spPr>
        <p:txBody>
          <a:bodyPr anchorCtr="0" anchor="t" bIns="0" lIns="0" spcFirstLastPara="1" rIns="0" wrap="square" tIns="59675">
            <a:spAutoFit/>
          </a:bodyPr>
          <a:lstStyle/>
          <a:p>
            <a:pPr indent="-457200" lvl="0" marL="469900" marR="2565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sentencia SELECT mostrada, las filas se están agrupando por department_id</a:t>
            </a:r>
            <a:endParaRPr sz="2800">
              <a:latin typeface="Calibri"/>
              <a:ea typeface="Calibri"/>
              <a:cs typeface="Calibri"/>
              <a:sym typeface="Calibri"/>
            </a:endParaRPr>
          </a:p>
          <a:p>
            <a:pPr indent="-457200" lvl="0" marL="46990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se aplica la función AVG a cada grupo</a:t>
            </a:r>
            <a:endParaRPr sz="2800">
              <a:latin typeface="Calibri"/>
              <a:ea typeface="Calibri"/>
              <a:cs typeface="Calibri"/>
              <a:sym typeface="Calibri"/>
            </a:endParaRPr>
          </a:p>
        </p:txBody>
      </p:sp>
      <p:sp>
        <p:nvSpPr>
          <p:cNvPr id="122" name="Google Shape;122;p19"/>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23" name="Google Shape;123;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4" name="Google Shape;124;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5" name="Google Shape;125;p19"/>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GROUP BY</a:t>
            </a:r>
            <a:endParaRPr/>
          </a:p>
        </p:txBody>
      </p:sp>
      <p:graphicFrame>
        <p:nvGraphicFramePr>
          <p:cNvPr id="126" name="Google Shape;126;p19"/>
          <p:cNvGraphicFramePr/>
          <p:nvPr/>
        </p:nvGraphicFramePr>
        <p:xfrm>
          <a:off x="4970733" y="3483613"/>
          <a:ext cx="3000000" cy="3000000"/>
        </p:xfrm>
        <a:graphic>
          <a:graphicData uri="http://schemas.openxmlformats.org/drawingml/2006/table">
            <a:tbl>
              <a:tblPr bandRow="1" firstRow="1">
                <a:noFill/>
                <a:tableStyleId>{1507C349-FFC6-4940-B9BC-9468417FF322}</a:tableStyleId>
              </a:tblPr>
              <a:tblGrid>
                <a:gridCol w="1606550"/>
                <a:gridCol w="2323475"/>
              </a:tblGrid>
              <a:tr h="2933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AVG(SALARY)</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9500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6400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10033.3333333333333333</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19333.3333333333333333</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10150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27" name="Google Shape;127;p19"/>
          <p:cNvSpPr txBox="1"/>
          <p:nvPr/>
        </p:nvSpPr>
        <p:spPr>
          <a:xfrm>
            <a:off x="4328577" y="1592442"/>
            <a:ext cx="453072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AVG(salary)</a:t>
            </a:r>
            <a:endParaRPr sz="1800">
              <a:latin typeface="Courier New"/>
              <a:ea typeface="Courier New"/>
              <a:cs typeface="Courier New"/>
              <a:sym typeface="Courier New"/>
            </a:endParaRPr>
          </a:p>
        </p:txBody>
      </p:sp>
      <p:sp>
        <p:nvSpPr>
          <p:cNvPr id="128" name="Google Shape;128;p19"/>
          <p:cNvSpPr txBox="1"/>
          <p:nvPr/>
        </p:nvSpPr>
        <p:spPr>
          <a:xfrm>
            <a:off x="4328577" y="1866762"/>
            <a:ext cx="193802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129" name="Google Shape;129;p19"/>
          <p:cNvSpPr txBox="1"/>
          <p:nvPr/>
        </p:nvSpPr>
        <p:spPr>
          <a:xfrm>
            <a:off x="4328577" y="2141082"/>
            <a:ext cx="302768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a:t>
            </a:r>
            <a:endParaRPr sz="1800">
              <a:latin typeface="Courier New"/>
              <a:ea typeface="Courier New"/>
              <a:cs typeface="Courier New"/>
              <a:sym typeface="Courier New"/>
            </a:endParaRPr>
          </a:p>
        </p:txBody>
      </p:sp>
      <p:sp>
        <p:nvSpPr>
          <p:cNvPr id="130" name="Google Shape;130;p19"/>
          <p:cNvSpPr txBox="1"/>
          <p:nvPr/>
        </p:nvSpPr>
        <p:spPr>
          <a:xfrm>
            <a:off x="4328577" y="2415402"/>
            <a:ext cx="316484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department_id;</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GROUP BY</a:t>
            </a:r>
            <a:endParaRPr/>
          </a:p>
        </p:txBody>
      </p:sp>
      <p:sp>
        <p:nvSpPr>
          <p:cNvPr id="136" name="Google Shape;136;p20"/>
          <p:cNvSpPr txBox="1"/>
          <p:nvPr/>
        </p:nvSpPr>
        <p:spPr>
          <a:xfrm>
            <a:off x="483552" y="1415417"/>
            <a:ext cx="7889240"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sucedería si deseara saber el salario máximo de 	los empleados de cada departamento?</a:t>
            </a:r>
            <a:endParaRPr sz="2800">
              <a:latin typeface="Calibri"/>
              <a:ea typeface="Calibri"/>
              <a:cs typeface="Calibri"/>
              <a:sym typeface="Calibri"/>
            </a:endParaRPr>
          </a:p>
          <a:p>
            <a:pPr indent="-177800" lvl="0" marL="182880" marR="400050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Utilizamos una cláusula 	GROUP BY que indica qué 	columna utilizar para 	agrupar las filas</a:t>
            </a:r>
            <a:endParaRPr sz="2800">
              <a:latin typeface="Calibri"/>
              <a:ea typeface="Calibri"/>
              <a:cs typeface="Calibri"/>
              <a:sym typeface="Calibri"/>
            </a:endParaRPr>
          </a:p>
        </p:txBody>
      </p:sp>
      <p:graphicFrame>
        <p:nvGraphicFramePr>
          <p:cNvPr id="137" name="Google Shape;137;p20"/>
          <p:cNvGraphicFramePr/>
          <p:nvPr/>
        </p:nvGraphicFramePr>
        <p:xfrm>
          <a:off x="4730277" y="2621616"/>
          <a:ext cx="3000000" cy="3000000"/>
        </p:xfrm>
        <a:graphic>
          <a:graphicData uri="http://schemas.openxmlformats.org/drawingml/2006/table">
            <a:tbl>
              <a:tblPr bandRow="1" firstRow="1">
                <a:noFill/>
                <a:tableStyleId>{1507C349-FFC6-4940-B9BC-9468417FF322}</a:tableStyleId>
              </a:tblPr>
              <a:tblGrid>
                <a:gridCol w="1014725"/>
                <a:gridCol w="988050"/>
              </a:tblGrid>
              <a:tr h="268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8" name="Google Shape;138;p20"/>
          <p:cNvSpPr/>
          <p:nvPr/>
        </p:nvSpPr>
        <p:spPr>
          <a:xfrm>
            <a:off x="6739890" y="2867405"/>
            <a:ext cx="620395" cy="922019"/>
          </a:xfrm>
          <a:custGeom>
            <a:rect b="b" l="l" r="r" t="t"/>
            <a:pathLst>
              <a:path extrusionOk="0" h="922020" w="620395">
                <a:moveTo>
                  <a:pt x="0" y="0"/>
                </a:moveTo>
                <a:lnTo>
                  <a:pt x="620268" y="922019"/>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20"/>
          <p:cNvSpPr/>
          <p:nvPr/>
        </p:nvSpPr>
        <p:spPr>
          <a:xfrm>
            <a:off x="6739890" y="4435602"/>
            <a:ext cx="620395" cy="1050290"/>
          </a:xfrm>
          <a:custGeom>
            <a:rect b="b" l="l" r="r" t="t"/>
            <a:pathLst>
              <a:path extrusionOk="0" h="1050289" w="620395">
                <a:moveTo>
                  <a:pt x="620268" y="0"/>
                </a:moveTo>
                <a:lnTo>
                  <a:pt x="0" y="1050036"/>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140" name="Google Shape;140;p20"/>
          <p:cNvGraphicFramePr/>
          <p:nvPr/>
        </p:nvGraphicFramePr>
        <p:xfrm>
          <a:off x="7350597" y="3490150"/>
          <a:ext cx="3000000" cy="3000000"/>
        </p:xfrm>
        <a:graphic>
          <a:graphicData uri="http://schemas.openxmlformats.org/drawingml/2006/table">
            <a:tbl>
              <a:tblPr bandRow="1" firstRow="1">
                <a:noFill/>
                <a:tableStyleId>{1507C349-FFC6-4940-B9BC-9468417FF322}</a:tableStyleId>
              </a:tblPr>
              <a:tblGrid>
                <a:gridCol w="1395725"/>
              </a:tblGrid>
              <a:tr h="268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41" name="Google Shape;141;p20"/>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42" name="Google Shape;142;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3" name="Google Shape;143;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4" name="Google Shape;144;p20"/>
          <p:cNvSpPr txBox="1"/>
          <p:nvPr/>
        </p:nvSpPr>
        <p:spPr>
          <a:xfrm>
            <a:off x="402336" y="4169664"/>
            <a:ext cx="3880485" cy="995680"/>
          </a:xfrm>
          <a:prstGeom prst="rect">
            <a:avLst/>
          </a:prstGeom>
          <a:solidFill>
            <a:srgbClr val="9DBDC4">
              <a:alpha val="49804"/>
            </a:srgbClr>
          </a:solidFill>
          <a:ln>
            <a:noFill/>
          </a:ln>
        </p:spPr>
        <p:txBody>
          <a:bodyPr anchorCtr="0" anchor="t" bIns="0" lIns="0" spcFirstLastPara="1" rIns="0" wrap="square" tIns="58400">
            <a:spAutoFit/>
          </a:bodyPr>
          <a:lstStyle/>
          <a:p>
            <a:pPr indent="0" lvl="0" marL="635" marR="14135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MAX(salary) FROM employees</a:t>
            </a:r>
            <a:endParaRPr sz="1800">
              <a:latin typeface="Courier New"/>
              <a:ea typeface="Courier New"/>
              <a:cs typeface="Courier New"/>
              <a:sym typeface="Courier New"/>
            </a:endParaRPr>
          </a:p>
          <a:p>
            <a:pPr indent="0" lvl="0" marL="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GROUP BY</a:t>
            </a:r>
            <a:endParaRPr/>
          </a:p>
        </p:txBody>
      </p:sp>
      <p:sp>
        <p:nvSpPr>
          <p:cNvPr id="150" name="Google Shape;150;p21"/>
          <p:cNvSpPr txBox="1"/>
          <p:nvPr/>
        </p:nvSpPr>
        <p:spPr>
          <a:xfrm>
            <a:off x="483552" y="1415417"/>
            <a:ext cx="792543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Pero, ¿cómo saber qué salario máximo corresponde a 	cada departamento?</a:t>
            </a:r>
            <a:endParaRPr sz="2800">
              <a:latin typeface="Calibri"/>
              <a:ea typeface="Calibri"/>
              <a:cs typeface="Calibri"/>
              <a:sym typeface="Calibri"/>
            </a:endParaRPr>
          </a:p>
        </p:txBody>
      </p:sp>
      <p:graphicFrame>
        <p:nvGraphicFramePr>
          <p:cNvPr id="151" name="Google Shape;151;p21"/>
          <p:cNvGraphicFramePr/>
          <p:nvPr/>
        </p:nvGraphicFramePr>
        <p:xfrm>
          <a:off x="2556780" y="2373960"/>
          <a:ext cx="3000000" cy="3000000"/>
        </p:xfrm>
        <a:graphic>
          <a:graphicData uri="http://schemas.openxmlformats.org/drawingml/2006/table">
            <a:tbl>
              <a:tblPr bandRow="1" firstRow="1">
                <a:noFill/>
                <a:tableStyleId>{1507C349-FFC6-4940-B9BC-9468417FF322}</a:tableStyleId>
              </a:tblPr>
              <a:tblGrid>
                <a:gridCol w="1014725"/>
                <a:gridCol w="988050"/>
              </a:tblGrid>
              <a:tr h="268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52" name="Google Shape;152;p21"/>
          <p:cNvSpPr/>
          <p:nvPr/>
        </p:nvSpPr>
        <p:spPr>
          <a:xfrm>
            <a:off x="4566665" y="2618994"/>
            <a:ext cx="619125" cy="922019"/>
          </a:xfrm>
          <a:custGeom>
            <a:rect b="b" l="l" r="r" t="t"/>
            <a:pathLst>
              <a:path extrusionOk="0" h="922020" w="619125">
                <a:moveTo>
                  <a:pt x="0" y="0"/>
                </a:moveTo>
                <a:lnTo>
                  <a:pt x="618744" y="922019"/>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p21"/>
          <p:cNvSpPr/>
          <p:nvPr/>
        </p:nvSpPr>
        <p:spPr>
          <a:xfrm>
            <a:off x="4566665" y="4316729"/>
            <a:ext cx="619125" cy="922019"/>
          </a:xfrm>
          <a:custGeom>
            <a:rect b="b" l="l" r="r" t="t"/>
            <a:pathLst>
              <a:path extrusionOk="0" h="922020" w="619125">
                <a:moveTo>
                  <a:pt x="618743" y="0"/>
                </a:moveTo>
                <a:lnTo>
                  <a:pt x="0" y="92202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154" name="Google Shape;154;p21"/>
          <p:cNvGraphicFramePr/>
          <p:nvPr/>
        </p:nvGraphicFramePr>
        <p:xfrm>
          <a:off x="5178878" y="3258177"/>
          <a:ext cx="3000000" cy="3000000"/>
        </p:xfrm>
        <a:graphic>
          <a:graphicData uri="http://schemas.openxmlformats.org/drawingml/2006/table">
            <a:tbl>
              <a:tblPr bandRow="1" firstRow="1">
                <a:noFill/>
                <a:tableStyleId>{1507C349-FFC6-4940-B9BC-9468417FF322}</a:tableStyleId>
              </a:tblPr>
              <a:tblGrid>
                <a:gridCol w="1395725"/>
              </a:tblGrid>
              <a:tr h="268600">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55" name="Google Shape;155;p21"/>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56" name="Google Shape;156;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7" name="Google Shape;157;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GROUP BY en SELECT</a:t>
            </a:r>
            <a:endParaRPr/>
          </a:p>
        </p:txBody>
      </p:sp>
      <p:sp>
        <p:nvSpPr>
          <p:cNvPr id="163" name="Google Shape;163;p22"/>
          <p:cNvSpPr txBox="1"/>
          <p:nvPr/>
        </p:nvSpPr>
        <p:spPr>
          <a:xfrm>
            <a:off x="483552" y="1415417"/>
            <a:ext cx="796290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Normalmente deseamos incluir la columna GROUP BY 	en la lista SELECT</a:t>
            </a:r>
            <a:endParaRPr sz="2800">
              <a:latin typeface="Calibri"/>
              <a:ea typeface="Calibri"/>
              <a:cs typeface="Calibri"/>
              <a:sym typeface="Calibri"/>
            </a:endParaRPr>
          </a:p>
        </p:txBody>
      </p:sp>
      <p:graphicFrame>
        <p:nvGraphicFramePr>
          <p:cNvPr id="164" name="Google Shape;164;p22"/>
          <p:cNvGraphicFramePr/>
          <p:nvPr/>
        </p:nvGraphicFramePr>
        <p:xfrm>
          <a:off x="826000" y="3643193"/>
          <a:ext cx="3000000" cy="3000000"/>
        </p:xfrm>
        <a:graphic>
          <a:graphicData uri="http://schemas.openxmlformats.org/drawingml/2006/table">
            <a:tbl>
              <a:tblPr bandRow="1" firstRow="1">
                <a:noFill/>
                <a:tableStyleId>{1507C349-FFC6-4940-B9BC-9468417FF322}</a:tableStyleId>
              </a:tblPr>
              <a:tblGrid>
                <a:gridCol w="911225"/>
                <a:gridCol w="887725"/>
              </a:tblGrid>
              <a:tr h="26860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5" name="Google Shape;165;p22"/>
          <p:cNvSpPr/>
          <p:nvPr/>
        </p:nvSpPr>
        <p:spPr>
          <a:xfrm>
            <a:off x="2631185" y="3923538"/>
            <a:ext cx="1537970" cy="509270"/>
          </a:xfrm>
          <a:custGeom>
            <a:rect b="b" l="l" r="r" t="t"/>
            <a:pathLst>
              <a:path extrusionOk="0" h="509270" w="1537970">
                <a:moveTo>
                  <a:pt x="0" y="0"/>
                </a:moveTo>
                <a:lnTo>
                  <a:pt x="1537716" y="509016"/>
                </a:lnTo>
              </a:path>
            </a:pathLst>
          </a:custGeom>
          <a:noFill/>
          <a:ln cap="flat" cmpd="sng" w="2895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6" name="Google Shape;166;p22"/>
          <p:cNvSpPr/>
          <p:nvPr/>
        </p:nvSpPr>
        <p:spPr>
          <a:xfrm>
            <a:off x="2631185" y="4860797"/>
            <a:ext cx="1537970" cy="574675"/>
          </a:xfrm>
          <a:custGeom>
            <a:rect b="b" l="l" r="r" t="t"/>
            <a:pathLst>
              <a:path extrusionOk="0" h="574675" w="1537970">
                <a:moveTo>
                  <a:pt x="1537715" y="0"/>
                </a:moveTo>
                <a:lnTo>
                  <a:pt x="0" y="574548"/>
                </a:lnTo>
              </a:path>
            </a:pathLst>
          </a:custGeom>
          <a:noFill/>
          <a:ln cap="flat" cmpd="sng" w="2895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167" name="Google Shape;167;p22"/>
          <p:cNvGraphicFramePr/>
          <p:nvPr/>
        </p:nvGraphicFramePr>
        <p:xfrm>
          <a:off x="4161339" y="3981100"/>
          <a:ext cx="3000000" cy="3000000"/>
        </p:xfrm>
        <a:graphic>
          <a:graphicData uri="http://schemas.openxmlformats.org/drawingml/2006/table">
            <a:tbl>
              <a:tblPr bandRow="1" firstRow="1">
                <a:noFill/>
                <a:tableStyleId>{1507C349-FFC6-4940-B9BC-9468417FF322}</a:tableStyleId>
              </a:tblPr>
              <a:tblGrid>
                <a:gridCol w="1704350"/>
                <a:gridCol w="1659900"/>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8" name="Google Shape;168;p22"/>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69" name="Google Shape;169;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0" name="Google Shape;170;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1" name="Google Shape;171;p22"/>
          <p:cNvSpPr txBox="1"/>
          <p:nvPr/>
        </p:nvSpPr>
        <p:spPr>
          <a:xfrm>
            <a:off x="391668" y="2293620"/>
            <a:ext cx="8347075" cy="995680"/>
          </a:xfrm>
          <a:prstGeom prst="rect">
            <a:avLst/>
          </a:prstGeom>
          <a:solidFill>
            <a:srgbClr val="9DBDC4">
              <a:alpha val="49804"/>
            </a:srgbClr>
          </a:solidFill>
          <a:ln>
            <a:noFill/>
          </a:ln>
        </p:spPr>
        <p:txBody>
          <a:bodyPr anchorCtr="0" anchor="t" bIns="0" lIns="0" spcFirstLastPara="1" rIns="0" wrap="square" tIns="57775">
            <a:spAutoFit/>
          </a:bodyPr>
          <a:lstStyle/>
          <a:p>
            <a:pPr indent="0" lvl="0" marL="0" marR="383349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r>
              <a:rPr b="1" lang="en-US" sz="1800">
                <a:solidFill>
                  <a:srgbClr val="D1350F"/>
                </a:solidFill>
                <a:latin typeface="Courier New"/>
                <a:ea typeface="Courier New"/>
                <a:cs typeface="Courier New"/>
                <a:sym typeface="Courier New"/>
              </a:rPr>
              <a:t>department_id</a:t>
            </a:r>
            <a:r>
              <a:rPr b="1" lang="en-US" sz="1800">
                <a:solidFill>
                  <a:srgbClr val="4E3629"/>
                </a:solidFill>
                <a:latin typeface="Courier New"/>
                <a:ea typeface="Courier New"/>
                <a:cs typeface="Courier New"/>
                <a:sym typeface="Courier New"/>
              </a:rPr>
              <a:t>, MAX(salary)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a:t>
            </a:r>
            <a:r>
              <a:rPr b="1" lang="en-US" sz="1800">
                <a:solidFill>
                  <a:srgbClr val="D1350F"/>
                </a:solidFill>
                <a:latin typeface="Courier New"/>
                <a:ea typeface="Courier New"/>
                <a:cs typeface="Courier New"/>
                <a:sym typeface="Courier New"/>
              </a:rPr>
              <a:t>department_id</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Cláusula GROUP BY</a:t>
            </a:r>
            <a:endParaRPr/>
          </a:p>
        </p:txBody>
      </p:sp>
      <p:sp>
        <p:nvSpPr>
          <p:cNvPr id="177" name="Google Shape;177;p23"/>
          <p:cNvSpPr txBox="1"/>
          <p:nvPr/>
        </p:nvSpPr>
        <p:spPr>
          <a:xfrm>
            <a:off x="483552" y="1415417"/>
            <a:ext cx="8056880"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grupo requieren que cualquier 	columna mostrada en la cláusula SELECT que no forme 	parte de una función de grupo deba aparecer en una 	cláusula GROUP BY</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es incorrecto en este ejemplo?</a:t>
            </a:r>
            <a:endParaRPr sz="2800">
              <a:latin typeface="Calibri"/>
              <a:ea typeface="Calibri"/>
              <a:cs typeface="Calibri"/>
              <a:sym typeface="Calibri"/>
            </a:endParaRPr>
          </a:p>
        </p:txBody>
      </p:sp>
      <p:pic>
        <p:nvPicPr>
          <p:cNvPr id="178" name="Google Shape;178;p23"/>
          <p:cNvPicPr preferRelativeResize="0"/>
          <p:nvPr/>
        </p:nvPicPr>
        <p:blipFill rotWithShape="1">
          <a:blip r:embed="rId3">
            <a:alphaModFix/>
          </a:blip>
          <a:srcRect b="0" l="0" r="0" t="0"/>
          <a:stretch/>
        </p:blipFill>
        <p:spPr>
          <a:xfrm>
            <a:off x="405396" y="4800600"/>
            <a:ext cx="827519" cy="685799"/>
          </a:xfrm>
          <a:prstGeom prst="rect">
            <a:avLst/>
          </a:prstGeom>
          <a:noFill/>
          <a:ln>
            <a:noFill/>
          </a:ln>
        </p:spPr>
      </p:pic>
      <p:sp>
        <p:nvSpPr>
          <p:cNvPr id="179" name="Google Shape;179;p23"/>
          <p:cNvSpPr txBox="1"/>
          <p:nvPr/>
        </p:nvSpPr>
        <p:spPr>
          <a:xfrm>
            <a:off x="1233487" y="5062785"/>
            <a:ext cx="297243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3300"/>
                </a:solidFill>
                <a:latin typeface="Calibri"/>
                <a:ea typeface="Calibri"/>
                <a:cs typeface="Calibri"/>
                <a:sym typeface="Calibri"/>
              </a:rPr>
              <a:t>ORA-00979: not a GROUP BY expression</a:t>
            </a:r>
            <a:endParaRPr sz="1400">
              <a:latin typeface="Calibri"/>
              <a:ea typeface="Calibri"/>
              <a:cs typeface="Calibri"/>
              <a:sym typeface="Calibri"/>
            </a:endParaRPr>
          </a:p>
        </p:txBody>
      </p:sp>
      <p:sp>
        <p:nvSpPr>
          <p:cNvPr id="180" name="Google Shape;180;p23"/>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81" name="Google Shape;181;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2" name="Google Shape;182;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3" name="Google Shape;183;p23"/>
          <p:cNvSpPr txBox="1"/>
          <p:nvPr/>
        </p:nvSpPr>
        <p:spPr>
          <a:xfrm>
            <a:off x="397763" y="3573779"/>
            <a:ext cx="8348980" cy="995680"/>
          </a:xfrm>
          <a:prstGeom prst="rect">
            <a:avLst/>
          </a:prstGeom>
          <a:solidFill>
            <a:srgbClr val="9DBDC4">
              <a:alpha val="49804"/>
            </a:srgbClr>
          </a:solidFill>
          <a:ln>
            <a:noFill/>
          </a:ln>
        </p:spPr>
        <p:txBody>
          <a:bodyPr anchorCtr="0" anchor="t" bIns="0" lIns="0" spcFirstLastPara="1" rIns="0" wrap="square" tIns="58400">
            <a:spAutoFit/>
          </a:bodyPr>
          <a:lstStyle/>
          <a:p>
            <a:pPr indent="-635" lvl="0" marL="635" marR="329120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last_name, AVG(salary) FROM employees</a:t>
            </a:r>
            <a:endParaRPr sz="1800">
              <a:latin typeface="Courier New"/>
              <a:ea typeface="Courier New"/>
              <a:cs typeface="Courier New"/>
              <a:sym typeface="Courier New"/>
            </a:endParaRPr>
          </a:p>
          <a:p>
            <a:pPr indent="0" lvl="0" marL="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job_id;</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p:nvPr/>
        </p:nvSpPr>
        <p:spPr>
          <a:xfrm>
            <a:off x="4572761" y="1524761"/>
            <a:ext cx="0" cy="4419600"/>
          </a:xfrm>
          <a:custGeom>
            <a:rect b="b" l="l" r="r" t="t"/>
            <a:pathLst>
              <a:path extrusionOk="0" h="4419600" w="120000">
                <a:moveTo>
                  <a:pt x="0" y="0"/>
                </a:moveTo>
                <a:lnTo>
                  <a:pt x="0" y="4419600"/>
                </a:lnTo>
              </a:path>
            </a:pathLst>
          </a:custGeom>
          <a:noFill/>
          <a:ln cap="flat" cmpd="sng" w="19800">
            <a:solidFill>
              <a:srgbClr val="DFE1E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9" name="Google Shape;189;p24"/>
          <p:cNvSpPr txBox="1"/>
          <p:nvPr/>
        </p:nvSpPr>
        <p:spPr>
          <a:xfrm>
            <a:off x="483552" y="1491489"/>
            <a:ext cx="3270250" cy="4779645"/>
          </a:xfrm>
          <a:prstGeom prst="rect">
            <a:avLst/>
          </a:prstGeom>
          <a:noFill/>
          <a:ln>
            <a:noFill/>
          </a:ln>
        </p:spPr>
        <p:txBody>
          <a:bodyPr anchorCtr="0" anchor="t" bIns="0" lIns="0" spcFirstLastPara="1" rIns="0" wrap="square" tIns="59675">
            <a:spAutoFit/>
          </a:bodyPr>
          <a:lstStyle/>
          <a:p>
            <a:pPr indent="-457200" lvl="0" marL="469900" marR="914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muestra cuántos países hay en cada región</a:t>
            </a:r>
            <a:endParaRPr sz="2800">
              <a:latin typeface="Calibri"/>
              <a:ea typeface="Calibri"/>
              <a:cs typeface="Calibri"/>
              <a:sym typeface="Calibri"/>
            </a:endParaRPr>
          </a:p>
          <a:p>
            <a:pPr indent="-457200" lvl="0" marL="46926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que las funciones de grupo ignoran los valores nulos, por lo que si algún país no tiene un nombre de país, no se incluirá en el valor COUNT</a:t>
            </a:r>
            <a:endParaRPr sz="2800">
              <a:latin typeface="Calibri"/>
              <a:ea typeface="Calibri"/>
              <a:cs typeface="Calibri"/>
              <a:sym typeface="Calibri"/>
            </a:endParaRPr>
          </a:p>
        </p:txBody>
      </p:sp>
      <p:sp>
        <p:nvSpPr>
          <p:cNvPr id="190" name="Google Shape;190;p24"/>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COUNT</a:t>
            </a:r>
            <a:endParaRPr/>
          </a:p>
        </p:txBody>
      </p:sp>
      <p:graphicFrame>
        <p:nvGraphicFramePr>
          <p:cNvPr id="191" name="Google Shape;191;p24"/>
          <p:cNvGraphicFramePr/>
          <p:nvPr/>
        </p:nvGraphicFramePr>
        <p:xfrm>
          <a:off x="4868636" y="3227387"/>
          <a:ext cx="3000000" cy="3000000"/>
        </p:xfrm>
        <a:graphic>
          <a:graphicData uri="http://schemas.openxmlformats.org/drawingml/2006/table">
            <a:tbl>
              <a:tblPr bandRow="1" firstRow="1">
                <a:noFill/>
                <a:tableStyleId>{1507C349-FFC6-4940-B9BC-9468417FF322}</a:tableStyleId>
              </a:tblPr>
              <a:tblGrid>
                <a:gridCol w="2290450"/>
                <a:gridCol w="1773550"/>
              </a:tblGrid>
              <a:tr h="2946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COUNT(COUNTRY_NAME)</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28</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a:t>
                      </a:r>
                      <a:endParaRPr sz="16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46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18</a:t>
                      </a:r>
                      <a:endParaRPr sz="1600" u="none" cap="none" strike="noStrike">
                        <a:latin typeface="Calibri"/>
                        <a:ea typeface="Calibri"/>
                        <a:cs typeface="Calibri"/>
                        <a:sym typeface="Calibri"/>
                      </a:endParaRPr>
                    </a:p>
                  </a:txBody>
                  <a:tcPr marT="12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2" name="Google Shape;192;p24"/>
          <p:cNvSpPr/>
          <p:nvPr/>
        </p:nvSpPr>
        <p:spPr>
          <a:xfrm>
            <a:off x="3756659" y="1524000"/>
            <a:ext cx="5183505" cy="1210310"/>
          </a:xfrm>
          <a:custGeom>
            <a:rect b="b" l="l" r="r" t="t"/>
            <a:pathLst>
              <a:path extrusionOk="0" h="1210310" w="5183505">
                <a:moveTo>
                  <a:pt x="5183124" y="0"/>
                </a:moveTo>
                <a:lnTo>
                  <a:pt x="0" y="0"/>
                </a:lnTo>
                <a:lnTo>
                  <a:pt x="0" y="1210055"/>
                </a:lnTo>
                <a:lnTo>
                  <a:pt x="5183124" y="1210055"/>
                </a:lnTo>
                <a:lnTo>
                  <a:pt x="51831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24"/>
          <p:cNvSpPr txBox="1"/>
          <p:nvPr/>
        </p:nvSpPr>
        <p:spPr>
          <a:xfrm>
            <a:off x="3756659" y="1524000"/>
            <a:ext cx="971550" cy="1210310"/>
          </a:xfrm>
          <a:prstGeom prst="rect">
            <a:avLst/>
          </a:prstGeom>
          <a:solidFill>
            <a:srgbClr val="9DBDC4">
              <a:alpha val="49804"/>
            </a:srgbClr>
          </a:solidFill>
          <a:ln>
            <a:noFill/>
          </a:ln>
        </p:spPr>
        <p:txBody>
          <a:bodyPr anchorCtr="0" anchor="t" bIns="0" lIns="0" spcFirstLastPara="1" rIns="0" wrap="square" tIns="28575">
            <a:spAutoFit/>
          </a:bodyPr>
          <a:lstStyle/>
          <a:p>
            <a:pPr indent="0" lvl="0" marL="635" marR="1308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a:t>
            </a:r>
            <a:endParaRPr sz="1800">
              <a:latin typeface="Courier New"/>
              <a:ea typeface="Courier New"/>
              <a:cs typeface="Courier New"/>
              <a:sym typeface="Courier New"/>
            </a:endParaRPr>
          </a:p>
          <a:p>
            <a:pPr indent="0" lvl="0" marL="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 GROUP ORDER</a:t>
            </a:r>
            <a:endParaRPr sz="1800">
              <a:latin typeface="Courier New"/>
              <a:ea typeface="Courier New"/>
              <a:cs typeface="Courier New"/>
              <a:sym typeface="Courier New"/>
            </a:endParaRPr>
          </a:p>
        </p:txBody>
      </p:sp>
      <p:sp>
        <p:nvSpPr>
          <p:cNvPr id="194" name="Google Shape;194;p24"/>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195" name="Google Shape;195;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6" name="Google Shape;196;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7" name="Google Shape;197;p24"/>
          <p:cNvSpPr txBox="1"/>
          <p:nvPr/>
        </p:nvSpPr>
        <p:spPr>
          <a:xfrm>
            <a:off x="4582667" y="1524000"/>
            <a:ext cx="4357370" cy="1210310"/>
          </a:xfrm>
          <a:prstGeom prst="rect">
            <a:avLst/>
          </a:prstGeom>
          <a:solidFill>
            <a:srgbClr val="9DBDC4">
              <a:alpha val="49804"/>
            </a:srgbClr>
          </a:solidFill>
          <a:ln>
            <a:noFill/>
          </a:ln>
        </p:spPr>
        <p:txBody>
          <a:bodyPr anchorCtr="0" anchor="t" bIns="0" lIns="0" spcFirstLastPara="1" rIns="0" wrap="square" tIns="28575">
            <a:spAutoFit/>
          </a:bodyPr>
          <a:lstStyle/>
          <a:p>
            <a:pPr indent="0" lvl="0" marL="1314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COUNT(country_name), region_id</a:t>
            </a:r>
            <a:endParaRPr sz="1800">
              <a:latin typeface="Courier New"/>
              <a:ea typeface="Courier New"/>
              <a:cs typeface="Courier New"/>
              <a:sym typeface="Courier New"/>
            </a:endParaRPr>
          </a:p>
          <a:p>
            <a:pPr indent="137160" lvl="0" marL="0" marR="25793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_countries BY region_id BY region_id;</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COUNT</a:t>
            </a:r>
            <a:endParaRPr/>
          </a:p>
        </p:txBody>
      </p:sp>
      <p:sp>
        <p:nvSpPr>
          <p:cNvPr id="203" name="Google Shape;203;p25"/>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04" name="Google Shape;204;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5" name="Google Shape;205;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6" name="Google Shape;206;p25"/>
          <p:cNvSpPr txBox="1"/>
          <p:nvPr/>
        </p:nvSpPr>
        <p:spPr>
          <a:xfrm>
            <a:off x="483552" y="1415417"/>
            <a:ext cx="7738745" cy="1706245"/>
          </a:xfrm>
          <a:prstGeom prst="rect">
            <a:avLst/>
          </a:prstGeom>
          <a:noFill/>
          <a:ln>
            <a:noFill/>
          </a:ln>
        </p:spPr>
        <p:txBody>
          <a:bodyPr anchorCtr="0" anchor="t" bIns="0" lIns="0" spcFirstLastPara="1" rIns="0" wrap="square" tIns="59675">
            <a:spAutoFit/>
          </a:bodyPr>
          <a:lstStyle/>
          <a:p>
            <a:pPr indent="-177800" lvl="0" marL="182880" marR="2444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supuesto, esto es poco probable, pero, al crear 	sentencias SQL, tenemos que pensar en todas las 	posibilidades</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Sería mejor escribir la consulta utilizando COUNT(*):</a:t>
            </a:r>
            <a:endParaRPr sz="2800">
              <a:latin typeface="Calibri"/>
              <a:ea typeface="Calibri"/>
              <a:cs typeface="Calibri"/>
              <a:sym typeface="Calibri"/>
            </a:endParaRPr>
          </a:p>
        </p:txBody>
      </p:sp>
      <p:sp>
        <p:nvSpPr>
          <p:cNvPr id="207" name="Google Shape;207;p25"/>
          <p:cNvSpPr txBox="1"/>
          <p:nvPr/>
        </p:nvSpPr>
        <p:spPr>
          <a:xfrm>
            <a:off x="496252" y="3202162"/>
            <a:ext cx="124460" cy="396875"/>
          </a:xfrm>
          <a:prstGeom prst="rect">
            <a:avLst/>
          </a:prstGeom>
          <a:noFill/>
          <a:ln>
            <a:noFill/>
          </a:ln>
        </p:spPr>
        <p:txBody>
          <a:bodyPr anchorCtr="0" anchor="t" bIns="0" lIns="0" spcFirstLastPara="1" rIns="0" wrap="square" tIns="0">
            <a:spAutoFit/>
          </a:bodyPr>
          <a:lstStyle/>
          <a:p>
            <a:pPr indent="0" lvl="0" marL="0" rtl="0" algn="l">
              <a:lnSpc>
                <a:spcPct val="110357"/>
              </a:lnSpc>
              <a:spcBef>
                <a:spcPts val="0"/>
              </a:spcBef>
              <a:spcAft>
                <a:spcPts val="0"/>
              </a:spcAft>
              <a:buNone/>
            </a:pPr>
            <a:r>
              <a:rPr lang="en-US" sz="2800">
                <a:solidFill>
                  <a:srgbClr val="D1350F"/>
                </a:solidFill>
                <a:latin typeface="Arial"/>
                <a:ea typeface="Arial"/>
                <a:cs typeface="Arial"/>
                <a:sym typeface="Arial"/>
              </a:rPr>
              <a:t>•</a:t>
            </a:r>
            <a:endParaRPr sz="2800">
              <a:latin typeface="Arial"/>
              <a:ea typeface="Arial"/>
              <a:cs typeface="Arial"/>
              <a:sym typeface="Arial"/>
            </a:endParaRPr>
          </a:p>
        </p:txBody>
      </p:sp>
      <p:sp>
        <p:nvSpPr>
          <p:cNvPr id="208" name="Google Shape;208;p25"/>
          <p:cNvSpPr txBox="1"/>
          <p:nvPr/>
        </p:nvSpPr>
        <p:spPr>
          <a:xfrm>
            <a:off x="483552" y="4612769"/>
            <a:ext cx="8164830" cy="1220470"/>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contaría todas las filas de cada grupo de regiones, 	sin tener que comprobar las columnas que contuviesen 	valores NULL</a:t>
            </a:r>
            <a:endParaRPr sz="2800">
              <a:latin typeface="Calibri"/>
              <a:ea typeface="Calibri"/>
              <a:cs typeface="Calibri"/>
              <a:sym typeface="Calibri"/>
            </a:endParaRPr>
          </a:p>
        </p:txBody>
      </p:sp>
      <p:sp>
        <p:nvSpPr>
          <p:cNvPr id="209" name="Google Shape;209;p25"/>
          <p:cNvSpPr txBox="1"/>
          <p:nvPr/>
        </p:nvSpPr>
        <p:spPr>
          <a:xfrm>
            <a:off x="405384" y="3261359"/>
            <a:ext cx="8345805" cy="1210310"/>
          </a:xfrm>
          <a:prstGeom prst="rect">
            <a:avLst/>
          </a:prstGeom>
          <a:solidFill>
            <a:srgbClr val="9DBDC4">
              <a:alpha val="49804"/>
            </a:srgbClr>
          </a:solidFill>
          <a:ln>
            <a:noFill/>
          </a:ln>
        </p:spPr>
        <p:txBody>
          <a:bodyPr anchorCtr="0" anchor="t" bIns="0" lIns="0" spcFirstLastPara="1" rIns="0" wrap="square" tIns="29200">
            <a:spAutoFit/>
          </a:bodyPr>
          <a:lstStyle/>
          <a:p>
            <a:pPr indent="0" lvl="0" marL="0" marR="47904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 region_id FROM wf_countries</a:t>
            </a:r>
            <a:endParaRPr sz="1800">
              <a:latin typeface="Courier New"/>
              <a:ea typeface="Courier New"/>
              <a:cs typeface="Courier New"/>
              <a:sym typeface="Courier New"/>
            </a:endParaRPr>
          </a:p>
          <a:p>
            <a:pPr indent="0" lvl="0" marL="0" marR="5742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region_id ORDER BY region_id;</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Cláusula WHERE</a:t>
            </a:r>
            <a:endParaRPr/>
          </a:p>
        </p:txBody>
      </p:sp>
      <p:sp>
        <p:nvSpPr>
          <p:cNvPr id="215" name="Google Shape;215;p26"/>
          <p:cNvSpPr txBox="1"/>
          <p:nvPr/>
        </p:nvSpPr>
        <p:spPr>
          <a:xfrm>
            <a:off x="483552" y="1415417"/>
            <a:ext cx="789559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podemos utilizar una cláusula WHERE para 	excluir las filas antes de que las filas restantes formen 	grupos</a:t>
            </a:r>
            <a:endParaRPr sz="2800">
              <a:latin typeface="Calibri"/>
              <a:ea typeface="Calibri"/>
              <a:cs typeface="Calibri"/>
              <a:sym typeface="Calibri"/>
            </a:endParaRPr>
          </a:p>
        </p:txBody>
      </p:sp>
      <p:sp>
        <p:nvSpPr>
          <p:cNvPr id="216" name="Google Shape;216;p26"/>
          <p:cNvSpPr/>
          <p:nvPr/>
        </p:nvSpPr>
        <p:spPr>
          <a:xfrm>
            <a:off x="4181094" y="3926585"/>
            <a:ext cx="1537970" cy="510540"/>
          </a:xfrm>
          <a:custGeom>
            <a:rect b="b" l="l" r="r" t="t"/>
            <a:pathLst>
              <a:path extrusionOk="0" h="510539" w="1537970">
                <a:moveTo>
                  <a:pt x="0" y="0"/>
                </a:moveTo>
                <a:lnTo>
                  <a:pt x="1537716" y="510540"/>
                </a:lnTo>
              </a:path>
            </a:pathLst>
          </a:custGeom>
          <a:noFill/>
          <a:ln cap="flat" cmpd="sng" w="3807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7" name="Google Shape;217;p26"/>
          <p:cNvSpPr/>
          <p:nvPr/>
        </p:nvSpPr>
        <p:spPr>
          <a:xfrm>
            <a:off x="4181094" y="5339334"/>
            <a:ext cx="1537970" cy="509270"/>
          </a:xfrm>
          <a:custGeom>
            <a:rect b="b" l="l" r="r" t="t"/>
            <a:pathLst>
              <a:path extrusionOk="0" h="509270" w="1537970">
                <a:moveTo>
                  <a:pt x="1537715" y="0"/>
                </a:moveTo>
                <a:lnTo>
                  <a:pt x="0" y="509015"/>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aphicFrame>
        <p:nvGraphicFramePr>
          <p:cNvPr id="218" name="Google Shape;218;p26"/>
          <p:cNvGraphicFramePr/>
          <p:nvPr/>
        </p:nvGraphicFramePr>
        <p:xfrm>
          <a:off x="398462" y="3869551"/>
          <a:ext cx="3000000" cy="3000000"/>
        </p:xfrm>
        <a:graphic>
          <a:graphicData uri="http://schemas.openxmlformats.org/drawingml/2006/table">
            <a:tbl>
              <a:tblPr bandRow="1" firstRow="1">
                <a:noFill/>
                <a:tableStyleId>{1507C349-FFC6-4940-B9BC-9468417FF322}</a:tableStyleId>
              </a:tblPr>
              <a:tblGrid>
                <a:gridCol w="1270625"/>
                <a:gridCol w="1268725"/>
                <a:gridCol w="1236975"/>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501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501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Lorentz</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19" name="Google Shape;219;p26"/>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20" name="Google Shape;220;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1" name="Google Shape;221;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22" name="Google Shape;222;p26"/>
          <p:cNvGraphicFramePr/>
          <p:nvPr/>
        </p:nvGraphicFramePr>
        <p:xfrm>
          <a:off x="5711338" y="4198226"/>
          <a:ext cx="3000000" cy="3000000"/>
        </p:xfrm>
        <a:graphic>
          <a:graphicData uri="http://schemas.openxmlformats.org/drawingml/2006/table">
            <a:tbl>
              <a:tblPr bandRow="1" firstRow="1">
                <a:noFill/>
                <a:tableStyleId>{1507C349-FFC6-4940-B9BC-9468417FF322}</a:tableStyleId>
              </a:tblPr>
              <a:tblGrid>
                <a:gridCol w="1417325"/>
                <a:gridCol w="1380500"/>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86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23" name="Google Shape;223;p26"/>
          <p:cNvSpPr txBox="1"/>
          <p:nvPr/>
        </p:nvSpPr>
        <p:spPr>
          <a:xfrm>
            <a:off x="399288" y="2688335"/>
            <a:ext cx="8345805" cy="10242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1944"/>
              </a:lnSpc>
              <a:spcBef>
                <a:spcPts val="0"/>
              </a:spcBef>
              <a:spcAft>
                <a:spcPts val="0"/>
              </a:spcAft>
              <a:buNone/>
            </a:pPr>
            <a:r>
              <a:rPr b="1" lang="en-US" sz="1800">
                <a:solidFill>
                  <a:srgbClr val="4E3629"/>
                </a:solidFill>
                <a:latin typeface="Courier New"/>
                <a:ea typeface="Courier New"/>
                <a:cs typeface="Courier New"/>
                <a:sym typeface="Courier New"/>
              </a:rPr>
              <a:t>SELECT department_id, MAX(salary)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marR="49244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last_name != 'King' GROUP BY department_id;</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7"/>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Más Ejemplos de GROUP BY</a:t>
            </a:r>
            <a:endParaRPr/>
          </a:p>
        </p:txBody>
      </p:sp>
      <p:sp>
        <p:nvSpPr>
          <p:cNvPr id="229" name="Google Shape;229;p27"/>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30" name="Google Shape;230;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1" name="Google Shape;231;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2" name="Google Shape;232;p27"/>
          <p:cNvSpPr txBox="1"/>
          <p:nvPr/>
        </p:nvSpPr>
        <p:spPr>
          <a:xfrm>
            <a:off x="483552" y="1415417"/>
            <a:ext cx="7477759"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Muestre la población media de todos los países de 	cada región</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Redondee la media a un número entero</a:t>
            </a:r>
            <a:endParaRPr sz="2800">
              <a:latin typeface="Calibri"/>
              <a:ea typeface="Calibri"/>
              <a:cs typeface="Calibri"/>
              <a:sym typeface="Calibri"/>
            </a:endParaRPr>
          </a:p>
        </p:txBody>
      </p:sp>
      <p:sp>
        <p:nvSpPr>
          <p:cNvPr id="233" name="Google Shape;233;p27"/>
          <p:cNvSpPr txBox="1"/>
          <p:nvPr/>
        </p:nvSpPr>
        <p:spPr>
          <a:xfrm>
            <a:off x="483552" y="3911729"/>
            <a:ext cx="794258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Cuente el número de idiomas hablados para todos los 	países</a:t>
            </a:r>
            <a:endParaRPr sz="2800">
              <a:latin typeface="Calibri"/>
              <a:ea typeface="Calibri"/>
              <a:cs typeface="Calibri"/>
              <a:sym typeface="Calibri"/>
            </a:endParaRPr>
          </a:p>
        </p:txBody>
      </p:sp>
      <p:sp>
        <p:nvSpPr>
          <p:cNvPr id="234" name="Google Shape;234;p27"/>
          <p:cNvSpPr txBox="1"/>
          <p:nvPr/>
        </p:nvSpPr>
        <p:spPr>
          <a:xfrm>
            <a:off x="405384" y="2767583"/>
            <a:ext cx="8345805" cy="112331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888"/>
              </a:lnSpc>
              <a:spcBef>
                <a:spcPts val="0"/>
              </a:spcBef>
              <a:spcAft>
                <a:spcPts val="0"/>
              </a:spcAft>
              <a:buNone/>
            </a:pPr>
            <a:r>
              <a:rPr b="1" lang="en-US" sz="1800">
                <a:solidFill>
                  <a:srgbClr val="4E3629"/>
                </a:solidFill>
                <a:latin typeface="Courier New"/>
                <a:ea typeface="Courier New"/>
                <a:cs typeface="Courier New"/>
                <a:sym typeface="Courier New"/>
              </a:rPr>
              <a:t>SELECT region_id, ROUND(AVG(population)) AS population</a:t>
            </a:r>
            <a:endParaRPr sz="1800">
              <a:latin typeface="Courier New"/>
              <a:ea typeface="Courier New"/>
              <a:cs typeface="Courier New"/>
              <a:sym typeface="Courier New"/>
            </a:endParaRPr>
          </a:p>
          <a:p>
            <a:pPr indent="0" lvl="0" marL="0" marR="5742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wf_countries GROUP BY region_id ORDER BY region_id;</a:t>
            </a:r>
            <a:endParaRPr sz="1800">
              <a:latin typeface="Courier New"/>
              <a:ea typeface="Courier New"/>
              <a:cs typeface="Courier New"/>
              <a:sym typeface="Courier New"/>
            </a:endParaRPr>
          </a:p>
        </p:txBody>
      </p:sp>
      <p:sp>
        <p:nvSpPr>
          <p:cNvPr id="235" name="Google Shape;235;p27"/>
          <p:cNvSpPr txBox="1"/>
          <p:nvPr/>
        </p:nvSpPr>
        <p:spPr>
          <a:xfrm>
            <a:off x="399288" y="4760976"/>
            <a:ext cx="8345805" cy="112204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3277"/>
              </a:lnSpc>
              <a:spcBef>
                <a:spcPts val="0"/>
              </a:spcBef>
              <a:spcAft>
                <a:spcPts val="0"/>
              </a:spcAft>
              <a:buNone/>
            </a:pPr>
            <a:r>
              <a:rPr b="1" lang="en-US" sz="1800">
                <a:solidFill>
                  <a:srgbClr val="4E3629"/>
                </a:solidFill>
                <a:latin typeface="Courier New"/>
                <a:ea typeface="Courier New"/>
                <a:cs typeface="Courier New"/>
                <a:sym typeface="Courier New"/>
              </a:rPr>
              <a:t>SELECT country_id, COUNT(language_id) AS "Number of</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languages"</a:t>
            </a:r>
            <a:endParaRPr sz="1800">
              <a:latin typeface="Courier New"/>
              <a:ea typeface="Courier New"/>
              <a:cs typeface="Courier New"/>
              <a:sym typeface="Courier New"/>
            </a:endParaRPr>
          </a:p>
          <a:p>
            <a:pPr indent="0" lvl="0" marL="0" marR="50615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wf_spoken_languages GROUP BY country_id;</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Directrices de GROUP BY</a:t>
            </a:r>
            <a:endParaRPr/>
          </a:p>
        </p:txBody>
      </p:sp>
      <p:sp>
        <p:nvSpPr>
          <p:cNvPr id="241" name="Google Shape;241;p28"/>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42" name="Google Shape;242;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3" name="Google Shape;243;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4" name="Google Shape;244;p28"/>
          <p:cNvSpPr txBox="1"/>
          <p:nvPr/>
        </p:nvSpPr>
        <p:spPr>
          <a:xfrm>
            <a:off x="483552" y="1415417"/>
            <a:ext cx="7971155" cy="362521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directrices importantes que no se deben olvidar al 	utilizar una cláusula GROUP BY son:</a:t>
            </a:r>
            <a:endParaRPr sz="2800">
              <a:latin typeface="Calibri"/>
              <a:ea typeface="Calibri"/>
              <a:cs typeface="Calibri"/>
              <a:sym typeface="Calibri"/>
            </a:endParaRPr>
          </a:p>
          <a:p>
            <a:pPr indent="-175260" lvl="0" marL="530860" marR="136525"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 incluye una función de grupo (AVG, SUM, COUNT, MAX, MIN, STDDEV, VARIANCE) en una cláusula SELECT junto con cualquier otra columna individual, cada columna individual también debe aparecer en la cláusula GROUP BY</a:t>
            </a:r>
            <a:endParaRPr sz="2400">
              <a:latin typeface="Calibri"/>
              <a:ea typeface="Calibri"/>
              <a:cs typeface="Calibri"/>
              <a:sym typeface="Calibri"/>
            </a:endParaRPr>
          </a:p>
          <a:p>
            <a:pPr indent="-175260" lvl="0" marL="530860" marR="79375" rtl="0" algn="l">
              <a:lnSpc>
                <a:spcPct val="107916"/>
              </a:lnSpc>
              <a:spcBef>
                <a:spcPts val="4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puede utilizar un alias de columna en la cláusula GROUP BY</a:t>
            </a:r>
            <a:endParaRPr sz="2400">
              <a:latin typeface="Calibri"/>
              <a:ea typeface="Calibri"/>
              <a:cs typeface="Calibri"/>
              <a:sym typeface="Calibri"/>
            </a:endParaRPr>
          </a:p>
          <a:p>
            <a:pPr indent="-175260" lvl="0" marL="530860" marR="16192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cláusula WHERE excluye las filas antes de que se dividan en grupos</a:t>
            </a:r>
            <a:endParaRPr sz="24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nvSpPr>
        <p:spPr>
          <a:xfrm>
            <a:off x="483552" y="1491489"/>
            <a:ext cx="3840479" cy="4011295"/>
          </a:xfrm>
          <a:prstGeom prst="rect">
            <a:avLst/>
          </a:prstGeom>
          <a:noFill/>
          <a:ln>
            <a:noFill/>
          </a:ln>
        </p:spPr>
        <p:txBody>
          <a:bodyPr anchorCtr="0" anchor="t" bIns="0" lIns="0" spcFirstLastPara="1" rIns="0" wrap="square" tIns="59675">
            <a:spAutoFit/>
          </a:bodyPr>
          <a:lstStyle/>
          <a:p>
            <a:pPr indent="-457200" lvl="0" marL="469900" marR="1905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veces tiene que dividir los grupos en grupos más pequeños</a:t>
            </a:r>
            <a:endParaRPr sz="2800">
              <a:latin typeface="Calibri"/>
              <a:ea typeface="Calibri"/>
              <a:cs typeface="Calibri"/>
              <a:sym typeface="Calibri"/>
            </a:endParaRPr>
          </a:p>
          <a:p>
            <a:pPr indent="-457200" lvl="0" marL="46990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puede que desee agrupar todos los empleados por departamento y, a continuación, dentro de cada departamento, agruparlos por trabajo</a:t>
            </a:r>
            <a:endParaRPr sz="2800">
              <a:latin typeface="Calibri"/>
              <a:ea typeface="Calibri"/>
              <a:cs typeface="Calibri"/>
              <a:sym typeface="Calibri"/>
            </a:endParaRPr>
          </a:p>
        </p:txBody>
      </p:sp>
      <p:sp>
        <p:nvSpPr>
          <p:cNvPr id="250" name="Google Shape;250;p29"/>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51" name="Google Shape;251;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2" name="Google Shape;252;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3" name="Google Shape;253;p29"/>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Grupos dentro de GRUPOS</a:t>
            </a:r>
            <a:endParaRPr/>
          </a:p>
        </p:txBody>
      </p:sp>
      <p:graphicFrame>
        <p:nvGraphicFramePr>
          <p:cNvPr id="254" name="Google Shape;254;p29"/>
          <p:cNvGraphicFramePr/>
          <p:nvPr/>
        </p:nvGraphicFramePr>
        <p:xfrm>
          <a:off x="4263897" y="1524000"/>
          <a:ext cx="3000000" cy="3000000"/>
        </p:xfrm>
        <a:graphic>
          <a:graphicData uri="http://schemas.openxmlformats.org/drawingml/2006/table">
            <a:tbl>
              <a:tblPr bandRow="1" firstRow="1">
                <a:noFill/>
                <a:tableStyleId>{1507C349-FFC6-4940-B9BC-9468417FF322}</a:tableStyleId>
              </a:tblPr>
              <a:tblGrid>
                <a:gridCol w="417200"/>
                <a:gridCol w="1344925"/>
                <a:gridCol w="1413500"/>
                <a:gridCol w="1424950"/>
              </a:tblGrid>
              <a:tr h="1482725">
                <a:tc>
                  <a:txBody>
                    <a:bodyPr/>
                    <a:lstStyle/>
                    <a:p>
                      <a:pPr indent="0" lvl="0" marL="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a:t>
                      </a:r>
                      <a:endParaRPr sz="1800" u="none" cap="none" strike="noStrike">
                        <a:latin typeface="Courier New"/>
                        <a:ea typeface="Courier New"/>
                        <a:cs typeface="Courier New"/>
                        <a:sym typeface="Courier New"/>
                      </a:endParaRPr>
                    </a:p>
                    <a:p>
                      <a:pPr indent="0" lvl="0" marL="0" marR="0" rtl="0" algn="just">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cou FRO WHE GRO</a:t>
                      </a:r>
                      <a:endParaRPr sz="1800" u="none" cap="none" strike="noStrike">
                        <a:latin typeface="Courier New"/>
                        <a:ea typeface="Courier New"/>
                        <a:cs typeface="Courier New"/>
                        <a:sym typeface="Courier New"/>
                      </a:endParaRPr>
                    </a:p>
                  </a:txBody>
                  <a:tcPr marT="27950" marB="0" marR="0" marL="0">
                    <a:lnR cap="flat" cmpd="sng" w="28575">
                      <a:solidFill>
                        <a:srgbClr val="DFE1E0"/>
                      </a:solidFill>
                      <a:prstDash val="solid"/>
                      <a:round/>
                      <a:headEnd len="sm" w="sm" type="none"/>
                      <a:tailEnd len="sm" w="sm" type="none"/>
                    </a:lnR>
                    <a:solidFill>
                      <a:srgbClr val="9DBDC4">
                        <a:alpha val="49804"/>
                      </a:srgbClr>
                    </a:solidFill>
                  </a:tcPr>
                </a:tc>
                <a:tc gridSpan="3">
                  <a:txBody>
                    <a:bodyPr/>
                    <a:lstStyle/>
                    <a:p>
                      <a:pPr indent="-635" lvl="0" marL="107950" marR="522605"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ECT department_id, job_id, nt(*)</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M employees</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RE department_id &gt; 40</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UP BY department_id, job_id;</a:t>
                      </a:r>
                      <a:endParaRPr sz="1800" u="none" cap="none" strike="noStrike">
                        <a:latin typeface="Courier New"/>
                        <a:ea typeface="Courier New"/>
                        <a:cs typeface="Courier New"/>
                        <a:sym typeface="Courier New"/>
                      </a:endParaRPr>
                    </a:p>
                  </a:txBody>
                  <a:tcPr marT="27950" marB="0" marR="0" marL="0">
                    <a:lnL cap="flat" cmpd="sng" w="28575">
                      <a:solidFill>
                        <a:srgbClr val="DFE1E0"/>
                      </a:solidFill>
                      <a:prstDash val="solid"/>
                      <a:round/>
                      <a:headEnd len="sm" w="sm" type="none"/>
                      <a:tailEnd len="sm" w="sm" type="none"/>
                    </a:lnL>
                    <a:solidFill>
                      <a:srgbClr val="9DBDC4">
                        <a:alpha val="49804"/>
                      </a:srgbClr>
                    </a:solidFill>
                  </a:tcPr>
                </a:tc>
                <a:tc hMerge="1"/>
                <a:tc hMerge="1"/>
              </a:tr>
              <a:tr h="344800">
                <a:tc rowSpan="9">
                  <a:txBody>
                    <a:bodyPr/>
                    <a:lstStyle/>
                    <a:p>
                      <a:pPr indent="0" lvl="0" marL="0" marR="103505"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R cap="flat" cmpd="sng" w="28575">
                      <a:solidFill>
                        <a:srgbClr val="DFE1E0"/>
                      </a:solidFill>
                      <a:prstDash val="solid"/>
                      <a:round/>
                      <a:headEnd len="sm" w="sm" type="none"/>
                      <a:tailEnd len="sm" w="sm" type="none"/>
                    </a:lnR>
                  </a:tcPr>
                </a:tc>
                <a:tc gridSpan="3">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DFE1E0"/>
                      </a:solidFill>
                      <a:prstDash val="solid"/>
                      <a:round/>
                      <a:headEnd len="sm" w="sm" type="none"/>
                      <a:tailEnd len="sm" w="sm" type="none"/>
                    </a:lnL>
                    <a:lnB cap="flat" cmpd="sng" w="12700">
                      <a:solidFill>
                        <a:srgbClr val="D1350F"/>
                      </a:solidFill>
                      <a:prstDash val="solid"/>
                      <a:round/>
                      <a:headEnd len="sm" w="sm" type="none"/>
                      <a:tailEnd len="sm" w="sm" type="none"/>
                    </a:lnB>
                  </a:tcPr>
                </a:tc>
                <a:tc hMerge="1"/>
                <a:tc hMerge="1"/>
              </a:tr>
              <a:tr h="443225">
                <a:tc vMerge="1"/>
                <a:tc>
                  <a:txBody>
                    <a:bodyPr/>
                    <a:lstStyle/>
                    <a:p>
                      <a:pPr indent="0" lvl="0" marL="6985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882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a:t>
                      </a:r>
                      <a:endParaRPr sz="16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8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ST_MAN</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5450">
                <a:tc vMerge="1"/>
                <a:tc gridSpan="3">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DFE1E0"/>
                      </a:solidFill>
                      <a:prstDash val="solid"/>
                      <a:round/>
                      <a:headEnd len="sm" w="sm" type="none"/>
                      <a:tailEnd len="sm" w="sm" type="none"/>
                    </a:lnL>
                    <a:lnT cap="flat" cmpd="sng" w="12700">
                      <a:solidFill>
                        <a:srgbClr val="D1350F"/>
                      </a:solidFill>
                      <a:prstDash val="solid"/>
                      <a:round/>
                      <a:headEnd len="sm" w="sm" type="none"/>
                      <a:tailEnd len="sm" w="sm" type="none"/>
                    </a:lnT>
                  </a:tcPr>
                </a:tc>
                <a:tc hMerge="1"/>
                <a:tc hMerge="1"/>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nvSpPr>
        <p:spPr>
          <a:xfrm>
            <a:off x="483552" y="1491489"/>
            <a:ext cx="3770629" cy="2372995"/>
          </a:xfrm>
          <a:prstGeom prst="rect">
            <a:avLst/>
          </a:prstGeom>
          <a:noFill/>
          <a:ln>
            <a:noFill/>
          </a:ln>
        </p:spPr>
        <p:txBody>
          <a:bodyPr anchorCtr="0" anchor="t" bIns="0" lIns="0" spcFirstLastPara="1" rIns="0" wrap="square" tIns="59675">
            <a:spAutoFit/>
          </a:bodyPr>
          <a:lstStyle/>
          <a:p>
            <a:pPr indent="-457200" lvl="0" marL="46990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muestra el número de empleados que están realizando cada trabajo dentro de cada departamento</a:t>
            </a:r>
            <a:endParaRPr sz="2800">
              <a:latin typeface="Calibri"/>
              <a:ea typeface="Calibri"/>
              <a:cs typeface="Calibri"/>
              <a:sym typeface="Calibri"/>
            </a:endParaRPr>
          </a:p>
        </p:txBody>
      </p:sp>
      <p:sp>
        <p:nvSpPr>
          <p:cNvPr id="260" name="Google Shape;260;p30"/>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61" name="Google Shape;261;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2" name="Google Shape;262;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3" name="Google Shape;263;p30"/>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Grupos dentro de GRUPOS</a:t>
            </a:r>
            <a:endParaRPr/>
          </a:p>
        </p:txBody>
      </p:sp>
      <p:graphicFrame>
        <p:nvGraphicFramePr>
          <p:cNvPr id="264" name="Google Shape;264;p30"/>
          <p:cNvGraphicFramePr/>
          <p:nvPr/>
        </p:nvGraphicFramePr>
        <p:xfrm>
          <a:off x="4263897" y="1524000"/>
          <a:ext cx="3000000" cy="3000000"/>
        </p:xfrm>
        <a:graphic>
          <a:graphicData uri="http://schemas.openxmlformats.org/drawingml/2006/table">
            <a:tbl>
              <a:tblPr bandRow="1" firstRow="1">
                <a:noFill/>
                <a:tableStyleId>{1507C349-FFC6-4940-B9BC-9468417FF322}</a:tableStyleId>
              </a:tblPr>
              <a:tblGrid>
                <a:gridCol w="417200"/>
                <a:gridCol w="1344925"/>
                <a:gridCol w="1413500"/>
                <a:gridCol w="1424950"/>
              </a:tblGrid>
              <a:tr h="1482725">
                <a:tc>
                  <a:txBody>
                    <a:bodyPr/>
                    <a:lstStyle/>
                    <a:p>
                      <a:pPr indent="0" lvl="0" marL="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a:t>
                      </a:r>
                      <a:endParaRPr sz="1800" u="none" cap="none" strike="noStrike">
                        <a:latin typeface="Courier New"/>
                        <a:ea typeface="Courier New"/>
                        <a:cs typeface="Courier New"/>
                        <a:sym typeface="Courier New"/>
                      </a:endParaRPr>
                    </a:p>
                    <a:p>
                      <a:pPr indent="0" lvl="0" marL="0" marR="0" rtl="0" algn="just">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cou FRO WHE GRO</a:t>
                      </a:r>
                      <a:endParaRPr sz="1800" u="none" cap="none" strike="noStrike">
                        <a:latin typeface="Courier New"/>
                        <a:ea typeface="Courier New"/>
                        <a:cs typeface="Courier New"/>
                        <a:sym typeface="Courier New"/>
                      </a:endParaRPr>
                    </a:p>
                  </a:txBody>
                  <a:tcPr marT="27950" marB="0" marR="0" marL="0">
                    <a:lnR cap="flat" cmpd="sng" w="28575">
                      <a:solidFill>
                        <a:srgbClr val="DFE1E0"/>
                      </a:solidFill>
                      <a:prstDash val="solid"/>
                      <a:round/>
                      <a:headEnd len="sm" w="sm" type="none"/>
                      <a:tailEnd len="sm" w="sm" type="none"/>
                    </a:lnR>
                    <a:solidFill>
                      <a:srgbClr val="9DBDC4">
                        <a:alpha val="49804"/>
                      </a:srgbClr>
                    </a:solidFill>
                  </a:tcPr>
                </a:tc>
                <a:tc gridSpan="3">
                  <a:txBody>
                    <a:bodyPr/>
                    <a:lstStyle/>
                    <a:p>
                      <a:pPr indent="-635" lvl="0" marL="107950" marR="522605"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ECT department_id, job_id, nt(*)</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M employees</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RE department_id &gt; 40</a:t>
                      </a:r>
                      <a:endParaRPr sz="1800" u="none" cap="none" strike="noStrike">
                        <a:latin typeface="Courier New"/>
                        <a:ea typeface="Courier New"/>
                        <a:cs typeface="Courier New"/>
                        <a:sym typeface="Courier New"/>
                      </a:endParaRPr>
                    </a:p>
                    <a:p>
                      <a:pPr indent="0" lvl="0" marL="107950"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UP BY department_id, job_id;</a:t>
                      </a:r>
                      <a:endParaRPr sz="1800" u="none" cap="none" strike="noStrike">
                        <a:latin typeface="Courier New"/>
                        <a:ea typeface="Courier New"/>
                        <a:cs typeface="Courier New"/>
                        <a:sym typeface="Courier New"/>
                      </a:endParaRPr>
                    </a:p>
                  </a:txBody>
                  <a:tcPr marT="27950" marB="0" marR="0" marL="0">
                    <a:lnL cap="flat" cmpd="sng" w="28575">
                      <a:solidFill>
                        <a:srgbClr val="DFE1E0"/>
                      </a:solidFill>
                      <a:prstDash val="solid"/>
                      <a:round/>
                      <a:headEnd len="sm" w="sm" type="none"/>
                      <a:tailEnd len="sm" w="sm" type="none"/>
                    </a:lnL>
                    <a:solidFill>
                      <a:srgbClr val="9DBDC4">
                        <a:alpha val="49804"/>
                      </a:srgbClr>
                    </a:solidFill>
                  </a:tcPr>
                </a:tc>
                <a:tc hMerge="1"/>
                <a:tc hMerge="1"/>
              </a:tr>
              <a:tr h="344800">
                <a:tc rowSpan="9">
                  <a:txBody>
                    <a:bodyPr/>
                    <a:lstStyle/>
                    <a:p>
                      <a:pPr indent="0" lvl="0" marL="0" marR="103505"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R cap="flat" cmpd="sng" w="28575">
                      <a:solidFill>
                        <a:srgbClr val="DFE1E0"/>
                      </a:solidFill>
                      <a:prstDash val="solid"/>
                      <a:round/>
                      <a:headEnd len="sm" w="sm" type="none"/>
                      <a:tailEnd len="sm" w="sm" type="none"/>
                    </a:lnR>
                  </a:tcPr>
                </a:tc>
                <a:tc gridSpan="3">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28575">
                      <a:solidFill>
                        <a:srgbClr val="DFE1E0"/>
                      </a:solidFill>
                      <a:prstDash val="solid"/>
                      <a:round/>
                      <a:headEnd len="sm" w="sm" type="none"/>
                      <a:tailEnd len="sm" w="sm" type="none"/>
                    </a:lnL>
                    <a:lnB cap="flat" cmpd="sng" w="12700">
                      <a:solidFill>
                        <a:srgbClr val="D1350F"/>
                      </a:solidFill>
                      <a:prstDash val="solid"/>
                      <a:round/>
                      <a:headEnd len="sm" w="sm" type="none"/>
                      <a:tailEnd len="sm" w="sm" type="none"/>
                    </a:lnB>
                  </a:tcPr>
                </a:tc>
                <a:tc hMerge="1"/>
                <a:tc hMerge="1"/>
              </a:tr>
              <a:tr h="443225">
                <a:tc vMerge="1"/>
                <a:tc>
                  <a:txBody>
                    <a:bodyPr/>
                    <a:lstStyle/>
                    <a:p>
                      <a:pPr indent="0" lvl="0" marL="6985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882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a:t>
                      </a:r>
                      <a:endParaRPr sz="1600" u="none" cap="none" strike="noStrike">
                        <a:latin typeface="Calibri"/>
                        <a:ea typeface="Calibri"/>
                        <a:cs typeface="Calibri"/>
                        <a:sym typeface="Calibri"/>
                      </a:endParaRPr>
                    </a:p>
                  </a:txBody>
                  <a:tcPr marT="88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1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7150"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58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ST_MAN</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0350">
                <a:tc vMerge="1"/>
                <a:tc>
                  <a:txBody>
                    <a:bodyPr/>
                    <a:lstStyle/>
                    <a:p>
                      <a:pPr indent="0" lvl="0" marL="6985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28575">
                      <a:solidFill>
                        <a:srgbClr val="DFE1E0"/>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45450">
                <a:tc vMerge="1"/>
                <a:tc gridSpan="3">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28575">
                      <a:solidFill>
                        <a:srgbClr val="DFE1E0"/>
                      </a:solidFill>
                      <a:prstDash val="solid"/>
                      <a:round/>
                      <a:headEnd len="sm" w="sm" type="none"/>
                      <a:tailEnd len="sm" w="sm" type="none"/>
                    </a:lnL>
                    <a:lnT cap="flat" cmpd="sng" w="12700">
                      <a:solidFill>
                        <a:srgbClr val="D1350F"/>
                      </a:solidFill>
                      <a:prstDash val="solid"/>
                      <a:round/>
                      <a:headEnd len="sm" w="sm" type="none"/>
                      <a:tailEnd len="sm" w="sm" type="none"/>
                    </a:lnT>
                  </a:tcPr>
                </a:tc>
                <a:tc hMerge="1"/>
                <a:tc hMerge="1"/>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Anidamiento de Funciones de Grupo</a:t>
            </a:r>
            <a:endParaRPr/>
          </a:p>
        </p:txBody>
      </p:sp>
      <p:sp>
        <p:nvSpPr>
          <p:cNvPr id="270" name="Google Shape;270;p31"/>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71" name="Google Shape;271;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2" name="Google Shape;272;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3" name="Google Shape;273;p31"/>
          <p:cNvSpPr txBox="1"/>
          <p:nvPr/>
        </p:nvSpPr>
        <p:spPr>
          <a:xfrm>
            <a:off x="483552" y="1415417"/>
            <a:ext cx="716788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grupo se pueden anidar en una 	profundidad de dos cuando se utilice GROUP BY</a:t>
            </a:r>
            <a:endParaRPr sz="2800">
              <a:latin typeface="Calibri"/>
              <a:ea typeface="Calibri"/>
              <a:cs typeface="Calibri"/>
              <a:sym typeface="Calibri"/>
            </a:endParaRPr>
          </a:p>
        </p:txBody>
      </p:sp>
      <p:sp>
        <p:nvSpPr>
          <p:cNvPr id="274" name="Google Shape;274;p31"/>
          <p:cNvSpPr txBox="1"/>
          <p:nvPr/>
        </p:nvSpPr>
        <p:spPr>
          <a:xfrm>
            <a:off x="483552" y="3196363"/>
            <a:ext cx="8077834" cy="176657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¿Cuántos valores se devuelven con esta consulta?</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respuesta es uno: la consulta buscará el salario 	medio de cada departamento y, a continuación, en esa 	lista, seleccionará el único valor mayor</a:t>
            </a:r>
            <a:endParaRPr sz="2800">
              <a:latin typeface="Calibri"/>
              <a:ea typeface="Calibri"/>
              <a:cs typeface="Calibri"/>
              <a:sym typeface="Calibri"/>
            </a:endParaRPr>
          </a:p>
        </p:txBody>
      </p:sp>
      <p:sp>
        <p:nvSpPr>
          <p:cNvPr id="275" name="Google Shape;275;p31"/>
          <p:cNvSpPr txBox="1"/>
          <p:nvPr/>
        </p:nvSpPr>
        <p:spPr>
          <a:xfrm>
            <a:off x="405384" y="2322576"/>
            <a:ext cx="8345805" cy="82931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444"/>
              </a:lnSpc>
              <a:spcBef>
                <a:spcPts val="0"/>
              </a:spcBef>
              <a:spcAft>
                <a:spcPts val="0"/>
              </a:spcAft>
              <a:buNone/>
            </a:pPr>
            <a:r>
              <a:rPr b="1" lang="en-US" sz="1800">
                <a:solidFill>
                  <a:srgbClr val="4E3629"/>
                </a:solidFill>
                <a:latin typeface="Courier New"/>
                <a:ea typeface="Courier New"/>
                <a:cs typeface="Courier New"/>
                <a:sym typeface="Courier New"/>
              </a:rPr>
              <a:t>SELECT max(avg(salary))</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HAVING</a:t>
            </a:r>
            <a:endParaRPr/>
          </a:p>
        </p:txBody>
      </p:sp>
      <p:sp>
        <p:nvSpPr>
          <p:cNvPr id="281" name="Google Shape;281;p32"/>
          <p:cNvSpPr txBox="1"/>
          <p:nvPr/>
        </p:nvSpPr>
        <p:spPr>
          <a:xfrm>
            <a:off x="483552" y="1415417"/>
            <a:ext cx="809244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Suponga que desea buscar el salario máximo en cada 	departamento, pero solo para aquellos departamentos 	que tengan más de un empleado</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es incorrecto en este ejemplo?</a:t>
            </a:r>
            <a:endParaRPr sz="2800">
              <a:latin typeface="Calibri"/>
              <a:ea typeface="Calibri"/>
              <a:cs typeface="Calibri"/>
              <a:sym typeface="Calibri"/>
            </a:endParaRPr>
          </a:p>
        </p:txBody>
      </p:sp>
      <p:pic>
        <p:nvPicPr>
          <p:cNvPr id="282" name="Google Shape;282;p32"/>
          <p:cNvPicPr preferRelativeResize="0"/>
          <p:nvPr/>
        </p:nvPicPr>
        <p:blipFill rotWithShape="1">
          <a:blip r:embed="rId3">
            <a:alphaModFix/>
          </a:blip>
          <a:srcRect b="0" l="0" r="0" t="0"/>
          <a:stretch/>
        </p:blipFill>
        <p:spPr>
          <a:xfrm>
            <a:off x="670559" y="4777740"/>
            <a:ext cx="829055" cy="685799"/>
          </a:xfrm>
          <a:prstGeom prst="rect">
            <a:avLst/>
          </a:prstGeom>
          <a:noFill/>
          <a:ln>
            <a:noFill/>
          </a:ln>
        </p:spPr>
      </p:pic>
      <p:sp>
        <p:nvSpPr>
          <p:cNvPr id="283" name="Google Shape;283;p32"/>
          <p:cNvSpPr txBox="1"/>
          <p:nvPr/>
        </p:nvSpPr>
        <p:spPr>
          <a:xfrm>
            <a:off x="1499506" y="5040184"/>
            <a:ext cx="3489960"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FF3300"/>
                </a:solidFill>
                <a:latin typeface="Calibri"/>
                <a:ea typeface="Calibri"/>
                <a:cs typeface="Calibri"/>
                <a:sym typeface="Calibri"/>
              </a:rPr>
              <a:t>ORA-00934: group function is not allowed here</a:t>
            </a:r>
            <a:endParaRPr sz="1400">
              <a:latin typeface="Calibri"/>
              <a:ea typeface="Calibri"/>
              <a:cs typeface="Calibri"/>
              <a:sym typeface="Calibri"/>
            </a:endParaRPr>
          </a:p>
        </p:txBody>
      </p:sp>
      <p:sp>
        <p:nvSpPr>
          <p:cNvPr id="284" name="Google Shape;284;p32"/>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85" name="Google Shape;285;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6" name="Google Shape;286;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7" name="Google Shape;287;p32"/>
          <p:cNvSpPr txBox="1"/>
          <p:nvPr/>
        </p:nvSpPr>
        <p:spPr>
          <a:xfrm>
            <a:off x="405384" y="3285744"/>
            <a:ext cx="8345805" cy="1248410"/>
          </a:xfrm>
          <a:prstGeom prst="rect">
            <a:avLst/>
          </a:prstGeom>
          <a:solidFill>
            <a:srgbClr val="9DBDC4">
              <a:alpha val="49804"/>
            </a:srgbClr>
          </a:solidFill>
          <a:ln>
            <a:noFill/>
          </a:ln>
        </p:spPr>
        <p:txBody>
          <a:bodyPr anchorCtr="0" anchor="t" bIns="0" lIns="0" spcFirstLastPara="1" rIns="0" wrap="square" tIns="46975">
            <a:spAutoFit/>
          </a:bodyPr>
          <a:lstStyle/>
          <a:p>
            <a:pPr indent="0" lvl="0" marL="0" marR="38328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MAX(salary)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COUNT(*) &gt; 1</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HAVING</a:t>
            </a:r>
            <a:endParaRPr/>
          </a:p>
        </p:txBody>
      </p:sp>
      <p:sp>
        <p:nvSpPr>
          <p:cNvPr id="293" name="Google Shape;293;p33"/>
          <p:cNvSpPr txBox="1"/>
          <p:nvPr/>
        </p:nvSpPr>
        <p:spPr>
          <a:xfrm>
            <a:off x="483552" y="1415417"/>
            <a:ext cx="8149590" cy="2858770"/>
          </a:xfrm>
          <a:prstGeom prst="rect">
            <a:avLst/>
          </a:prstGeom>
          <a:noFill/>
          <a:ln>
            <a:noFill/>
          </a:ln>
        </p:spPr>
        <p:txBody>
          <a:bodyPr anchorCtr="0" anchor="t" bIns="0" lIns="0" spcFirstLastPara="1" rIns="0" wrap="square" tIns="59675">
            <a:spAutoFit/>
          </a:bodyPr>
          <a:lstStyle/>
          <a:p>
            <a:pPr indent="-177800" lvl="0" marL="182880" marR="8953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 la misma forma que ha utilizado la cláusula WHERE 	para restringir las filas que seleccionó, puede utilizar la 	cláusula HAVING para restringir los grupos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consulta con una cláusula GROUP BY y HAVING, 	primero se agrupan las filas, se aplican las funciones de 	grupo y, a continuación, solo se muestran los grupos 	que coincidan con la cláusula HAVING</a:t>
            </a:r>
            <a:endParaRPr sz="2800">
              <a:latin typeface="Calibri"/>
              <a:ea typeface="Calibri"/>
              <a:cs typeface="Calibri"/>
              <a:sym typeface="Calibri"/>
            </a:endParaRPr>
          </a:p>
        </p:txBody>
      </p:sp>
      <p:grpSp>
        <p:nvGrpSpPr>
          <p:cNvPr id="294" name="Google Shape;294;p33"/>
          <p:cNvGrpSpPr/>
          <p:nvPr/>
        </p:nvGrpSpPr>
        <p:grpSpPr>
          <a:xfrm>
            <a:off x="3364991" y="4677156"/>
            <a:ext cx="1848611" cy="1801367"/>
            <a:chOff x="3364991" y="4677156"/>
            <a:chExt cx="1848611" cy="1801367"/>
          </a:xfrm>
        </p:grpSpPr>
        <p:pic>
          <p:nvPicPr>
            <p:cNvPr id="295" name="Google Shape;295;p33"/>
            <p:cNvPicPr preferRelativeResize="0"/>
            <p:nvPr/>
          </p:nvPicPr>
          <p:blipFill rotWithShape="1">
            <a:blip r:embed="rId3">
              <a:alphaModFix/>
            </a:blip>
            <a:srcRect b="0" l="0" r="0" t="0"/>
            <a:stretch/>
          </p:blipFill>
          <p:spPr>
            <a:xfrm>
              <a:off x="3364991" y="4677156"/>
              <a:ext cx="1848611" cy="1801367"/>
            </a:xfrm>
            <a:prstGeom prst="rect">
              <a:avLst/>
            </a:prstGeom>
            <a:noFill/>
            <a:ln>
              <a:noFill/>
            </a:ln>
          </p:spPr>
        </p:pic>
        <p:pic>
          <p:nvPicPr>
            <p:cNvPr id="296" name="Google Shape;296;p33"/>
            <p:cNvPicPr preferRelativeResize="0"/>
            <p:nvPr/>
          </p:nvPicPr>
          <p:blipFill rotWithShape="1">
            <a:blip r:embed="rId4">
              <a:alphaModFix/>
            </a:blip>
            <a:srcRect b="0" l="0" r="0" t="0"/>
            <a:stretch/>
          </p:blipFill>
          <p:spPr>
            <a:xfrm>
              <a:off x="3447287" y="4759452"/>
              <a:ext cx="1684019" cy="1636775"/>
            </a:xfrm>
            <a:prstGeom prst="rect">
              <a:avLst/>
            </a:prstGeom>
            <a:noFill/>
            <a:ln>
              <a:noFill/>
            </a:ln>
          </p:spPr>
        </p:pic>
      </p:grpSp>
      <p:sp>
        <p:nvSpPr>
          <p:cNvPr id="297" name="Google Shape;297;p33"/>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298" name="Google Shape;298;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9" name="Google Shape;299;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4"/>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HAVING</a:t>
            </a:r>
            <a:endParaRPr/>
          </a:p>
        </p:txBody>
      </p:sp>
      <p:sp>
        <p:nvSpPr>
          <p:cNvPr id="305" name="Google Shape;305;p34"/>
          <p:cNvSpPr txBox="1"/>
          <p:nvPr/>
        </p:nvSpPr>
        <p:spPr>
          <a:xfrm>
            <a:off x="483552" y="1415417"/>
            <a:ext cx="7950834"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utiliza la cláusula WHERE para restringir las filas; se 	utiliza la cláusula HAVING para restringir los grupos 	devueltos por una cláusula GROUP BY</a:t>
            </a:r>
            <a:endParaRPr sz="2800">
              <a:latin typeface="Calibri"/>
              <a:ea typeface="Calibri"/>
              <a:cs typeface="Calibri"/>
              <a:sym typeface="Calibri"/>
            </a:endParaRPr>
          </a:p>
        </p:txBody>
      </p:sp>
      <p:graphicFrame>
        <p:nvGraphicFramePr>
          <p:cNvPr id="306" name="Google Shape;306;p34"/>
          <p:cNvGraphicFramePr/>
          <p:nvPr/>
        </p:nvGraphicFramePr>
        <p:xfrm>
          <a:off x="5658027" y="2730474"/>
          <a:ext cx="3000000" cy="3000000"/>
        </p:xfrm>
        <a:graphic>
          <a:graphicData uri="http://schemas.openxmlformats.org/drawingml/2006/table">
            <a:tbl>
              <a:tblPr bandRow="1" firstRow="1">
                <a:noFill/>
                <a:tableStyleId>{1507C349-FFC6-4940-B9BC-9468417FF322}</a:tableStyleId>
              </a:tblPr>
              <a:tblGrid>
                <a:gridCol w="1749425"/>
                <a:gridCol w="1330950"/>
              </a:tblGrid>
              <a:tr h="3683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4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MAX(SALARY)</a:t>
                      </a:r>
                      <a:endParaRPr sz="1600" u="none" cap="none" strike="noStrike">
                        <a:latin typeface="Calibri"/>
                        <a:ea typeface="Calibri"/>
                        <a:cs typeface="Calibri"/>
                        <a:sym typeface="Calibri"/>
                      </a:endParaRPr>
                    </a:p>
                  </a:txBody>
                  <a:tcPr marT="495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79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79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5800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79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9000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79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11000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7975">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7975">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9375"/>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pSp>
        <p:nvGrpSpPr>
          <p:cNvPr id="307" name="Google Shape;307;p34"/>
          <p:cNvGrpSpPr/>
          <p:nvPr/>
        </p:nvGrpSpPr>
        <p:grpSpPr>
          <a:xfrm>
            <a:off x="4905756" y="3180588"/>
            <a:ext cx="654050" cy="638810"/>
            <a:chOff x="4905756" y="3180588"/>
            <a:chExt cx="654050" cy="638810"/>
          </a:xfrm>
        </p:grpSpPr>
        <p:sp>
          <p:nvSpPr>
            <p:cNvPr id="308" name="Google Shape;308;p34"/>
            <p:cNvSpPr/>
            <p:nvPr/>
          </p:nvSpPr>
          <p:spPr>
            <a:xfrm>
              <a:off x="4905756" y="3180588"/>
              <a:ext cx="654050" cy="638810"/>
            </a:xfrm>
            <a:custGeom>
              <a:rect b="b" l="l" r="r" t="t"/>
              <a:pathLst>
                <a:path extrusionOk="0" h="638810" w="654050">
                  <a:moveTo>
                    <a:pt x="438962" y="0"/>
                  </a:moveTo>
                  <a:lnTo>
                    <a:pt x="438962" y="159638"/>
                  </a:lnTo>
                  <a:lnTo>
                    <a:pt x="0" y="159638"/>
                  </a:lnTo>
                  <a:lnTo>
                    <a:pt x="0" y="478916"/>
                  </a:lnTo>
                  <a:lnTo>
                    <a:pt x="438962" y="478916"/>
                  </a:lnTo>
                  <a:lnTo>
                    <a:pt x="438962" y="638555"/>
                  </a:lnTo>
                  <a:lnTo>
                    <a:pt x="653796" y="319277"/>
                  </a:lnTo>
                  <a:lnTo>
                    <a:pt x="438962"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9" name="Google Shape;309;p34"/>
            <p:cNvSpPr/>
            <p:nvPr/>
          </p:nvSpPr>
          <p:spPr>
            <a:xfrm>
              <a:off x="4905756" y="3180588"/>
              <a:ext cx="654050" cy="638810"/>
            </a:xfrm>
            <a:custGeom>
              <a:rect b="b" l="l" r="r" t="t"/>
              <a:pathLst>
                <a:path extrusionOk="0" h="638810" w="654050">
                  <a:moveTo>
                    <a:pt x="0" y="159638"/>
                  </a:moveTo>
                  <a:lnTo>
                    <a:pt x="438962" y="159638"/>
                  </a:lnTo>
                  <a:lnTo>
                    <a:pt x="438962" y="0"/>
                  </a:lnTo>
                  <a:lnTo>
                    <a:pt x="653796" y="319277"/>
                  </a:lnTo>
                  <a:lnTo>
                    <a:pt x="438962" y="638555"/>
                  </a:lnTo>
                  <a:lnTo>
                    <a:pt x="438962" y="478916"/>
                  </a:lnTo>
                  <a:lnTo>
                    <a:pt x="0" y="478916"/>
                  </a:lnTo>
                  <a:lnTo>
                    <a:pt x="0" y="159638"/>
                  </a:lnTo>
                  <a:close/>
                </a:path>
              </a:pathLst>
            </a:custGeom>
            <a:noFill/>
            <a:ln cap="flat" cmpd="sng" w="952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10" name="Google Shape;310;p34"/>
          <p:cNvSpPr txBox="1"/>
          <p:nvPr/>
        </p:nvSpPr>
        <p:spPr>
          <a:xfrm>
            <a:off x="397763" y="2737104"/>
            <a:ext cx="4392295" cy="1525905"/>
          </a:xfrm>
          <a:prstGeom prst="rect">
            <a:avLst/>
          </a:prstGeom>
          <a:solidFill>
            <a:srgbClr val="9DBDC4">
              <a:alpha val="49804"/>
            </a:srgbClr>
          </a:solidFill>
          <a:ln>
            <a:noFill/>
          </a:ln>
        </p:spPr>
        <p:txBody>
          <a:bodyPr anchorCtr="0" anchor="t" bIns="0" lIns="0" spcFirstLastPara="1" rIns="0" wrap="square" tIns="48875">
            <a:spAutoFit/>
          </a:bodyPr>
          <a:lstStyle/>
          <a:p>
            <a:pPr indent="0" lvl="0" marL="635" marR="1460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department_id,MAX(salary) FROM employees</a:t>
            </a:r>
            <a:endParaRPr sz="1800">
              <a:latin typeface="Courier New"/>
              <a:ea typeface="Courier New"/>
              <a:cs typeface="Courier New"/>
              <a:sym typeface="Courier New"/>
            </a:endParaRPr>
          </a:p>
          <a:p>
            <a:pPr indent="0" lvl="0" marL="635" marR="13817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 HAVING COUNT(*)&gt;1</a:t>
            </a:r>
            <a:endParaRPr sz="1800">
              <a:latin typeface="Courier New"/>
              <a:ea typeface="Courier New"/>
              <a:cs typeface="Courier New"/>
              <a:sym typeface="Courier New"/>
            </a:endParaRPr>
          </a:p>
          <a:p>
            <a:pPr indent="0" lvl="0" marL="6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department_id;</a:t>
            </a:r>
            <a:endParaRPr sz="1800">
              <a:latin typeface="Courier New"/>
              <a:ea typeface="Courier New"/>
              <a:cs typeface="Courier New"/>
              <a:sym typeface="Courier New"/>
            </a:endParaRPr>
          </a:p>
        </p:txBody>
      </p:sp>
      <p:sp>
        <p:nvSpPr>
          <p:cNvPr id="311" name="Google Shape;311;p34"/>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312" name="Google Shape;312;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3" name="Google Shape;313;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HAVING</a:t>
            </a:r>
            <a:endParaRPr/>
          </a:p>
        </p:txBody>
      </p:sp>
      <p:sp>
        <p:nvSpPr>
          <p:cNvPr id="319" name="Google Shape;319;p35"/>
          <p:cNvSpPr txBox="1"/>
          <p:nvPr/>
        </p:nvSpPr>
        <p:spPr>
          <a:xfrm>
            <a:off x="483552" y="1415417"/>
            <a:ext cx="8162925"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consulta busca la población media de los países de 	cada región</a:t>
            </a:r>
            <a:endParaRPr sz="2800">
              <a:latin typeface="Calibri"/>
              <a:ea typeface="Calibri"/>
              <a:cs typeface="Calibri"/>
              <a:sym typeface="Calibri"/>
            </a:endParaRPr>
          </a:p>
          <a:p>
            <a:pPr indent="-177800" lvl="0" marL="182880" marR="34544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solo devuelve los grupos de regiones 	con una población inferior superior a trescientos mil</a:t>
            </a:r>
            <a:endParaRPr sz="2800">
              <a:latin typeface="Calibri"/>
              <a:ea typeface="Calibri"/>
              <a:cs typeface="Calibri"/>
              <a:sym typeface="Calibri"/>
            </a:endParaRPr>
          </a:p>
        </p:txBody>
      </p:sp>
      <p:graphicFrame>
        <p:nvGraphicFramePr>
          <p:cNvPr id="320" name="Google Shape;320;p35"/>
          <p:cNvGraphicFramePr/>
          <p:nvPr/>
        </p:nvGraphicFramePr>
        <p:xfrm>
          <a:off x="5187917" y="3540638"/>
          <a:ext cx="3000000" cy="3000000"/>
        </p:xfrm>
        <a:graphic>
          <a:graphicData uri="http://schemas.openxmlformats.org/drawingml/2006/table">
            <a:tbl>
              <a:tblPr bandRow="1" firstRow="1">
                <a:noFill/>
                <a:tableStyleId>{1507C349-FFC6-4940-B9BC-9468417FF322}</a:tableStyleId>
              </a:tblPr>
              <a:tblGrid>
                <a:gridCol w="1080775"/>
                <a:gridCol w="2470150"/>
              </a:tblGrid>
              <a:tr h="3651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4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ROUND(AVG(POPULATION))</a:t>
                      </a:r>
                      <a:endParaRPr sz="1600" u="none" cap="none" strike="noStrike">
                        <a:latin typeface="Calibri"/>
                        <a:ea typeface="Calibri"/>
                        <a:cs typeface="Calibri"/>
                        <a:sym typeface="Calibri"/>
                      </a:endParaRPr>
                    </a:p>
                  </a:txBody>
                  <a:tcPr marT="4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27037687</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18729285</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30</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193332379</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34</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173268273</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143</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12023602</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145</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8522790</a:t>
                      </a:r>
                      <a:endParaRPr sz="1600" u="none" cap="none" strike="noStrike">
                        <a:latin typeface="Calibri"/>
                        <a:ea typeface="Calibri"/>
                        <a:cs typeface="Calibri"/>
                        <a:sym typeface="Calibri"/>
                      </a:endParaRPr>
                    </a:p>
                  </a:txBody>
                  <a:tcPr marT="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81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151</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28343051</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pSp>
        <p:nvGrpSpPr>
          <p:cNvPr id="321" name="Google Shape;321;p35"/>
          <p:cNvGrpSpPr/>
          <p:nvPr/>
        </p:nvGrpSpPr>
        <p:grpSpPr>
          <a:xfrm>
            <a:off x="4628387" y="4177283"/>
            <a:ext cx="509270" cy="638810"/>
            <a:chOff x="4628387" y="4177283"/>
            <a:chExt cx="509270" cy="638810"/>
          </a:xfrm>
        </p:grpSpPr>
        <p:sp>
          <p:nvSpPr>
            <p:cNvPr id="322" name="Google Shape;322;p35"/>
            <p:cNvSpPr/>
            <p:nvPr/>
          </p:nvSpPr>
          <p:spPr>
            <a:xfrm>
              <a:off x="4628387" y="4177283"/>
              <a:ext cx="509270" cy="638810"/>
            </a:xfrm>
            <a:custGeom>
              <a:rect b="b" l="l" r="r" t="t"/>
              <a:pathLst>
                <a:path extrusionOk="0" h="638810" w="509270">
                  <a:moveTo>
                    <a:pt x="337769" y="0"/>
                  </a:moveTo>
                  <a:lnTo>
                    <a:pt x="337769" y="159638"/>
                  </a:lnTo>
                  <a:lnTo>
                    <a:pt x="0" y="159638"/>
                  </a:lnTo>
                  <a:lnTo>
                    <a:pt x="0" y="478916"/>
                  </a:lnTo>
                  <a:lnTo>
                    <a:pt x="337769" y="478916"/>
                  </a:lnTo>
                  <a:lnTo>
                    <a:pt x="337769" y="638555"/>
                  </a:lnTo>
                  <a:lnTo>
                    <a:pt x="509016" y="319277"/>
                  </a:lnTo>
                  <a:lnTo>
                    <a:pt x="337769"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3" name="Google Shape;323;p35"/>
            <p:cNvSpPr/>
            <p:nvPr/>
          </p:nvSpPr>
          <p:spPr>
            <a:xfrm>
              <a:off x="4628387" y="4177283"/>
              <a:ext cx="509270" cy="638810"/>
            </a:xfrm>
            <a:custGeom>
              <a:rect b="b" l="l" r="r" t="t"/>
              <a:pathLst>
                <a:path extrusionOk="0" h="638810" w="509270">
                  <a:moveTo>
                    <a:pt x="0" y="159638"/>
                  </a:moveTo>
                  <a:lnTo>
                    <a:pt x="337769" y="159638"/>
                  </a:lnTo>
                  <a:lnTo>
                    <a:pt x="337769" y="0"/>
                  </a:lnTo>
                  <a:lnTo>
                    <a:pt x="509016" y="319277"/>
                  </a:lnTo>
                  <a:lnTo>
                    <a:pt x="337769" y="638555"/>
                  </a:lnTo>
                  <a:lnTo>
                    <a:pt x="337769" y="478916"/>
                  </a:lnTo>
                  <a:lnTo>
                    <a:pt x="0" y="478916"/>
                  </a:lnTo>
                  <a:lnTo>
                    <a:pt x="0" y="159638"/>
                  </a:lnTo>
                  <a:close/>
                </a:path>
              </a:pathLst>
            </a:custGeom>
            <a:noFill/>
            <a:ln cap="flat" cmpd="sng" w="9525">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24" name="Google Shape;324;p35"/>
          <p:cNvSpPr txBox="1"/>
          <p:nvPr/>
        </p:nvSpPr>
        <p:spPr>
          <a:xfrm>
            <a:off x="397763" y="3592067"/>
            <a:ext cx="4174490" cy="1811020"/>
          </a:xfrm>
          <a:prstGeom prst="rect">
            <a:avLst/>
          </a:prstGeom>
          <a:solidFill>
            <a:srgbClr val="9DBDC4">
              <a:alpha val="49804"/>
            </a:srgbClr>
          </a:solidFill>
          <a:ln>
            <a:noFill/>
          </a:ln>
        </p:spPr>
        <p:txBody>
          <a:bodyPr anchorCtr="0" anchor="t" bIns="0" lIns="0" spcFirstLastPara="1" rIns="0" wrap="square" tIns="53975">
            <a:spAutoFit/>
          </a:bodyPr>
          <a:lstStyle/>
          <a:p>
            <a:pPr indent="-274320" lvl="0" marL="274955" marR="8890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region_id, ROUND(AVG(population))</a:t>
            </a:r>
            <a:endParaRPr sz="1800">
              <a:latin typeface="Courier New"/>
              <a:ea typeface="Courier New"/>
              <a:cs typeface="Courier New"/>
              <a:sym typeface="Courier New"/>
            </a:endParaRPr>
          </a:p>
          <a:p>
            <a:pPr indent="0" lvl="0" marL="635" marR="170751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wf_countries GROUP BY region_id</a:t>
            </a:r>
            <a:endParaRPr sz="1800">
              <a:latin typeface="Courier New"/>
              <a:ea typeface="Courier New"/>
              <a:cs typeface="Courier New"/>
              <a:sym typeface="Courier New"/>
            </a:endParaRPr>
          </a:p>
          <a:p>
            <a:pPr indent="0" lvl="0" marL="635" marR="2063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HAVING MIN(population)&gt;300000 ORDER BY region_id;</a:t>
            </a:r>
            <a:endParaRPr sz="1800">
              <a:latin typeface="Courier New"/>
              <a:ea typeface="Courier New"/>
              <a:cs typeface="Courier New"/>
              <a:sym typeface="Courier New"/>
            </a:endParaRPr>
          </a:p>
        </p:txBody>
      </p:sp>
      <p:sp>
        <p:nvSpPr>
          <p:cNvPr id="325" name="Google Shape;325;p35"/>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326" name="Google Shape;326;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7" name="Google Shape;327;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6"/>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HAVING</a:t>
            </a:r>
            <a:endParaRPr/>
          </a:p>
        </p:txBody>
      </p:sp>
      <p:sp>
        <p:nvSpPr>
          <p:cNvPr id="333" name="Google Shape;333;p36"/>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334" name="Google Shape;334;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5" name="Google Shape;335;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6" name="Google Shape;336;p36"/>
          <p:cNvSpPr txBox="1"/>
          <p:nvPr/>
        </p:nvSpPr>
        <p:spPr>
          <a:xfrm>
            <a:off x="483552" y="1415417"/>
            <a:ext cx="8134984"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Aunque la cláusula HAVING puede preceder a la 	cláusula GROUP BY en una sentencia SELECT, se 	recomienda que coloque cada cláusula en el orden que 	se muestra</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ORDER BY (si se utiliza) es siempre la última</a:t>
            </a:r>
            <a:endParaRPr sz="2800">
              <a:latin typeface="Calibri"/>
              <a:ea typeface="Calibri"/>
              <a:cs typeface="Calibri"/>
              <a:sym typeface="Calibri"/>
            </a:endParaRPr>
          </a:p>
        </p:txBody>
      </p:sp>
      <p:sp>
        <p:nvSpPr>
          <p:cNvPr id="337" name="Google Shape;337;p36"/>
          <p:cNvSpPr txBox="1"/>
          <p:nvPr/>
        </p:nvSpPr>
        <p:spPr>
          <a:xfrm>
            <a:off x="1655064" y="3678935"/>
            <a:ext cx="6174105" cy="1811020"/>
          </a:xfrm>
          <a:prstGeom prst="rect">
            <a:avLst/>
          </a:prstGeom>
          <a:solidFill>
            <a:srgbClr val="9DBDC4">
              <a:alpha val="49804"/>
            </a:srgbClr>
          </a:solidFill>
          <a:ln>
            <a:noFill/>
          </a:ln>
        </p:spPr>
        <p:txBody>
          <a:bodyPr anchorCtr="0" anchor="t" bIns="0" lIns="0" spcFirstLastPara="1" rIns="0" wrap="square" tIns="55225">
            <a:spAutoFit/>
          </a:bodyPr>
          <a:lstStyle/>
          <a:p>
            <a:pPr indent="0" lvl="0" marL="0" marR="22066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column, group_function FROM table</a:t>
            </a:r>
            <a:endParaRPr sz="1800">
              <a:latin typeface="Courier New"/>
              <a:ea typeface="Courier New"/>
              <a:cs typeface="Courier New"/>
              <a:sym typeface="Courier New"/>
            </a:endParaRPr>
          </a:p>
          <a:p>
            <a:pPr indent="0" lvl="0" marL="0" marR="50717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GROUP BY HAVING </a:t>
            </a:r>
            <a:r>
              <a:rPr b="1" lang="en-US" sz="1800">
                <a:solidFill>
                  <a:srgbClr val="D1350F"/>
                </a:solidFill>
                <a:latin typeface="Courier New"/>
                <a:ea typeface="Courier New"/>
                <a:cs typeface="Courier New"/>
                <a:sym typeface="Courier New"/>
              </a:rPr>
              <a:t>ORDER BY</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43" name="Google Shape;343;p37"/>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344" name="Google Shape;344;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5" name="Google Shape;345;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6" name="Google Shape;346;p37"/>
          <p:cNvSpPr txBox="1"/>
          <p:nvPr/>
        </p:nvSpPr>
        <p:spPr>
          <a:xfrm>
            <a:off x="483552" y="1415417"/>
            <a:ext cx="7704455" cy="16002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GROUP BY</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HAVING</a:t>
            </a:r>
            <a:endParaRPr sz="24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8"/>
          <p:cNvSpPr txBox="1"/>
          <p:nvPr>
            <p:ph type="title"/>
          </p:nvPr>
        </p:nvSpPr>
        <p:spPr>
          <a:xfrm>
            <a:off x="392112" y="748031"/>
            <a:ext cx="6247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52" name="Google Shape;352;p38"/>
          <p:cNvSpPr txBox="1"/>
          <p:nvPr/>
        </p:nvSpPr>
        <p:spPr>
          <a:xfrm>
            <a:off x="483552" y="1393401"/>
            <a:ext cx="7600950" cy="232791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SQL utilizando GROUP BY</a:t>
            </a:r>
            <a:endParaRPr sz="2400">
              <a:latin typeface="Calibri"/>
              <a:ea typeface="Calibri"/>
              <a:cs typeface="Calibri"/>
              <a:sym typeface="Calibri"/>
            </a:endParaRPr>
          </a:p>
          <a:p>
            <a:pPr indent="-175260" lvl="0" marL="530860" marR="50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consulta SQL utilizando GROUP BY … HAVING</a:t>
            </a:r>
            <a:endParaRPr sz="2400">
              <a:latin typeface="Calibri"/>
              <a:ea typeface="Calibri"/>
              <a:cs typeface="Calibri"/>
              <a:sym typeface="Calibri"/>
            </a:endParaRPr>
          </a:p>
          <a:p>
            <a:pPr indent="0" lvl="0" marL="355600" rtl="0" algn="l">
              <a:lnSpc>
                <a:spcPct val="100000"/>
              </a:lnSpc>
              <a:spcBef>
                <a:spcPts val="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GROUP BY en más de una columna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Anidar funciones de grupo</a:t>
            </a:r>
            <a:endParaRPr sz="2400">
              <a:latin typeface="Calibri"/>
              <a:ea typeface="Calibri"/>
              <a:cs typeface="Calibri"/>
              <a:sym typeface="Calibri"/>
            </a:endParaRPr>
          </a:p>
        </p:txBody>
      </p:sp>
      <p:grpSp>
        <p:nvGrpSpPr>
          <p:cNvPr id="353" name="Google Shape;353;p38"/>
          <p:cNvGrpSpPr/>
          <p:nvPr/>
        </p:nvGrpSpPr>
        <p:grpSpPr>
          <a:xfrm>
            <a:off x="4379976" y="3997452"/>
            <a:ext cx="4140707" cy="2261615"/>
            <a:chOff x="4379976" y="3997452"/>
            <a:chExt cx="4140707" cy="2261615"/>
          </a:xfrm>
        </p:grpSpPr>
        <p:pic>
          <p:nvPicPr>
            <p:cNvPr id="354" name="Google Shape;354;p38"/>
            <p:cNvPicPr preferRelativeResize="0"/>
            <p:nvPr/>
          </p:nvPicPr>
          <p:blipFill rotWithShape="1">
            <a:blip r:embed="rId3">
              <a:alphaModFix/>
            </a:blip>
            <a:srcRect b="0" l="0" r="0" t="0"/>
            <a:stretch/>
          </p:blipFill>
          <p:spPr>
            <a:xfrm>
              <a:off x="4379976" y="3997452"/>
              <a:ext cx="4140707" cy="2261615"/>
            </a:xfrm>
            <a:prstGeom prst="rect">
              <a:avLst/>
            </a:prstGeom>
            <a:noFill/>
            <a:ln>
              <a:noFill/>
            </a:ln>
          </p:spPr>
        </p:pic>
        <p:pic>
          <p:nvPicPr>
            <p:cNvPr id="355" name="Google Shape;355;p38"/>
            <p:cNvPicPr preferRelativeResize="0"/>
            <p:nvPr/>
          </p:nvPicPr>
          <p:blipFill rotWithShape="1">
            <a:blip r:embed="rId4">
              <a:alphaModFix/>
            </a:blip>
            <a:srcRect b="0" l="0" r="0" t="0"/>
            <a:stretch/>
          </p:blipFill>
          <p:spPr>
            <a:xfrm>
              <a:off x="4572000" y="4189476"/>
              <a:ext cx="3756659" cy="1877567"/>
            </a:xfrm>
            <a:prstGeom prst="rect">
              <a:avLst/>
            </a:prstGeom>
            <a:noFill/>
            <a:ln>
              <a:noFill/>
            </a:ln>
          </p:spPr>
        </p:pic>
      </p:grpSp>
      <p:sp>
        <p:nvSpPr>
          <p:cNvPr id="356" name="Google Shape;356;p38"/>
          <p:cNvSpPr txBox="1"/>
          <p:nvPr>
            <p:ph idx="10" type="dt"/>
          </p:nvPr>
        </p:nvSpPr>
        <p:spPr>
          <a:xfrm>
            <a:off x="2874191" y="6516395"/>
            <a:ext cx="1740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9-1</a:t>
            </a:r>
            <a:endParaRPr/>
          </a:p>
          <a:p>
            <a:pPr indent="0" lvl="0" marL="12700" rtl="0" algn="l">
              <a:lnSpc>
                <a:spcPct val="120624"/>
              </a:lnSpc>
              <a:spcBef>
                <a:spcPts val="0"/>
              </a:spcBef>
              <a:spcAft>
                <a:spcPts val="0"/>
              </a:spcAft>
              <a:buNone/>
            </a:pPr>
            <a:r>
              <a:rPr lang="en-US"/>
              <a:t>Uso de las Cláusulas Group By y Having</a:t>
            </a:r>
            <a:endParaRPr/>
          </a:p>
        </p:txBody>
      </p:sp>
      <p:sp>
        <p:nvSpPr>
          <p:cNvPr id="357" name="Google Shape;357;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8" name="Google Shape;358;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