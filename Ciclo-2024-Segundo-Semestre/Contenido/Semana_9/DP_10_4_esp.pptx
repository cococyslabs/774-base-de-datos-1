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9144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410DC45-376E-45B0-9E37-9477A6F21243}">
  <a:tblStyle styleId="{E410DC45-376E-45B0-9E37-9477A6F2124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2020-08-14 14:01:15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 recupera una fila de la tabla employees.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salario medio de department_id de ese empleado se calcula mediante la subconsulta.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consulta externa compara el salario del empleado con la media de su departamento y, si su salario es mayor que la media de su departamento, se devuelve la fila. A continuación, se recupera la siguiente fila y se repite el proceso.</a:t>
            </a:r>
            <a:endParaRPr/>
          </a:p>
        </p:txBody>
      </p:sp>
      <p:sp>
        <p:nvSpPr>
          <p:cNvPr id="178" name="Google Shape;178;p1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2020-08-14 14:01:15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Las subconsultas correlacionadas se ejecutan de forma completamente diferente a las subconsultas no correlacionadas, en la medida en que están controladas por la consulta externa. Por lo tanto, se ejecuta la consulta externa, se devuelve la primera fila y se ejecuta la consulta interna para ESA fila. </a:t>
            </a:r>
            <a:endParaRPr/>
          </a:p>
        </p:txBody>
      </p:sp>
      <p:sp>
        <p:nvSpPr>
          <p:cNvPr id="189" name="Google Shape;189;p1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2020-08-14 14:01:17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 se puede utilizar con IN, ANY y ALL.</a:t>
            </a:r>
            <a:endParaRPr/>
          </a:p>
        </p:txBody>
      </p:sp>
      <p:sp>
        <p:nvSpPr>
          <p:cNvPr id="242" name="Google Shape;242;p1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92112" y="748031"/>
            <a:ext cx="67629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3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526792" y="3063239"/>
            <a:ext cx="4926300" cy="31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5172119" y="6589648"/>
            <a:ext cx="32232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2874191" y="6516395"/>
            <a:ext cx="13359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14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61" name="Google Shape;61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40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" name="Google Shape;62;p14"/>
            <p:cNvSpPr/>
            <p:nvPr/>
          </p:nvSpPr>
          <p:spPr>
            <a:xfrm>
              <a:off x="560831" y="702563"/>
              <a:ext cx="8022590" cy="5453380"/>
            </a:xfrm>
            <a:custGeom>
              <a:rect b="b" l="l" r="r" t="t"/>
              <a:pathLst>
                <a:path extrusionOk="0" h="5453380" w="8022590">
                  <a:moveTo>
                    <a:pt x="8022335" y="0"/>
                  </a:moveTo>
                  <a:lnTo>
                    <a:pt x="0" y="0"/>
                  </a:lnTo>
                  <a:lnTo>
                    <a:pt x="0" y="5452872"/>
                  </a:lnTo>
                  <a:lnTo>
                    <a:pt x="8022335" y="5452872"/>
                  </a:lnTo>
                  <a:lnTo>
                    <a:pt x="8022335" y="0"/>
                  </a:lnTo>
                  <a:close/>
                </a:path>
              </a:pathLst>
            </a:custGeom>
            <a:solidFill>
              <a:srgbClr val="DFE1E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3" name="Google Shape;63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70787" y="5570219"/>
              <a:ext cx="1258823" cy="420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" name="Google Shape;64;p14"/>
          <p:cNvSpPr txBox="1"/>
          <p:nvPr/>
        </p:nvSpPr>
        <p:spPr>
          <a:xfrm>
            <a:off x="5057819" y="6562597"/>
            <a:ext cx="3223260" cy="155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FCEFD9"/>
                </a:solidFill>
                <a:latin typeface="Calibri"/>
                <a:ea typeface="Calibri"/>
                <a:cs typeface="Calibri"/>
                <a:sym typeface="Calibri"/>
              </a:rPr>
              <a:t>Copyright © 2020, Oracle y/o sus filiales. Todos los derechos reservados.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4"/>
          <p:cNvSpPr txBox="1"/>
          <p:nvPr>
            <p:ph type="title"/>
          </p:nvPr>
        </p:nvSpPr>
        <p:spPr>
          <a:xfrm>
            <a:off x="958315" y="862895"/>
            <a:ext cx="7047900" cy="15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3650">
            <a:spAutoFit/>
          </a:bodyPr>
          <a:lstStyle/>
          <a:p>
            <a:pPr indent="0" lvl="0" marL="12700" marR="5080" rtl="0" algn="l">
              <a:lnSpc>
                <a:spcPct val="96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Database Programming with SQL</a:t>
            </a:r>
            <a:endParaRPr sz="4800"/>
          </a:p>
        </p:txBody>
      </p:sp>
      <p:sp>
        <p:nvSpPr>
          <p:cNvPr id="66" name="Google Shape;66;p14"/>
          <p:cNvSpPr txBox="1"/>
          <p:nvPr/>
        </p:nvSpPr>
        <p:spPr>
          <a:xfrm>
            <a:off x="962879" y="2400950"/>
            <a:ext cx="3791585" cy="888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81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10-4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Subconsultas Correlacionadas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339853" y="3485388"/>
            <a:ext cx="5070345" cy="2965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92112" y="748031"/>
            <a:ext cx="67629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Objetivos</a:t>
            </a:r>
            <a:endParaRPr/>
          </a:p>
        </p:txBody>
      </p:sp>
      <p:sp>
        <p:nvSpPr>
          <p:cNvPr id="73" name="Google Shape;73;p15"/>
          <p:cNvSpPr txBox="1"/>
          <p:nvPr/>
        </p:nvSpPr>
        <p:spPr>
          <a:xfrm>
            <a:off x="483552" y="1393401"/>
            <a:ext cx="8075295" cy="26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35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esta lección se abordan los siguientes objetivos: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Identificar cuándo se necesitan subconsultas correlacionadas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Crear y ejecutar subconsultas correlacionadas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240665" rtl="0" algn="l">
              <a:lnSpc>
                <a:spcPct val="107916"/>
              </a:lnSpc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Crear una consulta con los operadores EXISTS y NOT EXISTS para probar filas devueltas de la subconsulta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813435" rtl="0" algn="l">
              <a:lnSpc>
                <a:spcPct val="107916"/>
              </a:lnSpc>
              <a:spcBef>
                <a:spcPts val="409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Crear y ejecutar subconsultas con nombre mediante la cláusula WITH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4" name="Google Shape;74;p15"/>
          <p:cNvGrpSpPr/>
          <p:nvPr/>
        </p:nvGrpSpPr>
        <p:grpSpPr>
          <a:xfrm>
            <a:off x="5373623" y="3732276"/>
            <a:ext cx="3337559" cy="2638043"/>
            <a:chOff x="5373623" y="3732276"/>
            <a:chExt cx="3337559" cy="2638043"/>
          </a:xfrm>
        </p:grpSpPr>
        <p:pic>
          <p:nvPicPr>
            <p:cNvPr id="75" name="Google Shape;75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373623" y="3732276"/>
              <a:ext cx="3337559" cy="26380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" name="Google Shape;76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565647" y="3924300"/>
              <a:ext cx="2953511" cy="225399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2874191" y="6516395"/>
            <a:ext cx="1335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10-4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Subconsultas Correlacionadas</a:t>
            </a:r>
            <a:endParaRPr/>
          </a:p>
        </p:txBody>
      </p:sp>
      <p:sp>
        <p:nvSpPr>
          <p:cNvPr id="78" name="Google Shape;78;p15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5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92112" y="748031"/>
            <a:ext cx="67629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</a:t>
            </a:r>
            <a:endParaRPr/>
          </a:p>
        </p:txBody>
      </p:sp>
      <p:sp>
        <p:nvSpPr>
          <p:cNvPr id="85" name="Google Shape;85;p16"/>
          <p:cNvSpPr txBox="1"/>
          <p:nvPr>
            <p:ph idx="10" type="dt"/>
          </p:nvPr>
        </p:nvSpPr>
        <p:spPr>
          <a:xfrm>
            <a:off x="2874191" y="6516395"/>
            <a:ext cx="1335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10-4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Subconsultas Correlacionadas</a:t>
            </a:r>
            <a:endParaRPr/>
          </a:p>
        </p:txBody>
      </p:sp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6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88" name="Google Shape;88;p16"/>
          <p:cNvSpPr txBox="1"/>
          <p:nvPr/>
        </p:nvSpPr>
        <p:spPr>
          <a:xfrm>
            <a:off x="483552" y="1381889"/>
            <a:ext cx="7897495" cy="4613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150">
            <a:spAutoFit/>
          </a:bodyPr>
          <a:lstStyle/>
          <a:p>
            <a:pPr indent="-177800" lvl="0" marL="182880" marR="11874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ocasiones, puede que tenga que responder a más 	de una pregunta en una frase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5080" rtl="0" algn="l">
              <a:lnSpc>
                <a:spcPct val="80000"/>
              </a:lnSpc>
              <a:spcBef>
                <a:spcPts val="80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Su amigo puede preguntarle si tiene suficiente dinero 	para una entrada de cine, palomitas y una bebida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92710" rtl="0" algn="l">
              <a:lnSpc>
                <a:spcPct val="80000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Antes de que pueda responder a su amigo, tiene que 	saber los precios de las entradas, las palomitas y la 	bebida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784860" rtl="0" algn="l">
              <a:lnSpc>
                <a:spcPct val="80000"/>
              </a:lnSpc>
              <a:spcBef>
                <a:spcPts val="80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También tiene que ver cuánto dinero tiene en el 	bolsillo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20955" rtl="0" algn="l">
              <a:lnSpc>
                <a:spcPct val="80000"/>
              </a:lnSpc>
              <a:spcBef>
                <a:spcPts val="80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Por lo tanto, en realidad, lo que parecía una pregunta 	fácil, se convierte en cuatro preguntas para las que 	necesita respuestas antes de poder decir "Sí" o "No"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392112" y="748031"/>
            <a:ext cx="67629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</a:t>
            </a:r>
            <a:endParaRPr/>
          </a:p>
        </p:txBody>
      </p:sp>
      <p:sp>
        <p:nvSpPr>
          <p:cNvPr id="94" name="Google Shape;94;p17"/>
          <p:cNvSpPr txBox="1"/>
          <p:nvPr/>
        </p:nvSpPr>
        <p:spPr>
          <a:xfrm>
            <a:off x="483552" y="1415417"/>
            <a:ext cx="8136255" cy="2858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un negocio, puede que le pidan elaborar un informe 	de todos los empleados que ganan más que el salario 	medio de sus departamentos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210820" rtl="0" algn="l">
              <a:lnSpc>
                <a:spcPct val="108214"/>
              </a:lnSpc>
              <a:spcBef>
                <a:spcPts val="78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Por lo tanto, aquí primero tiene que calcular el salario 	medio por departamento y, a continuación, comparar 	el salario de cada empleado con el salario medio del 	departamento de ese empleado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9380" y="4471415"/>
            <a:ext cx="3854195" cy="1883663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 txBox="1"/>
          <p:nvPr>
            <p:ph idx="10" type="dt"/>
          </p:nvPr>
        </p:nvSpPr>
        <p:spPr>
          <a:xfrm>
            <a:off x="2874191" y="6516395"/>
            <a:ext cx="1335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10-4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Subconsultas Correlacionadas</a:t>
            </a:r>
            <a:endParaRPr/>
          </a:p>
        </p:txBody>
      </p:sp>
      <p:sp>
        <p:nvSpPr>
          <p:cNvPr id="97" name="Google Shape;97;p17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7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392112" y="748031"/>
            <a:ext cx="67629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Subconsultas Correlacionadas</a:t>
            </a:r>
            <a:endParaRPr/>
          </a:p>
        </p:txBody>
      </p:sp>
      <p:sp>
        <p:nvSpPr>
          <p:cNvPr id="104" name="Google Shape;104;p18"/>
          <p:cNvSpPr txBox="1"/>
          <p:nvPr/>
        </p:nvSpPr>
        <p:spPr>
          <a:xfrm>
            <a:off x="483552" y="1415417"/>
            <a:ext cx="8178165" cy="1604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El servidor de Oracle realiza una subconsulta 	correlacionada cuando la subconsulta hace referencia a 	una columna de una tabla a la que se hace referencia 	en la sentencia principal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5" name="Google Shape;105;p18"/>
          <p:cNvGrpSpPr/>
          <p:nvPr/>
        </p:nvGrpSpPr>
        <p:grpSpPr>
          <a:xfrm>
            <a:off x="1738887" y="3038093"/>
            <a:ext cx="5651878" cy="2677414"/>
            <a:chOff x="1738887" y="3038093"/>
            <a:chExt cx="5651878" cy="2677414"/>
          </a:xfrm>
        </p:grpSpPr>
        <p:sp>
          <p:nvSpPr>
            <p:cNvPr id="106" name="Google Shape;106;p18"/>
            <p:cNvSpPr/>
            <p:nvPr/>
          </p:nvSpPr>
          <p:spPr>
            <a:xfrm>
              <a:off x="1738887" y="3386327"/>
              <a:ext cx="854710" cy="2329180"/>
            </a:xfrm>
            <a:custGeom>
              <a:rect b="b" l="l" r="r" t="t"/>
              <a:pathLst>
                <a:path extrusionOk="0" h="2329179" w="854710">
                  <a:moveTo>
                    <a:pt x="854684" y="2328608"/>
                  </a:moveTo>
                  <a:lnTo>
                    <a:pt x="0" y="2328608"/>
                  </a:lnTo>
                  <a:lnTo>
                    <a:pt x="0" y="0"/>
                  </a:lnTo>
                  <a:lnTo>
                    <a:pt x="692238" y="0"/>
                  </a:lnTo>
                </a:path>
              </a:pathLst>
            </a:custGeom>
            <a:noFill/>
            <a:ln cap="flat" cmpd="sng" w="57900">
              <a:solidFill>
                <a:srgbClr val="D1350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8"/>
            <p:cNvSpPr/>
            <p:nvPr/>
          </p:nvSpPr>
          <p:spPr>
            <a:xfrm>
              <a:off x="2402178" y="3328410"/>
              <a:ext cx="116205" cy="116205"/>
            </a:xfrm>
            <a:custGeom>
              <a:rect b="b" l="l" r="r" t="t"/>
              <a:pathLst>
                <a:path extrusionOk="0" h="116204" w="116205">
                  <a:moveTo>
                    <a:pt x="0" y="0"/>
                  </a:moveTo>
                  <a:lnTo>
                    <a:pt x="0" y="115823"/>
                  </a:lnTo>
                  <a:lnTo>
                    <a:pt x="115823" y="579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135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8"/>
            <p:cNvSpPr/>
            <p:nvPr/>
          </p:nvSpPr>
          <p:spPr>
            <a:xfrm>
              <a:off x="2556510" y="3038093"/>
              <a:ext cx="4834255" cy="688975"/>
            </a:xfrm>
            <a:custGeom>
              <a:rect b="b" l="l" r="r" t="t"/>
              <a:pathLst>
                <a:path extrusionOk="0" h="688975" w="4834255">
                  <a:moveTo>
                    <a:pt x="0" y="0"/>
                  </a:moveTo>
                  <a:lnTo>
                    <a:pt x="4834128" y="0"/>
                  </a:lnTo>
                  <a:lnTo>
                    <a:pt x="4834128" y="688848"/>
                  </a:lnTo>
                  <a:lnTo>
                    <a:pt x="0" y="68884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900">
              <a:solidFill>
                <a:srgbClr val="DFE1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" name="Google Shape;109;p18"/>
          <p:cNvGrpSpPr/>
          <p:nvPr/>
        </p:nvGrpSpPr>
        <p:grpSpPr>
          <a:xfrm>
            <a:off x="2570988" y="3069335"/>
            <a:ext cx="4834255" cy="1082419"/>
            <a:chOff x="2570988" y="3069335"/>
            <a:chExt cx="4834255" cy="1082419"/>
          </a:xfrm>
        </p:grpSpPr>
        <p:sp>
          <p:nvSpPr>
            <p:cNvPr id="110" name="Google Shape;110;p18"/>
            <p:cNvSpPr/>
            <p:nvPr/>
          </p:nvSpPr>
          <p:spPr>
            <a:xfrm>
              <a:off x="2570988" y="3069335"/>
              <a:ext cx="4834255" cy="646430"/>
            </a:xfrm>
            <a:custGeom>
              <a:rect b="b" l="l" r="r" t="t"/>
              <a:pathLst>
                <a:path extrusionOk="0" h="646429" w="4834255">
                  <a:moveTo>
                    <a:pt x="4834127" y="0"/>
                  </a:moveTo>
                  <a:lnTo>
                    <a:pt x="0" y="0"/>
                  </a:lnTo>
                  <a:lnTo>
                    <a:pt x="0" y="646176"/>
                  </a:lnTo>
                  <a:lnTo>
                    <a:pt x="4834127" y="646176"/>
                  </a:lnTo>
                  <a:lnTo>
                    <a:pt x="4834127" y="0"/>
                  </a:lnTo>
                  <a:close/>
                </a:path>
              </a:pathLst>
            </a:custGeom>
            <a:solidFill>
              <a:srgbClr val="D135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8"/>
            <p:cNvSpPr/>
            <p:nvPr/>
          </p:nvSpPr>
          <p:spPr>
            <a:xfrm>
              <a:off x="4914900" y="3732275"/>
              <a:ext cx="0" cy="332740"/>
            </a:xfrm>
            <a:custGeom>
              <a:rect b="b" l="l" r="r" t="t"/>
              <a:pathLst>
                <a:path extrusionOk="0" h="332739" w="120000">
                  <a:moveTo>
                    <a:pt x="0" y="332231"/>
                  </a:moveTo>
                  <a:lnTo>
                    <a:pt x="0" y="0"/>
                  </a:lnTo>
                </a:path>
              </a:pathLst>
            </a:custGeom>
            <a:noFill/>
            <a:ln cap="flat" cmpd="sng" w="57900">
              <a:solidFill>
                <a:srgbClr val="D1350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8"/>
            <p:cNvSpPr/>
            <p:nvPr/>
          </p:nvSpPr>
          <p:spPr>
            <a:xfrm>
              <a:off x="4856993" y="4035549"/>
              <a:ext cx="116205" cy="116205"/>
            </a:xfrm>
            <a:custGeom>
              <a:rect b="b" l="l" r="r" t="t"/>
              <a:pathLst>
                <a:path extrusionOk="0" h="116204" w="116204">
                  <a:moveTo>
                    <a:pt x="115823" y="0"/>
                  </a:moveTo>
                  <a:lnTo>
                    <a:pt x="0" y="0"/>
                  </a:lnTo>
                  <a:lnTo>
                    <a:pt x="57912" y="115823"/>
                  </a:lnTo>
                  <a:lnTo>
                    <a:pt x="115823" y="0"/>
                  </a:lnTo>
                  <a:close/>
                </a:path>
              </a:pathLst>
            </a:custGeom>
            <a:solidFill>
              <a:srgbClr val="D135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" name="Google Shape;113;p18"/>
          <p:cNvGrpSpPr/>
          <p:nvPr/>
        </p:nvGrpSpPr>
        <p:grpSpPr>
          <a:xfrm>
            <a:off x="2570988" y="4216907"/>
            <a:ext cx="4848225" cy="1961514"/>
            <a:chOff x="2570988" y="4216907"/>
            <a:chExt cx="4848225" cy="1961514"/>
          </a:xfrm>
        </p:grpSpPr>
        <p:sp>
          <p:nvSpPr>
            <p:cNvPr id="114" name="Google Shape;114;p18"/>
            <p:cNvSpPr/>
            <p:nvPr/>
          </p:nvSpPr>
          <p:spPr>
            <a:xfrm>
              <a:off x="4901183" y="4808220"/>
              <a:ext cx="0" cy="332740"/>
            </a:xfrm>
            <a:custGeom>
              <a:rect b="b" l="l" r="r" t="t"/>
              <a:pathLst>
                <a:path extrusionOk="0" h="332739" w="120000">
                  <a:moveTo>
                    <a:pt x="0" y="332231"/>
                  </a:moveTo>
                  <a:lnTo>
                    <a:pt x="0" y="0"/>
                  </a:lnTo>
                </a:path>
              </a:pathLst>
            </a:custGeom>
            <a:noFill/>
            <a:ln cap="flat" cmpd="sng" w="57900">
              <a:solidFill>
                <a:srgbClr val="D1350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8"/>
            <p:cNvSpPr/>
            <p:nvPr/>
          </p:nvSpPr>
          <p:spPr>
            <a:xfrm>
              <a:off x="4843277" y="5111493"/>
              <a:ext cx="116205" cy="116205"/>
            </a:xfrm>
            <a:custGeom>
              <a:rect b="b" l="l" r="r" t="t"/>
              <a:pathLst>
                <a:path extrusionOk="0" h="116204" w="116204">
                  <a:moveTo>
                    <a:pt x="115823" y="0"/>
                  </a:moveTo>
                  <a:lnTo>
                    <a:pt x="0" y="0"/>
                  </a:lnTo>
                  <a:lnTo>
                    <a:pt x="57912" y="115823"/>
                  </a:lnTo>
                  <a:lnTo>
                    <a:pt x="115823" y="0"/>
                  </a:lnTo>
                  <a:close/>
                </a:path>
              </a:pathLst>
            </a:custGeom>
            <a:solidFill>
              <a:srgbClr val="D135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8"/>
            <p:cNvSpPr/>
            <p:nvPr/>
          </p:nvSpPr>
          <p:spPr>
            <a:xfrm>
              <a:off x="2570988" y="4216907"/>
              <a:ext cx="4848225" cy="1961514"/>
            </a:xfrm>
            <a:custGeom>
              <a:rect b="b" l="l" r="r" t="t"/>
              <a:pathLst>
                <a:path extrusionOk="0" h="1961514" w="4848225">
                  <a:moveTo>
                    <a:pt x="4834115" y="0"/>
                  </a:moveTo>
                  <a:lnTo>
                    <a:pt x="0" y="0"/>
                  </a:lnTo>
                  <a:lnTo>
                    <a:pt x="0" y="646176"/>
                  </a:lnTo>
                  <a:lnTo>
                    <a:pt x="4834115" y="646176"/>
                  </a:lnTo>
                  <a:lnTo>
                    <a:pt x="4834115" y="0"/>
                  </a:lnTo>
                  <a:close/>
                </a:path>
                <a:path extrusionOk="0" h="1961514" w="4848225">
                  <a:moveTo>
                    <a:pt x="4847844" y="1037844"/>
                  </a:moveTo>
                  <a:lnTo>
                    <a:pt x="13716" y="1037844"/>
                  </a:lnTo>
                  <a:lnTo>
                    <a:pt x="13716" y="1961400"/>
                  </a:lnTo>
                  <a:lnTo>
                    <a:pt x="4847844" y="1961400"/>
                  </a:lnTo>
                  <a:lnTo>
                    <a:pt x="4847844" y="1037844"/>
                  </a:lnTo>
                  <a:close/>
                </a:path>
              </a:pathLst>
            </a:custGeom>
            <a:solidFill>
              <a:srgbClr val="D135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aphicFrame>
        <p:nvGraphicFramePr>
          <p:cNvPr id="117" name="Google Shape;117;p18"/>
          <p:cNvGraphicFramePr/>
          <p:nvPr/>
        </p:nvGraphicFramePr>
        <p:xfrm>
          <a:off x="2564892" y="30632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{E410DC45-376E-45B0-9E37-9477A6F21243}</a:tableStyleId>
              </a:tblPr>
              <a:tblGrid>
                <a:gridCol w="4838075"/>
              </a:tblGrid>
              <a:tr h="645800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GET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fila candidata de la consulta externa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9850" marB="0" marR="0" marL="0">
                    <a:lnL cap="flat" cmpd="sng" w="12700">
                      <a:solidFill>
                        <a:srgbClr val="99230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230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230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230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350F"/>
                    </a:solidFill>
                  </a:tcPr>
                </a:tc>
              </a:tr>
              <a:tr h="501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T cap="flat" cmpd="sng" w="12700">
                      <a:solidFill>
                        <a:srgbClr val="99230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230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5800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EXECUTE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consulta interna con el valor de la fila candidata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9850" marB="0" marR="0" marL="0">
                    <a:lnL cap="flat" cmpd="sng" w="12700">
                      <a:solidFill>
                        <a:srgbClr val="99230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230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230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230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350F"/>
                    </a:solidFill>
                  </a:tcPr>
                </a:tc>
              </a:tr>
              <a:tr h="391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T cap="flat" cmpd="sng" w="12700">
                      <a:solidFill>
                        <a:srgbClr val="99230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230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3300">
                <a:tc>
                  <a:txBody>
                    <a:bodyPr/>
                    <a:lstStyle/>
                    <a:p>
                      <a:pPr indent="0" lvl="0" marL="1054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105410" marR="476884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valores de la consulta interna para cualificar o anular la cualificación de la fila candidata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99230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230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230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230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350F"/>
                    </a:solidFill>
                  </a:tcPr>
                </a:tc>
              </a:tr>
            </a:tbl>
          </a:graphicData>
        </a:graphic>
      </p:graphicFrame>
      <p:sp>
        <p:nvSpPr>
          <p:cNvPr id="118" name="Google Shape;118;p18"/>
          <p:cNvSpPr txBox="1"/>
          <p:nvPr>
            <p:ph idx="10" type="dt"/>
          </p:nvPr>
        </p:nvSpPr>
        <p:spPr>
          <a:xfrm>
            <a:off x="2874191" y="6516395"/>
            <a:ext cx="1335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10-4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Subconsultas Correlacionadas</a:t>
            </a:r>
            <a:endParaRPr/>
          </a:p>
        </p:txBody>
      </p:sp>
      <p:sp>
        <p:nvSpPr>
          <p:cNvPr id="119" name="Google Shape;119;p18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8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392112" y="748031"/>
            <a:ext cx="67629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Subconsultas Correlacionadas</a:t>
            </a:r>
            <a:endParaRPr/>
          </a:p>
        </p:txBody>
      </p:sp>
      <p:sp>
        <p:nvSpPr>
          <p:cNvPr id="126" name="Google Shape;126;p19"/>
          <p:cNvSpPr txBox="1"/>
          <p:nvPr/>
        </p:nvSpPr>
        <p:spPr>
          <a:xfrm>
            <a:off x="483552" y="1415417"/>
            <a:ext cx="8128634" cy="836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Una subconsulta correlacionada se evalúa una vez para 	cada fila procesada por la sentencia principal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7" name="Google Shape;127;p19"/>
          <p:cNvGrpSpPr/>
          <p:nvPr/>
        </p:nvGrpSpPr>
        <p:grpSpPr>
          <a:xfrm>
            <a:off x="1738887" y="3038093"/>
            <a:ext cx="5651878" cy="2677414"/>
            <a:chOff x="1738887" y="3038093"/>
            <a:chExt cx="5651878" cy="2677414"/>
          </a:xfrm>
        </p:grpSpPr>
        <p:sp>
          <p:nvSpPr>
            <p:cNvPr id="128" name="Google Shape;128;p19"/>
            <p:cNvSpPr/>
            <p:nvPr/>
          </p:nvSpPr>
          <p:spPr>
            <a:xfrm>
              <a:off x="1738887" y="3386327"/>
              <a:ext cx="854710" cy="2329180"/>
            </a:xfrm>
            <a:custGeom>
              <a:rect b="b" l="l" r="r" t="t"/>
              <a:pathLst>
                <a:path extrusionOk="0" h="2329179" w="854710">
                  <a:moveTo>
                    <a:pt x="854684" y="2328608"/>
                  </a:moveTo>
                  <a:lnTo>
                    <a:pt x="0" y="2328608"/>
                  </a:lnTo>
                  <a:lnTo>
                    <a:pt x="0" y="0"/>
                  </a:lnTo>
                  <a:lnTo>
                    <a:pt x="692238" y="0"/>
                  </a:lnTo>
                </a:path>
              </a:pathLst>
            </a:custGeom>
            <a:noFill/>
            <a:ln cap="flat" cmpd="sng" w="57900">
              <a:solidFill>
                <a:srgbClr val="D1350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9"/>
            <p:cNvSpPr/>
            <p:nvPr/>
          </p:nvSpPr>
          <p:spPr>
            <a:xfrm>
              <a:off x="2402178" y="3328410"/>
              <a:ext cx="116205" cy="116205"/>
            </a:xfrm>
            <a:custGeom>
              <a:rect b="b" l="l" r="r" t="t"/>
              <a:pathLst>
                <a:path extrusionOk="0" h="116204" w="116205">
                  <a:moveTo>
                    <a:pt x="0" y="0"/>
                  </a:moveTo>
                  <a:lnTo>
                    <a:pt x="0" y="115823"/>
                  </a:lnTo>
                  <a:lnTo>
                    <a:pt x="115823" y="579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135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9"/>
            <p:cNvSpPr/>
            <p:nvPr/>
          </p:nvSpPr>
          <p:spPr>
            <a:xfrm>
              <a:off x="2556510" y="3038093"/>
              <a:ext cx="4834255" cy="688975"/>
            </a:xfrm>
            <a:custGeom>
              <a:rect b="b" l="l" r="r" t="t"/>
              <a:pathLst>
                <a:path extrusionOk="0" h="688975" w="4834255">
                  <a:moveTo>
                    <a:pt x="0" y="0"/>
                  </a:moveTo>
                  <a:lnTo>
                    <a:pt x="4834128" y="0"/>
                  </a:lnTo>
                  <a:lnTo>
                    <a:pt x="4834128" y="688848"/>
                  </a:lnTo>
                  <a:lnTo>
                    <a:pt x="0" y="68884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900">
              <a:solidFill>
                <a:srgbClr val="DFE1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1" name="Google Shape;131;p19"/>
          <p:cNvGrpSpPr/>
          <p:nvPr/>
        </p:nvGrpSpPr>
        <p:grpSpPr>
          <a:xfrm>
            <a:off x="2570988" y="3069335"/>
            <a:ext cx="4834255" cy="1082419"/>
            <a:chOff x="2570988" y="3069335"/>
            <a:chExt cx="4834255" cy="1082419"/>
          </a:xfrm>
        </p:grpSpPr>
        <p:sp>
          <p:nvSpPr>
            <p:cNvPr id="132" name="Google Shape;132;p19"/>
            <p:cNvSpPr/>
            <p:nvPr/>
          </p:nvSpPr>
          <p:spPr>
            <a:xfrm>
              <a:off x="2570988" y="3069335"/>
              <a:ext cx="4834255" cy="646430"/>
            </a:xfrm>
            <a:custGeom>
              <a:rect b="b" l="l" r="r" t="t"/>
              <a:pathLst>
                <a:path extrusionOk="0" h="646429" w="4834255">
                  <a:moveTo>
                    <a:pt x="4834127" y="0"/>
                  </a:moveTo>
                  <a:lnTo>
                    <a:pt x="0" y="0"/>
                  </a:lnTo>
                  <a:lnTo>
                    <a:pt x="0" y="646176"/>
                  </a:lnTo>
                  <a:lnTo>
                    <a:pt x="4834127" y="646176"/>
                  </a:lnTo>
                  <a:lnTo>
                    <a:pt x="4834127" y="0"/>
                  </a:lnTo>
                  <a:close/>
                </a:path>
              </a:pathLst>
            </a:custGeom>
            <a:solidFill>
              <a:srgbClr val="D135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9"/>
            <p:cNvSpPr/>
            <p:nvPr/>
          </p:nvSpPr>
          <p:spPr>
            <a:xfrm>
              <a:off x="4914900" y="3732275"/>
              <a:ext cx="0" cy="332740"/>
            </a:xfrm>
            <a:custGeom>
              <a:rect b="b" l="l" r="r" t="t"/>
              <a:pathLst>
                <a:path extrusionOk="0" h="332739" w="120000">
                  <a:moveTo>
                    <a:pt x="0" y="332231"/>
                  </a:moveTo>
                  <a:lnTo>
                    <a:pt x="0" y="0"/>
                  </a:lnTo>
                </a:path>
              </a:pathLst>
            </a:custGeom>
            <a:noFill/>
            <a:ln cap="flat" cmpd="sng" w="57900">
              <a:solidFill>
                <a:srgbClr val="D1350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9"/>
            <p:cNvSpPr/>
            <p:nvPr/>
          </p:nvSpPr>
          <p:spPr>
            <a:xfrm>
              <a:off x="4856993" y="4035549"/>
              <a:ext cx="116205" cy="116205"/>
            </a:xfrm>
            <a:custGeom>
              <a:rect b="b" l="l" r="r" t="t"/>
              <a:pathLst>
                <a:path extrusionOk="0" h="116204" w="116204">
                  <a:moveTo>
                    <a:pt x="115823" y="0"/>
                  </a:moveTo>
                  <a:lnTo>
                    <a:pt x="0" y="0"/>
                  </a:lnTo>
                  <a:lnTo>
                    <a:pt x="57912" y="115823"/>
                  </a:lnTo>
                  <a:lnTo>
                    <a:pt x="115823" y="0"/>
                  </a:lnTo>
                  <a:close/>
                </a:path>
              </a:pathLst>
            </a:custGeom>
            <a:solidFill>
              <a:srgbClr val="D135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" name="Google Shape;135;p19"/>
          <p:cNvGrpSpPr/>
          <p:nvPr/>
        </p:nvGrpSpPr>
        <p:grpSpPr>
          <a:xfrm>
            <a:off x="2570988" y="4216907"/>
            <a:ext cx="4848225" cy="1961514"/>
            <a:chOff x="2570988" y="4216907"/>
            <a:chExt cx="4848225" cy="1961514"/>
          </a:xfrm>
        </p:grpSpPr>
        <p:sp>
          <p:nvSpPr>
            <p:cNvPr id="136" name="Google Shape;136;p19"/>
            <p:cNvSpPr/>
            <p:nvPr/>
          </p:nvSpPr>
          <p:spPr>
            <a:xfrm>
              <a:off x="4901183" y="4808220"/>
              <a:ext cx="0" cy="332740"/>
            </a:xfrm>
            <a:custGeom>
              <a:rect b="b" l="l" r="r" t="t"/>
              <a:pathLst>
                <a:path extrusionOk="0" h="332739" w="120000">
                  <a:moveTo>
                    <a:pt x="0" y="332231"/>
                  </a:moveTo>
                  <a:lnTo>
                    <a:pt x="0" y="0"/>
                  </a:lnTo>
                </a:path>
              </a:pathLst>
            </a:custGeom>
            <a:noFill/>
            <a:ln cap="flat" cmpd="sng" w="57900">
              <a:solidFill>
                <a:srgbClr val="D1350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4843277" y="5111493"/>
              <a:ext cx="116205" cy="116205"/>
            </a:xfrm>
            <a:custGeom>
              <a:rect b="b" l="l" r="r" t="t"/>
              <a:pathLst>
                <a:path extrusionOk="0" h="116204" w="116204">
                  <a:moveTo>
                    <a:pt x="115823" y="0"/>
                  </a:moveTo>
                  <a:lnTo>
                    <a:pt x="0" y="0"/>
                  </a:lnTo>
                  <a:lnTo>
                    <a:pt x="57912" y="115823"/>
                  </a:lnTo>
                  <a:lnTo>
                    <a:pt x="115823" y="0"/>
                  </a:lnTo>
                  <a:close/>
                </a:path>
              </a:pathLst>
            </a:custGeom>
            <a:solidFill>
              <a:srgbClr val="D135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2570988" y="4216907"/>
              <a:ext cx="4848225" cy="1961514"/>
            </a:xfrm>
            <a:custGeom>
              <a:rect b="b" l="l" r="r" t="t"/>
              <a:pathLst>
                <a:path extrusionOk="0" h="1961514" w="4848225">
                  <a:moveTo>
                    <a:pt x="4834115" y="0"/>
                  </a:moveTo>
                  <a:lnTo>
                    <a:pt x="0" y="0"/>
                  </a:lnTo>
                  <a:lnTo>
                    <a:pt x="0" y="646176"/>
                  </a:lnTo>
                  <a:lnTo>
                    <a:pt x="4834115" y="646176"/>
                  </a:lnTo>
                  <a:lnTo>
                    <a:pt x="4834115" y="0"/>
                  </a:lnTo>
                  <a:close/>
                </a:path>
                <a:path extrusionOk="0" h="1961514" w="4848225">
                  <a:moveTo>
                    <a:pt x="4847844" y="1037844"/>
                  </a:moveTo>
                  <a:lnTo>
                    <a:pt x="13716" y="1037844"/>
                  </a:lnTo>
                  <a:lnTo>
                    <a:pt x="13716" y="1961400"/>
                  </a:lnTo>
                  <a:lnTo>
                    <a:pt x="4847844" y="1961400"/>
                  </a:lnTo>
                  <a:lnTo>
                    <a:pt x="4847844" y="1037844"/>
                  </a:lnTo>
                  <a:close/>
                </a:path>
              </a:pathLst>
            </a:custGeom>
            <a:solidFill>
              <a:srgbClr val="D135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aphicFrame>
        <p:nvGraphicFramePr>
          <p:cNvPr id="139" name="Google Shape;139;p19"/>
          <p:cNvGraphicFramePr/>
          <p:nvPr/>
        </p:nvGraphicFramePr>
        <p:xfrm>
          <a:off x="2564892" y="30632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{E410DC45-376E-45B0-9E37-9477A6F21243}</a:tableStyleId>
              </a:tblPr>
              <a:tblGrid>
                <a:gridCol w="4838075"/>
              </a:tblGrid>
              <a:tr h="645800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GET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fila candidata de la consulta externa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9850" marB="0" marR="0" marL="0">
                    <a:lnL cap="flat" cmpd="sng" w="12700">
                      <a:solidFill>
                        <a:srgbClr val="99230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230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230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230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350F"/>
                    </a:solidFill>
                  </a:tcPr>
                </a:tc>
              </a:tr>
              <a:tr h="501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T cap="flat" cmpd="sng" w="12700">
                      <a:solidFill>
                        <a:srgbClr val="99230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230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5800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EXECUTE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consulta interna con el valor de la fila candidata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9850" marB="0" marR="0" marL="0">
                    <a:lnL cap="flat" cmpd="sng" w="12700">
                      <a:solidFill>
                        <a:srgbClr val="99230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230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230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230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350F"/>
                    </a:solidFill>
                  </a:tcPr>
                </a:tc>
              </a:tr>
              <a:tr h="391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T cap="flat" cmpd="sng" w="12700">
                      <a:solidFill>
                        <a:srgbClr val="99230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230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3300">
                <a:tc>
                  <a:txBody>
                    <a:bodyPr/>
                    <a:lstStyle/>
                    <a:p>
                      <a:pPr indent="0" lvl="0" marL="1054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105410" marR="476884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valores de la consulta interna para cualificar o anular la cualificación de la fila candidata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99230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230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230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230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350F"/>
                    </a:solidFill>
                  </a:tcPr>
                </a:tc>
              </a:tr>
            </a:tbl>
          </a:graphicData>
        </a:graphic>
      </p:graphicFrame>
      <p:sp>
        <p:nvSpPr>
          <p:cNvPr id="140" name="Google Shape;140;p19"/>
          <p:cNvSpPr txBox="1"/>
          <p:nvPr>
            <p:ph idx="10" type="dt"/>
          </p:nvPr>
        </p:nvSpPr>
        <p:spPr>
          <a:xfrm>
            <a:off x="2874191" y="6516395"/>
            <a:ext cx="1335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10-4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Subconsultas Correlacionadas</a:t>
            </a:r>
            <a:endParaRPr/>
          </a:p>
        </p:txBody>
      </p:sp>
      <p:sp>
        <p:nvSpPr>
          <p:cNvPr id="141" name="Google Shape;141;p19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9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/>
          <p:nvPr>
            <p:ph type="title"/>
          </p:nvPr>
        </p:nvSpPr>
        <p:spPr>
          <a:xfrm>
            <a:off x="392112" y="748031"/>
            <a:ext cx="67629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Subconsultas Correlacionadas</a:t>
            </a:r>
            <a:endParaRPr/>
          </a:p>
        </p:txBody>
      </p:sp>
      <p:sp>
        <p:nvSpPr>
          <p:cNvPr id="148" name="Google Shape;148;p20"/>
          <p:cNvSpPr txBox="1"/>
          <p:nvPr/>
        </p:nvSpPr>
        <p:spPr>
          <a:xfrm>
            <a:off x="483552" y="1415417"/>
            <a:ext cx="8063230" cy="836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sentencia principal puede ser una sentencia SELECT, 	UPDATE o DELETE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9" name="Google Shape;149;p20"/>
          <p:cNvGrpSpPr/>
          <p:nvPr/>
        </p:nvGrpSpPr>
        <p:grpSpPr>
          <a:xfrm>
            <a:off x="1738887" y="3038093"/>
            <a:ext cx="5651878" cy="2677414"/>
            <a:chOff x="1738887" y="3038093"/>
            <a:chExt cx="5651878" cy="2677414"/>
          </a:xfrm>
        </p:grpSpPr>
        <p:sp>
          <p:nvSpPr>
            <p:cNvPr id="150" name="Google Shape;150;p20"/>
            <p:cNvSpPr/>
            <p:nvPr/>
          </p:nvSpPr>
          <p:spPr>
            <a:xfrm>
              <a:off x="1738887" y="3386327"/>
              <a:ext cx="854710" cy="2329180"/>
            </a:xfrm>
            <a:custGeom>
              <a:rect b="b" l="l" r="r" t="t"/>
              <a:pathLst>
                <a:path extrusionOk="0" h="2329179" w="854710">
                  <a:moveTo>
                    <a:pt x="854684" y="2328608"/>
                  </a:moveTo>
                  <a:lnTo>
                    <a:pt x="0" y="2328608"/>
                  </a:lnTo>
                  <a:lnTo>
                    <a:pt x="0" y="0"/>
                  </a:lnTo>
                  <a:lnTo>
                    <a:pt x="692238" y="0"/>
                  </a:lnTo>
                </a:path>
              </a:pathLst>
            </a:custGeom>
            <a:noFill/>
            <a:ln cap="flat" cmpd="sng" w="57900">
              <a:solidFill>
                <a:srgbClr val="D1350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0"/>
            <p:cNvSpPr/>
            <p:nvPr/>
          </p:nvSpPr>
          <p:spPr>
            <a:xfrm>
              <a:off x="2402178" y="3328410"/>
              <a:ext cx="116205" cy="116205"/>
            </a:xfrm>
            <a:custGeom>
              <a:rect b="b" l="l" r="r" t="t"/>
              <a:pathLst>
                <a:path extrusionOk="0" h="116204" w="116205">
                  <a:moveTo>
                    <a:pt x="0" y="0"/>
                  </a:moveTo>
                  <a:lnTo>
                    <a:pt x="0" y="115823"/>
                  </a:lnTo>
                  <a:lnTo>
                    <a:pt x="115823" y="579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135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20"/>
            <p:cNvSpPr/>
            <p:nvPr/>
          </p:nvSpPr>
          <p:spPr>
            <a:xfrm>
              <a:off x="2556510" y="3038093"/>
              <a:ext cx="4834255" cy="688975"/>
            </a:xfrm>
            <a:custGeom>
              <a:rect b="b" l="l" r="r" t="t"/>
              <a:pathLst>
                <a:path extrusionOk="0" h="688975" w="4834255">
                  <a:moveTo>
                    <a:pt x="0" y="0"/>
                  </a:moveTo>
                  <a:lnTo>
                    <a:pt x="4834128" y="0"/>
                  </a:lnTo>
                  <a:lnTo>
                    <a:pt x="4834128" y="688848"/>
                  </a:lnTo>
                  <a:lnTo>
                    <a:pt x="0" y="68884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900">
              <a:solidFill>
                <a:srgbClr val="DFE1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3" name="Google Shape;153;p20"/>
          <p:cNvGrpSpPr/>
          <p:nvPr/>
        </p:nvGrpSpPr>
        <p:grpSpPr>
          <a:xfrm>
            <a:off x="2570988" y="3069335"/>
            <a:ext cx="4834255" cy="1082419"/>
            <a:chOff x="2570988" y="3069335"/>
            <a:chExt cx="4834255" cy="1082419"/>
          </a:xfrm>
        </p:grpSpPr>
        <p:sp>
          <p:nvSpPr>
            <p:cNvPr id="154" name="Google Shape;154;p20"/>
            <p:cNvSpPr/>
            <p:nvPr/>
          </p:nvSpPr>
          <p:spPr>
            <a:xfrm>
              <a:off x="2570988" y="3069335"/>
              <a:ext cx="4834255" cy="646430"/>
            </a:xfrm>
            <a:custGeom>
              <a:rect b="b" l="l" r="r" t="t"/>
              <a:pathLst>
                <a:path extrusionOk="0" h="646429" w="4834255">
                  <a:moveTo>
                    <a:pt x="4834127" y="0"/>
                  </a:moveTo>
                  <a:lnTo>
                    <a:pt x="0" y="0"/>
                  </a:lnTo>
                  <a:lnTo>
                    <a:pt x="0" y="646176"/>
                  </a:lnTo>
                  <a:lnTo>
                    <a:pt x="4834127" y="646176"/>
                  </a:lnTo>
                  <a:lnTo>
                    <a:pt x="4834127" y="0"/>
                  </a:lnTo>
                  <a:close/>
                </a:path>
              </a:pathLst>
            </a:custGeom>
            <a:solidFill>
              <a:srgbClr val="D135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0"/>
            <p:cNvSpPr/>
            <p:nvPr/>
          </p:nvSpPr>
          <p:spPr>
            <a:xfrm>
              <a:off x="4914900" y="3732275"/>
              <a:ext cx="0" cy="332740"/>
            </a:xfrm>
            <a:custGeom>
              <a:rect b="b" l="l" r="r" t="t"/>
              <a:pathLst>
                <a:path extrusionOk="0" h="332739" w="120000">
                  <a:moveTo>
                    <a:pt x="0" y="332231"/>
                  </a:moveTo>
                  <a:lnTo>
                    <a:pt x="0" y="0"/>
                  </a:lnTo>
                </a:path>
              </a:pathLst>
            </a:custGeom>
            <a:noFill/>
            <a:ln cap="flat" cmpd="sng" w="57900">
              <a:solidFill>
                <a:srgbClr val="D1350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20"/>
            <p:cNvSpPr/>
            <p:nvPr/>
          </p:nvSpPr>
          <p:spPr>
            <a:xfrm>
              <a:off x="4856993" y="4035549"/>
              <a:ext cx="116205" cy="116205"/>
            </a:xfrm>
            <a:custGeom>
              <a:rect b="b" l="l" r="r" t="t"/>
              <a:pathLst>
                <a:path extrusionOk="0" h="116204" w="116204">
                  <a:moveTo>
                    <a:pt x="115823" y="0"/>
                  </a:moveTo>
                  <a:lnTo>
                    <a:pt x="0" y="0"/>
                  </a:lnTo>
                  <a:lnTo>
                    <a:pt x="57912" y="115823"/>
                  </a:lnTo>
                  <a:lnTo>
                    <a:pt x="115823" y="0"/>
                  </a:lnTo>
                  <a:close/>
                </a:path>
              </a:pathLst>
            </a:custGeom>
            <a:solidFill>
              <a:srgbClr val="D135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7" name="Google Shape;157;p20"/>
          <p:cNvGrpSpPr/>
          <p:nvPr/>
        </p:nvGrpSpPr>
        <p:grpSpPr>
          <a:xfrm>
            <a:off x="2570988" y="4216907"/>
            <a:ext cx="4848225" cy="1961514"/>
            <a:chOff x="2570988" y="4216907"/>
            <a:chExt cx="4848225" cy="1961514"/>
          </a:xfrm>
        </p:grpSpPr>
        <p:sp>
          <p:nvSpPr>
            <p:cNvPr id="158" name="Google Shape;158;p20"/>
            <p:cNvSpPr/>
            <p:nvPr/>
          </p:nvSpPr>
          <p:spPr>
            <a:xfrm>
              <a:off x="4901183" y="4808220"/>
              <a:ext cx="0" cy="332740"/>
            </a:xfrm>
            <a:custGeom>
              <a:rect b="b" l="l" r="r" t="t"/>
              <a:pathLst>
                <a:path extrusionOk="0" h="332739" w="120000">
                  <a:moveTo>
                    <a:pt x="0" y="332231"/>
                  </a:moveTo>
                  <a:lnTo>
                    <a:pt x="0" y="0"/>
                  </a:lnTo>
                </a:path>
              </a:pathLst>
            </a:custGeom>
            <a:noFill/>
            <a:ln cap="flat" cmpd="sng" w="57900">
              <a:solidFill>
                <a:srgbClr val="D1350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20"/>
            <p:cNvSpPr/>
            <p:nvPr/>
          </p:nvSpPr>
          <p:spPr>
            <a:xfrm>
              <a:off x="4843277" y="5111493"/>
              <a:ext cx="116205" cy="116205"/>
            </a:xfrm>
            <a:custGeom>
              <a:rect b="b" l="l" r="r" t="t"/>
              <a:pathLst>
                <a:path extrusionOk="0" h="116204" w="116204">
                  <a:moveTo>
                    <a:pt x="115823" y="0"/>
                  </a:moveTo>
                  <a:lnTo>
                    <a:pt x="0" y="0"/>
                  </a:lnTo>
                  <a:lnTo>
                    <a:pt x="57912" y="115823"/>
                  </a:lnTo>
                  <a:lnTo>
                    <a:pt x="115823" y="0"/>
                  </a:lnTo>
                  <a:close/>
                </a:path>
              </a:pathLst>
            </a:custGeom>
            <a:solidFill>
              <a:srgbClr val="D135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20"/>
            <p:cNvSpPr/>
            <p:nvPr/>
          </p:nvSpPr>
          <p:spPr>
            <a:xfrm>
              <a:off x="2570988" y="4216907"/>
              <a:ext cx="4848225" cy="1961514"/>
            </a:xfrm>
            <a:custGeom>
              <a:rect b="b" l="l" r="r" t="t"/>
              <a:pathLst>
                <a:path extrusionOk="0" h="1961514" w="4848225">
                  <a:moveTo>
                    <a:pt x="4834115" y="0"/>
                  </a:moveTo>
                  <a:lnTo>
                    <a:pt x="0" y="0"/>
                  </a:lnTo>
                  <a:lnTo>
                    <a:pt x="0" y="646176"/>
                  </a:lnTo>
                  <a:lnTo>
                    <a:pt x="4834115" y="646176"/>
                  </a:lnTo>
                  <a:lnTo>
                    <a:pt x="4834115" y="0"/>
                  </a:lnTo>
                  <a:close/>
                </a:path>
                <a:path extrusionOk="0" h="1961514" w="4848225">
                  <a:moveTo>
                    <a:pt x="4847844" y="1037844"/>
                  </a:moveTo>
                  <a:lnTo>
                    <a:pt x="13716" y="1037844"/>
                  </a:lnTo>
                  <a:lnTo>
                    <a:pt x="13716" y="1961400"/>
                  </a:lnTo>
                  <a:lnTo>
                    <a:pt x="4847844" y="1961400"/>
                  </a:lnTo>
                  <a:lnTo>
                    <a:pt x="4847844" y="1037844"/>
                  </a:lnTo>
                  <a:close/>
                </a:path>
              </a:pathLst>
            </a:custGeom>
            <a:solidFill>
              <a:srgbClr val="D135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aphicFrame>
        <p:nvGraphicFramePr>
          <p:cNvPr id="161" name="Google Shape;161;p20"/>
          <p:cNvGraphicFramePr/>
          <p:nvPr/>
        </p:nvGraphicFramePr>
        <p:xfrm>
          <a:off x="2564892" y="30632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{E410DC45-376E-45B0-9E37-9477A6F21243}</a:tableStyleId>
              </a:tblPr>
              <a:tblGrid>
                <a:gridCol w="4838075"/>
              </a:tblGrid>
              <a:tr h="645800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GET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fila candidata de la consulta externa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9850" marB="0" marR="0" marL="0">
                    <a:lnL cap="flat" cmpd="sng" w="12700">
                      <a:solidFill>
                        <a:srgbClr val="99230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230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230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230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350F"/>
                    </a:solidFill>
                  </a:tcPr>
                </a:tc>
              </a:tr>
              <a:tr h="501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T cap="flat" cmpd="sng" w="12700">
                      <a:solidFill>
                        <a:srgbClr val="99230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230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5800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EXECUTE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consulta interna con el valor de la fila candidata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9850" marB="0" marR="0" marL="0">
                    <a:lnL cap="flat" cmpd="sng" w="12700">
                      <a:solidFill>
                        <a:srgbClr val="99230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230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230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230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350F"/>
                    </a:solidFill>
                  </a:tcPr>
                </a:tc>
              </a:tr>
              <a:tr h="391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T cap="flat" cmpd="sng" w="12700">
                      <a:solidFill>
                        <a:srgbClr val="99230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230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3300">
                <a:tc>
                  <a:txBody>
                    <a:bodyPr/>
                    <a:lstStyle/>
                    <a:p>
                      <a:pPr indent="0" lvl="0" marL="1054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105410" marR="476884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valores de la consulta interna para cualificar o anular la cualificación de la fila candidata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0475" marB="0" marR="0" marL="0">
                    <a:lnL cap="flat" cmpd="sng" w="12700">
                      <a:solidFill>
                        <a:srgbClr val="99230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230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230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230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350F"/>
                    </a:solidFill>
                  </a:tcPr>
                </a:tc>
              </a:tr>
            </a:tbl>
          </a:graphicData>
        </a:graphic>
      </p:graphicFrame>
      <p:sp>
        <p:nvSpPr>
          <p:cNvPr id="162" name="Google Shape;162;p20"/>
          <p:cNvSpPr txBox="1"/>
          <p:nvPr>
            <p:ph idx="10" type="dt"/>
          </p:nvPr>
        </p:nvSpPr>
        <p:spPr>
          <a:xfrm>
            <a:off x="2874191" y="6516395"/>
            <a:ext cx="1335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10-4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Subconsultas Correlacionadas</a:t>
            </a:r>
            <a:endParaRPr/>
          </a:p>
        </p:txBody>
      </p:sp>
      <p:sp>
        <p:nvSpPr>
          <p:cNvPr id="163" name="Google Shape;163;p20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0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 txBox="1"/>
          <p:nvPr>
            <p:ph type="title"/>
          </p:nvPr>
        </p:nvSpPr>
        <p:spPr>
          <a:xfrm>
            <a:off x="392112" y="748031"/>
            <a:ext cx="67629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Ejemplo de Subconsulta Correlacionada</a:t>
            </a:r>
            <a:endParaRPr/>
          </a:p>
        </p:txBody>
      </p:sp>
      <p:sp>
        <p:nvSpPr>
          <p:cNvPr id="170" name="Google Shape;170;p21"/>
          <p:cNvSpPr txBox="1"/>
          <p:nvPr>
            <p:ph idx="10" type="dt"/>
          </p:nvPr>
        </p:nvSpPr>
        <p:spPr>
          <a:xfrm>
            <a:off x="2874191" y="6516395"/>
            <a:ext cx="1335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10-4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Subconsultas Correlacionadas</a:t>
            </a:r>
            <a:endParaRPr/>
          </a:p>
        </p:txBody>
      </p:sp>
      <p:sp>
        <p:nvSpPr>
          <p:cNvPr id="171" name="Google Shape;171;p21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1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73" name="Google Shape;173;p21"/>
          <p:cNvSpPr txBox="1"/>
          <p:nvPr/>
        </p:nvSpPr>
        <p:spPr>
          <a:xfrm>
            <a:off x="483552" y="1415417"/>
            <a:ext cx="7920355" cy="2576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471805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¿De quién es el salario que es mayor que el salario 	medio de su departamento?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5080" rtl="0" algn="l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Para responder a esta pregunta, tenemos que escribir 	una subconsulta correlacionada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378460" rtl="0" algn="l">
              <a:lnSpc>
                <a:spcPct val="108214"/>
              </a:lnSpc>
              <a:spcBef>
                <a:spcPts val="79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Las subconsultas correlacionadas se utilizan para el 	procesamiento fila por fila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4" name="Google Shape;174;p21"/>
          <p:cNvGraphicFramePr/>
          <p:nvPr/>
        </p:nvGraphicFramePr>
        <p:xfrm>
          <a:off x="5219201" y="38338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{E410DC45-376E-45B0-9E37-9477A6F21243}</a:tableStyleId>
              </a:tblPr>
              <a:tblGrid>
                <a:gridCol w="1175375"/>
                <a:gridCol w="1175375"/>
                <a:gridCol w="1175375"/>
              </a:tblGrid>
              <a:tr h="2908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FIRST_NAME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LAST_NAME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SALARY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8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Steven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King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24000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8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Shelley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Higgins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12000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8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Eleni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Zlotkey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10500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8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Ellen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Abel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8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Kevin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Mourgos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8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Alexander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Hunold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8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Michael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Hartstein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5" name="Google Shape;175;p21"/>
          <p:cNvSpPr txBox="1"/>
          <p:nvPr/>
        </p:nvSpPr>
        <p:spPr>
          <a:xfrm>
            <a:off x="405384" y="4200144"/>
            <a:ext cx="4467225" cy="1923414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18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o.first_name,o.last_name,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o.salary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25057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employees o WHERE o.salary &gt;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-122555" lvl="0" marL="487045" marR="1530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-US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SELECT AVG(i.salary) FROM employees i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-733425" lvl="0" marL="1219835" marR="11614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WHERE i.department_id = o.department_id</a:t>
            </a:r>
            <a:r>
              <a:rPr b="1" lang="en-US" sz="16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2"/>
          <p:cNvSpPr txBox="1"/>
          <p:nvPr>
            <p:ph type="title"/>
          </p:nvPr>
        </p:nvSpPr>
        <p:spPr>
          <a:xfrm>
            <a:off x="392112" y="748031"/>
            <a:ext cx="67629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Ejemplo de Subconsulta Correlacionada</a:t>
            </a:r>
            <a:endParaRPr/>
          </a:p>
        </p:txBody>
      </p:sp>
      <p:sp>
        <p:nvSpPr>
          <p:cNvPr id="181" name="Google Shape;181;p22"/>
          <p:cNvSpPr txBox="1"/>
          <p:nvPr>
            <p:ph idx="10" type="dt"/>
          </p:nvPr>
        </p:nvSpPr>
        <p:spPr>
          <a:xfrm>
            <a:off x="2874191" y="6516395"/>
            <a:ext cx="1335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10-4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Subconsultas Correlacionadas</a:t>
            </a:r>
            <a:endParaRPr/>
          </a:p>
        </p:txBody>
      </p:sp>
      <p:sp>
        <p:nvSpPr>
          <p:cNvPr id="182" name="Google Shape;182;p22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2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84" name="Google Shape;184;p22"/>
          <p:cNvSpPr txBox="1"/>
          <p:nvPr/>
        </p:nvSpPr>
        <p:spPr>
          <a:xfrm>
            <a:off x="483552" y="1415417"/>
            <a:ext cx="7882255" cy="2090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Cada subconsulta se ejecuta una vez para cada fila de 	la consultar externa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153670" rtl="0" algn="l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Con una subconsulta normal, la consulta SELECT 	interna se ejecuta en primer lugar y una vez, 	devolviendo valores que utilizará la consulta externa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5" name="Google Shape;185;p22"/>
          <p:cNvGraphicFramePr/>
          <p:nvPr/>
        </p:nvGraphicFramePr>
        <p:xfrm>
          <a:off x="4815339" y="364922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{E410DC45-376E-45B0-9E37-9477A6F21243}</a:tableStyleId>
              </a:tblPr>
              <a:tblGrid>
                <a:gridCol w="1175375"/>
                <a:gridCol w="1175375"/>
                <a:gridCol w="1175375"/>
              </a:tblGrid>
              <a:tr h="2908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FIRST_NAME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LAST_NAME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SALARY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8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Steven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King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24000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8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Shelley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Higgins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12000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8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Eleni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Zlotkey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10500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8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Ellen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Abel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8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Kevin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Mourgos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8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Alexander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Hunold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8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Michael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Hartstein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6" name="Google Shape;186;p22"/>
          <p:cNvSpPr txBox="1"/>
          <p:nvPr/>
        </p:nvSpPr>
        <p:spPr>
          <a:xfrm>
            <a:off x="393191" y="3656076"/>
            <a:ext cx="4178935" cy="2327275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38725">
            <a:spAutoFit/>
          </a:bodyPr>
          <a:lstStyle/>
          <a:p>
            <a:pPr indent="0" lvl="0" marL="0" marR="13023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o.first_name, o.last_name, o.salary FROM employees o WHERE o.salary &gt;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-137160" lvl="0" marL="546735" marR="894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-US" sz="1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SELECT AVG(i.salary) FROM employees i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-818515" lvl="0" marL="1365250" marR="4845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WHERE i.department_id = o.department_id</a:t>
            </a: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3"/>
          <p:cNvSpPr txBox="1"/>
          <p:nvPr>
            <p:ph type="title"/>
          </p:nvPr>
        </p:nvSpPr>
        <p:spPr>
          <a:xfrm>
            <a:off x="392112" y="748031"/>
            <a:ext cx="67629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Ejemplo de Subconsulta Correlacionada</a:t>
            </a:r>
            <a:endParaRPr/>
          </a:p>
        </p:txBody>
      </p:sp>
      <p:sp>
        <p:nvSpPr>
          <p:cNvPr id="192" name="Google Shape;192;p23"/>
          <p:cNvSpPr txBox="1"/>
          <p:nvPr>
            <p:ph idx="10" type="dt"/>
          </p:nvPr>
        </p:nvSpPr>
        <p:spPr>
          <a:xfrm>
            <a:off x="2874191" y="6516395"/>
            <a:ext cx="1335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10-4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Subconsultas Correlacionadas</a:t>
            </a:r>
            <a:endParaRPr/>
          </a:p>
        </p:txBody>
      </p:sp>
      <p:sp>
        <p:nvSpPr>
          <p:cNvPr id="193" name="Google Shape;193;p23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3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95" name="Google Shape;195;p23"/>
          <p:cNvSpPr txBox="1"/>
          <p:nvPr/>
        </p:nvSpPr>
        <p:spPr>
          <a:xfrm>
            <a:off x="483552" y="1415417"/>
            <a:ext cx="7611745" cy="2960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376555" rtl="0" algn="just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Una subconsulta correlacionada, sin embargo, se 	ejecuta una vez para cada fila considerada por la 	consulta externa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280035" rtl="0" algn="just">
              <a:lnSpc>
                <a:spcPct val="108214"/>
              </a:lnSpc>
              <a:spcBef>
                <a:spcPts val="78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Es decir, la consulta interna está controlada por la 	consulta externa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5080" rtl="0" algn="just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subconsulta correlacionada en este ejemplo está 	marcada en rojo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6" name="Google Shape;196;p23"/>
          <p:cNvGraphicFramePr/>
          <p:nvPr/>
        </p:nvGraphicFramePr>
        <p:xfrm>
          <a:off x="5373101" y="40184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{E410DC45-376E-45B0-9E37-9477A6F21243}</a:tableStyleId>
              </a:tblPr>
              <a:tblGrid>
                <a:gridCol w="1175375"/>
                <a:gridCol w="1175375"/>
                <a:gridCol w="1175375"/>
              </a:tblGrid>
              <a:tr h="2908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FIRST_NAME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LAST_NAME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SALARY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8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Steven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King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24000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8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Shelley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Higgins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12000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8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Eleni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Zlotkey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10500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8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Ellen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Abel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8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Kevin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Mourgos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8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Alexander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Hunold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8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Michael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Hartstein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13000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7" name="Google Shape;197;p23"/>
          <p:cNvSpPr txBox="1"/>
          <p:nvPr/>
        </p:nvSpPr>
        <p:spPr>
          <a:xfrm>
            <a:off x="1700783" y="4343400"/>
            <a:ext cx="3525520" cy="201041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5700">
            <a:spAutoFit/>
          </a:bodyPr>
          <a:lstStyle/>
          <a:p>
            <a:pPr indent="0" lvl="0" marL="0" marR="9531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o.first_name, o.last_name, o.salary FROM employees o WHERE o.salary &gt;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-122555" lvl="0" marL="487045" marR="5886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-US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SELECT AVG(i.salary) FROM employees i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-733425" lvl="0" marL="1220470" marR="2197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WHERE i.department_id = o.department_id</a:t>
            </a:r>
            <a:r>
              <a:rPr b="1" lang="en-US" sz="16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 txBox="1"/>
          <p:nvPr>
            <p:ph type="title"/>
          </p:nvPr>
        </p:nvSpPr>
        <p:spPr>
          <a:xfrm>
            <a:off x="392112" y="748031"/>
            <a:ext cx="67629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EXISTS Y NOT EXISTS en Subconsultas</a:t>
            </a:r>
            <a:endParaRPr/>
          </a:p>
        </p:txBody>
      </p:sp>
      <p:sp>
        <p:nvSpPr>
          <p:cNvPr id="203" name="Google Shape;203;p24"/>
          <p:cNvSpPr txBox="1"/>
          <p:nvPr>
            <p:ph idx="10" type="dt"/>
          </p:nvPr>
        </p:nvSpPr>
        <p:spPr>
          <a:xfrm>
            <a:off x="2874191" y="6516395"/>
            <a:ext cx="1335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10-4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Subconsultas Correlacionadas</a:t>
            </a:r>
            <a:endParaRPr/>
          </a:p>
        </p:txBody>
      </p:sp>
      <p:sp>
        <p:nvSpPr>
          <p:cNvPr id="204" name="Google Shape;204;p24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4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06" name="Google Shape;206;p24"/>
          <p:cNvSpPr txBox="1"/>
          <p:nvPr/>
        </p:nvSpPr>
        <p:spPr>
          <a:xfrm>
            <a:off x="483552" y="1415417"/>
            <a:ext cx="8087995" cy="4051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22479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EXISTS y su opuesto NOT EXISTS son dos cláusulas 	que se pueden utilizar al comprobar las coincidencias 	de subconsultas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5080" rtl="0" algn="l">
              <a:lnSpc>
                <a:spcPct val="108214"/>
              </a:lnSpc>
              <a:spcBef>
                <a:spcPts val="78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EXISTS comprueba un resultado TRUE o coincidente en 	la subconsulta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569595" rtl="0" algn="l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Para responder a la pregunta: "¿qué empleados no 	son jefes?"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Primero tiene que preguntar "¿quiénes son los jefes?"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481330" rtl="0" algn="l">
              <a:lnSpc>
                <a:spcPct val="107916"/>
              </a:lnSpc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Y, a continuación, preguntar "¿quién NO EXISTE en la lista de jefes?"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5"/>
          <p:cNvSpPr txBox="1"/>
          <p:nvPr>
            <p:ph type="title"/>
          </p:nvPr>
        </p:nvSpPr>
        <p:spPr>
          <a:xfrm>
            <a:off x="392112" y="748031"/>
            <a:ext cx="67629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EXISTS Y NOT EXISTS en Subconsultas</a:t>
            </a:r>
            <a:endParaRPr/>
          </a:p>
        </p:txBody>
      </p:sp>
      <p:sp>
        <p:nvSpPr>
          <p:cNvPr id="212" name="Google Shape;212;p25"/>
          <p:cNvSpPr txBox="1"/>
          <p:nvPr>
            <p:ph idx="10" type="dt"/>
          </p:nvPr>
        </p:nvSpPr>
        <p:spPr>
          <a:xfrm>
            <a:off x="2874191" y="6516395"/>
            <a:ext cx="1335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10-4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Subconsultas Correlacionadas</a:t>
            </a:r>
            <a:endParaRPr/>
          </a:p>
        </p:txBody>
      </p:sp>
      <p:sp>
        <p:nvSpPr>
          <p:cNvPr id="213" name="Google Shape;213;p25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5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15" name="Google Shape;215;p25"/>
          <p:cNvSpPr txBox="1"/>
          <p:nvPr/>
        </p:nvSpPr>
        <p:spPr>
          <a:xfrm>
            <a:off x="483552" y="1415417"/>
            <a:ext cx="7762875" cy="2090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97155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este ejemplo, la subconsulta selecciona los 	empleados que son jefes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5080" rtl="0" algn="l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 continuación, la consulta externa devuelve las filas 	de la tabla de empleados que NO EXISTEN en la 	subconsulta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6" name="Google Shape;216;p25"/>
          <p:cNvGraphicFramePr/>
          <p:nvPr/>
        </p:nvGraphicFramePr>
        <p:xfrm>
          <a:off x="6740709" y="34512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{E410DC45-376E-45B0-9E37-9477A6F21243}</a:tableStyleId>
              </a:tblPr>
              <a:tblGrid>
                <a:gridCol w="1635125"/>
              </a:tblGrid>
              <a:tr h="2438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 a Manager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8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Whalen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8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Gietz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8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Abel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8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Taylor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8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Grant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8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Rajs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8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Davies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8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Matos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8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Vargas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8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Ernst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850">
                <a:tc>
                  <a:txBody>
                    <a:bodyPr/>
                    <a:lstStyle/>
                    <a:p>
                      <a:pPr indent="0" lvl="0" marL="1111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7" name="Google Shape;217;p25"/>
          <p:cNvSpPr txBox="1"/>
          <p:nvPr/>
        </p:nvSpPr>
        <p:spPr>
          <a:xfrm>
            <a:off x="405384" y="3782567"/>
            <a:ext cx="5972810" cy="176530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31100">
            <a:spAutoFit/>
          </a:bodyPr>
          <a:lstStyle/>
          <a:p>
            <a:pPr indent="0" lvl="0" marL="0" marR="1187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last_name AS "Not a Manager" FROM	employees emp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-136525" lvl="0" marL="136525" marR="378015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b="1" lang="en-US" sz="1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NOT EXISTS </a:t>
            </a: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(SELECT *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6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employees mgr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6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	mgr.manager_id = emp.employee_id);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6"/>
          <p:cNvSpPr txBox="1"/>
          <p:nvPr>
            <p:ph type="title"/>
          </p:nvPr>
        </p:nvSpPr>
        <p:spPr>
          <a:xfrm>
            <a:off x="392112" y="748031"/>
            <a:ext cx="67629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EXISTS Y NOT EXISTS en Subconsultas</a:t>
            </a:r>
            <a:endParaRPr/>
          </a:p>
        </p:txBody>
      </p:sp>
      <p:sp>
        <p:nvSpPr>
          <p:cNvPr id="223" name="Google Shape;223;p26"/>
          <p:cNvSpPr txBox="1"/>
          <p:nvPr>
            <p:ph idx="10" type="dt"/>
          </p:nvPr>
        </p:nvSpPr>
        <p:spPr>
          <a:xfrm>
            <a:off x="2874191" y="6516395"/>
            <a:ext cx="1335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10-4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Subconsultas Correlacionadas</a:t>
            </a:r>
            <a:endParaRPr/>
          </a:p>
        </p:txBody>
      </p:sp>
      <p:sp>
        <p:nvSpPr>
          <p:cNvPr id="224" name="Google Shape;224;p26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6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26" name="Google Shape;226;p26"/>
          <p:cNvSpPr txBox="1"/>
          <p:nvPr/>
        </p:nvSpPr>
        <p:spPr>
          <a:xfrm>
            <a:off x="483552" y="1415417"/>
            <a:ext cx="8051165" cy="2474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Si se ejecuta la misma consulta con NOT IN en lugar de 	NOT EXISTS, el resultado es muy diferente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61594" rtl="0" algn="l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El resultado de esta consulta sugiere que no hay 	ningún empleado que también sea jefe, por lo que 	todos los empleados son jefes, lo que ya sabemos que 	no es cierto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6"/>
          <p:cNvSpPr txBox="1"/>
          <p:nvPr/>
        </p:nvSpPr>
        <p:spPr>
          <a:xfrm>
            <a:off x="483552" y="5572203"/>
            <a:ext cx="232029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no se han encontrado datos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6"/>
          <p:cNvSpPr txBox="1"/>
          <p:nvPr/>
        </p:nvSpPr>
        <p:spPr>
          <a:xfrm>
            <a:off x="405384" y="4024884"/>
            <a:ext cx="8345805" cy="134874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3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last_name AS "Not a Manager"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	employees emp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-136525" lvl="0" marL="136525" marR="45161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emp.employee_id </a:t>
            </a:r>
            <a:r>
              <a:rPr b="1" lang="en-US" sz="1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NOT IN </a:t>
            </a: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(SELECT mgr.manager_id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36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employees mgr);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 txBox="1"/>
          <p:nvPr>
            <p:ph type="title"/>
          </p:nvPr>
        </p:nvSpPr>
        <p:spPr>
          <a:xfrm>
            <a:off x="392112" y="748031"/>
            <a:ext cx="67629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EXISTS Y NOT EXISTS en Subconsultas</a:t>
            </a:r>
            <a:endParaRPr/>
          </a:p>
        </p:txBody>
      </p:sp>
      <p:sp>
        <p:nvSpPr>
          <p:cNvPr id="234" name="Google Shape;234;p27"/>
          <p:cNvSpPr txBox="1"/>
          <p:nvPr>
            <p:ph idx="10" type="dt"/>
          </p:nvPr>
        </p:nvSpPr>
        <p:spPr>
          <a:xfrm>
            <a:off x="2874191" y="6516395"/>
            <a:ext cx="1335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10-4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Subconsultas Correlacionadas</a:t>
            </a:r>
            <a:endParaRPr/>
          </a:p>
        </p:txBody>
      </p:sp>
      <p:sp>
        <p:nvSpPr>
          <p:cNvPr id="235" name="Google Shape;235;p27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7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37" name="Google Shape;237;p27"/>
          <p:cNvSpPr txBox="1"/>
          <p:nvPr/>
        </p:nvSpPr>
        <p:spPr>
          <a:xfrm>
            <a:off x="483552" y="1415417"/>
            <a:ext cx="8171815" cy="3829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1238885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causa del extraño resultado es el valor NULL 	devuelto por la subconsulta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5080" rtl="0" algn="l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Una de las filas de la tabla employees no tiene un jefe y 	esto hace que todo el resultado sea incorrecto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284480" rtl="0" algn="l">
              <a:lnSpc>
                <a:spcPct val="108214"/>
              </a:lnSpc>
              <a:spcBef>
                <a:spcPts val="79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Las subconsultas pueden devolver tres valores: TRUE, 	FALSE y UNKNOWN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45720" rtl="0" algn="l">
              <a:lnSpc>
                <a:spcPct val="108214"/>
              </a:lnSpc>
              <a:spcBef>
                <a:spcPts val="78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Un valor NULL en el juego de resultados de la 	subconsulta devolverá un valor UNKNOWN, que Oracle 	no puede evaluar, por lo que no lo hace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7"/>
          <p:cNvSpPr txBox="1"/>
          <p:nvPr/>
        </p:nvSpPr>
        <p:spPr>
          <a:xfrm>
            <a:off x="6545236" y="6074030"/>
            <a:ext cx="2320290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no se han encontrado datos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7"/>
          <p:cNvSpPr txBox="1"/>
          <p:nvPr/>
        </p:nvSpPr>
        <p:spPr>
          <a:xfrm>
            <a:off x="1985772" y="5301996"/>
            <a:ext cx="4480560" cy="114173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96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last_name AS "Not a Manager"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	employees emp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-121920" lvl="0" marL="121920" marR="10528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emp.employee_id </a:t>
            </a:r>
            <a:r>
              <a:rPr b="1" lang="en-US" sz="16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NOT IN </a:t>
            </a:r>
            <a:r>
              <a:rPr b="1" lang="en-US" sz="16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(SELECT mgr.manager_id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44475" rtl="0" algn="l">
              <a:lnSpc>
                <a:spcPct val="1121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employees mgr);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8"/>
          <p:cNvSpPr txBox="1"/>
          <p:nvPr>
            <p:ph type="title"/>
          </p:nvPr>
        </p:nvSpPr>
        <p:spPr>
          <a:xfrm>
            <a:off x="392112" y="748031"/>
            <a:ext cx="67629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EXISTS Y NOT EXISTS en Subconsultas</a:t>
            </a:r>
            <a:endParaRPr/>
          </a:p>
        </p:txBody>
      </p:sp>
      <p:sp>
        <p:nvSpPr>
          <p:cNvPr id="245" name="Google Shape;245;p28"/>
          <p:cNvSpPr txBox="1"/>
          <p:nvPr>
            <p:ph idx="10" type="dt"/>
          </p:nvPr>
        </p:nvSpPr>
        <p:spPr>
          <a:xfrm>
            <a:off x="2874191" y="6516395"/>
            <a:ext cx="1335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10-4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Subconsultas Correlacionadas</a:t>
            </a:r>
            <a:endParaRPr/>
          </a:p>
        </p:txBody>
      </p:sp>
      <p:sp>
        <p:nvSpPr>
          <p:cNvPr id="246" name="Google Shape;246;p28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8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48" name="Google Shape;248;p28"/>
          <p:cNvSpPr txBox="1"/>
          <p:nvPr/>
        </p:nvSpPr>
        <p:spPr>
          <a:xfrm>
            <a:off x="483552" y="1415417"/>
            <a:ext cx="8064500" cy="2960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1447165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TENGA CUIDADO con los valores NULL en las 	subconsultas al utilizar IN o NOT IN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5080" rtl="0" algn="l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Si no está seguro de si una subconsulta incluirá un 	valor nulo, elimine el valor nulo mediante IS NOT NULL 	en una cláusula WHERE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99060" rtl="0" algn="l">
              <a:lnSpc>
                <a:spcPct val="108214"/>
              </a:lnSpc>
              <a:spcBef>
                <a:spcPts val="78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Por ejemplo : WHERE emp.manager_id IS NOT NULL o 	utilice NOT EXISTS para estar seguro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9"/>
          <p:cNvSpPr txBox="1"/>
          <p:nvPr>
            <p:ph type="title"/>
          </p:nvPr>
        </p:nvSpPr>
        <p:spPr>
          <a:xfrm>
            <a:off x="392112" y="748031"/>
            <a:ext cx="67629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Cláusula WITH</a:t>
            </a:r>
            <a:endParaRPr/>
          </a:p>
        </p:txBody>
      </p:sp>
      <p:sp>
        <p:nvSpPr>
          <p:cNvPr id="254" name="Google Shape;254;p29"/>
          <p:cNvSpPr txBox="1"/>
          <p:nvPr>
            <p:ph idx="10" type="dt"/>
          </p:nvPr>
        </p:nvSpPr>
        <p:spPr>
          <a:xfrm>
            <a:off x="2874191" y="6516395"/>
            <a:ext cx="1335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10-4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Subconsultas Correlacionadas</a:t>
            </a:r>
            <a:endParaRPr/>
          </a:p>
        </p:txBody>
      </p:sp>
      <p:sp>
        <p:nvSpPr>
          <p:cNvPr id="255" name="Google Shape;255;p29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9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57" name="Google Shape;257;p29"/>
          <p:cNvSpPr txBox="1"/>
          <p:nvPr/>
        </p:nvSpPr>
        <p:spPr>
          <a:xfrm>
            <a:off x="483552" y="1415417"/>
            <a:ext cx="8168005" cy="4497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26035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Si tiene que escribir una consulta muy compleja con 	uniones y agregaciones utilizadas varias veces, puede 	escribir las distintas partes de la sentencia como 	bloques de consulta y, a continuación, utilizar esos 	mismos bloques de consulta en una sentencia SELECT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118110" rtl="0" algn="just">
              <a:lnSpc>
                <a:spcPct val="108214"/>
              </a:lnSpc>
              <a:spcBef>
                <a:spcPts val="77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Oracle le permite escribir subconsultas con nombre en 	una sola sentencia, siempre que empiece su sentencia 	con la palabra clave WITH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5080" rtl="0" algn="just">
              <a:lnSpc>
                <a:spcPct val="108214"/>
              </a:lnSpc>
              <a:spcBef>
                <a:spcPts val="78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cláusula WITH recupera los resultados de uno o más 	bloques de consulta y almacena esos resultados para el 	usuario que ejecuta la consulta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0"/>
          <p:cNvSpPr txBox="1"/>
          <p:nvPr>
            <p:ph type="title"/>
          </p:nvPr>
        </p:nvSpPr>
        <p:spPr>
          <a:xfrm>
            <a:off x="392112" y="748031"/>
            <a:ext cx="67629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Cláusula WITH</a:t>
            </a:r>
            <a:endParaRPr/>
          </a:p>
        </p:txBody>
      </p:sp>
      <p:sp>
        <p:nvSpPr>
          <p:cNvPr id="263" name="Google Shape;263;p30"/>
          <p:cNvSpPr txBox="1"/>
          <p:nvPr/>
        </p:nvSpPr>
        <p:spPr>
          <a:xfrm>
            <a:off x="483552" y="1355371"/>
            <a:ext cx="7052945" cy="1868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1750">
            <a:spAutoFit/>
          </a:bodyPr>
          <a:lstStyle/>
          <a:p>
            <a:pPr indent="-177800" lvl="0" marL="1835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cláusula WITH mejora el rendimiento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5080" rtl="0" algn="l">
              <a:lnSpc>
                <a:spcPct val="108214"/>
              </a:lnSpc>
              <a:spcBef>
                <a:spcPts val="844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cláusula WITH hace que la consulta se pueda 	leer fácilmente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3515" rtl="0" algn="l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sintaxis de la cláusula WITH es la siguiente: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0"/>
          <p:cNvSpPr/>
          <p:nvPr/>
        </p:nvSpPr>
        <p:spPr>
          <a:xfrm>
            <a:off x="405384" y="3590544"/>
            <a:ext cx="8345805" cy="1565275"/>
          </a:xfrm>
          <a:custGeom>
            <a:rect b="b" l="l" r="r" t="t"/>
            <a:pathLst>
              <a:path extrusionOk="0" h="1565275" w="8345805">
                <a:moveTo>
                  <a:pt x="8345424" y="0"/>
                </a:moveTo>
                <a:lnTo>
                  <a:pt x="0" y="0"/>
                </a:lnTo>
                <a:lnTo>
                  <a:pt x="0" y="1565148"/>
                </a:lnTo>
                <a:lnTo>
                  <a:pt x="8345424" y="1565148"/>
                </a:lnTo>
                <a:lnTo>
                  <a:pt x="8345424" y="0"/>
                </a:lnTo>
                <a:close/>
              </a:path>
            </a:pathLst>
          </a:cu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30"/>
          <p:cNvSpPr txBox="1"/>
          <p:nvPr/>
        </p:nvSpPr>
        <p:spPr>
          <a:xfrm>
            <a:off x="404812" y="3647681"/>
            <a:ext cx="56007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WITH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6" name="Google Shape;266;p30"/>
          <p:cNvSpPr txBox="1"/>
          <p:nvPr>
            <p:ph idx="10" type="dt"/>
          </p:nvPr>
        </p:nvSpPr>
        <p:spPr>
          <a:xfrm>
            <a:off x="2874191" y="6516395"/>
            <a:ext cx="1335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10-4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Subconsultas Correlacionadas</a:t>
            </a:r>
            <a:endParaRPr/>
          </a:p>
        </p:txBody>
      </p:sp>
      <p:sp>
        <p:nvSpPr>
          <p:cNvPr id="267" name="Google Shape;267;p30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0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69" name="Google Shape;269;p30"/>
          <p:cNvSpPr txBox="1"/>
          <p:nvPr/>
        </p:nvSpPr>
        <p:spPr>
          <a:xfrm>
            <a:off x="1319212" y="3647681"/>
            <a:ext cx="383540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subquery-name AS (subquery), subquery-name AS (subquery)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0" name="Google Shape;270;p30"/>
          <p:cNvSpPr txBox="1"/>
          <p:nvPr/>
        </p:nvSpPr>
        <p:spPr>
          <a:xfrm>
            <a:off x="1319212" y="4196321"/>
            <a:ext cx="5336540" cy="84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	column-list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		{table | subquery-name | view} WHERE	condition is true;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1"/>
          <p:cNvSpPr txBox="1"/>
          <p:nvPr>
            <p:ph type="title"/>
          </p:nvPr>
        </p:nvSpPr>
        <p:spPr>
          <a:xfrm>
            <a:off x="392112" y="748031"/>
            <a:ext cx="67629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Cláusula WITH</a:t>
            </a:r>
            <a:endParaRPr/>
          </a:p>
        </p:txBody>
      </p:sp>
      <p:sp>
        <p:nvSpPr>
          <p:cNvPr id="276" name="Google Shape;276;p31"/>
          <p:cNvSpPr txBox="1"/>
          <p:nvPr>
            <p:ph idx="10" type="dt"/>
          </p:nvPr>
        </p:nvSpPr>
        <p:spPr>
          <a:xfrm>
            <a:off x="2874191" y="6516395"/>
            <a:ext cx="1335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10-4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Subconsultas Correlacionadas</a:t>
            </a:r>
            <a:endParaRPr/>
          </a:p>
        </p:txBody>
      </p:sp>
      <p:sp>
        <p:nvSpPr>
          <p:cNvPr id="277" name="Google Shape;277;p31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31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79" name="Google Shape;279;p31"/>
          <p:cNvSpPr txBox="1"/>
          <p:nvPr/>
        </p:nvSpPr>
        <p:spPr>
          <a:xfrm>
            <a:off x="483552" y="1395411"/>
            <a:ext cx="8142605" cy="3855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450">
            <a:spAutoFit/>
          </a:bodyPr>
          <a:lstStyle/>
          <a:p>
            <a:pPr indent="-172085" lvl="0" marL="184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Escriba la consulta para el siguiente requisito: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 </a:t>
            </a:r>
            <a:r>
              <a:rPr lang="en-US" sz="22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Visualice una lista de apellidos de los empleados que no son jefes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84785" marR="163195" rtl="0" algn="l">
              <a:lnSpc>
                <a:spcPct val="108076"/>
              </a:lnSpc>
              <a:spcBef>
                <a:spcPts val="815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Para crear esta consulta, primero tendrá que obtener una lista de valores de manager_id de la tabla de empleados y, a continuación, devolver los nombres de los empleados cuyo ID de empleado no esté en la lista de jefes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84785" marR="5080" rtl="0" algn="l">
              <a:lnSpc>
                <a:spcPct val="108076"/>
              </a:lnSpc>
              <a:spcBef>
                <a:spcPts val="800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Podemos crear una subconsulta con nombre mediante la cláusula WITH para recuperar los valores de manager_id de la tabla employees y, a continuación, la consulta externa devolverá los empleados que no aparecen en esa lista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2"/>
          <p:cNvSpPr txBox="1"/>
          <p:nvPr>
            <p:ph type="title"/>
          </p:nvPr>
        </p:nvSpPr>
        <p:spPr>
          <a:xfrm>
            <a:off x="392112" y="748031"/>
            <a:ext cx="67629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Cláusula WITH</a:t>
            </a:r>
            <a:endParaRPr/>
          </a:p>
        </p:txBody>
      </p:sp>
      <p:sp>
        <p:nvSpPr>
          <p:cNvPr id="285" name="Google Shape;285;p32"/>
          <p:cNvSpPr txBox="1"/>
          <p:nvPr>
            <p:ph idx="10" type="dt"/>
          </p:nvPr>
        </p:nvSpPr>
        <p:spPr>
          <a:xfrm>
            <a:off x="2874191" y="6516395"/>
            <a:ext cx="1335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10-4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Subconsultas Correlacionadas</a:t>
            </a:r>
            <a:endParaRPr/>
          </a:p>
        </p:txBody>
      </p:sp>
      <p:sp>
        <p:nvSpPr>
          <p:cNvPr id="286" name="Google Shape;286;p32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32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graphicFrame>
        <p:nvGraphicFramePr>
          <p:cNvPr id="288" name="Google Shape;288;p32"/>
          <p:cNvGraphicFramePr/>
          <p:nvPr/>
        </p:nvGraphicFramePr>
        <p:xfrm>
          <a:off x="6574537" y="14415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{E410DC45-376E-45B0-9E37-9477A6F21243}</a:tableStyleId>
              </a:tblPr>
              <a:tblGrid>
                <a:gridCol w="1672600"/>
              </a:tblGrid>
              <a:tr h="3111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 a manager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9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1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Whalen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9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1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Gietz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9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1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Abel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9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1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Taylor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9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1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Grant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9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1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Rajs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9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1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Davies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3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1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Vargas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3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1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Ernst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3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150">
                <a:tc>
                  <a:txBody>
                    <a:bodyPr/>
                    <a:lstStyle/>
                    <a:p>
                      <a:pPr indent="0" lvl="0" marL="1174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3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9" name="Google Shape;289;p32"/>
          <p:cNvSpPr txBox="1"/>
          <p:nvPr/>
        </p:nvSpPr>
        <p:spPr>
          <a:xfrm>
            <a:off x="393191" y="1447800"/>
            <a:ext cx="5278120" cy="301498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1085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WITH </a:t>
            </a:r>
            <a:r>
              <a:rPr b="1" lang="en-US" sz="1800">
                <a:solidFill>
                  <a:srgbClr val="D1350F"/>
                </a:solidFill>
                <a:latin typeface="Courier New"/>
                <a:ea typeface="Courier New"/>
                <a:cs typeface="Courier New"/>
                <a:sym typeface="Courier New"/>
              </a:rPr>
              <a:t>managers </a:t>
            </a: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-137160" lvl="0" marL="546735" marR="11734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(SELECT DISTINCT manager_id FROM employees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5467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manager_id IS NOT NULL)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4921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last_name AS "Not a manager" FROM employees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-409575" lvl="0" marL="409575" marR="199326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WHERE employee_id NOT IN (SELECT *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5467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b="1" lang="en-US" sz="1800">
                <a:solidFill>
                  <a:srgbClr val="D1350F"/>
                </a:solidFill>
                <a:latin typeface="Courier New"/>
                <a:ea typeface="Courier New"/>
                <a:cs typeface="Courier New"/>
                <a:sym typeface="Courier New"/>
              </a:rPr>
              <a:t>managers</a:t>
            </a: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3"/>
          <p:cNvSpPr txBox="1"/>
          <p:nvPr>
            <p:ph type="title"/>
          </p:nvPr>
        </p:nvSpPr>
        <p:spPr>
          <a:xfrm>
            <a:off x="392112" y="748031"/>
            <a:ext cx="67629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Resumen</a:t>
            </a:r>
            <a:endParaRPr/>
          </a:p>
        </p:txBody>
      </p:sp>
      <p:sp>
        <p:nvSpPr>
          <p:cNvPr id="295" name="Google Shape;295;p33"/>
          <p:cNvSpPr txBox="1"/>
          <p:nvPr/>
        </p:nvSpPr>
        <p:spPr>
          <a:xfrm>
            <a:off x="483552" y="1393401"/>
            <a:ext cx="8074659" cy="26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35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esta lección, debe haber aprendido lo siguiente: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Identificar cuándo se necesitan subconsultas correlacionadas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Crear y ejecutar subconsultas correlacionadas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240029" rtl="0" algn="l">
              <a:lnSpc>
                <a:spcPct val="107916"/>
              </a:lnSpc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Crear una consulta con los operadores EXISTS y NOT EXISTS para probar filas devueltas de la subconsulta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812800" rtl="0" algn="l">
              <a:lnSpc>
                <a:spcPct val="107916"/>
              </a:lnSpc>
              <a:spcBef>
                <a:spcPts val="409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Crear y ejecutar subconsultas con nombre mediante la cláusula WITH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6" name="Google Shape;296;p33"/>
          <p:cNvGrpSpPr/>
          <p:nvPr/>
        </p:nvGrpSpPr>
        <p:grpSpPr>
          <a:xfrm>
            <a:off x="4597920" y="4108703"/>
            <a:ext cx="4140695" cy="2261603"/>
            <a:chOff x="4597920" y="4108703"/>
            <a:chExt cx="4140695" cy="2261603"/>
          </a:xfrm>
        </p:grpSpPr>
        <p:pic>
          <p:nvPicPr>
            <p:cNvPr id="297" name="Google Shape;297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597920" y="4108703"/>
              <a:ext cx="4140695" cy="22616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8" name="Google Shape;298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89931" y="4300727"/>
              <a:ext cx="3756647" cy="18775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9" name="Google Shape;299;p33"/>
          <p:cNvSpPr txBox="1"/>
          <p:nvPr>
            <p:ph idx="10" type="dt"/>
          </p:nvPr>
        </p:nvSpPr>
        <p:spPr>
          <a:xfrm>
            <a:off x="2874191" y="6516395"/>
            <a:ext cx="1335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10-4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Subconsultas Correlacionadas</a:t>
            </a:r>
            <a:endParaRPr/>
          </a:p>
        </p:txBody>
      </p:sp>
      <p:sp>
        <p:nvSpPr>
          <p:cNvPr id="300" name="Google Shape;300;p33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33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