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42598A-233B-43B4-BBBA-A662C7506F70}">
  <a:tblStyle styleId="{3842598A-233B-43B4-BBBA-A662C7506F7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958315" y="862895"/>
            <a:ext cx="7227300" cy="13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83552" y="1393401"/>
            <a:ext cx="8176800" cy="22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5172119" y="6589648"/>
            <a:ext cx="32220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2349185" y="6516395"/>
            <a:ext cx="20745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61" name="Google Shape;6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14"/>
            <p:cNvSpPr/>
            <p:nvPr/>
          </p:nvSpPr>
          <p:spPr>
            <a:xfrm>
              <a:off x="560831" y="702563"/>
              <a:ext cx="8022590" cy="5453380"/>
            </a:xfrm>
            <a:custGeom>
              <a:rect b="b" l="l" r="r" t="t"/>
              <a:pathLst>
                <a:path extrusionOk="0" h="5453380" w="802259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DFE1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3" name="Google Shape;63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0787" y="5570219"/>
              <a:ext cx="1258823" cy="420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14"/>
          <p:cNvSpPr txBox="1"/>
          <p:nvPr/>
        </p:nvSpPr>
        <p:spPr>
          <a:xfrm>
            <a:off x="5057819" y="6562597"/>
            <a:ext cx="3221990" cy="15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CEFD9"/>
                </a:solidFill>
                <a:latin typeface="Calibri"/>
                <a:ea typeface="Calibri"/>
                <a:cs typeface="Calibri"/>
                <a:sym typeface="Calibri"/>
              </a:rPr>
              <a:t>Copyright © 2020, Oracle y/o sus filiales. Todos los derechos reservados.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958315" y="862895"/>
            <a:ext cx="72273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3650">
            <a:spAutoFit/>
          </a:bodyPr>
          <a:lstStyle/>
          <a:p>
            <a:pPr indent="0" lvl="0" marL="12700" marR="5080" rtl="0" algn="l">
              <a:lnSpc>
                <a:spcPct val="96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Database Programming with  SQL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962879" y="2400950"/>
            <a:ext cx="3361690" cy="121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10-1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07916"/>
              </a:lnSpc>
              <a:spcBef>
                <a:spcPts val="845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Conceptos Fundamentales  de las Subconsultas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58150" y="3721723"/>
            <a:ext cx="3361700" cy="3078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92112" y="748031"/>
            <a:ext cx="1636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Objetivos</a:t>
            </a:r>
            <a:endParaRPr sz="3300"/>
          </a:p>
        </p:txBody>
      </p:sp>
      <p:sp>
        <p:nvSpPr>
          <p:cNvPr id="73" name="Google Shape;73;p15"/>
          <p:cNvSpPr txBox="1"/>
          <p:nvPr/>
        </p:nvSpPr>
        <p:spPr>
          <a:xfrm>
            <a:off x="483552" y="1393401"/>
            <a:ext cx="7525384" cy="22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 se abordan los siguientes objetivos: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47625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Definir y explicar el objetivo de las subconsultas para  recuperar datos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351155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Crear y ejecutar una subconsulta de una sola fila en la  cláusula WHERE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Diferenciar entre subconsultas de una y varias filas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" name="Google Shape;74;p15"/>
          <p:cNvGrpSpPr/>
          <p:nvPr/>
        </p:nvGrpSpPr>
        <p:grpSpPr>
          <a:xfrm>
            <a:off x="5209032" y="3692664"/>
            <a:ext cx="3244595" cy="2566402"/>
            <a:chOff x="5209032" y="3692664"/>
            <a:chExt cx="3244595" cy="2566402"/>
          </a:xfrm>
        </p:grpSpPr>
        <p:pic>
          <p:nvPicPr>
            <p:cNvPr id="75" name="Google Shape;75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09032" y="3692664"/>
              <a:ext cx="3244595" cy="25664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401056" y="3884675"/>
              <a:ext cx="2860547" cy="218236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2349185" y="6516395"/>
            <a:ext cx="207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Conceptos Fundamentales de las Subconsultas</a:t>
            </a:r>
            <a:endParaRPr/>
          </a:p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92112" y="748031"/>
            <a:ext cx="1472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Objetivo</a:t>
            </a:r>
            <a:endParaRPr sz="3300"/>
          </a:p>
        </p:txBody>
      </p:sp>
      <p:sp>
        <p:nvSpPr>
          <p:cNvPr id="85" name="Google Shape;85;p16"/>
          <p:cNvSpPr txBox="1"/>
          <p:nvPr>
            <p:ph idx="10" type="dt"/>
          </p:nvPr>
        </p:nvSpPr>
        <p:spPr>
          <a:xfrm>
            <a:off x="2349185" y="6516395"/>
            <a:ext cx="207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Conceptos Fundamentales de las Subconsultas</a:t>
            </a:r>
            <a:endParaRPr/>
          </a:p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483552" y="1381889"/>
            <a:ext cx="8182609" cy="417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-177800" lvl="0" marL="184785" marR="3810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¿Le ha pedido un amigo vaya a ver una película, pero  antes de poder responder "sí" o "no", primero tiene  que consultarlo con sus padres?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just">
              <a:lnSpc>
                <a:spcPct val="80000"/>
              </a:lnSpc>
              <a:spcBef>
                <a:spcPts val="81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¿Alguien le ha preguntado la respuesta de un problema  de matemáticas, pero antes de darle la respuesta, tenía  que resolver el problema usted?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002030" rtl="0" algn="l">
              <a:lnSpc>
                <a:spcPct val="80000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Preguntar a los padres o resolver el problema de  matemáticas son ejemplos de subconsultas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955040" rtl="0" algn="l">
              <a:lnSpc>
                <a:spcPct val="80000"/>
              </a:lnSpc>
              <a:spcBef>
                <a:spcPts val="80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SQL, las subconsultas nos permiten buscar la  información que necesitamos para que podamos  obtener la información que deseamos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92112" y="748031"/>
            <a:ext cx="5893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Visión General de las Subconsultas</a:t>
            </a:r>
            <a:endParaRPr sz="3300"/>
          </a:p>
        </p:txBody>
      </p:sp>
      <p:sp>
        <p:nvSpPr>
          <p:cNvPr id="94" name="Google Shape;94;p17"/>
          <p:cNvSpPr txBox="1"/>
          <p:nvPr/>
        </p:nvSpPr>
        <p:spPr>
          <a:xfrm>
            <a:off x="483552" y="1415417"/>
            <a:ext cx="8020684" cy="344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194945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este curso, ha escrito consultas para extraer datos  de una base de datos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¿Y si deseara escribir una consulta, solo para averiguar  que no tiene toda la información que necesita para  crearla?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434975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También puede solucionar este problema anidando  consultas: colocando una dentro de la otra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consulta interna se denomina "subconsulta"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0940" y="4395215"/>
            <a:ext cx="1286255" cy="18653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>
            <p:ph idx="10" type="dt"/>
          </p:nvPr>
        </p:nvSpPr>
        <p:spPr>
          <a:xfrm>
            <a:off x="2349185" y="6516395"/>
            <a:ext cx="207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Conceptos Fundamentales de las Subconsultas</a:t>
            </a:r>
            <a:endParaRPr/>
          </a:p>
        </p:txBody>
      </p:sp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7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92112" y="748031"/>
            <a:ext cx="5893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Visión General de las Subconsultas</a:t>
            </a:r>
            <a:endParaRPr sz="3300"/>
          </a:p>
        </p:txBody>
      </p:sp>
      <p:sp>
        <p:nvSpPr>
          <p:cNvPr id="104" name="Google Shape;104;p18"/>
          <p:cNvSpPr txBox="1"/>
          <p:nvPr/>
        </p:nvSpPr>
        <p:spPr>
          <a:xfrm>
            <a:off x="483552" y="1415417"/>
            <a:ext cx="7865109" cy="3344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939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subconsulta se ejecuta para buscar la información  que no conoce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836294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consulta externa utiliza esa información para  averiguar lo que debe saber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Puede ser muy útil ser capaz de combinar dos  consultas en una cuando necesite seleccionar filas de  una tabla con una condición que dependa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84785" marR="0" rtl="0" algn="l">
              <a:lnSpc>
                <a:spcPct val="106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 los datos de la propia tabla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9356" y="4046220"/>
            <a:ext cx="1632203" cy="2372867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 txBox="1"/>
          <p:nvPr>
            <p:ph idx="10" type="dt"/>
          </p:nvPr>
        </p:nvSpPr>
        <p:spPr>
          <a:xfrm>
            <a:off x="2349185" y="6516395"/>
            <a:ext cx="207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Conceptos Fundamentales de las Subconsultas</a:t>
            </a:r>
            <a:endParaRPr/>
          </a:p>
        </p:txBody>
      </p:sp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8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/>
          <p:nvPr/>
        </p:nvSpPr>
        <p:spPr>
          <a:xfrm>
            <a:off x="4440935" y="4287011"/>
            <a:ext cx="4310380" cy="1495425"/>
          </a:xfrm>
          <a:custGeom>
            <a:rect b="b" l="l" r="r" t="t"/>
            <a:pathLst>
              <a:path extrusionOk="0" h="1495425" w="4310380">
                <a:moveTo>
                  <a:pt x="4309871" y="0"/>
                </a:moveTo>
                <a:lnTo>
                  <a:pt x="0" y="0"/>
                </a:lnTo>
                <a:lnTo>
                  <a:pt x="0" y="1495044"/>
                </a:lnTo>
                <a:lnTo>
                  <a:pt x="4309871" y="1495044"/>
                </a:lnTo>
                <a:lnTo>
                  <a:pt x="4309871" y="0"/>
                </a:lnTo>
                <a:close/>
              </a:path>
            </a:pathLst>
          </a:cu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4" name="Google Shape;114;p19"/>
          <p:cNvSpPr txBox="1"/>
          <p:nvPr/>
        </p:nvSpPr>
        <p:spPr>
          <a:xfrm>
            <a:off x="4428455" y="4308558"/>
            <a:ext cx="343916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9607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select_list  FROM table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4320" lvl="0" marL="28702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expression operator  (SELECT select_list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498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table);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5" name="Google Shape;115;p19"/>
          <p:cNvSpPr txBox="1"/>
          <p:nvPr>
            <p:ph type="title"/>
          </p:nvPr>
        </p:nvSpPr>
        <p:spPr>
          <a:xfrm>
            <a:off x="392112" y="748031"/>
            <a:ext cx="5893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Visión General de las Subconsultas</a:t>
            </a:r>
            <a:endParaRPr sz="3300"/>
          </a:p>
        </p:txBody>
      </p:sp>
      <p:sp>
        <p:nvSpPr>
          <p:cNvPr id="116" name="Google Shape;116;p19"/>
          <p:cNvSpPr txBox="1"/>
          <p:nvPr/>
        </p:nvSpPr>
        <p:spPr>
          <a:xfrm>
            <a:off x="483544" y="1415417"/>
            <a:ext cx="8078470" cy="2576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438784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Una subconsulta es una sentencia SELECT que está  embebida en una cláusula de otra sentencia SELECT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133475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Una subconsulta se ejecuta una vez antes de la  consulta principal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consulta principal o externa utiliza el resultado de la  subconsulta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" name="Google Shape;117;p19"/>
          <p:cNvGrpSpPr/>
          <p:nvPr/>
        </p:nvGrpSpPr>
        <p:grpSpPr>
          <a:xfrm>
            <a:off x="768095" y="4287011"/>
            <a:ext cx="3872229" cy="1381125"/>
            <a:chOff x="768095" y="4287011"/>
            <a:chExt cx="3872229" cy="1381125"/>
          </a:xfrm>
        </p:grpSpPr>
        <p:sp>
          <p:nvSpPr>
            <p:cNvPr id="118" name="Google Shape;118;p19"/>
            <p:cNvSpPr/>
            <p:nvPr/>
          </p:nvSpPr>
          <p:spPr>
            <a:xfrm>
              <a:off x="768095" y="4287011"/>
              <a:ext cx="3872229" cy="1381125"/>
            </a:xfrm>
            <a:custGeom>
              <a:rect b="b" l="l" r="r" t="t"/>
              <a:pathLst>
                <a:path extrusionOk="0" h="1381125" w="3872229">
                  <a:moveTo>
                    <a:pt x="3308604" y="0"/>
                  </a:moveTo>
                  <a:lnTo>
                    <a:pt x="0" y="0"/>
                  </a:lnTo>
                  <a:lnTo>
                    <a:pt x="0" y="1380744"/>
                  </a:lnTo>
                  <a:lnTo>
                    <a:pt x="3308604" y="1380744"/>
                  </a:lnTo>
                  <a:lnTo>
                    <a:pt x="3308604" y="1150620"/>
                  </a:lnTo>
                  <a:lnTo>
                    <a:pt x="3871633" y="988949"/>
                  </a:lnTo>
                  <a:lnTo>
                    <a:pt x="3308604" y="805434"/>
                  </a:lnTo>
                  <a:lnTo>
                    <a:pt x="3308604" y="0"/>
                  </a:lnTo>
                  <a:close/>
                </a:path>
              </a:pathLst>
            </a:custGeom>
            <a:solidFill>
              <a:srgbClr val="D135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" name="Google Shape;119;p19"/>
            <p:cNvSpPr/>
            <p:nvPr/>
          </p:nvSpPr>
          <p:spPr>
            <a:xfrm>
              <a:off x="768095" y="4287011"/>
              <a:ext cx="3872229" cy="1381125"/>
            </a:xfrm>
            <a:custGeom>
              <a:rect b="b" l="l" r="r" t="t"/>
              <a:pathLst>
                <a:path extrusionOk="0" h="1381125" w="3872229">
                  <a:moveTo>
                    <a:pt x="0" y="0"/>
                  </a:moveTo>
                  <a:lnTo>
                    <a:pt x="1930019" y="0"/>
                  </a:lnTo>
                  <a:lnTo>
                    <a:pt x="2757170" y="0"/>
                  </a:lnTo>
                  <a:lnTo>
                    <a:pt x="3308604" y="0"/>
                  </a:lnTo>
                  <a:lnTo>
                    <a:pt x="3308604" y="805434"/>
                  </a:lnTo>
                  <a:lnTo>
                    <a:pt x="3871633" y="988949"/>
                  </a:lnTo>
                  <a:lnTo>
                    <a:pt x="3308604" y="1150620"/>
                  </a:lnTo>
                  <a:lnTo>
                    <a:pt x="3308604" y="1380744"/>
                  </a:lnTo>
                  <a:lnTo>
                    <a:pt x="2757170" y="1380744"/>
                  </a:lnTo>
                  <a:lnTo>
                    <a:pt x="1930019" y="1380744"/>
                  </a:lnTo>
                  <a:lnTo>
                    <a:pt x="0" y="1380744"/>
                  </a:lnTo>
                  <a:lnTo>
                    <a:pt x="0" y="1150620"/>
                  </a:lnTo>
                  <a:lnTo>
                    <a:pt x="0" y="8054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175">
              <a:solidFill>
                <a:srgbClr val="9923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0" name="Google Shape;120;p19"/>
          <p:cNvSpPr txBox="1"/>
          <p:nvPr/>
        </p:nvSpPr>
        <p:spPr>
          <a:xfrm>
            <a:off x="874721" y="4350588"/>
            <a:ext cx="3107055" cy="12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sentencia SELECT entre  paréntesis es la consulta interna o  "subconsulta".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060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ejecuta en primer lugar, antes  que la consulta externa.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9"/>
          <p:cNvSpPr txBox="1"/>
          <p:nvPr>
            <p:ph idx="10" type="dt"/>
          </p:nvPr>
        </p:nvSpPr>
        <p:spPr>
          <a:xfrm>
            <a:off x="2349185" y="6516395"/>
            <a:ext cx="207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Conceptos Fundamentales de las Subconsultas</a:t>
            </a:r>
            <a:endParaRPr/>
          </a:p>
        </p:txBody>
      </p:sp>
      <p:sp>
        <p:nvSpPr>
          <p:cNvPr id="122" name="Google Shape;122;p19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9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/>
          <p:nvPr/>
        </p:nvSpPr>
        <p:spPr>
          <a:xfrm>
            <a:off x="4440935" y="4287011"/>
            <a:ext cx="4310380" cy="1495425"/>
          </a:xfrm>
          <a:custGeom>
            <a:rect b="b" l="l" r="r" t="t"/>
            <a:pathLst>
              <a:path extrusionOk="0" h="1495425" w="4310380">
                <a:moveTo>
                  <a:pt x="4309871" y="0"/>
                </a:moveTo>
                <a:lnTo>
                  <a:pt x="0" y="0"/>
                </a:lnTo>
                <a:lnTo>
                  <a:pt x="0" y="1495044"/>
                </a:lnTo>
                <a:lnTo>
                  <a:pt x="4309871" y="1495044"/>
                </a:lnTo>
                <a:lnTo>
                  <a:pt x="4309871" y="0"/>
                </a:lnTo>
                <a:close/>
              </a:path>
            </a:pathLst>
          </a:cu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9" name="Google Shape;129;p20"/>
          <p:cNvSpPr txBox="1"/>
          <p:nvPr/>
        </p:nvSpPr>
        <p:spPr>
          <a:xfrm>
            <a:off x="4428455" y="4308558"/>
            <a:ext cx="343916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9607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select_list  FROM table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4320" lvl="0" marL="28702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expression operator  (SELECT select_list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498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table);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0" name="Google Shape;130;p20"/>
          <p:cNvSpPr txBox="1"/>
          <p:nvPr>
            <p:ph type="title"/>
          </p:nvPr>
        </p:nvSpPr>
        <p:spPr>
          <a:xfrm>
            <a:off x="392112" y="748031"/>
            <a:ext cx="5893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Visión General de las Subconsultas</a:t>
            </a:r>
            <a:endParaRPr sz="3300"/>
          </a:p>
        </p:txBody>
      </p:sp>
      <p:sp>
        <p:nvSpPr>
          <p:cNvPr id="131" name="Google Shape;131;p20"/>
          <p:cNvSpPr txBox="1"/>
          <p:nvPr/>
        </p:nvSpPr>
        <p:spPr>
          <a:xfrm>
            <a:off x="483544" y="1415417"/>
            <a:ext cx="7836534" cy="1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subconsultas se pueden colocar en una serie de  cláusulas SQL, incluida la cláusula WHERE, la cláusula  HAVING y la cláusula FROM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14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sintaxis de la subconsulta es: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" name="Google Shape;132;p20"/>
          <p:cNvGrpSpPr/>
          <p:nvPr/>
        </p:nvGrpSpPr>
        <p:grpSpPr>
          <a:xfrm>
            <a:off x="768095" y="4287011"/>
            <a:ext cx="3872229" cy="1381125"/>
            <a:chOff x="768095" y="4287011"/>
            <a:chExt cx="3872229" cy="1381125"/>
          </a:xfrm>
        </p:grpSpPr>
        <p:sp>
          <p:nvSpPr>
            <p:cNvPr id="133" name="Google Shape;133;p20"/>
            <p:cNvSpPr/>
            <p:nvPr/>
          </p:nvSpPr>
          <p:spPr>
            <a:xfrm>
              <a:off x="768095" y="4287011"/>
              <a:ext cx="3872229" cy="1381125"/>
            </a:xfrm>
            <a:custGeom>
              <a:rect b="b" l="l" r="r" t="t"/>
              <a:pathLst>
                <a:path extrusionOk="0" h="1381125" w="3872229">
                  <a:moveTo>
                    <a:pt x="3308604" y="0"/>
                  </a:moveTo>
                  <a:lnTo>
                    <a:pt x="0" y="0"/>
                  </a:lnTo>
                  <a:lnTo>
                    <a:pt x="0" y="1380744"/>
                  </a:lnTo>
                  <a:lnTo>
                    <a:pt x="3308604" y="1380744"/>
                  </a:lnTo>
                  <a:lnTo>
                    <a:pt x="3308604" y="1150620"/>
                  </a:lnTo>
                  <a:lnTo>
                    <a:pt x="3871633" y="988949"/>
                  </a:lnTo>
                  <a:lnTo>
                    <a:pt x="3308604" y="805434"/>
                  </a:lnTo>
                  <a:lnTo>
                    <a:pt x="3308604" y="0"/>
                  </a:lnTo>
                  <a:close/>
                </a:path>
              </a:pathLst>
            </a:custGeom>
            <a:solidFill>
              <a:srgbClr val="D135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" name="Google Shape;134;p20"/>
            <p:cNvSpPr/>
            <p:nvPr/>
          </p:nvSpPr>
          <p:spPr>
            <a:xfrm>
              <a:off x="768095" y="4287011"/>
              <a:ext cx="3872229" cy="1381125"/>
            </a:xfrm>
            <a:custGeom>
              <a:rect b="b" l="l" r="r" t="t"/>
              <a:pathLst>
                <a:path extrusionOk="0" h="1381125" w="3872229">
                  <a:moveTo>
                    <a:pt x="0" y="0"/>
                  </a:moveTo>
                  <a:lnTo>
                    <a:pt x="1930019" y="0"/>
                  </a:lnTo>
                  <a:lnTo>
                    <a:pt x="2757170" y="0"/>
                  </a:lnTo>
                  <a:lnTo>
                    <a:pt x="3308604" y="0"/>
                  </a:lnTo>
                  <a:lnTo>
                    <a:pt x="3308604" y="805434"/>
                  </a:lnTo>
                  <a:lnTo>
                    <a:pt x="3871633" y="988949"/>
                  </a:lnTo>
                  <a:lnTo>
                    <a:pt x="3308604" y="1150620"/>
                  </a:lnTo>
                  <a:lnTo>
                    <a:pt x="3308604" y="1380744"/>
                  </a:lnTo>
                  <a:lnTo>
                    <a:pt x="2757170" y="1380744"/>
                  </a:lnTo>
                  <a:lnTo>
                    <a:pt x="1930019" y="1380744"/>
                  </a:lnTo>
                  <a:lnTo>
                    <a:pt x="0" y="1380744"/>
                  </a:lnTo>
                  <a:lnTo>
                    <a:pt x="0" y="1150620"/>
                  </a:lnTo>
                  <a:lnTo>
                    <a:pt x="0" y="8054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175">
              <a:solidFill>
                <a:srgbClr val="9923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5" name="Google Shape;135;p20"/>
          <p:cNvSpPr txBox="1"/>
          <p:nvPr/>
        </p:nvSpPr>
        <p:spPr>
          <a:xfrm>
            <a:off x="874721" y="4350588"/>
            <a:ext cx="3107055" cy="12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sentencia SELECT entre  paréntesis es la consulta interna o  "subconsulta".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060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ejecuta en primer lugar, antes  que la consulta externa.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0"/>
          <p:cNvSpPr txBox="1"/>
          <p:nvPr>
            <p:ph idx="10" type="dt"/>
          </p:nvPr>
        </p:nvSpPr>
        <p:spPr>
          <a:xfrm>
            <a:off x="2349185" y="6516395"/>
            <a:ext cx="207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Conceptos Fundamentales de las Subconsultas</a:t>
            </a:r>
            <a:endParaRPr/>
          </a:p>
        </p:txBody>
      </p:sp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0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title"/>
          </p:nvPr>
        </p:nvSpPr>
        <p:spPr>
          <a:xfrm>
            <a:off x="392112" y="748031"/>
            <a:ext cx="712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Instrucciones para el Uso de Subconsultas</a:t>
            </a:r>
            <a:endParaRPr sz="3300"/>
          </a:p>
        </p:txBody>
      </p:sp>
      <p:sp>
        <p:nvSpPr>
          <p:cNvPr id="144" name="Google Shape;144;p21"/>
          <p:cNvSpPr txBox="1"/>
          <p:nvPr>
            <p:ph idx="10" type="dt"/>
          </p:nvPr>
        </p:nvSpPr>
        <p:spPr>
          <a:xfrm>
            <a:off x="2349185" y="6516395"/>
            <a:ext cx="207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Conceptos Fundamentales de las Subconsultas</a:t>
            </a:r>
            <a:endParaRPr/>
          </a:p>
        </p:txBody>
      </p:sp>
      <p:sp>
        <p:nvSpPr>
          <p:cNvPr id="145" name="Google Shape;145;p21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1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47" name="Google Shape;147;p21"/>
          <p:cNvSpPr txBox="1"/>
          <p:nvPr/>
        </p:nvSpPr>
        <p:spPr>
          <a:xfrm>
            <a:off x="483552" y="1393401"/>
            <a:ext cx="8166100" cy="4403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Instrucciones: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subconsulta se incluye entre paréntesis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730250" rtl="0" algn="l">
              <a:lnSpc>
                <a:spcPct val="107916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subconsulta se coloca a la derecha de la condición de  comparación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43434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consultas externas e internas pueden obtener datos de  diferentes tablas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231775" rtl="0" algn="l">
              <a:lnSpc>
                <a:spcPct val="107916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Solo se puede utilizar una cláusula ORDER BY para una  sentencia SELECT; si se utiliza, debe ser la última cláusula de  la consulta externa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Una subconsulta no puede tener su propia cláusula ORDER BY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25400" rtl="0" algn="l">
              <a:lnSpc>
                <a:spcPct val="107916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El único límite en el número de subconsultas es el tamaño del  buffer que utiliza la consulta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392112" y="748031"/>
            <a:ext cx="4513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Dos Tipos de Subconsultas</a:t>
            </a:r>
            <a:endParaRPr sz="3300"/>
          </a:p>
        </p:txBody>
      </p:sp>
      <p:sp>
        <p:nvSpPr>
          <p:cNvPr id="153" name="Google Shape;153;p22"/>
          <p:cNvSpPr txBox="1"/>
          <p:nvPr/>
        </p:nvSpPr>
        <p:spPr>
          <a:xfrm>
            <a:off x="483552" y="1393401"/>
            <a:ext cx="8114665" cy="2554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Los dos tipos de subconsultas son: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130175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Subconsultas de una sola fila que utilizan operadores de una  sola fila (&gt;, =, &gt;=, &lt;, &lt;&gt;, &lt;=) y solo devuelven una fila de la  consulta interna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just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Subconsultas de varias filas que utilizan operadores de varias  filas (EN, ANY, ALL) y devuelven más de una fila de la consulta  interna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7123" y="4030979"/>
            <a:ext cx="3349739" cy="224027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2"/>
          <p:cNvSpPr txBox="1"/>
          <p:nvPr>
            <p:ph idx="10" type="dt"/>
          </p:nvPr>
        </p:nvSpPr>
        <p:spPr>
          <a:xfrm>
            <a:off x="2349185" y="6516395"/>
            <a:ext cx="207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Conceptos Fundamentales de las Subconsultas</a:t>
            </a:r>
            <a:endParaRPr/>
          </a:p>
        </p:txBody>
      </p:sp>
      <p:sp>
        <p:nvSpPr>
          <p:cNvPr id="156" name="Google Shape;156;p22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2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title"/>
          </p:nvPr>
        </p:nvSpPr>
        <p:spPr>
          <a:xfrm>
            <a:off x="392112" y="748031"/>
            <a:ext cx="4092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Ejemplo de Subconsulta</a:t>
            </a:r>
            <a:endParaRPr sz="3300"/>
          </a:p>
        </p:txBody>
      </p:sp>
      <p:sp>
        <p:nvSpPr>
          <p:cNvPr id="163" name="Google Shape;163;p23"/>
          <p:cNvSpPr txBox="1"/>
          <p:nvPr>
            <p:ph idx="10" type="dt"/>
          </p:nvPr>
        </p:nvSpPr>
        <p:spPr>
          <a:xfrm>
            <a:off x="2349185" y="6516395"/>
            <a:ext cx="207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Conceptos Fundamentales de las Subconsultas</a:t>
            </a:r>
            <a:endParaRPr/>
          </a:p>
        </p:txBody>
      </p:sp>
      <p:sp>
        <p:nvSpPr>
          <p:cNvPr id="164" name="Google Shape;164;p23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3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66" name="Google Shape;166;p23"/>
          <p:cNvSpPr txBox="1"/>
          <p:nvPr/>
        </p:nvSpPr>
        <p:spPr>
          <a:xfrm>
            <a:off x="483552" y="1415417"/>
            <a:ext cx="7409180" cy="2960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11303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¿Qué hacer si desea averiguar los nombres de los  empleados contratados después Peter Vargas?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28194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Lo primero que debe saber es la respuesta a la  pregunta "¿Cuándo se contrató a Peter Vargas?"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Una vez que sepa su fecha de contratación, puede  seleccionar aquellos empleados cuyas fechas de  contratación sean posteriores a la suya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7" name="Google Shape;167;p23"/>
          <p:cNvGraphicFramePr/>
          <p:nvPr/>
        </p:nvGraphicFramePr>
        <p:xfrm>
          <a:off x="398462" y="44013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{3842598A-233B-43B4-BBBA-A662C7506F70}</a:tableStyleId>
              </a:tblPr>
              <a:tblGrid>
                <a:gridCol w="1167125"/>
                <a:gridCol w="1167125"/>
                <a:gridCol w="1167125"/>
              </a:tblGrid>
              <a:tr h="3388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FIRST_NAME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HIRE_DATE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392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Eleni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Zlotkey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29-Jan-2000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392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Kimberely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24-May-1999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39250"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Kevin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Mourgos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16-Nov-1999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39250"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Diana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Lorentz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07-Feb-1999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sp>
        <p:nvSpPr>
          <p:cNvPr id="168" name="Google Shape;168;p23"/>
          <p:cNvSpPr txBox="1"/>
          <p:nvPr/>
        </p:nvSpPr>
        <p:spPr>
          <a:xfrm>
            <a:off x="4440935" y="4407408"/>
            <a:ext cx="4310380" cy="2005964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-273685" lvl="0" marL="273685" marR="342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first_name, last_name,  hire_date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84403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  WHERE hire_date &gt;  (SELECT hire_date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6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6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last_name = 'Vargas');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/>
          <p:nvPr>
            <p:ph type="title"/>
          </p:nvPr>
        </p:nvSpPr>
        <p:spPr>
          <a:xfrm>
            <a:off x="392112" y="748031"/>
            <a:ext cx="4251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Subconsulta y Valor Nulo</a:t>
            </a:r>
            <a:endParaRPr sz="3300"/>
          </a:p>
        </p:txBody>
      </p:sp>
      <p:sp>
        <p:nvSpPr>
          <p:cNvPr id="174" name="Google Shape;174;p24"/>
          <p:cNvSpPr txBox="1"/>
          <p:nvPr>
            <p:ph idx="10" type="dt"/>
          </p:nvPr>
        </p:nvSpPr>
        <p:spPr>
          <a:xfrm>
            <a:off x="2349185" y="6516395"/>
            <a:ext cx="207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Conceptos Fundamentales de las Subconsultas</a:t>
            </a:r>
            <a:endParaRPr/>
          </a:p>
        </p:txBody>
      </p:sp>
      <p:sp>
        <p:nvSpPr>
          <p:cNvPr id="175" name="Google Shape;175;p24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4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77" name="Google Shape;177;p24"/>
          <p:cNvSpPr txBox="1"/>
          <p:nvPr/>
        </p:nvSpPr>
        <p:spPr>
          <a:xfrm>
            <a:off x="483552" y="1415417"/>
            <a:ext cx="8048625" cy="2858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30607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una subconsulta devuelve un valor nulo o ninguna  fila, la consulta externa toma los resultados de la  subconsulta (nulos) y utiliza este resultado en su  cláusula WHERE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78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 continuación, la consulta externa no devolverá  ninguna fila, porque la comparación de cualquier valor  con un valor nulo siempre devuelve un valor nulo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>
            <a:off x="5314862" y="5503477"/>
            <a:ext cx="147828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no se han  encontrado datos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4"/>
          <p:cNvSpPr txBox="1"/>
          <p:nvPr/>
        </p:nvSpPr>
        <p:spPr>
          <a:xfrm>
            <a:off x="405384" y="4437888"/>
            <a:ext cx="4617720" cy="159004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3685" lvl="0" marL="273685" marR="147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department_id =  (SELECT department_id  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08940" marR="0" rtl="0" algn="l">
              <a:lnSpc>
                <a:spcPct val="119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last_name = 'Grant');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/>
          <p:nvPr>
            <p:ph type="title"/>
          </p:nvPr>
        </p:nvSpPr>
        <p:spPr>
          <a:xfrm>
            <a:off x="392112" y="748031"/>
            <a:ext cx="4251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Subconsulta y Valor Nulo</a:t>
            </a:r>
            <a:endParaRPr sz="3300"/>
          </a:p>
        </p:txBody>
      </p:sp>
      <p:sp>
        <p:nvSpPr>
          <p:cNvPr id="185" name="Google Shape;185;p25"/>
          <p:cNvSpPr txBox="1"/>
          <p:nvPr>
            <p:ph idx="10" type="dt"/>
          </p:nvPr>
        </p:nvSpPr>
        <p:spPr>
          <a:xfrm>
            <a:off x="2349185" y="6516395"/>
            <a:ext cx="207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Conceptos Fundamentales de las Subconsultas</a:t>
            </a:r>
            <a:endParaRPr/>
          </a:p>
        </p:txBody>
      </p:sp>
      <p:sp>
        <p:nvSpPr>
          <p:cNvPr id="186" name="Google Shape;186;p25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5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88" name="Google Shape;188;p25"/>
          <p:cNvSpPr txBox="1"/>
          <p:nvPr/>
        </p:nvSpPr>
        <p:spPr>
          <a:xfrm>
            <a:off x="483552" y="1355371"/>
            <a:ext cx="81407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750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¿Quién trabaja en el mismo departamento que Grant?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207645" rtl="0" algn="l">
              <a:lnSpc>
                <a:spcPct val="108214"/>
              </a:lnSpc>
              <a:spcBef>
                <a:spcPts val="844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El valor department_id de Grant es nulo, por lo que la  subconsulta devuelve NULL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3048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 continuación, la consulta externa sustituye este valor  en la cláusula WHERE (WHERE department_id = NULL)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78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consulta externa no devuelve ninguna fila, porque la  comparación de cualquier cosa con un valor nulo  devuelve un valor nulo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5"/>
          <p:cNvSpPr txBox="1"/>
          <p:nvPr/>
        </p:nvSpPr>
        <p:spPr>
          <a:xfrm>
            <a:off x="2572795" y="5809701"/>
            <a:ext cx="147828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no se han  encontrado datos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4145279" y="4861559"/>
            <a:ext cx="4617720" cy="163068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3685" lvl="0" marL="273685" marR="14725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department_id =  (SELECT department_id  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089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last_name = 'Grant');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type="title"/>
          </p:nvPr>
        </p:nvSpPr>
        <p:spPr>
          <a:xfrm>
            <a:off x="392112" y="748031"/>
            <a:ext cx="2229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Terminología</a:t>
            </a:r>
            <a:endParaRPr sz="3300"/>
          </a:p>
        </p:txBody>
      </p:sp>
      <p:sp>
        <p:nvSpPr>
          <p:cNvPr id="196" name="Google Shape;196;p26"/>
          <p:cNvSpPr txBox="1"/>
          <p:nvPr>
            <p:ph idx="10" type="dt"/>
          </p:nvPr>
        </p:nvSpPr>
        <p:spPr>
          <a:xfrm>
            <a:off x="2349185" y="6516395"/>
            <a:ext cx="207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Conceptos Fundamentales de las Subconsultas</a:t>
            </a:r>
            <a:endParaRPr/>
          </a:p>
        </p:txBody>
      </p:sp>
      <p:sp>
        <p:nvSpPr>
          <p:cNvPr id="197" name="Google Shape;197;p26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99" name="Google Shape;199;p26"/>
          <p:cNvSpPr txBox="1"/>
          <p:nvPr/>
        </p:nvSpPr>
        <p:spPr>
          <a:xfrm>
            <a:off x="483552" y="1415417"/>
            <a:ext cx="7702550" cy="274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Entre los términos clave utilizados en esta lección se  incluyen: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Subconsulta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Consulta interna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Consulta externa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Subconsulta de una sola fila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Subconsulta de varias filas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>
            <p:ph type="title"/>
          </p:nvPr>
        </p:nvSpPr>
        <p:spPr>
          <a:xfrm>
            <a:off x="392112" y="748031"/>
            <a:ext cx="1602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Resumen</a:t>
            </a:r>
            <a:endParaRPr sz="3300"/>
          </a:p>
        </p:txBody>
      </p:sp>
      <p:sp>
        <p:nvSpPr>
          <p:cNvPr id="205" name="Google Shape;205;p27"/>
          <p:cNvSpPr txBox="1"/>
          <p:nvPr/>
        </p:nvSpPr>
        <p:spPr>
          <a:xfrm>
            <a:off x="483552" y="1393401"/>
            <a:ext cx="7546975" cy="22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lección, debe haber aprendido lo siguiente: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49784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Definir y explicar el objetivo de las subconsultas para  recuperar datos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372745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Crear y ejecutar una subconsulta de una sola fila en la  cláusula WHERE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Diferenciar entre subconsultas de una y varias filas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6" name="Google Shape;206;p27"/>
          <p:cNvGrpSpPr/>
          <p:nvPr/>
        </p:nvGrpSpPr>
        <p:grpSpPr>
          <a:xfrm>
            <a:off x="4084320" y="3857244"/>
            <a:ext cx="4139183" cy="2261615"/>
            <a:chOff x="4084320" y="3857244"/>
            <a:chExt cx="4139183" cy="2261615"/>
          </a:xfrm>
        </p:grpSpPr>
        <p:pic>
          <p:nvPicPr>
            <p:cNvPr id="207" name="Google Shape;20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84320" y="3857244"/>
              <a:ext cx="4139183" cy="22616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276344" y="4049280"/>
              <a:ext cx="3755135" cy="18775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9" name="Google Shape;209;p27"/>
          <p:cNvSpPr txBox="1"/>
          <p:nvPr>
            <p:ph idx="10" type="dt"/>
          </p:nvPr>
        </p:nvSpPr>
        <p:spPr>
          <a:xfrm>
            <a:off x="2349185" y="6516395"/>
            <a:ext cx="20745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Conceptos Fundamentales de las Subconsultas</a:t>
            </a:r>
            <a:endParaRPr/>
          </a:p>
        </p:txBody>
      </p:sp>
      <p:sp>
        <p:nvSpPr>
          <p:cNvPr id="210" name="Google Shape;210;p27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7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