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y="68580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000000"/>
          </p15:clr>
        </p15:guide>
        <p15:guide id="2" pos="216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3353EBE-A567-4DC9-9E8F-97FF44465357}">
  <a:tblStyle styleId="{B3353EBE-A567-4DC9-9E8F-97FF44465357}" styleName="Table_0">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 name="Google Shape;58;p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 name="Google Shape;70;p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 name="Google Shape;82;p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 name="Google Shape;91;p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 name="Google Shape;103;p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2020-08-14 14:00:07</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La subconsulta busca el valor de  department_id para "Marketing"; la consulta  externa utiliza el valor de  department_id devuelto para  mostrar filas de la tabla  employees.</a:t>
            </a:r>
            <a:endParaRPr/>
          </a:p>
        </p:txBody>
      </p:sp>
      <p:sp>
        <p:nvSpPr>
          <p:cNvPr id="115" name="Google Shape;115;p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2020-08-14 14:00:07</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La primera subconsulta devuelve  el job_id del empleado 141  (ST_CLERK). La segunda  subconsulta utiliza la tabla  departments para buscar el valor  de department_id en location_id  1500 (50). A continuación, la  consulta externa devuelve filas  de la tabla employees que  coinciden con los estos  dos valores.</a:t>
            </a:r>
            <a:endParaRPr/>
          </a:p>
          <a:p>
            <a:pPr indent="0" lvl="0" marL="0" rtl="0" algn="l">
              <a:spcBef>
                <a:spcPts val="0"/>
              </a:spcBef>
              <a:spcAft>
                <a:spcPts val="0"/>
              </a:spcAft>
              <a:buNone/>
            </a:pPr>
            <a:r>
              <a:rPr lang="en-US"/>
              <a:t>Nota: En esta instancia, puesto que  cada departamento está situado  en una sola ubicación, es seguro  usar subconsulta de una sola  fila. Si un departamento pudiera  estar en varias ubicaciones,  tendríamos que utilizar una  subconsulta de varias filas.</a:t>
            </a:r>
            <a:endParaRPr/>
          </a:p>
        </p:txBody>
      </p:sp>
      <p:sp>
        <p:nvSpPr>
          <p:cNvPr id="128" name="Google Shape;128;p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 name="Google Shape;143;p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3" name="Google Shape;153;p1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 name="Google Shape;166;p1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5" name="Google Shape;175;p1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8" name="Google Shape;188;p1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1" name="Google Shape;201;p1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992767"/>
            <a:ext cx="8520600" cy="27369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3778833"/>
            <a:ext cx="8520600" cy="10569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867800"/>
            <a:ext cx="8520600" cy="11223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536633"/>
            <a:ext cx="8520600" cy="4555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536633"/>
            <a:ext cx="3999900" cy="4555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536633"/>
            <a:ext cx="3999900" cy="4555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740800"/>
            <a:ext cx="2808000" cy="1007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852800"/>
            <a:ext cx="2808000" cy="42393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600200"/>
            <a:ext cx="6367800" cy="54543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67"/>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644233"/>
            <a:ext cx="4045200" cy="19764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3737433"/>
            <a:ext cx="4045200" cy="16467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965433"/>
            <a:ext cx="3837000" cy="49269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5640767"/>
            <a:ext cx="5998800" cy="8067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474833"/>
            <a:ext cx="8520600" cy="26181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4202967"/>
            <a:ext cx="8520600" cy="17343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50" name="Shape 50"/>
        <p:cNvGrpSpPr/>
        <p:nvPr/>
      </p:nvGrpSpPr>
      <p:grpSpPr>
        <a:xfrm>
          <a:off x="0" y="0"/>
          <a:ext cx="0" cy="0"/>
          <a:chOff x="0" y="0"/>
          <a:chExt cx="0" cy="0"/>
        </a:xfrm>
      </p:grpSpPr>
      <p:sp>
        <p:nvSpPr>
          <p:cNvPr id="51" name="Google Shape;51;p13"/>
          <p:cNvSpPr txBox="1"/>
          <p:nvPr>
            <p:ph type="title"/>
          </p:nvPr>
        </p:nvSpPr>
        <p:spPr>
          <a:xfrm>
            <a:off x="958315" y="862895"/>
            <a:ext cx="7227300" cy="13425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2800"/>
              <a:buNone/>
              <a:defRPr b="0" i="0" sz="4800">
                <a:solidFill>
                  <a:srgbClr val="4E3629"/>
                </a:solidFill>
                <a:latin typeface="Calibri"/>
                <a:ea typeface="Calibri"/>
                <a:cs typeface="Calibri"/>
                <a:sym typeface="Calibri"/>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2" name="Google Shape;52;p13"/>
          <p:cNvSpPr txBox="1"/>
          <p:nvPr>
            <p:ph idx="1" type="body"/>
          </p:nvPr>
        </p:nvSpPr>
        <p:spPr>
          <a:xfrm>
            <a:off x="483552" y="1415417"/>
            <a:ext cx="8174400" cy="285870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800"/>
              <a:buNone/>
              <a:defRPr b="0" i="0" sz="2800">
                <a:solidFill>
                  <a:srgbClr val="4E3629"/>
                </a:solidFill>
                <a:latin typeface="Calibri"/>
                <a:ea typeface="Calibri"/>
                <a:cs typeface="Calibri"/>
                <a:sym typeface="Calibri"/>
              </a:defRPr>
            </a:lvl1pPr>
            <a:lvl2pPr indent="-228600" lvl="1" marL="914400" algn="l">
              <a:spcBef>
                <a:spcPts val="1200"/>
              </a:spcBef>
              <a:spcAft>
                <a:spcPts val="0"/>
              </a:spcAft>
              <a:buSzPts val="1400"/>
              <a:buNone/>
              <a:defRPr/>
            </a:lvl2pPr>
            <a:lvl3pPr indent="-228600" lvl="2" marL="1371600" algn="l">
              <a:spcBef>
                <a:spcPts val="1200"/>
              </a:spcBef>
              <a:spcAft>
                <a:spcPts val="0"/>
              </a:spcAft>
              <a:buSzPts val="1400"/>
              <a:buNone/>
              <a:defRPr/>
            </a:lvl3pPr>
            <a:lvl4pPr indent="-228600" lvl="3" marL="1828800" algn="l">
              <a:spcBef>
                <a:spcPts val="1200"/>
              </a:spcBef>
              <a:spcAft>
                <a:spcPts val="0"/>
              </a:spcAft>
              <a:buSzPts val="1400"/>
              <a:buNone/>
              <a:defRPr/>
            </a:lvl4pPr>
            <a:lvl5pPr indent="-228600" lvl="4" marL="2286000" algn="l">
              <a:spcBef>
                <a:spcPts val="1200"/>
              </a:spcBef>
              <a:spcAft>
                <a:spcPts val="0"/>
              </a:spcAft>
              <a:buSzPts val="1400"/>
              <a:buNone/>
              <a:defRPr/>
            </a:lvl5pPr>
            <a:lvl6pPr indent="-228600" lvl="5" marL="2743200" algn="l">
              <a:spcBef>
                <a:spcPts val="1200"/>
              </a:spcBef>
              <a:spcAft>
                <a:spcPts val="0"/>
              </a:spcAft>
              <a:buSzPts val="1400"/>
              <a:buNone/>
              <a:defRPr/>
            </a:lvl6pPr>
            <a:lvl7pPr indent="-228600" lvl="6" marL="3200400" algn="l">
              <a:spcBef>
                <a:spcPts val="1200"/>
              </a:spcBef>
              <a:spcAft>
                <a:spcPts val="0"/>
              </a:spcAft>
              <a:buSzPts val="1400"/>
              <a:buNone/>
              <a:defRPr/>
            </a:lvl7pPr>
            <a:lvl8pPr indent="-228600" lvl="7" marL="3657600" algn="l">
              <a:spcBef>
                <a:spcPts val="1200"/>
              </a:spcBef>
              <a:spcAft>
                <a:spcPts val="0"/>
              </a:spcAft>
              <a:buSzPts val="1400"/>
              <a:buNone/>
              <a:defRPr/>
            </a:lvl8pPr>
            <a:lvl9pPr indent="-228600" lvl="8" marL="4114800" algn="l">
              <a:spcBef>
                <a:spcPts val="1200"/>
              </a:spcBef>
              <a:spcAft>
                <a:spcPts val="1200"/>
              </a:spcAft>
              <a:buSzPts val="1400"/>
              <a:buNone/>
              <a:defRPr/>
            </a:lvl9pPr>
          </a:lstStyle>
          <a:p/>
        </p:txBody>
      </p:sp>
      <p:sp>
        <p:nvSpPr>
          <p:cNvPr id="53" name="Google Shape;53;p13"/>
          <p:cNvSpPr txBox="1"/>
          <p:nvPr>
            <p:ph idx="11" type="ftr"/>
          </p:nvPr>
        </p:nvSpPr>
        <p:spPr>
          <a:xfrm>
            <a:off x="5172119" y="6589648"/>
            <a:ext cx="3222000" cy="1341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850">
                <a:solidFill>
                  <a:srgbClr val="4E3629"/>
                </a:solidFill>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13"/>
          <p:cNvSpPr txBox="1"/>
          <p:nvPr>
            <p:ph idx="10" type="dt"/>
          </p:nvPr>
        </p:nvSpPr>
        <p:spPr>
          <a:xfrm>
            <a:off x="2874191" y="6516395"/>
            <a:ext cx="1326000" cy="2496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850">
                <a:solidFill>
                  <a:srgbClr val="4E3629"/>
                </a:solidFill>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13"/>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lvl1pPr indent="0" lvl="0" marL="38100" marR="0" algn="l">
              <a:lnSpc>
                <a:spcPct val="104500"/>
              </a:lnSpc>
              <a:spcBef>
                <a:spcPts val="0"/>
              </a:spcBef>
              <a:buNone/>
              <a:defRPr b="1" i="0" sz="1000">
                <a:solidFill>
                  <a:srgbClr val="4E3629"/>
                </a:solidFill>
                <a:latin typeface="Calibri"/>
                <a:ea typeface="Calibri"/>
                <a:cs typeface="Calibri"/>
                <a:sym typeface="Calibri"/>
              </a:defRPr>
            </a:lvl1pPr>
            <a:lvl2pPr indent="0" lvl="1" marL="38100" marR="0" algn="l">
              <a:lnSpc>
                <a:spcPct val="104500"/>
              </a:lnSpc>
              <a:spcBef>
                <a:spcPts val="0"/>
              </a:spcBef>
              <a:buNone/>
              <a:defRPr b="1" i="0" sz="1000">
                <a:solidFill>
                  <a:srgbClr val="4E3629"/>
                </a:solidFill>
                <a:latin typeface="Calibri"/>
                <a:ea typeface="Calibri"/>
                <a:cs typeface="Calibri"/>
                <a:sym typeface="Calibri"/>
              </a:defRPr>
            </a:lvl2pPr>
            <a:lvl3pPr indent="0" lvl="2" marL="38100" marR="0" algn="l">
              <a:lnSpc>
                <a:spcPct val="104500"/>
              </a:lnSpc>
              <a:spcBef>
                <a:spcPts val="0"/>
              </a:spcBef>
              <a:buNone/>
              <a:defRPr b="1" i="0" sz="1000">
                <a:solidFill>
                  <a:srgbClr val="4E3629"/>
                </a:solidFill>
                <a:latin typeface="Calibri"/>
                <a:ea typeface="Calibri"/>
                <a:cs typeface="Calibri"/>
                <a:sym typeface="Calibri"/>
              </a:defRPr>
            </a:lvl3pPr>
            <a:lvl4pPr indent="0" lvl="3" marL="38100" marR="0" algn="l">
              <a:lnSpc>
                <a:spcPct val="104500"/>
              </a:lnSpc>
              <a:spcBef>
                <a:spcPts val="0"/>
              </a:spcBef>
              <a:buNone/>
              <a:defRPr b="1" i="0" sz="1000">
                <a:solidFill>
                  <a:srgbClr val="4E3629"/>
                </a:solidFill>
                <a:latin typeface="Calibri"/>
                <a:ea typeface="Calibri"/>
                <a:cs typeface="Calibri"/>
                <a:sym typeface="Calibri"/>
              </a:defRPr>
            </a:lvl4pPr>
            <a:lvl5pPr indent="0" lvl="4" marL="38100" marR="0" algn="l">
              <a:lnSpc>
                <a:spcPct val="104500"/>
              </a:lnSpc>
              <a:spcBef>
                <a:spcPts val="0"/>
              </a:spcBef>
              <a:buNone/>
              <a:defRPr b="1" i="0" sz="1000">
                <a:solidFill>
                  <a:srgbClr val="4E3629"/>
                </a:solidFill>
                <a:latin typeface="Calibri"/>
                <a:ea typeface="Calibri"/>
                <a:cs typeface="Calibri"/>
                <a:sym typeface="Calibri"/>
              </a:defRPr>
            </a:lvl5pPr>
            <a:lvl6pPr indent="0" lvl="5" marL="38100" marR="0" algn="l">
              <a:lnSpc>
                <a:spcPct val="104500"/>
              </a:lnSpc>
              <a:spcBef>
                <a:spcPts val="0"/>
              </a:spcBef>
              <a:buNone/>
              <a:defRPr b="1" i="0" sz="1000">
                <a:solidFill>
                  <a:srgbClr val="4E3629"/>
                </a:solidFill>
                <a:latin typeface="Calibri"/>
                <a:ea typeface="Calibri"/>
                <a:cs typeface="Calibri"/>
                <a:sym typeface="Calibri"/>
              </a:defRPr>
            </a:lvl6pPr>
            <a:lvl7pPr indent="0" lvl="6" marL="38100" marR="0" algn="l">
              <a:lnSpc>
                <a:spcPct val="104500"/>
              </a:lnSpc>
              <a:spcBef>
                <a:spcPts val="0"/>
              </a:spcBef>
              <a:buNone/>
              <a:defRPr b="1" i="0" sz="1000">
                <a:solidFill>
                  <a:srgbClr val="4E3629"/>
                </a:solidFill>
                <a:latin typeface="Calibri"/>
                <a:ea typeface="Calibri"/>
                <a:cs typeface="Calibri"/>
                <a:sym typeface="Calibri"/>
              </a:defRPr>
            </a:lvl7pPr>
            <a:lvl8pPr indent="0" lvl="7" marL="38100" marR="0" algn="l">
              <a:lnSpc>
                <a:spcPct val="104500"/>
              </a:lnSpc>
              <a:spcBef>
                <a:spcPts val="0"/>
              </a:spcBef>
              <a:buNone/>
              <a:defRPr b="1" i="0" sz="1000">
                <a:solidFill>
                  <a:srgbClr val="4E3629"/>
                </a:solidFill>
                <a:latin typeface="Calibri"/>
                <a:ea typeface="Calibri"/>
                <a:cs typeface="Calibri"/>
                <a:sym typeface="Calibri"/>
              </a:defRPr>
            </a:lvl8pPr>
            <a:lvl9pPr indent="0" lvl="8" marL="38100" marR="0" algn="l">
              <a:lnSpc>
                <a:spcPct val="104500"/>
              </a:lnSpc>
              <a:spcBef>
                <a:spcPts val="0"/>
              </a:spcBef>
              <a:buNone/>
              <a:defRPr b="1" i="0" sz="1000">
                <a:solidFill>
                  <a:srgbClr val="4E3629"/>
                </a:solidFill>
                <a:latin typeface="Calibri"/>
                <a:ea typeface="Calibri"/>
                <a:cs typeface="Calibri"/>
                <a:sym typeface="Calibri"/>
              </a:defRPr>
            </a:lvl9pPr>
          </a:lstStyle>
          <a:p>
            <a:pPr indent="0" lvl="0" marL="38100" rtl="0" algn="l">
              <a:spcBef>
                <a:spcPts val="0"/>
              </a:spcBef>
              <a:spcAft>
                <a:spcPts val="0"/>
              </a:spcAft>
              <a:buNone/>
            </a:pPr>
            <a:fld id="{00000000-1234-1234-1234-123412341234}" type="slidenum">
              <a:rPr lang="en-US"/>
              <a:t>‹#›</a:t>
            </a:fld>
            <a:endParaRPr b="0">
              <a:solidFill>
                <a:schemeClr val="dk2"/>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6.png"/><Relationship Id="rId4" Type="http://schemas.openxmlformats.org/officeDocument/2006/relationships/image" Target="../media/image4.png"/><Relationship Id="rId5" Type="http://schemas.openxmlformats.org/officeDocument/2006/relationships/image" Target="../media/image1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image" Target="../media/image3.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9" name="Shape 59"/>
        <p:cNvGrpSpPr/>
        <p:nvPr/>
      </p:nvGrpSpPr>
      <p:grpSpPr>
        <a:xfrm>
          <a:off x="0" y="0"/>
          <a:ext cx="0" cy="0"/>
          <a:chOff x="0" y="0"/>
          <a:chExt cx="0" cy="0"/>
        </a:xfrm>
      </p:grpSpPr>
      <p:grpSp>
        <p:nvGrpSpPr>
          <p:cNvPr id="60" name="Google Shape;60;p14"/>
          <p:cNvGrpSpPr/>
          <p:nvPr/>
        </p:nvGrpSpPr>
        <p:grpSpPr>
          <a:xfrm>
            <a:off x="0" y="0"/>
            <a:ext cx="9144000" cy="6858000"/>
            <a:chOff x="0" y="0"/>
            <a:chExt cx="9144000" cy="6858000"/>
          </a:xfrm>
        </p:grpSpPr>
        <p:pic>
          <p:nvPicPr>
            <p:cNvPr id="61" name="Google Shape;61;p14"/>
            <p:cNvPicPr preferRelativeResize="0"/>
            <p:nvPr/>
          </p:nvPicPr>
          <p:blipFill rotWithShape="1">
            <a:blip r:embed="rId3">
              <a:alphaModFix/>
            </a:blip>
            <a:srcRect b="0" l="0" r="0" t="0"/>
            <a:stretch/>
          </p:blipFill>
          <p:spPr>
            <a:xfrm>
              <a:off x="0" y="0"/>
              <a:ext cx="9144000" cy="6858000"/>
            </a:xfrm>
            <a:prstGeom prst="rect">
              <a:avLst/>
            </a:prstGeom>
            <a:noFill/>
            <a:ln>
              <a:noFill/>
            </a:ln>
          </p:spPr>
        </p:pic>
        <p:sp>
          <p:nvSpPr>
            <p:cNvPr id="62" name="Google Shape;62;p14"/>
            <p:cNvSpPr/>
            <p:nvPr/>
          </p:nvSpPr>
          <p:spPr>
            <a:xfrm>
              <a:off x="560831" y="702563"/>
              <a:ext cx="8022590" cy="5453380"/>
            </a:xfrm>
            <a:custGeom>
              <a:rect b="b" l="l" r="r" t="t"/>
              <a:pathLst>
                <a:path extrusionOk="0" h="5453380" w="8022590">
                  <a:moveTo>
                    <a:pt x="8022335" y="0"/>
                  </a:moveTo>
                  <a:lnTo>
                    <a:pt x="0" y="0"/>
                  </a:lnTo>
                  <a:lnTo>
                    <a:pt x="0" y="5452872"/>
                  </a:lnTo>
                  <a:lnTo>
                    <a:pt x="8022335" y="5452872"/>
                  </a:lnTo>
                  <a:lnTo>
                    <a:pt x="8022335" y="0"/>
                  </a:lnTo>
                  <a:close/>
                </a:path>
              </a:pathLst>
            </a:custGeom>
            <a:solidFill>
              <a:srgbClr val="DFE1E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pic>
          <p:nvPicPr>
            <p:cNvPr id="63" name="Google Shape;63;p14"/>
            <p:cNvPicPr preferRelativeResize="0"/>
            <p:nvPr/>
          </p:nvPicPr>
          <p:blipFill rotWithShape="1">
            <a:blip r:embed="rId4">
              <a:alphaModFix/>
            </a:blip>
            <a:srcRect b="0" l="0" r="0" t="0"/>
            <a:stretch/>
          </p:blipFill>
          <p:spPr>
            <a:xfrm>
              <a:off x="970787" y="5570219"/>
              <a:ext cx="1258823" cy="420623"/>
            </a:xfrm>
            <a:prstGeom prst="rect">
              <a:avLst/>
            </a:prstGeom>
            <a:noFill/>
            <a:ln>
              <a:noFill/>
            </a:ln>
          </p:spPr>
        </p:pic>
      </p:grpSp>
      <p:sp>
        <p:nvSpPr>
          <p:cNvPr id="64" name="Google Shape;64;p14"/>
          <p:cNvSpPr txBox="1"/>
          <p:nvPr/>
        </p:nvSpPr>
        <p:spPr>
          <a:xfrm>
            <a:off x="5057819" y="6562597"/>
            <a:ext cx="3221990" cy="15557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850">
                <a:solidFill>
                  <a:srgbClr val="FCEFD9"/>
                </a:solidFill>
                <a:latin typeface="Calibri"/>
                <a:ea typeface="Calibri"/>
                <a:cs typeface="Calibri"/>
                <a:sym typeface="Calibri"/>
              </a:rPr>
              <a:t>Copyright © 2020, Oracle y/o sus filiales. Todos los derechos reservados.</a:t>
            </a:r>
            <a:endParaRPr sz="850">
              <a:latin typeface="Calibri"/>
              <a:ea typeface="Calibri"/>
              <a:cs typeface="Calibri"/>
              <a:sym typeface="Calibri"/>
            </a:endParaRPr>
          </a:p>
        </p:txBody>
      </p:sp>
      <p:sp>
        <p:nvSpPr>
          <p:cNvPr id="65" name="Google Shape;65;p14"/>
          <p:cNvSpPr txBox="1"/>
          <p:nvPr>
            <p:ph type="title"/>
          </p:nvPr>
        </p:nvSpPr>
        <p:spPr>
          <a:xfrm>
            <a:off x="958315" y="862895"/>
            <a:ext cx="7227300" cy="1574400"/>
          </a:xfrm>
          <a:prstGeom prst="rect">
            <a:avLst/>
          </a:prstGeom>
          <a:noFill/>
          <a:ln>
            <a:noFill/>
          </a:ln>
        </p:spPr>
        <p:txBody>
          <a:bodyPr anchorCtr="0" anchor="t" bIns="0" lIns="0" spcFirstLastPara="1" rIns="0" wrap="square" tIns="153650">
            <a:spAutoFit/>
          </a:bodyPr>
          <a:lstStyle/>
          <a:p>
            <a:pPr indent="0" lvl="0" marL="12700" marR="5080" rtl="0" algn="l">
              <a:lnSpc>
                <a:spcPct val="96041"/>
              </a:lnSpc>
              <a:spcBef>
                <a:spcPts val="0"/>
              </a:spcBef>
              <a:spcAft>
                <a:spcPts val="0"/>
              </a:spcAft>
              <a:buNone/>
            </a:pPr>
            <a:r>
              <a:rPr lang="en-US"/>
              <a:t>Database Programming with  SQL</a:t>
            </a:r>
            <a:endParaRPr/>
          </a:p>
        </p:txBody>
      </p:sp>
      <p:sp>
        <p:nvSpPr>
          <p:cNvPr id="66" name="Google Shape;66;p14"/>
          <p:cNvSpPr txBox="1"/>
          <p:nvPr/>
        </p:nvSpPr>
        <p:spPr>
          <a:xfrm>
            <a:off x="962879" y="2400950"/>
            <a:ext cx="3764279" cy="888365"/>
          </a:xfrm>
          <a:prstGeom prst="rect">
            <a:avLst/>
          </a:prstGeom>
          <a:noFill/>
          <a:ln>
            <a:noFill/>
          </a:ln>
        </p:spPr>
        <p:txBody>
          <a:bodyPr anchorCtr="0" anchor="t" bIns="0" lIns="0" spcFirstLastPara="1" rIns="0" wrap="square" tIns="78100">
            <a:spAutoFit/>
          </a:bodyPr>
          <a:lstStyle/>
          <a:p>
            <a:pPr indent="0" lvl="0" marL="12700" marR="0" rtl="0" algn="l">
              <a:lnSpc>
                <a:spcPct val="100000"/>
              </a:lnSpc>
              <a:spcBef>
                <a:spcPts val="0"/>
              </a:spcBef>
              <a:spcAft>
                <a:spcPts val="0"/>
              </a:spcAft>
              <a:buNone/>
            </a:pPr>
            <a:r>
              <a:rPr b="1" lang="en-US" sz="2400">
                <a:solidFill>
                  <a:srgbClr val="4E3629"/>
                </a:solidFill>
                <a:latin typeface="Calibri"/>
                <a:ea typeface="Calibri"/>
                <a:cs typeface="Calibri"/>
                <a:sym typeface="Calibri"/>
              </a:rPr>
              <a:t>10-2</a:t>
            </a:r>
            <a:endParaRPr sz="2400">
              <a:latin typeface="Calibri"/>
              <a:ea typeface="Calibri"/>
              <a:cs typeface="Calibri"/>
              <a:sym typeface="Calibri"/>
            </a:endParaRPr>
          </a:p>
          <a:p>
            <a:pPr indent="0" lvl="0" marL="12700" marR="0" rtl="0" algn="l">
              <a:lnSpc>
                <a:spcPct val="100000"/>
              </a:lnSpc>
              <a:spcBef>
                <a:spcPts val="515"/>
              </a:spcBef>
              <a:spcAft>
                <a:spcPts val="0"/>
              </a:spcAft>
              <a:buNone/>
            </a:pPr>
            <a:r>
              <a:rPr b="1" lang="en-US" sz="2400">
                <a:solidFill>
                  <a:srgbClr val="4E3629"/>
                </a:solidFill>
                <a:latin typeface="Calibri"/>
                <a:ea typeface="Calibri"/>
                <a:cs typeface="Calibri"/>
                <a:sym typeface="Calibri"/>
              </a:rPr>
              <a:t>Subconsultas de Una Sola Fila</a:t>
            </a:r>
            <a:endParaRPr sz="2400">
              <a:latin typeface="Calibri"/>
              <a:ea typeface="Calibri"/>
              <a:cs typeface="Calibri"/>
              <a:sym typeface="Calibri"/>
            </a:endParaRPr>
          </a:p>
        </p:txBody>
      </p:sp>
      <p:pic>
        <p:nvPicPr>
          <p:cNvPr id="67" name="Google Shape;67;p14"/>
          <p:cNvPicPr preferRelativeResize="0"/>
          <p:nvPr/>
        </p:nvPicPr>
        <p:blipFill rotWithShape="1">
          <a:blip r:embed="rId5">
            <a:alphaModFix/>
          </a:blip>
          <a:srcRect b="0" l="0" r="0" t="0"/>
          <a:stretch/>
        </p:blipFill>
        <p:spPr>
          <a:xfrm>
            <a:off x="-576072" y="3485388"/>
            <a:ext cx="4957571" cy="2965703"/>
          </a:xfrm>
          <a:prstGeom prst="rect">
            <a:avLst/>
          </a:prstGeom>
          <a:noFill/>
          <a:ln>
            <a:noFill/>
          </a:ln>
        </p:spPr>
      </p:pic>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5"/>
          <p:cNvSpPr txBox="1"/>
          <p:nvPr>
            <p:ph type="title"/>
          </p:nvPr>
        </p:nvSpPr>
        <p:spPr>
          <a:xfrm>
            <a:off x="392112" y="748031"/>
            <a:ext cx="16365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300"/>
              <a:t>Objetivos</a:t>
            </a:r>
            <a:endParaRPr sz="3300"/>
          </a:p>
        </p:txBody>
      </p:sp>
      <p:sp>
        <p:nvSpPr>
          <p:cNvPr id="73" name="Google Shape;73;p15"/>
          <p:cNvSpPr txBox="1"/>
          <p:nvPr/>
        </p:nvSpPr>
        <p:spPr>
          <a:xfrm>
            <a:off x="483552" y="1393401"/>
            <a:ext cx="8019415" cy="2604770"/>
          </a:xfrm>
          <a:prstGeom prst="rect">
            <a:avLst/>
          </a:prstGeom>
          <a:noFill/>
          <a:ln>
            <a:noFill/>
          </a:ln>
        </p:spPr>
        <p:txBody>
          <a:bodyPr anchorCtr="0" anchor="t" bIns="0" lIns="0" spcFirstLastPara="1" rIns="0" wrap="square" tIns="34275">
            <a:spAutoFit/>
          </a:bodyPr>
          <a:lstStyle/>
          <a:p>
            <a:pPr indent="-177800" lvl="0" marL="184785" marR="0"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esta lección se abordan los siguientes objetivos:</a:t>
            </a:r>
            <a:endParaRPr sz="2800">
              <a:latin typeface="Calibri"/>
              <a:ea typeface="Calibri"/>
              <a:cs typeface="Calibri"/>
              <a:sym typeface="Calibri"/>
            </a:endParaRPr>
          </a:p>
          <a:p>
            <a:pPr indent="-175260" lvl="0" marL="530860" marR="845185" rtl="0" algn="l">
              <a:lnSpc>
                <a:spcPct val="107916"/>
              </a:lnSpc>
              <a:spcBef>
                <a:spcPts val="47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Crear y ejecutar una subconsulta de una sola fila en la  cláusula WHERE o en la cláusula HAVING</a:t>
            </a:r>
            <a:endParaRPr sz="2400">
              <a:latin typeface="Calibri"/>
              <a:ea typeface="Calibri"/>
              <a:cs typeface="Calibri"/>
              <a:sym typeface="Calibri"/>
            </a:endParaRPr>
          </a:p>
          <a:p>
            <a:pPr indent="-175260" lvl="0" marL="530860" marR="48895" rtl="0" algn="l">
              <a:lnSpc>
                <a:spcPct val="107916"/>
              </a:lnSpc>
              <a:spcBef>
                <a:spcPts val="40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Crear y ejecutar una sentencia SELECT mediante más de una  subconsulta</a:t>
            </a:r>
            <a:endParaRPr sz="2400">
              <a:latin typeface="Calibri"/>
              <a:ea typeface="Calibri"/>
              <a:cs typeface="Calibri"/>
              <a:sym typeface="Calibri"/>
            </a:endParaRPr>
          </a:p>
          <a:p>
            <a:pPr indent="-175260" lvl="0" marL="530860" marR="5080" rtl="0" algn="l">
              <a:lnSpc>
                <a:spcPct val="107916"/>
              </a:lnSpc>
              <a:spcBef>
                <a:spcPts val="40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Crear y ejecutar una sentencia SELECT mediante una función  de grupo en la subconsulta</a:t>
            </a:r>
            <a:endParaRPr sz="2400">
              <a:latin typeface="Calibri"/>
              <a:ea typeface="Calibri"/>
              <a:cs typeface="Calibri"/>
              <a:sym typeface="Calibri"/>
            </a:endParaRPr>
          </a:p>
        </p:txBody>
      </p:sp>
      <p:grpSp>
        <p:nvGrpSpPr>
          <p:cNvPr id="74" name="Google Shape;74;p15"/>
          <p:cNvGrpSpPr/>
          <p:nvPr/>
        </p:nvGrpSpPr>
        <p:grpSpPr>
          <a:xfrm>
            <a:off x="5301996" y="3732276"/>
            <a:ext cx="3337559" cy="2638043"/>
            <a:chOff x="5301996" y="3732276"/>
            <a:chExt cx="3337559" cy="2638043"/>
          </a:xfrm>
        </p:grpSpPr>
        <p:pic>
          <p:nvPicPr>
            <p:cNvPr id="75" name="Google Shape;75;p15"/>
            <p:cNvPicPr preferRelativeResize="0"/>
            <p:nvPr/>
          </p:nvPicPr>
          <p:blipFill rotWithShape="1">
            <a:blip r:embed="rId3">
              <a:alphaModFix/>
            </a:blip>
            <a:srcRect b="0" l="0" r="0" t="0"/>
            <a:stretch/>
          </p:blipFill>
          <p:spPr>
            <a:xfrm>
              <a:off x="5301996" y="3732276"/>
              <a:ext cx="3337559" cy="2638043"/>
            </a:xfrm>
            <a:prstGeom prst="rect">
              <a:avLst/>
            </a:prstGeom>
            <a:noFill/>
            <a:ln>
              <a:noFill/>
            </a:ln>
          </p:spPr>
        </p:pic>
        <p:pic>
          <p:nvPicPr>
            <p:cNvPr id="76" name="Google Shape;76;p15"/>
            <p:cNvPicPr preferRelativeResize="0"/>
            <p:nvPr/>
          </p:nvPicPr>
          <p:blipFill rotWithShape="1">
            <a:blip r:embed="rId4">
              <a:alphaModFix/>
            </a:blip>
            <a:srcRect b="0" l="0" r="0" t="0"/>
            <a:stretch/>
          </p:blipFill>
          <p:spPr>
            <a:xfrm>
              <a:off x="5494020" y="3924300"/>
              <a:ext cx="2953499" cy="2253995"/>
            </a:xfrm>
            <a:prstGeom prst="rect">
              <a:avLst/>
            </a:prstGeom>
            <a:noFill/>
            <a:ln>
              <a:noFill/>
            </a:ln>
          </p:spPr>
        </p:pic>
      </p:grpSp>
      <p:sp>
        <p:nvSpPr>
          <p:cNvPr id="77" name="Google Shape;77;p15"/>
          <p:cNvSpPr txBox="1"/>
          <p:nvPr>
            <p:ph idx="10" type="dt"/>
          </p:nvPr>
        </p:nvSpPr>
        <p:spPr>
          <a:xfrm>
            <a:off x="2874191" y="6516395"/>
            <a:ext cx="13260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10-2</a:t>
            </a:r>
            <a:endParaRPr/>
          </a:p>
          <a:p>
            <a:pPr indent="0" lvl="0" marL="12700" rtl="0" algn="l">
              <a:lnSpc>
                <a:spcPct val="120624"/>
              </a:lnSpc>
              <a:spcBef>
                <a:spcPts val="0"/>
              </a:spcBef>
              <a:spcAft>
                <a:spcPts val="0"/>
              </a:spcAft>
              <a:buNone/>
            </a:pPr>
            <a:r>
              <a:rPr lang="en-US"/>
              <a:t>Subconsultas de Una Sola Fila</a:t>
            </a:r>
            <a:endParaRPr/>
          </a:p>
        </p:txBody>
      </p:sp>
      <p:sp>
        <p:nvSpPr>
          <p:cNvPr id="78" name="Google Shape;78;p15"/>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79" name="Google Shape;79;p15"/>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6"/>
          <p:cNvSpPr txBox="1"/>
          <p:nvPr>
            <p:ph type="title"/>
          </p:nvPr>
        </p:nvSpPr>
        <p:spPr>
          <a:xfrm>
            <a:off x="392112" y="748031"/>
            <a:ext cx="14727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300"/>
              <a:t>Objetivo</a:t>
            </a:r>
            <a:endParaRPr sz="3300"/>
          </a:p>
        </p:txBody>
      </p:sp>
      <p:sp>
        <p:nvSpPr>
          <p:cNvPr id="85" name="Google Shape;85;p16"/>
          <p:cNvSpPr txBox="1"/>
          <p:nvPr>
            <p:ph idx="10" type="dt"/>
          </p:nvPr>
        </p:nvSpPr>
        <p:spPr>
          <a:xfrm>
            <a:off x="2874191" y="6516395"/>
            <a:ext cx="13260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10-2</a:t>
            </a:r>
            <a:endParaRPr/>
          </a:p>
          <a:p>
            <a:pPr indent="0" lvl="0" marL="12700" rtl="0" algn="l">
              <a:lnSpc>
                <a:spcPct val="120624"/>
              </a:lnSpc>
              <a:spcBef>
                <a:spcPts val="0"/>
              </a:spcBef>
              <a:spcAft>
                <a:spcPts val="0"/>
              </a:spcAft>
              <a:buNone/>
            </a:pPr>
            <a:r>
              <a:rPr lang="en-US"/>
              <a:t>Subconsultas de Una Sola Fila</a:t>
            </a:r>
            <a:endParaRPr/>
          </a:p>
        </p:txBody>
      </p:sp>
      <p:sp>
        <p:nvSpPr>
          <p:cNvPr id="86" name="Google Shape;86;p16"/>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87" name="Google Shape;87;p16"/>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88" name="Google Shape;88;p16"/>
          <p:cNvSpPr txBox="1"/>
          <p:nvPr/>
        </p:nvSpPr>
        <p:spPr>
          <a:xfrm>
            <a:off x="483552" y="1381889"/>
            <a:ext cx="8108315" cy="4170045"/>
          </a:xfrm>
          <a:prstGeom prst="rect">
            <a:avLst/>
          </a:prstGeom>
          <a:noFill/>
          <a:ln>
            <a:noFill/>
          </a:ln>
        </p:spPr>
        <p:txBody>
          <a:bodyPr anchorCtr="0" anchor="t" bIns="0" lIns="0" spcFirstLastPara="1" rIns="0" wrap="square" tIns="97150">
            <a:spAutoFit/>
          </a:bodyPr>
          <a:lstStyle/>
          <a:p>
            <a:pPr indent="-177800" lvl="0" marL="184785" marR="5080" rtl="0" algn="l">
              <a:lnSpc>
                <a:spcPct val="8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Como probable se habrá dado cuenta, las subconsultas  se parecen mucho a los motores de búsqueda de  Internet</a:t>
            </a:r>
            <a:endParaRPr sz="2800">
              <a:latin typeface="Calibri"/>
              <a:ea typeface="Calibri"/>
              <a:cs typeface="Calibri"/>
              <a:sym typeface="Calibri"/>
            </a:endParaRPr>
          </a:p>
          <a:p>
            <a:pPr indent="-177800" lvl="0" marL="184785" marR="45720" rtl="0" algn="l">
              <a:lnSpc>
                <a:spcPct val="80000"/>
              </a:lnSpc>
              <a:spcBef>
                <a:spcPts val="81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Son estupendas para localizar la información necesaria  para realizar otra tarea</a:t>
            </a:r>
            <a:endParaRPr sz="2800">
              <a:latin typeface="Calibri"/>
              <a:ea typeface="Calibri"/>
              <a:cs typeface="Calibri"/>
              <a:sym typeface="Calibri"/>
            </a:endParaRPr>
          </a:p>
          <a:p>
            <a:pPr indent="-177800" lvl="0" marL="184785" marR="349250" rtl="0" algn="l">
              <a:lnSpc>
                <a:spcPct val="80000"/>
              </a:lnSpc>
              <a:spcBef>
                <a:spcPts val="79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esta lección, aprenderá a crear tareas aún más  complicadas para que las subconsultas las hagan por  usted</a:t>
            </a:r>
            <a:endParaRPr sz="2800">
              <a:latin typeface="Calibri"/>
              <a:ea typeface="Calibri"/>
              <a:cs typeface="Calibri"/>
              <a:sym typeface="Calibri"/>
            </a:endParaRPr>
          </a:p>
          <a:p>
            <a:pPr indent="-177800" lvl="0" marL="184785" marR="181610" rtl="0" algn="just">
              <a:lnSpc>
                <a:spcPct val="80000"/>
              </a:lnSpc>
              <a:spcBef>
                <a:spcPts val="80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Tenga en cuenta que las subconsultas ahorran tiempo  en lo que respecta a que pueda realizar dos tareas en  una sentencia</a:t>
            </a:r>
            <a:endParaRPr sz="2800">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7"/>
          <p:cNvSpPr txBox="1"/>
          <p:nvPr>
            <p:ph type="title"/>
          </p:nvPr>
        </p:nvSpPr>
        <p:spPr>
          <a:xfrm>
            <a:off x="392112" y="748031"/>
            <a:ext cx="73932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300"/>
              <a:t>Hechos sobre Subconsultas de una Sola Fila</a:t>
            </a:r>
            <a:endParaRPr sz="3300"/>
          </a:p>
        </p:txBody>
      </p:sp>
      <p:sp>
        <p:nvSpPr>
          <p:cNvPr id="94" name="Google Shape;94;p17"/>
          <p:cNvSpPr txBox="1"/>
          <p:nvPr/>
        </p:nvSpPr>
        <p:spPr>
          <a:xfrm>
            <a:off x="483552" y="1393401"/>
            <a:ext cx="7279640" cy="3141345"/>
          </a:xfrm>
          <a:prstGeom prst="rect">
            <a:avLst/>
          </a:prstGeom>
          <a:noFill/>
          <a:ln>
            <a:noFill/>
          </a:ln>
        </p:spPr>
        <p:txBody>
          <a:bodyPr anchorCtr="0" anchor="t" bIns="0" lIns="0" spcFirstLastPara="1" rIns="0" wrap="square" tIns="34275">
            <a:spAutoFit/>
          </a:bodyPr>
          <a:lstStyle/>
          <a:p>
            <a:pPr indent="-177800" lvl="0" marL="184785" marR="0"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Estas subconsultas:</a:t>
            </a:r>
            <a:endParaRPr sz="2800">
              <a:latin typeface="Calibri"/>
              <a:ea typeface="Calibri"/>
              <a:cs typeface="Calibri"/>
              <a:sym typeface="Calibri"/>
            </a:endParaRPr>
          </a:p>
          <a:p>
            <a:pPr indent="0" lvl="0" marL="355600" marR="0" rtl="0" algn="l">
              <a:lnSpc>
                <a:spcPct val="100000"/>
              </a:lnSpc>
              <a:spcBef>
                <a:spcPts val="14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Devuelven una sola fila</a:t>
            </a:r>
            <a:endParaRPr sz="2400">
              <a:latin typeface="Calibri"/>
              <a:ea typeface="Calibri"/>
              <a:cs typeface="Calibri"/>
              <a:sym typeface="Calibri"/>
            </a:endParaRPr>
          </a:p>
          <a:p>
            <a:pPr indent="-175260" lvl="0" marL="530860" marR="353060" rtl="0" algn="l">
              <a:lnSpc>
                <a:spcPct val="107916"/>
              </a:lnSpc>
              <a:spcBef>
                <a:spcPts val="434"/>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Utilizan operadores de comparación de una sola fila  (=, &gt;,&gt;=, &lt;, &lt;=, &lt;&gt;)</a:t>
            </a:r>
            <a:endParaRPr sz="2400">
              <a:latin typeface="Calibri"/>
              <a:ea typeface="Calibri"/>
              <a:cs typeface="Calibri"/>
              <a:sym typeface="Calibri"/>
            </a:endParaRPr>
          </a:p>
          <a:p>
            <a:pPr indent="-177800" lvl="0" marL="184785" marR="0" rtl="0" algn="l">
              <a:lnSpc>
                <a:spcPct val="100000"/>
              </a:lnSpc>
              <a:spcBef>
                <a:spcPts val="40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Siempre:</a:t>
            </a:r>
            <a:endParaRPr sz="2800">
              <a:latin typeface="Calibri"/>
              <a:ea typeface="Calibri"/>
              <a:cs typeface="Calibri"/>
              <a:sym typeface="Calibri"/>
            </a:endParaRPr>
          </a:p>
          <a:p>
            <a:pPr indent="0" lvl="0" marL="355600" marR="0" rtl="0" algn="l">
              <a:lnSpc>
                <a:spcPct val="100000"/>
              </a:lnSpc>
              <a:spcBef>
                <a:spcPts val="13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Incluya la subconsulta entre paréntesis.</a:t>
            </a:r>
            <a:endParaRPr sz="2400">
              <a:latin typeface="Calibri"/>
              <a:ea typeface="Calibri"/>
              <a:cs typeface="Calibri"/>
              <a:sym typeface="Calibri"/>
            </a:endParaRPr>
          </a:p>
          <a:p>
            <a:pPr indent="-175260" lvl="0" marL="530860" marR="5080" rtl="0" algn="l">
              <a:lnSpc>
                <a:spcPct val="107916"/>
              </a:lnSpc>
              <a:spcBef>
                <a:spcPts val="439"/>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Coloque la subconsulta a la derecha de la condición de  comparación</a:t>
            </a:r>
            <a:endParaRPr sz="2400">
              <a:latin typeface="Calibri"/>
              <a:ea typeface="Calibri"/>
              <a:cs typeface="Calibri"/>
              <a:sym typeface="Calibri"/>
            </a:endParaRPr>
          </a:p>
        </p:txBody>
      </p:sp>
      <p:grpSp>
        <p:nvGrpSpPr>
          <p:cNvPr id="95" name="Google Shape;95;p17"/>
          <p:cNvGrpSpPr/>
          <p:nvPr/>
        </p:nvGrpSpPr>
        <p:grpSpPr>
          <a:xfrm>
            <a:off x="6696456" y="4639055"/>
            <a:ext cx="1973579" cy="1670304"/>
            <a:chOff x="6696456" y="4639055"/>
            <a:chExt cx="1973579" cy="1670304"/>
          </a:xfrm>
        </p:grpSpPr>
        <p:pic>
          <p:nvPicPr>
            <p:cNvPr id="96" name="Google Shape;96;p17"/>
            <p:cNvPicPr preferRelativeResize="0"/>
            <p:nvPr/>
          </p:nvPicPr>
          <p:blipFill rotWithShape="1">
            <a:blip r:embed="rId3">
              <a:alphaModFix/>
            </a:blip>
            <a:srcRect b="0" l="0" r="0" t="0"/>
            <a:stretch/>
          </p:blipFill>
          <p:spPr>
            <a:xfrm>
              <a:off x="6696456" y="5788152"/>
              <a:ext cx="1973579" cy="521207"/>
            </a:xfrm>
            <a:prstGeom prst="rect">
              <a:avLst/>
            </a:prstGeom>
            <a:noFill/>
            <a:ln>
              <a:noFill/>
            </a:ln>
          </p:spPr>
        </p:pic>
        <p:pic>
          <p:nvPicPr>
            <p:cNvPr id="97" name="Google Shape;97;p17"/>
            <p:cNvPicPr preferRelativeResize="0"/>
            <p:nvPr/>
          </p:nvPicPr>
          <p:blipFill rotWithShape="1">
            <a:blip r:embed="rId4">
              <a:alphaModFix/>
            </a:blip>
            <a:srcRect b="0" l="0" r="0" t="0"/>
            <a:stretch/>
          </p:blipFill>
          <p:spPr>
            <a:xfrm>
              <a:off x="7353300" y="4639055"/>
              <a:ext cx="1239011" cy="1592580"/>
            </a:xfrm>
            <a:prstGeom prst="rect">
              <a:avLst/>
            </a:prstGeom>
            <a:noFill/>
            <a:ln>
              <a:noFill/>
            </a:ln>
          </p:spPr>
        </p:pic>
      </p:grpSp>
      <p:sp>
        <p:nvSpPr>
          <p:cNvPr id="98" name="Google Shape;98;p17"/>
          <p:cNvSpPr txBox="1"/>
          <p:nvPr>
            <p:ph idx="10" type="dt"/>
          </p:nvPr>
        </p:nvSpPr>
        <p:spPr>
          <a:xfrm>
            <a:off x="2874191" y="6516395"/>
            <a:ext cx="13260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10-2</a:t>
            </a:r>
            <a:endParaRPr/>
          </a:p>
          <a:p>
            <a:pPr indent="0" lvl="0" marL="12700" rtl="0" algn="l">
              <a:lnSpc>
                <a:spcPct val="120624"/>
              </a:lnSpc>
              <a:spcBef>
                <a:spcPts val="0"/>
              </a:spcBef>
              <a:spcAft>
                <a:spcPts val="0"/>
              </a:spcAft>
              <a:buNone/>
            </a:pPr>
            <a:r>
              <a:rPr lang="en-US"/>
              <a:t>Subconsultas de Una Sola Fila</a:t>
            </a:r>
            <a:endParaRPr/>
          </a:p>
        </p:txBody>
      </p:sp>
      <p:sp>
        <p:nvSpPr>
          <p:cNvPr id="99" name="Google Shape;99;p17"/>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00" name="Google Shape;100;p17"/>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8"/>
          <p:cNvSpPr txBox="1"/>
          <p:nvPr>
            <p:ph type="title"/>
          </p:nvPr>
        </p:nvSpPr>
        <p:spPr>
          <a:xfrm>
            <a:off x="392112" y="748031"/>
            <a:ext cx="72402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300"/>
              <a:t>Hechos Adicionales sobre las Subconsultas</a:t>
            </a:r>
            <a:endParaRPr sz="3300"/>
          </a:p>
        </p:txBody>
      </p:sp>
      <p:sp>
        <p:nvSpPr>
          <p:cNvPr id="106" name="Google Shape;106;p18"/>
          <p:cNvSpPr txBox="1"/>
          <p:nvPr/>
        </p:nvSpPr>
        <p:spPr>
          <a:xfrm>
            <a:off x="483552" y="1415417"/>
            <a:ext cx="8020684" cy="2960370"/>
          </a:xfrm>
          <a:prstGeom prst="rect">
            <a:avLst/>
          </a:prstGeom>
          <a:noFill/>
          <a:ln>
            <a:noFill/>
          </a:ln>
        </p:spPr>
        <p:txBody>
          <a:bodyPr anchorCtr="0" anchor="t" bIns="0" lIns="0" spcFirstLastPara="1" rIns="0" wrap="square" tIns="59675">
            <a:spAutoFit/>
          </a:bodyPr>
          <a:lstStyle/>
          <a:p>
            <a:pPr indent="-177800" lvl="0" marL="184785" marR="68453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Las consultas externas e internas pueden obtener  datos de diferentes tablas</a:t>
            </a:r>
            <a:endParaRPr sz="2800">
              <a:latin typeface="Calibri"/>
              <a:ea typeface="Calibri"/>
              <a:cs typeface="Calibri"/>
              <a:sym typeface="Calibri"/>
            </a:endParaRPr>
          </a:p>
          <a:p>
            <a:pPr indent="-177800" lvl="0" marL="184785" marR="5080"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Solo se puede utilizar una cláusula ORDER BY para una  sentencia SELECT; si se especifica, debe ser la última  cláusula de la sentencia SELECT principal</a:t>
            </a:r>
            <a:endParaRPr sz="2800">
              <a:latin typeface="Calibri"/>
              <a:ea typeface="Calibri"/>
              <a:cs typeface="Calibri"/>
              <a:sym typeface="Calibri"/>
            </a:endParaRPr>
          </a:p>
          <a:p>
            <a:pPr indent="-177800" lvl="0" marL="184785" marR="669925" rtl="0" algn="l">
              <a:lnSpc>
                <a:spcPct val="108214"/>
              </a:lnSpc>
              <a:spcBef>
                <a:spcPts val="78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El único límite en el número de subconsultas es el  tamaño del buffer que utiliza la consulta</a:t>
            </a:r>
            <a:endParaRPr sz="2800">
              <a:latin typeface="Calibri"/>
              <a:ea typeface="Calibri"/>
              <a:cs typeface="Calibri"/>
              <a:sym typeface="Calibri"/>
            </a:endParaRPr>
          </a:p>
        </p:txBody>
      </p:sp>
      <p:grpSp>
        <p:nvGrpSpPr>
          <p:cNvPr id="107" name="Google Shape;107;p18"/>
          <p:cNvGrpSpPr/>
          <p:nvPr/>
        </p:nvGrpSpPr>
        <p:grpSpPr>
          <a:xfrm>
            <a:off x="6696456" y="4639055"/>
            <a:ext cx="1973579" cy="1670304"/>
            <a:chOff x="6696456" y="4639055"/>
            <a:chExt cx="1973579" cy="1670304"/>
          </a:xfrm>
        </p:grpSpPr>
        <p:pic>
          <p:nvPicPr>
            <p:cNvPr id="108" name="Google Shape;108;p18"/>
            <p:cNvPicPr preferRelativeResize="0"/>
            <p:nvPr/>
          </p:nvPicPr>
          <p:blipFill rotWithShape="1">
            <a:blip r:embed="rId3">
              <a:alphaModFix/>
            </a:blip>
            <a:srcRect b="0" l="0" r="0" t="0"/>
            <a:stretch/>
          </p:blipFill>
          <p:spPr>
            <a:xfrm>
              <a:off x="6696456" y="5788152"/>
              <a:ext cx="1973579" cy="521207"/>
            </a:xfrm>
            <a:prstGeom prst="rect">
              <a:avLst/>
            </a:prstGeom>
            <a:noFill/>
            <a:ln>
              <a:noFill/>
            </a:ln>
          </p:spPr>
        </p:pic>
        <p:pic>
          <p:nvPicPr>
            <p:cNvPr id="109" name="Google Shape;109;p18"/>
            <p:cNvPicPr preferRelativeResize="0"/>
            <p:nvPr/>
          </p:nvPicPr>
          <p:blipFill rotWithShape="1">
            <a:blip r:embed="rId4">
              <a:alphaModFix/>
            </a:blip>
            <a:srcRect b="0" l="0" r="0" t="0"/>
            <a:stretch/>
          </p:blipFill>
          <p:spPr>
            <a:xfrm>
              <a:off x="7353300" y="4639055"/>
              <a:ext cx="1239011" cy="1592580"/>
            </a:xfrm>
            <a:prstGeom prst="rect">
              <a:avLst/>
            </a:prstGeom>
            <a:noFill/>
            <a:ln>
              <a:noFill/>
            </a:ln>
          </p:spPr>
        </p:pic>
      </p:grpSp>
      <p:sp>
        <p:nvSpPr>
          <p:cNvPr id="110" name="Google Shape;110;p18"/>
          <p:cNvSpPr txBox="1"/>
          <p:nvPr>
            <p:ph idx="10" type="dt"/>
          </p:nvPr>
        </p:nvSpPr>
        <p:spPr>
          <a:xfrm>
            <a:off x="2874191" y="6516395"/>
            <a:ext cx="13260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10-2</a:t>
            </a:r>
            <a:endParaRPr/>
          </a:p>
          <a:p>
            <a:pPr indent="0" lvl="0" marL="12700" rtl="0" algn="l">
              <a:lnSpc>
                <a:spcPct val="120624"/>
              </a:lnSpc>
              <a:spcBef>
                <a:spcPts val="0"/>
              </a:spcBef>
              <a:spcAft>
                <a:spcPts val="0"/>
              </a:spcAft>
              <a:buNone/>
            </a:pPr>
            <a:r>
              <a:rPr lang="en-US"/>
              <a:t>Subconsultas de Una Sola Fila</a:t>
            </a:r>
            <a:endParaRPr/>
          </a:p>
        </p:txBody>
      </p:sp>
      <p:sp>
        <p:nvSpPr>
          <p:cNvPr id="111" name="Google Shape;111;p18"/>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12" name="Google Shape;112;p18"/>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9"/>
          <p:cNvSpPr txBox="1"/>
          <p:nvPr>
            <p:ph type="title"/>
          </p:nvPr>
        </p:nvSpPr>
        <p:spPr>
          <a:xfrm>
            <a:off x="392112" y="748031"/>
            <a:ext cx="57741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300"/>
              <a:t>Subconsultas de Diferentes Tablas</a:t>
            </a:r>
            <a:endParaRPr sz="3300"/>
          </a:p>
        </p:txBody>
      </p:sp>
      <p:sp>
        <p:nvSpPr>
          <p:cNvPr id="118" name="Google Shape;118;p19"/>
          <p:cNvSpPr txBox="1"/>
          <p:nvPr>
            <p:ph idx="10" type="dt"/>
          </p:nvPr>
        </p:nvSpPr>
        <p:spPr>
          <a:xfrm>
            <a:off x="2874191" y="6516395"/>
            <a:ext cx="13260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10-2</a:t>
            </a:r>
            <a:endParaRPr/>
          </a:p>
          <a:p>
            <a:pPr indent="0" lvl="0" marL="12700" rtl="0" algn="l">
              <a:lnSpc>
                <a:spcPct val="120624"/>
              </a:lnSpc>
              <a:spcBef>
                <a:spcPts val="0"/>
              </a:spcBef>
              <a:spcAft>
                <a:spcPts val="0"/>
              </a:spcAft>
              <a:buNone/>
            </a:pPr>
            <a:r>
              <a:rPr lang="en-US"/>
              <a:t>Subconsultas de Una Sola Fila</a:t>
            </a:r>
            <a:endParaRPr/>
          </a:p>
        </p:txBody>
      </p:sp>
      <p:sp>
        <p:nvSpPr>
          <p:cNvPr id="119" name="Google Shape;119;p19"/>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20" name="Google Shape;120;p19"/>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21" name="Google Shape;121;p19"/>
          <p:cNvSpPr txBox="1"/>
          <p:nvPr/>
        </p:nvSpPr>
        <p:spPr>
          <a:xfrm>
            <a:off x="483552" y="1415417"/>
            <a:ext cx="7418705" cy="1322070"/>
          </a:xfrm>
          <a:prstGeom prst="rect">
            <a:avLst/>
          </a:prstGeom>
          <a:noFill/>
          <a:ln>
            <a:noFill/>
          </a:ln>
        </p:spPr>
        <p:txBody>
          <a:bodyPr anchorCtr="0" anchor="t" bIns="0" lIns="0" spcFirstLastPara="1" rIns="0" wrap="square" tIns="59675">
            <a:spAutoFit/>
          </a:bodyPr>
          <a:lstStyle/>
          <a:p>
            <a:pPr indent="-177800" lvl="0" marL="184785" marR="83185"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Las consultas externas e internas pueden obtener  datos de diferentes tablas</a:t>
            </a:r>
            <a:endParaRPr sz="2800">
              <a:latin typeface="Calibri"/>
              <a:ea typeface="Calibri"/>
              <a:cs typeface="Calibri"/>
              <a:sym typeface="Calibri"/>
            </a:endParaRPr>
          </a:p>
          <a:p>
            <a:pPr indent="-177800" lvl="0" marL="184785" marR="0" rtl="0" algn="l">
              <a:lnSpc>
                <a:spcPct val="100000"/>
              </a:lnSpc>
              <a:spcBef>
                <a:spcPts val="41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¿Quién trabaja en el departamento de marketing?</a:t>
            </a:r>
            <a:endParaRPr sz="2800">
              <a:latin typeface="Calibri"/>
              <a:ea typeface="Calibri"/>
              <a:cs typeface="Calibri"/>
              <a:sym typeface="Calibri"/>
            </a:endParaRPr>
          </a:p>
        </p:txBody>
      </p:sp>
      <p:sp>
        <p:nvSpPr>
          <p:cNvPr id="122" name="Google Shape;122;p19"/>
          <p:cNvSpPr txBox="1"/>
          <p:nvPr/>
        </p:nvSpPr>
        <p:spPr>
          <a:xfrm>
            <a:off x="6654802" y="3640328"/>
            <a:ext cx="2371090" cy="26924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b="1" lang="en-US" sz="1600">
                <a:solidFill>
                  <a:srgbClr val="FF0000"/>
                </a:solidFill>
                <a:latin typeface="Calibri"/>
                <a:ea typeface="Calibri"/>
                <a:cs typeface="Calibri"/>
                <a:sym typeface="Calibri"/>
              </a:rPr>
              <a:t>Resultado de la subconsulta</a:t>
            </a:r>
            <a:endParaRPr sz="1600">
              <a:latin typeface="Calibri"/>
              <a:ea typeface="Calibri"/>
              <a:cs typeface="Calibri"/>
              <a:sym typeface="Calibri"/>
            </a:endParaRPr>
          </a:p>
        </p:txBody>
      </p:sp>
      <p:graphicFrame>
        <p:nvGraphicFramePr>
          <p:cNvPr id="123" name="Google Shape;123;p19"/>
          <p:cNvGraphicFramePr/>
          <p:nvPr/>
        </p:nvGraphicFramePr>
        <p:xfrm>
          <a:off x="386841" y="4916299"/>
          <a:ext cx="3000000" cy="3000000"/>
        </p:xfrm>
        <a:graphic>
          <a:graphicData uri="http://schemas.openxmlformats.org/drawingml/2006/table">
            <a:tbl>
              <a:tblPr bandRow="1" firstRow="1">
                <a:noFill/>
                <a:tableStyleId>{B3353EBE-A567-4DC9-9E8F-97FF44465357}</a:tableStyleId>
              </a:tblPr>
              <a:tblGrid>
                <a:gridCol w="1847225"/>
                <a:gridCol w="1847225"/>
                <a:gridCol w="1847225"/>
              </a:tblGrid>
              <a:tr h="334650">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LAST_NAME</a:t>
                      </a:r>
                      <a:endParaRPr sz="1600" u="none" cap="none" strike="noStrike">
                        <a:latin typeface="Calibri"/>
                        <a:ea typeface="Calibri"/>
                        <a:cs typeface="Calibri"/>
                        <a:sym typeface="Calibri"/>
                      </a:endParaRPr>
                    </a:p>
                  </a:txBody>
                  <a:tcPr marT="323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JOB_ID</a:t>
                      </a:r>
                      <a:endParaRPr sz="1600" u="none" cap="none" strike="noStrike">
                        <a:latin typeface="Calibri"/>
                        <a:ea typeface="Calibri"/>
                        <a:cs typeface="Calibri"/>
                        <a:sym typeface="Calibri"/>
                      </a:endParaRPr>
                    </a:p>
                  </a:txBody>
                  <a:tcPr marT="323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DEPARTMENT_ID</a:t>
                      </a:r>
                      <a:endParaRPr sz="1600" u="none" cap="none" strike="noStrike">
                        <a:latin typeface="Calibri"/>
                        <a:ea typeface="Calibri"/>
                        <a:cs typeface="Calibri"/>
                        <a:sym typeface="Calibri"/>
                      </a:endParaRPr>
                    </a:p>
                  </a:txBody>
                  <a:tcPr marT="323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r>
              <a:tr h="320100">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Hartstein</a:t>
                      </a:r>
                      <a:endParaRPr sz="1600" u="none" cap="none" strike="noStrike">
                        <a:latin typeface="Calibri"/>
                        <a:ea typeface="Calibri"/>
                        <a:cs typeface="Calibri"/>
                        <a:sym typeface="Calibri"/>
                      </a:endParaRPr>
                    </a:p>
                  </a:txBody>
                  <a:tcPr marT="254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MK_MAN</a:t>
                      </a:r>
                      <a:endParaRPr sz="1600" u="none" cap="none" strike="noStrike">
                        <a:latin typeface="Calibri"/>
                        <a:ea typeface="Calibri"/>
                        <a:cs typeface="Calibri"/>
                        <a:sym typeface="Calibri"/>
                      </a:endParaRPr>
                    </a:p>
                  </a:txBody>
                  <a:tcPr marT="254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20</a:t>
                      </a:r>
                      <a:endParaRPr sz="1600" u="none" cap="none" strike="noStrike">
                        <a:latin typeface="Calibri"/>
                        <a:ea typeface="Calibri"/>
                        <a:cs typeface="Calibri"/>
                        <a:sym typeface="Calibri"/>
                      </a:endParaRPr>
                    </a:p>
                  </a:txBody>
                  <a:tcPr marT="254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320100">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Fay</a:t>
                      </a:r>
                      <a:endParaRPr sz="1600" u="none" cap="none" strike="noStrike">
                        <a:latin typeface="Calibri"/>
                        <a:ea typeface="Calibri"/>
                        <a:cs typeface="Calibri"/>
                        <a:sym typeface="Calibri"/>
                      </a:endParaRPr>
                    </a:p>
                  </a:txBody>
                  <a:tcPr marT="254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MK_REP</a:t>
                      </a:r>
                      <a:endParaRPr sz="1600" u="none" cap="none" strike="noStrike">
                        <a:latin typeface="Calibri"/>
                        <a:ea typeface="Calibri"/>
                        <a:cs typeface="Calibri"/>
                        <a:sym typeface="Calibri"/>
                      </a:endParaRPr>
                    </a:p>
                  </a:txBody>
                  <a:tcPr marT="254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20</a:t>
                      </a:r>
                      <a:endParaRPr sz="1600" u="none" cap="none" strike="noStrike">
                        <a:latin typeface="Calibri"/>
                        <a:ea typeface="Calibri"/>
                        <a:cs typeface="Calibri"/>
                        <a:sym typeface="Calibri"/>
                      </a:endParaRPr>
                    </a:p>
                  </a:txBody>
                  <a:tcPr marT="254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bl>
          </a:graphicData>
        </a:graphic>
      </p:graphicFrame>
      <p:graphicFrame>
        <p:nvGraphicFramePr>
          <p:cNvPr id="124" name="Google Shape;124;p19"/>
          <p:cNvGraphicFramePr/>
          <p:nvPr/>
        </p:nvGraphicFramePr>
        <p:xfrm>
          <a:off x="6648451" y="4102797"/>
          <a:ext cx="3000000" cy="3000000"/>
        </p:xfrm>
        <a:graphic>
          <a:graphicData uri="http://schemas.openxmlformats.org/drawingml/2006/table">
            <a:tbl>
              <a:tblPr bandRow="1" firstRow="1">
                <a:noFill/>
                <a:tableStyleId>{B3353EBE-A567-4DC9-9E8F-97FF44465357}</a:tableStyleId>
              </a:tblPr>
              <a:tblGrid>
                <a:gridCol w="1682125"/>
              </a:tblGrid>
              <a:tr h="283075">
                <a:tc>
                  <a:txBody>
                    <a:bodyPr/>
                    <a:lstStyle/>
                    <a:p>
                      <a:pPr indent="0" lvl="0" marL="66040"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DEPARTMENT_ID</a:t>
                      </a:r>
                      <a:endParaRPr sz="1600" u="none" cap="none" strike="noStrike">
                        <a:latin typeface="Calibri"/>
                        <a:ea typeface="Calibri"/>
                        <a:cs typeface="Calibri"/>
                        <a:sym typeface="Calibri"/>
                      </a:endParaRPr>
                    </a:p>
                  </a:txBody>
                  <a:tcPr marT="82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r>
              <a:tr h="282025">
                <a:tc>
                  <a:txBody>
                    <a:bodyPr/>
                    <a:lstStyle/>
                    <a:p>
                      <a:pPr indent="0" lvl="0" marL="6604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20</a:t>
                      </a:r>
                      <a:endParaRPr sz="1600" u="none" cap="none" strike="noStrike">
                        <a:latin typeface="Calibri"/>
                        <a:ea typeface="Calibri"/>
                        <a:cs typeface="Calibri"/>
                        <a:sym typeface="Calibri"/>
                      </a:endParaRPr>
                    </a:p>
                  </a:txBody>
                  <a:tcPr marT="63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bl>
          </a:graphicData>
        </a:graphic>
      </p:graphicFrame>
      <p:sp>
        <p:nvSpPr>
          <p:cNvPr id="125" name="Google Shape;125;p19"/>
          <p:cNvSpPr txBox="1"/>
          <p:nvPr/>
        </p:nvSpPr>
        <p:spPr>
          <a:xfrm>
            <a:off x="406908" y="2779776"/>
            <a:ext cx="5974080" cy="1894839"/>
          </a:xfrm>
          <a:prstGeom prst="rect">
            <a:avLst/>
          </a:prstGeom>
          <a:solidFill>
            <a:srgbClr val="9DBDC4">
              <a:alpha val="49804"/>
            </a:srgbClr>
          </a:solidFill>
          <a:ln>
            <a:noFill/>
          </a:ln>
        </p:spPr>
        <p:txBody>
          <a:bodyPr anchorCtr="0" anchor="t" bIns="0" lIns="0" spcFirstLastPara="1" rIns="0" wrap="square" tIns="0">
            <a:spAutoFit/>
          </a:bodyPr>
          <a:lstStyle/>
          <a:p>
            <a:pPr indent="0" lvl="0" marL="635" marR="0" rtl="0" algn="l">
              <a:lnSpc>
                <a:spcPct val="102500"/>
              </a:lnSpc>
              <a:spcBef>
                <a:spcPts val="0"/>
              </a:spcBef>
              <a:spcAft>
                <a:spcPts val="0"/>
              </a:spcAft>
              <a:buNone/>
            </a:pPr>
            <a:r>
              <a:rPr b="1" lang="en-US" sz="1800">
                <a:solidFill>
                  <a:srgbClr val="4E3629"/>
                </a:solidFill>
                <a:latin typeface="Courier New"/>
                <a:ea typeface="Courier New"/>
                <a:cs typeface="Courier New"/>
                <a:sym typeface="Courier New"/>
              </a:rPr>
              <a:t>SELECT last_name, job_id, department_id</a:t>
            </a:r>
            <a:endParaRPr sz="1800">
              <a:latin typeface="Courier New"/>
              <a:ea typeface="Courier New"/>
              <a:cs typeface="Courier New"/>
              <a:sym typeface="Courier New"/>
            </a:endParaRPr>
          </a:p>
          <a:p>
            <a:pPr indent="0" lvl="0" marL="635" marR="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FROM employees</a:t>
            </a:r>
            <a:endParaRPr sz="1800">
              <a:latin typeface="Courier New"/>
              <a:ea typeface="Courier New"/>
              <a:cs typeface="Courier New"/>
              <a:sym typeface="Courier New"/>
            </a:endParaRPr>
          </a:p>
          <a:p>
            <a:pPr indent="-547370" lvl="0" marL="547370" marR="255206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WHERE department_id =  (SELECT department_id  FROM departments</a:t>
            </a:r>
            <a:endParaRPr sz="1800">
              <a:latin typeface="Courier New"/>
              <a:ea typeface="Courier New"/>
              <a:cs typeface="Courier New"/>
              <a:sym typeface="Courier New"/>
            </a:endParaRPr>
          </a:p>
          <a:p>
            <a:pPr indent="682625" lvl="0" marL="635" marR="36766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WHERE department_name = 'Marketing')  ORDER BY job_id;</a:t>
            </a:r>
            <a:endParaRPr sz="1800">
              <a:latin typeface="Courier New"/>
              <a:ea typeface="Courier New"/>
              <a:cs typeface="Courier New"/>
              <a:sym typeface="Courier New"/>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0"/>
          <p:cNvSpPr txBox="1"/>
          <p:nvPr>
            <p:ph type="title"/>
          </p:nvPr>
        </p:nvSpPr>
        <p:spPr>
          <a:xfrm>
            <a:off x="392112" y="748031"/>
            <a:ext cx="57741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300"/>
              <a:t>Subconsultas de Diferentes Tablas</a:t>
            </a:r>
            <a:endParaRPr sz="3300"/>
          </a:p>
        </p:txBody>
      </p:sp>
      <p:sp>
        <p:nvSpPr>
          <p:cNvPr id="131" name="Google Shape;131;p20"/>
          <p:cNvSpPr txBox="1"/>
          <p:nvPr>
            <p:ph idx="10" type="dt"/>
          </p:nvPr>
        </p:nvSpPr>
        <p:spPr>
          <a:xfrm>
            <a:off x="2874191" y="6516395"/>
            <a:ext cx="13260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10-2</a:t>
            </a:r>
            <a:endParaRPr/>
          </a:p>
          <a:p>
            <a:pPr indent="0" lvl="0" marL="12700" rtl="0" algn="l">
              <a:lnSpc>
                <a:spcPct val="120624"/>
              </a:lnSpc>
              <a:spcBef>
                <a:spcPts val="0"/>
              </a:spcBef>
              <a:spcAft>
                <a:spcPts val="0"/>
              </a:spcAft>
              <a:buNone/>
            </a:pPr>
            <a:r>
              <a:rPr lang="en-US"/>
              <a:t>Subconsultas de Una Sola Fila</a:t>
            </a:r>
            <a:endParaRPr/>
          </a:p>
        </p:txBody>
      </p:sp>
      <p:sp>
        <p:nvSpPr>
          <p:cNvPr id="132" name="Google Shape;132;p20"/>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33" name="Google Shape;133;p20"/>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34" name="Google Shape;134;p20"/>
          <p:cNvSpPr txBox="1"/>
          <p:nvPr/>
        </p:nvSpPr>
        <p:spPr>
          <a:xfrm>
            <a:off x="483552" y="1415417"/>
            <a:ext cx="8162290" cy="836294"/>
          </a:xfrm>
          <a:prstGeom prst="rect">
            <a:avLst/>
          </a:prstGeom>
          <a:noFill/>
          <a:ln>
            <a:noFill/>
          </a:ln>
        </p:spPr>
        <p:txBody>
          <a:bodyPr anchorCtr="0" anchor="t" bIns="0" lIns="0" spcFirstLastPara="1" rIns="0" wrap="square" tIns="59675">
            <a:spAutoFit/>
          </a:bodyPr>
          <a:lstStyle/>
          <a:p>
            <a:pPr indent="-177800" lvl="0" marL="184785"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Más de una subconsulta puede devolver la información  a la consulta externa</a:t>
            </a:r>
            <a:endParaRPr sz="2800">
              <a:latin typeface="Calibri"/>
              <a:ea typeface="Calibri"/>
              <a:cs typeface="Calibri"/>
              <a:sym typeface="Calibri"/>
            </a:endParaRPr>
          </a:p>
        </p:txBody>
      </p:sp>
      <p:sp>
        <p:nvSpPr>
          <p:cNvPr id="135" name="Google Shape;135;p20"/>
          <p:cNvSpPr txBox="1"/>
          <p:nvPr/>
        </p:nvSpPr>
        <p:spPr>
          <a:xfrm>
            <a:off x="7162239" y="2221721"/>
            <a:ext cx="1550035" cy="513080"/>
          </a:xfrm>
          <a:prstGeom prst="rect">
            <a:avLst/>
          </a:prstGeom>
          <a:noFill/>
          <a:ln>
            <a:noFill/>
          </a:ln>
        </p:spPr>
        <p:txBody>
          <a:bodyPr anchorCtr="0" anchor="t" bIns="0" lIns="0" spcFirstLastPara="1" rIns="0" wrap="square" tIns="12050">
            <a:spAutoFit/>
          </a:bodyPr>
          <a:lstStyle/>
          <a:p>
            <a:pPr indent="0" lvl="0" marL="12700" marR="5080" rtl="0" algn="l">
              <a:lnSpc>
                <a:spcPct val="100000"/>
              </a:lnSpc>
              <a:spcBef>
                <a:spcPts val="0"/>
              </a:spcBef>
              <a:spcAft>
                <a:spcPts val="0"/>
              </a:spcAft>
              <a:buNone/>
            </a:pPr>
            <a:r>
              <a:rPr b="1" lang="en-US" sz="1600">
                <a:solidFill>
                  <a:srgbClr val="FF0000"/>
                </a:solidFill>
                <a:latin typeface="Calibri"/>
                <a:ea typeface="Calibri"/>
                <a:cs typeface="Calibri"/>
                <a:sym typeface="Calibri"/>
              </a:rPr>
              <a:t>Resultado de la 1ª  subconsulta</a:t>
            </a:r>
            <a:endParaRPr sz="1600">
              <a:latin typeface="Calibri"/>
              <a:ea typeface="Calibri"/>
              <a:cs typeface="Calibri"/>
              <a:sym typeface="Calibri"/>
            </a:endParaRPr>
          </a:p>
        </p:txBody>
      </p:sp>
      <p:sp>
        <p:nvSpPr>
          <p:cNvPr id="136" name="Google Shape;136;p20"/>
          <p:cNvSpPr txBox="1"/>
          <p:nvPr/>
        </p:nvSpPr>
        <p:spPr>
          <a:xfrm>
            <a:off x="7162239" y="3648470"/>
            <a:ext cx="1550035" cy="513080"/>
          </a:xfrm>
          <a:prstGeom prst="rect">
            <a:avLst/>
          </a:prstGeom>
          <a:noFill/>
          <a:ln>
            <a:noFill/>
          </a:ln>
        </p:spPr>
        <p:txBody>
          <a:bodyPr anchorCtr="0" anchor="t" bIns="0" lIns="0" spcFirstLastPara="1" rIns="0" wrap="square" tIns="12050">
            <a:spAutoFit/>
          </a:bodyPr>
          <a:lstStyle/>
          <a:p>
            <a:pPr indent="0" lvl="0" marL="12700" marR="5080" rtl="0" algn="l">
              <a:lnSpc>
                <a:spcPct val="100000"/>
              </a:lnSpc>
              <a:spcBef>
                <a:spcPts val="0"/>
              </a:spcBef>
              <a:spcAft>
                <a:spcPts val="0"/>
              </a:spcAft>
              <a:buNone/>
            </a:pPr>
            <a:r>
              <a:rPr b="1" lang="en-US" sz="1600">
                <a:solidFill>
                  <a:srgbClr val="FF0000"/>
                </a:solidFill>
                <a:latin typeface="Calibri"/>
                <a:ea typeface="Calibri"/>
                <a:cs typeface="Calibri"/>
                <a:sym typeface="Calibri"/>
              </a:rPr>
              <a:t>Resultado de la 2ª  subconsulta</a:t>
            </a:r>
            <a:endParaRPr sz="1600">
              <a:latin typeface="Calibri"/>
              <a:ea typeface="Calibri"/>
              <a:cs typeface="Calibri"/>
              <a:sym typeface="Calibri"/>
            </a:endParaRPr>
          </a:p>
        </p:txBody>
      </p:sp>
      <p:graphicFrame>
        <p:nvGraphicFramePr>
          <p:cNvPr id="137" name="Google Shape;137;p20"/>
          <p:cNvGraphicFramePr/>
          <p:nvPr/>
        </p:nvGraphicFramePr>
        <p:xfrm>
          <a:off x="1864301" y="4981676"/>
          <a:ext cx="3000000" cy="3000000"/>
        </p:xfrm>
        <a:graphic>
          <a:graphicData uri="http://schemas.openxmlformats.org/drawingml/2006/table">
            <a:tbl>
              <a:tblPr bandRow="1" firstRow="1">
                <a:noFill/>
                <a:tableStyleId>{B3353EBE-A567-4DC9-9E8F-97FF44465357}</a:tableStyleId>
              </a:tblPr>
              <a:tblGrid>
                <a:gridCol w="1717050"/>
                <a:gridCol w="1717050"/>
                <a:gridCol w="1487800"/>
                <a:gridCol w="1945650"/>
              </a:tblGrid>
              <a:tr h="296075">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LAST_NAME</a:t>
                      </a:r>
                      <a:endParaRPr sz="1600" u="none" cap="none" strike="noStrike">
                        <a:latin typeface="Calibri"/>
                        <a:ea typeface="Calibri"/>
                        <a:cs typeface="Calibri"/>
                        <a:sym typeface="Calibri"/>
                      </a:endParaRPr>
                    </a:p>
                  </a:txBody>
                  <a:tcPr marT="133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JOB_ID</a:t>
                      </a:r>
                      <a:endParaRPr sz="1600" u="none" cap="none" strike="noStrike">
                        <a:latin typeface="Calibri"/>
                        <a:ea typeface="Calibri"/>
                        <a:cs typeface="Calibri"/>
                        <a:sym typeface="Calibri"/>
                      </a:endParaRPr>
                    </a:p>
                  </a:txBody>
                  <a:tcPr marT="133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SALARY</a:t>
                      </a:r>
                      <a:endParaRPr sz="1600" u="none" cap="none" strike="noStrike">
                        <a:latin typeface="Calibri"/>
                        <a:ea typeface="Calibri"/>
                        <a:cs typeface="Calibri"/>
                        <a:sym typeface="Calibri"/>
                      </a:endParaRPr>
                    </a:p>
                  </a:txBody>
                  <a:tcPr marT="133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DEPARTMENT_ID</a:t>
                      </a:r>
                      <a:endParaRPr sz="1600" u="none" cap="none" strike="noStrike">
                        <a:latin typeface="Calibri"/>
                        <a:ea typeface="Calibri"/>
                        <a:cs typeface="Calibri"/>
                        <a:sym typeface="Calibri"/>
                      </a:endParaRPr>
                    </a:p>
                  </a:txBody>
                  <a:tcPr marT="133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r>
              <a:tr h="29862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Rajs</a:t>
                      </a:r>
                      <a:endParaRPr sz="1600" u="none" cap="none" strike="noStrike">
                        <a:latin typeface="Calibri"/>
                        <a:ea typeface="Calibri"/>
                        <a:cs typeface="Calibri"/>
                        <a:sym typeface="Calibri"/>
                      </a:endParaRPr>
                    </a:p>
                  </a:txBody>
                  <a:tcPr marT="146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ST_CLERK</a:t>
                      </a:r>
                      <a:endParaRPr sz="1600" u="none" cap="none" strike="noStrike">
                        <a:latin typeface="Calibri"/>
                        <a:ea typeface="Calibri"/>
                        <a:cs typeface="Calibri"/>
                        <a:sym typeface="Calibri"/>
                      </a:endParaRPr>
                    </a:p>
                  </a:txBody>
                  <a:tcPr marT="146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3500</a:t>
                      </a:r>
                      <a:endParaRPr sz="1600" u="none" cap="none" strike="noStrike">
                        <a:latin typeface="Calibri"/>
                        <a:ea typeface="Calibri"/>
                        <a:cs typeface="Calibri"/>
                        <a:sym typeface="Calibri"/>
                      </a:endParaRPr>
                    </a:p>
                  </a:txBody>
                  <a:tcPr marT="146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50</a:t>
                      </a:r>
                      <a:endParaRPr sz="1600" u="none" cap="none" strike="noStrike">
                        <a:latin typeface="Calibri"/>
                        <a:ea typeface="Calibri"/>
                        <a:cs typeface="Calibri"/>
                        <a:sym typeface="Calibri"/>
                      </a:endParaRPr>
                    </a:p>
                  </a:txBody>
                  <a:tcPr marT="146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298625">
                <a:tc>
                  <a:txBody>
                    <a:bodyPr/>
                    <a:lstStyle/>
                    <a:p>
                      <a:pPr indent="0" lvl="0" marL="7239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Davies</a:t>
                      </a:r>
                      <a:endParaRPr sz="1600" u="none" cap="none" strike="noStrike">
                        <a:latin typeface="Calibri"/>
                        <a:ea typeface="Calibri"/>
                        <a:cs typeface="Calibri"/>
                        <a:sym typeface="Calibri"/>
                      </a:endParaRPr>
                    </a:p>
                  </a:txBody>
                  <a:tcPr marT="146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239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ST_CLERK</a:t>
                      </a:r>
                      <a:endParaRPr sz="1600" u="none" cap="none" strike="noStrike">
                        <a:latin typeface="Calibri"/>
                        <a:ea typeface="Calibri"/>
                        <a:cs typeface="Calibri"/>
                        <a:sym typeface="Calibri"/>
                      </a:endParaRPr>
                    </a:p>
                  </a:txBody>
                  <a:tcPr marT="146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239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3100</a:t>
                      </a:r>
                      <a:endParaRPr sz="1600" u="none" cap="none" strike="noStrike">
                        <a:latin typeface="Calibri"/>
                        <a:ea typeface="Calibri"/>
                        <a:cs typeface="Calibri"/>
                        <a:sym typeface="Calibri"/>
                      </a:endParaRPr>
                    </a:p>
                  </a:txBody>
                  <a:tcPr marT="146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239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50</a:t>
                      </a:r>
                      <a:endParaRPr sz="1600" u="none" cap="none" strike="noStrike">
                        <a:latin typeface="Calibri"/>
                        <a:ea typeface="Calibri"/>
                        <a:cs typeface="Calibri"/>
                        <a:sym typeface="Calibri"/>
                      </a:endParaRPr>
                    </a:p>
                  </a:txBody>
                  <a:tcPr marT="146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298625">
                <a:tc>
                  <a:txBody>
                    <a:bodyPr/>
                    <a:lstStyle/>
                    <a:p>
                      <a:pPr indent="0" lvl="0" marL="7239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Matos</a:t>
                      </a:r>
                      <a:endParaRPr sz="1600" u="none" cap="none" strike="noStrike">
                        <a:latin typeface="Calibri"/>
                        <a:ea typeface="Calibri"/>
                        <a:cs typeface="Calibri"/>
                        <a:sym typeface="Calibri"/>
                      </a:endParaRPr>
                    </a:p>
                  </a:txBody>
                  <a:tcPr marT="146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239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ST_CLERK</a:t>
                      </a:r>
                      <a:endParaRPr sz="1600" u="none" cap="none" strike="noStrike">
                        <a:latin typeface="Calibri"/>
                        <a:ea typeface="Calibri"/>
                        <a:cs typeface="Calibri"/>
                        <a:sym typeface="Calibri"/>
                      </a:endParaRPr>
                    </a:p>
                  </a:txBody>
                  <a:tcPr marT="146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239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2600</a:t>
                      </a:r>
                      <a:endParaRPr sz="1600" u="none" cap="none" strike="noStrike">
                        <a:latin typeface="Calibri"/>
                        <a:ea typeface="Calibri"/>
                        <a:cs typeface="Calibri"/>
                        <a:sym typeface="Calibri"/>
                      </a:endParaRPr>
                    </a:p>
                  </a:txBody>
                  <a:tcPr marT="146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239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50</a:t>
                      </a:r>
                      <a:endParaRPr sz="1600" u="none" cap="none" strike="noStrike">
                        <a:latin typeface="Calibri"/>
                        <a:ea typeface="Calibri"/>
                        <a:cs typeface="Calibri"/>
                        <a:sym typeface="Calibri"/>
                      </a:endParaRPr>
                    </a:p>
                  </a:txBody>
                  <a:tcPr marT="146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298625">
                <a:tc>
                  <a:txBody>
                    <a:bodyPr/>
                    <a:lstStyle/>
                    <a:p>
                      <a:pPr indent="0" lvl="0" marL="7239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Vargas</a:t>
                      </a:r>
                      <a:endParaRPr sz="1600" u="none" cap="none" strike="noStrike">
                        <a:latin typeface="Calibri"/>
                        <a:ea typeface="Calibri"/>
                        <a:cs typeface="Calibri"/>
                        <a:sym typeface="Calibri"/>
                      </a:endParaRPr>
                    </a:p>
                  </a:txBody>
                  <a:tcPr marT="146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239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ST_CLERK</a:t>
                      </a:r>
                      <a:endParaRPr sz="1600" u="none" cap="none" strike="noStrike">
                        <a:latin typeface="Calibri"/>
                        <a:ea typeface="Calibri"/>
                        <a:cs typeface="Calibri"/>
                        <a:sym typeface="Calibri"/>
                      </a:endParaRPr>
                    </a:p>
                  </a:txBody>
                  <a:tcPr marT="146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239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2500</a:t>
                      </a:r>
                      <a:endParaRPr sz="1600" u="none" cap="none" strike="noStrike">
                        <a:latin typeface="Calibri"/>
                        <a:ea typeface="Calibri"/>
                        <a:cs typeface="Calibri"/>
                        <a:sym typeface="Calibri"/>
                      </a:endParaRPr>
                    </a:p>
                  </a:txBody>
                  <a:tcPr marT="146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239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50</a:t>
                      </a:r>
                      <a:endParaRPr sz="1600" u="none" cap="none" strike="noStrike">
                        <a:latin typeface="Calibri"/>
                        <a:ea typeface="Calibri"/>
                        <a:cs typeface="Calibri"/>
                        <a:sym typeface="Calibri"/>
                      </a:endParaRPr>
                    </a:p>
                  </a:txBody>
                  <a:tcPr marT="146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bl>
          </a:graphicData>
        </a:graphic>
      </p:graphicFrame>
      <p:graphicFrame>
        <p:nvGraphicFramePr>
          <p:cNvPr id="138" name="Google Shape;138;p20"/>
          <p:cNvGraphicFramePr/>
          <p:nvPr/>
        </p:nvGraphicFramePr>
        <p:xfrm>
          <a:off x="7210835" y="2865504"/>
          <a:ext cx="3000000" cy="3000000"/>
        </p:xfrm>
        <a:graphic>
          <a:graphicData uri="http://schemas.openxmlformats.org/drawingml/2006/table">
            <a:tbl>
              <a:tblPr bandRow="1" firstRow="1">
                <a:noFill/>
                <a:tableStyleId>{B3353EBE-A567-4DC9-9E8F-97FF44465357}</a:tableStyleId>
              </a:tblPr>
              <a:tblGrid>
                <a:gridCol w="1524000"/>
              </a:tblGrid>
              <a:tr h="269250">
                <a:tc>
                  <a:txBody>
                    <a:bodyPr/>
                    <a:lstStyle/>
                    <a:p>
                      <a:pPr indent="0" lvl="0" marL="12700"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JOB_ID</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r>
              <a:tr h="269250">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ST_CLERK</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bl>
          </a:graphicData>
        </a:graphic>
      </p:graphicFrame>
      <p:graphicFrame>
        <p:nvGraphicFramePr>
          <p:cNvPr id="139" name="Google Shape;139;p20"/>
          <p:cNvGraphicFramePr/>
          <p:nvPr/>
        </p:nvGraphicFramePr>
        <p:xfrm>
          <a:off x="7208835" y="4223613"/>
          <a:ext cx="3000000" cy="3000000"/>
        </p:xfrm>
        <a:graphic>
          <a:graphicData uri="http://schemas.openxmlformats.org/drawingml/2006/table">
            <a:tbl>
              <a:tblPr bandRow="1" firstRow="1">
                <a:noFill/>
                <a:tableStyleId>{B3353EBE-A567-4DC9-9E8F-97FF44465357}</a:tableStyleId>
              </a:tblPr>
              <a:tblGrid>
                <a:gridCol w="1524000"/>
              </a:tblGrid>
              <a:tr h="269250">
                <a:tc>
                  <a:txBody>
                    <a:bodyPr/>
                    <a:lstStyle/>
                    <a:p>
                      <a:pPr indent="0" lvl="0" marL="12700"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DEPARTMENT_ID</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r>
              <a:tr h="269250">
                <a:tc>
                  <a:txBody>
                    <a:bodyPr/>
                    <a:lstStyle/>
                    <a:p>
                      <a:pPr indent="0" lvl="0" marL="1270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50</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bl>
          </a:graphicData>
        </a:graphic>
      </p:graphicFrame>
      <p:sp>
        <p:nvSpPr>
          <p:cNvPr id="140" name="Google Shape;140;p20"/>
          <p:cNvSpPr txBox="1"/>
          <p:nvPr/>
        </p:nvSpPr>
        <p:spPr>
          <a:xfrm>
            <a:off x="405384" y="2214372"/>
            <a:ext cx="6433185" cy="2685415"/>
          </a:xfrm>
          <a:prstGeom prst="rect">
            <a:avLst/>
          </a:prstGeom>
          <a:solidFill>
            <a:srgbClr val="9DBDC4">
              <a:alpha val="49804"/>
            </a:srgbClr>
          </a:solidFill>
          <a:ln>
            <a:noFill/>
          </a:ln>
        </p:spPr>
        <p:txBody>
          <a:bodyPr anchorCtr="0" anchor="t" bIns="0" lIns="0" spcFirstLastPara="1" rIns="0" wrap="square" tIns="0">
            <a:spAutoFit/>
          </a:bodyPr>
          <a:lstStyle/>
          <a:p>
            <a:pPr indent="0" lvl="0" marL="0" marR="0" rtl="0" algn="l">
              <a:lnSpc>
                <a:spcPct val="95222"/>
              </a:lnSpc>
              <a:spcBef>
                <a:spcPts val="0"/>
              </a:spcBef>
              <a:spcAft>
                <a:spcPts val="0"/>
              </a:spcAft>
              <a:buNone/>
            </a:pPr>
            <a:r>
              <a:rPr b="1" lang="en-US" sz="1800">
                <a:solidFill>
                  <a:srgbClr val="4E3629"/>
                </a:solidFill>
                <a:latin typeface="Courier New"/>
                <a:ea typeface="Courier New"/>
                <a:cs typeface="Courier New"/>
                <a:sym typeface="Courier New"/>
              </a:rPr>
              <a:t>SELECT last_name, job_id, salary, department_id</a:t>
            </a:r>
            <a:endParaRPr sz="1800">
              <a:latin typeface="Courier New"/>
              <a:ea typeface="Courier New"/>
              <a:cs typeface="Courier New"/>
              <a:sym typeface="Courier New"/>
            </a:endParaRPr>
          </a:p>
          <a:p>
            <a:pPr indent="0" lvl="0" marL="0" marR="451294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FROM employees  WHERE job_id =</a:t>
            </a:r>
            <a:endParaRPr sz="1800">
              <a:latin typeface="Courier New"/>
              <a:ea typeface="Courier New"/>
              <a:cs typeface="Courier New"/>
              <a:sym typeface="Courier New"/>
            </a:endParaRPr>
          </a:p>
          <a:p>
            <a:pPr indent="-137160" lvl="0" marL="546100" marR="396684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(SELECT job_id  FROM employees</a:t>
            </a:r>
            <a:endParaRPr sz="1800">
              <a:latin typeface="Courier New"/>
              <a:ea typeface="Courier New"/>
              <a:cs typeface="Courier New"/>
              <a:sym typeface="Courier New"/>
            </a:endParaRPr>
          </a:p>
          <a:p>
            <a:pPr indent="546735" lvl="0" marL="0" marR="260477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WHERE employee_id = 141)  AND department_id =</a:t>
            </a:r>
            <a:endParaRPr sz="1800">
              <a:latin typeface="Courier New"/>
              <a:ea typeface="Courier New"/>
              <a:cs typeface="Courier New"/>
              <a:sym typeface="Courier New"/>
            </a:endParaRPr>
          </a:p>
          <a:p>
            <a:pPr indent="-137160" lvl="0" marL="546100" marR="314896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(SELECT department_id  FROM departments</a:t>
            </a:r>
            <a:endParaRPr sz="1800">
              <a:latin typeface="Courier New"/>
              <a:ea typeface="Courier New"/>
              <a:cs typeface="Courier New"/>
              <a:sym typeface="Courier New"/>
            </a:endParaRPr>
          </a:p>
          <a:p>
            <a:pPr indent="0" lvl="0" marL="546100" marR="0" rtl="0" algn="l">
              <a:lnSpc>
                <a:spcPct val="119444"/>
              </a:lnSpc>
              <a:spcBef>
                <a:spcPts val="0"/>
              </a:spcBef>
              <a:spcAft>
                <a:spcPts val="0"/>
              </a:spcAft>
              <a:buNone/>
            </a:pPr>
            <a:r>
              <a:rPr b="1" lang="en-US" sz="1800">
                <a:solidFill>
                  <a:srgbClr val="4E3629"/>
                </a:solidFill>
                <a:latin typeface="Courier New"/>
                <a:ea typeface="Courier New"/>
                <a:cs typeface="Courier New"/>
                <a:sym typeface="Courier New"/>
              </a:rPr>
              <a:t>WHERE location_id = 1500);</a:t>
            </a:r>
            <a:endParaRPr sz="1800">
              <a:latin typeface="Courier New"/>
              <a:ea typeface="Courier New"/>
              <a:cs typeface="Courier New"/>
              <a:sym typeface="Courier New"/>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1"/>
          <p:cNvSpPr txBox="1"/>
          <p:nvPr>
            <p:ph type="title"/>
          </p:nvPr>
        </p:nvSpPr>
        <p:spPr>
          <a:xfrm>
            <a:off x="392112" y="748031"/>
            <a:ext cx="62832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300"/>
              <a:t>Funciones de Grupo en Subconsultas</a:t>
            </a:r>
            <a:endParaRPr sz="3300"/>
          </a:p>
        </p:txBody>
      </p:sp>
      <p:sp>
        <p:nvSpPr>
          <p:cNvPr id="146" name="Google Shape;146;p21"/>
          <p:cNvSpPr txBox="1"/>
          <p:nvPr/>
        </p:nvSpPr>
        <p:spPr>
          <a:xfrm>
            <a:off x="483552" y="1415417"/>
            <a:ext cx="7896859" cy="2960370"/>
          </a:xfrm>
          <a:prstGeom prst="rect">
            <a:avLst/>
          </a:prstGeom>
          <a:noFill/>
          <a:ln>
            <a:noFill/>
          </a:ln>
        </p:spPr>
        <p:txBody>
          <a:bodyPr anchorCtr="0" anchor="t" bIns="0" lIns="0" spcFirstLastPara="1" rIns="0" wrap="square" tIns="59675">
            <a:spAutoFit/>
          </a:bodyPr>
          <a:lstStyle/>
          <a:p>
            <a:pPr indent="-177800" lvl="0" marL="184785" marR="1299845"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Las funciones de grupo se pueden utilizar en  subconsultas</a:t>
            </a:r>
            <a:endParaRPr sz="2800">
              <a:latin typeface="Calibri"/>
              <a:ea typeface="Calibri"/>
              <a:cs typeface="Calibri"/>
              <a:sym typeface="Calibri"/>
            </a:endParaRPr>
          </a:p>
          <a:p>
            <a:pPr indent="-177800" lvl="0" marL="184785" marR="5080"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Una función de grupo sin ninguna cláusula GROUP BY  en la subconsulta devuelve una única fila</a:t>
            </a:r>
            <a:endParaRPr sz="2800">
              <a:latin typeface="Calibri"/>
              <a:ea typeface="Calibri"/>
              <a:cs typeface="Calibri"/>
              <a:sym typeface="Calibri"/>
            </a:endParaRPr>
          </a:p>
          <a:p>
            <a:pPr indent="-177800" lvl="0" marL="184785" marR="80010" rtl="0" algn="l">
              <a:lnSpc>
                <a:spcPct val="108214"/>
              </a:lnSpc>
              <a:spcBef>
                <a:spcPts val="79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consulta de la siguiente diapositiva responde a la  pregunta, "¿Qué empleados ganan menos del salario  medio?"</a:t>
            </a:r>
            <a:endParaRPr sz="2800">
              <a:latin typeface="Calibri"/>
              <a:ea typeface="Calibri"/>
              <a:cs typeface="Calibri"/>
              <a:sym typeface="Calibri"/>
            </a:endParaRPr>
          </a:p>
        </p:txBody>
      </p:sp>
      <p:pic>
        <p:nvPicPr>
          <p:cNvPr id="147" name="Google Shape;147;p21"/>
          <p:cNvPicPr preferRelativeResize="0"/>
          <p:nvPr/>
        </p:nvPicPr>
        <p:blipFill rotWithShape="1">
          <a:blip r:embed="rId3">
            <a:alphaModFix/>
          </a:blip>
          <a:srcRect b="0" l="0" r="0" t="0"/>
          <a:stretch/>
        </p:blipFill>
        <p:spPr>
          <a:xfrm>
            <a:off x="3375659" y="4030980"/>
            <a:ext cx="2423159" cy="2400299"/>
          </a:xfrm>
          <a:prstGeom prst="rect">
            <a:avLst/>
          </a:prstGeom>
          <a:noFill/>
          <a:ln>
            <a:noFill/>
          </a:ln>
        </p:spPr>
      </p:pic>
      <p:sp>
        <p:nvSpPr>
          <p:cNvPr id="148" name="Google Shape;148;p21"/>
          <p:cNvSpPr txBox="1"/>
          <p:nvPr>
            <p:ph idx="10" type="dt"/>
          </p:nvPr>
        </p:nvSpPr>
        <p:spPr>
          <a:xfrm>
            <a:off x="2874191" y="6516395"/>
            <a:ext cx="13260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10-2</a:t>
            </a:r>
            <a:endParaRPr/>
          </a:p>
          <a:p>
            <a:pPr indent="0" lvl="0" marL="12700" rtl="0" algn="l">
              <a:lnSpc>
                <a:spcPct val="120624"/>
              </a:lnSpc>
              <a:spcBef>
                <a:spcPts val="0"/>
              </a:spcBef>
              <a:spcAft>
                <a:spcPts val="0"/>
              </a:spcAft>
              <a:buNone/>
            </a:pPr>
            <a:r>
              <a:rPr lang="en-US"/>
              <a:t>Subconsultas de Una Sola Fila</a:t>
            </a:r>
            <a:endParaRPr/>
          </a:p>
        </p:txBody>
      </p:sp>
      <p:sp>
        <p:nvSpPr>
          <p:cNvPr id="149" name="Google Shape;149;p21"/>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50" name="Google Shape;150;p21"/>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2"/>
          <p:cNvSpPr txBox="1"/>
          <p:nvPr>
            <p:ph type="title"/>
          </p:nvPr>
        </p:nvSpPr>
        <p:spPr>
          <a:xfrm>
            <a:off x="392112" y="748031"/>
            <a:ext cx="62832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300"/>
              <a:t>Funciones de Grupo en Subconsultas</a:t>
            </a:r>
            <a:endParaRPr sz="3300"/>
          </a:p>
        </p:txBody>
      </p:sp>
      <p:sp>
        <p:nvSpPr>
          <p:cNvPr id="156" name="Google Shape;156;p22"/>
          <p:cNvSpPr txBox="1"/>
          <p:nvPr>
            <p:ph idx="10" type="dt"/>
          </p:nvPr>
        </p:nvSpPr>
        <p:spPr>
          <a:xfrm>
            <a:off x="2874191" y="6516395"/>
            <a:ext cx="13260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10-2</a:t>
            </a:r>
            <a:endParaRPr/>
          </a:p>
          <a:p>
            <a:pPr indent="0" lvl="0" marL="12700" rtl="0" algn="l">
              <a:lnSpc>
                <a:spcPct val="120624"/>
              </a:lnSpc>
              <a:spcBef>
                <a:spcPts val="0"/>
              </a:spcBef>
              <a:spcAft>
                <a:spcPts val="0"/>
              </a:spcAft>
              <a:buNone/>
            </a:pPr>
            <a:r>
              <a:rPr lang="en-US"/>
              <a:t>Subconsultas de Una Sola Fila</a:t>
            </a:r>
            <a:endParaRPr/>
          </a:p>
        </p:txBody>
      </p:sp>
      <p:sp>
        <p:nvSpPr>
          <p:cNvPr id="157" name="Google Shape;157;p22"/>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58" name="Google Shape;158;p22"/>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59" name="Google Shape;159;p22"/>
          <p:cNvSpPr txBox="1"/>
          <p:nvPr/>
        </p:nvSpPr>
        <p:spPr>
          <a:xfrm>
            <a:off x="483552" y="1415417"/>
            <a:ext cx="7900670" cy="1604645"/>
          </a:xfrm>
          <a:prstGeom prst="rect">
            <a:avLst/>
          </a:prstGeom>
          <a:noFill/>
          <a:ln>
            <a:noFill/>
          </a:ln>
        </p:spPr>
        <p:txBody>
          <a:bodyPr anchorCtr="0" anchor="t" bIns="0" lIns="0" spcFirstLastPara="1" rIns="0" wrap="square" tIns="59675">
            <a:spAutoFit/>
          </a:bodyPr>
          <a:lstStyle/>
          <a:p>
            <a:pPr indent="-177800" lvl="0" marL="184785"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subconsulta encuentra primero el salario medio  para todos los empleados, a continuación, la consulta  externa devuelve los empleados</a:t>
            </a:r>
            <a:endParaRPr sz="2800">
              <a:latin typeface="Calibri"/>
              <a:ea typeface="Calibri"/>
              <a:cs typeface="Calibri"/>
              <a:sym typeface="Calibri"/>
            </a:endParaRPr>
          </a:p>
          <a:p>
            <a:pPr indent="0" lvl="0" marL="184785" marR="0" rtl="0" algn="l">
              <a:lnSpc>
                <a:spcPct val="106071"/>
              </a:lnSpc>
              <a:spcBef>
                <a:spcPts val="0"/>
              </a:spcBef>
              <a:spcAft>
                <a:spcPts val="0"/>
              </a:spcAft>
              <a:buNone/>
            </a:pPr>
            <a:r>
              <a:rPr lang="en-US" sz="2800">
                <a:solidFill>
                  <a:srgbClr val="4E3629"/>
                </a:solidFill>
                <a:latin typeface="Calibri"/>
                <a:ea typeface="Calibri"/>
                <a:cs typeface="Calibri"/>
                <a:sym typeface="Calibri"/>
              </a:rPr>
              <a:t>con un salario inferior a la media</a:t>
            </a:r>
            <a:endParaRPr sz="2800">
              <a:latin typeface="Calibri"/>
              <a:ea typeface="Calibri"/>
              <a:cs typeface="Calibri"/>
              <a:sym typeface="Calibri"/>
            </a:endParaRPr>
          </a:p>
        </p:txBody>
      </p:sp>
      <p:sp>
        <p:nvSpPr>
          <p:cNvPr id="160" name="Google Shape;160;p22"/>
          <p:cNvSpPr txBox="1"/>
          <p:nvPr/>
        </p:nvSpPr>
        <p:spPr>
          <a:xfrm>
            <a:off x="1488161" y="4893067"/>
            <a:ext cx="2371090" cy="26924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b="1" lang="en-US" sz="1600">
                <a:solidFill>
                  <a:srgbClr val="FF0000"/>
                </a:solidFill>
                <a:latin typeface="Calibri"/>
                <a:ea typeface="Calibri"/>
                <a:cs typeface="Calibri"/>
                <a:sym typeface="Calibri"/>
              </a:rPr>
              <a:t>Resultado de la subconsulta</a:t>
            </a:r>
            <a:endParaRPr sz="1600">
              <a:latin typeface="Calibri"/>
              <a:ea typeface="Calibri"/>
              <a:cs typeface="Calibri"/>
              <a:sym typeface="Calibri"/>
            </a:endParaRPr>
          </a:p>
        </p:txBody>
      </p:sp>
      <p:graphicFrame>
        <p:nvGraphicFramePr>
          <p:cNvPr id="161" name="Google Shape;161;p22"/>
          <p:cNvGraphicFramePr/>
          <p:nvPr/>
        </p:nvGraphicFramePr>
        <p:xfrm>
          <a:off x="5628278" y="2354212"/>
          <a:ext cx="3000000" cy="3000000"/>
        </p:xfrm>
        <a:graphic>
          <a:graphicData uri="http://schemas.openxmlformats.org/drawingml/2006/table">
            <a:tbl>
              <a:tblPr bandRow="1" firstRow="1">
                <a:noFill/>
                <a:tableStyleId>{B3353EBE-A567-4DC9-9E8F-97FF44465357}</a:tableStyleId>
              </a:tblPr>
              <a:tblGrid>
                <a:gridCol w="1558300"/>
                <a:gridCol w="1558300"/>
              </a:tblGrid>
              <a:tr h="317875">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LAST_NAME</a:t>
                      </a:r>
                      <a:endParaRPr sz="1600" u="none" cap="none" strike="noStrike">
                        <a:latin typeface="Calibri"/>
                        <a:ea typeface="Calibri"/>
                        <a:cs typeface="Calibri"/>
                        <a:sym typeface="Calibri"/>
                      </a:endParaRPr>
                    </a:p>
                  </a:txBody>
                  <a:tcPr marT="24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SALARY</a:t>
                      </a:r>
                      <a:endParaRPr sz="1600" u="none" cap="none" strike="noStrike">
                        <a:latin typeface="Calibri"/>
                        <a:ea typeface="Calibri"/>
                        <a:cs typeface="Calibri"/>
                        <a:sym typeface="Calibri"/>
                      </a:endParaRPr>
                    </a:p>
                  </a:txBody>
                  <a:tcPr marT="24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r>
              <a:tr h="31787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Whalen</a:t>
                      </a:r>
                      <a:endParaRPr sz="1600" u="none" cap="none" strike="noStrike">
                        <a:latin typeface="Calibri"/>
                        <a:ea typeface="Calibri"/>
                        <a:cs typeface="Calibri"/>
                        <a:sym typeface="Calibri"/>
                      </a:endParaRPr>
                    </a:p>
                  </a:txBody>
                  <a:tcPr marT="24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4400</a:t>
                      </a:r>
                      <a:endParaRPr sz="1600" u="none" cap="none" strike="noStrike">
                        <a:latin typeface="Calibri"/>
                        <a:ea typeface="Calibri"/>
                        <a:cs typeface="Calibri"/>
                        <a:sym typeface="Calibri"/>
                      </a:endParaRPr>
                    </a:p>
                  </a:txBody>
                  <a:tcPr marT="24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31787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Gietz</a:t>
                      </a:r>
                      <a:endParaRPr sz="1600" u="none" cap="none" strike="noStrike">
                        <a:latin typeface="Calibri"/>
                        <a:ea typeface="Calibri"/>
                        <a:cs typeface="Calibri"/>
                        <a:sym typeface="Calibri"/>
                      </a:endParaRPr>
                    </a:p>
                  </a:txBody>
                  <a:tcPr marT="24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8300</a:t>
                      </a:r>
                      <a:endParaRPr sz="1600" u="none" cap="none" strike="noStrike">
                        <a:latin typeface="Calibri"/>
                        <a:ea typeface="Calibri"/>
                        <a:cs typeface="Calibri"/>
                        <a:sym typeface="Calibri"/>
                      </a:endParaRPr>
                    </a:p>
                  </a:txBody>
                  <a:tcPr marT="24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31787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Taylor</a:t>
                      </a:r>
                      <a:endParaRPr sz="1600" u="none" cap="none" strike="noStrike">
                        <a:latin typeface="Calibri"/>
                        <a:ea typeface="Calibri"/>
                        <a:cs typeface="Calibri"/>
                        <a:sym typeface="Calibri"/>
                      </a:endParaRPr>
                    </a:p>
                  </a:txBody>
                  <a:tcPr marT="24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8600</a:t>
                      </a:r>
                      <a:endParaRPr sz="1600" u="none" cap="none" strike="noStrike">
                        <a:latin typeface="Calibri"/>
                        <a:ea typeface="Calibri"/>
                        <a:cs typeface="Calibri"/>
                        <a:sym typeface="Calibri"/>
                      </a:endParaRPr>
                    </a:p>
                  </a:txBody>
                  <a:tcPr marT="24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31787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Grant</a:t>
                      </a:r>
                      <a:endParaRPr sz="1600" u="none" cap="none" strike="noStrike">
                        <a:latin typeface="Calibri"/>
                        <a:ea typeface="Calibri"/>
                        <a:cs typeface="Calibri"/>
                        <a:sym typeface="Calibri"/>
                      </a:endParaRPr>
                    </a:p>
                  </a:txBody>
                  <a:tcPr marT="24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7000</a:t>
                      </a:r>
                      <a:endParaRPr sz="1600" u="none" cap="none" strike="noStrike">
                        <a:latin typeface="Calibri"/>
                        <a:ea typeface="Calibri"/>
                        <a:cs typeface="Calibri"/>
                        <a:sym typeface="Calibri"/>
                      </a:endParaRPr>
                    </a:p>
                  </a:txBody>
                  <a:tcPr marT="24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31787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Mourgos</a:t>
                      </a:r>
                      <a:endParaRPr sz="1600" u="none" cap="none" strike="noStrike">
                        <a:latin typeface="Calibri"/>
                        <a:ea typeface="Calibri"/>
                        <a:cs typeface="Calibri"/>
                        <a:sym typeface="Calibri"/>
                      </a:endParaRPr>
                    </a:p>
                  </a:txBody>
                  <a:tcPr marT="24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5800</a:t>
                      </a:r>
                      <a:endParaRPr sz="1600" u="none" cap="none" strike="noStrike">
                        <a:latin typeface="Calibri"/>
                        <a:ea typeface="Calibri"/>
                        <a:cs typeface="Calibri"/>
                        <a:sym typeface="Calibri"/>
                      </a:endParaRPr>
                    </a:p>
                  </a:txBody>
                  <a:tcPr marT="24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31787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Rajs</a:t>
                      </a:r>
                      <a:endParaRPr sz="1600" u="none" cap="none" strike="noStrike">
                        <a:latin typeface="Calibri"/>
                        <a:ea typeface="Calibri"/>
                        <a:cs typeface="Calibri"/>
                        <a:sym typeface="Calibri"/>
                      </a:endParaRPr>
                    </a:p>
                  </a:txBody>
                  <a:tcPr marT="24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3500</a:t>
                      </a:r>
                      <a:endParaRPr sz="1600" u="none" cap="none" strike="noStrike">
                        <a:latin typeface="Calibri"/>
                        <a:ea typeface="Calibri"/>
                        <a:cs typeface="Calibri"/>
                        <a:sym typeface="Calibri"/>
                      </a:endParaRPr>
                    </a:p>
                  </a:txBody>
                  <a:tcPr marT="24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31787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Davies</a:t>
                      </a:r>
                      <a:endParaRPr sz="1600" u="none" cap="none" strike="noStrike">
                        <a:latin typeface="Calibri"/>
                        <a:ea typeface="Calibri"/>
                        <a:cs typeface="Calibri"/>
                        <a:sym typeface="Calibri"/>
                      </a:endParaRPr>
                    </a:p>
                  </a:txBody>
                  <a:tcPr marT="235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3100</a:t>
                      </a:r>
                      <a:endParaRPr sz="1600" u="none" cap="none" strike="noStrike">
                        <a:latin typeface="Calibri"/>
                        <a:ea typeface="Calibri"/>
                        <a:cs typeface="Calibri"/>
                        <a:sym typeface="Calibri"/>
                      </a:endParaRPr>
                    </a:p>
                  </a:txBody>
                  <a:tcPr marT="235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31787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Matos</a:t>
                      </a:r>
                      <a:endParaRPr sz="1600" u="none" cap="none" strike="noStrike">
                        <a:latin typeface="Calibri"/>
                        <a:ea typeface="Calibri"/>
                        <a:cs typeface="Calibri"/>
                        <a:sym typeface="Calibri"/>
                      </a:endParaRPr>
                    </a:p>
                  </a:txBody>
                  <a:tcPr marT="235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2600</a:t>
                      </a:r>
                      <a:endParaRPr sz="1600" u="none" cap="none" strike="noStrike">
                        <a:latin typeface="Calibri"/>
                        <a:ea typeface="Calibri"/>
                        <a:cs typeface="Calibri"/>
                        <a:sym typeface="Calibri"/>
                      </a:endParaRPr>
                    </a:p>
                  </a:txBody>
                  <a:tcPr marT="235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31787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Vargas</a:t>
                      </a:r>
                      <a:endParaRPr sz="1600" u="none" cap="none" strike="noStrike">
                        <a:latin typeface="Calibri"/>
                        <a:ea typeface="Calibri"/>
                        <a:cs typeface="Calibri"/>
                        <a:sym typeface="Calibri"/>
                      </a:endParaRPr>
                    </a:p>
                  </a:txBody>
                  <a:tcPr marT="235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2500</a:t>
                      </a:r>
                      <a:endParaRPr sz="1600" u="none" cap="none" strike="noStrike">
                        <a:latin typeface="Calibri"/>
                        <a:ea typeface="Calibri"/>
                        <a:cs typeface="Calibri"/>
                        <a:sym typeface="Calibri"/>
                      </a:endParaRPr>
                    </a:p>
                  </a:txBody>
                  <a:tcPr marT="235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31787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Ernst</a:t>
                      </a:r>
                      <a:endParaRPr sz="1600" u="none" cap="none" strike="noStrike">
                        <a:latin typeface="Calibri"/>
                        <a:ea typeface="Calibri"/>
                        <a:cs typeface="Calibri"/>
                        <a:sym typeface="Calibri"/>
                      </a:endParaRPr>
                    </a:p>
                  </a:txBody>
                  <a:tcPr marT="235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6000</a:t>
                      </a:r>
                      <a:endParaRPr sz="1600" u="none" cap="none" strike="noStrike">
                        <a:latin typeface="Calibri"/>
                        <a:ea typeface="Calibri"/>
                        <a:cs typeface="Calibri"/>
                        <a:sym typeface="Calibri"/>
                      </a:endParaRPr>
                    </a:p>
                  </a:txBody>
                  <a:tcPr marT="235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31787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Lorentz</a:t>
                      </a:r>
                      <a:endParaRPr sz="1600" u="none" cap="none" strike="noStrike">
                        <a:latin typeface="Calibri"/>
                        <a:ea typeface="Calibri"/>
                        <a:cs typeface="Calibri"/>
                        <a:sym typeface="Calibri"/>
                      </a:endParaRPr>
                    </a:p>
                  </a:txBody>
                  <a:tcPr marT="235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4200</a:t>
                      </a:r>
                      <a:endParaRPr sz="1600" u="none" cap="none" strike="noStrike">
                        <a:latin typeface="Calibri"/>
                        <a:ea typeface="Calibri"/>
                        <a:cs typeface="Calibri"/>
                        <a:sym typeface="Calibri"/>
                      </a:endParaRPr>
                    </a:p>
                  </a:txBody>
                  <a:tcPr marT="235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31787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Fay</a:t>
                      </a:r>
                      <a:endParaRPr sz="1600" u="none" cap="none" strike="noStrike">
                        <a:latin typeface="Calibri"/>
                        <a:ea typeface="Calibri"/>
                        <a:cs typeface="Calibri"/>
                        <a:sym typeface="Calibri"/>
                      </a:endParaRPr>
                    </a:p>
                  </a:txBody>
                  <a:tcPr marT="235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6000</a:t>
                      </a:r>
                      <a:endParaRPr sz="1600" u="none" cap="none" strike="noStrike">
                        <a:latin typeface="Calibri"/>
                        <a:ea typeface="Calibri"/>
                        <a:cs typeface="Calibri"/>
                        <a:sym typeface="Calibri"/>
                      </a:endParaRPr>
                    </a:p>
                  </a:txBody>
                  <a:tcPr marT="235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bl>
          </a:graphicData>
        </a:graphic>
      </p:graphicFrame>
      <p:graphicFrame>
        <p:nvGraphicFramePr>
          <p:cNvPr id="162" name="Google Shape;162;p22"/>
          <p:cNvGraphicFramePr/>
          <p:nvPr/>
        </p:nvGraphicFramePr>
        <p:xfrm>
          <a:off x="1481811" y="5141765"/>
          <a:ext cx="3000000" cy="3000000"/>
        </p:xfrm>
        <a:graphic>
          <a:graphicData uri="http://schemas.openxmlformats.org/drawingml/2006/table">
            <a:tbl>
              <a:tblPr bandRow="1" firstRow="1">
                <a:noFill/>
                <a:tableStyleId>{B3353EBE-A567-4DC9-9E8F-97FF44465357}</a:tableStyleId>
              </a:tblPr>
              <a:tblGrid>
                <a:gridCol w="1407800"/>
              </a:tblGrid>
              <a:tr h="326675">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AVG(SALARY)</a:t>
                      </a:r>
                      <a:endParaRPr sz="1600" u="none" cap="none" strike="noStrike">
                        <a:latin typeface="Calibri"/>
                        <a:ea typeface="Calibri"/>
                        <a:cs typeface="Calibri"/>
                        <a:sym typeface="Calibri"/>
                      </a:endParaRPr>
                    </a:p>
                  </a:txBody>
                  <a:tcPr marT="285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r>
              <a:tr h="304700">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8775</a:t>
                      </a:r>
                      <a:endParaRPr sz="1600" u="none" cap="none" strike="noStrike">
                        <a:latin typeface="Calibri"/>
                        <a:ea typeface="Calibri"/>
                        <a:cs typeface="Calibri"/>
                        <a:sym typeface="Calibri"/>
                      </a:endParaRPr>
                    </a:p>
                  </a:txBody>
                  <a:tcPr marT="171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bl>
          </a:graphicData>
        </a:graphic>
      </p:graphicFrame>
      <p:sp>
        <p:nvSpPr>
          <p:cNvPr id="163" name="Google Shape;163;p22"/>
          <p:cNvSpPr txBox="1"/>
          <p:nvPr/>
        </p:nvSpPr>
        <p:spPr>
          <a:xfrm>
            <a:off x="405384" y="3206495"/>
            <a:ext cx="4779645" cy="1362710"/>
          </a:xfrm>
          <a:prstGeom prst="rect">
            <a:avLst/>
          </a:prstGeom>
          <a:solidFill>
            <a:srgbClr val="9DBDC4">
              <a:alpha val="49804"/>
            </a:srgbClr>
          </a:solidFill>
          <a:ln>
            <a:noFill/>
          </a:ln>
        </p:spPr>
        <p:txBody>
          <a:bodyPr anchorCtr="0" anchor="t" bIns="0" lIns="0" spcFirstLastPara="1" rIns="0" wrap="square" tIns="0">
            <a:spAutoFit/>
          </a:bodyPr>
          <a:lstStyle/>
          <a:p>
            <a:pPr indent="0" lvl="0" marL="0" marR="0" rtl="0" algn="l">
              <a:lnSpc>
                <a:spcPct val="105833"/>
              </a:lnSpc>
              <a:spcBef>
                <a:spcPts val="0"/>
              </a:spcBef>
              <a:spcAft>
                <a:spcPts val="0"/>
              </a:spcAft>
              <a:buNone/>
            </a:pPr>
            <a:r>
              <a:rPr b="1" lang="en-US" sz="1800">
                <a:solidFill>
                  <a:srgbClr val="4E3629"/>
                </a:solidFill>
                <a:latin typeface="Courier New"/>
                <a:ea typeface="Courier New"/>
                <a:cs typeface="Courier New"/>
                <a:sym typeface="Courier New"/>
              </a:rPr>
              <a:t>SELECT last_name, salary</a:t>
            </a:r>
            <a:endParaRPr sz="1800">
              <a:latin typeface="Courier New"/>
              <a:ea typeface="Courier New"/>
              <a:cs typeface="Courier New"/>
              <a:sym typeface="Courier New"/>
            </a:endParaRPr>
          </a:p>
          <a:p>
            <a:pPr indent="0" lvl="0" marL="0" marR="285940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FROM employees  WHERE salary &lt;</a:t>
            </a:r>
            <a:endParaRPr sz="1800">
              <a:latin typeface="Courier New"/>
              <a:ea typeface="Courier New"/>
              <a:cs typeface="Courier New"/>
              <a:sym typeface="Courier New"/>
            </a:endParaRPr>
          </a:p>
          <a:p>
            <a:pPr indent="-137160" lvl="0" marL="546100" marR="176847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(SELECT AVG(salary)  FROM employees);</a:t>
            </a:r>
            <a:endParaRPr sz="1800">
              <a:latin typeface="Courier New"/>
              <a:ea typeface="Courier New"/>
              <a:cs typeface="Courier New"/>
              <a:sym typeface="Courier New"/>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3"/>
          <p:cNvSpPr txBox="1"/>
          <p:nvPr>
            <p:ph type="title"/>
          </p:nvPr>
        </p:nvSpPr>
        <p:spPr>
          <a:xfrm>
            <a:off x="392112" y="748031"/>
            <a:ext cx="61449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300"/>
              <a:t>Subconsultas en la Cláusula HAVING</a:t>
            </a:r>
            <a:endParaRPr sz="3300"/>
          </a:p>
        </p:txBody>
      </p:sp>
      <p:sp>
        <p:nvSpPr>
          <p:cNvPr id="169" name="Google Shape;169;p23"/>
          <p:cNvSpPr txBox="1"/>
          <p:nvPr>
            <p:ph idx="10" type="dt"/>
          </p:nvPr>
        </p:nvSpPr>
        <p:spPr>
          <a:xfrm>
            <a:off x="2874191" y="6516395"/>
            <a:ext cx="13260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10-2</a:t>
            </a:r>
            <a:endParaRPr/>
          </a:p>
          <a:p>
            <a:pPr indent="0" lvl="0" marL="12700" rtl="0" algn="l">
              <a:lnSpc>
                <a:spcPct val="120624"/>
              </a:lnSpc>
              <a:spcBef>
                <a:spcPts val="0"/>
              </a:spcBef>
              <a:spcAft>
                <a:spcPts val="0"/>
              </a:spcAft>
              <a:buNone/>
            </a:pPr>
            <a:r>
              <a:rPr lang="en-US"/>
              <a:t>Subconsultas de Una Sola Fila</a:t>
            </a:r>
            <a:endParaRPr/>
          </a:p>
        </p:txBody>
      </p:sp>
      <p:sp>
        <p:nvSpPr>
          <p:cNvPr id="170" name="Google Shape;170;p23"/>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71" name="Google Shape;171;p23"/>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72" name="Google Shape;172;p23"/>
          <p:cNvSpPr txBox="1"/>
          <p:nvPr/>
        </p:nvSpPr>
        <p:spPr>
          <a:xfrm>
            <a:off x="483552" y="1415417"/>
            <a:ext cx="7848600" cy="4112895"/>
          </a:xfrm>
          <a:prstGeom prst="rect">
            <a:avLst/>
          </a:prstGeom>
          <a:noFill/>
          <a:ln>
            <a:noFill/>
          </a:ln>
        </p:spPr>
        <p:txBody>
          <a:bodyPr anchorCtr="0" anchor="t" bIns="0" lIns="0" spcFirstLastPara="1" rIns="0" wrap="square" tIns="59675">
            <a:spAutoFit/>
          </a:bodyPr>
          <a:lstStyle/>
          <a:p>
            <a:pPr indent="-177800" lvl="0" marL="184785" marR="48514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Las subconsultas también se pueden colocar en la  cláusula HAVING</a:t>
            </a:r>
            <a:endParaRPr sz="2800">
              <a:latin typeface="Calibri"/>
              <a:ea typeface="Calibri"/>
              <a:cs typeface="Calibri"/>
              <a:sym typeface="Calibri"/>
            </a:endParaRPr>
          </a:p>
          <a:p>
            <a:pPr indent="-177800" lvl="0" marL="184785" marR="487045"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Recuerde que la cláusula HAVING es similar a la  cláusula WHERE, excepto por el hecho de que la  cláusula HAVING se utiliza para restringir grupos y  siempre incluye una función de grupo como, por  ejemplo, MIN, MAX o AVG</a:t>
            </a:r>
            <a:endParaRPr sz="2800">
              <a:latin typeface="Calibri"/>
              <a:ea typeface="Calibri"/>
              <a:cs typeface="Calibri"/>
              <a:sym typeface="Calibri"/>
            </a:endParaRPr>
          </a:p>
          <a:p>
            <a:pPr indent="-177800" lvl="0" marL="184785" marR="5080" rtl="0" algn="l">
              <a:lnSpc>
                <a:spcPct val="108214"/>
              </a:lnSpc>
              <a:spcBef>
                <a:spcPts val="77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Puesto que la cláusula HAVING siempre incluye una  función de grupo, la subconsulta casi siempre incluye  una función de grupo también</a:t>
            </a:r>
            <a:endParaRPr sz="2800">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4"/>
          <p:cNvSpPr txBox="1"/>
          <p:nvPr>
            <p:ph type="title"/>
          </p:nvPr>
        </p:nvSpPr>
        <p:spPr>
          <a:xfrm>
            <a:off x="392112" y="748031"/>
            <a:ext cx="40926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300"/>
              <a:t>Ejemplo de Subconsulta</a:t>
            </a:r>
            <a:endParaRPr sz="3300"/>
          </a:p>
        </p:txBody>
      </p:sp>
      <p:sp>
        <p:nvSpPr>
          <p:cNvPr id="178" name="Google Shape;178;p24"/>
          <p:cNvSpPr txBox="1"/>
          <p:nvPr>
            <p:ph idx="10" type="dt"/>
          </p:nvPr>
        </p:nvSpPr>
        <p:spPr>
          <a:xfrm>
            <a:off x="2874191" y="6516395"/>
            <a:ext cx="13260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10-2</a:t>
            </a:r>
            <a:endParaRPr/>
          </a:p>
          <a:p>
            <a:pPr indent="0" lvl="0" marL="12700" rtl="0" algn="l">
              <a:lnSpc>
                <a:spcPct val="120624"/>
              </a:lnSpc>
              <a:spcBef>
                <a:spcPts val="0"/>
              </a:spcBef>
              <a:spcAft>
                <a:spcPts val="0"/>
              </a:spcAft>
              <a:buNone/>
            </a:pPr>
            <a:r>
              <a:rPr lang="en-US"/>
              <a:t>Subconsultas de Una Sola Fila</a:t>
            </a:r>
            <a:endParaRPr/>
          </a:p>
        </p:txBody>
      </p:sp>
      <p:sp>
        <p:nvSpPr>
          <p:cNvPr id="179" name="Google Shape;179;p24"/>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80" name="Google Shape;180;p24"/>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81" name="Google Shape;181;p24"/>
          <p:cNvSpPr txBox="1"/>
          <p:nvPr/>
        </p:nvSpPr>
        <p:spPr>
          <a:xfrm>
            <a:off x="483552" y="1415417"/>
            <a:ext cx="7925434" cy="2090420"/>
          </a:xfrm>
          <a:prstGeom prst="rect">
            <a:avLst/>
          </a:prstGeom>
          <a:noFill/>
          <a:ln>
            <a:noFill/>
          </a:ln>
        </p:spPr>
        <p:txBody>
          <a:bodyPr anchorCtr="0" anchor="t" bIns="0" lIns="0" spcFirstLastPara="1" rIns="0" wrap="square" tIns="59675">
            <a:spAutoFit/>
          </a:bodyPr>
          <a:lstStyle/>
          <a:p>
            <a:pPr indent="-177800" lvl="0" marL="184785" marR="154305" rtl="0" algn="just">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¿Qué departamentos tienen un salario más bajo que  sea mayor que el salario más bajo del departamento  50?</a:t>
            </a:r>
            <a:endParaRPr sz="2800">
              <a:latin typeface="Calibri"/>
              <a:ea typeface="Calibri"/>
              <a:cs typeface="Calibri"/>
              <a:sym typeface="Calibri"/>
            </a:endParaRPr>
          </a:p>
          <a:p>
            <a:pPr indent="-177800" lvl="0" marL="184785" marR="5080" rtl="0" algn="just">
              <a:lnSpc>
                <a:spcPct val="108214"/>
              </a:lnSpc>
              <a:spcBef>
                <a:spcPts val="78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este ejemplo, la subconsulta selecciona y devuelve  el menor salario del departamento 50</a:t>
            </a:r>
            <a:endParaRPr sz="2800">
              <a:latin typeface="Calibri"/>
              <a:ea typeface="Calibri"/>
              <a:cs typeface="Calibri"/>
              <a:sym typeface="Calibri"/>
            </a:endParaRPr>
          </a:p>
        </p:txBody>
      </p:sp>
      <p:sp>
        <p:nvSpPr>
          <p:cNvPr id="182" name="Google Shape;182;p24"/>
          <p:cNvSpPr txBox="1"/>
          <p:nvPr/>
        </p:nvSpPr>
        <p:spPr>
          <a:xfrm>
            <a:off x="6437014" y="6239588"/>
            <a:ext cx="2085975" cy="23939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n-US" sz="1400">
                <a:solidFill>
                  <a:srgbClr val="FF0000"/>
                </a:solidFill>
                <a:latin typeface="Calibri"/>
                <a:ea typeface="Calibri"/>
                <a:cs typeface="Calibri"/>
                <a:sym typeface="Calibri"/>
              </a:rPr>
              <a:t>Resultado de la subconsulta</a:t>
            </a:r>
            <a:endParaRPr sz="1400">
              <a:latin typeface="Calibri"/>
              <a:ea typeface="Calibri"/>
              <a:cs typeface="Calibri"/>
              <a:sym typeface="Calibri"/>
            </a:endParaRPr>
          </a:p>
        </p:txBody>
      </p:sp>
      <p:graphicFrame>
        <p:nvGraphicFramePr>
          <p:cNvPr id="183" name="Google Shape;183;p24"/>
          <p:cNvGraphicFramePr/>
          <p:nvPr/>
        </p:nvGraphicFramePr>
        <p:xfrm>
          <a:off x="5074960" y="3604586"/>
          <a:ext cx="3000000" cy="3000000"/>
        </p:xfrm>
        <a:graphic>
          <a:graphicData uri="http://schemas.openxmlformats.org/drawingml/2006/table">
            <a:tbl>
              <a:tblPr bandRow="1" firstRow="1">
                <a:noFill/>
                <a:tableStyleId>{B3353EBE-A567-4DC9-9E8F-97FF44465357}</a:tableStyleId>
              </a:tblPr>
              <a:tblGrid>
                <a:gridCol w="2024375"/>
                <a:gridCol w="1798950"/>
              </a:tblGrid>
              <a:tr h="284600">
                <a:tc>
                  <a:txBody>
                    <a:bodyPr/>
                    <a:lstStyle/>
                    <a:p>
                      <a:pPr indent="0" lvl="0" marL="12700" marR="0" rtl="0" algn="l">
                        <a:lnSpc>
                          <a:spcPct val="100000"/>
                        </a:lnSpc>
                        <a:spcBef>
                          <a:spcPts val="0"/>
                        </a:spcBef>
                        <a:spcAft>
                          <a:spcPts val="0"/>
                        </a:spcAft>
                        <a:buNone/>
                      </a:pPr>
                      <a:r>
                        <a:rPr b="1" lang="en-US" sz="1400" u="none" cap="none" strike="noStrike">
                          <a:solidFill>
                            <a:srgbClr val="4E3629"/>
                          </a:solidFill>
                          <a:latin typeface="Calibri"/>
                          <a:ea typeface="Calibri"/>
                          <a:cs typeface="Calibri"/>
                          <a:sym typeface="Calibri"/>
                        </a:rPr>
                        <a:t>DEPARTMENT_ID</a:t>
                      </a:r>
                      <a:endParaRPr sz="1400" u="none" cap="none" strike="noStrike">
                        <a:latin typeface="Calibri"/>
                        <a:ea typeface="Calibri"/>
                        <a:cs typeface="Calibri"/>
                        <a:sym typeface="Calibri"/>
                      </a:endParaRPr>
                    </a:p>
                  </a:txBody>
                  <a:tcPr marT="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905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c>
                  <a:txBody>
                    <a:bodyPr/>
                    <a:lstStyle/>
                    <a:p>
                      <a:pPr indent="0" lvl="0" marL="12700" marR="0" rtl="0" algn="l">
                        <a:lnSpc>
                          <a:spcPct val="100000"/>
                        </a:lnSpc>
                        <a:spcBef>
                          <a:spcPts val="0"/>
                        </a:spcBef>
                        <a:spcAft>
                          <a:spcPts val="0"/>
                        </a:spcAft>
                        <a:buNone/>
                      </a:pPr>
                      <a:r>
                        <a:rPr b="1" lang="en-US" sz="1400" u="none" cap="none" strike="noStrike">
                          <a:solidFill>
                            <a:srgbClr val="4E3629"/>
                          </a:solidFill>
                          <a:latin typeface="Calibri"/>
                          <a:ea typeface="Calibri"/>
                          <a:cs typeface="Calibri"/>
                          <a:sym typeface="Calibri"/>
                        </a:rPr>
                        <a:t>MIN(SALARY)</a:t>
                      </a:r>
                      <a:endParaRPr sz="1400" u="none" cap="none" strike="noStrike">
                        <a:latin typeface="Calibri"/>
                        <a:ea typeface="Calibri"/>
                        <a:cs typeface="Calibri"/>
                        <a:sym typeface="Calibri"/>
                      </a:endParaRPr>
                    </a:p>
                  </a:txBody>
                  <a:tcPr marT="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905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r>
              <a:tr h="284600">
                <a:tc>
                  <a:txBody>
                    <a:bodyPr/>
                    <a:lstStyle/>
                    <a:p>
                      <a:pPr indent="0" lvl="0" marL="52069"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a:t>
                      </a:r>
                      <a:endParaRPr sz="1400" u="none" cap="none" strike="noStrike">
                        <a:latin typeface="Calibri"/>
                        <a:ea typeface="Calibri"/>
                        <a:cs typeface="Calibri"/>
                        <a:sym typeface="Calibri"/>
                      </a:endParaRPr>
                    </a:p>
                  </a:txBody>
                  <a:tcPr marT="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270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7000</a:t>
                      </a:r>
                      <a:endParaRPr sz="1400" u="none" cap="none" strike="noStrike">
                        <a:latin typeface="Calibri"/>
                        <a:ea typeface="Calibri"/>
                        <a:cs typeface="Calibri"/>
                        <a:sym typeface="Calibri"/>
                      </a:endParaRPr>
                    </a:p>
                  </a:txBody>
                  <a:tcPr marT="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284600">
                <a:tc>
                  <a:txBody>
                    <a:bodyPr/>
                    <a:lstStyle/>
                    <a:p>
                      <a:pPr indent="0" lvl="0" marL="1270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90</a:t>
                      </a:r>
                      <a:endParaRPr sz="1400" u="none" cap="none" strike="noStrike">
                        <a:latin typeface="Calibri"/>
                        <a:ea typeface="Calibri"/>
                        <a:cs typeface="Calibri"/>
                        <a:sym typeface="Calibri"/>
                      </a:endParaRPr>
                    </a:p>
                  </a:txBody>
                  <a:tcPr marT="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270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17000</a:t>
                      </a:r>
                      <a:endParaRPr sz="1400" u="none" cap="none" strike="noStrike">
                        <a:latin typeface="Calibri"/>
                        <a:ea typeface="Calibri"/>
                        <a:cs typeface="Calibri"/>
                        <a:sym typeface="Calibri"/>
                      </a:endParaRPr>
                    </a:p>
                  </a:txBody>
                  <a:tcPr marT="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284600">
                <a:tc>
                  <a:txBody>
                    <a:bodyPr/>
                    <a:lstStyle/>
                    <a:p>
                      <a:pPr indent="0" lvl="0" marL="1270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20</a:t>
                      </a:r>
                      <a:endParaRPr sz="1400" u="none" cap="none" strike="noStrike">
                        <a:latin typeface="Calibri"/>
                        <a:ea typeface="Calibri"/>
                        <a:cs typeface="Calibri"/>
                        <a:sym typeface="Calibri"/>
                      </a:endParaRPr>
                    </a:p>
                  </a:txBody>
                  <a:tcPr marT="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270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6000</a:t>
                      </a:r>
                      <a:endParaRPr sz="1400" u="none" cap="none" strike="noStrike">
                        <a:latin typeface="Calibri"/>
                        <a:ea typeface="Calibri"/>
                        <a:cs typeface="Calibri"/>
                        <a:sym typeface="Calibri"/>
                      </a:endParaRPr>
                    </a:p>
                  </a:txBody>
                  <a:tcPr marT="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284600">
                <a:tc>
                  <a:txBody>
                    <a:bodyPr/>
                    <a:lstStyle/>
                    <a:p>
                      <a:pPr indent="0" lvl="0" marL="1270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110</a:t>
                      </a:r>
                      <a:endParaRPr sz="1400" u="none" cap="none" strike="noStrike">
                        <a:latin typeface="Calibri"/>
                        <a:ea typeface="Calibri"/>
                        <a:cs typeface="Calibri"/>
                        <a:sym typeface="Calibri"/>
                      </a:endParaRPr>
                    </a:p>
                  </a:txBody>
                  <a:tcPr marT="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270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8300</a:t>
                      </a:r>
                      <a:endParaRPr sz="1400" u="none" cap="none" strike="noStrike">
                        <a:latin typeface="Calibri"/>
                        <a:ea typeface="Calibri"/>
                        <a:cs typeface="Calibri"/>
                        <a:sym typeface="Calibri"/>
                      </a:endParaRPr>
                    </a:p>
                  </a:txBody>
                  <a:tcPr marT="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284600">
                <a:tc>
                  <a:txBody>
                    <a:bodyPr/>
                    <a:lstStyle/>
                    <a:p>
                      <a:pPr indent="0" lvl="0" marL="1270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80</a:t>
                      </a:r>
                      <a:endParaRPr sz="1400" u="none" cap="none" strike="noStrike">
                        <a:latin typeface="Calibri"/>
                        <a:ea typeface="Calibri"/>
                        <a:cs typeface="Calibri"/>
                        <a:sym typeface="Calibri"/>
                      </a:endParaRPr>
                    </a:p>
                  </a:txBody>
                  <a:tcPr marT="19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270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8600</a:t>
                      </a:r>
                      <a:endParaRPr sz="1400" u="none" cap="none" strike="noStrike">
                        <a:latin typeface="Calibri"/>
                        <a:ea typeface="Calibri"/>
                        <a:cs typeface="Calibri"/>
                        <a:sym typeface="Calibri"/>
                      </a:endParaRPr>
                    </a:p>
                  </a:txBody>
                  <a:tcPr marT="19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284600">
                <a:tc>
                  <a:txBody>
                    <a:bodyPr/>
                    <a:lstStyle/>
                    <a:p>
                      <a:pPr indent="0" lvl="0" marL="1270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10</a:t>
                      </a:r>
                      <a:endParaRPr sz="1400" u="none" cap="none" strike="noStrike">
                        <a:latin typeface="Calibri"/>
                        <a:ea typeface="Calibri"/>
                        <a:cs typeface="Calibri"/>
                        <a:sym typeface="Calibri"/>
                      </a:endParaRPr>
                    </a:p>
                  </a:txBody>
                  <a:tcPr marT="19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270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4400</a:t>
                      </a:r>
                      <a:endParaRPr sz="1400" u="none" cap="none" strike="noStrike">
                        <a:latin typeface="Calibri"/>
                        <a:ea typeface="Calibri"/>
                        <a:cs typeface="Calibri"/>
                        <a:sym typeface="Calibri"/>
                      </a:endParaRPr>
                    </a:p>
                  </a:txBody>
                  <a:tcPr marT="19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284600">
                <a:tc>
                  <a:txBody>
                    <a:bodyPr/>
                    <a:lstStyle/>
                    <a:p>
                      <a:pPr indent="0" lvl="0" marL="1270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60</a:t>
                      </a:r>
                      <a:endParaRPr sz="1400" u="none" cap="none" strike="noStrike">
                        <a:latin typeface="Calibri"/>
                        <a:ea typeface="Calibri"/>
                        <a:cs typeface="Calibri"/>
                        <a:sym typeface="Calibri"/>
                      </a:endParaRPr>
                    </a:p>
                  </a:txBody>
                  <a:tcPr marT="19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270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4200</a:t>
                      </a:r>
                      <a:endParaRPr sz="1400" u="none" cap="none" strike="noStrike">
                        <a:latin typeface="Calibri"/>
                        <a:ea typeface="Calibri"/>
                        <a:cs typeface="Calibri"/>
                        <a:sym typeface="Calibri"/>
                      </a:endParaRPr>
                    </a:p>
                  </a:txBody>
                  <a:tcPr marT="19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bl>
          </a:graphicData>
        </a:graphic>
      </p:graphicFrame>
      <p:graphicFrame>
        <p:nvGraphicFramePr>
          <p:cNvPr id="184" name="Google Shape;184;p24"/>
          <p:cNvGraphicFramePr/>
          <p:nvPr/>
        </p:nvGraphicFramePr>
        <p:xfrm>
          <a:off x="4695933" y="6040192"/>
          <a:ext cx="3000000" cy="3000000"/>
        </p:xfrm>
        <a:graphic>
          <a:graphicData uri="http://schemas.openxmlformats.org/drawingml/2006/table">
            <a:tbl>
              <a:tblPr bandRow="1" firstRow="1">
                <a:noFill/>
                <a:tableStyleId>{B3353EBE-A567-4DC9-9E8F-97FF44465357}</a:tableStyleId>
              </a:tblPr>
              <a:tblGrid>
                <a:gridCol w="1524000"/>
              </a:tblGrid>
              <a:tr h="245150">
                <a:tc>
                  <a:txBody>
                    <a:bodyPr/>
                    <a:lstStyle/>
                    <a:p>
                      <a:pPr indent="0" lvl="0" marL="12700" marR="0" rtl="0" algn="l">
                        <a:lnSpc>
                          <a:spcPct val="100000"/>
                        </a:lnSpc>
                        <a:spcBef>
                          <a:spcPts val="0"/>
                        </a:spcBef>
                        <a:spcAft>
                          <a:spcPts val="0"/>
                        </a:spcAft>
                        <a:buNone/>
                      </a:pPr>
                      <a:r>
                        <a:rPr b="1" lang="en-US" sz="1400" u="none" cap="none" strike="noStrike">
                          <a:solidFill>
                            <a:srgbClr val="4E3629"/>
                          </a:solidFill>
                          <a:latin typeface="Calibri"/>
                          <a:ea typeface="Calibri"/>
                          <a:cs typeface="Calibri"/>
                          <a:sym typeface="Calibri"/>
                        </a:rPr>
                        <a:t>MIN(SALARY)</a:t>
                      </a:r>
                      <a:endParaRPr sz="1400" u="none" cap="none" strike="noStrike">
                        <a:latin typeface="Calibri"/>
                        <a:ea typeface="Calibri"/>
                        <a:cs typeface="Calibri"/>
                        <a:sym typeface="Calibri"/>
                      </a:endParaRPr>
                    </a:p>
                  </a:txBody>
                  <a:tcPr marT="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r>
              <a:tr h="244250">
                <a:tc>
                  <a:txBody>
                    <a:bodyPr/>
                    <a:lstStyle/>
                    <a:p>
                      <a:pPr indent="0" lvl="0" marL="1270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2500</a:t>
                      </a:r>
                      <a:endParaRPr sz="1400" u="none" cap="none" strike="noStrike">
                        <a:latin typeface="Calibri"/>
                        <a:ea typeface="Calibri"/>
                        <a:cs typeface="Calibri"/>
                        <a:sym typeface="Calibri"/>
                      </a:endParaRPr>
                    </a:p>
                  </a:txBody>
                  <a:tcPr marT="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bl>
          </a:graphicData>
        </a:graphic>
      </p:graphicFrame>
      <p:sp>
        <p:nvSpPr>
          <p:cNvPr id="185" name="Google Shape;185;p24"/>
          <p:cNvSpPr txBox="1"/>
          <p:nvPr/>
        </p:nvSpPr>
        <p:spPr>
          <a:xfrm>
            <a:off x="214884" y="3610355"/>
            <a:ext cx="4704715" cy="2277110"/>
          </a:xfrm>
          <a:prstGeom prst="rect">
            <a:avLst/>
          </a:prstGeom>
          <a:solidFill>
            <a:srgbClr val="9DBDC4">
              <a:alpha val="49804"/>
            </a:srgbClr>
          </a:solidFill>
          <a:ln>
            <a:noFill/>
          </a:ln>
        </p:spPr>
        <p:txBody>
          <a:bodyPr anchorCtr="0" anchor="t" bIns="0" lIns="0" spcFirstLastPara="1" rIns="0" wrap="square" tIns="151125">
            <a:spAutoFit/>
          </a:bodyPr>
          <a:lstStyle/>
          <a:p>
            <a:pPr indent="0" lvl="0" marL="635" marR="19113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SELECT department_id, MIN(salary)  FROM employees</a:t>
            </a:r>
            <a:endParaRPr sz="1800">
              <a:latin typeface="Courier New"/>
              <a:ea typeface="Courier New"/>
              <a:cs typeface="Courier New"/>
              <a:sym typeface="Courier New"/>
            </a:endParaRPr>
          </a:p>
          <a:p>
            <a:pPr indent="0" lvl="0" marL="635" marR="169418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GROUP BY department_id  HAVING MIN(salary) &gt;</a:t>
            </a:r>
            <a:endParaRPr sz="1800">
              <a:latin typeface="Courier New"/>
              <a:ea typeface="Courier New"/>
              <a:cs typeface="Courier New"/>
              <a:sym typeface="Courier New"/>
            </a:endParaRPr>
          </a:p>
          <a:p>
            <a:pPr indent="0" lvl="0" marL="915035" marR="118618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(SELECT MIN(salary)  FROM employees</a:t>
            </a:r>
            <a:endParaRPr sz="1800">
              <a:latin typeface="Courier New"/>
              <a:ea typeface="Courier New"/>
              <a:cs typeface="Courier New"/>
              <a:sym typeface="Courier New"/>
            </a:endParaRPr>
          </a:p>
          <a:p>
            <a:pPr indent="0" lvl="0" marL="915035" marR="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WHERE department_id = 50);</a:t>
            </a:r>
            <a:endParaRPr sz="1800">
              <a:latin typeface="Courier New"/>
              <a:ea typeface="Courier New"/>
              <a:cs typeface="Courier New"/>
              <a:sym typeface="Courier New"/>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5"/>
          <p:cNvSpPr txBox="1"/>
          <p:nvPr>
            <p:ph type="title"/>
          </p:nvPr>
        </p:nvSpPr>
        <p:spPr>
          <a:xfrm>
            <a:off x="392112" y="748031"/>
            <a:ext cx="40926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300"/>
              <a:t>Ejemplo de Subconsulta</a:t>
            </a:r>
            <a:endParaRPr sz="3300"/>
          </a:p>
        </p:txBody>
      </p:sp>
      <p:sp>
        <p:nvSpPr>
          <p:cNvPr id="191" name="Google Shape;191;p25"/>
          <p:cNvSpPr txBox="1"/>
          <p:nvPr>
            <p:ph idx="10" type="dt"/>
          </p:nvPr>
        </p:nvSpPr>
        <p:spPr>
          <a:xfrm>
            <a:off x="2874191" y="6516395"/>
            <a:ext cx="13260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10-2</a:t>
            </a:r>
            <a:endParaRPr/>
          </a:p>
          <a:p>
            <a:pPr indent="0" lvl="0" marL="12700" rtl="0" algn="l">
              <a:lnSpc>
                <a:spcPct val="120624"/>
              </a:lnSpc>
              <a:spcBef>
                <a:spcPts val="0"/>
              </a:spcBef>
              <a:spcAft>
                <a:spcPts val="0"/>
              </a:spcAft>
              <a:buNone/>
            </a:pPr>
            <a:r>
              <a:rPr lang="en-US"/>
              <a:t>Subconsultas de Una Sola Fila</a:t>
            </a:r>
            <a:endParaRPr/>
          </a:p>
        </p:txBody>
      </p:sp>
      <p:sp>
        <p:nvSpPr>
          <p:cNvPr id="192" name="Google Shape;192;p25"/>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93" name="Google Shape;193;p25"/>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94" name="Google Shape;194;p25"/>
          <p:cNvSpPr txBox="1"/>
          <p:nvPr>
            <p:ph idx="1" type="body"/>
          </p:nvPr>
        </p:nvSpPr>
        <p:spPr>
          <a:xfrm>
            <a:off x="483552" y="1415417"/>
            <a:ext cx="8174400" cy="3389700"/>
          </a:xfrm>
          <a:prstGeom prst="rect">
            <a:avLst/>
          </a:prstGeom>
          <a:noFill/>
          <a:ln>
            <a:noFill/>
          </a:ln>
        </p:spPr>
        <p:txBody>
          <a:bodyPr anchorCtr="0" anchor="t" bIns="0" lIns="0" spcFirstLastPara="1" rIns="0" wrap="square" tIns="59675">
            <a:spAutoFit/>
          </a:bodyPr>
          <a:lstStyle/>
          <a:p>
            <a:pPr indent="-177800" lvl="0" marL="184785" marR="5080" rtl="0" algn="l">
              <a:lnSpc>
                <a:spcPct val="108214"/>
              </a:lnSpc>
              <a:spcBef>
                <a:spcPts val="0"/>
              </a:spcBef>
              <a:spcAft>
                <a:spcPts val="0"/>
              </a:spcAft>
              <a:buClr>
                <a:srgbClr val="D1350F"/>
              </a:buClr>
              <a:buSzPts val="2800"/>
              <a:buFont typeface="Arial"/>
              <a:buChar char="•"/>
            </a:pPr>
            <a:r>
              <a:rPr lang="en-US"/>
              <a:t>La consulta externa utiliza este valor para seleccionar el  ID de departamento y los salarios más bajos de todos  los departamentos cuyo salario más bajo sea superior  a ese número</a:t>
            </a:r>
            <a:endParaRPr/>
          </a:p>
          <a:p>
            <a:pPr indent="-177800" lvl="0" marL="184785" marR="470534" rtl="0" algn="l">
              <a:lnSpc>
                <a:spcPct val="108214"/>
              </a:lnSpc>
              <a:spcBef>
                <a:spcPts val="780"/>
              </a:spcBef>
              <a:spcAft>
                <a:spcPts val="1200"/>
              </a:spcAft>
              <a:buClr>
                <a:srgbClr val="D1350F"/>
              </a:buClr>
              <a:buSzPts val="2800"/>
              <a:buFont typeface="Arial"/>
              <a:buChar char="•"/>
            </a:pPr>
            <a:r>
              <a:rPr lang="en-US"/>
              <a:t>La cláusula HAVING eliminó los departamentos cuyo  salario MIN es menor que salario MIN del  departamento 50</a:t>
            </a:r>
            <a:endParaRPr/>
          </a:p>
        </p:txBody>
      </p:sp>
      <p:sp>
        <p:nvSpPr>
          <p:cNvPr id="195" name="Google Shape;195;p25"/>
          <p:cNvSpPr txBox="1"/>
          <p:nvPr/>
        </p:nvSpPr>
        <p:spPr>
          <a:xfrm>
            <a:off x="4840337" y="6241920"/>
            <a:ext cx="2371090" cy="26924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b="1" lang="en-US" sz="1600">
                <a:solidFill>
                  <a:srgbClr val="FF0000"/>
                </a:solidFill>
                <a:latin typeface="Calibri"/>
                <a:ea typeface="Calibri"/>
                <a:cs typeface="Calibri"/>
                <a:sym typeface="Calibri"/>
              </a:rPr>
              <a:t>Resultado de la subconsulta</a:t>
            </a:r>
            <a:endParaRPr sz="1600">
              <a:latin typeface="Calibri"/>
              <a:ea typeface="Calibri"/>
              <a:cs typeface="Calibri"/>
              <a:sym typeface="Calibri"/>
            </a:endParaRPr>
          </a:p>
        </p:txBody>
      </p:sp>
      <p:graphicFrame>
        <p:nvGraphicFramePr>
          <p:cNvPr id="196" name="Google Shape;196;p25"/>
          <p:cNvGraphicFramePr/>
          <p:nvPr/>
        </p:nvGraphicFramePr>
        <p:xfrm>
          <a:off x="7232078" y="6009002"/>
          <a:ext cx="3000000" cy="3000000"/>
        </p:xfrm>
        <a:graphic>
          <a:graphicData uri="http://schemas.openxmlformats.org/drawingml/2006/table">
            <a:tbl>
              <a:tblPr bandRow="1" firstRow="1">
                <a:noFill/>
                <a:tableStyleId>{B3353EBE-A567-4DC9-9E8F-97FF44465357}</a:tableStyleId>
              </a:tblPr>
              <a:tblGrid>
                <a:gridCol w="1524000"/>
              </a:tblGrid>
              <a:tr h="238750">
                <a:tc>
                  <a:txBody>
                    <a:bodyPr/>
                    <a:lstStyle/>
                    <a:p>
                      <a:pPr indent="0" lvl="0" marL="12700" marR="0" rtl="0" algn="l">
                        <a:lnSpc>
                          <a:spcPct val="100000"/>
                        </a:lnSpc>
                        <a:spcBef>
                          <a:spcPts val="0"/>
                        </a:spcBef>
                        <a:spcAft>
                          <a:spcPts val="0"/>
                        </a:spcAft>
                        <a:buNone/>
                      </a:pPr>
                      <a:r>
                        <a:rPr b="1" lang="en-US" sz="1400" u="none" cap="none" strike="noStrike">
                          <a:solidFill>
                            <a:srgbClr val="4E3629"/>
                          </a:solidFill>
                          <a:latin typeface="Calibri"/>
                          <a:ea typeface="Calibri"/>
                          <a:cs typeface="Calibri"/>
                          <a:sym typeface="Calibri"/>
                        </a:rPr>
                        <a:t>MIN(SALARY)</a:t>
                      </a:r>
                      <a:endParaRPr sz="1400" u="none" cap="none" strike="noStrike">
                        <a:latin typeface="Calibri"/>
                        <a:ea typeface="Calibri"/>
                        <a:cs typeface="Calibri"/>
                        <a:sym typeface="Calibri"/>
                      </a:endParaRPr>
                    </a:p>
                  </a:txBody>
                  <a:tcPr marT="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r>
              <a:tr h="238750">
                <a:tc>
                  <a:txBody>
                    <a:bodyPr/>
                    <a:lstStyle/>
                    <a:p>
                      <a:pPr indent="0" lvl="0" marL="1270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2500</a:t>
                      </a:r>
                      <a:endParaRPr sz="1400" u="none" cap="none" strike="noStrike">
                        <a:latin typeface="Calibri"/>
                        <a:ea typeface="Calibri"/>
                        <a:cs typeface="Calibri"/>
                        <a:sym typeface="Calibri"/>
                      </a:endParaRPr>
                    </a:p>
                  </a:txBody>
                  <a:tcPr marT="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bl>
          </a:graphicData>
        </a:graphic>
      </p:graphicFrame>
      <p:graphicFrame>
        <p:nvGraphicFramePr>
          <p:cNvPr id="197" name="Google Shape;197;p25"/>
          <p:cNvGraphicFramePr/>
          <p:nvPr/>
        </p:nvGraphicFramePr>
        <p:xfrm>
          <a:off x="5154486" y="3987764"/>
          <a:ext cx="3000000" cy="3000000"/>
        </p:xfrm>
        <a:graphic>
          <a:graphicData uri="http://schemas.openxmlformats.org/drawingml/2006/table">
            <a:tbl>
              <a:tblPr bandRow="1" firstRow="1">
                <a:noFill/>
                <a:tableStyleId>{B3353EBE-A567-4DC9-9E8F-97FF44465357}</a:tableStyleId>
              </a:tblPr>
              <a:tblGrid>
                <a:gridCol w="1906900"/>
                <a:gridCol w="1694825"/>
              </a:tblGrid>
              <a:tr h="238775">
                <a:tc>
                  <a:txBody>
                    <a:bodyPr/>
                    <a:lstStyle/>
                    <a:p>
                      <a:pPr indent="0" lvl="0" marL="12065" marR="0" rtl="0" algn="l">
                        <a:lnSpc>
                          <a:spcPct val="100000"/>
                        </a:lnSpc>
                        <a:spcBef>
                          <a:spcPts val="0"/>
                        </a:spcBef>
                        <a:spcAft>
                          <a:spcPts val="0"/>
                        </a:spcAft>
                        <a:buNone/>
                      </a:pPr>
                      <a:r>
                        <a:rPr b="1" lang="en-US" sz="1400" u="none" cap="none" strike="noStrike">
                          <a:solidFill>
                            <a:srgbClr val="4E3629"/>
                          </a:solidFill>
                          <a:latin typeface="Calibri"/>
                          <a:ea typeface="Calibri"/>
                          <a:cs typeface="Calibri"/>
                          <a:sym typeface="Calibri"/>
                        </a:rPr>
                        <a:t>DEPARTMENT_ID</a:t>
                      </a:r>
                      <a:endParaRPr sz="1400" u="none" cap="none" strike="noStrike">
                        <a:latin typeface="Calibri"/>
                        <a:ea typeface="Calibri"/>
                        <a:cs typeface="Calibri"/>
                        <a:sym typeface="Calibri"/>
                      </a:endParaRPr>
                    </a:p>
                  </a:txBody>
                  <a:tcPr marT="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c>
                  <a:txBody>
                    <a:bodyPr/>
                    <a:lstStyle/>
                    <a:p>
                      <a:pPr indent="0" lvl="0" marL="12700" marR="0" rtl="0" algn="l">
                        <a:lnSpc>
                          <a:spcPct val="100000"/>
                        </a:lnSpc>
                        <a:spcBef>
                          <a:spcPts val="0"/>
                        </a:spcBef>
                        <a:spcAft>
                          <a:spcPts val="0"/>
                        </a:spcAft>
                        <a:buNone/>
                      </a:pPr>
                      <a:r>
                        <a:rPr b="1" lang="en-US" sz="1400" u="none" cap="none" strike="noStrike">
                          <a:solidFill>
                            <a:srgbClr val="4E3629"/>
                          </a:solidFill>
                          <a:latin typeface="Calibri"/>
                          <a:ea typeface="Calibri"/>
                          <a:cs typeface="Calibri"/>
                          <a:sym typeface="Calibri"/>
                        </a:rPr>
                        <a:t>MIN(SALARY)</a:t>
                      </a:r>
                      <a:endParaRPr sz="1400" u="none" cap="none" strike="noStrike">
                        <a:latin typeface="Calibri"/>
                        <a:ea typeface="Calibri"/>
                        <a:cs typeface="Calibri"/>
                        <a:sym typeface="Calibri"/>
                      </a:endParaRPr>
                    </a:p>
                  </a:txBody>
                  <a:tcPr marT="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r>
              <a:tr h="238775">
                <a:tc>
                  <a:txBody>
                    <a:bodyPr/>
                    <a:lstStyle/>
                    <a:p>
                      <a:pPr indent="0" lvl="0" marL="52069"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a:t>
                      </a:r>
                      <a:endParaRPr sz="1400" u="none" cap="none" strike="noStrike">
                        <a:latin typeface="Calibri"/>
                        <a:ea typeface="Calibri"/>
                        <a:cs typeface="Calibri"/>
                        <a:sym typeface="Calibri"/>
                      </a:endParaRPr>
                    </a:p>
                  </a:txBody>
                  <a:tcPr marT="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270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7000</a:t>
                      </a:r>
                      <a:endParaRPr sz="1400" u="none" cap="none" strike="noStrike">
                        <a:latin typeface="Calibri"/>
                        <a:ea typeface="Calibri"/>
                        <a:cs typeface="Calibri"/>
                        <a:sym typeface="Calibri"/>
                      </a:endParaRPr>
                    </a:p>
                  </a:txBody>
                  <a:tcPr marT="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238775">
                <a:tc>
                  <a:txBody>
                    <a:bodyPr/>
                    <a:lstStyle/>
                    <a:p>
                      <a:pPr indent="0" lvl="0" marL="1206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90</a:t>
                      </a:r>
                      <a:endParaRPr sz="1400" u="none" cap="none" strike="noStrike">
                        <a:latin typeface="Calibri"/>
                        <a:ea typeface="Calibri"/>
                        <a:cs typeface="Calibri"/>
                        <a:sym typeface="Calibri"/>
                      </a:endParaRPr>
                    </a:p>
                  </a:txBody>
                  <a:tcPr marT="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270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17000</a:t>
                      </a:r>
                      <a:endParaRPr sz="1400" u="none" cap="none" strike="noStrike">
                        <a:latin typeface="Calibri"/>
                        <a:ea typeface="Calibri"/>
                        <a:cs typeface="Calibri"/>
                        <a:sym typeface="Calibri"/>
                      </a:endParaRPr>
                    </a:p>
                  </a:txBody>
                  <a:tcPr marT="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238775">
                <a:tc>
                  <a:txBody>
                    <a:bodyPr/>
                    <a:lstStyle/>
                    <a:p>
                      <a:pPr indent="0" lvl="0" marL="1206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20</a:t>
                      </a:r>
                      <a:endParaRPr sz="1400" u="none" cap="none" strike="noStrike">
                        <a:latin typeface="Calibri"/>
                        <a:ea typeface="Calibri"/>
                        <a:cs typeface="Calibri"/>
                        <a:sym typeface="Calibri"/>
                      </a:endParaRPr>
                    </a:p>
                  </a:txBody>
                  <a:tcPr marT="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270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6000</a:t>
                      </a:r>
                      <a:endParaRPr sz="1400" u="none" cap="none" strike="noStrike">
                        <a:latin typeface="Calibri"/>
                        <a:ea typeface="Calibri"/>
                        <a:cs typeface="Calibri"/>
                        <a:sym typeface="Calibri"/>
                      </a:endParaRPr>
                    </a:p>
                  </a:txBody>
                  <a:tcPr marT="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238775">
                <a:tc>
                  <a:txBody>
                    <a:bodyPr/>
                    <a:lstStyle/>
                    <a:p>
                      <a:pPr indent="0" lvl="0" marL="1206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110</a:t>
                      </a:r>
                      <a:endParaRPr sz="1400" u="none" cap="none" strike="noStrike">
                        <a:latin typeface="Calibri"/>
                        <a:ea typeface="Calibri"/>
                        <a:cs typeface="Calibri"/>
                        <a:sym typeface="Calibri"/>
                      </a:endParaRPr>
                    </a:p>
                  </a:txBody>
                  <a:tcPr marT="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270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8300</a:t>
                      </a:r>
                      <a:endParaRPr sz="1400" u="none" cap="none" strike="noStrike">
                        <a:latin typeface="Calibri"/>
                        <a:ea typeface="Calibri"/>
                        <a:cs typeface="Calibri"/>
                        <a:sym typeface="Calibri"/>
                      </a:endParaRPr>
                    </a:p>
                  </a:txBody>
                  <a:tcPr marT="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238775">
                <a:tc>
                  <a:txBody>
                    <a:bodyPr/>
                    <a:lstStyle/>
                    <a:p>
                      <a:pPr indent="0" lvl="0" marL="1206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80</a:t>
                      </a:r>
                      <a:endParaRPr sz="1400" u="none" cap="none" strike="noStrike">
                        <a:latin typeface="Calibri"/>
                        <a:ea typeface="Calibri"/>
                        <a:cs typeface="Calibri"/>
                        <a:sym typeface="Calibri"/>
                      </a:endParaRPr>
                    </a:p>
                  </a:txBody>
                  <a:tcPr marT="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270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8600</a:t>
                      </a:r>
                      <a:endParaRPr sz="1400" u="none" cap="none" strike="noStrike">
                        <a:latin typeface="Calibri"/>
                        <a:ea typeface="Calibri"/>
                        <a:cs typeface="Calibri"/>
                        <a:sym typeface="Calibri"/>
                      </a:endParaRPr>
                    </a:p>
                  </a:txBody>
                  <a:tcPr marT="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238775">
                <a:tc>
                  <a:txBody>
                    <a:bodyPr/>
                    <a:lstStyle/>
                    <a:p>
                      <a:pPr indent="0" lvl="0" marL="1206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10</a:t>
                      </a:r>
                      <a:endParaRPr sz="1400" u="none" cap="none" strike="noStrike">
                        <a:latin typeface="Calibri"/>
                        <a:ea typeface="Calibri"/>
                        <a:cs typeface="Calibri"/>
                        <a:sym typeface="Calibri"/>
                      </a:endParaRPr>
                    </a:p>
                  </a:txBody>
                  <a:tcPr marT="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270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4400</a:t>
                      </a:r>
                      <a:endParaRPr sz="1400" u="none" cap="none" strike="noStrike">
                        <a:latin typeface="Calibri"/>
                        <a:ea typeface="Calibri"/>
                        <a:cs typeface="Calibri"/>
                        <a:sym typeface="Calibri"/>
                      </a:endParaRPr>
                    </a:p>
                  </a:txBody>
                  <a:tcPr marT="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238775">
                <a:tc>
                  <a:txBody>
                    <a:bodyPr/>
                    <a:lstStyle/>
                    <a:p>
                      <a:pPr indent="0" lvl="0" marL="1206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60</a:t>
                      </a:r>
                      <a:endParaRPr sz="1400" u="none" cap="none" strike="noStrike">
                        <a:latin typeface="Calibri"/>
                        <a:ea typeface="Calibri"/>
                        <a:cs typeface="Calibri"/>
                        <a:sym typeface="Calibri"/>
                      </a:endParaRPr>
                    </a:p>
                  </a:txBody>
                  <a:tcPr marT="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1270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4200</a:t>
                      </a:r>
                      <a:endParaRPr sz="1400" u="none" cap="none" strike="noStrike">
                        <a:latin typeface="Calibri"/>
                        <a:ea typeface="Calibri"/>
                        <a:cs typeface="Calibri"/>
                        <a:sym typeface="Calibri"/>
                      </a:endParaRPr>
                    </a:p>
                  </a:txBody>
                  <a:tcPr marT="25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bl>
          </a:graphicData>
        </a:graphic>
      </p:graphicFrame>
      <p:sp>
        <p:nvSpPr>
          <p:cNvPr id="198" name="Google Shape;198;p25"/>
          <p:cNvSpPr txBox="1"/>
          <p:nvPr/>
        </p:nvSpPr>
        <p:spPr>
          <a:xfrm>
            <a:off x="416051" y="4285488"/>
            <a:ext cx="4592320" cy="1892935"/>
          </a:xfrm>
          <a:prstGeom prst="rect">
            <a:avLst/>
          </a:prstGeom>
          <a:solidFill>
            <a:srgbClr val="9DBDC4">
              <a:alpha val="49804"/>
            </a:srgbClr>
          </a:solidFill>
          <a:ln>
            <a:noFill/>
          </a:ln>
        </p:spPr>
        <p:txBody>
          <a:bodyPr anchorCtr="0" anchor="t" bIns="0" lIns="0" spcFirstLastPara="1" rIns="0" wrap="square" tIns="0">
            <a:spAutoFit/>
          </a:bodyPr>
          <a:lstStyle/>
          <a:p>
            <a:pPr indent="0" lvl="0" marL="0" marR="0" rtl="0" algn="l">
              <a:lnSpc>
                <a:spcPct val="101944"/>
              </a:lnSpc>
              <a:spcBef>
                <a:spcPts val="0"/>
              </a:spcBef>
              <a:spcAft>
                <a:spcPts val="0"/>
              </a:spcAft>
              <a:buNone/>
            </a:pPr>
            <a:r>
              <a:rPr b="1" lang="en-US" sz="1800">
                <a:solidFill>
                  <a:srgbClr val="4E3629"/>
                </a:solidFill>
                <a:latin typeface="Courier New"/>
                <a:ea typeface="Courier New"/>
                <a:cs typeface="Courier New"/>
                <a:sym typeface="Courier New"/>
              </a:rPr>
              <a:t>SELECT department_id, MIN(salary)</a:t>
            </a:r>
            <a:endParaRPr sz="1800">
              <a:latin typeface="Courier New"/>
              <a:ea typeface="Courier New"/>
              <a:cs typeface="Courier New"/>
              <a:sym typeface="Courier New"/>
            </a:endParaRPr>
          </a:p>
          <a:p>
            <a:pPr indent="0" lvl="0" marL="0" marR="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FROM employees</a:t>
            </a:r>
            <a:endParaRPr sz="1800">
              <a:latin typeface="Courier New"/>
              <a:ea typeface="Courier New"/>
              <a:cs typeface="Courier New"/>
              <a:sym typeface="Courier New"/>
            </a:endParaRPr>
          </a:p>
          <a:p>
            <a:pPr indent="0" lvl="0" marL="0" marR="158178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GROUP BY department_id  HAVING MIN(salary) &gt;</a:t>
            </a:r>
            <a:endParaRPr sz="1800">
              <a:latin typeface="Courier New"/>
              <a:ea typeface="Courier New"/>
              <a:cs typeface="Courier New"/>
              <a:sym typeface="Courier New"/>
            </a:endParaRPr>
          </a:p>
          <a:p>
            <a:pPr indent="0" lvl="0" marL="914400" marR="107378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(SELECT MIN(salary)  FROM employees</a:t>
            </a:r>
            <a:endParaRPr sz="1800">
              <a:latin typeface="Courier New"/>
              <a:ea typeface="Courier New"/>
              <a:cs typeface="Courier New"/>
              <a:sym typeface="Courier New"/>
            </a:endParaRPr>
          </a:p>
          <a:p>
            <a:pPr indent="0" lvl="0" marL="914400" marR="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WHERE department_id = 50);</a:t>
            </a:r>
            <a:endParaRPr sz="1800">
              <a:latin typeface="Courier New"/>
              <a:ea typeface="Courier New"/>
              <a:cs typeface="Courier New"/>
              <a:sym typeface="Courier New"/>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6"/>
          <p:cNvSpPr txBox="1"/>
          <p:nvPr>
            <p:ph type="title"/>
          </p:nvPr>
        </p:nvSpPr>
        <p:spPr>
          <a:xfrm>
            <a:off x="392112" y="748031"/>
            <a:ext cx="16020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300"/>
              <a:t>Resumen</a:t>
            </a:r>
            <a:endParaRPr sz="3300"/>
          </a:p>
        </p:txBody>
      </p:sp>
      <p:sp>
        <p:nvSpPr>
          <p:cNvPr id="204" name="Google Shape;204;p26"/>
          <p:cNvSpPr txBox="1"/>
          <p:nvPr/>
        </p:nvSpPr>
        <p:spPr>
          <a:xfrm>
            <a:off x="483552" y="1393401"/>
            <a:ext cx="7546975" cy="2604770"/>
          </a:xfrm>
          <a:prstGeom prst="rect">
            <a:avLst/>
          </a:prstGeom>
          <a:noFill/>
          <a:ln>
            <a:noFill/>
          </a:ln>
        </p:spPr>
        <p:txBody>
          <a:bodyPr anchorCtr="0" anchor="t" bIns="0" lIns="0" spcFirstLastPara="1" rIns="0" wrap="square" tIns="34275">
            <a:spAutoFit/>
          </a:bodyPr>
          <a:lstStyle/>
          <a:p>
            <a:pPr indent="-177800" lvl="0" marL="184785" marR="0"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esta lección, debe haber aprendido lo siguiente:</a:t>
            </a:r>
            <a:endParaRPr sz="2800">
              <a:latin typeface="Calibri"/>
              <a:ea typeface="Calibri"/>
              <a:cs typeface="Calibri"/>
              <a:sym typeface="Calibri"/>
            </a:endParaRPr>
          </a:p>
          <a:p>
            <a:pPr indent="-175260" lvl="0" marL="530860" marR="372745" rtl="0" algn="l">
              <a:lnSpc>
                <a:spcPct val="107916"/>
              </a:lnSpc>
              <a:spcBef>
                <a:spcPts val="47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Crear y ejecutar una subconsulta de una sola fila en la  cláusula WHERE o en la cláusula HAVING</a:t>
            </a:r>
            <a:endParaRPr sz="2400">
              <a:latin typeface="Calibri"/>
              <a:ea typeface="Calibri"/>
              <a:cs typeface="Calibri"/>
              <a:sym typeface="Calibri"/>
            </a:endParaRPr>
          </a:p>
          <a:p>
            <a:pPr indent="-175260" lvl="0" marL="530860" marR="111760" rtl="0" algn="l">
              <a:lnSpc>
                <a:spcPct val="107916"/>
              </a:lnSpc>
              <a:spcBef>
                <a:spcPts val="40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Crear y ejecutar una sentencia SELECT mediante más de  una subconsulta</a:t>
            </a:r>
            <a:endParaRPr sz="2400">
              <a:latin typeface="Calibri"/>
              <a:ea typeface="Calibri"/>
              <a:cs typeface="Calibri"/>
              <a:sym typeface="Calibri"/>
            </a:endParaRPr>
          </a:p>
          <a:p>
            <a:pPr indent="-175260" lvl="0" marL="530860" marR="534035" rtl="0" algn="l">
              <a:lnSpc>
                <a:spcPct val="107916"/>
              </a:lnSpc>
              <a:spcBef>
                <a:spcPts val="40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Crear y ejecutar una sentencia SELECT mediante una  función de grupo en la subconsulta</a:t>
            </a:r>
            <a:endParaRPr sz="2400">
              <a:latin typeface="Calibri"/>
              <a:ea typeface="Calibri"/>
              <a:cs typeface="Calibri"/>
              <a:sym typeface="Calibri"/>
            </a:endParaRPr>
          </a:p>
        </p:txBody>
      </p:sp>
      <p:grpSp>
        <p:nvGrpSpPr>
          <p:cNvPr id="205" name="Google Shape;205;p26"/>
          <p:cNvGrpSpPr/>
          <p:nvPr/>
        </p:nvGrpSpPr>
        <p:grpSpPr>
          <a:xfrm>
            <a:off x="4379976" y="3997452"/>
            <a:ext cx="4140707" cy="2261615"/>
            <a:chOff x="4379976" y="3997452"/>
            <a:chExt cx="4140707" cy="2261615"/>
          </a:xfrm>
        </p:grpSpPr>
        <p:pic>
          <p:nvPicPr>
            <p:cNvPr id="206" name="Google Shape;206;p26"/>
            <p:cNvPicPr preferRelativeResize="0"/>
            <p:nvPr/>
          </p:nvPicPr>
          <p:blipFill rotWithShape="1">
            <a:blip r:embed="rId3">
              <a:alphaModFix/>
            </a:blip>
            <a:srcRect b="0" l="0" r="0" t="0"/>
            <a:stretch/>
          </p:blipFill>
          <p:spPr>
            <a:xfrm>
              <a:off x="4379976" y="3997452"/>
              <a:ext cx="4140707" cy="2261615"/>
            </a:xfrm>
            <a:prstGeom prst="rect">
              <a:avLst/>
            </a:prstGeom>
            <a:noFill/>
            <a:ln>
              <a:noFill/>
            </a:ln>
          </p:spPr>
        </p:pic>
        <p:pic>
          <p:nvPicPr>
            <p:cNvPr id="207" name="Google Shape;207;p26"/>
            <p:cNvPicPr preferRelativeResize="0"/>
            <p:nvPr/>
          </p:nvPicPr>
          <p:blipFill rotWithShape="1">
            <a:blip r:embed="rId4">
              <a:alphaModFix/>
            </a:blip>
            <a:srcRect b="0" l="0" r="0" t="0"/>
            <a:stretch/>
          </p:blipFill>
          <p:spPr>
            <a:xfrm>
              <a:off x="4572000" y="4189476"/>
              <a:ext cx="3756659" cy="1877567"/>
            </a:xfrm>
            <a:prstGeom prst="rect">
              <a:avLst/>
            </a:prstGeom>
            <a:noFill/>
            <a:ln>
              <a:noFill/>
            </a:ln>
          </p:spPr>
        </p:pic>
      </p:grpSp>
      <p:sp>
        <p:nvSpPr>
          <p:cNvPr id="208" name="Google Shape;208;p26"/>
          <p:cNvSpPr txBox="1"/>
          <p:nvPr>
            <p:ph idx="10" type="dt"/>
          </p:nvPr>
        </p:nvSpPr>
        <p:spPr>
          <a:xfrm>
            <a:off x="2874191" y="6516395"/>
            <a:ext cx="13260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10-2</a:t>
            </a:r>
            <a:endParaRPr/>
          </a:p>
          <a:p>
            <a:pPr indent="0" lvl="0" marL="12700" rtl="0" algn="l">
              <a:lnSpc>
                <a:spcPct val="120624"/>
              </a:lnSpc>
              <a:spcBef>
                <a:spcPts val="0"/>
              </a:spcBef>
              <a:spcAft>
                <a:spcPts val="0"/>
              </a:spcAft>
              <a:buNone/>
            </a:pPr>
            <a:r>
              <a:rPr lang="en-US"/>
              <a:t>Subconsultas de Una Sola Fila</a:t>
            </a:r>
            <a:endParaRPr/>
          </a:p>
        </p:txBody>
      </p:sp>
      <p:sp>
        <p:nvSpPr>
          <p:cNvPr id="209" name="Google Shape;209;p26"/>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10" name="Google Shape;210;p26"/>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