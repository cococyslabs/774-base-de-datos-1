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B7AD36-68B3-487B-B142-F56C99CDFB77}">
  <a:tblStyle styleId="{83B7AD36-68B3-487B-B142-F56C99CDFB77}"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14:00:38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Por el mismo motivo, no se puede  utilizar &lt;, &gt; o &lt;&gt; en la condición  de la cláusula WHERE. No tiene  sentido comparar un valor con  varios valores. ¿Es 10000  menor que (13000,6000)? </a:t>
            </a:r>
            <a:endParaRPr/>
          </a:p>
        </p:txBody>
      </p:sp>
      <p:sp>
        <p:nvSpPr>
          <p:cNvPr id="111" name="Google Shape;111;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14:00:39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función EXTRACT se puede  utilizar para extraer los campos  YEAR, MONTH o DAY de un tipo  de dato DATE.</a:t>
            </a:r>
            <a:endParaRPr/>
          </a:p>
        </p:txBody>
      </p:sp>
      <p:sp>
        <p:nvSpPr>
          <p:cNvPr id="132" name="Google Shape;132;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14:00:41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=ALL: ¿cómo puede un valor  equivaler a todos los de un juego de  valores? Por este motivo, =ALL  apenas se utiliza. </a:t>
            </a:r>
            <a:endParaRPr/>
          </a:p>
        </p:txBody>
      </p:sp>
      <p:sp>
        <p:nvSpPr>
          <p:cNvPr id="169" name="Google Shape;169;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14:00:44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En primer lugar, se ejecuta la  subconsulta para recuperar los valores  de MANAGER_ID y  DEPARTMENT_ID para los  empleados con EMPLOYEE_ID  149 o 174. Estos valores se  comparan con las columnas  MANAGER_ID y  DEPARTMENT_ID de cada fila  en la tabla EMPLOYEES. Si  coinciden los valores, se muestra  la fila. En la salida, los registros  de los empleados con  EMPLOYEE_ID 149 o 174 no se  mostrarán.</a:t>
            </a:r>
            <a:endParaRPr/>
          </a:p>
        </p:txBody>
      </p:sp>
      <p:sp>
        <p:nvSpPr>
          <p:cNvPr id="255" name="Google Shape;255;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14:00:45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En primer lugar, se ejecuta la  subconsulta para recuperar los valores  de MANAGER_ID para los  empleados con EMPLOYEE_ID  149 o 174. Igualmente, se  ejecuta la segunda subconsulta  para recuperar los valores de  DEPARTMENT_ID para los  empleados con EMPLOYEE_ID  149 o 174. Estos valores  recuperados se comparan con  las columnas MANAGER_ID y  DEPARTMENT_ID de cada fila  de la tabla EMPLEADOS.</a:t>
            </a:r>
            <a:endParaRPr/>
          </a:p>
        </p:txBody>
      </p:sp>
      <p:sp>
        <p:nvSpPr>
          <p:cNvPr id="299" name="Google Shape;299;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14:00:47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Cuando utilizamos IN, ANY u ALL  para comparar con una lista de  valores, seguirá funcionando  incluso aunque solo haya un  valor en la lista. </a:t>
            </a:r>
            <a:endParaRPr/>
          </a:p>
        </p:txBody>
      </p:sp>
      <p:sp>
        <p:nvSpPr>
          <p:cNvPr id="340" name="Google Shape;340;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958315" y="862895"/>
            <a:ext cx="7227300" cy="1342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48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355371"/>
            <a:ext cx="8166600" cy="2252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0" type="dt"/>
          </p:nvPr>
        </p:nvSpPr>
        <p:spPr>
          <a:xfrm>
            <a:off x="2874191" y="6516395"/>
            <a:ext cx="1254900" cy="249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lvl1pPr indent="0" lvl="0" marL="38100" marR="0" algn="l">
              <a:lnSpc>
                <a:spcPct val="104500"/>
              </a:lnSpc>
              <a:spcBef>
                <a:spcPts val="0"/>
              </a:spcBef>
              <a:buNone/>
              <a:defRPr b="1" i="0" sz="1000">
                <a:solidFill>
                  <a:srgbClr val="4E3629"/>
                </a:solidFill>
                <a:latin typeface="Calibri"/>
                <a:ea typeface="Calibri"/>
                <a:cs typeface="Calibri"/>
                <a:sym typeface="Calibri"/>
              </a:defRPr>
            </a:lvl1pPr>
            <a:lvl2pPr indent="0" lvl="1" marL="38100" marR="0" algn="l">
              <a:lnSpc>
                <a:spcPct val="104500"/>
              </a:lnSpc>
              <a:spcBef>
                <a:spcPts val="0"/>
              </a:spcBef>
              <a:buNone/>
              <a:defRPr b="1" i="0" sz="1000">
                <a:solidFill>
                  <a:srgbClr val="4E3629"/>
                </a:solidFill>
                <a:latin typeface="Calibri"/>
                <a:ea typeface="Calibri"/>
                <a:cs typeface="Calibri"/>
                <a:sym typeface="Calibri"/>
              </a:defRPr>
            </a:lvl2pPr>
            <a:lvl3pPr indent="0" lvl="2" marL="38100" marR="0" algn="l">
              <a:lnSpc>
                <a:spcPct val="104500"/>
              </a:lnSpc>
              <a:spcBef>
                <a:spcPts val="0"/>
              </a:spcBef>
              <a:buNone/>
              <a:defRPr b="1" i="0" sz="1000">
                <a:solidFill>
                  <a:srgbClr val="4E3629"/>
                </a:solidFill>
                <a:latin typeface="Calibri"/>
                <a:ea typeface="Calibri"/>
                <a:cs typeface="Calibri"/>
                <a:sym typeface="Calibri"/>
              </a:defRPr>
            </a:lvl3pPr>
            <a:lvl4pPr indent="0" lvl="3" marL="38100" marR="0" algn="l">
              <a:lnSpc>
                <a:spcPct val="104500"/>
              </a:lnSpc>
              <a:spcBef>
                <a:spcPts val="0"/>
              </a:spcBef>
              <a:buNone/>
              <a:defRPr b="1" i="0" sz="1000">
                <a:solidFill>
                  <a:srgbClr val="4E3629"/>
                </a:solidFill>
                <a:latin typeface="Calibri"/>
                <a:ea typeface="Calibri"/>
                <a:cs typeface="Calibri"/>
                <a:sym typeface="Calibri"/>
              </a:defRPr>
            </a:lvl4pPr>
            <a:lvl5pPr indent="0" lvl="4" marL="38100" marR="0" algn="l">
              <a:lnSpc>
                <a:spcPct val="104500"/>
              </a:lnSpc>
              <a:spcBef>
                <a:spcPts val="0"/>
              </a:spcBef>
              <a:buNone/>
              <a:defRPr b="1" i="0" sz="1000">
                <a:solidFill>
                  <a:srgbClr val="4E3629"/>
                </a:solidFill>
                <a:latin typeface="Calibri"/>
                <a:ea typeface="Calibri"/>
                <a:cs typeface="Calibri"/>
                <a:sym typeface="Calibri"/>
              </a:defRPr>
            </a:lvl5pPr>
            <a:lvl6pPr indent="0" lvl="5" marL="38100" marR="0" algn="l">
              <a:lnSpc>
                <a:spcPct val="104500"/>
              </a:lnSpc>
              <a:spcBef>
                <a:spcPts val="0"/>
              </a:spcBef>
              <a:buNone/>
              <a:defRPr b="1" i="0" sz="1000">
                <a:solidFill>
                  <a:srgbClr val="4E3629"/>
                </a:solidFill>
                <a:latin typeface="Calibri"/>
                <a:ea typeface="Calibri"/>
                <a:cs typeface="Calibri"/>
                <a:sym typeface="Calibri"/>
              </a:defRPr>
            </a:lvl6pPr>
            <a:lvl7pPr indent="0" lvl="6" marL="38100" marR="0" algn="l">
              <a:lnSpc>
                <a:spcPct val="104500"/>
              </a:lnSpc>
              <a:spcBef>
                <a:spcPts val="0"/>
              </a:spcBef>
              <a:buNone/>
              <a:defRPr b="1" i="0" sz="1000">
                <a:solidFill>
                  <a:srgbClr val="4E3629"/>
                </a:solidFill>
                <a:latin typeface="Calibri"/>
                <a:ea typeface="Calibri"/>
                <a:cs typeface="Calibri"/>
                <a:sym typeface="Calibri"/>
              </a:defRPr>
            </a:lvl7pPr>
            <a:lvl8pPr indent="0" lvl="7" marL="38100" marR="0" algn="l">
              <a:lnSpc>
                <a:spcPct val="104500"/>
              </a:lnSpc>
              <a:spcBef>
                <a:spcPts val="0"/>
              </a:spcBef>
              <a:buNone/>
              <a:defRPr b="1" i="0" sz="1000">
                <a:solidFill>
                  <a:srgbClr val="4E3629"/>
                </a:solidFill>
                <a:latin typeface="Calibri"/>
                <a:ea typeface="Calibri"/>
                <a:cs typeface="Calibri"/>
                <a:sym typeface="Calibri"/>
              </a:defRPr>
            </a:lvl8pPr>
            <a:lvl9pPr indent="0" lvl="8" marL="38100" marR="0" algn="l">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6" name="Shape 56"/>
        <p:cNvGrpSpPr/>
        <p:nvPr/>
      </p:nvGrpSpPr>
      <p:grpSpPr>
        <a:xfrm>
          <a:off x="0" y="0"/>
          <a:ext cx="0" cy="0"/>
          <a:chOff x="0" y="0"/>
          <a:chExt cx="0" cy="0"/>
        </a:xfrm>
      </p:grpSpPr>
      <p:sp>
        <p:nvSpPr>
          <p:cNvPr id="57" name="Google Shape;57;p14"/>
          <p:cNvSpPr txBox="1"/>
          <p:nvPr>
            <p:ph type="title"/>
          </p:nvPr>
        </p:nvSpPr>
        <p:spPr>
          <a:xfrm>
            <a:off x="958315" y="862895"/>
            <a:ext cx="7227300" cy="1342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48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4"/>
          <p:cNvSpPr txBox="1"/>
          <p:nvPr>
            <p:ph idx="1" type="body"/>
          </p:nvPr>
        </p:nvSpPr>
        <p:spPr>
          <a:xfrm>
            <a:off x="477207" y="1491489"/>
            <a:ext cx="3688800" cy="39096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9" name="Google Shape;59;p14"/>
          <p:cNvSpPr txBox="1"/>
          <p:nvPr>
            <p:ph idx="2" type="body"/>
          </p:nvPr>
        </p:nvSpPr>
        <p:spPr>
          <a:xfrm>
            <a:off x="4709160" y="1577340"/>
            <a:ext cx="3977700" cy="4526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0" name="Google Shape;60;p14"/>
          <p:cNvSpPr txBox="1"/>
          <p:nvPr>
            <p:ph idx="11" type="ftr"/>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txBox="1"/>
          <p:nvPr>
            <p:ph idx="10" type="dt"/>
          </p:nvPr>
        </p:nvSpPr>
        <p:spPr>
          <a:xfrm>
            <a:off x="2874191" y="6516395"/>
            <a:ext cx="1254900" cy="249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lvl1pPr indent="0" lvl="0" marL="38100" marR="0" algn="l">
              <a:lnSpc>
                <a:spcPct val="104500"/>
              </a:lnSpc>
              <a:spcBef>
                <a:spcPts val="0"/>
              </a:spcBef>
              <a:buNone/>
              <a:defRPr b="1" i="0" sz="1000">
                <a:solidFill>
                  <a:srgbClr val="4E3629"/>
                </a:solidFill>
                <a:latin typeface="Calibri"/>
                <a:ea typeface="Calibri"/>
                <a:cs typeface="Calibri"/>
                <a:sym typeface="Calibri"/>
              </a:defRPr>
            </a:lvl1pPr>
            <a:lvl2pPr indent="0" lvl="1" marL="38100" marR="0" algn="l">
              <a:lnSpc>
                <a:spcPct val="104500"/>
              </a:lnSpc>
              <a:spcBef>
                <a:spcPts val="0"/>
              </a:spcBef>
              <a:buNone/>
              <a:defRPr b="1" i="0" sz="1000">
                <a:solidFill>
                  <a:srgbClr val="4E3629"/>
                </a:solidFill>
                <a:latin typeface="Calibri"/>
                <a:ea typeface="Calibri"/>
                <a:cs typeface="Calibri"/>
                <a:sym typeface="Calibri"/>
              </a:defRPr>
            </a:lvl2pPr>
            <a:lvl3pPr indent="0" lvl="2" marL="38100" marR="0" algn="l">
              <a:lnSpc>
                <a:spcPct val="104500"/>
              </a:lnSpc>
              <a:spcBef>
                <a:spcPts val="0"/>
              </a:spcBef>
              <a:buNone/>
              <a:defRPr b="1" i="0" sz="1000">
                <a:solidFill>
                  <a:srgbClr val="4E3629"/>
                </a:solidFill>
                <a:latin typeface="Calibri"/>
                <a:ea typeface="Calibri"/>
                <a:cs typeface="Calibri"/>
                <a:sym typeface="Calibri"/>
              </a:defRPr>
            </a:lvl3pPr>
            <a:lvl4pPr indent="0" lvl="3" marL="38100" marR="0" algn="l">
              <a:lnSpc>
                <a:spcPct val="104500"/>
              </a:lnSpc>
              <a:spcBef>
                <a:spcPts val="0"/>
              </a:spcBef>
              <a:buNone/>
              <a:defRPr b="1" i="0" sz="1000">
                <a:solidFill>
                  <a:srgbClr val="4E3629"/>
                </a:solidFill>
                <a:latin typeface="Calibri"/>
                <a:ea typeface="Calibri"/>
                <a:cs typeface="Calibri"/>
                <a:sym typeface="Calibri"/>
              </a:defRPr>
            </a:lvl4pPr>
            <a:lvl5pPr indent="0" lvl="4" marL="38100" marR="0" algn="l">
              <a:lnSpc>
                <a:spcPct val="104500"/>
              </a:lnSpc>
              <a:spcBef>
                <a:spcPts val="0"/>
              </a:spcBef>
              <a:buNone/>
              <a:defRPr b="1" i="0" sz="1000">
                <a:solidFill>
                  <a:srgbClr val="4E3629"/>
                </a:solidFill>
                <a:latin typeface="Calibri"/>
                <a:ea typeface="Calibri"/>
                <a:cs typeface="Calibri"/>
                <a:sym typeface="Calibri"/>
              </a:defRPr>
            </a:lvl5pPr>
            <a:lvl6pPr indent="0" lvl="5" marL="38100" marR="0" algn="l">
              <a:lnSpc>
                <a:spcPct val="104500"/>
              </a:lnSpc>
              <a:spcBef>
                <a:spcPts val="0"/>
              </a:spcBef>
              <a:buNone/>
              <a:defRPr b="1" i="0" sz="1000">
                <a:solidFill>
                  <a:srgbClr val="4E3629"/>
                </a:solidFill>
                <a:latin typeface="Calibri"/>
                <a:ea typeface="Calibri"/>
                <a:cs typeface="Calibri"/>
                <a:sym typeface="Calibri"/>
              </a:defRPr>
            </a:lvl6pPr>
            <a:lvl7pPr indent="0" lvl="6" marL="38100" marR="0" algn="l">
              <a:lnSpc>
                <a:spcPct val="104500"/>
              </a:lnSpc>
              <a:spcBef>
                <a:spcPts val="0"/>
              </a:spcBef>
              <a:buNone/>
              <a:defRPr b="1" i="0" sz="1000">
                <a:solidFill>
                  <a:srgbClr val="4E3629"/>
                </a:solidFill>
                <a:latin typeface="Calibri"/>
                <a:ea typeface="Calibri"/>
                <a:cs typeface="Calibri"/>
                <a:sym typeface="Calibri"/>
              </a:defRPr>
            </a:lvl7pPr>
            <a:lvl8pPr indent="0" lvl="7" marL="38100" marR="0" algn="l">
              <a:lnSpc>
                <a:spcPct val="104500"/>
              </a:lnSpc>
              <a:spcBef>
                <a:spcPts val="0"/>
              </a:spcBef>
              <a:buNone/>
              <a:defRPr b="1" i="0" sz="1000">
                <a:solidFill>
                  <a:srgbClr val="4E3629"/>
                </a:solidFill>
                <a:latin typeface="Calibri"/>
                <a:ea typeface="Calibri"/>
                <a:cs typeface="Calibri"/>
                <a:sym typeface="Calibri"/>
              </a:defRPr>
            </a:lvl8pPr>
            <a:lvl9pPr indent="0" lvl="8" marL="38100" marR="0" algn="l">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 name="Shape 66"/>
        <p:cNvGrpSpPr/>
        <p:nvPr/>
      </p:nvGrpSpPr>
      <p:grpSpPr>
        <a:xfrm>
          <a:off x="0" y="0"/>
          <a:ext cx="0" cy="0"/>
          <a:chOff x="0" y="0"/>
          <a:chExt cx="0" cy="0"/>
        </a:xfrm>
      </p:grpSpPr>
      <p:grpSp>
        <p:nvGrpSpPr>
          <p:cNvPr id="67" name="Google Shape;67;p15"/>
          <p:cNvGrpSpPr/>
          <p:nvPr/>
        </p:nvGrpSpPr>
        <p:grpSpPr>
          <a:xfrm>
            <a:off x="0" y="0"/>
            <a:ext cx="9144000" cy="6858000"/>
            <a:chOff x="0" y="0"/>
            <a:chExt cx="9144000" cy="6858000"/>
          </a:xfrm>
        </p:grpSpPr>
        <p:pic>
          <p:nvPicPr>
            <p:cNvPr id="68" name="Google Shape;68;p15"/>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9" name="Google Shape;69;p15"/>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70" name="Google Shape;70;p15"/>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71" name="Google Shape;71;p15"/>
          <p:cNvSpPr txBox="1"/>
          <p:nvPr/>
        </p:nvSpPr>
        <p:spPr>
          <a:xfrm>
            <a:off x="5057819" y="6562597"/>
            <a:ext cx="3221990" cy="1555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72" name="Google Shape;72;p15"/>
          <p:cNvSpPr txBox="1"/>
          <p:nvPr>
            <p:ph type="title"/>
          </p:nvPr>
        </p:nvSpPr>
        <p:spPr>
          <a:xfrm>
            <a:off x="958315" y="862895"/>
            <a:ext cx="72273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a:t>Database Programming with  SQL</a:t>
            </a:r>
            <a:endParaRPr/>
          </a:p>
        </p:txBody>
      </p:sp>
      <p:sp>
        <p:nvSpPr>
          <p:cNvPr id="73" name="Google Shape;73;p15"/>
          <p:cNvSpPr txBox="1"/>
          <p:nvPr/>
        </p:nvSpPr>
        <p:spPr>
          <a:xfrm>
            <a:off x="962879" y="2400950"/>
            <a:ext cx="3542029" cy="888365"/>
          </a:xfrm>
          <a:prstGeom prst="rect">
            <a:avLst/>
          </a:prstGeom>
          <a:noFill/>
          <a:ln>
            <a:noFill/>
          </a:ln>
        </p:spPr>
        <p:txBody>
          <a:bodyPr anchorCtr="0" anchor="t" bIns="0" lIns="0" spcFirstLastPara="1" rIns="0" wrap="square" tIns="78100">
            <a:spAutoFit/>
          </a:bodyPr>
          <a:lstStyle/>
          <a:p>
            <a:pPr indent="0" lvl="0" marL="12700" marR="0" rtl="0" algn="l">
              <a:lnSpc>
                <a:spcPct val="100000"/>
              </a:lnSpc>
              <a:spcBef>
                <a:spcPts val="0"/>
              </a:spcBef>
              <a:spcAft>
                <a:spcPts val="0"/>
              </a:spcAft>
              <a:buNone/>
            </a:pPr>
            <a:r>
              <a:rPr b="1" lang="en-US" sz="2400">
                <a:solidFill>
                  <a:srgbClr val="4E3629"/>
                </a:solidFill>
                <a:latin typeface="Calibri"/>
                <a:ea typeface="Calibri"/>
                <a:cs typeface="Calibri"/>
                <a:sym typeface="Calibri"/>
              </a:rPr>
              <a:t>10-3</a:t>
            </a:r>
            <a:endParaRPr sz="2400">
              <a:latin typeface="Calibri"/>
              <a:ea typeface="Calibri"/>
              <a:cs typeface="Calibri"/>
              <a:sym typeface="Calibri"/>
            </a:endParaRPr>
          </a:p>
          <a:p>
            <a:pPr indent="0" lvl="0" marL="12700" marR="0" rtl="0" algn="l">
              <a:lnSpc>
                <a:spcPct val="100000"/>
              </a:lnSpc>
              <a:spcBef>
                <a:spcPts val="515"/>
              </a:spcBef>
              <a:spcAft>
                <a:spcPts val="0"/>
              </a:spcAft>
              <a:buNone/>
            </a:pPr>
            <a:r>
              <a:rPr b="1" lang="en-US" sz="2400">
                <a:solidFill>
                  <a:srgbClr val="4E3629"/>
                </a:solidFill>
                <a:latin typeface="Calibri"/>
                <a:ea typeface="Calibri"/>
                <a:cs typeface="Calibri"/>
                <a:sym typeface="Calibri"/>
              </a:rPr>
              <a:t>Subconsultas de Varias Filas</a:t>
            </a:r>
            <a:endParaRPr sz="2400">
              <a:latin typeface="Calibri"/>
              <a:ea typeface="Calibri"/>
              <a:cs typeface="Calibri"/>
              <a:sym typeface="Calibri"/>
            </a:endParaRPr>
          </a:p>
        </p:txBody>
      </p:sp>
      <p:pic>
        <p:nvPicPr>
          <p:cNvPr id="74" name="Google Shape;74;p15"/>
          <p:cNvPicPr preferRelativeResize="0"/>
          <p:nvPr/>
        </p:nvPicPr>
        <p:blipFill rotWithShape="1">
          <a:blip r:embed="rId5">
            <a:alphaModFix/>
          </a:blip>
          <a:srcRect b="0" l="0" r="0" t="0"/>
          <a:stretch/>
        </p:blipFill>
        <p:spPr>
          <a:xfrm>
            <a:off x="-263653" y="3485388"/>
            <a:ext cx="5058157"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92112" y="748031"/>
            <a:ext cx="16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Objetivos</a:t>
            </a:r>
            <a:endParaRPr sz="3300"/>
          </a:p>
        </p:txBody>
      </p:sp>
      <p:sp>
        <p:nvSpPr>
          <p:cNvPr id="80" name="Google Shape;80;p16"/>
          <p:cNvSpPr txBox="1"/>
          <p:nvPr/>
        </p:nvSpPr>
        <p:spPr>
          <a:xfrm>
            <a:off x="483552" y="1381889"/>
            <a:ext cx="8056880" cy="442214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384175" rtl="0" algn="l">
              <a:lnSpc>
                <a:spcPct val="95833"/>
              </a:lnSpc>
              <a:spcBef>
                <a:spcPts val="6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Utilizar correctamente los operadores de comparación IN,  ANY y ALL en subconsultas de varias filas</a:t>
            </a:r>
            <a:endParaRPr sz="2400">
              <a:latin typeface="Calibri"/>
              <a:ea typeface="Calibri"/>
              <a:cs typeface="Calibri"/>
              <a:sym typeface="Calibri"/>
            </a:endParaRPr>
          </a:p>
          <a:p>
            <a:pPr indent="-175260" lvl="0" marL="530860" marR="5080" rtl="0" algn="l">
              <a:lnSpc>
                <a:spcPct val="95833"/>
              </a:lnSpc>
              <a:spcBef>
                <a:spcPts val="6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subconsulta de varias filas en la cláusula  WHERE o en la cláusula HAVING</a:t>
            </a:r>
            <a:endParaRPr sz="2400">
              <a:latin typeface="Calibri"/>
              <a:ea typeface="Calibri"/>
              <a:cs typeface="Calibri"/>
              <a:sym typeface="Calibri"/>
            </a:endParaRPr>
          </a:p>
          <a:p>
            <a:pPr indent="-175260" lvl="0" marL="530860" marR="857885" rtl="0" algn="l">
              <a:lnSpc>
                <a:spcPct val="80000"/>
              </a:lnSpc>
              <a:spcBef>
                <a:spcPts val="6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Describir qué sucede si una subconsulta de varias filas  devuelve un valor nulo</a:t>
            </a:r>
            <a:endParaRPr sz="2400">
              <a:latin typeface="Calibri"/>
              <a:ea typeface="Calibri"/>
              <a:cs typeface="Calibri"/>
              <a:sym typeface="Calibri"/>
            </a:endParaRPr>
          </a:p>
          <a:p>
            <a:pPr indent="-175260" lvl="0" marL="530860" marR="2872740" rtl="0" algn="l">
              <a:lnSpc>
                <a:spcPct val="95833"/>
              </a:lnSpc>
              <a:spcBef>
                <a:spcPts val="5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Comprender cuándo se deben utilizar  subconsultas de varias filas y cuándo  es seguro utilizar una subconsulta de</a:t>
            </a:r>
            <a:endParaRPr sz="2400">
              <a:latin typeface="Calibri"/>
              <a:ea typeface="Calibri"/>
              <a:cs typeface="Calibri"/>
              <a:sym typeface="Calibri"/>
            </a:endParaRPr>
          </a:p>
          <a:p>
            <a:pPr indent="0" lvl="0" marL="355600" marR="0" rtl="0" algn="l">
              <a:lnSpc>
                <a:spcPct val="100000"/>
              </a:lnSpc>
              <a:spcBef>
                <a:spcPts val="5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sola fila</a:t>
            </a:r>
            <a:endParaRPr sz="2400">
              <a:latin typeface="Calibri"/>
              <a:ea typeface="Calibri"/>
              <a:cs typeface="Calibri"/>
              <a:sym typeface="Calibri"/>
            </a:endParaRPr>
          </a:p>
          <a:p>
            <a:pPr indent="-175260" lvl="0" marL="530860" marR="3931285" rtl="0" algn="l">
              <a:lnSpc>
                <a:spcPct val="95833"/>
              </a:lnSpc>
              <a:spcBef>
                <a:spcPts val="5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Distinguir entre subconsultas  pareadas y no pareadas</a:t>
            </a:r>
            <a:endParaRPr sz="2400">
              <a:latin typeface="Calibri"/>
              <a:ea typeface="Calibri"/>
              <a:cs typeface="Calibri"/>
              <a:sym typeface="Calibri"/>
            </a:endParaRPr>
          </a:p>
        </p:txBody>
      </p:sp>
      <p:grpSp>
        <p:nvGrpSpPr>
          <p:cNvPr id="81" name="Google Shape;81;p16"/>
          <p:cNvGrpSpPr/>
          <p:nvPr/>
        </p:nvGrpSpPr>
        <p:grpSpPr>
          <a:xfrm>
            <a:off x="5609856" y="3880116"/>
            <a:ext cx="3143999" cy="2490203"/>
            <a:chOff x="5609856" y="3880116"/>
            <a:chExt cx="3143999" cy="2490203"/>
          </a:xfrm>
        </p:grpSpPr>
        <p:pic>
          <p:nvPicPr>
            <p:cNvPr id="82" name="Google Shape;82;p16"/>
            <p:cNvPicPr preferRelativeResize="0"/>
            <p:nvPr/>
          </p:nvPicPr>
          <p:blipFill rotWithShape="1">
            <a:blip r:embed="rId3">
              <a:alphaModFix/>
            </a:blip>
            <a:srcRect b="0" l="0" r="0" t="0"/>
            <a:stretch/>
          </p:blipFill>
          <p:spPr>
            <a:xfrm>
              <a:off x="5609856" y="3880116"/>
              <a:ext cx="3143999" cy="2490203"/>
            </a:xfrm>
            <a:prstGeom prst="rect">
              <a:avLst/>
            </a:prstGeom>
            <a:noFill/>
            <a:ln>
              <a:noFill/>
            </a:ln>
          </p:spPr>
        </p:pic>
        <p:pic>
          <p:nvPicPr>
            <p:cNvPr id="83" name="Google Shape;83;p16"/>
            <p:cNvPicPr preferRelativeResize="0"/>
            <p:nvPr/>
          </p:nvPicPr>
          <p:blipFill rotWithShape="1">
            <a:blip r:embed="rId4">
              <a:alphaModFix/>
            </a:blip>
            <a:srcRect b="0" l="0" r="0" t="0"/>
            <a:stretch/>
          </p:blipFill>
          <p:spPr>
            <a:xfrm>
              <a:off x="5801868" y="4072128"/>
              <a:ext cx="2759963" cy="2106155"/>
            </a:xfrm>
            <a:prstGeom prst="rect">
              <a:avLst/>
            </a:prstGeom>
            <a:noFill/>
            <a:ln>
              <a:noFill/>
            </a:ln>
          </p:spPr>
        </p:pic>
      </p:grpSp>
      <p:sp>
        <p:nvSpPr>
          <p:cNvPr id="84" name="Google Shape;84;p16"/>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85" name="Google Shape;85;p1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6" name="Google Shape;86;p1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a:t>
            </a:r>
            <a:endParaRPr sz="3300"/>
          </a:p>
        </p:txBody>
      </p:sp>
      <p:sp>
        <p:nvSpPr>
          <p:cNvPr id="92" name="Google Shape;92;p17"/>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93" name="Google Shape;93;p1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4" name="Google Shape;94;p1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5" name="Google Shape;95;p17"/>
          <p:cNvSpPr txBox="1"/>
          <p:nvPr/>
        </p:nvSpPr>
        <p:spPr>
          <a:xfrm>
            <a:off x="483552" y="1415417"/>
            <a:ext cx="8061959" cy="3829050"/>
          </a:xfrm>
          <a:prstGeom prst="rect">
            <a:avLst/>
          </a:prstGeom>
          <a:noFill/>
          <a:ln>
            <a:noFill/>
          </a:ln>
        </p:spPr>
        <p:txBody>
          <a:bodyPr anchorCtr="0" anchor="t" bIns="0" lIns="0" spcFirstLastPara="1" rIns="0" wrap="square" tIns="59675">
            <a:spAutoFit/>
          </a:bodyPr>
          <a:lstStyle/>
          <a:p>
            <a:pPr indent="-177800" lvl="0" marL="184785" marR="447675"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subconsulta se diseña para buscar información  que no conoce y así poder encontrar la información  que desea conocer</a:t>
            </a:r>
            <a:endParaRPr sz="2800">
              <a:latin typeface="Calibri"/>
              <a:ea typeface="Calibri"/>
              <a:cs typeface="Calibri"/>
              <a:sym typeface="Calibri"/>
            </a:endParaRPr>
          </a:p>
          <a:p>
            <a:pPr indent="-177800" lvl="0" marL="184785" marR="54991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las subconsultas de una sola fila solo  pueden devolver una fila.	¿Y si necesita buscar  información basada en varias filas y varios valores?</a:t>
            </a:r>
            <a:endParaRPr sz="2800">
              <a:latin typeface="Calibri"/>
              <a:ea typeface="Calibri"/>
              <a:cs typeface="Calibri"/>
              <a:sym typeface="Calibri"/>
            </a:endParaRPr>
          </a:p>
          <a:p>
            <a:pPr indent="-177800" lvl="0" marL="184785" marR="0"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subconsulta tendrá que devolver varias filas</a:t>
            </a:r>
            <a:endParaRPr sz="2800">
              <a:latin typeface="Calibri"/>
              <a:ea typeface="Calibri"/>
              <a:cs typeface="Calibri"/>
              <a:sym typeface="Calibri"/>
            </a:endParaRPr>
          </a:p>
          <a:p>
            <a:pPr indent="-177800" lvl="0" marL="184785" marR="5080" rtl="0" algn="l">
              <a:lnSpc>
                <a:spcPct val="108214"/>
              </a:lnSpc>
              <a:spcBef>
                <a:spcPts val="8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ello, utilizaremos subconsultas de varias filas y los  tres operadores de comparación: IN, ANY y ALL</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nvSpPr>
        <p:spPr>
          <a:xfrm>
            <a:off x="483552" y="1415417"/>
            <a:ext cx="8121015" cy="257619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 quién es el salario que es igual que el salario de un  empleado del departamento 20?</a:t>
            </a:r>
            <a:endParaRPr sz="2800">
              <a:latin typeface="Calibri"/>
              <a:ea typeface="Calibri"/>
              <a:cs typeface="Calibri"/>
              <a:sym typeface="Calibri"/>
            </a:endParaRPr>
          </a:p>
          <a:p>
            <a:pPr indent="-177800" lvl="0" marL="184785" marR="54292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se devuelve un error porque existe  más de un empleado en el departamento 20, la  subconsulta devuelve varias filas</a:t>
            </a:r>
            <a:endParaRPr sz="2800">
              <a:latin typeface="Calibri"/>
              <a:ea typeface="Calibri"/>
              <a:cs typeface="Calibri"/>
              <a:sym typeface="Calibri"/>
            </a:endParaRPr>
          </a:p>
          <a:p>
            <a:pPr indent="-177800" lvl="0" marL="184785" marR="0"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se denomina subconsulta de varias filas</a:t>
            </a:r>
            <a:endParaRPr sz="2800">
              <a:latin typeface="Calibri"/>
              <a:ea typeface="Calibri"/>
              <a:cs typeface="Calibri"/>
              <a:sym typeface="Calibri"/>
            </a:endParaRPr>
          </a:p>
        </p:txBody>
      </p:sp>
      <p:sp>
        <p:nvSpPr>
          <p:cNvPr id="101" name="Google Shape;101;p18"/>
          <p:cNvSpPr txBox="1"/>
          <p:nvPr>
            <p:ph type="title"/>
          </p:nvPr>
        </p:nvSpPr>
        <p:spPr>
          <a:xfrm>
            <a:off x="392112" y="748031"/>
            <a:ext cx="4544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Comparación de Consultas</a:t>
            </a:r>
            <a:endParaRPr sz="3300"/>
          </a:p>
        </p:txBody>
      </p:sp>
      <p:pic>
        <p:nvPicPr>
          <p:cNvPr id="102" name="Google Shape;102;p18"/>
          <p:cNvPicPr preferRelativeResize="0"/>
          <p:nvPr/>
        </p:nvPicPr>
        <p:blipFill rotWithShape="1">
          <a:blip r:embed="rId3">
            <a:alphaModFix/>
          </a:blip>
          <a:srcRect b="0" l="0" r="0" t="0"/>
          <a:stretch/>
        </p:blipFill>
        <p:spPr>
          <a:xfrm>
            <a:off x="5023103" y="5256276"/>
            <a:ext cx="659891" cy="547103"/>
          </a:xfrm>
          <a:prstGeom prst="rect">
            <a:avLst/>
          </a:prstGeom>
          <a:noFill/>
          <a:ln>
            <a:noFill/>
          </a:ln>
        </p:spPr>
      </p:pic>
      <p:sp>
        <p:nvSpPr>
          <p:cNvPr id="103" name="Google Shape;103;p18"/>
          <p:cNvSpPr txBox="1"/>
          <p:nvPr/>
        </p:nvSpPr>
        <p:spPr>
          <a:xfrm>
            <a:off x="5683500" y="5280915"/>
            <a:ext cx="3070225" cy="453390"/>
          </a:xfrm>
          <a:prstGeom prst="rect">
            <a:avLst/>
          </a:prstGeom>
          <a:noFill/>
          <a:ln>
            <a:noFill/>
          </a:ln>
        </p:spPr>
        <p:txBody>
          <a:bodyPr anchorCtr="0" anchor="t" bIns="0" lIns="0" spcFirstLastPara="1" rIns="0" wrap="square" tIns="12700">
            <a:spAutoFit/>
          </a:bodyPr>
          <a:lstStyle/>
          <a:p>
            <a:pPr indent="-356870" lvl="0" marL="368935" marR="5080" rtl="0" algn="l">
              <a:lnSpc>
                <a:spcPct val="100000"/>
              </a:lnSpc>
              <a:spcBef>
                <a:spcPts val="0"/>
              </a:spcBef>
              <a:spcAft>
                <a:spcPts val="0"/>
              </a:spcAft>
              <a:buNone/>
            </a:pPr>
            <a:r>
              <a:rPr b="1" lang="en-US" sz="1400">
                <a:solidFill>
                  <a:srgbClr val="FF5050"/>
                </a:solidFill>
                <a:latin typeface="Calibri"/>
                <a:ea typeface="Calibri"/>
                <a:cs typeface="Calibri"/>
                <a:sym typeface="Calibri"/>
              </a:rPr>
              <a:t>ORA-01427: single-row subquery returns  more than one row</a:t>
            </a:r>
            <a:endParaRPr sz="1400">
              <a:latin typeface="Calibri"/>
              <a:ea typeface="Calibri"/>
              <a:cs typeface="Calibri"/>
              <a:sym typeface="Calibri"/>
            </a:endParaRPr>
          </a:p>
        </p:txBody>
      </p:sp>
      <p:sp>
        <p:nvSpPr>
          <p:cNvPr id="104" name="Google Shape;104;p18"/>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105" name="Google Shape;105;p1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6" name="Google Shape;106;p1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07" name="Google Shape;107;p18"/>
          <p:cNvGraphicFramePr/>
          <p:nvPr/>
        </p:nvGraphicFramePr>
        <p:xfrm>
          <a:off x="5016750" y="4187485"/>
          <a:ext cx="3000000" cy="3000000"/>
        </p:xfrm>
        <a:graphic>
          <a:graphicData uri="http://schemas.openxmlformats.org/drawingml/2006/table">
            <a:tbl>
              <a:tblPr bandRow="1" firstRow="1">
                <a:noFill/>
                <a:tableStyleId>{83B7AD36-68B3-487B-B142-F56C99CDFB77}</a:tableStyleId>
              </a:tblPr>
              <a:tblGrid>
                <a:gridCol w="1133475"/>
                <a:gridCol w="806450"/>
                <a:gridCol w="769625"/>
              </a:tblGrid>
              <a:tr h="293675">
                <a:tc>
                  <a:txBody>
                    <a:bodyPr/>
                    <a:lstStyle/>
                    <a:p>
                      <a:pPr indent="0" lvl="0" marL="58419"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57785" marR="0" rtl="0" algn="l">
                        <a:lnSpc>
                          <a:spcPct val="100000"/>
                        </a:lnSpc>
                        <a:spcBef>
                          <a:spcPts val="0"/>
                        </a:spcBef>
                        <a:spcAft>
                          <a:spcPts val="0"/>
                        </a:spcAft>
                        <a:buNone/>
                      </a:pPr>
                      <a:r>
                        <a:rPr b="1" lang="en-US" sz="1600" u="none" cap="none" strike="noStrike">
                          <a:solidFill>
                            <a:srgbClr val="FFFFFF"/>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1275" marB="0" marR="0" marL="0">
                    <a:lnR cap="flat" cmpd="sng" w="12700">
                      <a:solidFill>
                        <a:srgbClr val="D1350F"/>
                      </a:solidFill>
                      <a:prstDash val="solid"/>
                      <a:round/>
                      <a:headEnd len="sm" w="sm" type="none"/>
                      <a:tailEnd len="sm" w="sm" type="none"/>
                    </a:lnR>
                    <a:solidFill>
                      <a:srgbClr val="D1350F"/>
                    </a:solidFill>
                  </a:tcPr>
                </a:tc>
                <a:tc>
                  <a:txBody>
                    <a:bodyPr/>
                    <a:lstStyle/>
                    <a:p>
                      <a:pPr indent="0" lvl="0" marL="5778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84175">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FFFFFF"/>
                          </a:solidFill>
                          <a:latin typeface="Calibri"/>
                          <a:ea typeface="Calibri"/>
                          <a:cs typeface="Calibri"/>
                          <a:sym typeface="Calibri"/>
                        </a:rPr>
                        <a:t>20</a:t>
                      </a:r>
                      <a:endParaRPr sz="1600" u="none" cap="none" strike="noStrike">
                        <a:latin typeface="Calibri"/>
                        <a:ea typeface="Calibri"/>
                        <a:cs typeface="Calibri"/>
                        <a:sym typeface="Calibri"/>
                      </a:endParaRPr>
                    </a:p>
                  </a:txBody>
                  <a:tcPr marT="1275" marB="0" marR="0" marL="0">
                    <a:lnR cap="flat" cmpd="sng" w="12700">
                      <a:solidFill>
                        <a:srgbClr val="D1350F"/>
                      </a:solidFill>
                      <a:prstDash val="solid"/>
                      <a:round/>
                      <a:headEnd len="sm" w="sm" type="none"/>
                      <a:tailEnd len="sm" w="sm" type="none"/>
                    </a:lnR>
                    <a:solidFill>
                      <a:srgbClr val="D1350F"/>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1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FFFFFF"/>
                          </a:solidFill>
                          <a:latin typeface="Calibri"/>
                          <a:ea typeface="Calibri"/>
                          <a:cs typeface="Calibri"/>
                          <a:sym typeface="Calibri"/>
                        </a:rPr>
                        <a:t>20</a:t>
                      </a:r>
                      <a:endParaRPr sz="1600" u="none" cap="none" strike="noStrike">
                        <a:latin typeface="Calibri"/>
                        <a:ea typeface="Calibri"/>
                        <a:cs typeface="Calibri"/>
                        <a:sym typeface="Calibri"/>
                      </a:endParaRPr>
                    </a:p>
                  </a:txBody>
                  <a:tcPr marT="1275" marB="0" marR="0" marL="0">
                    <a:lnR cap="flat" cmpd="sng" w="12700">
                      <a:solidFill>
                        <a:srgbClr val="D1350F"/>
                      </a:solidFill>
                      <a:prstDash val="solid"/>
                      <a:round/>
                      <a:headEnd len="sm" w="sm" type="none"/>
                      <a:tailEnd len="sm" w="sm" type="none"/>
                    </a:lnR>
                    <a:solidFill>
                      <a:srgbClr val="D1350F"/>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08" name="Google Shape;108;p18"/>
          <p:cNvSpPr txBox="1"/>
          <p:nvPr/>
        </p:nvSpPr>
        <p:spPr>
          <a:xfrm>
            <a:off x="405384" y="4194047"/>
            <a:ext cx="4287520" cy="160972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99722"/>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a:t>
            </a:r>
            <a:endParaRPr sz="1800">
              <a:latin typeface="Courier New"/>
              <a:ea typeface="Courier New"/>
              <a:cs typeface="Courier New"/>
              <a:sym typeface="Courier New"/>
            </a:endParaRPr>
          </a:p>
          <a:p>
            <a:pPr indent="0" lvl="0" marL="0" marR="23672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 salary =</a:t>
            </a:r>
            <a:endParaRPr sz="1800">
              <a:latin typeface="Courier New"/>
              <a:ea typeface="Courier New"/>
              <a:cs typeface="Courier New"/>
              <a:sym typeface="Courier New"/>
            </a:endParaRPr>
          </a:p>
          <a:p>
            <a:pPr indent="-137160" lvl="0" marL="546100" marR="18224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salary  FROM employees</a:t>
            </a:r>
            <a:endParaRPr sz="1800">
              <a:latin typeface="Courier New"/>
              <a:ea typeface="Courier New"/>
              <a:cs typeface="Courier New"/>
              <a:sym typeface="Courier New"/>
            </a:endParaRPr>
          </a:p>
          <a:p>
            <a:pPr indent="0" lvl="0" marL="354330" marR="0" rtl="0" algn="ctr">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 20);</a:t>
            </a:r>
            <a:endParaRPr sz="1800">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392112" y="748031"/>
            <a:ext cx="4544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Comparación de Consultas</a:t>
            </a:r>
            <a:endParaRPr sz="3300"/>
          </a:p>
        </p:txBody>
      </p:sp>
      <p:sp>
        <p:nvSpPr>
          <p:cNvPr id="114" name="Google Shape;114;p19"/>
          <p:cNvSpPr txBox="1"/>
          <p:nvPr/>
        </p:nvSpPr>
        <p:spPr>
          <a:xfrm>
            <a:off x="483552" y="1415417"/>
            <a:ext cx="8002270" cy="219202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problema es el signo igual ( =) en la cláusula WHERE  de la consulta externa</a:t>
            </a:r>
            <a:endParaRPr sz="2800">
              <a:latin typeface="Calibri"/>
              <a:ea typeface="Calibri"/>
              <a:cs typeface="Calibri"/>
              <a:sym typeface="Calibri"/>
            </a:endParaRPr>
          </a:p>
          <a:p>
            <a:pPr indent="-177800" lvl="0" marL="184785" marR="10985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¿Cómo puede un valor ser igual (o no ser igual) a más  de un valor a la vez?</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una pregunta tonta, ¿no?</a:t>
            </a:r>
            <a:endParaRPr sz="2800">
              <a:latin typeface="Calibri"/>
              <a:ea typeface="Calibri"/>
              <a:cs typeface="Calibri"/>
              <a:sym typeface="Calibri"/>
            </a:endParaRPr>
          </a:p>
        </p:txBody>
      </p:sp>
      <p:pic>
        <p:nvPicPr>
          <p:cNvPr id="115" name="Google Shape;115;p19"/>
          <p:cNvPicPr preferRelativeResize="0"/>
          <p:nvPr/>
        </p:nvPicPr>
        <p:blipFill rotWithShape="1">
          <a:blip r:embed="rId3">
            <a:alphaModFix/>
          </a:blip>
          <a:srcRect b="0" l="0" r="0" t="0"/>
          <a:stretch/>
        </p:blipFill>
        <p:spPr>
          <a:xfrm>
            <a:off x="4843271" y="5109971"/>
            <a:ext cx="659891" cy="547103"/>
          </a:xfrm>
          <a:prstGeom prst="rect">
            <a:avLst/>
          </a:prstGeom>
          <a:noFill/>
          <a:ln>
            <a:noFill/>
          </a:ln>
        </p:spPr>
      </p:pic>
      <p:sp>
        <p:nvSpPr>
          <p:cNvPr id="116" name="Google Shape;116;p19"/>
          <p:cNvSpPr txBox="1"/>
          <p:nvPr/>
        </p:nvSpPr>
        <p:spPr>
          <a:xfrm>
            <a:off x="5503722" y="5134588"/>
            <a:ext cx="3070225" cy="453390"/>
          </a:xfrm>
          <a:prstGeom prst="rect">
            <a:avLst/>
          </a:prstGeom>
          <a:noFill/>
          <a:ln>
            <a:noFill/>
          </a:ln>
        </p:spPr>
        <p:txBody>
          <a:bodyPr anchorCtr="0" anchor="t" bIns="0" lIns="0" spcFirstLastPara="1" rIns="0" wrap="square" tIns="12700">
            <a:spAutoFit/>
          </a:bodyPr>
          <a:lstStyle/>
          <a:p>
            <a:pPr indent="-913130" lvl="0" marL="925194" marR="5080" rtl="0" algn="l">
              <a:lnSpc>
                <a:spcPct val="100000"/>
              </a:lnSpc>
              <a:spcBef>
                <a:spcPts val="0"/>
              </a:spcBef>
              <a:spcAft>
                <a:spcPts val="0"/>
              </a:spcAft>
              <a:buNone/>
            </a:pPr>
            <a:r>
              <a:rPr b="1" lang="en-US" sz="1400">
                <a:solidFill>
                  <a:srgbClr val="FF5050"/>
                </a:solidFill>
                <a:latin typeface="Calibri"/>
                <a:ea typeface="Calibri"/>
                <a:cs typeface="Calibri"/>
                <a:sym typeface="Calibri"/>
              </a:rPr>
              <a:t>ORA-01427: single-row subquery returns  more than one row</a:t>
            </a:r>
            <a:endParaRPr sz="1400">
              <a:latin typeface="Calibri"/>
              <a:ea typeface="Calibri"/>
              <a:cs typeface="Calibri"/>
              <a:sym typeface="Calibri"/>
            </a:endParaRPr>
          </a:p>
        </p:txBody>
      </p:sp>
      <p:sp>
        <p:nvSpPr>
          <p:cNvPr id="117" name="Google Shape;117;p19"/>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118" name="Google Shape;118;p1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9" name="Google Shape;119;p1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0" name="Google Shape;120;p19"/>
          <p:cNvSpPr txBox="1"/>
          <p:nvPr/>
        </p:nvSpPr>
        <p:spPr>
          <a:xfrm>
            <a:off x="405384" y="3877055"/>
            <a:ext cx="4287520" cy="1781810"/>
          </a:xfrm>
          <a:prstGeom prst="rect">
            <a:avLst/>
          </a:prstGeom>
          <a:solidFill>
            <a:srgbClr val="9DBDC4">
              <a:alpha val="49804"/>
            </a:srgbClr>
          </a:solidFill>
          <a:ln>
            <a:noFill/>
          </a:ln>
        </p:spPr>
        <p:txBody>
          <a:bodyPr anchorCtr="0" anchor="t" bIns="0" lIns="0" spcFirstLastPara="1" rIns="0" wrap="square" tIns="40625">
            <a:spAutoFit/>
          </a:bodyPr>
          <a:lstStyle/>
          <a:p>
            <a:pPr indent="0" lvl="0" marL="0" marR="4597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  FROM employees</a:t>
            </a:r>
            <a:endParaRPr sz="1800">
              <a:latin typeface="Courier New"/>
              <a:ea typeface="Courier New"/>
              <a:cs typeface="Courier New"/>
              <a:sym typeface="Courier New"/>
            </a:endParaRPr>
          </a:p>
          <a:p>
            <a:pPr indent="-408940" lvl="0" marL="408940" marR="19589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salary =  (SELECT salary</a:t>
            </a:r>
            <a:endParaRPr sz="1800">
              <a:latin typeface="Courier New"/>
              <a:ea typeface="Courier New"/>
              <a:cs typeface="Courier New"/>
              <a:sym typeface="Courier New"/>
            </a:endParaRPr>
          </a:p>
          <a:p>
            <a:pPr indent="0" lvl="0" marL="54610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54610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 20);</a:t>
            </a:r>
            <a:endParaRPr sz="1800">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392112" y="748031"/>
            <a:ext cx="2293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IN, ANY y ALL</a:t>
            </a:r>
            <a:endParaRPr sz="3300"/>
          </a:p>
        </p:txBody>
      </p:sp>
      <p:sp>
        <p:nvSpPr>
          <p:cNvPr id="126" name="Google Shape;126;p20"/>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127" name="Google Shape;127;p2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8" name="Google Shape;128;p2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9" name="Google Shape;129;p20"/>
          <p:cNvSpPr txBox="1"/>
          <p:nvPr/>
        </p:nvSpPr>
        <p:spPr>
          <a:xfrm>
            <a:off x="477206" y="1390586"/>
            <a:ext cx="7811134" cy="4289425"/>
          </a:xfrm>
          <a:prstGeom prst="rect">
            <a:avLst/>
          </a:prstGeom>
          <a:noFill/>
          <a:ln>
            <a:noFill/>
          </a:ln>
        </p:spPr>
        <p:txBody>
          <a:bodyPr anchorCtr="0" anchor="t" bIns="0" lIns="0" spcFirstLastPara="1" rIns="0" wrap="square" tIns="97150">
            <a:spAutoFit/>
          </a:bodyPr>
          <a:lstStyle/>
          <a:p>
            <a:pPr indent="-177800" lvl="0" marL="184785" marR="24130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subconsultas que devuelven más de un valor se  denominan subconsultas de varias filas</a:t>
            </a:r>
            <a:endParaRPr sz="2800">
              <a:latin typeface="Calibri"/>
              <a:ea typeface="Calibri"/>
              <a:cs typeface="Calibri"/>
              <a:sym typeface="Calibri"/>
            </a:endParaRPr>
          </a:p>
          <a:p>
            <a:pPr indent="-177800" lvl="0" marL="184785" marR="5080" rtl="0" algn="l">
              <a:lnSpc>
                <a:spcPct val="80000"/>
              </a:lnSpc>
              <a:spcBef>
                <a:spcPts val="6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Puesto que no podemos utilizar operadores de  comparación de una sola fila (=, &lt;, etc.), necesitamos  operadores de comparación diferentes para  subconsultas de varias filas</a:t>
            </a:r>
            <a:endParaRPr sz="2800">
              <a:latin typeface="Calibri"/>
              <a:ea typeface="Calibri"/>
              <a:cs typeface="Calibri"/>
              <a:sym typeface="Calibri"/>
            </a:endParaRPr>
          </a:p>
          <a:p>
            <a:pPr indent="-177800" lvl="0" marL="184785" marR="0" rtl="0" algn="l">
              <a:lnSpc>
                <a:spcPct val="1075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operadores de varias filas son:</a:t>
            </a:r>
            <a:endParaRPr sz="2800">
              <a:latin typeface="Calibri"/>
              <a:ea typeface="Calibri"/>
              <a:cs typeface="Calibri"/>
              <a:sym typeface="Calibri"/>
            </a:endParaRPr>
          </a:p>
          <a:p>
            <a:pPr indent="0" lvl="0" marL="355600" marR="0" rtl="0" algn="l">
              <a:lnSpc>
                <a:spcPct val="96250"/>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a:t>
            </a:r>
            <a:endParaRPr sz="2400">
              <a:latin typeface="Calibri"/>
              <a:ea typeface="Calibri"/>
              <a:cs typeface="Calibri"/>
              <a:sym typeface="Calibri"/>
            </a:endParaRPr>
          </a:p>
          <a:p>
            <a:pPr indent="0" lvl="0" marL="355600" marR="0" rtl="0" algn="l">
              <a:lnSpc>
                <a:spcPct val="96041"/>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ANY</a:t>
            </a:r>
            <a:endParaRPr sz="2400">
              <a:latin typeface="Calibri"/>
              <a:ea typeface="Calibri"/>
              <a:cs typeface="Calibri"/>
              <a:sym typeface="Calibri"/>
            </a:endParaRPr>
          </a:p>
          <a:p>
            <a:pPr indent="0" lvl="0" marL="355600" marR="0" rtl="0" algn="l">
              <a:lnSpc>
                <a:spcPct val="106250"/>
              </a:lnSpc>
              <a:spcBef>
                <a:spcPts val="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ALL</a:t>
            </a:r>
            <a:endParaRPr sz="2400">
              <a:latin typeface="Calibri"/>
              <a:ea typeface="Calibri"/>
              <a:cs typeface="Calibri"/>
              <a:sym typeface="Calibri"/>
            </a:endParaRPr>
          </a:p>
          <a:p>
            <a:pPr indent="-177800" lvl="0" marL="184785" marR="153035" rtl="0" algn="l">
              <a:lnSpc>
                <a:spcPct val="80000"/>
              </a:lnSpc>
              <a:spcBef>
                <a:spcPts val="62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operador NOT se puede utilizar con cualquiera de  estos tres operadores</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392112" y="748031"/>
            <a:ext cx="401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IN</a:t>
            </a:r>
            <a:endParaRPr sz="3300"/>
          </a:p>
        </p:txBody>
      </p:sp>
      <p:sp>
        <p:nvSpPr>
          <p:cNvPr id="135" name="Google Shape;135;p21"/>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136" name="Google Shape;136;p2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7" name="Google Shape;137;p2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8" name="Google Shape;138;p21"/>
          <p:cNvSpPr txBox="1"/>
          <p:nvPr/>
        </p:nvSpPr>
        <p:spPr>
          <a:xfrm>
            <a:off x="483552" y="1415417"/>
            <a:ext cx="7572375" cy="2832735"/>
          </a:xfrm>
          <a:prstGeom prst="rect">
            <a:avLst/>
          </a:prstGeom>
          <a:noFill/>
          <a:ln>
            <a:noFill/>
          </a:ln>
        </p:spPr>
        <p:txBody>
          <a:bodyPr anchorCtr="0" anchor="t" bIns="0" lIns="0" spcFirstLastPara="1" rIns="0" wrap="square" tIns="59675">
            <a:spAutoFit/>
          </a:bodyPr>
          <a:lstStyle/>
          <a:p>
            <a:pPr indent="-177800" lvl="0" marL="184785"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operador IN se utiliza en la cláusula WHERE de la  consulta externa para seleccionar solo las filas que  están EN la lista de valores devueltos de la consulta  interna</a:t>
            </a:r>
            <a:endParaRPr sz="2800">
              <a:latin typeface="Calibri"/>
              <a:ea typeface="Calibri"/>
              <a:cs typeface="Calibri"/>
              <a:sym typeface="Calibri"/>
            </a:endParaRPr>
          </a:p>
          <a:p>
            <a:pPr indent="-177800" lvl="0" marL="184785" marR="671195" rtl="0" algn="l">
              <a:lnSpc>
                <a:spcPct val="108214"/>
              </a:lnSpc>
              <a:spcBef>
                <a:spcPts val="5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estamos interesados en todos los  empleados contratados el mismo año que un  empleado del departamento 90</a:t>
            </a:r>
            <a:endParaRPr sz="2800">
              <a:latin typeface="Calibri"/>
              <a:ea typeface="Calibri"/>
              <a:cs typeface="Calibri"/>
              <a:sym typeface="Calibri"/>
            </a:endParaRPr>
          </a:p>
        </p:txBody>
      </p:sp>
      <p:graphicFrame>
        <p:nvGraphicFramePr>
          <p:cNvPr id="139" name="Google Shape;139;p21"/>
          <p:cNvGraphicFramePr/>
          <p:nvPr/>
        </p:nvGraphicFramePr>
        <p:xfrm>
          <a:off x="6102227" y="4302178"/>
          <a:ext cx="3000000" cy="3000000"/>
        </p:xfrm>
        <a:graphic>
          <a:graphicData uri="http://schemas.openxmlformats.org/drawingml/2006/table">
            <a:tbl>
              <a:tblPr bandRow="1" firstRow="1">
                <a:noFill/>
                <a:tableStyleId>{83B7AD36-68B3-487B-B142-F56C99CDFB77}</a:tableStyleId>
              </a:tblPr>
              <a:tblGrid>
                <a:gridCol w="1320800"/>
                <a:gridCol w="1320800"/>
              </a:tblGrid>
              <a:tr h="3267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HIRE_DATE</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17-Jun-1987</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21-Sep-1989</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13-Jan-1993</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17-Sep-1987</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40" name="Google Shape;140;p21"/>
          <p:cNvSpPr txBox="1"/>
          <p:nvPr/>
        </p:nvSpPr>
        <p:spPr>
          <a:xfrm>
            <a:off x="405384" y="4308347"/>
            <a:ext cx="5422900" cy="1758950"/>
          </a:xfrm>
          <a:prstGeom prst="rect">
            <a:avLst/>
          </a:prstGeom>
          <a:solidFill>
            <a:srgbClr val="9DBDC4">
              <a:alpha val="49804"/>
            </a:srgbClr>
          </a:solidFill>
          <a:ln>
            <a:noFill/>
          </a:ln>
        </p:spPr>
        <p:txBody>
          <a:bodyPr anchorCtr="0" anchor="t" bIns="0" lIns="0" spcFirstLastPara="1" rIns="0" wrap="square" tIns="29200">
            <a:spAutoFit/>
          </a:bodyPr>
          <a:lstStyle/>
          <a:p>
            <a:pPr indent="0" lvl="0" marL="0" marR="17291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hire_date  FROM employees</a:t>
            </a:r>
            <a:endParaRPr sz="1800">
              <a:latin typeface="Courier New"/>
              <a:ea typeface="Courier New"/>
              <a:cs typeface="Courier New"/>
              <a:sym typeface="Courier New"/>
            </a:endParaRPr>
          </a:p>
          <a:p>
            <a:pPr indent="-408940" lvl="0" marL="408940" marR="920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EXTRACT(YEAR FROM hire_date) </a:t>
            </a:r>
            <a:r>
              <a:rPr b="1" lang="en-US" sz="1800">
                <a:solidFill>
                  <a:srgbClr val="D1350F"/>
                </a:solidFill>
                <a:latin typeface="Courier New"/>
                <a:ea typeface="Courier New"/>
                <a:cs typeface="Courier New"/>
                <a:sym typeface="Courier New"/>
              </a:rPr>
              <a:t>IN  </a:t>
            </a:r>
            <a:r>
              <a:rPr b="1" lang="en-US" sz="1800">
                <a:solidFill>
                  <a:srgbClr val="4E3629"/>
                </a:solidFill>
                <a:latin typeface="Courier New"/>
                <a:ea typeface="Courier New"/>
                <a:cs typeface="Courier New"/>
                <a:sym typeface="Courier New"/>
              </a:rPr>
              <a:t>(SELECT EXTRACT(YEAR FROM hire_date)</a:t>
            </a:r>
            <a:endParaRPr sz="1800">
              <a:latin typeface="Courier New"/>
              <a:ea typeface="Courier New"/>
              <a:cs typeface="Courier New"/>
              <a:sym typeface="Courier New"/>
            </a:endParaRPr>
          </a:p>
          <a:p>
            <a:pPr indent="0" lvl="0" marL="1828164"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1828164"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department_id=90);</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392112" y="748031"/>
            <a:ext cx="401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IN</a:t>
            </a:r>
            <a:endParaRPr sz="3300"/>
          </a:p>
        </p:txBody>
      </p:sp>
      <p:sp>
        <p:nvSpPr>
          <p:cNvPr id="146" name="Google Shape;146;p22"/>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147" name="Google Shape;147;p2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8" name="Google Shape;148;p2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9" name="Google Shape;149;p22"/>
          <p:cNvSpPr txBox="1"/>
          <p:nvPr/>
        </p:nvSpPr>
        <p:spPr>
          <a:xfrm>
            <a:off x="483552" y="1415417"/>
            <a:ext cx="8158480" cy="2474595"/>
          </a:xfrm>
          <a:prstGeom prst="rect">
            <a:avLst/>
          </a:prstGeom>
          <a:noFill/>
          <a:ln>
            <a:noFill/>
          </a:ln>
        </p:spPr>
        <p:txBody>
          <a:bodyPr anchorCtr="0" anchor="t" bIns="0" lIns="0" spcFirstLastPara="1" rIns="0" wrap="square" tIns="59675">
            <a:spAutoFit/>
          </a:bodyPr>
          <a:lstStyle/>
          <a:p>
            <a:pPr indent="-177800" lvl="0" marL="184785" marR="31369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consulta interna devolverá una lista de los años en  los que se contrataron empleados del departamento  90</a:t>
            </a:r>
            <a:endParaRPr sz="2800">
              <a:latin typeface="Calibri"/>
              <a:ea typeface="Calibri"/>
              <a:cs typeface="Calibri"/>
              <a:sym typeface="Calibri"/>
            </a:endParaRPr>
          </a:p>
          <a:p>
            <a:pPr indent="-177800" lvl="0" marL="184785"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la consulta externa devolverá cualquier  empleado contratado el mismo año que cualquier año  de la lista de la consulta interna</a:t>
            </a:r>
            <a:endParaRPr sz="2800">
              <a:latin typeface="Calibri"/>
              <a:ea typeface="Calibri"/>
              <a:cs typeface="Calibri"/>
              <a:sym typeface="Calibri"/>
            </a:endParaRPr>
          </a:p>
        </p:txBody>
      </p:sp>
      <p:graphicFrame>
        <p:nvGraphicFramePr>
          <p:cNvPr id="150" name="Google Shape;150;p22"/>
          <p:cNvGraphicFramePr/>
          <p:nvPr/>
        </p:nvGraphicFramePr>
        <p:xfrm>
          <a:off x="6114614" y="3959614"/>
          <a:ext cx="3000000" cy="3000000"/>
        </p:xfrm>
        <a:graphic>
          <a:graphicData uri="http://schemas.openxmlformats.org/drawingml/2006/table">
            <a:tbl>
              <a:tblPr bandRow="1" firstRow="1">
                <a:noFill/>
                <a:tableStyleId>{83B7AD36-68B3-487B-B142-F56C99CDFB77}</a:tableStyleId>
              </a:tblPr>
              <a:tblGrid>
                <a:gridCol w="1320800"/>
                <a:gridCol w="1320800"/>
              </a:tblGrid>
              <a:tr h="3267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HIRE_DATE</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17-Jun-1987</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21-Sep-1989</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13-Jan-1993</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17-Sep-1987</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51" name="Google Shape;151;p22"/>
          <p:cNvSpPr txBox="1"/>
          <p:nvPr/>
        </p:nvSpPr>
        <p:spPr>
          <a:xfrm>
            <a:off x="417576" y="3965447"/>
            <a:ext cx="5422900" cy="1758950"/>
          </a:xfrm>
          <a:prstGeom prst="rect">
            <a:avLst/>
          </a:prstGeom>
          <a:solidFill>
            <a:srgbClr val="9DBDC4">
              <a:alpha val="49804"/>
            </a:srgbClr>
          </a:solidFill>
          <a:ln>
            <a:noFill/>
          </a:ln>
        </p:spPr>
        <p:txBody>
          <a:bodyPr anchorCtr="0" anchor="t" bIns="0" lIns="0" spcFirstLastPara="1" rIns="0" wrap="square" tIns="29200">
            <a:spAutoFit/>
          </a:bodyPr>
          <a:lstStyle/>
          <a:p>
            <a:pPr indent="0" lvl="0" marL="0" marR="17291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hire_date  FROM employees</a:t>
            </a:r>
            <a:endParaRPr sz="1800">
              <a:latin typeface="Courier New"/>
              <a:ea typeface="Courier New"/>
              <a:cs typeface="Courier New"/>
              <a:sym typeface="Courier New"/>
            </a:endParaRPr>
          </a:p>
          <a:p>
            <a:pPr indent="-408940" lvl="0" marL="408940" marR="920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EXTRACT(YEAR FROM hire_date) </a:t>
            </a:r>
            <a:r>
              <a:rPr b="1" lang="en-US" sz="1800">
                <a:solidFill>
                  <a:srgbClr val="D1350F"/>
                </a:solidFill>
                <a:latin typeface="Courier New"/>
                <a:ea typeface="Courier New"/>
                <a:cs typeface="Courier New"/>
                <a:sym typeface="Courier New"/>
              </a:rPr>
              <a:t>IN  </a:t>
            </a:r>
            <a:r>
              <a:rPr b="1" lang="en-US" sz="1800">
                <a:solidFill>
                  <a:srgbClr val="4E3629"/>
                </a:solidFill>
                <a:latin typeface="Courier New"/>
                <a:ea typeface="Courier New"/>
                <a:cs typeface="Courier New"/>
                <a:sym typeface="Courier New"/>
              </a:rPr>
              <a:t>(SELECT EXTRACT(YEAR FROM hire_date)</a:t>
            </a:r>
            <a:endParaRPr sz="1800">
              <a:latin typeface="Courier New"/>
              <a:ea typeface="Courier New"/>
              <a:cs typeface="Courier New"/>
              <a:sym typeface="Courier New"/>
            </a:endParaRPr>
          </a:p>
          <a:p>
            <a:pPr indent="0" lvl="0" marL="1828164"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1828164"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department_id=90);</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392112" y="748031"/>
            <a:ext cx="743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ANY</a:t>
            </a:r>
            <a:endParaRPr sz="3300"/>
          </a:p>
        </p:txBody>
      </p:sp>
      <p:sp>
        <p:nvSpPr>
          <p:cNvPr id="157" name="Google Shape;157;p23"/>
          <p:cNvSpPr txBox="1"/>
          <p:nvPr/>
        </p:nvSpPr>
        <p:spPr>
          <a:xfrm>
            <a:off x="477206" y="1355384"/>
            <a:ext cx="8176259" cy="3351529"/>
          </a:xfrm>
          <a:prstGeom prst="rect">
            <a:avLst/>
          </a:prstGeom>
          <a:noFill/>
          <a:ln>
            <a:noFill/>
          </a:ln>
        </p:spPr>
        <p:txBody>
          <a:bodyPr anchorCtr="0" anchor="t" bIns="0" lIns="0" spcFirstLastPara="1" rIns="0" wrap="square" tIns="57775">
            <a:spAutoFit/>
          </a:bodyPr>
          <a:lstStyle/>
          <a:p>
            <a:pPr indent="-172720" lvl="0" marL="184785" marR="508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El operador ANY se utiliza cuando deseamos que la cláusula  WHERE de la consulta externa seleccione las filas que  coinciden con los criterios (&lt;, &gt;, =, etc.) de al menos un  valor en el juego de resultados de la subconsulta</a:t>
            </a:r>
            <a:endParaRPr sz="2600">
              <a:latin typeface="Calibri"/>
              <a:ea typeface="Calibri"/>
              <a:cs typeface="Calibri"/>
              <a:sym typeface="Calibri"/>
            </a:endParaRPr>
          </a:p>
          <a:p>
            <a:pPr indent="-172720" lvl="0" marL="184785" marR="3046730" rtl="0" algn="l">
              <a:lnSpc>
                <a:spcPct val="108076"/>
              </a:lnSpc>
              <a:spcBef>
                <a:spcPts val="59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el ejemplo mostrado se devolverá  cualquier empleado cuyo año de  contratación sea menor que al</a:t>
            </a:r>
            <a:endParaRPr sz="2600">
              <a:latin typeface="Calibri"/>
              <a:ea typeface="Calibri"/>
              <a:cs typeface="Calibri"/>
              <a:sym typeface="Calibri"/>
            </a:endParaRPr>
          </a:p>
          <a:p>
            <a:pPr indent="0" lvl="0" marL="184785" marR="0" rtl="0" algn="l">
              <a:lnSpc>
                <a:spcPct val="100192"/>
              </a:lnSpc>
              <a:spcBef>
                <a:spcPts val="0"/>
              </a:spcBef>
              <a:spcAft>
                <a:spcPts val="0"/>
              </a:spcAft>
              <a:buNone/>
            </a:pPr>
            <a:r>
              <a:rPr lang="en-US" sz="2600">
                <a:solidFill>
                  <a:srgbClr val="4E3629"/>
                </a:solidFill>
                <a:latin typeface="Calibri"/>
                <a:ea typeface="Calibri"/>
                <a:cs typeface="Calibri"/>
                <a:sym typeface="Calibri"/>
              </a:rPr>
              <a:t>menos un año de contratación que los</a:t>
            </a:r>
            <a:endParaRPr sz="2600">
              <a:latin typeface="Calibri"/>
              <a:ea typeface="Calibri"/>
              <a:cs typeface="Calibri"/>
              <a:sym typeface="Calibri"/>
            </a:endParaRPr>
          </a:p>
          <a:p>
            <a:pPr indent="0" lvl="0" marL="184785" marR="0" rtl="0" algn="l">
              <a:lnSpc>
                <a:spcPct val="114038"/>
              </a:lnSpc>
              <a:spcBef>
                <a:spcPts val="0"/>
              </a:spcBef>
              <a:spcAft>
                <a:spcPts val="0"/>
              </a:spcAft>
              <a:buNone/>
            </a:pPr>
            <a:r>
              <a:rPr lang="en-US" sz="2600">
                <a:solidFill>
                  <a:srgbClr val="4E3629"/>
                </a:solidFill>
                <a:latin typeface="Calibri"/>
                <a:ea typeface="Calibri"/>
                <a:cs typeface="Calibri"/>
                <a:sym typeface="Calibri"/>
              </a:rPr>
              <a:t>empleados del departamento 90</a:t>
            </a:r>
            <a:endParaRPr sz="2600">
              <a:latin typeface="Calibri"/>
              <a:ea typeface="Calibri"/>
              <a:cs typeface="Calibri"/>
              <a:sym typeface="Calibri"/>
            </a:endParaRPr>
          </a:p>
        </p:txBody>
      </p:sp>
      <p:grpSp>
        <p:nvGrpSpPr>
          <p:cNvPr id="158" name="Google Shape;158;p23"/>
          <p:cNvGrpSpPr/>
          <p:nvPr/>
        </p:nvGrpSpPr>
        <p:grpSpPr>
          <a:xfrm>
            <a:off x="6230106" y="3206495"/>
            <a:ext cx="901065" cy="978535"/>
            <a:chOff x="6230106" y="3206495"/>
            <a:chExt cx="901065" cy="978535"/>
          </a:xfrm>
        </p:grpSpPr>
        <p:sp>
          <p:nvSpPr>
            <p:cNvPr id="159" name="Google Shape;159;p23"/>
            <p:cNvSpPr/>
            <p:nvPr/>
          </p:nvSpPr>
          <p:spPr>
            <a:xfrm>
              <a:off x="6230106" y="3206495"/>
              <a:ext cx="901065" cy="978535"/>
            </a:xfrm>
            <a:custGeom>
              <a:rect b="b" l="l" r="r" t="t"/>
              <a:pathLst>
                <a:path extrusionOk="0" h="978535" w="901065">
                  <a:moveTo>
                    <a:pt x="772007" y="0"/>
                  </a:moveTo>
                  <a:lnTo>
                    <a:pt x="0" y="0"/>
                  </a:lnTo>
                  <a:lnTo>
                    <a:pt x="0" y="326135"/>
                  </a:lnTo>
                  <a:lnTo>
                    <a:pt x="514692" y="326135"/>
                  </a:lnTo>
                  <a:lnTo>
                    <a:pt x="514692" y="652271"/>
                  </a:lnTo>
                  <a:lnTo>
                    <a:pt x="386003" y="652271"/>
                  </a:lnTo>
                  <a:lnTo>
                    <a:pt x="643369" y="978407"/>
                  </a:lnTo>
                  <a:lnTo>
                    <a:pt x="900683" y="652271"/>
                  </a:lnTo>
                  <a:lnTo>
                    <a:pt x="772007" y="652271"/>
                  </a:lnTo>
                  <a:lnTo>
                    <a:pt x="772007"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60" name="Google Shape;160;p23"/>
            <p:cNvSpPr/>
            <p:nvPr/>
          </p:nvSpPr>
          <p:spPr>
            <a:xfrm>
              <a:off x="6230106" y="3206495"/>
              <a:ext cx="901065" cy="978535"/>
            </a:xfrm>
            <a:custGeom>
              <a:rect b="b" l="l" r="r" t="t"/>
              <a:pathLst>
                <a:path extrusionOk="0" h="978535" w="901065">
                  <a:moveTo>
                    <a:pt x="643369" y="978407"/>
                  </a:moveTo>
                  <a:lnTo>
                    <a:pt x="386003" y="652271"/>
                  </a:lnTo>
                  <a:lnTo>
                    <a:pt x="514692" y="652271"/>
                  </a:lnTo>
                  <a:lnTo>
                    <a:pt x="514692" y="326135"/>
                  </a:lnTo>
                  <a:lnTo>
                    <a:pt x="0" y="326135"/>
                  </a:lnTo>
                  <a:lnTo>
                    <a:pt x="0" y="0"/>
                  </a:lnTo>
                  <a:lnTo>
                    <a:pt x="772007" y="0"/>
                  </a:lnTo>
                  <a:lnTo>
                    <a:pt x="772007" y="652271"/>
                  </a:lnTo>
                  <a:lnTo>
                    <a:pt x="900683" y="652271"/>
                  </a:lnTo>
                  <a:lnTo>
                    <a:pt x="643369" y="978407"/>
                  </a:lnTo>
                  <a:close/>
                </a:path>
              </a:pathLst>
            </a:custGeom>
            <a:noFill/>
            <a:ln cap="flat" cmpd="sng" w="9525">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aphicFrame>
        <p:nvGraphicFramePr>
          <p:cNvPr id="161" name="Google Shape;161;p23"/>
          <p:cNvGraphicFramePr/>
          <p:nvPr/>
        </p:nvGraphicFramePr>
        <p:xfrm>
          <a:off x="7651783" y="3372525"/>
          <a:ext cx="3000000" cy="3000000"/>
        </p:xfrm>
        <a:graphic>
          <a:graphicData uri="http://schemas.openxmlformats.org/drawingml/2006/table">
            <a:tbl>
              <a:tblPr bandRow="1" firstRow="1">
                <a:noFill/>
                <a:tableStyleId>{83B7AD36-68B3-487B-B142-F56C99CDFB77}</a:tableStyleId>
              </a:tblPr>
              <a:tblGrid>
                <a:gridCol w="1080775"/>
              </a:tblGrid>
              <a:tr h="267700">
                <a:tc>
                  <a:txBody>
                    <a:bodyPr/>
                    <a:lstStyle/>
                    <a:p>
                      <a:pPr indent="0" lvl="0" marL="71755" marR="0" rtl="0" algn="l">
                        <a:lnSpc>
                          <a:spcPct val="119625"/>
                        </a:lnSpc>
                        <a:spcBef>
                          <a:spcPts val="0"/>
                        </a:spcBef>
                        <a:spcAft>
                          <a:spcPts val="0"/>
                        </a:spcAft>
                        <a:buNone/>
                      </a:pPr>
                      <a:r>
                        <a:rPr b="1" lang="en-US" sz="1600" u="none" cap="none" strike="noStrike">
                          <a:solidFill>
                            <a:srgbClr val="4E3629"/>
                          </a:solidFill>
                          <a:latin typeface="Calibri"/>
                          <a:ea typeface="Calibri"/>
                          <a:cs typeface="Calibri"/>
                          <a:sym typeface="Calibri"/>
                        </a:rPr>
                        <a:t>Year Hired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67700">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1987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7700">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1989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7700">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1993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62" name="Google Shape;162;p23"/>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163" name="Google Shape;163;p2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4" name="Google Shape;164;p2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65" name="Google Shape;165;p23"/>
          <p:cNvGraphicFramePr/>
          <p:nvPr/>
        </p:nvGraphicFramePr>
        <p:xfrm>
          <a:off x="6090606" y="4622246"/>
          <a:ext cx="3000000" cy="3000000"/>
        </p:xfrm>
        <a:graphic>
          <a:graphicData uri="http://schemas.openxmlformats.org/drawingml/2006/table">
            <a:tbl>
              <a:tblPr bandRow="1" firstRow="1">
                <a:noFill/>
                <a:tableStyleId>{83B7AD36-68B3-487B-B142-F56C99CDFB77}</a:tableStyleId>
              </a:tblPr>
              <a:tblGrid>
                <a:gridCol w="1320800"/>
                <a:gridCol w="1320800"/>
              </a:tblGrid>
              <a:tr h="3267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HIRE_DATE</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17-Jun-1987</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21-Sep-1989</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17-Sep-1987</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Hunold</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03-Jan-1990</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4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Ernst</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21-May-1991</a:t>
                      </a:r>
                      <a:endParaRPr sz="1600" u="none" cap="none" strike="noStrike">
                        <a:latin typeface="Calibri"/>
                        <a:ea typeface="Calibri"/>
                        <a:cs typeface="Calibri"/>
                        <a:sym typeface="Calibri"/>
                      </a:endParaRPr>
                    </a:p>
                  </a:txBody>
                  <a:tcPr marT="7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66" name="Google Shape;166;p23"/>
          <p:cNvSpPr txBox="1"/>
          <p:nvPr/>
        </p:nvSpPr>
        <p:spPr>
          <a:xfrm>
            <a:off x="381000" y="4661915"/>
            <a:ext cx="5576570" cy="1495425"/>
          </a:xfrm>
          <a:prstGeom prst="rect">
            <a:avLst/>
          </a:prstGeom>
          <a:solidFill>
            <a:srgbClr val="9DBDC4">
              <a:alpha val="49804"/>
            </a:srgbClr>
          </a:solidFill>
          <a:ln>
            <a:noFill/>
          </a:ln>
        </p:spPr>
        <p:txBody>
          <a:bodyPr anchorCtr="0" anchor="t" bIns="0" lIns="0" spcFirstLastPara="1" rIns="0" wrap="square" tIns="1250">
            <a:spAutoFit/>
          </a:bodyPr>
          <a:lstStyle/>
          <a:p>
            <a:pPr indent="0" lvl="0" marL="0" marR="2270760" rtl="0" algn="l">
              <a:lnSpc>
                <a:spcPct val="120000"/>
              </a:lnSpc>
              <a:spcBef>
                <a:spcPts val="0"/>
              </a:spcBef>
              <a:spcAft>
                <a:spcPts val="0"/>
              </a:spcAft>
              <a:buNone/>
            </a:pPr>
            <a:r>
              <a:rPr b="1" lang="en-US" sz="1600">
                <a:solidFill>
                  <a:srgbClr val="4E3629"/>
                </a:solidFill>
                <a:latin typeface="Courier New"/>
                <a:ea typeface="Courier New"/>
                <a:cs typeface="Courier New"/>
                <a:sym typeface="Courier New"/>
              </a:rPr>
              <a:t>SELECT last_name, hire_date  FROM employees</a:t>
            </a:r>
            <a:endParaRPr sz="1600">
              <a:latin typeface="Courier New"/>
              <a:ea typeface="Courier New"/>
              <a:cs typeface="Courier New"/>
              <a:sym typeface="Courier New"/>
            </a:endParaRPr>
          </a:p>
          <a:p>
            <a:pPr indent="-243840" lvl="0" marL="243840" marR="682625" rtl="0" algn="l">
              <a:lnSpc>
                <a:spcPct val="120000"/>
              </a:lnSpc>
              <a:spcBef>
                <a:spcPts val="0"/>
              </a:spcBef>
              <a:spcAft>
                <a:spcPts val="0"/>
              </a:spcAft>
              <a:buNone/>
            </a:pPr>
            <a:r>
              <a:rPr b="1" lang="en-US" sz="1600">
                <a:solidFill>
                  <a:srgbClr val="4E3629"/>
                </a:solidFill>
                <a:latin typeface="Courier New"/>
                <a:ea typeface="Courier New"/>
                <a:cs typeface="Courier New"/>
                <a:sym typeface="Courier New"/>
              </a:rPr>
              <a:t>WHERE EXTRACT(YEAR FROM hire_date) </a:t>
            </a:r>
            <a:r>
              <a:rPr b="1" lang="en-US" sz="1600">
                <a:solidFill>
                  <a:srgbClr val="D1350F"/>
                </a:solidFill>
                <a:latin typeface="Courier New"/>
                <a:ea typeface="Courier New"/>
                <a:cs typeface="Courier New"/>
                <a:sym typeface="Courier New"/>
              </a:rPr>
              <a:t>&lt; ANY  </a:t>
            </a:r>
            <a:r>
              <a:rPr b="1" lang="en-US" sz="1600">
                <a:solidFill>
                  <a:srgbClr val="4E3629"/>
                </a:solidFill>
                <a:latin typeface="Courier New"/>
                <a:ea typeface="Courier New"/>
                <a:cs typeface="Courier New"/>
                <a:sym typeface="Courier New"/>
              </a:rPr>
              <a:t>(SELECT EXTRACT(YEAR FROM hire_date)</a:t>
            </a:r>
            <a:endParaRPr sz="1600">
              <a:latin typeface="Courier New"/>
              <a:ea typeface="Courier New"/>
              <a:cs typeface="Courier New"/>
              <a:sym typeface="Courier New"/>
            </a:endParaRPr>
          </a:p>
          <a:p>
            <a:pPr indent="0" lvl="0" marL="365760" marR="0" rtl="0" algn="l">
              <a:lnSpc>
                <a:spcPct val="115937"/>
              </a:lnSpc>
              <a:spcBef>
                <a:spcPts val="0"/>
              </a:spcBef>
              <a:spcAft>
                <a:spcPts val="0"/>
              </a:spcAft>
              <a:buNone/>
            </a:pPr>
            <a:r>
              <a:rPr b="1" lang="en-US" sz="1600">
                <a:solidFill>
                  <a:srgbClr val="4E3629"/>
                </a:solidFill>
                <a:latin typeface="Courier New"/>
                <a:ea typeface="Courier New"/>
                <a:cs typeface="Courier New"/>
                <a:sym typeface="Courier New"/>
              </a:rPr>
              <a:t>FROM employees</a:t>
            </a:r>
            <a:endParaRPr sz="1600">
              <a:latin typeface="Courier New"/>
              <a:ea typeface="Courier New"/>
              <a:cs typeface="Courier New"/>
              <a:sym typeface="Courier New"/>
            </a:endParaRPr>
          </a:p>
          <a:p>
            <a:pPr indent="0" lvl="0" marL="36576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WHERE department_id=90);</a:t>
            </a:r>
            <a:endParaRPr sz="16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392112" y="748031"/>
            <a:ext cx="621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ALL</a:t>
            </a:r>
            <a:endParaRPr sz="3300"/>
          </a:p>
        </p:txBody>
      </p:sp>
      <p:sp>
        <p:nvSpPr>
          <p:cNvPr id="172" name="Google Shape;172;p24"/>
          <p:cNvSpPr txBox="1"/>
          <p:nvPr/>
        </p:nvSpPr>
        <p:spPr>
          <a:xfrm>
            <a:off x="483552" y="1418465"/>
            <a:ext cx="8187055" cy="3181985"/>
          </a:xfrm>
          <a:prstGeom prst="rect">
            <a:avLst/>
          </a:prstGeom>
          <a:noFill/>
          <a:ln>
            <a:noFill/>
          </a:ln>
        </p:spPr>
        <p:txBody>
          <a:bodyPr anchorCtr="0" anchor="t" bIns="0" lIns="0" spcFirstLastPara="1" rIns="0" wrap="square" tIns="58400">
            <a:spAutoFit/>
          </a:bodyPr>
          <a:lstStyle/>
          <a:p>
            <a:pPr indent="-171450" lvl="0" marL="184785" marR="5080" rtl="0" algn="l">
              <a:lnSpc>
                <a:spcPct val="108148"/>
              </a:lnSpc>
              <a:spcBef>
                <a:spcPts val="0"/>
              </a:spcBef>
              <a:spcAft>
                <a:spcPts val="0"/>
              </a:spcAft>
              <a:buClr>
                <a:srgbClr val="D1350F"/>
              </a:buClr>
              <a:buSzPts val="2700"/>
              <a:buFont typeface="Arial"/>
              <a:buChar char="•"/>
            </a:pPr>
            <a:r>
              <a:rPr lang="en-US" sz="2700">
                <a:solidFill>
                  <a:srgbClr val="4E3629"/>
                </a:solidFill>
                <a:latin typeface="Calibri"/>
                <a:ea typeface="Calibri"/>
                <a:cs typeface="Calibri"/>
                <a:sym typeface="Calibri"/>
              </a:rPr>
              <a:t>El operador ALL se utiliza cuando deseamos que la  cláusula WHERE de la consulta externa seleccione las filas  que coinciden con los criterios (&lt;, &gt;, =, etc.) de todos los  valores en el juego de resultados de la subconsulta</a:t>
            </a:r>
            <a:endParaRPr sz="2700">
              <a:latin typeface="Calibri"/>
              <a:ea typeface="Calibri"/>
              <a:cs typeface="Calibri"/>
              <a:sym typeface="Calibri"/>
            </a:endParaRPr>
          </a:p>
          <a:p>
            <a:pPr indent="-171450" lvl="0" marL="184785" marR="333375" rtl="0" algn="l">
              <a:lnSpc>
                <a:spcPct val="108148"/>
              </a:lnSpc>
              <a:spcBef>
                <a:spcPts val="585"/>
              </a:spcBef>
              <a:spcAft>
                <a:spcPts val="0"/>
              </a:spcAft>
              <a:buClr>
                <a:srgbClr val="D1350F"/>
              </a:buClr>
              <a:buSzPts val="2700"/>
              <a:buFont typeface="Arial"/>
              <a:buChar char="•"/>
            </a:pPr>
            <a:r>
              <a:rPr lang="en-US" sz="2700">
                <a:solidFill>
                  <a:srgbClr val="4E3629"/>
                </a:solidFill>
                <a:latin typeface="Calibri"/>
                <a:ea typeface="Calibri"/>
                <a:cs typeface="Calibri"/>
                <a:sym typeface="Calibri"/>
              </a:rPr>
              <a:t>El operador ALL compara un valor con todos los valores  devueltos por la consulta interna</a:t>
            </a:r>
            <a:endParaRPr sz="2700">
              <a:latin typeface="Calibri"/>
              <a:ea typeface="Calibri"/>
              <a:cs typeface="Calibri"/>
              <a:sym typeface="Calibri"/>
            </a:endParaRPr>
          </a:p>
          <a:p>
            <a:pPr indent="-171450" lvl="0" marL="184785" marR="354965" rtl="0" algn="l">
              <a:lnSpc>
                <a:spcPct val="108148"/>
              </a:lnSpc>
              <a:spcBef>
                <a:spcPts val="595"/>
              </a:spcBef>
              <a:spcAft>
                <a:spcPts val="0"/>
              </a:spcAft>
              <a:buClr>
                <a:srgbClr val="D1350F"/>
              </a:buClr>
              <a:buSzPts val="2700"/>
              <a:buFont typeface="Arial"/>
              <a:buChar char="•"/>
            </a:pPr>
            <a:r>
              <a:rPr lang="en-US" sz="2700">
                <a:solidFill>
                  <a:srgbClr val="4E3629"/>
                </a:solidFill>
                <a:latin typeface="Calibri"/>
                <a:ea typeface="Calibri"/>
                <a:cs typeface="Calibri"/>
                <a:sym typeface="Calibri"/>
              </a:rPr>
              <a:t>Puesto que no se contrató a ningún empleado antes de  1987, no se devuelve ninguna fila</a:t>
            </a:r>
            <a:endParaRPr sz="2700">
              <a:latin typeface="Calibri"/>
              <a:ea typeface="Calibri"/>
              <a:cs typeface="Calibri"/>
              <a:sym typeface="Calibri"/>
            </a:endParaRPr>
          </a:p>
        </p:txBody>
      </p:sp>
      <p:sp>
        <p:nvSpPr>
          <p:cNvPr id="173" name="Google Shape;173;p24"/>
          <p:cNvSpPr txBox="1"/>
          <p:nvPr/>
        </p:nvSpPr>
        <p:spPr>
          <a:xfrm>
            <a:off x="3299792" y="6033939"/>
            <a:ext cx="232029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rgbClr val="4E3629"/>
                </a:solidFill>
                <a:latin typeface="Calibri"/>
                <a:ea typeface="Calibri"/>
                <a:cs typeface="Calibri"/>
                <a:sym typeface="Calibri"/>
              </a:rPr>
              <a:t>no se han encontrado datos</a:t>
            </a:r>
            <a:endParaRPr sz="1600">
              <a:latin typeface="Calibri"/>
              <a:ea typeface="Calibri"/>
              <a:cs typeface="Calibri"/>
              <a:sym typeface="Calibri"/>
            </a:endParaRPr>
          </a:p>
        </p:txBody>
      </p:sp>
      <p:grpSp>
        <p:nvGrpSpPr>
          <p:cNvPr id="174" name="Google Shape;174;p24"/>
          <p:cNvGrpSpPr/>
          <p:nvPr/>
        </p:nvGrpSpPr>
        <p:grpSpPr>
          <a:xfrm>
            <a:off x="5798819" y="4376926"/>
            <a:ext cx="978535" cy="1033780"/>
            <a:chOff x="5798819" y="4376926"/>
            <a:chExt cx="978535" cy="1033780"/>
          </a:xfrm>
        </p:grpSpPr>
        <p:sp>
          <p:nvSpPr>
            <p:cNvPr id="175" name="Google Shape;175;p24"/>
            <p:cNvSpPr/>
            <p:nvPr/>
          </p:nvSpPr>
          <p:spPr>
            <a:xfrm>
              <a:off x="5798819" y="4376926"/>
              <a:ext cx="978535" cy="1033780"/>
            </a:xfrm>
            <a:custGeom>
              <a:rect b="b" l="l" r="r" t="t"/>
              <a:pathLst>
                <a:path extrusionOk="0" h="1033779" w="978534">
                  <a:moveTo>
                    <a:pt x="978408" y="0"/>
                  </a:moveTo>
                  <a:lnTo>
                    <a:pt x="652272" y="0"/>
                  </a:lnTo>
                  <a:lnTo>
                    <a:pt x="652272" y="590448"/>
                  </a:lnTo>
                  <a:lnTo>
                    <a:pt x="326136" y="590448"/>
                  </a:lnTo>
                  <a:lnTo>
                    <a:pt x="326136" y="442823"/>
                  </a:lnTo>
                  <a:lnTo>
                    <a:pt x="0" y="738073"/>
                  </a:lnTo>
                  <a:lnTo>
                    <a:pt x="326136" y="1033271"/>
                  </a:lnTo>
                  <a:lnTo>
                    <a:pt x="326136" y="885647"/>
                  </a:lnTo>
                  <a:lnTo>
                    <a:pt x="978408" y="885647"/>
                  </a:lnTo>
                  <a:lnTo>
                    <a:pt x="978408"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76" name="Google Shape;176;p24"/>
            <p:cNvSpPr/>
            <p:nvPr/>
          </p:nvSpPr>
          <p:spPr>
            <a:xfrm>
              <a:off x="5798819" y="4376926"/>
              <a:ext cx="978535" cy="1033780"/>
            </a:xfrm>
            <a:custGeom>
              <a:rect b="b" l="l" r="r" t="t"/>
              <a:pathLst>
                <a:path extrusionOk="0" h="1033779" w="978534">
                  <a:moveTo>
                    <a:pt x="0" y="738073"/>
                  </a:moveTo>
                  <a:lnTo>
                    <a:pt x="326136" y="442823"/>
                  </a:lnTo>
                  <a:lnTo>
                    <a:pt x="326136" y="590448"/>
                  </a:lnTo>
                  <a:lnTo>
                    <a:pt x="652272" y="590448"/>
                  </a:lnTo>
                  <a:lnTo>
                    <a:pt x="652272" y="0"/>
                  </a:lnTo>
                  <a:lnTo>
                    <a:pt x="978408" y="0"/>
                  </a:lnTo>
                  <a:lnTo>
                    <a:pt x="978408" y="885647"/>
                  </a:lnTo>
                  <a:lnTo>
                    <a:pt x="326136" y="885647"/>
                  </a:lnTo>
                  <a:lnTo>
                    <a:pt x="326136" y="1033271"/>
                  </a:lnTo>
                  <a:lnTo>
                    <a:pt x="0" y="738073"/>
                  </a:lnTo>
                  <a:close/>
                </a:path>
              </a:pathLst>
            </a:custGeom>
            <a:noFill/>
            <a:ln cap="flat" cmpd="sng" w="9525">
              <a:solidFill>
                <a:srgbClr val="D1350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graphicFrame>
        <p:nvGraphicFramePr>
          <p:cNvPr id="177" name="Google Shape;177;p24"/>
          <p:cNvGraphicFramePr/>
          <p:nvPr/>
        </p:nvGraphicFramePr>
        <p:xfrm>
          <a:off x="7187379" y="4706961"/>
          <a:ext cx="3000000" cy="3000000"/>
        </p:xfrm>
        <a:graphic>
          <a:graphicData uri="http://schemas.openxmlformats.org/drawingml/2006/table">
            <a:tbl>
              <a:tblPr bandRow="1" firstRow="1">
                <a:noFill/>
                <a:tableStyleId>{83B7AD36-68B3-487B-B142-F56C99CDFB77}</a:tableStyleId>
              </a:tblPr>
              <a:tblGrid>
                <a:gridCol w="1298575"/>
              </a:tblGrid>
              <a:tr h="267700">
                <a:tc>
                  <a:txBody>
                    <a:bodyPr/>
                    <a:lstStyle/>
                    <a:p>
                      <a:pPr indent="0" lvl="0" marL="71755" marR="0" rtl="0" algn="l">
                        <a:lnSpc>
                          <a:spcPct val="119625"/>
                        </a:lnSpc>
                        <a:spcBef>
                          <a:spcPts val="0"/>
                        </a:spcBef>
                        <a:spcAft>
                          <a:spcPts val="0"/>
                        </a:spcAft>
                        <a:buNone/>
                      </a:pPr>
                      <a:r>
                        <a:rPr b="1" lang="en-US" sz="1600" u="none" cap="none" strike="noStrike">
                          <a:solidFill>
                            <a:srgbClr val="4E3629"/>
                          </a:solidFill>
                          <a:latin typeface="Calibri"/>
                          <a:ea typeface="Calibri"/>
                          <a:cs typeface="Calibri"/>
                          <a:sym typeface="Calibri"/>
                        </a:rPr>
                        <a:t>Year Hired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67700">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1987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7700">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1989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7700">
                <a:tc>
                  <a:txBody>
                    <a:bodyPr/>
                    <a:lstStyle/>
                    <a:p>
                      <a:pPr indent="0" lvl="0" marL="71755" marR="0" rtl="0" algn="l">
                        <a:lnSpc>
                          <a:spcPct val="119625"/>
                        </a:lnSpc>
                        <a:spcBef>
                          <a:spcPts val="0"/>
                        </a:spcBef>
                        <a:spcAft>
                          <a:spcPts val="0"/>
                        </a:spcAft>
                        <a:buNone/>
                      </a:pPr>
                      <a:r>
                        <a:rPr lang="en-US" sz="1600" u="none" cap="none" strike="noStrike">
                          <a:solidFill>
                            <a:srgbClr val="4E3629"/>
                          </a:solidFill>
                          <a:latin typeface="Calibri"/>
                          <a:ea typeface="Calibri"/>
                          <a:cs typeface="Calibri"/>
                          <a:sym typeface="Calibri"/>
                        </a:rPr>
                        <a:t>1993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78" name="Google Shape;178;p24"/>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179" name="Google Shape;179;p2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0" name="Google Shape;180;p2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1" name="Google Shape;181;p24"/>
          <p:cNvSpPr txBox="1"/>
          <p:nvPr/>
        </p:nvSpPr>
        <p:spPr>
          <a:xfrm>
            <a:off x="393191" y="4710684"/>
            <a:ext cx="5325110" cy="120396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4999"/>
              </a:lnSpc>
              <a:spcBef>
                <a:spcPts val="0"/>
              </a:spcBef>
              <a:spcAft>
                <a:spcPts val="0"/>
              </a:spcAft>
              <a:buNone/>
            </a:pPr>
            <a:r>
              <a:rPr b="1" lang="en-US" sz="1600">
                <a:solidFill>
                  <a:srgbClr val="4E3629"/>
                </a:solidFill>
                <a:latin typeface="Courier New"/>
                <a:ea typeface="Courier New"/>
                <a:cs typeface="Courier New"/>
                <a:sym typeface="Courier New"/>
              </a:rPr>
              <a:t>SELECT last_name, hire_date FROM employees</a:t>
            </a:r>
            <a:endParaRPr sz="1600">
              <a:latin typeface="Courier New"/>
              <a:ea typeface="Courier New"/>
              <a:cs typeface="Courier New"/>
              <a:sym typeface="Courier New"/>
            </a:endParaRPr>
          </a:p>
          <a:p>
            <a:pPr indent="-243204" lvl="0" marL="243204" marR="43116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WHERE EXTRACT(YEAR FROM hire_date) </a:t>
            </a:r>
            <a:r>
              <a:rPr b="1" lang="en-US" sz="1600">
                <a:solidFill>
                  <a:srgbClr val="D1350F"/>
                </a:solidFill>
                <a:latin typeface="Courier New"/>
                <a:ea typeface="Courier New"/>
                <a:cs typeface="Courier New"/>
                <a:sym typeface="Courier New"/>
              </a:rPr>
              <a:t>&lt; ALL  </a:t>
            </a:r>
            <a:r>
              <a:rPr b="1" lang="en-US" sz="1600">
                <a:solidFill>
                  <a:srgbClr val="4E3629"/>
                </a:solidFill>
                <a:latin typeface="Courier New"/>
                <a:ea typeface="Courier New"/>
                <a:cs typeface="Courier New"/>
                <a:sym typeface="Courier New"/>
              </a:rPr>
              <a:t>(SELECT EXTRACT(YEAR FROM hire_date)</a:t>
            </a:r>
            <a:endParaRPr sz="1600">
              <a:latin typeface="Courier New"/>
              <a:ea typeface="Courier New"/>
              <a:cs typeface="Courier New"/>
              <a:sym typeface="Courier New"/>
            </a:endParaRPr>
          </a:p>
          <a:p>
            <a:pPr indent="0" lvl="0" marL="365125"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employees</a:t>
            </a:r>
            <a:endParaRPr sz="1600">
              <a:latin typeface="Courier New"/>
              <a:ea typeface="Courier New"/>
              <a:cs typeface="Courier New"/>
              <a:sym typeface="Courier New"/>
            </a:endParaRPr>
          </a:p>
          <a:p>
            <a:pPr indent="0" lvl="0" marL="365125"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WHERE department_id=90);</a:t>
            </a:r>
            <a:endParaRPr sz="16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txBox="1"/>
          <p:nvPr>
            <p:ph type="title"/>
          </p:nvPr>
        </p:nvSpPr>
        <p:spPr>
          <a:xfrm>
            <a:off x="392112" y="748031"/>
            <a:ext cx="2258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Valores NULL</a:t>
            </a:r>
            <a:endParaRPr sz="3300"/>
          </a:p>
        </p:txBody>
      </p:sp>
      <p:sp>
        <p:nvSpPr>
          <p:cNvPr id="187" name="Google Shape;187;p25"/>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188" name="Google Shape;188;p2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9" name="Google Shape;189;p2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0" name="Google Shape;190;p25"/>
          <p:cNvSpPr txBox="1"/>
          <p:nvPr/>
        </p:nvSpPr>
        <p:spPr>
          <a:xfrm>
            <a:off x="477206" y="1491489"/>
            <a:ext cx="4417695" cy="198882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Suponga que uno de los  valores devueltos por una  subconsulta de varias filas es  nulo, pero otros valores no lo  son</a:t>
            </a:r>
            <a:endParaRPr sz="2800">
              <a:latin typeface="Calibri"/>
              <a:ea typeface="Calibri"/>
              <a:cs typeface="Calibri"/>
              <a:sym typeface="Calibri"/>
            </a:endParaRPr>
          </a:p>
        </p:txBody>
      </p:sp>
      <p:sp>
        <p:nvSpPr>
          <p:cNvPr id="191" name="Google Shape;191;p25"/>
          <p:cNvSpPr txBox="1"/>
          <p:nvPr/>
        </p:nvSpPr>
        <p:spPr>
          <a:xfrm>
            <a:off x="477206" y="3513837"/>
            <a:ext cx="2872105" cy="237299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utiliza IN o  ANY, la consulta  externa devolverá  filas que coinciden  con los valores no  nulos</a:t>
            </a:r>
            <a:endParaRPr sz="2800">
              <a:latin typeface="Calibri"/>
              <a:ea typeface="Calibri"/>
              <a:cs typeface="Calibri"/>
              <a:sym typeface="Calibri"/>
            </a:endParaRPr>
          </a:p>
        </p:txBody>
      </p:sp>
      <p:sp>
        <p:nvSpPr>
          <p:cNvPr id="192" name="Google Shape;192;p25"/>
          <p:cNvSpPr txBox="1"/>
          <p:nvPr/>
        </p:nvSpPr>
        <p:spPr>
          <a:xfrm>
            <a:off x="3098781" y="6138977"/>
            <a:ext cx="2085975"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FF0000"/>
                </a:solidFill>
                <a:latin typeface="Calibri"/>
                <a:ea typeface="Calibri"/>
                <a:cs typeface="Calibri"/>
                <a:sym typeface="Calibri"/>
              </a:rPr>
              <a:t>Resultado de la subconsulta</a:t>
            </a:r>
            <a:endParaRPr sz="1400">
              <a:latin typeface="Calibri"/>
              <a:ea typeface="Calibri"/>
              <a:cs typeface="Calibri"/>
              <a:sym typeface="Calibri"/>
            </a:endParaRPr>
          </a:p>
        </p:txBody>
      </p:sp>
      <p:graphicFrame>
        <p:nvGraphicFramePr>
          <p:cNvPr id="193" name="Google Shape;193;p25"/>
          <p:cNvGraphicFramePr/>
          <p:nvPr/>
        </p:nvGraphicFramePr>
        <p:xfrm>
          <a:off x="5435994" y="3422650"/>
          <a:ext cx="3000000" cy="3000000"/>
        </p:xfrm>
        <a:graphic>
          <a:graphicData uri="http://schemas.openxmlformats.org/drawingml/2006/table">
            <a:tbl>
              <a:tblPr bandRow="1" firstRow="1">
                <a:noFill/>
                <a:tableStyleId>{83B7AD36-68B3-487B-B142-F56C99CDFB77}</a:tableStyleId>
              </a:tblPr>
              <a:tblGrid>
                <a:gridCol w="1749425"/>
                <a:gridCol w="1679575"/>
              </a:tblGrid>
              <a:tr h="2692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194" name="Google Shape;194;p25"/>
          <p:cNvGraphicFramePr/>
          <p:nvPr/>
        </p:nvGraphicFramePr>
        <p:xfrm>
          <a:off x="3660040" y="3663756"/>
          <a:ext cx="3000000" cy="3000000"/>
        </p:xfrm>
        <a:graphic>
          <a:graphicData uri="http://schemas.openxmlformats.org/drawingml/2006/table">
            <a:tbl>
              <a:tblPr bandRow="1" firstRow="1">
                <a:noFill/>
                <a:tableStyleId>{83B7AD36-68B3-487B-B142-F56C99CDFB77}</a:tableStyleId>
              </a:tblPr>
              <a:tblGrid>
                <a:gridCol w="1256025"/>
              </a:tblGrid>
              <a:tr h="2692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69250">
                <a:tc>
                  <a:txBody>
                    <a:bodyPr/>
                    <a:lstStyle/>
                    <a:p>
                      <a:pPr indent="0" lvl="0" marL="58419"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205</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69250">
                <a:tc>
                  <a:txBody>
                    <a:bodyPr/>
                    <a:lstStyle/>
                    <a:p>
                      <a:pPr indent="0" lvl="0" marL="58419"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95" name="Google Shape;195;p25"/>
          <p:cNvSpPr txBox="1"/>
          <p:nvPr/>
        </p:nvSpPr>
        <p:spPr>
          <a:xfrm>
            <a:off x="4998720" y="1537716"/>
            <a:ext cx="3872865" cy="1706880"/>
          </a:xfrm>
          <a:prstGeom prst="rect">
            <a:avLst/>
          </a:prstGeom>
          <a:solidFill>
            <a:srgbClr val="9DBDC4">
              <a:alpha val="49804"/>
            </a:srgbClr>
          </a:solidFill>
          <a:ln>
            <a:noFill/>
          </a:ln>
        </p:spPr>
        <p:txBody>
          <a:bodyPr anchorCtr="0" anchor="t" bIns="0" lIns="0" spcFirstLastPara="1" rIns="0" wrap="square" tIns="2525">
            <a:spAutoFit/>
          </a:bodyPr>
          <a:lstStyle/>
          <a:p>
            <a:pPr indent="0" lvl="0" marL="0" marR="15436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employee_id</a:t>
            </a:r>
            <a:endParaRPr sz="1800">
              <a:latin typeface="Courier New"/>
              <a:ea typeface="Courier New"/>
              <a:cs typeface="Courier New"/>
              <a:sym typeface="Courier New"/>
            </a:endParaRPr>
          </a:p>
          <a:p>
            <a:pPr indent="0" lvl="0" marL="0" marR="11353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 employee_id </a:t>
            </a:r>
            <a:r>
              <a:rPr b="1" lang="en-US" sz="1800">
                <a:solidFill>
                  <a:srgbClr val="D1350F"/>
                </a:solidFill>
                <a:latin typeface="Courier New"/>
                <a:ea typeface="Courier New"/>
                <a:cs typeface="Courier New"/>
                <a:sym typeface="Courier New"/>
              </a:rPr>
              <a:t>IN</a:t>
            </a:r>
            <a:endParaRPr sz="1800">
              <a:latin typeface="Courier New"/>
              <a:ea typeface="Courier New"/>
              <a:cs typeface="Courier New"/>
              <a:sym typeface="Courier New"/>
            </a:endParaRPr>
          </a:p>
          <a:p>
            <a:pPr indent="-135890" lvl="0" marL="681990" marR="86106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manager_id  FROM employees);</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6"/>
          <p:cNvSpPr txBox="1"/>
          <p:nvPr>
            <p:ph type="title"/>
          </p:nvPr>
        </p:nvSpPr>
        <p:spPr>
          <a:xfrm>
            <a:off x="392112" y="748031"/>
            <a:ext cx="2258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Valores NULL</a:t>
            </a:r>
            <a:endParaRPr sz="3300"/>
          </a:p>
        </p:txBody>
      </p:sp>
      <p:sp>
        <p:nvSpPr>
          <p:cNvPr id="201" name="Google Shape;201;p26"/>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202" name="Google Shape;202;p2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3" name="Google Shape;203;p2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4" name="Google Shape;204;p26"/>
          <p:cNvSpPr txBox="1"/>
          <p:nvPr/>
        </p:nvSpPr>
        <p:spPr>
          <a:xfrm>
            <a:off x="483552" y="1415417"/>
            <a:ext cx="7995920" cy="247459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utiliza ALL, la consulta externa no devuelve  ninguna fila porque ALL compara la consulta externa  con cada valor devuelto por la subconsulta, incluido el  valor nulo</a:t>
            </a:r>
            <a:endParaRPr sz="2800">
              <a:latin typeface="Calibri"/>
              <a:ea typeface="Calibri"/>
              <a:cs typeface="Calibri"/>
              <a:sym typeface="Calibri"/>
            </a:endParaRPr>
          </a:p>
          <a:p>
            <a:pPr indent="-177800" lvl="0" marL="184785" marR="17716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Y la comparación de cualquier cosa con un valor nulo  da como resultado un valor nulo</a:t>
            </a:r>
            <a:endParaRPr sz="2800">
              <a:latin typeface="Calibri"/>
              <a:ea typeface="Calibri"/>
              <a:cs typeface="Calibri"/>
              <a:sym typeface="Calibri"/>
            </a:endParaRPr>
          </a:p>
        </p:txBody>
      </p:sp>
      <p:sp>
        <p:nvSpPr>
          <p:cNvPr id="205" name="Google Shape;205;p26"/>
          <p:cNvSpPr txBox="1"/>
          <p:nvPr/>
        </p:nvSpPr>
        <p:spPr>
          <a:xfrm>
            <a:off x="724170" y="5527490"/>
            <a:ext cx="232029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rgbClr val="4E3629"/>
                </a:solidFill>
                <a:latin typeface="Calibri"/>
                <a:ea typeface="Calibri"/>
                <a:cs typeface="Calibri"/>
                <a:sym typeface="Calibri"/>
              </a:rPr>
              <a:t>no se han encontrado datos</a:t>
            </a:r>
            <a:endParaRPr sz="1600">
              <a:latin typeface="Calibri"/>
              <a:ea typeface="Calibri"/>
              <a:cs typeface="Calibri"/>
              <a:sym typeface="Calibri"/>
            </a:endParaRPr>
          </a:p>
        </p:txBody>
      </p:sp>
      <p:sp>
        <p:nvSpPr>
          <p:cNvPr id="206" name="Google Shape;206;p26"/>
          <p:cNvSpPr txBox="1"/>
          <p:nvPr/>
        </p:nvSpPr>
        <p:spPr>
          <a:xfrm>
            <a:off x="417576" y="3971544"/>
            <a:ext cx="8345805" cy="1423670"/>
          </a:xfrm>
          <a:prstGeom prst="rect">
            <a:avLst/>
          </a:prstGeom>
          <a:solidFill>
            <a:srgbClr val="9DBDC4">
              <a:alpha val="49804"/>
            </a:srgbClr>
          </a:solidFill>
          <a:ln>
            <a:noFill/>
          </a:ln>
        </p:spPr>
        <p:txBody>
          <a:bodyPr anchorCtr="0" anchor="t" bIns="0" lIns="0" spcFirstLastPara="1" rIns="0" wrap="square" tIns="7600">
            <a:spAutoFit/>
          </a:bodyPr>
          <a:lstStyle/>
          <a:p>
            <a:pPr indent="0" lvl="0" marL="0" marR="4379595"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SELECT last_name, employee_id  FROM employees</a:t>
            </a:r>
            <a:endParaRPr sz="1800">
              <a:latin typeface="Courier New"/>
              <a:ea typeface="Courier New"/>
              <a:cs typeface="Courier New"/>
              <a:sym typeface="Courier New"/>
            </a:endParaRPr>
          </a:p>
          <a:p>
            <a:pPr indent="-546100" lvl="0" marL="546100" marR="5061585"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WHERE employee_id </a:t>
            </a:r>
            <a:r>
              <a:rPr b="1" lang="en-US" sz="1800">
                <a:solidFill>
                  <a:srgbClr val="D1350F"/>
                </a:solidFill>
                <a:latin typeface="Courier New"/>
                <a:ea typeface="Courier New"/>
                <a:cs typeface="Courier New"/>
                <a:sym typeface="Courier New"/>
              </a:rPr>
              <a:t>&lt;= ALL  </a:t>
            </a:r>
            <a:r>
              <a:rPr b="1" lang="en-US" sz="1800">
                <a:solidFill>
                  <a:srgbClr val="4E3629"/>
                </a:solidFill>
                <a:latin typeface="Courier New"/>
                <a:ea typeface="Courier New"/>
                <a:cs typeface="Courier New"/>
                <a:sym typeface="Courier New"/>
              </a:rPr>
              <a:t>(SELECT manager_id  FROM employees);</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392112" y="748031"/>
            <a:ext cx="3533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GROUP BY y HAVING</a:t>
            </a:r>
            <a:endParaRPr sz="3300"/>
          </a:p>
        </p:txBody>
      </p:sp>
      <p:sp>
        <p:nvSpPr>
          <p:cNvPr id="212" name="Google Shape;212;p27"/>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213" name="Google Shape;213;p2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4" name="Google Shape;214;p2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5" name="Google Shape;215;p27"/>
          <p:cNvSpPr txBox="1"/>
          <p:nvPr/>
        </p:nvSpPr>
        <p:spPr>
          <a:xfrm>
            <a:off x="483552" y="1415417"/>
            <a:ext cx="7768590" cy="2474595"/>
          </a:xfrm>
          <a:prstGeom prst="rect">
            <a:avLst/>
          </a:prstGeom>
          <a:noFill/>
          <a:ln>
            <a:noFill/>
          </a:ln>
        </p:spPr>
        <p:txBody>
          <a:bodyPr anchorCtr="0" anchor="t" bIns="0" lIns="0" spcFirstLastPara="1" rIns="0" wrap="square" tIns="59675">
            <a:spAutoFit/>
          </a:bodyPr>
          <a:lstStyle/>
          <a:p>
            <a:pPr indent="-177800" lvl="0" marL="184785" marR="40005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puede sospechar, la cláusula GROUP BY y la  cláusula HAVING también se puede utilizar con  subconsultas de varias filas</a:t>
            </a:r>
            <a:endParaRPr sz="2800">
              <a:latin typeface="Calibri"/>
              <a:ea typeface="Calibri"/>
              <a:cs typeface="Calibri"/>
              <a:sym typeface="Calibri"/>
            </a:endParaRPr>
          </a:p>
          <a:p>
            <a:pPr indent="-177800" lvl="0" marL="184785"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¿Y si deseara buscar los departamentos cuyo salario  mínimo sea inferior al salario de cualquier empleado  que trabaje en el departamento 10 o 20?</a:t>
            </a:r>
            <a:endParaRPr sz="2800">
              <a:latin typeface="Calibri"/>
              <a:ea typeface="Calibri"/>
              <a:cs typeface="Calibri"/>
              <a:sym typeface="Calibri"/>
            </a:endParaRPr>
          </a:p>
        </p:txBody>
      </p:sp>
      <p:graphicFrame>
        <p:nvGraphicFramePr>
          <p:cNvPr id="216" name="Google Shape;216;p27"/>
          <p:cNvGraphicFramePr/>
          <p:nvPr/>
        </p:nvGraphicFramePr>
        <p:xfrm>
          <a:off x="398462" y="3995129"/>
          <a:ext cx="3000000" cy="3000000"/>
        </p:xfrm>
        <a:graphic>
          <a:graphicData uri="http://schemas.openxmlformats.org/drawingml/2006/table">
            <a:tbl>
              <a:tblPr bandRow="1" firstRow="1">
                <a:noFill/>
                <a:tableStyleId>{83B7AD36-68B3-487B-B142-F56C99CDFB77}</a:tableStyleId>
              </a:tblPr>
              <a:tblGrid>
                <a:gridCol w="1122050"/>
                <a:gridCol w="998225"/>
                <a:gridCol w="1080125"/>
              </a:tblGrid>
              <a:tr h="3112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2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22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22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40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9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40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143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217" name="Google Shape;217;p27"/>
          <p:cNvGraphicFramePr/>
          <p:nvPr/>
        </p:nvGraphicFramePr>
        <p:xfrm>
          <a:off x="5087326" y="3940223"/>
          <a:ext cx="3000000" cy="3000000"/>
        </p:xfrm>
        <a:graphic>
          <a:graphicData uri="http://schemas.openxmlformats.org/drawingml/2006/table">
            <a:tbl>
              <a:tblPr bandRow="1" firstRow="1">
                <a:noFill/>
                <a:tableStyleId>{83B7AD36-68B3-487B-B142-F56C99CDFB77}</a:tableStyleId>
              </a:tblPr>
              <a:tblGrid>
                <a:gridCol w="1835775"/>
                <a:gridCol w="1546850"/>
              </a:tblGrid>
              <a:tr h="3231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MIN(SALARY)</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3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3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4200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8600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3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8300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(null)</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txBox="1"/>
          <p:nvPr>
            <p:ph type="title"/>
          </p:nvPr>
        </p:nvSpPr>
        <p:spPr>
          <a:xfrm>
            <a:off x="392112" y="748031"/>
            <a:ext cx="3533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GROUP BY y HAVING</a:t>
            </a:r>
            <a:endParaRPr sz="3300"/>
          </a:p>
        </p:txBody>
      </p:sp>
      <p:sp>
        <p:nvSpPr>
          <p:cNvPr id="223" name="Google Shape;223;p28"/>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224" name="Google Shape;224;p2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5" name="Google Shape;225;p2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6" name="Google Shape;226;p28"/>
          <p:cNvSpPr txBox="1"/>
          <p:nvPr/>
        </p:nvSpPr>
        <p:spPr>
          <a:xfrm>
            <a:off x="483552" y="1415417"/>
            <a:ext cx="7754620" cy="2474595"/>
          </a:xfrm>
          <a:prstGeom prst="rect">
            <a:avLst/>
          </a:prstGeom>
          <a:noFill/>
          <a:ln>
            <a:noFill/>
          </a:ln>
        </p:spPr>
        <p:txBody>
          <a:bodyPr anchorCtr="0" anchor="t" bIns="0" lIns="0" spcFirstLastPara="1" rIns="0" wrap="square" tIns="59675">
            <a:spAutoFit/>
          </a:bodyPr>
          <a:lstStyle/>
          <a:p>
            <a:pPr indent="-177800" lvl="0" marL="184785" marR="6229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Necesitamos una subconsulta de varias filas que  devuelva los salarios de empleados de los  departamentos 10 y 20</a:t>
            </a:r>
            <a:endParaRPr sz="2800">
              <a:latin typeface="Calibri"/>
              <a:ea typeface="Calibri"/>
              <a:cs typeface="Calibri"/>
              <a:sym typeface="Calibri"/>
            </a:endParaRPr>
          </a:p>
          <a:p>
            <a:pPr indent="-177800" lvl="0" marL="184785"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consulta externa utilizará una función de grupo  (MIN), por lo que necesitamos AGRUPAR (GROUP) la  consulta externa POR (BY) department_id</a:t>
            </a:r>
            <a:endParaRPr sz="2800">
              <a:latin typeface="Calibri"/>
              <a:ea typeface="Calibri"/>
              <a:cs typeface="Calibri"/>
              <a:sym typeface="Calibri"/>
            </a:endParaRPr>
          </a:p>
        </p:txBody>
      </p:sp>
      <p:graphicFrame>
        <p:nvGraphicFramePr>
          <p:cNvPr id="227" name="Google Shape;227;p28"/>
          <p:cNvGraphicFramePr/>
          <p:nvPr/>
        </p:nvGraphicFramePr>
        <p:xfrm>
          <a:off x="973931" y="4054588"/>
          <a:ext cx="3000000" cy="3000000"/>
        </p:xfrm>
        <a:graphic>
          <a:graphicData uri="http://schemas.openxmlformats.org/drawingml/2006/table">
            <a:tbl>
              <a:tblPr bandRow="1" firstRow="1">
                <a:noFill/>
                <a:tableStyleId>{83B7AD36-68B3-487B-B142-F56C99CDFB77}</a:tableStyleId>
              </a:tblPr>
              <a:tblGrid>
                <a:gridCol w="1332875"/>
                <a:gridCol w="998225"/>
                <a:gridCol w="1080125"/>
              </a:tblGrid>
              <a:tr h="3112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2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22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22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40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9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13000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40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228" name="Google Shape;228;p28"/>
          <p:cNvGraphicFramePr/>
          <p:nvPr/>
        </p:nvGraphicFramePr>
        <p:xfrm>
          <a:off x="4790093" y="4065272"/>
          <a:ext cx="3000000" cy="3000000"/>
        </p:xfrm>
        <a:graphic>
          <a:graphicData uri="http://schemas.openxmlformats.org/drawingml/2006/table">
            <a:tbl>
              <a:tblPr bandRow="1" firstRow="1">
                <a:noFill/>
                <a:tableStyleId>{83B7AD36-68B3-487B-B142-F56C99CDFB77}</a:tableStyleId>
              </a:tblPr>
              <a:tblGrid>
                <a:gridCol w="1835775"/>
                <a:gridCol w="1546850"/>
              </a:tblGrid>
              <a:tr h="3231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MIN(SALARY)</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3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3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4200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8600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3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8300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(null)</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title"/>
          </p:nvPr>
        </p:nvSpPr>
        <p:spPr>
          <a:xfrm>
            <a:off x="392112" y="748031"/>
            <a:ext cx="3533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GROUP BY y HAVING</a:t>
            </a:r>
            <a:endParaRPr sz="3300"/>
          </a:p>
        </p:txBody>
      </p:sp>
      <p:sp>
        <p:nvSpPr>
          <p:cNvPr id="234" name="Google Shape;234;p29"/>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235" name="Google Shape;235;p2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6" name="Google Shape;236;p2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7" name="Google Shape;237;p29"/>
          <p:cNvSpPr txBox="1"/>
          <p:nvPr/>
        </p:nvSpPr>
        <p:spPr>
          <a:xfrm>
            <a:off x="483552" y="1415417"/>
            <a:ext cx="3709035"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es la sentencia SQL:</a:t>
            </a:r>
            <a:endParaRPr sz="2800">
              <a:latin typeface="Calibri"/>
              <a:ea typeface="Calibri"/>
              <a:cs typeface="Calibri"/>
              <a:sym typeface="Calibri"/>
            </a:endParaRPr>
          </a:p>
        </p:txBody>
      </p:sp>
      <p:sp>
        <p:nvSpPr>
          <p:cNvPr id="238" name="Google Shape;238;p29"/>
          <p:cNvSpPr txBox="1"/>
          <p:nvPr/>
        </p:nvSpPr>
        <p:spPr>
          <a:xfrm>
            <a:off x="3881169" y="5265692"/>
            <a:ext cx="237109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0000"/>
                </a:solidFill>
                <a:latin typeface="Calibri"/>
                <a:ea typeface="Calibri"/>
                <a:cs typeface="Calibri"/>
                <a:sym typeface="Calibri"/>
              </a:rPr>
              <a:t>Resultado de la subconsulta</a:t>
            </a:r>
            <a:endParaRPr sz="1600">
              <a:latin typeface="Calibri"/>
              <a:ea typeface="Calibri"/>
              <a:cs typeface="Calibri"/>
              <a:sym typeface="Calibri"/>
            </a:endParaRPr>
          </a:p>
        </p:txBody>
      </p:sp>
      <p:graphicFrame>
        <p:nvGraphicFramePr>
          <p:cNvPr id="239" name="Google Shape;239;p29"/>
          <p:cNvGraphicFramePr/>
          <p:nvPr/>
        </p:nvGraphicFramePr>
        <p:xfrm>
          <a:off x="822735" y="4411085"/>
          <a:ext cx="3000000" cy="3000000"/>
        </p:xfrm>
        <a:graphic>
          <a:graphicData uri="http://schemas.openxmlformats.org/drawingml/2006/table">
            <a:tbl>
              <a:tblPr bandRow="1" firstRow="1">
                <a:noFill/>
                <a:tableStyleId>{83B7AD36-68B3-487B-B142-F56C99CDFB77}</a:tableStyleId>
              </a:tblPr>
              <a:tblGrid>
                <a:gridCol w="1163325"/>
                <a:gridCol w="871225"/>
                <a:gridCol w="942975"/>
              </a:tblGrid>
              <a:tr h="3112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2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DEPT_ID</a:t>
                      </a:r>
                      <a:endParaRPr sz="1600" u="none" cap="none" strike="noStrike">
                        <a:latin typeface="Calibri"/>
                        <a:ea typeface="Calibri"/>
                        <a:cs typeface="Calibri"/>
                        <a:sym typeface="Calibri"/>
                      </a:endParaRPr>
                    </a:p>
                  </a:txBody>
                  <a:tcPr marT="22225" marB="0" marR="0" marL="0">
                    <a:lnL cap="flat" cmpd="sng" w="12700">
                      <a:solidFill>
                        <a:srgbClr val="D1350F"/>
                      </a:solidFill>
                      <a:prstDash val="solid"/>
                      <a:round/>
                      <a:headEnd len="sm" w="sm" type="none"/>
                      <a:tailEnd len="sm" w="sm" type="none"/>
                    </a:lnL>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600" u="none" cap="none" strike="noStrike">
                          <a:solidFill>
                            <a:srgbClr val="FFFFFF"/>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22225" marB="0" marR="0" marL="0">
                    <a:solidFill>
                      <a:srgbClr val="D1350F"/>
                    </a:solidFill>
                  </a:tcPr>
                </a:tc>
              </a:tr>
              <a:tr h="2740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FFFFFF"/>
                          </a:solidFill>
                          <a:latin typeface="Calibri"/>
                          <a:ea typeface="Calibri"/>
                          <a:cs typeface="Calibri"/>
                          <a:sym typeface="Calibri"/>
                        </a:rPr>
                        <a:t>4400</a:t>
                      </a:r>
                      <a:endParaRPr sz="1600" u="none" cap="none" strike="noStrike">
                        <a:latin typeface="Calibri"/>
                        <a:ea typeface="Calibri"/>
                        <a:cs typeface="Calibri"/>
                        <a:sym typeface="Calibri"/>
                      </a:endParaRPr>
                    </a:p>
                  </a:txBody>
                  <a:tcPr marT="3800" marB="0" marR="0" marL="0">
                    <a:solidFill>
                      <a:srgbClr val="D1350F"/>
                    </a:solidFill>
                  </a:tcPr>
                </a:tc>
              </a:tr>
              <a:tr h="2729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FFFFFF"/>
                          </a:solidFill>
                          <a:latin typeface="Calibri"/>
                          <a:ea typeface="Calibri"/>
                          <a:cs typeface="Calibri"/>
                          <a:sym typeface="Calibri"/>
                        </a:rPr>
                        <a:t>13000</a:t>
                      </a:r>
                      <a:endParaRPr sz="1600" u="none" cap="none" strike="noStrike">
                        <a:latin typeface="Calibri"/>
                        <a:ea typeface="Calibri"/>
                        <a:cs typeface="Calibri"/>
                        <a:sym typeface="Calibri"/>
                      </a:endParaRPr>
                    </a:p>
                  </a:txBody>
                  <a:tcPr marT="3175" marB="0" marR="0" marL="0">
                    <a:solidFill>
                      <a:srgbClr val="D1350F"/>
                    </a:solidFill>
                  </a:tcPr>
                </a:tc>
              </a:tr>
              <a:tr h="274050">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600" u="none" cap="none" strike="noStrike">
                          <a:solidFill>
                            <a:srgbClr val="FFFFFF"/>
                          </a:solidFill>
                          <a:latin typeface="Calibri"/>
                          <a:ea typeface="Calibri"/>
                          <a:cs typeface="Calibri"/>
                          <a:sym typeface="Calibri"/>
                        </a:rPr>
                        <a:t>6000</a:t>
                      </a:r>
                      <a:endParaRPr sz="1600" u="none" cap="none" strike="noStrike">
                        <a:latin typeface="Calibri"/>
                        <a:ea typeface="Calibri"/>
                        <a:cs typeface="Calibri"/>
                        <a:sym typeface="Calibri"/>
                      </a:endParaRPr>
                    </a:p>
                  </a:txBody>
                  <a:tcPr marT="3800" marB="0" marR="0" marL="0">
                    <a:solidFill>
                      <a:srgbClr val="D1350F"/>
                    </a:solidFill>
                  </a:tcPr>
                </a:tc>
              </a:tr>
            </a:tbl>
          </a:graphicData>
        </a:graphic>
      </p:graphicFrame>
      <p:graphicFrame>
        <p:nvGraphicFramePr>
          <p:cNvPr id="240" name="Google Shape;240;p29"/>
          <p:cNvGraphicFramePr/>
          <p:nvPr/>
        </p:nvGraphicFramePr>
        <p:xfrm>
          <a:off x="5355152" y="1900822"/>
          <a:ext cx="3000000" cy="3000000"/>
        </p:xfrm>
        <a:graphic>
          <a:graphicData uri="http://schemas.openxmlformats.org/drawingml/2006/table">
            <a:tbl>
              <a:tblPr bandRow="1" firstRow="1">
                <a:noFill/>
                <a:tableStyleId>{83B7AD36-68B3-487B-B142-F56C99CDFB77}</a:tableStyleId>
              </a:tblPr>
              <a:tblGrid>
                <a:gridCol w="1680200"/>
                <a:gridCol w="1416050"/>
              </a:tblGrid>
              <a:tr h="3231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MIN(SALARY)</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3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3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4200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8600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330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8300</a:t>
                      </a:r>
                      <a:endParaRPr sz="1600" u="none" cap="none" strike="noStrike">
                        <a:latin typeface="Calibri"/>
                        <a:ea typeface="Calibri"/>
                        <a:cs typeface="Calibri"/>
                        <a:sym typeface="Calibri"/>
                      </a:endParaRPr>
                    </a:p>
                  </a:txBody>
                  <a:tcPr marT="3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2225">
                <a:tc>
                  <a:txBody>
                    <a:bodyPr/>
                    <a:lstStyle/>
                    <a:p>
                      <a:pPr indent="0" lvl="0" marL="577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06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241" name="Google Shape;241;p29"/>
          <p:cNvSpPr txBox="1"/>
          <p:nvPr/>
        </p:nvSpPr>
        <p:spPr>
          <a:xfrm>
            <a:off x="405384" y="1906523"/>
            <a:ext cx="4662170" cy="2232660"/>
          </a:xfrm>
          <a:prstGeom prst="rect">
            <a:avLst/>
          </a:prstGeom>
          <a:solidFill>
            <a:srgbClr val="9DBDC4">
              <a:alpha val="49804"/>
            </a:srgbClr>
          </a:solidFill>
          <a:ln>
            <a:noFill/>
          </a:ln>
        </p:spPr>
        <p:txBody>
          <a:bodyPr anchorCtr="0" anchor="t" bIns="0" lIns="0" spcFirstLastPara="1" rIns="0" wrap="square" tIns="625">
            <a:spAutoFit/>
          </a:bodyPr>
          <a:lstStyle/>
          <a:p>
            <a:pPr indent="0" lvl="0" marL="0" marR="149860"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SELECT department_id, MIN(salary)  FROM employees</a:t>
            </a:r>
            <a:endParaRPr sz="1800">
              <a:latin typeface="Courier New"/>
              <a:ea typeface="Courier New"/>
              <a:cs typeface="Courier New"/>
              <a:sym typeface="Courier New"/>
            </a:endParaRPr>
          </a:p>
          <a:p>
            <a:pPr indent="0" lvl="0" marL="0" marR="1377950"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GROUP BY department_id  HAVING MIN(salary) &lt; ANY</a:t>
            </a:r>
            <a:endParaRPr sz="1800">
              <a:latin typeface="Courier New"/>
              <a:ea typeface="Courier New"/>
              <a:cs typeface="Courier New"/>
              <a:sym typeface="Courier New"/>
            </a:endParaRPr>
          </a:p>
          <a:p>
            <a:pPr indent="-135890" lvl="0" marL="408940" marR="2333625"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(SELECT salary  FROM employees</a:t>
            </a:r>
            <a:endParaRPr sz="1800">
              <a:latin typeface="Courier New"/>
              <a:ea typeface="Courier New"/>
              <a:cs typeface="Courier New"/>
              <a:sym typeface="Courier New"/>
            </a:endParaRPr>
          </a:p>
          <a:p>
            <a:pPr indent="409575" lvl="0" marL="0" marR="15875"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WHERE department_id IN (10,20))  ORDER BY department_id;</a:t>
            </a:r>
            <a:endParaRPr sz="18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0"/>
          <p:cNvSpPr txBox="1"/>
          <p:nvPr>
            <p:ph type="title"/>
          </p:nvPr>
        </p:nvSpPr>
        <p:spPr>
          <a:xfrm>
            <a:off x="392112" y="748031"/>
            <a:ext cx="5670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Subconsultas de Varias Columnas</a:t>
            </a:r>
            <a:endParaRPr sz="3300"/>
          </a:p>
        </p:txBody>
      </p:sp>
      <p:sp>
        <p:nvSpPr>
          <p:cNvPr id="247" name="Google Shape;247;p30"/>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248" name="Google Shape;248;p3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9" name="Google Shape;249;p3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0" name="Google Shape;250;p30"/>
          <p:cNvSpPr txBox="1"/>
          <p:nvPr/>
        </p:nvSpPr>
        <p:spPr>
          <a:xfrm>
            <a:off x="483552" y="1355371"/>
            <a:ext cx="7877175" cy="2252345"/>
          </a:xfrm>
          <a:prstGeom prst="rect">
            <a:avLst/>
          </a:prstGeom>
          <a:noFill/>
          <a:ln>
            <a:noFill/>
          </a:ln>
        </p:spPr>
        <p:txBody>
          <a:bodyPr anchorCtr="0" anchor="t" bIns="0" lIns="0" spcFirstLastPara="1" rIns="0" wrap="square" tIns="717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subconsultas pueden utilizar una o más columnas</a:t>
            </a:r>
            <a:endParaRPr sz="2800">
              <a:latin typeface="Calibri"/>
              <a:ea typeface="Calibri"/>
              <a:cs typeface="Calibri"/>
              <a:sym typeface="Calibri"/>
            </a:endParaRPr>
          </a:p>
          <a:p>
            <a:pPr indent="-177800" lvl="0" marL="184785" marR="103759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utilizan más de una columna, se denominan  subconsultas de varias columnas</a:t>
            </a:r>
            <a:endParaRPr sz="2800">
              <a:latin typeface="Calibri"/>
              <a:ea typeface="Calibri"/>
              <a:cs typeface="Calibri"/>
              <a:sym typeface="Calibri"/>
            </a:endParaRPr>
          </a:p>
          <a:p>
            <a:pPr indent="-177800" lvl="0" marL="184785" marR="75501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subconsulta de varias columnas pueden ser  comparaciones pareadas o no pareadas</a:t>
            </a:r>
            <a:endParaRPr sz="2800">
              <a:latin typeface="Calibri"/>
              <a:ea typeface="Calibri"/>
              <a:cs typeface="Calibri"/>
              <a:sym typeface="Calibri"/>
            </a:endParaRPr>
          </a:p>
        </p:txBody>
      </p:sp>
      <p:graphicFrame>
        <p:nvGraphicFramePr>
          <p:cNvPr id="251" name="Google Shape;251;p30"/>
          <p:cNvGraphicFramePr/>
          <p:nvPr/>
        </p:nvGraphicFramePr>
        <p:xfrm>
          <a:off x="4714326" y="5617032"/>
          <a:ext cx="3000000" cy="3000000"/>
        </p:xfrm>
        <a:graphic>
          <a:graphicData uri="http://schemas.openxmlformats.org/drawingml/2006/table">
            <a:tbl>
              <a:tblPr bandRow="1" firstRow="1">
                <a:noFill/>
                <a:tableStyleId>{83B7AD36-68B3-487B-B142-F56C99CDFB77}</a:tableStyleId>
              </a:tblPr>
              <a:tblGrid>
                <a:gridCol w="1182375"/>
                <a:gridCol w="1477000"/>
                <a:gridCol w="1445250"/>
              </a:tblGrid>
              <a:tr h="281225">
                <a:tc>
                  <a:txBody>
                    <a:bodyPr/>
                    <a:lstStyle/>
                    <a:p>
                      <a:pPr indent="0" lvl="0" marL="6540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EMPLOYEE_ID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6540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MANAGER_ID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660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DEPARTMENT_ID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3925">
                <a:tc>
                  <a:txBody>
                    <a:bodyPr/>
                    <a:lstStyle/>
                    <a:p>
                      <a:pPr indent="0" lvl="0" marL="6540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176</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540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149</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60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80</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252" name="Google Shape;252;p30"/>
          <p:cNvSpPr txBox="1"/>
          <p:nvPr/>
        </p:nvSpPr>
        <p:spPr>
          <a:xfrm>
            <a:off x="405384" y="3703320"/>
            <a:ext cx="6367780" cy="187007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97222"/>
              </a:lnSpc>
              <a:spcBef>
                <a:spcPts val="0"/>
              </a:spcBef>
              <a:spcAft>
                <a:spcPts val="0"/>
              </a:spcAft>
              <a:buNone/>
            </a:pPr>
            <a:r>
              <a:rPr b="1" lang="en-US" sz="1800">
                <a:solidFill>
                  <a:srgbClr val="4E3629"/>
                </a:solidFill>
                <a:latin typeface="Courier New"/>
                <a:ea typeface="Courier New"/>
                <a:cs typeface="Courier New"/>
                <a:sym typeface="Courier New"/>
              </a:rPr>
              <a:t>SELECT employee_id, manager_id, department_id</a:t>
            </a:r>
            <a:endParaRPr sz="1800">
              <a:latin typeface="Courier New"/>
              <a:ea typeface="Courier New"/>
              <a:cs typeface="Courier New"/>
              <a:sym typeface="Courier New"/>
            </a:endParaRPr>
          </a:p>
          <a:p>
            <a:pPr indent="0" lvl="0" marL="0" marR="17214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WHERE(manager_id,department_id) IN</a:t>
            </a:r>
            <a:endParaRPr sz="1800">
              <a:latin typeface="Courier New"/>
              <a:ea typeface="Courier New"/>
              <a:cs typeface="Courier New"/>
              <a:sym typeface="Courier New"/>
            </a:endParaRPr>
          </a:p>
          <a:p>
            <a:pPr indent="-137160" lvl="0" marL="955675" marR="1172845"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(SELECT manager_id,department_id  FROM	employees</a:t>
            </a:r>
            <a:endParaRPr sz="1800">
              <a:latin typeface="Courier New"/>
              <a:ea typeface="Courier New"/>
              <a:cs typeface="Courier New"/>
              <a:sym typeface="Courier New"/>
            </a:endParaRPr>
          </a:p>
          <a:p>
            <a:pPr indent="956944" lvl="0" marL="0" marR="1038860"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WHERE	employee_id IN (149,174))  </a:t>
            </a:r>
            <a:r>
              <a:rPr b="1" lang="en-US" sz="1800">
                <a:solidFill>
                  <a:srgbClr val="4E3629"/>
                </a:solidFill>
                <a:latin typeface="Courier New"/>
                <a:ea typeface="Courier New"/>
                <a:cs typeface="Courier New"/>
                <a:sym typeface="Courier New"/>
              </a:rPr>
              <a:t>AND employee_id NOT IN (149,174)</a:t>
            </a:r>
            <a:endParaRPr sz="1800">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1"/>
          <p:cNvSpPr txBox="1"/>
          <p:nvPr>
            <p:ph type="title"/>
          </p:nvPr>
        </p:nvSpPr>
        <p:spPr>
          <a:xfrm>
            <a:off x="392112" y="748031"/>
            <a:ext cx="5670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Subconsultas de Varias Columnas</a:t>
            </a:r>
            <a:endParaRPr sz="3300"/>
          </a:p>
        </p:txBody>
      </p:sp>
      <p:sp>
        <p:nvSpPr>
          <p:cNvPr id="258" name="Google Shape;258;p31"/>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259" name="Google Shape;259;p3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0" name="Google Shape;260;p3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1" name="Google Shape;261;p31"/>
          <p:cNvSpPr txBox="1"/>
          <p:nvPr/>
        </p:nvSpPr>
        <p:spPr>
          <a:xfrm>
            <a:off x="477206" y="1491489"/>
            <a:ext cx="8358505" cy="283273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siguiente ejemplo se muestra una subconsulta  pareada de varias columnas con la subconsulta resaltada  en rojo y el resultado en la tabla que aparece a  continuación</a:t>
            </a:r>
            <a:endParaRPr sz="2800">
              <a:latin typeface="Calibri"/>
              <a:ea typeface="Calibri"/>
              <a:cs typeface="Calibri"/>
              <a:sym typeface="Calibri"/>
            </a:endParaRPr>
          </a:p>
          <a:p>
            <a:pPr indent="-177800" lvl="0" marL="184785" marR="1502410" rtl="0" algn="just">
              <a:lnSpc>
                <a:spcPct val="108214"/>
              </a:lnSpc>
              <a:spcBef>
                <a:spcPts val="5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consulta muestra los empleados cuyo jefe y  departamentos son los mismos que el jefe y el  departamento de los empleados 149 o 174</a:t>
            </a:r>
            <a:endParaRPr sz="2800">
              <a:latin typeface="Calibri"/>
              <a:ea typeface="Calibri"/>
              <a:cs typeface="Calibri"/>
              <a:sym typeface="Calibri"/>
            </a:endParaRPr>
          </a:p>
        </p:txBody>
      </p:sp>
      <p:graphicFrame>
        <p:nvGraphicFramePr>
          <p:cNvPr id="262" name="Google Shape;262;p31"/>
          <p:cNvGraphicFramePr/>
          <p:nvPr/>
        </p:nvGraphicFramePr>
        <p:xfrm>
          <a:off x="4834194" y="5959022"/>
          <a:ext cx="3000000" cy="3000000"/>
        </p:xfrm>
        <a:graphic>
          <a:graphicData uri="http://schemas.openxmlformats.org/drawingml/2006/table">
            <a:tbl>
              <a:tblPr bandRow="1" firstRow="1">
                <a:noFill/>
                <a:tableStyleId>{83B7AD36-68B3-487B-B142-F56C99CDFB77}</a:tableStyleId>
              </a:tblPr>
              <a:tblGrid>
                <a:gridCol w="1182375"/>
                <a:gridCol w="1477000"/>
                <a:gridCol w="1445250"/>
              </a:tblGrid>
              <a:tr h="281225">
                <a:tc>
                  <a:txBody>
                    <a:bodyPr/>
                    <a:lstStyle/>
                    <a:p>
                      <a:pPr indent="0" lvl="0" marL="660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EMPLOYEE_ID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6540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MANAGER_ID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660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DEPARTMENT_ID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3925">
                <a:tc>
                  <a:txBody>
                    <a:bodyPr/>
                    <a:lstStyle/>
                    <a:p>
                      <a:pPr indent="0" lvl="0" marL="660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176</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540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149</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60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80</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263" name="Google Shape;263;p31"/>
          <p:cNvSpPr txBox="1"/>
          <p:nvPr/>
        </p:nvSpPr>
        <p:spPr>
          <a:xfrm>
            <a:off x="397763" y="4285488"/>
            <a:ext cx="6369050" cy="1658620"/>
          </a:xfrm>
          <a:prstGeom prst="rect">
            <a:avLst/>
          </a:prstGeom>
          <a:solidFill>
            <a:srgbClr val="9DBDC4">
              <a:alpha val="49804"/>
            </a:srgbClr>
          </a:solidFill>
          <a:ln>
            <a:noFill/>
          </a:ln>
        </p:spPr>
        <p:txBody>
          <a:bodyPr anchorCtr="0" anchor="t" bIns="0" lIns="0" spcFirstLastPara="1" rIns="0" wrap="square" tIns="0">
            <a:spAutoFit/>
          </a:bodyPr>
          <a:lstStyle/>
          <a:p>
            <a:pPr indent="0" lvl="0" marL="635" marR="0" rtl="0" algn="l">
              <a:lnSpc>
                <a:spcPct val="96250"/>
              </a:lnSpc>
              <a:spcBef>
                <a:spcPts val="0"/>
              </a:spcBef>
              <a:spcAft>
                <a:spcPts val="0"/>
              </a:spcAft>
              <a:buNone/>
            </a:pPr>
            <a:r>
              <a:rPr b="1" lang="en-US" sz="1600">
                <a:solidFill>
                  <a:srgbClr val="4E3629"/>
                </a:solidFill>
                <a:latin typeface="Courier New"/>
                <a:ea typeface="Courier New"/>
                <a:cs typeface="Courier New"/>
                <a:sym typeface="Courier New"/>
              </a:rPr>
              <a:t>SELECT employee_id, manager_id, department_id</a:t>
            </a:r>
            <a:endParaRPr sz="1600">
              <a:latin typeface="Courier New"/>
              <a:ea typeface="Courier New"/>
              <a:cs typeface="Courier New"/>
              <a:sym typeface="Courier New"/>
            </a:endParaRPr>
          </a:p>
          <a:p>
            <a:pPr indent="0" lvl="0" marL="635" marR="2210435"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 employees  WHERE(manager_id,department_id) IN</a:t>
            </a:r>
            <a:endParaRPr sz="1600">
              <a:latin typeface="Courier New"/>
              <a:ea typeface="Courier New"/>
              <a:cs typeface="Courier New"/>
              <a:sym typeface="Courier New"/>
            </a:endParaRPr>
          </a:p>
          <a:p>
            <a:pPr indent="-123825" lvl="0" marL="855344" marR="1720214"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(SELECT manager_id,department_id  FROM	employees</a:t>
            </a:r>
            <a:endParaRPr sz="1600">
              <a:latin typeface="Courier New"/>
              <a:ea typeface="Courier New"/>
              <a:cs typeface="Courier New"/>
              <a:sym typeface="Courier New"/>
            </a:endParaRPr>
          </a:p>
          <a:p>
            <a:pPr indent="854710" lvl="0" marL="635" marR="1598295"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WHERE	employee_id IN (149,174))  </a:t>
            </a:r>
            <a:r>
              <a:rPr b="1" lang="en-US" sz="1600">
                <a:solidFill>
                  <a:srgbClr val="4E3629"/>
                </a:solidFill>
                <a:latin typeface="Courier New"/>
                <a:ea typeface="Courier New"/>
                <a:cs typeface="Courier New"/>
                <a:sym typeface="Courier New"/>
              </a:rPr>
              <a:t>AND employee_id NOT IN (149,174)</a:t>
            </a:r>
            <a:endParaRPr sz="16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2"/>
          <p:cNvSpPr txBox="1"/>
          <p:nvPr>
            <p:ph type="title"/>
          </p:nvPr>
        </p:nvSpPr>
        <p:spPr>
          <a:xfrm>
            <a:off x="392112" y="748031"/>
            <a:ext cx="5670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Subconsultas de Varias Columnas</a:t>
            </a:r>
            <a:endParaRPr sz="3300"/>
          </a:p>
        </p:txBody>
      </p:sp>
      <p:sp>
        <p:nvSpPr>
          <p:cNvPr id="269" name="Google Shape;269;p32"/>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270" name="Google Shape;270;p3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lnSpc>
                <a:spcPct val="104499"/>
              </a:lnSpc>
              <a:spcBef>
                <a:spcPts val="0"/>
              </a:spcBef>
              <a:spcAft>
                <a:spcPts val="0"/>
              </a:spcAft>
              <a:buNone/>
            </a:pPr>
            <a:fld id="{00000000-1234-1234-1234-123412341234}" type="slidenum">
              <a:rPr lang="en-US"/>
              <a:t>‹#›</a:t>
            </a:fld>
            <a:endParaRPr/>
          </a:p>
        </p:txBody>
      </p:sp>
      <p:sp>
        <p:nvSpPr>
          <p:cNvPr id="271" name="Google Shape;271;p3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2" name="Google Shape;272;p32"/>
          <p:cNvSpPr txBox="1"/>
          <p:nvPr>
            <p:ph idx="1" type="body"/>
          </p:nvPr>
        </p:nvSpPr>
        <p:spPr>
          <a:xfrm>
            <a:off x="477207" y="1491489"/>
            <a:ext cx="3688800" cy="468870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1200"/>
              </a:spcAft>
              <a:buClr>
                <a:srgbClr val="D1350F"/>
              </a:buClr>
              <a:buSzPts val="2800"/>
              <a:buFont typeface="Arial"/>
              <a:buChar char="•"/>
            </a:pPr>
            <a:r>
              <a:rPr lang="en-US"/>
              <a:t>La consulta de varias  columnas pareada  también utiliza más de  una columna en la  subconsulta, pero las  compara de una en una,  por lo que las  comparaciones se  producen en distintas  subconsultas</a:t>
            </a:r>
            <a:endParaRPr/>
          </a:p>
        </p:txBody>
      </p:sp>
      <p:graphicFrame>
        <p:nvGraphicFramePr>
          <p:cNvPr id="273" name="Google Shape;273;p32"/>
          <p:cNvGraphicFramePr/>
          <p:nvPr/>
        </p:nvGraphicFramePr>
        <p:xfrm>
          <a:off x="4436610" y="5710561"/>
          <a:ext cx="3000000" cy="3000000"/>
        </p:xfrm>
        <a:graphic>
          <a:graphicData uri="http://schemas.openxmlformats.org/drawingml/2006/table">
            <a:tbl>
              <a:tblPr bandRow="1" firstRow="1">
                <a:noFill/>
                <a:tableStyleId>{83B7AD36-68B3-487B-B142-F56C99CDFB77}</a:tableStyleId>
              </a:tblPr>
              <a:tblGrid>
                <a:gridCol w="1182375"/>
                <a:gridCol w="1477000"/>
                <a:gridCol w="1445250"/>
              </a:tblGrid>
              <a:tr h="281225">
                <a:tc>
                  <a:txBody>
                    <a:bodyPr/>
                    <a:lstStyle/>
                    <a:p>
                      <a:pPr indent="0" lvl="0" marL="660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EMPLOYEE_ID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6540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MANAGER_ID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660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DEPARTMENT_ID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3925">
                <a:tc>
                  <a:txBody>
                    <a:bodyPr/>
                    <a:lstStyle/>
                    <a:p>
                      <a:pPr indent="0" lvl="0" marL="660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176</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540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149</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60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80</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274" name="Google Shape;274;p32"/>
          <p:cNvSpPr txBox="1"/>
          <p:nvPr/>
        </p:nvSpPr>
        <p:spPr>
          <a:xfrm>
            <a:off x="4265676" y="1524000"/>
            <a:ext cx="4480560" cy="4110354"/>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7222"/>
              </a:lnSpc>
              <a:spcBef>
                <a:spcPts val="0"/>
              </a:spcBef>
              <a:spcAft>
                <a:spcPts val="0"/>
              </a:spcAft>
              <a:buNone/>
            </a:pPr>
            <a:r>
              <a:rPr b="1" lang="en-US" sz="1800">
                <a:solidFill>
                  <a:srgbClr val="4E3629"/>
                </a:solidFill>
                <a:latin typeface="Courier New"/>
                <a:ea typeface="Courier New"/>
                <a:cs typeface="Courier New"/>
                <a:sym typeface="Courier New"/>
              </a:rPr>
              <a:t>SELECT	employee_id,</a:t>
            </a:r>
            <a:endParaRPr sz="1800">
              <a:latin typeface="Courier New"/>
              <a:ea typeface="Courier New"/>
              <a:cs typeface="Courier New"/>
              <a:sym typeface="Courier New"/>
            </a:endParaRPr>
          </a:p>
          <a:p>
            <a:pPr indent="0" lvl="0" marL="1092200" marR="16046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manager_id,  department_id</a:t>
            </a:r>
            <a:endParaRPr sz="1800">
              <a:latin typeface="Courier New"/>
              <a:ea typeface="Courier New"/>
              <a:cs typeface="Courier New"/>
              <a:sym typeface="Courier New"/>
            </a:endParaRPr>
          </a:p>
          <a:p>
            <a:pPr indent="0" lvl="0" marL="0" marR="17437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	manager_id IN</a:t>
            </a:r>
            <a:endParaRPr sz="1800">
              <a:latin typeface="Courier New"/>
              <a:ea typeface="Courier New"/>
              <a:cs typeface="Courier New"/>
              <a:sym typeface="Courier New"/>
            </a:endParaRPr>
          </a:p>
          <a:p>
            <a:pPr indent="0" lvl="0" marL="546735" marR="925194"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(SELECT		manager_id  FROM	employees  WHERE	employee_id IN</a:t>
            </a:r>
            <a:endParaRPr sz="1800">
              <a:latin typeface="Courier New"/>
              <a:ea typeface="Courier New"/>
              <a:cs typeface="Courier New"/>
              <a:sym typeface="Courier New"/>
            </a:endParaRPr>
          </a:p>
          <a:p>
            <a:pPr indent="0" lvl="0" marL="1828164" marR="0"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(149,174))</a:t>
            </a:r>
            <a:endParaRPr sz="1800">
              <a:latin typeface="Courier New"/>
              <a:ea typeface="Courier New"/>
              <a:cs typeface="Courier New"/>
              <a:sym typeface="Courier New"/>
            </a:endParaRPr>
          </a:p>
          <a:p>
            <a:pPr indent="-546735" lvl="0" marL="546735" marR="925194"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AND		department_id IN  </a:t>
            </a:r>
            <a:r>
              <a:rPr b="1" lang="en-US" sz="1800">
                <a:solidFill>
                  <a:srgbClr val="D1350F"/>
                </a:solidFill>
                <a:latin typeface="Courier New"/>
                <a:ea typeface="Courier New"/>
                <a:cs typeface="Courier New"/>
                <a:sym typeface="Courier New"/>
              </a:rPr>
              <a:t>(SELECT		department_id  FROM	employees  WHERE	employee_id IN</a:t>
            </a:r>
            <a:endParaRPr sz="1800">
              <a:latin typeface="Courier New"/>
              <a:ea typeface="Courier New"/>
              <a:cs typeface="Courier New"/>
              <a:sym typeface="Courier New"/>
            </a:endParaRPr>
          </a:p>
          <a:p>
            <a:pPr indent="0" lvl="0" marL="1828164" marR="0"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(149,174))</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AND employee_id NOT IN(149,174);</a:t>
            </a:r>
            <a:endParaRPr sz="18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3"/>
          <p:cNvSpPr txBox="1"/>
          <p:nvPr>
            <p:ph type="title"/>
          </p:nvPr>
        </p:nvSpPr>
        <p:spPr>
          <a:xfrm>
            <a:off x="392112" y="748031"/>
            <a:ext cx="5670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Subconsultas de Varias Columnas</a:t>
            </a:r>
            <a:endParaRPr sz="3300"/>
          </a:p>
        </p:txBody>
      </p:sp>
      <p:sp>
        <p:nvSpPr>
          <p:cNvPr id="280" name="Google Shape;280;p33"/>
          <p:cNvSpPr txBox="1"/>
          <p:nvPr/>
        </p:nvSpPr>
        <p:spPr>
          <a:xfrm>
            <a:off x="477206" y="1491489"/>
            <a:ext cx="4356100" cy="43954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Tendrá que escribir una  subconsulta por columna  con la que desee comparar  al realizar subconsultas de  varias columnas no pareadas</a:t>
            </a:r>
            <a:endParaRPr sz="2800">
              <a:latin typeface="Calibri"/>
              <a:ea typeface="Calibri"/>
              <a:cs typeface="Calibri"/>
              <a:sym typeface="Calibri"/>
            </a:endParaRPr>
          </a:p>
          <a:p>
            <a:pPr indent="-177800" lvl="0" marL="184785" marR="14986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de la derecha  se muestra una subconsulta  no pareada de varias  columnas con las  subconsultas resaltadas en  rojo</a:t>
            </a:r>
            <a:endParaRPr sz="2800">
              <a:latin typeface="Calibri"/>
              <a:ea typeface="Calibri"/>
              <a:cs typeface="Calibri"/>
              <a:sym typeface="Calibri"/>
            </a:endParaRPr>
          </a:p>
        </p:txBody>
      </p:sp>
      <p:graphicFrame>
        <p:nvGraphicFramePr>
          <p:cNvPr id="281" name="Google Shape;281;p33"/>
          <p:cNvGraphicFramePr/>
          <p:nvPr/>
        </p:nvGraphicFramePr>
        <p:xfrm>
          <a:off x="4929136" y="5706931"/>
          <a:ext cx="3000000" cy="3000000"/>
        </p:xfrm>
        <a:graphic>
          <a:graphicData uri="http://schemas.openxmlformats.org/drawingml/2006/table">
            <a:tbl>
              <a:tblPr bandRow="1" firstRow="1">
                <a:noFill/>
                <a:tableStyleId>{83B7AD36-68B3-487B-B142-F56C99CDFB77}</a:tableStyleId>
              </a:tblPr>
              <a:tblGrid>
                <a:gridCol w="1182375"/>
                <a:gridCol w="1477000"/>
                <a:gridCol w="1445250"/>
              </a:tblGrid>
              <a:tr h="281225">
                <a:tc>
                  <a:txBody>
                    <a:bodyPr/>
                    <a:lstStyle/>
                    <a:p>
                      <a:pPr indent="0" lvl="0" marL="660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EMPLOYEE_ID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6540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MANAGER_ID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660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DEPARTMENT_ID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3925">
                <a:tc>
                  <a:txBody>
                    <a:bodyPr/>
                    <a:lstStyle/>
                    <a:p>
                      <a:pPr indent="0" lvl="0" marL="660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176</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540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149</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60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80</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282" name="Google Shape;282;p33"/>
          <p:cNvSpPr/>
          <p:nvPr/>
        </p:nvSpPr>
        <p:spPr>
          <a:xfrm>
            <a:off x="4942332" y="1513332"/>
            <a:ext cx="4104640" cy="4110354"/>
          </a:xfrm>
          <a:custGeom>
            <a:rect b="b" l="l" r="r" t="t"/>
            <a:pathLst>
              <a:path extrusionOk="0" h="4110354" w="4104640">
                <a:moveTo>
                  <a:pt x="4104132" y="0"/>
                </a:moveTo>
                <a:lnTo>
                  <a:pt x="0" y="0"/>
                </a:lnTo>
                <a:lnTo>
                  <a:pt x="0" y="4110228"/>
                </a:lnTo>
                <a:lnTo>
                  <a:pt x="4104132" y="4110228"/>
                </a:lnTo>
                <a:lnTo>
                  <a:pt x="4104132" y="0"/>
                </a:lnTo>
                <a:close/>
              </a:path>
            </a:pathLst>
          </a:custGeom>
          <a:solidFill>
            <a:srgbClr val="9DBDC4">
              <a:alpha val="49804"/>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83" name="Google Shape;283;p33"/>
          <p:cNvSpPr txBox="1"/>
          <p:nvPr/>
        </p:nvSpPr>
        <p:spPr>
          <a:xfrm>
            <a:off x="4929356" y="1704377"/>
            <a:ext cx="75628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SELECT</a:t>
            </a:r>
            <a:endParaRPr sz="1600">
              <a:latin typeface="Courier New"/>
              <a:ea typeface="Courier New"/>
              <a:cs typeface="Courier New"/>
              <a:sym typeface="Courier New"/>
            </a:endParaRPr>
          </a:p>
        </p:txBody>
      </p:sp>
      <p:sp>
        <p:nvSpPr>
          <p:cNvPr id="284" name="Google Shape;284;p33"/>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285" name="Google Shape;285;p3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6" name="Google Shape;286;p3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7" name="Google Shape;287;p33"/>
          <p:cNvSpPr txBox="1"/>
          <p:nvPr/>
        </p:nvSpPr>
        <p:spPr>
          <a:xfrm>
            <a:off x="4929356" y="2435893"/>
            <a:ext cx="51308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FROM</a:t>
            </a:r>
            <a:endParaRPr sz="1600">
              <a:latin typeface="Courier New"/>
              <a:ea typeface="Courier New"/>
              <a:cs typeface="Courier New"/>
              <a:sym typeface="Courier New"/>
            </a:endParaRPr>
          </a:p>
        </p:txBody>
      </p:sp>
      <p:sp>
        <p:nvSpPr>
          <p:cNvPr id="288" name="Google Shape;288;p33"/>
          <p:cNvSpPr txBox="1"/>
          <p:nvPr/>
        </p:nvSpPr>
        <p:spPr>
          <a:xfrm>
            <a:off x="4929356" y="2679731"/>
            <a:ext cx="63500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WHERE</a:t>
            </a:r>
            <a:endParaRPr sz="1600">
              <a:latin typeface="Courier New"/>
              <a:ea typeface="Courier New"/>
              <a:cs typeface="Courier New"/>
              <a:sym typeface="Courier New"/>
            </a:endParaRPr>
          </a:p>
        </p:txBody>
      </p:sp>
      <p:sp>
        <p:nvSpPr>
          <p:cNvPr id="289" name="Google Shape;289;p33"/>
          <p:cNvSpPr txBox="1"/>
          <p:nvPr/>
        </p:nvSpPr>
        <p:spPr>
          <a:xfrm>
            <a:off x="5784311" y="1704377"/>
            <a:ext cx="1734820" cy="1244600"/>
          </a:xfrm>
          <a:prstGeom prst="rect">
            <a:avLst/>
          </a:prstGeom>
          <a:noFill/>
          <a:ln>
            <a:noFill/>
          </a:ln>
        </p:spPr>
        <p:txBody>
          <a:bodyPr anchorCtr="0" anchor="t" bIns="0" lIns="0" spcFirstLastPara="1" rIns="0" wrap="square" tIns="12050">
            <a:spAutoFit/>
          </a:bodyPr>
          <a:lstStyle/>
          <a:p>
            <a:pPr indent="121920" lvl="0" marL="12700" marR="508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employee_id,  manager_id,  department_id  employees  manager_id IN</a:t>
            </a:r>
            <a:endParaRPr sz="1600">
              <a:latin typeface="Courier New"/>
              <a:ea typeface="Courier New"/>
              <a:cs typeface="Courier New"/>
              <a:sym typeface="Courier New"/>
            </a:endParaRPr>
          </a:p>
        </p:txBody>
      </p:sp>
      <p:sp>
        <p:nvSpPr>
          <p:cNvPr id="290" name="Google Shape;290;p33"/>
          <p:cNvSpPr txBox="1"/>
          <p:nvPr/>
        </p:nvSpPr>
        <p:spPr>
          <a:xfrm>
            <a:off x="5417033" y="2923570"/>
            <a:ext cx="880110" cy="75692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(SELECT  FROM  WHERE</a:t>
            </a:r>
            <a:endParaRPr sz="1600">
              <a:latin typeface="Courier New"/>
              <a:ea typeface="Courier New"/>
              <a:cs typeface="Courier New"/>
              <a:sym typeface="Courier New"/>
            </a:endParaRPr>
          </a:p>
        </p:txBody>
      </p:sp>
      <p:sp>
        <p:nvSpPr>
          <p:cNvPr id="291" name="Google Shape;291;p33"/>
          <p:cNvSpPr txBox="1"/>
          <p:nvPr/>
        </p:nvSpPr>
        <p:spPr>
          <a:xfrm>
            <a:off x="6394799" y="2923570"/>
            <a:ext cx="1736089" cy="756920"/>
          </a:xfrm>
          <a:prstGeom prst="rect">
            <a:avLst/>
          </a:prstGeom>
          <a:noFill/>
          <a:ln>
            <a:noFill/>
          </a:ln>
        </p:spPr>
        <p:txBody>
          <a:bodyPr anchorCtr="0" anchor="t" bIns="0" lIns="0" spcFirstLastPara="1" rIns="0" wrap="square" tIns="12050">
            <a:spAutoFit/>
          </a:bodyPr>
          <a:lstStyle/>
          <a:p>
            <a:pPr indent="122555" lvl="0" marL="12700" marR="508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manager_id  employees  employee_id IN</a:t>
            </a:r>
            <a:endParaRPr sz="1600">
              <a:latin typeface="Courier New"/>
              <a:ea typeface="Courier New"/>
              <a:cs typeface="Courier New"/>
              <a:sym typeface="Courier New"/>
            </a:endParaRPr>
          </a:p>
        </p:txBody>
      </p:sp>
      <p:sp>
        <p:nvSpPr>
          <p:cNvPr id="292" name="Google Shape;292;p33"/>
          <p:cNvSpPr txBox="1"/>
          <p:nvPr/>
        </p:nvSpPr>
        <p:spPr>
          <a:xfrm>
            <a:off x="4929356" y="3898924"/>
            <a:ext cx="39116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AND</a:t>
            </a:r>
            <a:endParaRPr sz="1600">
              <a:latin typeface="Courier New"/>
              <a:ea typeface="Courier New"/>
              <a:cs typeface="Courier New"/>
              <a:sym typeface="Courier New"/>
            </a:endParaRPr>
          </a:p>
        </p:txBody>
      </p:sp>
      <p:sp>
        <p:nvSpPr>
          <p:cNvPr id="293" name="Google Shape;293;p33"/>
          <p:cNvSpPr txBox="1"/>
          <p:nvPr/>
        </p:nvSpPr>
        <p:spPr>
          <a:xfrm>
            <a:off x="5784311" y="3655085"/>
            <a:ext cx="1979295" cy="513080"/>
          </a:xfrm>
          <a:prstGeom prst="rect">
            <a:avLst/>
          </a:prstGeom>
          <a:noFill/>
          <a:ln>
            <a:noFill/>
          </a:ln>
        </p:spPr>
        <p:txBody>
          <a:bodyPr anchorCtr="0" anchor="t" bIns="0" lIns="0" spcFirstLastPara="1" rIns="0" wrap="square" tIns="12050">
            <a:spAutoFit/>
          </a:bodyPr>
          <a:lstStyle/>
          <a:p>
            <a:pPr indent="0" lvl="0" marL="193675" marR="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(149,174))</a:t>
            </a:r>
            <a:endParaRPr sz="1600">
              <a:latin typeface="Courier New"/>
              <a:ea typeface="Courier New"/>
              <a:cs typeface="Courier New"/>
              <a:sym typeface="Courier New"/>
            </a:endParaRPr>
          </a:p>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department_id IN</a:t>
            </a:r>
            <a:endParaRPr sz="1600">
              <a:latin typeface="Courier New"/>
              <a:ea typeface="Courier New"/>
              <a:cs typeface="Courier New"/>
              <a:sym typeface="Courier New"/>
            </a:endParaRPr>
          </a:p>
        </p:txBody>
      </p:sp>
      <p:sp>
        <p:nvSpPr>
          <p:cNvPr id="294" name="Google Shape;294;p33"/>
          <p:cNvSpPr txBox="1"/>
          <p:nvPr/>
        </p:nvSpPr>
        <p:spPr>
          <a:xfrm>
            <a:off x="5417033" y="4142763"/>
            <a:ext cx="880110" cy="75692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(SELECT  FROM  WHERE</a:t>
            </a:r>
            <a:endParaRPr sz="1600">
              <a:latin typeface="Courier New"/>
              <a:ea typeface="Courier New"/>
              <a:cs typeface="Courier New"/>
              <a:sym typeface="Courier New"/>
            </a:endParaRPr>
          </a:p>
        </p:txBody>
      </p:sp>
      <p:sp>
        <p:nvSpPr>
          <p:cNvPr id="295" name="Google Shape;295;p33"/>
          <p:cNvSpPr txBox="1"/>
          <p:nvPr/>
        </p:nvSpPr>
        <p:spPr>
          <a:xfrm>
            <a:off x="6394799" y="4142763"/>
            <a:ext cx="1736089" cy="756920"/>
          </a:xfrm>
          <a:prstGeom prst="rect">
            <a:avLst/>
          </a:prstGeom>
          <a:noFill/>
          <a:ln>
            <a:noFill/>
          </a:ln>
        </p:spPr>
        <p:txBody>
          <a:bodyPr anchorCtr="0" anchor="t" bIns="0" lIns="0" spcFirstLastPara="1" rIns="0" wrap="square" tIns="12050">
            <a:spAutoFit/>
          </a:bodyPr>
          <a:lstStyle/>
          <a:p>
            <a:pPr indent="122555" lvl="0" marL="12700" marR="508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department_id  employees  employee_id IN</a:t>
            </a:r>
            <a:endParaRPr sz="1600">
              <a:latin typeface="Courier New"/>
              <a:ea typeface="Courier New"/>
              <a:cs typeface="Courier New"/>
              <a:sym typeface="Courier New"/>
            </a:endParaRPr>
          </a:p>
        </p:txBody>
      </p:sp>
      <p:sp>
        <p:nvSpPr>
          <p:cNvPr id="296" name="Google Shape;296;p33"/>
          <p:cNvSpPr txBox="1"/>
          <p:nvPr/>
        </p:nvSpPr>
        <p:spPr>
          <a:xfrm>
            <a:off x="4929356" y="4874278"/>
            <a:ext cx="3933190" cy="513080"/>
          </a:xfrm>
          <a:prstGeom prst="rect">
            <a:avLst/>
          </a:prstGeom>
          <a:noFill/>
          <a:ln>
            <a:noFill/>
          </a:ln>
        </p:spPr>
        <p:txBody>
          <a:bodyPr anchorCtr="0" anchor="t" bIns="0" lIns="0" spcFirstLastPara="1" rIns="0" wrap="square" tIns="12050">
            <a:spAutoFit/>
          </a:bodyPr>
          <a:lstStyle/>
          <a:p>
            <a:pPr indent="0" lvl="0" marL="926465" marR="0" rtl="0" algn="l">
              <a:lnSpc>
                <a:spcPct val="100000"/>
              </a:lnSpc>
              <a:spcBef>
                <a:spcPts val="0"/>
              </a:spcBef>
              <a:spcAft>
                <a:spcPts val="0"/>
              </a:spcAft>
              <a:buNone/>
            </a:pPr>
            <a:r>
              <a:rPr b="1" lang="en-US" sz="1600">
                <a:solidFill>
                  <a:srgbClr val="D1350F"/>
                </a:solidFill>
                <a:latin typeface="Courier New"/>
                <a:ea typeface="Courier New"/>
                <a:cs typeface="Courier New"/>
                <a:sym typeface="Courier New"/>
              </a:rPr>
              <a:t>(149,174))</a:t>
            </a:r>
            <a:endParaRPr sz="1600">
              <a:latin typeface="Courier New"/>
              <a:ea typeface="Courier New"/>
              <a:cs typeface="Courier New"/>
              <a:sym typeface="Courier New"/>
            </a:endParaRPr>
          </a:p>
          <a:p>
            <a:pPr indent="0" lvl="0" marL="12700" marR="0" rtl="0" algn="l">
              <a:lnSpc>
                <a:spcPct val="100000"/>
              </a:lnSpc>
              <a:spcBef>
                <a:spcPts val="0"/>
              </a:spcBef>
              <a:spcAft>
                <a:spcPts val="0"/>
              </a:spcAft>
              <a:buNone/>
            </a:pPr>
            <a:r>
              <a:rPr b="1" lang="en-US" sz="1600">
                <a:solidFill>
                  <a:srgbClr val="4E3629"/>
                </a:solidFill>
                <a:latin typeface="Courier New"/>
                <a:ea typeface="Courier New"/>
                <a:cs typeface="Courier New"/>
                <a:sym typeface="Courier New"/>
              </a:rPr>
              <a:t>AND employee_id NOT IN(149,174);</a:t>
            </a:r>
            <a:endParaRPr sz="16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4"/>
          <p:cNvSpPr txBox="1"/>
          <p:nvPr>
            <p:ph type="title"/>
          </p:nvPr>
        </p:nvSpPr>
        <p:spPr>
          <a:xfrm>
            <a:off x="392112" y="748031"/>
            <a:ext cx="5670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Subconsultas de Varias Columnas</a:t>
            </a:r>
            <a:endParaRPr sz="3300"/>
          </a:p>
        </p:txBody>
      </p:sp>
      <p:sp>
        <p:nvSpPr>
          <p:cNvPr id="302" name="Google Shape;302;p34"/>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303" name="Google Shape;303;p3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4" name="Google Shape;304;p3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5" name="Google Shape;305;p34"/>
          <p:cNvSpPr txBox="1"/>
          <p:nvPr/>
        </p:nvSpPr>
        <p:spPr>
          <a:xfrm>
            <a:off x="477206" y="1491489"/>
            <a:ext cx="3844290" cy="198882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consulta muestra los  empleados que tienen el  mismo manager_id y  department_id que los  empleados 149 o 174</a:t>
            </a:r>
            <a:endParaRPr sz="2800">
              <a:latin typeface="Calibri"/>
              <a:ea typeface="Calibri"/>
              <a:cs typeface="Calibri"/>
              <a:sym typeface="Calibri"/>
            </a:endParaRPr>
          </a:p>
        </p:txBody>
      </p:sp>
      <p:sp>
        <p:nvSpPr>
          <p:cNvPr id="306" name="Google Shape;306;p34"/>
          <p:cNvSpPr txBox="1"/>
          <p:nvPr/>
        </p:nvSpPr>
        <p:spPr>
          <a:xfrm>
            <a:off x="728790" y="4183466"/>
            <a:ext cx="1318895"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rgbClr val="FF0000"/>
                </a:solidFill>
                <a:latin typeface="Calibri"/>
                <a:ea typeface="Calibri"/>
                <a:cs typeface="Calibri"/>
                <a:sym typeface="Calibri"/>
              </a:rPr>
              <a:t>Resultado de la  1ª subconsulta</a:t>
            </a:r>
            <a:endParaRPr sz="1600">
              <a:latin typeface="Calibri"/>
              <a:ea typeface="Calibri"/>
              <a:cs typeface="Calibri"/>
              <a:sym typeface="Calibri"/>
            </a:endParaRPr>
          </a:p>
        </p:txBody>
      </p:sp>
      <p:sp>
        <p:nvSpPr>
          <p:cNvPr id="307" name="Google Shape;307;p34"/>
          <p:cNvSpPr txBox="1"/>
          <p:nvPr/>
        </p:nvSpPr>
        <p:spPr>
          <a:xfrm>
            <a:off x="2560315" y="4183466"/>
            <a:ext cx="1318895"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rgbClr val="FF0000"/>
                </a:solidFill>
                <a:latin typeface="Calibri"/>
                <a:ea typeface="Calibri"/>
                <a:cs typeface="Calibri"/>
                <a:sym typeface="Calibri"/>
              </a:rPr>
              <a:t>Resultado de la  2ª subconsulta</a:t>
            </a:r>
            <a:endParaRPr sz="1600">
              <a:latin typeface="Calibri"/>
              <a:ea typeface="Calibri"/>
              <a:cs typeface="Calibri"/>
              <a:sym typeface="Calibri"/>
            </a:endParaRPr>
          </a:p>
        </p:txBody>
      </p:sp>
      <p:graphicFrame>
        <p:nvGraphicFramePr>
          <p:cNvPr id="308" name="Google Shape;308;p34"/>
          <p:cNvGraphicFramePr/>
          <p:nvPr/>
        </p:nvGraphicFramePr>
        <p:xfrm>
          <a:off x="4495831" y="5814278"/>
          <a:ext cx="3000000" cy="3000000"/>
        </p:xfrm>
        <a:graphic>
          <a:graphicData uri="http://schemas.openxmlformats.org/drawingml/2006/table">
            <a:tbl>
              <a:tblPr bandRow="1" firstRow="1">
                <a:noFill/>
                <a:tableStyleId>{83B7AD36-68B3-487B-B142-F56C99CDFB77}</a:tableStyleId>
              </a:tblPr>
              <a:tblGrid>
                <a:gridCol w="1182375"/>
                <a:gridCol w="1477000"/>
                <a:gridCol w="1445250"/>
              </a:tblGrid>
              <a:tr h="281225">
                <a:tc>
                  <a:txBody>
                    <a:bodyPr/>
                    <a:lstStyle/>
                    <a:p>
                      <a:pPr indent="0" lvl="0" marL="6540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EMPLOYEE_ID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6540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MANAGER_ID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660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DEPARTMENT_ID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3925">
                <a:tc>
                  <a:txBody>
                    <a:bodyPr/>
                    <a:lstStyle/>
                    <a:p>
                      <a:pPr indent="0" lvl="0" marL="6540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176</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540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149</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60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80</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309" name="Google Shape;309;p34"/>
          <p:cNvGraphicFramePr/>
          <p:nvPr/>
        </p:nvGraphicFramePr>
        <p:xfrm>
          <a:off x="2553920" y="4876996"/>
          <a:ext cx="3000000" cy="3000000"/>
        </p:xfrm>
        <a:graphic>
          <a:graphicData uri="http://schemas.openxmlformats.org/drawingml/2006/table">
            <a:tbl>
              <a:tblPr bandRow="1" firstRow="1">
                <a:noFill/>
                <a:tableStyleId>{83B7AD36-68B3-487B-B142-F56C99CDFB77}</a:tableStyleId>
              </a:tblPr>
              <a:tblGrid>
                <a:gridCol w="1480825"/>
              </a:tblGrid>
              <a:tr h="281225">
                <a:tc>
                  <a:txBody>
                    <a:bodyPr/>
                    <a:lstStyle/>
                    <a:p>
                      <a:pPr indent="0" lvl="0" marL="6540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DEPARTMENT_ID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3925">
                <a:tc>
                  <a:txBody>
                    <a:bodyPr/>
                    <a:lstStyle/>
                    <a:p>
                      <a:pPr indent="0" lvl="0" marL="6540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80</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3925">
                <a:tc>
                  <a:txBody>
                    <a:bodyPr/>
                    <a:lstStyle/>
                    <a:p>
                      <a:pPr indent="0" lvl="0" marL="6540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80</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310" name="Google Shape;310;p34"/>
          <p:cNvGraphicFramePr/>
          <p:nvPr/>
        </p:nvGraphicFramePr>
        <p:xfrm>
          <a:off x="721032" y="4857700"/>
          <a:ext cx="3000000" cy="3000000"/>
        </p:xfrm>
        <a:graphic>
          <a:graphicData uri="http://schemas.openxmlformats.org/drawingml/2006/table">
            <a:tbl>
              <a:tblPr bandRow="1" firstRow="1">
                <a:noFill/>
                <a:tableStyleId>{83B7AD36-68B3-487B-B142-F56C99CDFB77}</a:tableStyleId>
              </a:tblPr>
              <a:tblGrid>
                <a:gridCol w="1477000"/>
              </a:tblGrid>
              <a:tr h="281250">
                <a:tc>
                  <a:txBody>
                    <a:bodyPr/>
                    <a:lstStyle/>
                    <a:p>
                      <a:pPr indent="0" lvl="0" marL="6604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MANAGER_ID</a:t>
                      </a:r>
                      <a:endParaRPr sz="14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73925">
                <a:tc>
                  <a:txBody>
                    <a:bodyPr/>
                    <a:lstStyle/>
                    <a:p>
                      <a:pPr indent="0" lvl="0" marL="660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100</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73925">
                <a:tc>
                  <a:txBody>
                    <a:bodyPr/>
                    <a:lstStyle/>
                    <a:p>
                      <a:pPr indent="0" lvl="0" marL="6604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149</a:t>
                      </a:r>
                      <a:endParaRPr sz="1400" u="none" cap="none" strike="noStrike">
                        <a:latin typeface="Calibri"/>
                        <a:ea typeface="Calibri"/>
                        <a:cs typeface="Calibri"/>
                        <a:sym typeface="Calibri"/>
                      </a:endParaRPr>
                    </a:p>
                  </a:txBody>
                  <a:tcPr marT="19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311" name="Google Shape;311;p34"/>
          <p:cNvSpPr txBox="1"/>
          <p:nvPr/>
        </p:nvSpPr>
        <p:spPr>
          <a:xfrm>
            <a:off x="4480559" y="1601724"/>
            <a:ext cx="4479290" cy="4110354"/>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7222"/>
              </a:lnSpc>
              <a:spcBef>
                <a:spcPts val="0"/>
              </a:spcBef>
              <a:spcAft>
                <a:spcPts val="0"/>
              </a:spcAft>
              <a:buNone/>
            </a:pPr>
            <a:r>
              <a:rPr b="1" lang="en-US" sz="1800">
                <a:solidFill>
                  <a:srgbClr val="4E3629"/>
                </a:solidFill>
                <a:latin typeface="Courier New"/>
                <a:ea typeface="Courier New"/>
                <a:cs typeface="Courier New"/>
                <a:sym typeface="Courier New"/>
              </a:rPr>
              <a:t>SELECT	employee_id,</a:t>
            </a:r>
            <a:endParaRPr sz="1800">
              <a:latin typeface="Courier New"/>
              <a:ea typeface="Courier New"/>
              <a:cs typeface="Courier New"/>
              <a:sym typeface="Courier New"/>
            </a:endParaRPr>
          </a:p>
          <a:p>
            <a:pPr indent="0" lvl="0" marL="1091565" marR="16033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manager_id,  department_id</a:t>
            </a:r>
            <a:endParaRPr sz="1800">
              <a:latin typeface="Courier New"/>
              <a:ea typeface="Courier New"/>
              <a:cs typeface="Courier New"/>
              <a:sym typeface="Courier New"/>
            </a:endParaRPr>
          </a:p>
          <a:p>
            <a:pPr indent="0" lvl="0" marL="0" marR="1742439"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	manager_id IN</a:t>
            </a:r>
            <a:endParaRPr sz="1800">
              <a:latin typeface="Courier New"/>
              <a:ea typeface="Courier New"/>
              <a:cs typeface="Courier New"/>
              <a:sym typeface="Courier New"/>
            </a:endParaRPr>
          </a:p>
          <a:p>
            <a:pPr indent="0" lvl="0" marL="546100" marR="923925"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(SELECT		manager_id  FROM	employees  WHERE	employee_id IN</a:t>
            </a:r>
            <a:endParaRPr sz="1800">
              <a:latin typeface="Courier New"/>
              <a:ea typeface="Courier New"/>
              <a:cs typeface="Courier New"/>
              <a:sym typeface="Courier New"/>
            </a:endParaRPr>
          </a:p>
          <a:p>
            <a:pPr indent="0" lvl="0" marL="1828164" marR="0"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(149,174))</a:t>
            </a:r>
            <a:endParaRPr sz="1800">
              <a:latin typeface="Courier New"/>
              <a:ea typeface="Courier New"/>
              <a:cs typeface="Courier New"/>
              <a:sym typeface="Courier New"/>
            </a:endParaRPr>
          </a:p>
          <a:p>
            <a:pPr indent="-546100" lvl="0" marL="546100" marR="9239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AND		department_id IN  </a:t>
            </a:r>
            <a:r>
              <a:rPr b="1" lang="en-US" sz="1800">
                <a:solidFill>
                  <a:srgbClr val="D1350F"/>
                </a:solidFill>
                <a:latin typeface="Courier New"/>
                <a:ea typeface="Courier New"/>
                <a:cs typeface="Courier New"/>
                <a:sym typeface="Courier New"/>
              </a:rPr>
              <a:t>(SELECT		department_id  FROM	employees  WHERE	employee_id IN</a:t>
            </a:r>
            <a:endParaRPr sz="1800">
              <a:latin typeface="Courier New"/>
              <a:ea typeface="Courier New"/>
              <a:cs typeface="Courier New"/>
              <a:sym typeface="Courier New"/>
            </a:endParaRPr>
          </a:p>
          <a:p>
            <a:pPr indent="0" lvl="0" marL="1828164" marR="0" rtl="0" algn="l">
              <a:lnSpc>
                <a:spcPct val="100000"/>
              </a:lnSpc>
              <a:spcBef>
                <a:spcPts val="0"/>
              </a:spcBef>
              <a:spcAft>
                <a:spcPts val="0"/>
              </a:spcAft>
              <a:buNone/>
            </a:pPr>
            <a:r>
              <a:rPr b="1" lang="en-US" sz="1800">
                <a:solidFill>
                  <a:srgbClr val="D1350F"/>
                </a:solidFill>
                <a:latin typeface="Courier New"/>
                <a:ea typeface="Courier New"/>
                <a:cs typeface="Courier New"/>
                <a:sym typeface="Courier New"/>
              </a:rPr>
              <a:t>(149,174))</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AND employee_id NOT IN(149,174);</a:t>
            </a:r>
            <a:endParaRPr sz="18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392112" y="748031"/>
            <a:ext cx="6795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Un Último Punto sobre las Subconsultas</a:t>
            </a:r>
            <a:endParaRPr sz="3300"/>
          </a:p>
        </p:txBody>
      </p:sp>
      <p:sp>
        <p:nvSpPr>
          <p:cNvPr id="317" name="Google Shape;317;p35"/>
          <p:cNvSpPr txBox="1"/>
          <p:nvPr/>
        </p:nvSpPr>
        <p:spPr>
          <a:xfrm>
            <a:off x="2633153" y="6194135"/>
            <a:ext cx="2371090" cy="228600"/>
          </a:xfrm>
          <a:prstGeom prst="rect">
            <a:avLst/>
          </a:prstGeom>
          <a:noFill/>
          <a:ln>
            <a:noFill/>
          </a:ln>
        </p:spPr>
        <p:txBody>
          <a:bodyPr anchorCtr="0" anchor="t" bIns="0" lIns="0" spcFirstLastPara="1" rIns="0" wrap="square" tIns="0">
            <a:spAutoFit/>
          </a:bodyPr>
          <a:lstStyle/>
          <a:p>
            <a:pPr indent="0" lvl="0" marL="12700" marR="0" rtl="0" algn="l">
              <a:lnSpc>
                <a:spcPct val="100875"/>
              </a:lnSpc>
              <a:spcBef>
                <a:spcPts val="0"/>
              </a:spcBef>
              <a:spcAft>
                <a:spcPts val="0"/>
              </a:spcAft>
              <a:buNone/>
            </a:pPr>
            <a:r>
              <a:rPr b="1" lang="en-US" sz="1600">
                <a:solidFill>
                  <a:srgbClr val="FF0000"/>
                </a:solidFill>
                <a:latin typeface="Calibri"/>
                <a:ea typeface="Calibri"/>
                <a:cs typeface="Calibri"/>
                <a:sym typeface="Calibri"/>
              </a:rPr>
              <a:t>Resultado de la subconsulta</a:t>
            </a:r>
            <a:endParaRPr sz="1600">
              <a:latin typeface="Calibri"/>
              <a:ea typeface="Calibri"/>
              <a:cs typeface="Calibri"/>
              <a:sym typeface="Calibri"/>
            </a:endParaRPr>
          </a:p>
        </p:txBody>
      </p:sp>
      <p:sp>
        <p:nvSpPr>
          <p:cNvPr id="318" name="Google Shape;318;p35"/>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319" name="Google Shape;319;p3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0" name="Google Shape;320;p3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1" name="Google Shape;321;p35"/>
          <p:cNvSpPr txBox="1"/>
          <p:nvPr/>
        </p:nvSpPr>
        <p:spPr>
          <a:xfrm>
            <a:off x="483552" y="1415417"/>
            <a:ext cx="7607300" cy="2090420"/>
          </a:xfrm>
          <a:prstGeom prst="rect">
            <a:avLst/>
          </a:prstGeom>
          <a:noFill/>
          <a:ln>
            <a:noFill/>
          </a:ln>
        </p:spPr>
        <p:txBody>
          <a:bodyPr anchorCtr="0" anchor="t" bIns="0" lIns="0" spcFirstLastPara="1" rIns="0" wrap="square" tIns="59675">
            <a:spAutoFit/>
          </a:bodyPr>
          <a:lstStyle/>
          <a:p>
            <a:pPr indent="-177800" lvl="0" marL="184785"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Algunas subconsultas pueden devolver una o varias  filas, según los valores de datos de las filas</a:t>
            </a:r>
            <a:endParaRPr sz="2800">
              <a:latin typeface="Calibri"/>
              <a:ea typeface="Calibri"/>
              <a:cs typeface="Calibri"/>
              <a:sym typeface="Calibri"/>
            </a:endParaRPr>
          </a:p>
          <a:p>
            <a:pPr indent="-177800" lvl="0" marL="184785" marR="715010" rtl="0" algn="just">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Incluso aunque exista la mínima posibilidad de  devolver varias filas, asegúrese de escribir una  subconsulta de varias filas</a:t>
            </a:r>
            <a:endParaRPr sz="2800">
              <a:latin typeface="Calibri"/>
              <a:ea typeface="Calibri"/>
              <a:cs typeface="Calibri"/>
              <a:sym typeface="Calibri"/>
            </a:endParaRPr>
          </a:p>
        </p:txBody>
      </p:sp>
      <p:graphicFrame>
        <p:nvGraphicFramePr>
          <p:cNvPr id="322" name="Google Shape;322;p35"/>
          <p:cNvGraphicFramePr/>
          <p:nvPr/>
        </p:nvGraphicFramePr>
        <p:xfrm>
          <a:off x="5085588" y="5802762"/>
          <a:ext cx="3000000" cy="3000000"/>
        </p:xfrm>
        <a:graphic>
          <a:graphicData uri="http://schemas.openxmlformats.org/drawingml/2006/table">
            <a:tbl>
              <a:tblPr bandRow="1" firstRow="1">
                <a:noFill/>
                <a:tableStyleId>{83B7AD36-68B3-487B-B142-F56C99CDFB77}</a:tableStyleId>
              </a:tblPr>
              <a:tblGrid>
                <a:gridCol w="1250950"/>
                <a:gridCol w="1219200"/>
                <a:gridCol w="914400"/>
              </a:tblGrid>
              <a:tr h="296250">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FIRST_NAME</a:t>
                      </a:r>
                      <a:endParaRPr sz="14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LAST_NAME</a:t>
                      </a:r>
                      <a:endParaRPr sz="14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FFFFFF"/>
                          </a:solidFill>
                          <a:latin typeface="Calibri"/>
                          <a:ea typeface="Calibri"/>
                          <a:cs typeface="Calibri"/>
                          <a:sym typeface="Calibri"/>
                        </a:rPr>
                        <a:t>JOB_ID</a:t>
                      </a:r>
                      <a:endParaRPr sz="1400" u="none" cap="none" strike="noStrike">
                        <a:latin typeface="Calibri"/>
                        <a:ea typeface="Calibri"/>
                        <a:cs typeface="Calibri"/>
                        <a:sym typeface="Calibri"/>
                      </a:endParaRPr>
                    </a:p>
                  </a:txBody>
                  <a:tcPr marT="31125" marB="0" marR="0" marL="0">
                    <a:solidFill>
                      <a:srgbClr val="D1350F"/>
                    </a:solidFill>
                  </a:tcPr>
                </a:tc>
              </a:tr>
              <a:tr h="29680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Bruce</a:t>
                      </a:r>
                      <a:endParaRPr sz="14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Ernst</a:t>
                      </a:r>
                      <a:endParaRPr sz="14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FFFFFF"/>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31125" marB="0" marR="0" marL="0">
                    <a:solidFill>
                      <a:srgbClr val="D1350F"/>
                    </a:solidFill>
                  </a:tcPr>
                </a:tc>
              </a:tr>
            </a:tbl>
          </a:graphicData>
        </a:graphic>
      </p:graphicFrame>
      <p:graphicFrame>
        <p:nvGraphicFramePr>
          <p:cNvPr id="323" name="Google Shape;323;p35"/>
          <p:cNvGraphicFramePr/>
          <p:nvPr/>
        </p:nvGraphicFramePr>
        <p:xfrm>
          <a:off x="5085588" y="3610200"/>
          <a:ext cx="3000000" cy="3000000"/>
        </p:xfrm>
        <a:graphic>
          <a:graphicData uri="http://schemas.openxmlformats.org/drawingml/2006/table">
            <a:tbl>
              <a:tblPr bandRow="1" firstRow="1">
                <a:noFill/>
                <a:tableStyleId>{83B7AD36-68B3-487B-B142-F56C99CDFB77}</a:tableStyleId>
              </a:tblPr>
              <a:tblGrid>
                <a:gridCol w="1250950"/>
                <a:gridCol w="1219200"/>
                <a:gridCol w="914400"/>
              </a:tblGrid>
              <a:tr h="420425">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FIRST_NAME</a:t>
                      </a:r>
                      <a:endParaRPr sz="14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LAST_NAME</a:t>
                      </a:r>
                      <a:endParaRPr sz="14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JOB_ID</a:t>
                      </a:r>
                      <a:endParaRPr sz="14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44175">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Alexander</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Hunold</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44175">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Bruce</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Ernst</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44175">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Diana</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Lorentz</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324" name="Google Shape;324;p35"/>
          <p:cNvSpPr txBox="1"/>
          <p:nvPr/>
        </p:nvSpPr>
        <p:spPr>
          <a:xfrm>
            <a:off x="393191" y="3599688"/>
            <a:ext cx="4480560" cy="195262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job_id</a:t>
            </a:r>
            <a:endParaRPr sz="1800">
              <a:latin typeface="Courier New"/>
              <a:ea typeface="Courier New"/>
              <a:cs typeface="Courier New"/>
              <a:sym typeface="Courier New"/>
            </a:endParaRPr>
          </a:p>
          <a:p>
            <a:pPr indent="0" lvl="0" marL="0" marR="25603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 job_id </a:t>
            </a:r>
            <a:r>
              <a:rPr b="1" lang="en-US" sz="1800">
                <a:solidFill>
                  <a:srgbClr val="D1350F"/>
                </a:solidFill>
                <a:latin typeface="Courier New"/>
                <a:ea typeface="Courier New"/>
                <a:cs typeface="Courier New"/>
                <a:sym typeface="Courier New"/>
              </a:rPr>
              <a:t>=</a:t>
            </a:r>
            <a:endParaRPr sz="1800">
              <a:latin typeface="Courier New"/>
              <a:ea typeface="Courier New"/>
              <a:cs typeface="Courier New"/>
              <a:sym typeface="Courier New"/>
            </a:endParaRPr>
          </a:p>
          <a:p>
            <a:pPr indent="-137160" lvl="0" marL="546735" marR="201485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job_id  FROM employees</a:t>
            </a:r>
            <a:endParaRPr sz="1800">
              <a:latin typeface="Courier New"/>
              <a:ea typeface="Courier New"/>
              <a:cs typeface="Courier New"/>
              <a:sym typeface="Courier New"/>
            </a:endParaRPr>
          </a:p>
          <a:p>
            <a:pPr indent="0" lvl="0" marL="54673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last_name = 'Ernst');</a:t>
            </a:r>
            <a:endParaRPr sz="1800">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6"/>
          <p:cNvSpPr txBox="1"/>
          <p:nvPr>
            <p:ph type="title"/>
          </p:nvPr>
        </p:nvSpPr>
        <p:spPr>
          <a:xfrm>
            <a:off x="392112" y="748031"/>
            <a:ext cx="6795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Un Último Punto sobre las Subconsultas</a:t>
            </a:r>
            <a:endParaRPr sz="3300"/>
          </a:p>
        </p:txBody>
      </p:sp>
      <p:sp>
        <p:nvSpPr>
          <p:cNvPr id="330" name="Google Shape;330;p36"/>
          <p:cNvSpPr txBox="1"/>
          <p:nvPr/>
        </p:nvSpPr>
        <p:spPr>
          <a:xfrm>
            <a:off x="2633153" y="6194135"/>
            <a:ext cx="2371090" cy="228600"/>
          </a:xfrm>
          <a:prstGeom prst="rect">
            <a:avLst/>
          </a:prstGeom>
          <a:noFill/>
          <a:ln>
            <a:noFill/>
          </a:ln>
        </p:spPr>
        <p:txBody>
          <a:bodyPr anchorCtr="0" anchor="t" bIns="0" lIns="0" spcFirstLastPara="1" rIns="0" wrap="square" tIns="0">
            <a:spAutoFit/>
          </a:bodyPr>
          <a:lstStyle/>
          <a:p>
            <a:pPr indent="0" lvl="0" marL="12700" marR="0" rtl="0" algn="l">
              <a:lnSpc>
                <a:spcPct val="100875"/>
              </a:lnSpc>
              <a:spcBef>
                <a:spcPts val="0"/>
              </a:spcBef>
              <a:spcAft>
                <a:spcPts val="0"/>
              </a:spcAft>
              <a:buNone/>
            </a:pPr>
            <a:r>
              <a:rPr b="1" lang="en-US" sz="1600">
                <a:solidFill>
                  <a:srgbClr val="FF0000"/>
                </a:solidFill>
                <a:latin typeface="Calibri"/>
                <a:ea typeface="Calibri"/>
                <a:cs typeface="Calibri"/>
                <a:sym typeface="Calibri"/>
              </a:rPr>
              <a:t>Resultado de la subconsulta</a:t>
            </a:r>
            <a:endParaRPr sz="1600">
              <a:latin typeface="Calibri"/>
              <a:ea typeface="Calibri"/>
              <a:cs typeface="Calibri"/>
              <a:sym typeface="Calibri"/>
            </a:endParaRPr>
          </a:p>
        </p:txBody>
      </p:sp>
      <p:sp>
        <p:nvSpPr>
          <p:cNvPr id="331" name="Google Shape;331;p36"/>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332" name="Google Shape;332;p3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3" name="Google Shape;333;p3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4" name="Google Shape;334;p36"/>
          <p:cNvSpPr txBox="1"/>
          <p:nvPr>
            <p:ph idx="1" type="body"/>
          </p:nvPr>
        </p:nvSpPr>
        <p:spPr>
          <a:xfrm>
            <a:off x="483552" y="1355371"/>
            <a:ext cx="8166600" cy="2543700"/>
          </a:xfrm>
          <a:prstGeom prst="rect">
            <a:avLst/>
          </a:prstGeom>
          <a:noFill/>
          <a:ln>
            <a:noFill/>
          </a:ln>
        </p:spPr>
        <p:txBody>
          <a:bodyPr anchorCtr="0" anchor="t" bIns="0" lIns="0" spcFirstLastPara="1" rIns="0" wrap="square" tIns="71750">
            <a:spAutoFit/>
          </a:bodyPr>
          <a:lstStyle/>
          <a:p>
            <a:pPr indent="-177800" lvl="0" marL="184785" rtl="0" algn="l">
              <a:lnSpc>
                <a:spcPct val="100000"/>
              </a:lnSpc>
              <a:spcBef>
                <a:spcPts val="0"/>
              </a:spcBef>
              <a:spcAft>
                <a:spcPts val="0"/>
              </a:spcAft>
              <a:buClr>
                <a:srgbClr val="D1350F"/>
              </a:buClr>
              <a:buSzPts val="2800"/>
              <a:buFont typeface="Arial"/>
              <a:buChar char="•"/>
            </a:pPr>
            <a:r>
              <a:rPr lang="en-US"/>
              <a:t>Por ejemplo: ¿quién tiene el mismo job_id que Ernst?</a:t>
            </a:r>
            <a:endParaRPr/>
          </a:p>
          <a:p>
            <a:pPr indent="-177800" lvl="0" marL="184785" marR="600710" rtl="0" algn="l">
              <a:lnSpc>
                <a:spcPct val="108214"/>
              </a:lnSpc>
              <a:spcBef>
                <a:spcPts val="844"/>
              </a:spcBef>
              <a:spcAft>
                <a:spcPts val="0"/>
              </a:spcAft>
              <a:buClr>
                <a:srgbClr val="D1350F"/>
              </a:buClr>
              <a:buSzPts val="2800"/>
              <a:buFont typeface="Arial"/>
              <a:buChar char="•"/>
            </a:pPr>
            <a:r>
              <a:rPr lang="en-US"/>
              <a:t>Esta subconsulta de una sola fila funciona  correctamente porque solo hay un Ernst en la tabla</a:t>
            </a:r>
            <a:endParaRPr/>
          </a:p>
          <a:p>
            <a:pPr indent="-177800" lvl="0" marL="184785" marR="5080" rtl="0" algn="l">
              <a:lnSpc>
                <a:spcPct val="108214"/>
              </a:lnSpc>
              <a:spcBef>
                <a:spcPts val="795"/>
              </a:spcBef>
              <a:spcAft>
                <a:spcPts val="1200"/>
              </a:spcAft>
              <a:buClr>
                <a:srgbClr val="D1350F"/>
              </a:buClr>
              <a:buSzPts val="2800"/>
              <a:buFont typeface="Arial"/>
              <a:buChar char="•"/>
            </a:pPr>
            <a:r>
              <a:rPr lang="en-US"/>
              <a:t>¿Pero qué sucedería si más adelante la empresa  contratara a una nueva empleada llamada Susan Ernst?</a:t>
            </a:r>
            <a:endParaRPr/>
          </a:p>
        </p:txBody>
      </p:sp>
      <p:graphicFrame>
        <p:nvGraphicFramePr>
          <p:cNvPr id="335" name="Google Shape;335;p36"/>
          <p:cNvGraphicFramePr/>
          <p:nvPr/>
        </p:nvGraphicFramePr>
        <p:xfrm>
          <a:off x="5085588" y="5802762"/>
          <a:ext cx="3000000" cy="3000000"/>
        </p:xfrm>
        <a:graphic>
          <a:graphicData uri="http://schemas.openxmlformats.org/drawingml/2006/table">
            <a:tbl>
              <a:tblPr bandRow="1" firstRow="1">
                <a:noFill/>
                <a:tableStyleId>{83B7AD36-68B3-487B-B142-F56C99CDFB77}</a:tableStyleId>
              </a:tblPr>
              <a:tblGrid>
                <a:gridCol w="1250950"/>
                <a:gridCol w="1219200"/>
                <a:gridCol w="914400"/>
              </a:tblGrid>
              <a:tr h="296250">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FIRST_NAME</a:t>
                      </a:r>
                      <a:endParaRPr sz="14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LAST_NAME</a:t>
                      </a:r>
                      <a:endParaRPr sz="14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FFFFFF"/>
                          </a:solidFill>
                          <a:latin typeface="Calibri"/>
                          <a:ea typeface="Calibri"/>
                          <a:cs typeface="Calibri"/>
                          <a:sym typeface="Calibri"/>
                        </a:rPr>
                        <a:t>JOB_ID</a:t>
                      </a:r>
                      <a:endParaRPr sz="1400" u="none" cap="none" strike="noStrike">
                        <a:latin typeface="Calibri"/>
                        <a:ea typeface="Calibri"/>
                        <a:cs typeface="Calibri"/>
                        <a:sym typeface="Calibri"/>
                      </a:endParaRPr>
                    </a:p>
                  </a:txBody>
                  <a:tcPr marT="31125" marB="0" marR="0" marL="0">
                    <a:solidFill>
                      <a:srgbClr val="D1350F"/>
                    </a:solidFill>
                  </a:tcPr>
                </a:tc>
              </a:tr>
              <a:tr h="29680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Bruce</a:t>
                      </a:r>
                      <a:endParaRPr sz="14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Ernst</a:t>
                      </a:r>
                      <a:endParaRPr sz="14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FFFFFF"/>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31125" marB="0" marR="0" marL="0">
                    <a:solidFill>
                      <a:srgbClr val="D1350F"/>
                    </a:solidFill>
                  </a:tcPr>
                </a:tc>
              </a:tr>
            </a:tbl>
          </a:graphicData>
        </a:graphic>
      </p:graphicFrame>
      <p:graphicFrame>
        <p:nvGraphicFramePr>
          <p:cNvPr id="336" name="Google Shape;336;p36"/>
          <p:cNvGraphicFramePr/>
          <p:nvPr/>
        </p:nvGraphicFramePr>
        <p:xfrm>
          <a:off x="5085588" y="3610200"/>
          <a:ext cx="3000000" cy="3000000"/>
        </p:xfrm>
        <a:graphic>
          <a:graphicData uri="http://schemas.openxmlformats.org/drawingml/2006/table">
            <a:tbl>
              <a:tblPr bandRow="1" firstRow="1">
                <a:noFill/>
                <a:tableStyleId>{83B7AD36-68B3-487B-B142-F56C99CDFB77}</a:tableStyleId>
              </a:tblPr>
              <a:tblGrid>
                <a:gridCol w="1250950"/>
                <a:gridCol w="1219200"/>
                <a:gridCol w="914400"/>
              </a:tblGrid>
              <a:tr h="420425">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FIRST_NAME</a:t>
                      </a:r>
                      <a:endParaRPr sz="14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LAST_NAME</a:t>
                      </a:r>
                      <a:endParaRPr sz="14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JOB_ID</a:t>
                      </a:r>
                      <a:endParaRPr sz="14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44175">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Alexander</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Hunold</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44175">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Bruce</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Ernst</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44175">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Diana</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Lorentz</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5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337" name="Google Shape;337;p36"/>
          <p:cNvSpPr txBox="1"/>
          <p:nvPr/>
        </p:nvSpPr>
        <p:spPr>
          <a:xfrm>
            <a:off x="393191" y="3599688"/>
            <a:ext cx="4480560" cy="195262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job_id</a:t>
            </a:r>
            <a:endParaRPr sz="1800">
              <a:latin typeface="Courier New"/>
              <a:ea typeface="Courier New"/>
              <a:cs typeface="Courier New"/>
              <a:sym typeface="Courier New"/>
            </a:endParaRPr>
          </a:p>
          <a:p>
            <a:pPr indent="0" lvl="0" marL="0" marR="25603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 job_id </a:t>
            </a:r>
            <a:r>
              <a:rPr b="1" lang="en-US" sz="1800">
                <a:solidFill>
                  <a:srgbClr val="D1350F"/>
                </a:solidFill>
                <a:latin typeface="Courier New"/>
                <a:ea typeface="Courier New"/>
                <a:cs typeface="Courier New"/>
                <a:sym typeface="Courier New"/>
              </a:rPr>
              <a:t>=</a:t>
            </a:r>
            <a:endParaRPr sz="1800">
              <a:latin typeface="Courier New"/>
              <a:ea typeface="Courier New"/>
              <a:cs typeface="Courier New"/>
              <a:sym typeface="Courier New"/>
            </a:endParaRPr>
          </a:p>
          <a:p>
            <a:pPr indent="-137160" lvl="0" marL="546735" marR="201485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job_id  FROM employees</a:t>
            </a:r>
            <a:endParaRPr sz="1800">
              <a:latin typeface="Courier New"/>
              <a:ea typeface="Courier New"/>
              <a:cs typeface="Courier New"/>
              <a:sym typeface="Courier New"/>
            </a:endParaRPr>
          </a:p>
          <a:p>
            <a:pPr indent="0" lvl="0" marL="54673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last_name = 'Ernst');</a:t>
            </a:r>
            <a:endParaRPr sz="18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7"/>
          <p:cNvSpPr txBox="1"/>
          <p:nvPr>
            <p:ph type="title"/>
          </p:nvPr>
        </p:nvSpPr>
        <p:spPr>
          <a:xfrm>
            <a:off x="392112" y="748031"/>
            <a:ext cx="6795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Un Último Punto sobre las Subconsultas</a:t>
            </a:r>
            <a:endParaRPr sz="3300"/>
          </a:p>
        </p:txBody>
      </p:sp>
      <p:sp>
        <p:nvSpPr>
          <p:cNvPr id="343" name="Google Shape;343;p37"/>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344" name="Google Shape;344;p3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5" name="Google Shape;345;p3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46" name="Google Shape;346;p37"/>
          <p:cNvSpPr txBox="1"/>
          <p:nvPr/>
        </p:nvSpPr>
        <p:spPr>
          <a:xfrm>
            <a:off x="483552" y="1355371"/>
            <a:ext cx="7872730" cy="2252345"/>
          </a:xfrm>
          <a:prstGeom prst="rect">
            <a:avLst/>
          </a:prstGeom>
          <a:noFill/>
          <a:ln>
            <a:noFill/>
          </a:ln>
        </p:spPr>
        <p:txBody>
          <a:bodyPr anchorCtr="0" anchor="t" bIns="0" lIns="0" spcFirstLastPara="1" rIns="0" wrap="square" tIns="717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Sería mejor escribir una subconsulta de varias filas</a:t>
            </a:r>
            <a:endParaRPr sz="2800">
              <a:latin typeface="Calibri"/>
              <a:ea typeface="Calibri"/>
              <a:cs typeface="Calibri"/>
              <a:sym typeface="Calibri"/>
            </a:endParaRPr>
          </a:p>
          <a:p>
            <a:pPr indent="-177800" lvl="0" marL="184785" marR="75565"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de la subconsulta de varias filas seguirá  funcionando incluso aunque la subconsulta devuelva  una sola fila</a:t>
            </a:r>
            <a:endParaRPr sz="2800">
              <a:latin typeface="Calibri"/>
              <a:ea typeface="Calibri"/>
              <a:cs typeface="Calibri"/>
              <a:sym typeface="Calibri"/>
            </a:endParaRPr>
          </a:p>
          <a:p>
            <a:pPr indent="-177800" lvl="0" marL="184785" marR="0"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tiene dudas, escriba una subconsulta de varias filas</a:t>
            </a:r>
            <a:endParaRPr sz="2800">
              <a:latin typeface="Calibri"/>
              <a:ea typeface="Calibri"/>
              <a:cs typeface="Calibri"/>
              <a:sym typeface="Calibri"/>
            </a:endParaRPr>
          </a:p>
        </p:txBody>
      </p:sp>
      <p:sp>
        <p:nvSpPr>
          <p:cNvPr id="347" name="Google Shape;347;p37"/>
          <p:cNvSpPr txBox="1"/>
          <p:nvPr/>
        </p:nvSpPr>
        <p:spPr>
          <a:xfrm>
            <a:off x="2036395" y="5796187"/>
            <a:ext cx="3228975" cy="51308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0000"/>
                </a:solidFill>
                <a:latin typeface="Calibri"/>
                <a:ea typeface="Calibri"/>
                <a:cs typeface="Calibri"/>
                <a:sym typeface="Calibri"/>
              </a:rPr>
              <a:t>Resultado de la subconsulta</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0000"/>
                </a:solidFill>
                <a:latin typeface="Calibri"/>
                <a:ea typeface="Calibri"/>
                <a:cs typeface="Calibri"/>
                <a:sym typeface="Calibri"/>
              </a:rPr>
              <a:t>Hay 2 personas con el apellido "Ernst"</a:t>
            </a:r>
            <a:endParaRPr sz="1600">
              <a:latin typeface="Calibri"/>
              <a:ea typeface="Calibri"/>
              <a:cs typeface="Calibri"/>
              <a:sym typeface="Calibri"/>
            </a:endParaRPr>
          </a:p>
        </p:txBody>
      </p:sp>
      <p:graphicFrame>
        <p:nvGraphicFramePr>
          <p:cNvPr id="348" name="Google Shape;348;p37"/>
          <p:cNvGraphicFramePr/>
          <p:nvPr/>
        </p:nvGraphicFramePr>
        <p:xfrm>
          <a:off x="5336665" y="5584249"/>
          <a:ext cx="3000000" cy="3000000"/>
        </p:xfrm>
        <a:graphic>
          <a:graphicData uri="http://schemas.openxmlformats.org/drawingml/2006/table">
            <a:tbl>
              <a:tblPr bandRow="1" firstRow="1">
                <a:noFill/>
                <a:tableStyleId>{83B7AD36-68B3-487B-B142-F56C99CDFB77}</a:tableStyleId>
              </a:tblPr>
              <a:tblGrid>
                <a:gridCol w="1250950"/>
                <a:gridCol w="1219200"/>
                <a:gridCol w="914400"/>
              </a:tblGrid>
              <a:tr h="359875">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FIRST_NAME</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LAST_NAME</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FFFFFF"/>
                          </a:solidFill>
                          <a:latin typeface="Calibri"/>
                          <a:ea typeface="Calibri"/>
                          <a:cs typeface="Calibri"/>
                          <a:sym typeface="Calibri"/>
                        </a:rPr>
                        <a:t>JOB_ID</a:t>
                      </a:r>
                      <a:endParaRPr sz="1400" u="none" cap="none" strike="noStrike">
                        <a:latin typeface="Calibri"/>
                        <a:ea typeface="Calibri"/>
                        <a:cs typeface="Calibri"/>
                        <a:sym typeface="Calibri"/>
                      </a:endParaRPr>
                    </a:p>
                  </a:txBody>
                  <a:tcPr marT="2550" marB="0" marR="0" marL="0">
                    <a:solidFill>
                      <a:srgbClr val="D1350F"/>
                    </a:solidFill>
                  </a:tcPr>
                </a:tc>
              </a:tr>
              <a:tr h="35950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Bruce</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Ernst</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FFFFFF"/>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2550" marB="0" marR="0" marL="0">
                    <a:solidFill>
                      <a:srgbClr val="D1350F"/>
                    </a:solidFill>
                  </a:tcPr>
                </a:tc>
              </a:tr>
            </a:tbl>
          </a:graphicData>
        </a:graphic>
      </p:graphicFrame>
      <p:graphicFrame>
        <p:nvGraphicFramePr>
          <p:cNvPr id="349" name="Google Shape;349;p37"/>
          <p:cNvGraphicFramePr/>
          <p:nvPr/>
        </p:nvGraphicFramePr>
        <p:xfrm>
          <a:off x="5336665" y="3620166"/>
          <a:ext cx="3000000" cy="3000000"/>
        </p:xfrm>
        <a:graphic>
          <a:graphicData uri="http://schemas.openxmlformats.org/drawingml/2006/table">
            <a:tbl>
              <a:tblPr bandRow="1" firstRow="1">
                <a:noFill/>
                <a:tableStyleId>{83B7AD36-68B3-487B-B142-F56C99CDFB77}</a:tableStyleId>
              </a:tblPr>
              <a:tblGrid>
                <a:gridCol w="1250950"/>
                <a:gridCol w="1219200"/>
                <a:gridCol w="914400"/>
              </a:tblGrid>
              <a:tr h="443475">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FIRST_NAME</a:t>
                      </a:r>
                      <a:endParaRPr sz="1400" u="none" cap="none" strike="noStrike">
                        <a:latin typeface="Calibri"/>
                        <a:ea typeface="Calibri"/>
                        <a:cs typeface="Calibri"/>
                        <a:sym typeface="Calibri"/>
                      </a:endParaRPr>
                    </a:p>
                  </a:txBody>
                  <a:tcPr marT="10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LAST_NAME</a:t>
                      </a:r>
                      <a:endParaRPr sz="1400" u="none" cap="none" strike="noStrike">
                        <a:latin typeface="Calibri"/>
                        <a:ea typeface="Calibri"/>
                        <a:cs typeface="Calibri"/>
                        <a:sym typeface="Calibri"/>
                      </a:endParaRPr>
                    </a:p>
                  </a:txBody>
                  <a:tcPr marT="10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JOB_ID</a:t>
                      </a:r>
                      <a:endParaRPr sz="1400" u="none" cap="none" strike="noStrike">
                        <a:latin typeface="Calibri"/>
                        <a:ea typeface="Calibri"/>
                        <a:cs typeface="Calibri"/>
                        <a:sym typeface="Calibri"/>
                      </a:endParaRPr>
                    </a:p>
                  </a:txBody>
                  <a:tcPr marT="10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630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Alexander</a:t>
                      </a:r>
                      <a:endParaRPr sz="14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Hunold</a:t>
                      </a:r>
                      <a:endParaRPr sz="14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630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Bruce</a:t>
                      </a:r>
                      <a:endParaRPr sz="14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Ernst</a:t>
                      </a:r>
                      <a:endParaRPr sz="14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630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Diana</a:t>
                      </a:r>
                      <a:endParaRPr sz="14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Lorentz</a:t>
                      </a:r>
                      <a:endParaRPr sz="14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333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IT_PROG</a:t>
                      </a:r>
                      <a:endParaRPr sz="14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350" name="Google Shape;350;p37"/>
          <p:cNvSpPr txBox="1"/>
          <p:nvPr/>
        </p:nvSpPr>
        <p:spPr>
          <a:xfrm>
            <a:off x="393191" y="3627120"/>
            <a:ext cx="4480560" cy="195072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4722"/>
              </a:lnSpc>
              <a:spcBef>
                <a:spcPts val="0"/>
              </a:spcBef>
              <a:spcAft>
                <a:spcPts val="0"/>
              </a:spcAft>
              <a:buNone/>
            </a:pPr>
            <a:r>
              <a:rPr b="1" lang="en-US" sz="1800">
                <a:solidFill>
                  <a:srgbClr val="4E3629"/>
                </a:solidFill>
                <a:latin typeface="Courier New"/>
                <a:ea typeface="Courier New"/>
                <a:cs typeface="Courier New"/>
                <a:sym typeface="Courier New"/>
              </a:rPr>
              <a:t>SELECT first_name, last_name,</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job_id</a:t>
            </a:r>
            <a:endParaRPr sz="1800">
              <a:latin typeface="Courier New"/>
              <a:ea typeface="Courier New"/>
              <a:cs typeface="Courier New"/>
              <a:sym typeface="Courier New"/>
            </a:endParaRPr>
          </a:p>
          <a:p>
            <a:pPr indent="0" lvl="0" marL="0" marR="24263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 job_id </a:t>
            </a:r>
            <a:r>
              <a:rPr b="1" lang="en-US" sz="1800">
                <a:solidFill>
                  <a:srgbClr val="D1350F"/>
                </a:solidFill>
                <a:latin typeface="Courier New"/>
                <a:ea typeface="Courier New"/>
                <a:cs typeface="Courier New"/>
                <a:sym typeface="Courier New"/>
              </a:rPr>
              <a:t>IN</a:t>
            </a:r>
            <a:endParaRPr sz="1800">
              <a:latin typeface="Courier New"/>
              <a:ea typeface="Courier New"/>
              <a:cs typeface="Courier New"/>
              <a:sym typeface="Courier New"/>
            </a:endParaRPr>
          </a:p>
          <a:p>
            <a:pPr indent="-137160" lvl="0" marL="546735" marR="201485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job_id  FROM employees</a:t>
            </a:r>
            <a:endParaRPr sz="1800">
              <a:latin typeface="Courier New"/>
              <a:ea typeface="Courier New"/>
              <a:cs typeface="Courier New"/>
              <a:sym typeface="Courier New"/>
            </a:endParaRPr>
          </a:p>
          <a:p>
            <a:pPr indent="0" lvl="0" marL="54673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last_name = 'Ernst');</a:t>
            </a:r>
            <a:endParaRPr sz="18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8"/>
          <p:cNvSpPr txBox="1"/>
          <p:nvPr>
            <p:ph type="title"/>
          </p:nvPr>
        </p:nvSpPr>
        <p:spPr>
          <a:xfrm>
            <a:off x="392112" y="748031"/>
            <a:ext cx="222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Terminología</a:t>
            </a:r>
            <a:endParaRPr sz="3300"/>
          </a:p>
        </p:txBody>
      </p:sp>
      <p:sp>
        <p:nvSpPr>
          <p:cNvPr id="356" name="Google Shape;356;p38"/>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357" name="Google Shape;357;p3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8" name="Google Shape;358;p3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59" name="Google Shape;359;p38"/>
          <p:cNvSpPr txBox="1"/>
          <p:nvPr/>
        </p:nvSpPr>
        <p:spPr>
          <a:xfrm>
            <a:off x="483552" y="1415417"/>
            <a:ext cx="7530465" cy="1600200"/>
          </a:xfrm>
          <a:prstGeom prst="rect">
            <a:avLst/>
          </a:prstGeom>
          <a:noFill/>
          <a:ln>
            <a:noFill/>
          </a:ln>
        </p:spPr>
        <p:txBody>
          <a:bodyPr anchorCtr="0" anchor="t" bIns="0" lIns="0" spcFirstLastPara="1" rIns="0" wrap="square" tIns="59675">
            <a:spAutoFit/>
          </a:bodyPr>
          <a:lstStyle/>
          <a:p>
            <a:pPr indent="0" lvl="0" marL="12700" marR="5080" rtl="0" algn="l">
              <a:lnSpc>
                <a:spcPct val="108214"/>
              </a:lnSpc>
              <a:spcBef>
                <a:spcPts val="0"/>
              </a:spcBef>
              <a:spcAft>
                <a:spcPts val="0"/>
              </a:spcAft>
              <a:buNone/>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Subconsulta no pareada de varias columnas</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Subconsulta pareada de varias columnas</a:t>
            </a:r>
            <a:endParaRPr sz="24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9"/>
          <p:cNvSpPr txBox="1"/>
          <p:nvPr>
            <p:ph type="title"/>
          </p:nvPr>
        </p:nvSpPr>
        <p:spPr>
          <a:xfrm>
            <a:off x="392112" y="748031"/>
            <a:ext cx="1602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Resumen</a:t>
            </a:r>
            <a:endParaRPr sz="3300"/>
          </a:p>
        </p:txBody>
      </p:sp>
      <p:sp>
        <p:nvSpPr>
          <p:cNvPr id="365" name="Google Shape;365;p39"/>
          <p:cNvSpPr txBox="1"/>
          <p:nvPr/>
        </p:nvSpPr>
        <p:spPr>
          <a:xfrm>
            <a:off x="483552" y="1381889"/>
            <a:ext cx="8056880" cy="44983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384175" rtl="0" algn="l">
              <a:lnSpc>
                <a:spcPct val="95833"/>
              </a:lnSpc>
              <a:spcBef>
                <a:spcPts val="6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Utilizar correctamente los operadores de comparación IN,  ANY y ALL en subconsultas de varias filas</a:t>
            </a:r>
            <a:endParaRPr sz="2400">
              <a:latin typeface="Calibri"/>
              <a:ea typeface="Calibri"/>
              <a:cs typeface="Calibri"/>
              <a:sym typeface="Calibri"/>
            </a:endParaRPr>
          </a:p>
          <a:p>
            <a:pPr indent="-175260" lvl="0" marL="530860" marR="5080" rtl="0" algn="l">
              <a:lnSpc>
                <a:spcPct val="95833"/>
              </a:lnSpc>
              <a:spcBef>
                <a:spcPts val="6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subconsulta de varias filas en la cláusula  WHERE o en la cláusula HAVING</a:t>
            </a:r>
            <a:endParaRPr sz="2400">
              <a:latin typeface="Calibri"/>
              <a:ea typeface="Calibri"/>
              <a:cs typeface="Calibri"/>
              <a:sym typeface="Calibri"/>
            </a:endParaRPr>
          </a:p>
          <a:p>
            <a:pPr indent="-175260" lvl="0" marL="530860" marR="857885" rtl="0" algn="l">
              <a:lnSpc>
                <a:spcPct val="80000"/>
              </a:lnSpc>
              <a:spcBef>
                <a:spcPts val="6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Describir qué sucede si una subconsulta de varias filas  devuelve un valor nulo</a:t>
            </a:r>
            <a:endParaRPr sz="2400">
              <a:latin typeface="Calibri"/>
              <a:ea typeface="Calibri"/>
              <a:cs typeface="Calibri"/>
              <a:sym typeface="Calibri"/>
            </a:endParaRPr>
          </a:p>
          <a:p>
            <a:pPr indent="-175260" lvl="0" marL="530860" marR="826769" rtl="0" algn="l">
              <a:lnSpc>
                <a:spcPct val="95833"/>
              </a:lnSpc>
              <a:spcBef>
                <a:spcPts val="5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Comprender cuándo se deben utilizar subconsultas de  varias filas y cuándo es seguro</a:t>
            </a:r>
            <a:endParaRPr sz="2400">
              <a:latin typeface="Calibri"/>
              <a:ea typeface="Calibri"/>
              <a:cs typeface="Calibri"/>
              <a:sym typeface="Calibri"/>
            </a:endParaRPr>
          </a:p>
          <a:p>
            <a:pPr indent="-175260" lvl="0" marL="530860" marR="3116580" rtl="0" algn="l">
              <a:lnSpc>
                <a:spcPct val="95833"/>
              </a:lnSpc>
              <a:spcBef>
                <a:spcPts val="6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utilizar una subconsulta de una sola  fila</a:t>
            </a:r>
            <a:endParaRPr sz="2400">
              <a:latin typeface="Calibri"/>
              <a:ea typeface="Calibri"/>
              <a:cs typeface="Calibri"/>
              <a:sym typeface="Calibri"/>
            </a:endParaRPr>
          </a:p>
          <a:p>
            <a:pPr indent="0" lvl="0" marL="355600" marR="0" rtl="0" algn="l">
              <a:lnSpc>
                <a:spcPct val="100000"/>
              </a:lnSpc>
              <a:spcBef>
                <a:spcPts val="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Distinguir entre subconsultas</a:t>
            </a:r>
            <a:endParaRPr sz="2400">
              <a:latin typeface="Calibri"/>
              <a:ea typeface="Calibri"/>
              <a:cs typeface="Calibri"/>
              <a:sym typeface="Calibri"/>
            </a:endParaRPr>
          </a:p>
          <a:p>
            <a:pPr indent="0" lvl="0" marL="355600" marR="0" rtl="0" algn="l">
              <a:lnSpc>
                <a:spcPct val="100000"/>
              </a:lnSpc>
              <a:spcBef>
                <a:spcPts val="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pareadas y no pareadas</a:t>
            </a:r>
            <a:endParaRPr sz="2400">
              <a:latin typeface="Calibri"/>
              <a:ea typeface="Calibri"/>
              <a:cs typeface="Calibri"/>
              <a:sym typeface="Calibri"/>
            </a:endParaRPr>
          </a:p>
        </p:txBody>
      </p:sp>
      <p:grpSp>
        <p:nvGrpSpPr>
          <p:cNvPr id="366" name="Google Shape;366;p39"/>
          <p:cNvGrpSpPr/>
          <p:nvPr/>
        </p:nvGrpSpPr>
        <p:grpSpPr>
          <a:xfrm>
            <a:off x="5378196" y="4251959"/>
            <a:ext cx="3345179" cy="1863851"/>
            <a:chOff x="5378196" y="4251959"/>
            <a:chExt cx="3345179" cy="1863851"/>
          </a:xfrm>
        </p:grpSpPr>
        <p:pic>
          <p:nvPicPr>
            <p:cNvPr id="367" name="Google Shape;367;p39"/>
            <p:cNvPicPr preferRelativeResize="0"/>
            <p:nvPr/>
          </p:nvPicPr>
          <p:blipFill rotWithShape="1">
            <a:blip r:embed="rId3">
              <a:alphaModFix/>
            </a:blip>
            <a:srcRect b="0" l="0" r="0" t="0"/>
            <a:stretch/>
          </p:blipFill>
          <p:spPr>
            <a:xfrm>
              <a:off x="5378196" y="4251959"/>
              <a:ext cx="3345179" cy="1863851"/>
            </a:xfrm>
            <a:prstGeom prst="rect">
              <a:avLst/>
            </a:prstGeom>
            <a:noFill/>
            <a:ln>
              <a:noFill/>
            </a:ln>
          </p:spPr>
        </p:pic>
        <p:pic>
          <p:nvPicPr>
            <p:cNvPr id="368" name="Google Shape;368;p39"/>
            <p:cNvPicPr preferRelativeResize="0"/>
            <p:nvPr/>
          </p:nvPicPr>
          <p:blipFill rotWithShape="1">
            <a:blip r:embed="rId4">
              <a:alphaModFix/>
            </a:blip>
            <a:srcRect b="0" l="0" r="0" t="0"/>
            <a:stretch/>
          </p:blipFill>
          <p:spPr>
            <a:xfrm>
              <a:off x="5570220" y="4443983"/>
              <a:ext cx="2961131" cy="1479803"/>
            </a:xfrm>
            <a:prstGeom prst="rect">
              <a:avLst/>
            </a:prstGeom>
            <a:noFill/>
            <a:ln>
              <a:noFill/>
            </a:ln>
          </p:spPr>
        </p:pic>
      </p:grpSp>
      <p:sp>
        <p:nvSpPr>
          <p:cNvPr id="369" name="Google Shape;369;p39"/>
          <p:cNvSpPr txBox="1"/>
          <p:nvPr>
            <p:ph idx="10" type="dt"/>
          </p:nvPr>
        </p:nvSpPr>
        <p:spPr>
          <a:xfrm>
            <a:off x="2874191" y="6516395"/>
            <a:ext cx="1254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10-3</a:t>
            </a:r>
            <a:endParaRPr/>
          </a:p>
          <a:p>
            <a:pPr indent="0" lvl="0" marL="12700" rtl="0" algn="l">
              <a:lnSpc>
                <a:spcPct val="120624"/>
              </a:lnSpc>
              <a:spcBef>
                <a:spcPts val="0"/>
              </a:spcBef>
              <a:spcAft>
                <a:spcPts val="0"/>
              </a:spcAft>
              <a:buNone/>
            </a:pPr>
            <a:r>
              <a:rPr lang="en-US"/>
              <a:t>Subconsultas de Varias Filas</a:t>
            </a:r>
            <a:endParaRPr/>
          </a:p>
        </p:txBody>
      </p:sp>
      <p:sp>
        <p:nvSpPr>
          <p:cNvPr id="370" name="Google Shape;370;p3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71" name="Google Shape;371;p3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