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DACDAF-A3E6-4AA4-AFE1-240807D0D611}">
  <a:tblStyle styleId="{BADACDAF-A3E6-4AA4-AFE1-240807D0D6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52305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349185" y="6516395"/>
            <a:ext cx="2526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83552" y="1469473"/>
            <a:ext cx="3825300" cy="4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709160" y="1577340"/>
            <a:ext cx="39777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2349185" y="6516395"/>
            <a:ext cx="2526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0" name="Google Shape;7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15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962879" y="2400950"/>
            <a:ext cx="7198995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11-1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Asegurando la Calidad de los Resultados de las Consultas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8329" y="3485388"/>
            <a:ext cx="5085589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80" name="Google Shape;80;p16"/>
          <p:cNvSpPr txBox="1"/>
          <p:nvPr/>
        </p:nvSpPr>
        <p:spPr>
          <a:xfrm>
            <a:off x="483552" y="1393401"/>
            <a:ext cx="759205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una consulta para producir datos especificados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Modificar una consulta para producir datos especificados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>
            <a:off x="4959096" y="3380232"/>
            <a:ext cx="3337559" cy="2638043"/>
            <a:chOff x="4959096" y="3380232"/>
            <a:chExt cx="3337559" cy="2638043"/>
          </a:xfrm>
        </p:grpSpPr>
        <p:pic>
          <p:nvPicPr>
            <p:cNvPr id="82" name="Google Shape;8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59096" y="3380232"/>
              <a:ext cx="3337559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51120" y="3572255"/>
              <a:ext cx="2953511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2" name="Google Shape;92;p17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83552" y="1415417"/>
            <a:ext cx="814641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65455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Ha aprendido las reglas de sintaxis para generar una  consulta SQL pero, ¿está seguro de que produce los  datos deseados?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Observar la salida deseada y, a continuación, averiguar  la consulta para generar dicha salida le ayudará a ganar  confianza en que los resultados de la consulta son los  esperados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2388" y="4210811"/>
            <a:ext cx="1778495" cy="165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83552" y="1393401"/>
            <a:ext cx="8149590" cy="280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13411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todas las tablas cuyos dos primeros  caracteres en el nombre de la tabla sean JO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tablas deben ser propiedad del usuario de Oracle actual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User_tables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93966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19"/>
          <p:cNvSpPr txBox="1"/>
          <p:nvPr/>
        </p:nvSpPr>
        <p:spPr>
          <a:xfrm>
            <a:off x="483552" y="1469473"/>
            <a:ext cx="3862704" cy="3041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que incluya  la inicial del nombre de  cada empleado, un  espacio y el apellido del  empleado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616" y="1911095"/>
            <a:ext cx="1237487" cy="388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5066338" y="1471676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4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" name="Google Shape;123;p20"/>
          <p:cNvSpPr txBox="1"/>
          <p:nvPr/>
        </p:nvSpPr>
        <p:spPr>
          <a:xfrm>
            <a:off x="483552" y="1469473"/>
            <a:ext cx="3856990" cy="4686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 nombres de todos los  empleados concatenados  a un espacio y el apellido  del empleado y el correo  electrónico de todos los  empleados donde la  dirección de correo  electrónico contenga la  cadena "IN"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1736" y="1911095"/>
            <a:ext cx="2825483" cy="111707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5198860" y="1471676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" name="Google Shape;135;p21"/>
          <p:cNvSpPr txBox="1"/>
          <p:nvPr/>
        </p:nvSpPr>
        <p:spPr>
          <a:xfrm>
            <a:off x="483552" y="1469473"/>
            <a:ext cx="3891279" cy="271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del apellido  "más pequeño" y el  apellido "más grande" de  la tabla 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867" y="1911095"/>
            <a:ext cx="2708147" cy="71323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5159104" y="1471676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22"/>
          <p:cNvSpPr txBox="1"/>
          <p:nvPr/>
        </p:nvSpPr>
        <p:spPr>
          <a:xfrm>
            <a:off x="483552" y="1491489"/>
            <a:ext cx="196278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83552" y="1936497"/>
            <a:ext cx="3770629" cy="426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42900" lvl="0" marL="69786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salarios  semanales a partir de la  tabla employees donde  el salario semanal esté  entre 700 y 3000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3175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salarios deben estar  formateados para incluir  un signo $ y tener dos  decimales como: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6985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$9999,99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9715" y="1941576"/>
            <a:ext cx="1377695" cy="390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5145850" y="1471676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23"/>
          <p:cNvSpPr txBox="1"/>
          <p:nvPr/>
        </p:nvSpPr>
        <p:spPr>
          <a:xfrm>
            <a:off x="483552" y="1469473"/>
            <a:ext cx="3792220" cy="271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todos  los empleados y su cargo  relacionado ordenada  por job_title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Jobs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62" name="Google Shape;1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612" y="1950720"/>
            <a:ext cx="2452115" cy="393647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5159104" y="1511020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172" name="Google Shape;172;p24"/>
          <p:cNvSpPr txBox="1"/>
          <p:nvPr/>
        </p:nvSpPr>
        <p:spPr>
          <a:xfrm>
            <a:off x="483552" y="1393401"/>
            <a:ext cx="4199255" cy="440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334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cargos de  todos los empleados, rangos  de salarios del cargo y salario  del empleado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Enumere el rango de salarios  menor y mayor de cada cargo  con un guión para separar los  salarios de la siguiente  forma: 100 – 200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Jobs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303" y="2019300"/>
            <a:ext cx="3663696" cy="339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5317885" y="15789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183" name="Google Shape;183;p25"/>
          <p:cNvSpPr txBox="1"/>
          <p:nvPr/>
        </p:nvSpPr>
        <p:spPr>
          <a:xfrm>
            <a:off x="483552" y="1393401"/>
            <a:ext cx="4710430" cy="37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Mediante un método de unión de  ANSI, cree una lista de iniciales y  apellidos de todos los empleados  y nombres de departamento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2131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Asegúrese de que las tablas se  unen en todas las claves ajenas  declaradas entre las dos tablas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1640" y="1987295"/>
            <a:ext cx="2906267" cy="356158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/>
        </p:nvSpPr>
        <p:spPr>
          <a:xfrm>
            <a:off x="5291626" y="1547846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26"/>
          <p:cNvSpPr txBox="1"/>
          <p:nvPr/>
        </p:nvSpPr>
        <p:spPr>
          <a:xfrm>
            <a:off x="483552" y="1469473"/>
            <a:ext cx="3825240" cy="23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29845" rtl="0" algn="just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Cambie la lista anterior a  unión solo en la columna  department_id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5291" y="1911095"/>
            <a:ext cx="2078735" cy="3931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5155477" y="1471676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6" name="Google Shape;206;p27"/>
          <p:cNvSpPr txBox="1"/>
          <p:nvPr/>
        </p:nvSpPr>
        <p:spPr>
          <a:xfrm>
            <a:off x="483552" y="1469473"/>
            <a:ext cx="3888104" cy="440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7865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 apellidos de todos los  empleados y la palabra  nobody o somebody en  función de si el empleado  tiene un jefe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889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Utilice la función DECODE  de Oracle para crear la  lista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176" y="2013204"/>
            <a:ext cx="1555991" cy="393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5130228" y="1572742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8"/>
          <p:cNvGrpSpPr/>
          <p:nvPr/>
        </p:nvGrpSpPr>
        <p:grpSpPr>
          <a:xfrm>
            <a:off x="1898904" y="1524761"/>
            <a:ext cx="6588759" cy="4806316"/>
            <a:chOff x="1898904" y="1524761"/>
            <a:chExt cx="6588759" cy="4806316"/>
          </a:xfrm>
        </p:grpSpPr>
        <p:sp>
          <p:nvSpPr>
            <p:cNvPr id="218" name="Google Shape;218;p28"/>
            <p:cNvSpPr/>
            <p:nvPr/>
          </p:nvSpPr>
          <p:spPr>
            <a:xfrm>
              <a:off x="4572761" y="1524761"/>
              <a:ext cx="0" cy="4419600"/>
            </a:xfrm>
            <a:custGeom>
              <a:rect b="b" l="l" r="r" t="t"/>
              <a:pathLst>
                <a:path extrusionOk="0" h="4419600" w="1200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cap="flat" cmpd="sng" w="19800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1898904" y="5216652"/>
              <a:ext cx="6588759" cy="1114425"/>
            </a:xfrm>
            <a:custGeom>
              <a:rect b="b" l="l" r="r" t="t"/>
              <a:pathLst>
                <a:path extrusionOk="0" h="1114425" w="6588759">
                  <a:moveTo>
                    <a:pt x="6588252" y="0"/>
                  </a:moveTo>
                  <a:lnTo>
                    <a:pt x="0" y="0"/>
                  </a:lnTo>
                  <a:lnTo>
                    <a:pt x="0" y="1114044"/>
                  </a:lnTo>
                  <a:lnTo>
                    <a:pt x="6588252" y="1114044"/>
                  </a:lnTo>
                  <a:lnTo>
                    <a:pt x="6588252" y="0"/>
                  </a:lnTo>
                  <a:close/>
                </a:path>
              </a:pathLst>
            </a:custGeom>
            <a:solidFill>
              <a:srgbClr val="9DBDC4">
                <a:alpha val="49804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0" name="Google Shape;220;p28"/>
          <p:cNvSpPr txBox="1"/>
          <p:nvPr/>
        </p:nvSpPr>
        <p:spPr>
          <a:xfrm>
            <a:off x="483552" y="1469473"/>
            <a:ext cx="3845560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2540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iniciales  y apellidos de todos los  empleados, salarios y un  sí o no para mostrar si un  empleado tiene una  comisión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Corrija esta consulta para  producir el resultado.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CONSULTA: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444" y="1098804"/>
            <a:ext cx="2308859" cy="393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5340186" y="658681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25" name="Google Shape;225;p2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7" name="Google Shape;227;p28"/>
          <p:cNvSpPr txBox="1"/>
          <p:nvPr/>
        </p:nvSpPr>
        <p:spPr>
          <a:xfrm>
            <a:off x="1886924" y="5250851"/>
            <a:ext cx="6252845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43840" lvl="0" marL="25590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SUBSTR(first_name,1 1)||' '|last_name,  "Employee Name", salary "Salary",  DEC(commission_pct NULL, 'No', 'Yes')'Commission'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	employees;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233" name="Google Shape;233;p29"/>
          <p:cNvSpPr txBox="1"/>
          <p:nvPr/>
        </p:nvSpPr>
        <p:spPr>
          <a:xfrm>
            <a:off x="483552" y="1393401"/>
            <a:ext cx="4389755" cy="412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969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apellidos de  todos los empleados, nombres  de departamento, ciudades y  estados/provincias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73355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Incluya los departamentos sin  los empleados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necesaria una unión externa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61035" rtl="0" algn="l">
              <a:lnSpc>
                <a:spcPct val="107916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Departments,  Locations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9784" y="2345435"/>
            <a:ext cx="3453383" cy="3261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244" name="Google Shape;244;p30"/>
          <p:cNvSpPr txBox="1"/>
          <p:nvPr/>
        </p:nvSpPr>
        <p:spPr>
          <a:xfrm>
            <a:off x="483552" y="1415417"/>
            <a:ext cx="16776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483552" y="1860425"/>
            <a:ext cx="5276850" cy="3940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175260" lvl="0" marL="530860" marR="136525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nombres y apellidos  de todos los empleados y la primera  incidencia de: commission_pct,  manager_id o 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un empleado obtiene una comisión,  muestre la columna commission_pct;  si no hay ninguna comisión, muestre  su manager_id; si no tiene ni comisión  ni jefe, el número 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9779" y="1911096"/>
            <a:ext cx="2621279" cy="393191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 txBox="1"/>
          <p:nvPr/>
        </p:nvSpPr>
        <p:spPr>
          <a:xfrm>
            <a:off x="5529047" y="1471677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31"/>
          <p:cNvSpPr txBox="1"/>
          <p:nvPr/>
        </p:nvSpPr>
        <p:spPr>
          <a:xfrm>
            <a:off x="483552" y="1469473"/>
            <a:ext cx="3893820" cy="402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7865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 apellidos de todos los  empleados, salarios y  job_grade para todos los  empleados que trabajan  en departamentos con  department_id superior a  50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job_grades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9991" y="2345436"/>
            <a:ext cx="3166871" cy="315467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32"/>
          <p:cNvSpPr txBox="1"/>
          <p:nvPr/>
        </p:nvSpPr>
        <p:spPr>
          <a:xfrm>
            <a:off x="483552" y="1469473"/>
            <a:ext cx="3852545" cy="407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23876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Elabore una lista del  apellido de todos los  empleados y el nombre  de departamento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Incluya los empleados sin  departamentos y los  departamentos sin  empleados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7379" y="2345435"/>
            <a:ext cx="2173223" cy="393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2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73" name="Google Shape;273;p3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280" name="Google Shape;280;p33"/>
          <p:cNvSpPr txBox="1"/>
          <p:nvPr/>
        </p:nvSpPr>
        <p:spPr>
          <a:xfrm>
            <a:off x="483552" y="1393401"/>
            <a:ext cx="5552440" cy="85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recorrido de árboles de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483552" y="2189609"/>
            <a:ext cx="5815330" cy="366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530860" marR="36195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apellidos de todos los empleados, apellido  de su jefe y su posición en la compañía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jefe de nivel superior tiene la posición 1,  los subordinados de este jefe tienen la  posición 2, sus subordinados tienen la  posición 3, y así sucesivamente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2225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Inicie la lista con el número de empleado  100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7856" y="1868423"/>
            <a:ext cx="2458198" cy="355547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3"/>
          <p:cNvSpPr txBox="1"/>
          <p:nvPr/>
        </p:nvSpPr>
        <p:spPr>
          <a:xfrm>
            <a:off x="6195063" y="1485393"/>
            <a:ext cx="26917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3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85" name="Google Shape;285;p3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/>
        </p:nvSpPr>
        <p:spPr>
          <a:xfrm>
            <a:off x="483552" y="1469473"/>
            <a:ext cx="3884295" cy="336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la  primera fecha de  contratación, la última  fecha de contratación y el  número de empleados de  la tabla 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4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95" name="Google Shape;295;p34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graphicFrame>
        <p:nvGraphicFramePr>
          <p:cNvPr id="296" name="Google Shape;296;p34"/>
          <p:cNvGraphicFramePr/>
          <p:nvPr/>
        </p:nvGraphicFramePr>
        <p:xfrm>
          <a:off x="4566411" y="1524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{BADACDAF-A3E6-4AA4-AFE1-240807D0D611}</a:tableStyleId>
              </a:tblPr>
              <a:tblGrid>
                <a:gridCol w="1077600"/>
                <a:gridCol w="993775"/>
                <a:gridCol w="1843400"/>
              </a:tblGrid>
              <a:tr h="92445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 de la Consulta: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 hMerge="1"/>
                <a:tc hMerge="1"/>
              </a:tr>
              <a:tr h="3388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Lowest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of Employees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925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17-Jun-1987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29-Jan-2000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817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302" name="Google Shape;302;p35"/>
          <p:cNvSpPr txBox="1"/>
          <p:nvPr/>
        </p:nvSpPr>
        <p:spPr>
          <a:xfrm>
            <a:off x="483552" y="1393401"/>
            <a:ext cx="4615815" cy="407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42595" rtl="0" algn="just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nombres de  departamento y los costos de  departamento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0860" marR="0" rtl="0" algn="just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(sumados los salarios)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Incluya solo los departamentos  cuyos costos de salarios sean de  entre 15000 y 31000, y ordene la  lista por el costo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555" y="2305811"/>
            <a:ext cx="2999219" cy="190042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5411010" y="1865900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5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06" name="Google Shape;306;p3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36"/>
          <p:cNvSpPr txBox="1"/>
          <p:nvPr>
            <p:ph idx="1" type="body"/>
          </p:nvPr>
        </p:nvSpPr>
        <p:spPr>
          <a:xfrm>
            <a:off x="483552" y="1469473"/>
            <a:ext cx="38253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Problema:</a:t>
            </a:r>
            <a:endParaRPr/>
          </a:p>
          <a:p>
            <a:pPr indent="-342900" lvl="0" marL="698500" marR="18034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	</a:t>
            </a:r>
            <a:r>
              <a:rPr lang="en-US" sz="2400"/>
              <a:t>Cree una lista de  nombres de  departamento, el ID de  jefe, el nombre del jefe  (apellido del empleado)  de dicho departamento  y el salario medio de  cada departamento</a:t>
            </a:r>
            <a:endParaRPr sz="2400"/>
          </a:p>
          <a:p>
            <a:pPr indent="-457200" lvl="0" marL="46990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Tablas Utilizadas: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	</a:t>
            </a:r>
            <a:r>
              <a:rPr lang="en-US" sz="2400"/>
              <a:t>Employees, Departments</a:t>
            </a:r>
            <a:endParaRPr sz="2400"/>
          </a:p>
        </p:txBody>
      </p:sp>
      <p:sp>
        <p:nvSpPr>
          <p:cNvPr id="314" name="Google Shape;314;p36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315" name="Google Shape;3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2345435"/>
            <a:ext cx="4059935" cy="162763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6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6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18" name="Google Shape;318;p3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" name="Google Shape;325;p37"/>
          <p:cNvSpPr txBox="1"/>
          <p:nvPr/>
        </p:nvSpPr>
        <p:spPr>
          <a:xfrm>
            <a:off x="483552" y="1469473"/>
            <a:ext cx="3788410" cy="37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Muestre el mayor salario  medio para los  departamentos en la  tabla 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10795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Redondee el resultado al  número entero más  cercano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7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327" name="Google Shape;32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9344" y="2345435"/>
            <a:ext cx="2723387" cy="87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7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7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30" name="Google Shape;330;p3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7" name="Google Shape;337;p38"/>
          <p:cNvSpPr txBox="1"/>
          <p:nvPr/>
        </p:nvSpPr>
        <p:spPr>
          <a:xfrm>
            <a:off x="483552" y="1491489"/>
            <a:ext cx="196278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8"/>
          <p:cNvSpPr txBox="1"/>
          <p:nvPr/>
        </p:nvSpPr>
        <p:spPr>
          <a:xfrm>
            <a:off x="826452" y="1936497"/>
            <a:ext cx="3203575" cy="203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42900" lvl="0" marL="355600" marR="787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 nombres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5080" rtl="0" algn="l">
              <a:lnSpc>
                <a:spcPct val="107916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departamento y sus  costos mensuales  (sumados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salarios)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483552" y="3981025"/>
            <a:ext cx="3825240" cy="85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8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341" name="Google Shape;34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320" y="2345435"/>
            <a:ext cx="3102863" cy="2618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8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44" name="Google Shape;344;p3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39"/>
          <p:cNvSpPr txBox="1"/>
          <p:nvPr/>
        </p:nvSpPr>
        <p:spPr>
          <a:xfrm>
            <a:off x="483552" y="1469473"/>
            <a:ext cx="3830320" cy="4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17335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 nombres de  departamento y job_ids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Calcule el costo de  salarios mensuales para  cada job_id dentro de un  departamento, para cada  departamento y para  todos los departamentos  sumados juntos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9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353" name="Google Shape;3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4208" y="2345435"/>
            <a:ext cx="2723387" cy="393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9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9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56" name="Google Shape;356;p3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363" name="Google Shape;363;p40"/>
          <p:cNvSpPr txBox="1"/>
          <p:nvPr>
            <p:ph idx="1" type="body"/>
          </p:nvPr>
        </p:nvSpPr>
        <p:spPr>
          <a:xfrm>
            <a:off x="483552" y="1393401"/>
            <a:ext cx="52305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Problema:</a:t>
            </a:r>
            <a:endParaRPr/>
          </a:p>
          <a:p>
            <a:pPr indent="-175260" lvl="0" marL="530860" marR="109283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Cree una lista de nombres de  departamento y job_ids</a:t>
            </a:r>
            <a:endParaRPr sz="2400"/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Calcule el costo de salarios mensuales  para cada job_id dentro de un</a:t>
            </a:r>
            <a:endParaRPr sz="2400"/>
          </a:p>
        </p:txBody>
      </p:sp>
      <p:sp>
        <p:nvSpPr>
          <p:cNvPr id="364" name="Google Shape;364;p40"/>
          <p:cNvSpPr txBox="1"/>
          <p:nvPr/>
        </p:nvSpPr>
        <p:spPr>
          <a:xfrm>
            <a:off x="483552" y="3227453"/>
            <a:ext cx="5632450" cy="2573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53086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departamento, para cada departamento,  para cada grupo de job_ids  independientemente del departamento  y para todos los departamentos sumados  juntos (Indicación: cubo)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7459" y="1792223"/>
            <a:ext cx="2071115" cy="397763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0"/>
          <p:cNvSpPr txBox="1"/>
          <p:nvPr/>
        </p:nvSpPr>
        <p:spPr>
          <a:xfrm>
            <a:off x="5931975" y="1409322"/>
            <a:ext cx="26917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0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68" name="Google Shape;368;p4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41"/>
          <p:cNvSpPr txBox="1"/>
          <p:nvPr>
            <p:ph idx="1" type="body"/>
          </p:nvPr>
        </p:nvSpPr>
        <p:spPr>
          <a:xfrm>
            <a:off x="483552" y="1469473"/>
            <a:ext cx="38253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Problema:</a:t>
            </a:r>
            <a:endParaRPr/>
          </a:p>
          <a:p>
            <a:pPr indent="-342900" lvl="0" marL="698500" marR="2476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	</a:t>
            </a:r>
            <a:r>
              <a:rPr lang="en-US" sz="2400"/>
              <a:t>Amplíe la lista anterior  para mostrar también si  el valor de  department_id o job_id  se ha utilizado para crear  los subtotales mostrados  en la salida. (Indicación:  cubo, agrupación)</a:t>
            </a:r>
            <a:endParaRPr sz="2400"/>
          </a:p>
          <a:p>
            <a:pPr indent="-457200" lvl="0" marL="46990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Tablas Utilizadas: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	</a:t>
            </a:r>
            <a:r>
              <a:rPr lang="en-US" sz="2400"/>
              <a:t>Employees, Departments</a:t>
            </a:r>
            <a:endParaRPr sz="2400"/>
          </a:p>
        </p:txBody>
      </p:sp>
      <p:sp>
        <p:nvSpPr>
          <p:cNvPr id="376" name="Google Shape;376;p41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377" name="Google Shape;37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796" y="2013204"/>
            <a:ext cx="3099815" cy="393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1"/>
          <p:cNvSpPr txBox="1"/>
          <p:nvPr/>
        </p:nvSpPr>
        <p:spPr>
          <a:xfrm>
            <a:off x="5159104" y="1572742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1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80" name="Google Shape;380;p4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387" name="Google Shape;387;p42"/>
          <p:cNvSpPr txBox="1"/>
          <p:nvPr/>
        </p:nvSpPr>
        <p:spPr>
          <a:xfrm>
            <a:off x="483552" y="1393401"/>
            <a:ext cx="4314190" cy="440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0701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que incluya los  costos de salarios mensuales  de cada cargo dentro de un  departamento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misma lista, muestre el  costo de salarios mensuales  por ciudad. (Indicación: juegos  de agrupamiento)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85470" rtl="0" algn="l">
              <a:lnSpc>
                <a:spcPct val="107916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Departments,  Locations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8532" y="2345435"/>
            <a:ext cx="3826763" cy="320801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2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2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391" name="Google Shape;391;p4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sp>
        <p:nvSpPr>
          <p:cNvPr id="398" name="Google Shape;398;p43"/>
          <p:cNvSpPr txBox="1"/>
          <p:nvPr/>
        </p:nvSpPr>
        <p:spPr>
          <a:xfrm>
            <a:off x="483552" y="1393401"/>
            <a:ext cx="5015865" cy="445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1590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nombres de  empleados como se muestran e ID  de departamento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mismo informe, muestre los ID  y nombres de departamento. Por  último, enumere las ciudades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8895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filas no deben estar unidas, solo  aparecer en el mismo informe  (Indicación: unión)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Employees, Departments, Locations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1136" y="2346960"/>
            <a:ext cx="2641091" cy="392887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3"/>
          <p:cNvSpPr txBox="1"/>
          <p:nvPr/>
        </p:nvSpPr>
        <p:spPr>
          <a:xfrm>
            <a:off x="5948638" y="1984908"/>
            <a:ext cx="26917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3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402" name="Google Shape;402;p4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4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9" name="Google Shape;409;p44"/>
          <p:cNvSpPr txBox="1"/>
          <p:nvPr/>
        </p:nvSpPr>
        <p:spPr>
          <a:xfrm>
            <a:off x="483552" y="1469473"/>
            <a:ext cx="3825875" cy="402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98500" marR="7874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lista de inicial y  apellido de cada  empleado, salario y  nombre de  departamento de cada  empleado que gane más  de la media de su  departamento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Tablas Utilizadas: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Departments, Employees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92112" y="748031"/>
            <a:ext cx="3204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Escriba la Consulta</a:t>
            </a:r>
            <a:endParaRPr sz="3300"/>
          </a:p>
        </p:txBody>
      </p:sp>
      <p:pic>
        <p:nvPicPr>
          <p:cNvPr id="411" name="Google Shape;4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632" y="2345435"/>
            <a:ext cx="3454907" cy="2447531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4"/>
          <p:cNvSpPr txBox="1"/>
          <p:nvPr/>
        </p:nvSpPr>
        <p:spPr>
          <a:xfrm>
            <a:off x="5159104" y="1905655"/>
            <a:ext cx="3221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Resultado de la Consulta: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4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414" name="Google Shape;414;p4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421" name="Google Shape;421;p45"/>
          <p:cNvSpPr txBox="1"/>
          <p:nvPr/>
        </p:nvSpPr>
        <p:spPr>
          <a:xfrm>
            <a:off x="483552" y="1393401"/>
            <a:ext cx="759205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una consulta para producir datos especificados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Modificar una consulta para producir datos especificados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45"/>
          <p:cNvGrpSpPr/>
          <p:nvPr/>
        </p:nvGrpSpPr>
        <p:grpSpPr>
          <a:xfrm>
            <a:off x="4255020" y="3714000"/>
            <a:ext cx="4140695" cy="2263127"/>
            <a:chOff x="4255020" y="3714000"/>
            <a:chExt cx="4140695" cy="2263127"/>
          </a:xfrm>
        </p:grpSpPr>
        <p:pic>
          <p:nvPicPr>
            <p:cNvPr id="423" name="Google Shape;423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55020" y="3714000"/>
              <a:ext cx="4140695" cy="22631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7031" y="3906012"/>
              <a:ext cx="3756647" cy="18790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5" name="Google Shape;425;p45"/>
          <p:cNvSpPr txBox="1"/>
          <p:nvPr>
            <p:ph idx="10" type="dt"/>
          </p:nvPr>
        </p:nvSpPr>
        <p:spPr>
          <a:xfrm>
            <a:off x="2349185" y="6516395"/>
            <a:ext cx="2526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11-1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Asegurando la Calidad de los Resultados de las Consultas</a:t>
            </a:r>
            <a:endParaRPr/>
          </a:p>
        </p:txBody>
      </p:sp>
      <p:sp>
        <p:nvSpPr>
          <p:cNvPr id="426" name="Google Shape;426;p4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