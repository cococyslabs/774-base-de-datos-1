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B32975-2030-44FD-A115-4670B749DFC6}">
  <a:tblStyle styleId="{AAB32975-2030-44FD-A115-4670B749DFC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14:02:49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Utilice solo tablas copy_tablename en todas las transacciones de DML.</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 actualizar varias columnas, las columnas deben estar separadas por una coma.</a:t>
            </a:r>
            <a:endParaRPr/>
          </a:p>
        </p:txBody>
      </p:sp>
      <p:sp>
        <p:nvSpPr>
          <p:cNvPr id="124" name="Google Shape;124;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14:02:57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Consulta 1: devolverá un error porque department_id 15 no existe.</a:t>
            </a:r>
            <a:endParaRPr/>
          </a:p>
          <a:p>
            <a:pPr indent="0" lvl="0" marL="0" rtl="0" algn="l">
              <a:spcBef>
                <a:spcPts val="0"/>
              </a:spcBef>
              <a:spcAft>
                <a:spcPts val="0"/>
              </a:spcAft>
              <a:buNone/>
            </a:pPr>
            <a:r>
              <a:rPr lang="en-US"/>
              <a:t>Consulta 2: devolverá un error si hay empleados con un department_id de 10</a:t>
            </a:r>
            <a:endParaRPr/>
          </a:p>
          <a:p>
            <a:pPr indent="0" lvl="0" marL="0" rtl="0" algn="l">
              <a:spcBef>
                <a:spcPts val="0"/>
              </a:spcBef>
              <a:spcAft>
                <a:spcPts val="0"/>
              </a:spcAft>
              <a:buNone/>
            </a:pPr>
            <a:r>
              <a:rPr lang="en-US"/>
              <a:t>Consulta 3 se realizará correctamente suponiendo que department_id 10 esté en la tabla de departamentos.</a:t>
            </a:r>
            <a:endParaRPr/>
          </a:p>
        </p:txBody>
      </p:sp>
      <p:sp>
        <p:nvSpPr>
          <p:cNvPr id="295" name="Google Shape;295;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385319"/>
            <a:ext cx="8359800" cy="89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93401"/>
            <a:ext cx="8042400" cy="18960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449092"/>
            <a:ext cx="1725300" cy="3669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722249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12-2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Actualización de Valores de Columna y Supresión de Filas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4922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nvSpPr>
        <p:spPr>
          <a:xfrm>
            <a:off x="483552" y="1393401"/>
            <a:ext cx="7924165" cy="265684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una sentencia UPDATE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DELETE</a:t>
            </a:r>
            <a:endParaRPr sz="2400">
              <a:latin typeface="Calibri"/>
              <a:ea typeface="Calibri"/>
              <a:cs typeface="Calibri"/>
              <a:sym typeface="Calibri"/>
            </a:endParaRPr>
          </a:p>
          <a:p>
            <a:pPr indent="-175260" lvl="0" marL="530860" marR="33591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que utilice una subconsulta para actualizar y suprimir datos de una tabla</a:t>
            </a:r>
            <a:endParaRPr sz="2400">
              <a:latin typeface="Calibri"/>
              <a:ea typeface="Calibri"/>
              <a:cs typeface="Calibri"/>
              <a:sym typeface="Calibri"/>
            </a:endParaRPr>
          </a:p>
          <a:p>
            <a:pPr indent="-175260" lvl="0" marL="530860" marR="508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que utilice una subconsulta correlacionada para actualizar y suprimir datos de una tabla</a:t>
            </a:r>
            <a:endParaRPr sz="2400">
              <a:latin typeface="Calibri"/>
              <a:ea typeface="Calibri"/>
              <a:cs typeface="Calibri"/>
              <a:sym typeface="Calibri"/>
            </a:endParaRPr>
          </a:p>
        </p:txBody>
      </p:sp>
      <p:grpSp>
        <p:nvGrpSpPr>
          <p:cNvPr id="74" name="Google Shape;74;p15"/>
          <p:cNvGrpSpPr/>
          <p:nvPr/>
        </p:nvGrpSpPr>
        <p:grpSpPr>
          <a:xfrm>
            <a:off x="5582412" y="4023359"/>
            <a:ext cx="2958083" cy="2346959"/>
            <a:chOff x="5582412" y="4023359"/>
            <a:chExt cx="2958083" cy="2346959"/>
          </a:xfrm>
        </p:grpSpPr>
        <p:pic>
          <p:nvPicPr>
            <p:cNvPr id="75" name="Google Shape;75;p15"/>
            <p:cNvPicPr preferRelativeResize="0"/>
            <p:nvPr/>
          </p:nvPicPr>
          <p:blipFill rotWithShape="1">
            <a:blip r:embed="rId3">
              <a:alphaModFix/>
            </a:blip>
            <a:srcRect b="0" l="0" r="0" t="0"/>
            <a:stretch/>
          </p:blipFill>
          <p:spPr>
            <a:xfrm>
              <a:off x="5582412" y="4023359"/>
              <a:ext cx="2958083" cy="2346959"/>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774436" y="4215383"/>
              <a:ext cx="2574035" cy="1962911"/>
            </a:xfrm>
            <a:prstGeom prst="rect">
              <a:avLst/>
            </a:prstGeom>
            <a:noFill/>
            <a:ln>
              <a:noFill/>
            </a:ln>
          </p:spPr>
        </p:pic>
      </p:grpSp>
      <p:sp>
        <p:nvSpPr>
          <p:cNvPr id="77" name="Google Shape;77;p15"/>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Objetivos</a:t>
            </a:r>
            <a:endParaRPr/>
          </a:p>
        </p:txBody>
      </p:sp>
      <p:sp>
        <p:nvSpPr>
          <p:cNvPr id="85" name="Google Shape;85;p16"/>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ph idx="1" type="body"/>
          </p:nvPr>
        </p:nvSpPr>
        <p:spPr>
          <a:xfrm>
            <a:off x="483552" y="1393401"/>
            <a:ext cx="8042400" cy="21432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aprenderá a:</a:t>
            </a:r>
            <a:endParaRPr/>
          </a:p>
          <a:p>
            <a:pPr indent="-175260" lvl="0" marL="530860" marR="5080" rtl="0" algn="l">
              <a:lnSpc>
                <a:spcPct val="107916"/>
              </a:lnSpc>
              <a:spcBef>
                <a:spcPts val="475"/>
              </a:spcBef>
              <a:spcAft>
                <a:spcPts val="0"/>
              </a:spcAft>
              <a:buNone/>
            </a:pPr>
            <a:r>
              <a:rPr lang="en-US" sz="2400">
                <a:solidFill>
                  <a:srgbClr val="D1350F"/>
                </a:solidFill>
              </a:rPr>
              <a:t>−</a:t>
            </a:r>
            <a:r>
              <a:rPr lang="en-US" sz="2400"/>
              <a:t>Explicar cómo las restricciones de integridad de clave ajena y clave primaria afectan a las sentencias UPDATE y DELETE</a:t>
            </a:r>
            <a:endParaRPr sz="2400"/>
          </a:p>
          <a:p>
            <a:pPr indent="-175260" lvl="0" marL="530860" marR="897255" rtl="0" algn="l">
              <a:lnSpc>
                <a:spcPct val="107916"/>
              </a:lnSpc>
              <a:spcBef>
                <a:spcPts val="400"/>
              </a:spcBef>
              <a:spcAft>
                <a:spcPts val="1200"/>
              </a:spcAft>
              <a:buNone/>
            </a:pPr>
            <a:r>
              <a:rPr lang="en-US" sz="2400">
                <a:solidFill>
                  <a:srgbClr val="D1350F"/>
                </a:solidFill>
              </a:rPr>
              <a:t>−</a:t>
            </a:r>
            <a:r>
              <a:rPr lang="en-US" sz="2400"/>
              <a:t>Explicar el objetivo de la cláusula FOR UPDATE en una sentencia SELECT</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17"/>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381889"/>
            <a:ext cx="8119745" cy="4613910"/>
          </a:xfrm>
          <a:prstGeom prst="rect">
            <a:avLst/>
          </a:prstGeom>
          <a:noFill/>
          <a:ln>
            <a:noFill/>
          </a:ln>
        </p:spPr>
        <p:txBody>
          <a:bodyPr anchorCtr="0" anchor="t" bIns="0" lIns="0" spcFirstLastPara="1" rIns="0" wrap="square" tIns="97150">
            <a:spAutoFit/>
          </a:bodyPr>
          <a:lstStyle/>
          <a:p>
            <a:pPr indent="-177800" lvl="0" marL="182880" marR="236854"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sería un mundo maravilloso si, una vez que se ha 	obtenido algo, nunca fuera necesario cambiarlo o 	rehacerlo?</a:t>
            </a:r>
            <a:endParaRPr sz="2800">
              <a:latin typeface="Calibri"/>
              <a:ea typeface="Calibri"/>
              <a:cs typeface="Calibri"/>
              <a:sym typeface="Calibri"/>
            </a:endParaRPr>
          </a:p>
          <a:p>
            <a:pPr indent="-177800" lvl="0" marL="182880" marR="72390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cama se quedaría hecha, la ropa se mantendría 	limpia y siempre obtendría aprobados</a:t>
            </a:r>
            <a:endParaRPr sz="2800">
              <a:latin typeface="Calibri"/>
              <a:ea typeface="Calibri"/>
              <a:cs typeface="Calibri"/>
              <a:sym typeface="Calibri"/>
            </a:endParaRPr>
          </a:p>
          <a:p>
            <a:pPr indent="-177800" lvl="0" marL="182880" marR="414020"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Lamentablemente en las bases de datos, como en la 	vida, "No hay nada permanente excepto el cambio"</a:t>
            </a:r>
            <a:endParaRPr sz="2800">
              <a:latin typeface="Calibri"/>
              <a:ea typeface="Calibri"/>
              <a:cs typeface="Calibri"/>
              <a:sym typeface="Calibri"/>
            </a:endParaRPr>
          </a:p>
          <a:p>
            <a:pPr indent="-177800" lvl="0" marL="182880"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actualización, inserción, supresión y gestión de 	datos es un trabajo del administrador de base de datos 	(DBA)</a:t>
            </a:r>
            <a:endParaRPr sz="2800">
              <a:latin typeface="Calibri"/>
              <a:ea typeface="Calibri"/>
              <a:cs typeface="Calibri"/>
              <a:sym typeface="Calibri"/>
            </a:endParaRPr>
          </a:p>
          <a:p>
            <a:pPr indent="-177800" lvl="0" marL="182880" marR="40957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convertirá en el DBA de su propio 	esquema y aprenderá a gestionar la base de datos</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1492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UPDATE:</a:t>
            </a:r>
            <a:endParaRPr/>
          </a:p>
        </p:txBody>
      </p:sp>
      <p:sp>
        <p:nvSpPr>
          <p:cNvPr id="103" name="Google Shape;103;p18"/>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04" name="Google Shape;104;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7946390" cy="4370070"/>
          </a:xfrm>
          <a:prstGeom prst="rect">
            <a:avLst/>
          </a:prstGeom>
          <a:noFill/>
          <a:ln>
            <a:noFill/>
          </a:ln>
        </p:spPr>
        <p:txBody>
          <a:bodyPr anchorCtr="0" anchor="t" bIns="0" lIns="0" spcFirstLastPara="1" rIns="0" wrap="square" tIns="59675">
            <a:spAutoFit/>
          </a:bodyPr>
          <a:lstStyle/>
          <a:p>
            <a:pPr indent="-177800" lvl="0" marL="182880" marR="5734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UPDATE se utiliza para modificar filas 	existentes de una tabla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UPDATE necesita cuatro valores:</a:t>
            </a:r>
            <a:endParaRPr sz="2800">
              <a:latin typeface="Calibri"/>
              <a:ea typeface="Calibri"/>
              <a:cs typeface="Calibri"/>
              <a:sym typeface="Calibri"/>
            </a:endParaRPr>
          </a:p>
          <a:p>
            <a:pPr indent="0" lvl="0" marL="355600" rtl="0" algn="l">
              <a:lnSpc>
                <a:spcPct val="100000"/>
              </a:lnSpc>
              <a:spcBef>
                <a:spcPts val="1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nombre de la tabla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nombre de las columnas cuyos valores se van a modificar</a:t>
            </a:r>
            <a:endParaRPr sz="2400">
              <a:latin typeface="Calibri"/>
              <a:ea typeface="Calibri"/>
              <a:cs typeface="Calibri"/>
              <a:sym typeface="Calibri"/>
            </a:endParaRPr>
          </a:p>
          <a:p>
            <a:pPr indent="-175260" lvl="0" marL="530860" marR="10223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 nuevo valor para cada una de las columnas que se están modificando</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condición que identifique las filas de la tabla que se van a modificar</a:t>
            </a:r>
            <a:endParaRPr sz="2400">
              <a:latin typeface="Calibri"/>
              <a:ea typeface="Calibri"/>
              <a:cs typeface="Calibri"/>
              <a:sym typeface="Calibri"/>
            </a:endParaRPr>
          </a:p>
          <a:p>
            <a:pPr indent="-177800" lvl="0" marL="182880" marR="119761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nuevo valor para una columna puede ser el 	resultado de una subconsulta de una sola fila</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138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UPDATE</a:t>
            </a:r>
            <a:endParaRPr/>
          </a:p>
        </p:txBody>
      </p:sp>
      <p:sp>
        <p:nvSpPr>
          <p:cNvPr id="112" name="Google Shape;112;p19"/>
          <p:cNvSpPr txBox="1"/>
          <p:nvPr/>
        </p:nvSpPr>
        <p:spPr>
          <a:xfrm>
            <a:off x="483552" y="1415417"/>
            <a:ext cx="8140700" cy="2090420"/>
          </a:xfrm>
          <a:prstGeom prst="rect">
            <a:avLst/>
          </a:prstGeom>
          <a:noFill/>
          <a:ln>
            <a:noFill/>
          </a:ln>
        </p:spPr>
        <p:txBody>
          <a:bodyPr anchorCtr="0" anchor="t" bIns="0" lIns="0" spcFirstLastPara="1" rIns="0" wrap="square" tIns="59675">
            <a:spAutoFit/>
          </a:bodyPr>
          <a:lstStyle/>
          <a:p>
            <a:pPr indent="-177800" lvl="0" marL="182880" marR="28384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se utiliza una sentencia UPDATE para 	cambiar el número de teléfono de un empleado en la 	tabla de empleados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la tabla copy_employees se utiliza 	en esta transacción</a:t>
            </a:r>
            <a:endParaRPr sz="2800">
              <a:latin typeface="Calibri"/>
              <a:ea typeface="Calibri"/>
              <a:cs typeface="Calibri"/>
              <a:sym typeface="Calibri"/>
            </a:endParaRPr>
          </a:p>
        </p:txBody>
      </p:sp>
      <p:graphicFrame>
        <p:nvGraphicFramePr>
          <p:cNvPr id="113" name="Google Shape;113;p19"/>
          <p:cNvGraphicFramePr/>
          <p:nvPr/>
        </p:nvGraphicFramePr>
        <p:xfrm>
          <a:off x="756875" y="4844844"/>
          <a:ext cx="3000000" cy="3000000"/>
        </p:xfrm>
        <a:graphic>
          <a:graphicData uri="http://schemas.openxmlformats.org/drawingml/2006/table">
            <a:tbl>
              <a:tblPr bandRow="1" firstRow="1">
                <a:noFill/>
                <a:tableStyleId>{AAB32975-2030-44FD-A115-4670B749DFC6}</a:tableStyleId>
              </a:tblPr>
              <a:tblGrid>
                <a:gridCol w="1849750"/>
                <a:gridCol w="1849750"/>
                <a:gridCol w="1703075"/>
                <a:gridCol w="1995800"/>
              </a:tblGrid>
              <a:tr h="3308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PHONE_NUMBER</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30825">
                <a:tc>
                  <a:txBody>
                    <a:bodyPr/>
                    <a:lstStyle/>
                    <a:p>
                      <a:pPr indent="0" lvl="0" marL="71755"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303</a:t>
                      </a:r>
                      <a:endParaRPr sz="16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Angelina</a:t>
                      </a:r>
                      <a:endParaRPr sz="16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Wright</a:t>
                      </a:r>
                      <a:endParaRPr sz="16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123456</a:t>
                      </a:r>
                      <a:endParaRPr sz="16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14" name="Google Shape;114;p19"/>
          <p:cNvSpPr/>
          <p:nvPr/>
        </p:nvSpPr>
        <p:spPr>
          <a:xfrm>
            <a:off x="393191" y="3634740"/>
            <a:ext cx="4064635" cy="810895"/>
          </a:xfrm>
          <a:custGeom>
            <a:rect b="b" l="l" r="r" t="t"/>
            <a:pathLst>
              <a:path extrusionOk="0" h="810895" w="4064635">
                <a:moveTo>
                  <a:pt x="4064508" y="0"/>
                </a:moveTo>
                <a:lnTo>
                  <a:pt x="0" y="0"/>
                </a:lnTo>
                <a:lnTo>
                  <a:pt x="0" y="810768"/>
                </a:lnTo>
                <a:lnTo>
                  <a:pt x="4064508" y="810768"/>
                </a:lnTo>
                <a:lnTo>
                  <a:pt x="4064508"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5" name="Google Shape;115;p19"/>
          <p:cNvSpPr txBox="1"/>
          <p:nvPr/>
        </p:nvSpPr>
        <p:spPr>
          <a:xfrm>
            <a:off x="380493" y="3588570"/>
            <a:ext cx="371221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phone_number = '</a:t>
            </a:r>
            <a:r>
              <a:rPr b="1" lang="en-US" sz="1800">
                <a:solidFill>
                  <a:srgbClr val="D1350F"/>
                </a:solidFill>
                <a:latin typeface="Courier New"/>
                <a:ea typeface="Courier New"/>
                <a:cs typeface="Courier New"/>
                <a:sym typeface="Courier New"/>
              </a:rPr>
              <a:t>123456</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
        <p:nvSpPr>
          <p:cNvPr id="116" name="Google Shape;116;p19"/>
          <p:cNvSpPr txBox="1"/>
          <p:nvPr/>
        </p:nvSpPr>
        <p:spPr>
          <a:xfrm>
            <a:off x="380264" y="4137210"/>
            <a:ext cx="330200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a:t>
            </a:r>
            <a:r>
              <a:rPr b="1" lang="en-US" sz="1800">
                <a:solidFill>
                  <a:srgbClr val="D1350F"/>
                </a:solidFill>
                <a:latin typeface="Courier New"/>
                <a:ea typeface="Courier New"/>
                <a:cs typeface="Courier New"/>
                <a:sym typeface="Courier New"/>
              </a:rPr>
              <a:t>303</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
        <p:nvSpPr>
          <p:cNvPr id="117" name="Google Shape;117;p19"/>
          <p:cNvSpPr/>
          <p:nvPr/>
        </p:nvSpPr>
        <p:spPr>
          <a:xfrm>
            <a:off x="3431692" y="3512820"/>
            <a:ext cx="5137785" cy="757555"/>
          </a:xfrm>
          <a:custGeom>
            <a:rect b="b" l="l" r="r" t="t"/>
            <a:pathLst>
              <a:path extrusionOk="0" h="757554" w="5137784">
                <a:moveTo>
                  <a:pt x="5137759" y="0"/>
                </a:moveTo>
                <a:lnTo>
                  <a:pt x="1666087" y="0"/>
                </a:lnTo>
                <a:lnTo>
                  <a:pt x="1666087" y="126238"/>
                </a:lnTo>
                <a:lnTo>
                  <a:pt x="0" y="284607"/>
                </a:lnTo>
                <a:lnTo>
                  <a:pt x="1666087" y="315595"/>
                </a:lnTo>
                <a:lnTo>
                  <a:pt x="1666087" y="757428"/>
                </a:lnTo>
                <a:lnTo>
                  <a:pt x="5137759" y="757428"/>
                </a:lnTo>
                <a:lnTo>
                  <a:pt x="5137759"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8" name="Google Shape;118;p19"/>
          <p:cNvSpPr txBox="1"/>
          <p:nvPr/>
        </p:nvSpPr>
        <p:spPr>
          <a:xfrm>
            <a:off x="5176841" y="3589018"/>
            <a:ext cx="3312795" cy="546735"/>
          </a:xfrm>
          <a:prstGeom prst="rect">
            <a:avLst/>
          </a:prstGeom>
          <a:noFill/>
          <a:ln>
            <a:noFill/>
          </a:ln>
        </p:spPr>
        <p:txBody>
          <a:bodyPr anchorCtr="0" anchor="t" bIns="0" lIns="0" spcFirstLastPara="1" rIns="0" wrap="square" tIns="43800">
            <a:spAutoFit/>
          </a:bodyPr>
          <a:lstStyle/>
          <a:p>
            <a:pPr indent="149225" lvl="0" marL="12700" marR="5080" rtl="0" algn="l">
              <a:lnSpc>
                <a:spcPct val="107722"/>
              </a:lnSpc>
              <a:spcBef>
                <a:spcPts val="0"/>
              </a:spcBef>
              <a:spcAft>
                <a:spcPts val="0"/>
              </a:spcAft>
              <a:buNone/>
            </a:pPr>
            <a:r>
              <a:rPr b="1" lang="en-US" sz="1800">
                <a:solidFill>
                  <a:srgbClr val="FFFFFF"/>
                </a:solidFill>
                <a:latin typeface="Calibri"/>
                <a:ea typeface="Calibri"/>
                <a:cs typeface="Calibri"/>
                <a:sym typeface="Calibri"/>
              </a:rPr>
              <a:t>Se recomienda que la sentencia UPDATE aparezca sola en una línea</a:t>
            </a:r>
            <a:endParaRPr sz="1800">
              <a:latin typeface="Calibri"/>
              <a:ea typeface="Calibri"/>
              <a:cs typeface="Calibri"/>
              <a:sym typeface="Calibri"/>
            </a:endParaRPr>
          </a:p>
        </p:txBody>
      </p:sp>
      <p:sp>
        <p:nvSpPr>
          <p:cNvPr id="119" name="Google Shape;119;p19"/>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20" name="Google Shape;120;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1" name="Google Shape;121;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392112" y="748031"/>
            <a:ext cx="138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UPDATE</a:t>
            </a:r>
            <a:endParaRPr/>
          </a:p>
        </p:txBody>
      </p:sp>
      <p:sp>
        <p:nvSpPr>
          <p:cNvPr id="127" name="Google Shape;127;p20"/>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28" name="Google Shape;128;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9" name="Google Shape;129;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0" name="Google Shape;130;p20"/>
          <p:cNvSpPr txBox="1"/>
          <p:nvPr/>
        </p:nvSpPr>
        <p:spPr>
          <a:xfrm>
            <a:off x="483552" y="1415417"/>
            <a:ext cx="7974965" cy="1706245"/>
          </a:xfrm>
          <a:prstGeom prst="rect">
            <a:avLst/>
          </a:prstGeom>
          <a:noFill/>
          <a:ln>
            <a:noFill/>
          </a:ln>
        </p:spPr>
        <p:txBody>
          <a:bodyPr anchorCtr="0" anchor="t" bIns="0" lIns="0" spcFirstLastPara="1" rIns="0" wrap="square" tIns="59675">
            <a:spAutoFit/>
          </a:bodyPr>
          <a:lstStyle/>
          <a:p>
            <a:pPr indent="-177800" lvl="0" marL="182880" marR="22732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Podemos cambiar varias columnas y/o varias filas en 	una sentencia UPDATE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cambia el número de teléfono y el 	apellido de dos empleados</a:t>
            </a:r>
            <a:endParaRPr sz="2800">
              <a:latin typeface="Calibri"/>
              <a:ea typeface="Calibri"/>
              <a:cs typeface="Calibri"/>
              <a:sym typeface="Calibri"/>
            </a:endParaRPr>
          </a:p>
        </p:txBody>
      </p:sp>
      <p:graphicFrame>
        <p:nvGraphicFramePr>
          <p:cNvPr id="131" name="Google Shape;131;p20"/>
          <p:cNvGraphicFramePr/>
          <p:nvPr/>
        </p:nvGraphicFramePr>
        <p:xfrm>
          <a:off x="741686" y="4579244"/>
          <a:ext cx="3000000" cy="3000000"/>
        </p:xfrm>
        <a:graphic>
          <a:graphicData uri="http://schemas.openxmlformats.org/drawingml/2006/table">
            <a:tbl>
              <a:tblPr bandRow="1" firstRow="1">
                <a:noFill/>
                <a:tableStyleId>{AAB32975-2030-44FD-A115-4670B749DFC6}</a:tableStyleId>
              </a:tblPr>
              <a:tblGrid>
                <a:gridCol w="1898650"/>
                <a:gridCol w="1898650"/>
                <a:gridCol w="1898650"/>
                <a:gridCol w="1898650"/>
              </a:tblGrid>
              <a:tr h="3772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PHONE_NUMBER</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772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303</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Angelina</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Jones</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654321</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7720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304</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Test</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Jones</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654321</a:t>
                      </a:r>
                      <a:endParaRPr sz="1600" u="none" cap="none" strike="noStrike">
                        <a:latin typeface="Calibri"/>
                        <a:ea typeface="Calibri"/>
                        <a:cs typeface="Calibri"/>
                        <a:sym typeface="Calibri"/>
                      </a:endParaRPr>
                    </a:p>
                  </a:txBody>
                  <a:tcPr marT="5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32" name="Google Shape;132;p20"/>
          <p:cNvSpPr txBox="1"/>
          <p:nvPr/>
        </p:nvSpPr>
        <p:spPr>
          <a:xfrm>
            <a:off x="405384" y="3314700"/>
            <a:ext cx="8345805" cy="8108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5277"/>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marR="178688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phone_number = '</a:t>
            </a:r>
            <a:r>
              <a:rPr b="1" lang="en-US" sz="1800">
                <a:solidFill>
                  <a:srgbClr val="D1350F"/>
                </a:solidFill>
                <a:latin typeface="Courier New"/>
                <a:ea typeface="Courier New"/>
                <a:cs typeface="Courier New"/>
                <a:sym typeface="Courier New"/>
              </a:rPr>
              <a:t>654321</a:t>
            </a:r>
            <a:r>
              <a:rPr b="1" lang="en-US" sz="1800">
                <a:solidFill>
                  <a:srgbClr val="4E3629"/>
                </a:solidFill>
                <a:latin typeface="Courier New"/>
                <a:ea typeface="Courier New"/>
                <a:cs typeface="Courier New"/>
                <a:sym typeface="Courier New"/>
              </a:rPr>
              <a:t>', last_name = '</a:t>
            </a:r>
            <a:r>
              <a:rPr b="1" lang="en-US" sz="1800">
                <a:solidFill>
                  <a:srgbClr val="D1350F"/>
                </a:solidFill>
                <a:latin typeface="Courier New"/>
                <a:ea typeface="Courier New"/>
                <a:cs typeface="Courier New"/>
                <a:sym typeface="Courier New"/>
              </a:rPr>
              <a:t>Jones</a:t>
            </a:r>
            <a:r>
              <a:rPr b="1" lang="en-US" sz="1800">
                <a:solidFill>
                  <a:srgbClr val="4E3629"/>
                </a:solidFill>
                <a:latin typeface="Courier New"/>
                <a:ea typeface="Courier New"/>
                <a:cs typeface="Courier New"/>
                <a:sym typeface="Courier New"/>
              </a:rPr>
              <a:t>' WHERE employee_id &gt;= 303;</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92112" y="748031"/>
            <a:ext cx="138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UPDATE</a:t>
            </a:r>
            <a:endParaRPr/>
          </a:p>
        </p:txBody>
      </p:sp>
      <p:sp>
        <p:nvSpPr>
          <p:cNvPr id="138" name="Google Shape;138;p21"/>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39" name="Google Shape;139;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0" name="Google Shape;140;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1" name="Google Shape;141;p21"/>
          <p:cNvSpPr txBox="1"/>
          <p:nvPr/>
        </p:nvSpPr>
        <p:spPr>
          <a:xfrm>
            <a:off x="483552" y="1355371"/>
            <a:ext cx="8181340" cy="186817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cuidado al actualizar los valores de columna</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cláusula WHERE se omite, todas las filas de la tabla 	se actualizarán</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que esto no sea lo deseado</a:t>
            </a:r>
            <a:endParaRPr sz="2800">
              <a:latin typeface="Calibri"/>
              <a:ea typeface="Calibri"/>
              <a:cs typeface="Calibri"/>
              <a:sym typeface="Calibri"/>
            </a:endParaRPr>
          </a:p>
        </p:txBody>
      </p:sp>
      <p:graphicFrame>
        <p:nvGraphicFramePr>
          <p:cNvPr id="142" name="Google Shape;142;p21"/>
          <p:cNvGraphicFramePr/>
          <p:nvPr/>
        </p:nvGraphicFramePr>
        <p:xfrm>
          <a:off x="588201" y="4081965"/>
          <a:ext cx="3000000" cy="3000000"/>
        </p:xfrm>
        <a:graphic>
          <a:graphicData uri="http://schemas.openxmlformats.org/drawingml/2006/table">
            <a:tbl>
              <a:tblPr bandRow="1" firstRow="1">
                <a:noFill/>
                <a:tableStyleId>{AAB32975-2030-44FD-A115-4670B749DFC6}</a:tableStyleId>
              </a:tblPr>
              <a:tblGrid>
                <a:gridCol w="1970400"/>
                <a:gridCol w="1970400"/>
                <a:gridCol w="1970400"/>
                <a:gridCol w="1970400"/>
              </a:tblGrid>
              <a:tr h="232400">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FIRST_NAME</a:t>
                      </a:r>
                      <a:endParaRPr sz="12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PHONE_NUMBER</a:t>
                      </a:r>
                      <a:endParaRPr sz="12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193675">
                <a:tc>
                  <a:txBody>
                    <a:bodyPr/>
                    <a:lstStyle/>
                    <a:p>
                      <a:pPr indent="0" lvl="0" marL="7175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Steven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175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Neena</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102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Lex</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200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Jennifer</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Shelley</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William</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149</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Eleni</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174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Ellen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Jones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654321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93675">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7499"/>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43" name="Google Shape;143;p21"/>
          <p:cNvSpPr txBox="1"/>
          <p:nvPr/>
        </p:nvSpPr>
        <p:spPr>
          <a:xfrm>
            <a:off x="405384" y="3343655"/>
            <a:ext cx="8345805" cy="611505"/>
          </a:xfrm>
          <a:prstGeom prst="rect">
            <a:avLst/>
          </a:prstGeom>
          <a:solidFill>
            <a:srgbClr val="9DBDC4">
              <a:alpha val="49804"/>
            </a:srgbClr>
          </a:solidFill>
          <a:ln>
            <a:noFill/>
          </a:ln>
        </p:spPr>
        <p:txBody>
          <a:bodyPr anchorCtr="0" anchor="t" bIns="0" lIns="0" spcFirstLastPara="1" rIns="0" wrap="square" tIns="31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phone_number = '</a:t>
            </a:r>
            <a:r>
              <a:rPr b="1" lang="en-US" sz="1800">
                <a:solidFill>
                  <a:srgbClr val="D1350F"/>
                </a:solidFill>
                <a:latin typeface="Courier New"/>
                <a:ea typeface="Courier New"/>
                <a:cs typeface="Courier New"/>
                <a:sym typeface="Courier New"/>
              </a:rPr>
              <a:t>654321</a:t>
            </a:r>
            <a:r>
              <a:rPr b="1" lang="en-US" sz="1800">
                <a:solidFill>
                  <a:srgbClr val="4E3629"/>
                </a:solidFill>
                <a:latin typeface="Courier New"/>
                <a:ea typeface="Courier New"/>
                <a:cs typeface="Courier New"/>
                <a:sym typeface="Courier New"/>
              </a:rPr>
              <a:t>', last_name = '</a:t>
            </a:r>
            <a:r>
              <a:rPr b="1" lang="en-US" sz="1800">
                <a:solidFill>
                  <a:srgbClr val="D1350F"/>
                </a:solidFill>
                <a:latin typeface="Courier New"/>
                <a:ea typeface="Courier New"/>
                <a:cs typeface="Courier New"/>
                <a:sym typeface="Courier New"/>
              </a:rPr>
              <a:t>Jones</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392112" y="385319"/>
            <a:ext cx="83598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Actualización de una Columna con un Valor de una Subconsulta</a:t>
            </a:r>
            <a:endParaRPr sz="3000"/>
          </a:p>
        </p:txBody>
      </p:sp>
      <p:sp>
        <p:nvSpPr>
          <p:cNvPr id="149" name="Google Shape;149;p22"/>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50" name="Google Shape;150;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1" name="Google Shape;151;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2" name="Google Shape;152;p22"/>
          <p:cNvSpPr txBox="1"/>
          <p:nvPr/>
        </p:nvSpPr>
        <p:spPr>
          <a:xfrm>
            <a:off x="483552" y="1415417"/>
            <a:ext cx="8071484"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Podemos utilizar el resultado de una subconsulta de 	una sola fila para proporcionar el valor nuevo para una 	columna actualizada</a:t>
            </a:r>
            <a:endParaRPr sz="2800">
              <a:latin typeface="Calibri"/>
              <a:ea typeface="Calibri"/>
              <a:cs typeface="Calibri"/>
              <a:sym typeface="Calibri"/>
            </a:endParaRPr>
          </a:p>
        </p:txBody>
      </p:sp>
      <p:sp>
        <p:nvSpPr>
          <p:cNvPr id="153" name="Google Shape;153;p22"/>
          <p:cNvSpPr txBox="1"/>
          <p:nvPr/>
        </p:nvSpPr>
        <p:spPr>
          <a:xfrm>
            <a:off x="483552" y="4126613"/>
            <a:ext cx="790067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cambia el salario de un empleado 	(id = 101) al mismo salario que otro empleado (id = 	100)</a:t>
            </a:r>
            <a:endParaRPr sz="2800">
              <a:latin typeface="Calibri"/>
              <a:ea typeface="Calibri"/>
              <a:cs typeface="Calibri"/>
              <a:sym typeface="Calibri"/>
            </a:endParaRPr>
          </a:p>
        </p:txBody>
      </p:sp>
      <p:graphicFrame>
        <p:nvGraphicFramePr>
          <p:cNvPr id="154" name="Google Shape;154;p22"/>
          <p:cNvGraphicFramePr/>
          <p:nvPr/>
        </p:nvGraphicFramePr>
        <p:xfrm>
          <a:off x="1819525" y="5197985"/>
          <a:ext cx="3000000" cy="3000000"/>
        </p:xfrm>
        <a:graphic>
          <a:graphicData uri="http://schemas.openxmlformats.org/drawingml/2006/table">
            <a:tbl>
              <a:tblPr bandRow="1" firstRow="1">
                <a:noFill/>
                <a:tableStyleId>{AAB32975-2030-44FD-A115-4670B749DFC6}</a:tableStyleId>
              </a:tblPr>
              <a:tblGrid>
                <a:gridCol w="1728475"/>
                <a:gridCol w="1728475"/>
                <a:gridCol w="1728475"/>
                <a:gridCol w="1728475"/>
              </a:tblGrid>
              <a:tr h="3244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244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44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55" name="Google Shape;155;p22"/>
          <p:cNvSpPr txBox="1"/>
          <p:nvPr/>
        </p:nvSpPr>
        <p:spPr>
          <a:xfrm>
            <a:off x="393191" y="2682239"/>
            <a:ext cx="8345805" cy="137668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8888"/>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salary = (SELECT salary</a:t>
            </a:r>
            <a:endParaRPr sz="1800">
              <a:latin typeface="Courier New"/>
              <a:ea typeface="Courier New"/>
              <a:cs typeface="Courier New"/>
              <a:sym typeface="Courier New"/>
            </a:endParaRPr>
          </a:p>
          <a:p>
            <a:pPr indent="313690" lvl="0" marL="1597025" marR="34639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copy_employees WHERE employee_id = 100)</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101;</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392112" y="385319"/>
            <a:ext cx="83598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Actualización de una Columna con un Valor de una Subconsulta</a:t>
            </a:r>
            <a:endParaRPr sz="3000"/>
          </a:p>
        </p:txBody>
      </p:sp>
      <p:sp>
        <p:nvSpPr>
          <p:cNvPr id="161" name="Google Shape;161;p23"/>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62" name="Google Shape;162;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3" name="Google Shape;163;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4" name="Google Shape;164;p23"/>
          <p:cNvSpPr txBox="1"/>
          <p:nvPr/>
        </p:nvSpPr>
        <p:spPr>
          <a:xfrm>
            <a:off x="483552" y="2872361"/>
            <a:ext cx="7974965"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es habitual, la subconsulta se ejecuta en primer 	lugar y recupera el salario del identificador de 	empleado = 100</a:t>
            </a:r>
            <a:endParaRPr sz="2800">
              <a:latin typeface="Calibri"/>
              <a:ea typeface="Calibri"/>
              <a:cs typeface="Calibri"/>
              <a:sym typeface="Calibri"/>
            </a:endParaRPr>
          </a:p>
          <a:p>
            <a:pPr indent="-177800" lvl="0" marL="182880" marR="35179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este valor de salario se utiliza para 	actualizar el salario del identificador de empleado = 	101</a:t>
            </a:r>
            <a:endParaRPr sz="2800">
              <a:latin typeface="Calibri"/>
              <a:ea typeface="Calibri"/>
              <a:cs typeface="Calibri"/>
              <a:sym typeface="Calibri"/>
            </a:endParaRPr>
          </a:p>
        </p:txBody>
      </p:sp>
      <p:graphicFrame>
        <p:nvGraphicFramePr>
          <p:cNvPr id="165" name="Google Shape;165;p23"/>
          <p:cNvGraphicFramePr/>
          <p:nvPr/>
        </p:nvGraphicFramePr>
        <p:xfrm>
          <a:off x="1348358" y="5086858"/>
          <a:ext cx="3000000" cy="3000000"/>
        </p:xfrm>
        <a:graphic>
          <a:graphicData uri="http://schemas.openxmlformats.org/drawingml/2006/table">
            <a:tbl>
              <a:tblPr bandRow="1" firstRow="1">
                <a:noFill/>
                <a:tableStyleId>{AAB32975-2030-44FD-A115-4670B749DFC6}</a:tableStyleId>
              </a:tblPr>
              <a:tblGrid>
                <a:gridCol w="1887225"/>
                <a:gridCol w="1887225"/>
                <a:gridCol w="1887225"/>
                <a:gridCol w="1887225"/>
              </a:tblGrid>
              <a:tr h="3244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244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4475">
                <a:tc>
                  <a:txBody>
                    <a:bodyPr/>
                    <a:lstStyle/>
                    <a:p>
                      <a:pPr indent="0" lvl="0" marL="71755"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101</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D1350F"/>
                          </a:solidFill>
                          <a:latin typeface="Calibri"/>
                          <a:ea typeface="Calibri"/>
                          <a:cs typeface="Calibri"/>
                          <a:sym typeface="Calibri"/>
                        </a:rPr>
                        <a:t>24000</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66" name="Google Shape;166;p23"/>
          <p:cNvSpPr txBox="1"/>
          <p:nvPr/>
        </p:nvSpPr>
        <p:spPr>
          <a:xfrm>
            <a:off x="405384" y="1447800"/>
            <a:ext cx="8345805" cy="137477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8888"/>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salary = (SELECT salary</a:t>
            </a:r>
            <a:endParaRPr sz="1800">
              <a:latin typeface="Courier New"/>
              <a:ea typeface="Courier New"/>
              <a:cs typeface="Courier New"/>
              <a:sym typeface="Courier New"/>
            </a:endParaRPr>
          </a:p>
          <a:p>
            <a:pPr indent="313690" lvl="0" marL="1596390" marR="34639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copy_employees WHERE employee_id = 100)</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101;</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392112" y="385319"/>
            <a:ext cx="83598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Actualización de Dos Columnas con Dos Sentencias de Subconsulta</a:t>
            </a:r>
            <a:endParaRPr sz="3000"/>
          </a:p>
        </p:txBody>
      </p:sp>
      <p:sp>
        <p:nvSpPr>
          <p:cNvPr id="172" name="Google Shape;172;p24"/>
          <p:cNvSpPr txBox="1"/>
          <p:nvPr/>
        </p:nvSpPr>
        <p:spPr>
          <a:xfrm>
            <a:off x="483552" y="1415417"/>
            <a:ext cx="8119109" cy="2858770"/>
          </a:xfrm>
          <a:prstGeom prst="rect">
            <a:avLst/>
          </a:prstGeom>
          <a:noFill/>
          <a:ln>
            <a:noFill/>
          </a:ln>
        </p:spPr>
        <p:txBody>
          <a:bodyPr anchorCtr="0" anchor="t" bIns="0" lIns="0" spcFirstLastPara="1" rIns="0" wrap="square" tIns="59675">
            <a:spAutoFit/>
          </a:bodyPr>
          <a:lstStyle/>
          <a:p>
            <a:pPr indent="-177800" lvl="0" marL="182880" marR="857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actualizar varias columnas en una sentencia 	UPDATE, es posible escribir varias subconsultas de una 	sola fila, una para cada columna</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siguiente, la sentencia UPDATE cambia el 	salario de un empleado y el identificador de cargo (id = 	206) a los mismos valores que otro empleado (id = 	205)</a:t>
            </a:r>
            <a:endParaRPr sz="2800">
              <a:latin typeface="Calibri"/>
              <a:ea typeface="Calibri"/>
              <a:cs typeface="Calibri"/>
              <a:sym typeface="Calibri"/>
            </a:endParaRPr>
          </a:p>
        </p:txBody>
      </p:sp>
      <p:pic>
        <p:nvPicPr>
          <p:cNvPr id="173" name="Google Shape;173;p24"/>
          <p:cNvPicPr preferRelativeResize="0"/>
          <p:nvPr/>
        </p:nvPicPr>
        <p:blipFill rotWithShape="1">
          <a:blip r:embed="rId3">
            <a:alphaModFix/>
          </a:blip>
          <a:srcRect b="0" l="0" r="0" t="0"/>
          <a:stretch/>
        </p:blipFill>
        <p:spPr>
          <a:xfrm>
            <a:off x="3717035" y="4472939"/>
            <a:ext cx="1709927" cy="1703831"/>
          </a:xfrm>
          <a:prstGeom prst="rect">
            <a:avLst/>
          </a:prstGeom>
          <a:noFill/>
          <a:ln>
            <a:noFill/>
          </a:ln>
        </p:spPr>
      </p:pic>
      <p:sp>
        <p:nvSpPr>
          <p:cNvPr id="174" name="Google Shape;174;p24"/>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75" name="Google Shape;175;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6" name="Google Shape;176;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392112" y="385319"/>
            <a:ext cx="83598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Actualización de Dos Columnas con Dos Sentencias de Subconsulta</a:t>
            </a:r>
            <a:endParaRPr sz="3000"/>
          </a:p>
        </p:txBody>
      </p:sp>
      <p:sp>
        <p:nvSpPr>
          <p:cNvPr id="182" name="Google Shape;182;p25"/>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83" name="Google Shape;183;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4" name="Google Shape;184;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85" name="Google Shape;185;p25"/>
          <p:cNvGraphicFramePr/>
          <p:nvPr/>
        </p:nvGraphicFramePr>
        <p:xfrm>
          <a:off x="798512" y="4243119"/>
          <a:ext cx="3000000" cy="3000000"/>
        </p:xfrm>
        <a:graphic>
          <a:graphicData uri="http://schemas.openxmlformats.org/drawingml/2006/table">
            <a:tbl>
              <a:tblPr bandRow="1" firstRow="1">
                <a:noFill/>
                <a:tableStyleId>{AAB32975-2030-44FD-A115-4670B749DFC6}</a:tableStyleId>
              </a:tblPr>
              <a:tblGrid>
                <a:gridCol w="1527175"/>
                <a:gridCol w="1527175"/>
                <a:gridCol w="1527175"/>
                <a:gridCol w="1527175"/>
                <a:gridCol w="1527175"/>
              </a:tblGrid>
              <a:tr h="3492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206</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400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86" name="Google Shape;186;p25"/>
          <p:cNvSpPr txBox="1"/>
          <p:nvPr/>
        </p:nvSpPr>
        <p:spPr>
          <a:xfrm>
            <a:off x="393191" y="1444752"/>
            <a:ext cx="8345805" cy="2313940"/>
          </a:xfrm>
          <a:prstGeom prst="rect">
            <a:avLst/>
          </a:prstGeom>
          <a:solidFill>
            <a:srgbClr val="9DBDC4">
              <a:alpha val="49804"/>
            </a:srgbClr>
          </a:solidFill>
          <a:ln>
            <a:noFill/>
          </a:ln>
        </p:spPr>
        <p:txBody>
          <a:bodyPr anchorCtr="0" anchor="t" bIns="0" lIns="0" spcFirstLastPara="1" rIns="0" wrap="square" tIns="317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salary = (SELECT salary</a:t>
            </a:r>
            <a:endParaRPr sz="1800">
              <a:latin typeface="Courier New"/>
              <a:ea typeface="Courier New"/>
              <a:cs typeface="Courier New"/>
              <a:sym typeface="Courier New"/>
            </a:endParaRPr>
          </a:p>
          <a:p>
            <a:pPr indent="0" lvl="0" marL="1910714" marR="30156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copy_employees WHERE employee_id = 205),</a:t>
            </a:r>
            <a:endParaRPr sz="1800">
              <a:latin typeface="Courier New"/>
              <a:ea typeface="Courier New"/>
              <a:cs typeface="Courier New"/>
              <a:sym typeface="Courier New"/>
            </a:endParaRPr>
          </a:p>
          <a:p>
            <a:pPr indent="0" lvl="0" marL="5467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 = (SELECT job_id</a:t>
            </a:r>
            <a:endParaRPr sz="1800">
              <a:latin typeface="Courier New"/>
              <a:ea typeface="Courier New"/>
              <a:cs typeface="Courier New"/>
              <a:sym typeface="Courier New"/>
            </a:endParaRPr>
          </a:p>
          <a:p>
            <a:pPr indent="0" lvl="0" marL="1910714" marR="31496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copy_employees WHERE employee_id = 205)</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206;</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Actualización de Filas Basada en Otra Tabla</a:t>
            </a:r>
            <a:endParaRPr/>
          </a:p>
        </p:txBody>
      </p:sp>
      <p:sp>
        <p:nvSpPr>
          <p:cNvPr id="192" name="Google Shape;192;p26"/>
          <p:cNvSpPr txBox="1"/>
          <p:nvPr/>
        </p:nvSpPr>
        <p:spPr>
          <a:xfrm>
            <a:off x="483552" y="1415417"/>
            <a:ext cx="7621905" cy="3344545"/>
          </a:xfrm>
          <a:prstGeom prst="rect">
            <a:avLst/>
          </a:prstGeom>
          <a:noFill/>
          <a:ln>
            <a:noFill/>
          </a:ln>
        </p:spPr>
        <p:txBody>
          <a:bodyPr anchorCtr="0" anchor="t" bIns="0" lIns="0" spcFirstLastPara="1" rIns="0" wrap="square" tIns="59675">
            <a:spAutoFit/>
          </a:bodyPr>
          <a:lstStyle/>
          <a:p>
            <a:pPr indent="-177800" lvl="0" marL="182880" marR="2781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puede que se espere, la subconsulta puede 	recuperar información de una tabla que, a 	continuación, se utiliza para actualizar otra tabla</a:t>
            </a:r>
            <a:endParaRPr sz="2800">
              <a:latin typeface="Calibri"/>
              <a:ea typeface="Calibri"/>
              <a:cs typeface="Calibri"/>
              <a:sym typeface="Calibri"/>
            </a:endParaRPr>
          </a:p>
          <a:p>
            <a:pPr indent="-177800" lvl="0" marL="182880" marR="7810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ha creado una copia de la tabla 	de empleados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los datos de la tabla de empleados 	original se han recuperado, copiado y utilizado para 	rellenar la tabla copy_employees</a:t>
            </a:r>
            <a:endParaRPr sz="2800">
              <a:latin typeface="Calibri"/>
              <a:ea typeface="Calibri"/>
              <a:cs typeface="Calibri"/>
              <a:sym typeface="Calibri"/>
            </a:endParaRPr>
          </a:p>
        </p:txBody>
      </p:sp>
      <p:sp>
        <p:nvSpPr>
          <p:cNvPr id="193" name="Google Shape;193;p26"/>
          <p:cNvSpPr/>
          <p:nvPr/>
        </p:nvSpPr>
        <p:spPr>
          <a:xfrm>
            <a:off x="405384" y="4757928"/>
            <a:ext cx="8345805" cy="1309370"/>
          </a:xfrm>
          <a:custGeom>
            <a:rect b="b" l="l" r="r" t="t"/>
            <a:pathLst>
              <a:path extrusionOk="0" h="1309370" w="8345805">
                <a:moveTo>
                  <a:pt x="8345424" y="0"/>
                </a:moveTo>
                <a:lnTo>
                  <a:pt x="0" y="0"/>
                </a:lnTo>
                <a:lnTo>
                  <a:pt x="0" y="1309116"/>
                </a:lnTo>
                <a:lnTo>
                  <a:pt x="8345424" y="1309116"/>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4" name="Google Shape;194;p26"/>
          <p:cNvSpPr txBox="1"/>
          <p:nvPr/>
        </p:nvSpPr>
        <p:spPr>
          <a:xfrm>
            <a:off x="404812" y="4686649"/>
            <a:ext cx="5334635" cy="13970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salary	= (SELECT salary</a:t>
            </a:r>
            <a:endParaRPr sz="1800">
              <a:latin typeface="Courier New"/>
              <a:ea typeface="Courier New"/>
              <a:cs typeface="Courier New"/>
              <a:sym typeface="Courier New"/>
            </a:endParaRPr>
          </a:p>
          <a:p>
            <a:pPr indent="0" lvl="0" marL="20478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2047875" lvl="0" marL="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205) WHERE employee_id	= 202;</a:t>
            </a:r>
            <a:endParaRPr sz="1800">
              <a:latin typeface="Courier New"/>
              <a:ea typeface="Courier New"/>
              <a:cs typeface="Courier New"/>
              <a:sym typeface="Courier New"/>
            </a:endParaRPr>
          </a:p>
        </p:txBody>
      </p:sp>
      <p:sp>
        <p:nvSpPr>
          <p:cNvPr id="195" name="Google Shape;195;p26"/>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196" name="Google Shape;196;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7" name="Google Shape;197;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392112" y="385319"/>
            <a:ext cx="8359800" cy="890100"/>
          </a:xfrm>
          <a:prstGeom prst="rect">
            <a:avLst/>
          </a:prstGeom>
          <a:noFill/>
          <a:ln>
            <a:noFill/>
          </a:ln>
        </p:spPr>
        <p:txBody>
          <a:bodyPr anchorCtr="0" anchor="t" bIns="0" lIns="0" spcFirstLastPara="1" rIns="0" wrap="square" tIns="424175">
            <a:spAutoFit/>
          </a:bodyPr>
          <a:lstStyle/>
          <a:p>
            <a:pPr indent="0" lvl="0" marL="12700" rtl="0" algn="l">
              <a:lnSpc>
                <a:spcPct val="100000"/>
              </a:lnSpc>
              <a:spcBef>
                <a:spcPts val="0"/>
              </a:spcBef>
              <a:spcAft>
                <a:spcPts val="0"/>
              </a:spcAft>
              <a:buNone/>
            </a:pPr>
            <a:r>
              <a:rPr lang="en-US" sz="3000"/>
              <a:t>Actualización de Filas con Subconsulta Correlacionada</a:t>
            </a:r>
            <a:endParaRPr sz="3000"/>
          </a:p>
        </p:txBody>
      </p:sp>
      <p:sp>
        <p:nvSpPr>
          <p:cNvPr id="203" name="Google Shape;203;p27"/>
          <p:cNvSpPr txBox="1"/>
          <p:nvPr/>
        </p:nvSpPr>
        <p:spPr>
          <a:xfrm>
            <a:off x="483552" y="1415417"/>
            <a:ext cx="7792720" cy="1706245"/>
          </a:xfrm>
          <a:prstGeom prst="rect">
            <a:avLst/>
          </a:prstGeom>
          <a:noFill/>
          <a:ln>
            <a:noFill/>
          </a:ln>
        </p:spPr>
        <p:txBody>
          <a:bodyPr anchorCtr="0" anchor="t" bIns="0" lIns="0" spcFirstLastPara="1" rIns="0" wrap="square" tIns="59675">
            <a:spAutoFit/>
          </a:bodyPr>
          <a:lstStyle/>
          <a:p>
            <a:pPr indent="-177800" lvl="0" marL="182880" marR="19024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ya sabe, las subconsultas pueden 	independientes o correlacionadas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una subconsulta correlacionada, actualiza una fila 	de una tabla según una selección de la misma tabla</a:t>
            </a:r>
            <a:endParaRPr sz="2800">
              <a:latin typeface="Calibri"/>
              <a:ea typeface="Calibri"/>
              <a:cs typeface="Calibri"/>
              <a:sym typeface="Calibri"/>
            </a:endParaRPr>
          </a:p>
        </p:txBody>
      </p:sp>
      <p:pic>
        <p:nvPicPr>
          <p:cNvPr id="204" name="Google Shape;204;p27"/>
          <p:cNvPicPr preferRelativeResize="0"/>
          <p:nvPr/>
        </p:nvPicPr>
        <p:blipFill rotWithShape="1">
          <a:blip r:embed="rId3">
            <a:alphaModFix/>
          </a:blip>
          <a:srcRect b="0" l="0" r="0" t="0"/>
          <a:stretch/>
        </p:blipFill>
        <p:spPr>
          <a:xfrm>
            <a:off x="2863595" y="3854195"/>
            <a:ext cx="3416807" cy="2508503"/>
          </a:xfrm>
          <a:prstGeom prst="rect">
            <a:avLst/>
          </a:prstGeom>
          <a:noFill/>
          <a:ln>
            <a:noFill/>
          </a:ln>
        </p:spPr>
      </p:pic>
      <p:sp>
        <p:nvSpPr>
          <p:cNvPr id="205" name="Google Shape;205;p27"/>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06" name="Google Shape;206;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7" name="Google Shape;207;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392112" y="385319"/>
            <a:ext cx="8359800" cy="890100"/>
          </a:xfrm>
          <a:prstGeom prst="rect">
            <a:avLst/>
          </a:prstGeom>
          <a:noFill/>
          <a:ln>
            <a:noFill/>
          </a:ln>
        </p:spPr>
        <p:txBody>
          <a:bodyPr anchorCtr="0" anchor="t" bIns="0" lIns="0" spcFirstLastPara="1" rIns="0" wrap="square" tIns="424175">
            <a:spAutoFit/>
          </a:bodyPr>
          <a:lstStyle/>
          <a:p>
            <a:pPr indent="0" lvl="0" marL="12700" rtl="0" algn="l">
              <a:lnSpc>
                <a:spcPct val="100000"/>
              </a:lnSpc>
              <a:spcBef>
                <a:spcPts val="0"/>
              </a:spcBef>
              <a:spcAft>
                <a:spcPts val="0"/>
              </a:spcAft>
              <a:buNone/>
            </a:pPr>
            <a:r>
              <a:rPr lang="en-US" sz="3000"/>
              <a:t>Actualización de Filas con Subconsulta Correlacionada</a:t>
            </a:r>
            <a:endParaRPr sz="3000"/>
          </a:p>
        </p:txBody>
      </p:sp>
      <p:sp>
        <p:nvSpPr>
          <p:cNvPr id="213" name="Google Shape;213;p28"/>
          <p:cNvSpPr/>
          <p:nvPr/>
        </p:nvSpPr>
        <p:spPr>
          <a:xfrm>
            <a:off x="524255" y="4317491"/>
            <a:ext cx="8345805" cy="579120"/>
          </a:xfrm>
          <a:custGeom>
            <a:rect b="b" l="l" r="r" t="t"/>
            <a:pathLst>
              <a:path extrusionOk="0" h="579120" w="8345805">
                <a:moveTo>
                  <a:pt x="8345424" y="0"/>
                </a:moveTo>
                <a:lnTo>
                  <a:pt x="0" y="0"/>
                </a:lnTo>
                <a:lnTo>
                  <a:pt x="0" y="579119"/>
                </a:lnTo>
                <a:lnTo>
                  <a:pt x="8345424" y="579119"/>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4" name="Google Shape;214;p28"/>
          <p:cNvSpPr/>
          <p:nvPr/>
        </p:nvSpPr>
        <p:spPr>
          <a:xfrm>
            <a:off x="1850135" y="4966715"/>
            <a:ext cx="7015480" cy="1484630"/>
          </a:xfrm>
          <a:custGeom>
            <a:rect b="b" l="l" r="r" t="t"/>
            <a:pathLst>
              <a:path extrusionOk="0" h="1484629" w="7015480">
                <a:moveTo>
                  <a:pt x="7014971" y="0"/>
                </a:moveTo>
                <a:lnTo>
                  <a:pt x="0" y="0"/>
                </a:lnTo>
                <a:lnTo>
                  <a:pt x="0" y="1484375"/>
                </a:lnTo>
                <a:lnTo>
                  <a:pt x="7014971" y="1484375"/>
                </a:lnTo>
                <a:lnTo>
                  <a:pt x="7014971"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5" name="Google Shape;215;p28"/>
          <p:cNvSpPr txBox="1"/>
          <p:nvPr/>
        </p:nvSpPr>
        <p:spPr>
          <a:xfrm>
            <a:off x="483552" y="1415417"/>
            <a:ext cx="8129270" cy="3867785"/>
          </a:xfrm>
          <a:prstGeom prst="rect">
            <a:avLst/>
          </a:prstGeom>
          <a:noFill/>
          <a:ln>
            <a:noFill/>
          </a:ln>
        </p:spPr>
        <p:txBody>
          <a:bodyPr anchorCtr="0" anchor="t" bIns="0" lIns="0" spcFirstLastPara="1" rIns="0" wrap="square" tIns="59675">
            <a:spAutoFit/>
          </a:bodyPr>
          <a:lstStyle/>
          <a:p>
            <a:pPr indent="-177800" lvl="0" marL="182880" marR="34544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siguiente ejemplo, se ha creado una copia de la 	columna de nombre de departamento en la tabla de 	empleados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los datos de la tabla de departamentos 	original se han recuperado, copiado y utilizado para 	rellenar la copia de la columna en la tabla 	copy_employees</a:t>
            </a:r>
            <a:endParaRPr sz="2800">
              <a:latin typeface="Calibri"/>
              <a:ea typeface="Calibri"/>
              <a:cs typeface="Calibri"/>
              <a:sym typeface="Calibri"/>
            </a:endParaRPr>
          </a:p>
          <a:p>
            <a:pPr indent="0" lvl="0" marL="40005" rtl="0" algn="l">
              <a:lnSpc>
                <a:spcPct val="100000"/>
              </a:lnSpc>
              <a:spcBef>
                <a:spcPts val="295"/>
              </a:spcBef>
              <a:spcAft>
                <a:spcPts val="0"/>
              </a:spcAft>
              <a:buNone/>
            </a:pPr>
            <a:r>
              <a:rPr b="1" lang="en-US" sz="1800">
                <a:solidFill>
                  <a:srgbClr val="4E3629"/>
                </a:solidFill>
                <a:latin typeface="Courier New"/>
                <a:ea typeface="Courier New"/>
                <a:cs typeface="Courier New"/>
                <a:sym typeface="Courier New"/>
              </a:rPr>
              <a:t>ALTER TABLE	copy_employees</a:t>
            </a:r>
            <a:endParaRPr sz="1800">
              <a:latin typeface="Courier New"/>
              <a:ea typeface="Courier New"/>
              <a:cs typeface="Courier New"/>
              <a:sym typeface="Courier New"/>
            </a:endParaRPr>
          </a:p>
          <a:p>
            <a:pPr indent="0" lvl="0" marL="400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ADD (department_name varchar2(30) NOT NULL);</a:t>
            </a:r>
            <a:endParaRPr sz="1800">
              <a:latin typeface="Courier New"/>
              <a:ea typeface="Courier New"/>
              <a:cs typeface="Courier New"/>
              <a:sym typeface="Courier New"/>
            </a:endParaRPr>
          </a:p>
          <a:p>
            <a:pPr indent="0" lvl="0" marL="1366520" rtl="0" algn="l">
              <a:lnSpc>
                <a:spcPct val="100000"/>
              </a:lnSpc>
              <a:spcBef>
                <a:spcPts val="1110"/>
              </a:spcBef>
              <a:spcAft>
                <a:spcPts val="0"/>
              </a:spcAft>
              <a:buNone/>
            </a:pPr>
            <a:r>
              <a:rPr b="1" lang="en-US" sz="1800">
                <a:solidFill>
                  <a:srgbClr val="4E3629"/>
                </a:solidFill>
                <a:latin typeface="Courier New"/>
                <a:ea typeface="Courier New"/>
                <a:cs typeface="Courier New"/>
                <a:sym typeface="Courier New"/>
              </a:rPr>
              <a:t>UPDATE	copy_employees e</a:t>
            </a:r>
            <a:endParaRPr sz="1800">
              <a:latin typeface="Courier New"/>
              <a:ea typeface="Courier New"/>
              <a:cs typeface="Courier New"/>
              <a:sym typeface="Courier New"/>
            </a:endParaRPr>
          </a:p>
        </p:txBody>
      </p:sp>
      <p:sp>
        <p:nvSpPr>
          <p:cNvPr id="216" name="Google Shape;216;p28"/>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17" name="Google Shape;217;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8" name="Google Shape;21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9" name="Google Shape;219;p28"/>
          <p:cNvSpPr txBox="1"/>
          <p:nvPr/>
        </p:nvSpPr>
        <p:spPr>
          <a:xfrm>
            <a:off x="1850175" y="5257207"/>
            <a:ext cx="2880995" cy="29972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e.department_name</a:t>
            </a:r>
            <a:endParaRPr sz="1800">
              <a:latin typeface="Courier New"/>
              <a:ea typeface="Courier New"/>
              <a:cs typeface="Courier New"/>
              <a:sym typeface="Courier New"/>
            </a:endParaRPr>
          </a:p>
        </p:txBody>
      </p:sp>
      <p:sp>
        <p:nvSpPr>
          <p:cNvPr id="220" name="Google Shape;220;p28"/>
          <p:cNvSpPr txBox="1"/>
          <p:nvPr/>
        </p:nvSpPr>
        <p:spPr>
          <a:xfrm>
            <a:off x="4989539" y="5257207"/>
            <a:ext cx="3808095" cy="1122680"/>
          </a:xfrm>
          <a:prstGeom prst="rect">
            <a:avLst/>
          </a:prstGeom>
          <a:noFill/>
          <a:ln>
            <a:noFill/>
          </a:ln>
        </p:spPr>
        <p:txBody>
          <a:bodyPr anchorCtr="0" anchor="t" bIns="0" lIns="0" spcFirstLastPara="1" rIns="0" wrap="square" tIns="12700">
            <a:spAutoFit/>
          </a:bodyPr>
          <a:lstStyle/>
          <a:p>
            <a:pPr indent="-655320" lvl="0" marL="65532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 (SELECT d.department_name FROM departments d WHERE e.department_id =</a:t>
            </a:r>
            <a:endParaRPr sz="1800">
              <a:latin typeface="Courier New"/>
              <a:ea typeface="Courier New"/>
              <a:cs typeface="Courier New"/>
              <a:sym typeface="Courier New"/>
            </a:endParaRPr>
          </a:p>
          <a:p>
            <a:pPr indent="0" lvl="0" marL="14325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d.department_id);</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DELETE</a:t>
            </a:r>
            <a:endParaRPr/>
          </a:p>
        </p:txBody>
      </p:sp>
      <p:sp>
        <p:nvSpPr>
          <p:cNvPr id="226" name="Google Shape;226;p29"/>
          <p:cNvSpPr txBox="1"/>
          <p:nvPr/>
        </p:nvSpPr>
        <p:spPr>
          <a:xfrm>
            <a:off x="483552" y="1415417"/>
            <a:ext cx="7461250" cy="2085975"/>
          </a:xfrm>
          <a:prstGeom prst="rect">
            <a:avLst/>
          </a:prstGeom>
          <a:noFill/>
          <a:ln>
            <a:noFill/>
          </a:ln>
        </p:spPr>
        <p:txBody>
          <a:bodyPr anchorCtr="0" anchor="t" bIns="0" lIns="0" spcFirstLastPara="1" rIns="0" wrap="square" tIns="59675">
            <a:spAutoFit/>
          </a:bodyPr>
          <a:lstStyle/>
          <a:p>
            <a:pPr indent="-177800" lvl="0" marL="182880" marR="3651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DELETE se utiliza para eliminar filas 	existentes de una tabla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necesita dos valores:</a:t>
            </a:r>
            <a:endParaRPr sz="2800">
              <a:latin typeface="Calibri"/>
              <a:ea typeface="Calibri"/>
              <a:cs typeface="Calibri"/>
              <a:sym typeface="Calibri"/>
            </a:endParaRPr>
          </a:p>
          <a:p>
            <a:pPr indent="0" lvl="0" marL="355600" rtl="0" algn="l">
              <a:lnSpc>
                <a:spcPct val="100000"/>
              </a:lnSpc>
              <a:spcBef>
                <a:spcPts val="1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nombre de la tabla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condición que identifica las filas que se van a suprimir</a:t>
            </a:r>
            <a:endParaRPr sz="2400">
              <a:latin typeface="Calibri"/>
              <a:ea typeface="Calibri"/>
              <a:cs typeface="Calibri"/>
              <a:sym typeface="Calibri"/>
            </a:endParaRPr>
          </a:p>
        </p:txBody>
      </p:sp>
      <p:pic>
        <p:nvPicPr>
          <p:cNvPr id="227" name="Google Shape;227;p29"/>
          <p:cNvPicPr preferRelativeResize="0"/>
          <p:nvPr/>
        </p:nvPicPr>
        <p:blipFill rotWithShape="1">
          <a:blip r:embed="rId3">
            <a:alphaModFix/>
          </a:blip>
          <a:srcRect b="0" l="0" r="0" t="0"/>
          <a:stretch/>
        </p:blipFill>
        <p:spPr>
          <a:xfrm>
            <a:off x="2679192" y="4082796"/>
            <a:ext cx="3741419" cy="2257043"/>
          </a:xfrm>
          <a:prstGeom prst="rect">
            <a:avLst/>
          </a:prstGeom>
          <a:noFill/>
          <a:ln>
            <a:noFill/>
          </a:ln>
        </p:spPr>
      </p:pic>
      <p:sp>
        <p:nvSpPr>
          <p:cNvPr id="228" name="Google Shape;228;p29"/>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29" name="Google Shape;229;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0" name="Google Shape;230;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DELETE</a:t>
            </a:r>
            <a:endParaRPr/>
          </a:p>
        </p:txBody>
      </p:sp>
      <p:sp>
        <p:nvSpPr>
          <p:cNvPr id="236" name="Google Shape;236;p30"/>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37" name="Google Shape;237;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8" name="Google Shape;238;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9" name="Google Shape;239;p30"/>
          <p:cNvSpPr txBox="1"/>
          <p:nvPr/>
        </p:nvSpPr>
        <p:spPr>
          <a:xfrm>
            <a:off x="483552" y="1415417"/>
            <a:ext cx="785368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se utiliza la copia de la tabla de 	empleados para suprimir una fila: el empleado con el 	número de identificador 303</a:t>
            </a:r>
            <a:endParaRPr sz="2800">
              <a:latin typeface="Calibri"/>
              <a:ea typeface="Calibri"/>
              <a:cs typeface="Calibri"/>
              <a:sym typeface="Calibri"/>
            </a:endParaRPr>
          </a:p>
        </p:txBody>
      </p:sp>
      <p:sp>
        <p:nvSpPr>
          <p:cNvPr id="240" name="Google Shape;240;p30"/>
          <p:cNvSpPr txBox="1"/>
          <p:nvPr/>
        </p:nvSpPr>
        <p:spPr>
          <a:xfrm>
            <a:off x="483552" y="3640457"/>
            <a:ext cx="802132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predice que se suprimirá si se elimina la cláusula 	WHERE en una sentencia DELETE?</a:t>
            </a:r>
            <a:endParaRPr sz="2800">
              <a:latin typeface="Calibri"/>
              <a:ea typeface="Calibri"/>
              <a:cs typeface="Calibri"/>
              <a:sym typeface="Calibri"/>
            </a:endParaRPr>
          </a:p>
          <a:p>
            <a:pPr indent="-177800" lvl="0" marL="182880" marR="89217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suprimen todas las filas de la tabla si omite la 	cláusula WHERE:</a:t>
            </a:r>
            <a:endParaRPr sz="2800">
              <a:latin typeface="Calibri"/>
              <a:ea typeface="Calibri"/>
              <a:cs typeface="Calibri"/>
              <a:sym typeface="Calibri"/>
            </a:endParaRPr>
          </a:p>
        </p:txBody>
      </p:sp>
      <p:sp>
        <p:nvSpPr>
          <p:cNvPr id="241" name="Google Shape;241;p30"/>
          <p:cNvSpPr txBox="1"/>
          <p:nvPr/>
        </p:nvSpPr>
        <p:spPr>
          <a:xfrm>
            <a:off x="405384" y="2755392"/>
            <a:ext cx="8345805" cy="5791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4444"/>
              </a:lnSpc>
              <a:spcBef>
                <a:spcPts val="0"/>
              </a:spcBef>
              <a:spcAft>
                <a:spcPts val="0"/>
              </a:spcAft>
              <a:buNone/>
            </a:pPr>
            <a:r>
              <a:rPr b="1" lang="en-US" sz="1800">
                <a:solidFill>
                  <a:srgbClr val="4E3629"/>
                </a:solidFill>
                <a:latin typeface="Courier New"/>
                <a:ea typeface="Courier New"/>
                <a:cs typeface="Courier New"/>
                <a:sym typeface="Courier New"/>
              </a:rPr>
              <a:t>DELETE from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303;</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Subconsulta DELETE</a:t>
            </a:r>
            <a:endParaRPr/>
          </a:p>
        </p:txBody>
      </p:sp>
      <p:sp>
        <p:nvSpPr>
          <p:cNvPr id="247" name="Google Shape;247;p31"/>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48" name="Google Shape;248;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9" name="Google Shape;249;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0" name="Google Shape;250;p31"/>
          <p:cNvSpPr txBox="1"/>
          <p:nvPr/>
        </p:nvSpPr>
        <p:spPr>
          <a:xfrm>
            <a:off x="483552" y="1415417"/>
            <a:ext cx="7931150" cy="2960370"/>
          </a:xfrm>
          <a:prstGeom prst="rect">
            <a:avLst/>
          </a:prstGeom>
          <a:noFill/>
          <a:ln>
            <a:noFill/>
          </a:ln>
        </p:spPr>
        <p:txBody>
          <a:bodyPr anchorCtr="0" anchor="t" bIns="0" lIns="0" spcFirstLastPara="1" rIns="0" wrap="square" tIns="59675">
            <a:spAutoFit/>
          </a:bodyPr>
          <a:lstStyle/>
          <a:p>
            <a:pPr indent="-177800" lvl="0" marL="182880" marR="9671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subconsultas también se pueden utilizar en 	sentencias DELETE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se suprimen las filas de la tabla de 	empleados para todos los empleados que trabajan en 	el departamento de envíos</a:t>
            </a:r>
            <a:endParaRPr sz="2800">
              <a:latin typeface="Calibri"/>
              <a:ea typeface="Calibri"/>
              <a:cs typeface="Calibri"/>
              <a:sym typeface="Calibri"/>
            </a:endParaRPr>
          </a:p>
          <a:p>
            <a:pPr indent="-177800" lvl="0" marL="182880" marR="13589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posible que este departamento haya cambiado de 	nombre o se haya cerrado</a:t>
            </a:r>
            <a:endParaRPr sz="2800">
              <a:latin typeface="Calibri"/>
              <a:ea typeface="Calibri"/>
              <a:cs typeface="Calibri"/>
              <a:sym typeface="Calibri"/>
            </a:endParaRPr>
          </a:p>
        </p:txBody>
      </p:sp>
      <p:sp>
        <p:nvSpPr>
          <p:cNvPr id="251" name="Google Shape;251;p31"/>
          <p:cNvSpPr txBox="1"/>
          <p:nvPr/>
        </p:nvSpPr>
        <p:spPr>
          <a:xfrm>
            <a:off x="6212865" y="5656152"/>
            <a:ext cx="14947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5 filas eliminadas.</a:t>
            </a:r>
            <a:endParaRPr sz="1600">
              <a:latin typeface="Calibri"/>
              <a:ea typeface="Calibri"/>
              <a:cs typeface="Calibri"/>
              <a:sym typeface="Calibri"/>
            </a:endParaRPr>
          </a:p>
        </p:txBody>
      </p:sp>
      <p:sp>
        <p:nvSpPr>
          <p:cNvPr id="252" name="Google Shape;252;p31"/>
          <p:cNvSpPr txBox="1"/>
          <p:nvPr/>
        </p:nvSpPr>
        <p:spPr>
          <a:xfrm>
            <a:off x="393191" y="4456176"/>
            <a:ext cx="5728970" cy="1518285"/>
          </a:xfrm>
          <a:prstGeom prst="rect">
            <a:avLst/>
          </a:prstGeom>
          <a:solidFill>
            <a:srgbClr val="9DBDC4">
              <a:alpha val="49804"/>
            </a:srgbClr>
          </a:solidFill>
          <a:ln>
            <a:noFill/>
          </a:ln>
        </p:spPr>
        <p:txBody>
          <a:bodyPr anchorCtr="0" anchor="t" bIns="0" lIns="0" spcFirstLastPara="1" rIns="0" wrap="square" tIns="45075">
            <a:spAutoFit/>
          </a:bodyPr>
          <a:lstStyle/>
          <a:p>
            <a:pPr indent="0" lvl="0" marL="0" marR="2171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DELETE FROM copy_employees WHERE	department_id =</a:t>
            </a:r>
            <a:endParaRPr sz="1800">
              <a:latin typeface="Courier New"/>
              <a:ea typeface="Courier New"/>
              <a:cs typeface="Courier New"/>
              <a:sym typeface="Courier New"/>
            </a:endParaRPr>
          </a:p>
          <a:p>
            <a:pPr indent="-137160" lvl="0" marL="546735" marR="24441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FROM	departments</a:t>
            </a:r>
            <a:endParaRPr sz="1800">
              <a:latin typeface="Courier New"/>
              <a:ea typeface="Courier New"/>
              <a:cs typeface="Courier New"/>
              <a:sym typeface="Courier New"/>
            </a:endParaRPr>
          </a:p>
          <a:p>
            <a:pPr indent="0" lvl="0" marL="5467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department_name = 'Shipping');</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Subconsulta DELETE</a:t>
            </a:r>
            <a:endParaRPr/>
          </a:p>
        </p:txBody>
      </p:sp>
      <p:sp>
        <p:nvSpPr>
          <p:cNvPr id="258" name="Google Shape;258;p32"/>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59" name="Google Shape;259;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0" name="Google Shape;260;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1" name="Google Shape;261;p32"/>
          <p:cNvSpPr txBox="1"/>
          <p:nvPr/>
        </p:nvSpPr>
        <p:spPr>
          <a:xfrm>
            <a:off x="483552" y="1415417"/>
            <a:ext cx="6731634" cy="122047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ejemplo siguiente elimina filas de todos los 	empleados que trabajan para un gerente que 	administra menos de 2 empleados</a:t>
            </a:r>
            <a:endParaRPr sz="2800">
              <a:latin typeface="Calibri"/>
              <a:ea typeface="Calibri"/>
              <a:cs typeface="Calibri"/>
              <a:sym typeface="Calibri"/>
            </a:endParaRPr>
          </a:p>
        </p:txBody>
      </p:sp>
      <p:sp>
        <p:nvSpPr>
          <p:cNvPr id="262" name="Google Shape;262;p32"/>
          <p:cNvSpPr txBox="1"/>
          <p:nvPr/>
        </p:nvSpPr>
        <p:spPr>
          <a:xfrm>
            <a:off x="405384" y="2778251"/>
            <a:ext cx="8345805" cy="162496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3333"/>
              </a:lnSpc>
              <a:spcBef>
                <a:spcPts val="0"/>
              </a:spcBef>
              <a:spcAft>
                <a:spcPts val="0"/>
              </a:spcAft>
              <a:buNone/>
            </a:pPr>
            <a:r>
              <a:rPr b="1" lang="en-US" sz="1800">
                <a:solidFill>
                  <a:srgbClr val="4E3629"/>
                </a:solidFill>
                <a:latin typeface="Courier New"/>
                <a:ea typeface="Courier New"/>
                <a:cs typeface="Courier New"/>
                <a:sym typeface="Courier New"/>
              </a:rPr>
              <a:t>DELETE FROM copy_employees 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e.manager_id </a:t>
            </a:r>
            <a:r>
              <a:rPr b="1" lang="en-US" sz="1800">
                <a:solidFill>
                  <a:srgbClr val="D1350F"/>
                </a:solidFill>
                <a:latin typeface="Courier New"/>
                <a:ea typeface="Courier New"/>
                <a:cs typeface="Courier New"/>
                <a:sym typeface="Courier New"/>
              </a:rPr>
              <a:t>IN</a:t>
            </a:r>
            <a:endParaRPr sz="1800">
              <a:latin typeface="Courier New"/>
              <a:ea typeface="Courier New"/>
              <a:cs typeface="Courier New"/>
              <a:sym typeface="Courier New"/>
            </a:endParaRPr>
          </a:p>
          <a:p>
            <a:pPr indent="-137160" lvl="0" marL="1050925" marR="46926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d.manager_id FROM </a:t>
            </a:r>
            <a:r>
              <a:rPr b="1" lang="en-US" sz="1800">
                <a:solidFill>
                  <a:srgbClr val="D1350F"/>
                </a:solidFill>
                <a:latin typeface="Courier New"/>
                <a:ea typeface="Courier New"/>
                <a:cs typeface="Courier New"/>
                <a:sym typeface="Courier New"/>
              </a:rPr>
              <a:t>employees </a:t>
            </a:r>
            <a:r>
              <a:rPr b="1" lang="en-US" sz="1800">
                <a:solidFill>
                  <a:srgbClr val="4E3629"/>
                </a:solidFill>
                <a:latin typeface="Courier New"/>
                <a:ea typeface="Courier New"/>
                <a:cs typeface="Courier New"/>
                <a:sym typeface="Courier New"/>
              </a:rPr>
              <a:t>d</a:t>
            </a:r>
            <a:endParaRPr sz="1800">
              <a:latin typeface="Courier New"/>
              <a:ea typeface="Courier New"/>
              <a:cs typeface="Courier New"/>
              <a:sym typeface="Courier New"/>
            </a:endParaRPr>
          </a:p>
          <a:p>
            <a:pPr indent="0" lvl="0" marL="1050290" marR="26460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HAVING count (d.department_id) </a:t>
            </a:r>
            <a:r>
              <a:rPr b="1" lang="en-US" sz="1800">
                <a:solidFill>
                  <a:srgbClr val="D1350F"/>
                </a:solidFill>
                <a:latin typeface="Courier New"/>
                <a:ea typeface="Courier New"/>
                <a:cs typeface="Courier New"/>
                <a:sym typeface="Courier New"/>
              </a:rPr>
              <a:t>&lt; </a:t>
            </a:r>
            <a:r>
              <a:rPr b="1" lang="en-US" sz="1800">
                <a:solidFill>
                  <a:srgbClr val="4E3629"/>
                </a:solidFill>
                <a:latin typeface="Courier New"/>
                <a:ea typeface="Courier New"/>
                <a:cs typeface="Courier New"/>
                <a:sym typeface="Courier New"/>
              </a:rPr>
              <a:t>2 GROUP BY d.manager_id);</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3"/>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Errores de Restricción de Integridad</a:t>
            </a:r>
            <a:endParaRPr/>
          </a:p>
        </p:txBody>
      </p:sp>
      <p:sp>
        <p:nvSpPr>
          <p:cNvPr id="268" name="Google Shape;268;p33"/>
          <p:cNvSpPr txBox="1"/>
          <p:nvPr/>
        </p:nvSpPr>
        <p:spPr>
          <a:xfrm>
            <a:off x="483552" y="1415417"/>
            <a:ext cx="8132445" cy="29603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de integridad garantizan que los datos 	se ajusten a un juego anidado de reglas</a:t>
            </a:r>
            <a:endParaRPr sz="2800">
              <a:latin typeface="Calibri"/>
              <a:ea typeface="Calibri"/>
              <a:cs typeface="Calibri"/>
              <a:sym typeface="Calibri"/>
            </a:endParaRPr>
          </a:p>
          <a:p>
            <a:pPr indent="-177800" lvl="0" marL="182880" marR="7874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restricciones se comprueban automáticamente 	cada vez que se ejecuta una sentencia DML que puede 	romper las reglas</a:t>
            </a:r>
            <a:endParaRPr sz="2800">
              <a:latin typeface="Calibri"/>
              <a:ea typeface="Calibri"/>
              <a:cs typeface="Calibri"/>
              <a:sym typeface="Calibri"/>
            </a:endParaRPr>
          </a:p>
          <a:p>
            <a:pPr indent="-177800" lvl="0" marL="182880" marR="37084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rompe alguna regla, la tabla no se actualiza y se 	devuelve un error</a:t>
            </a:r>
            <a:endParaRPr sz="2800">
              <a:latin typeface="Calibri"/>
              <a:ea typeface="Calibri"/>
              <a:cs typeface="Calibri"/>
              <a:sym typeface="Calibri"/>
            </a:endParaRPr>
          </a:p>
        </p:txBody>
      </p:sp>
      <p:pic>
        <p:nvPicPr>
          <p:cNvPr id="269" name="Google Shape;269;p33"/>
          <p:cNvPicPr preferRelativeResize="0"/>
          <p:nvPr/>
        </p:nvPicPr>
        <p:blipFill rotWithShape="1">
          <a:blip r:embed="rId3">
            <a:alphaModFix/>
          </a:blip>
          <a:srcRect b="0" l="0" r="0" t="0"/>
          <a:stretch/>
        </p:blipFill>
        <p:spPr>
          <a:xfrm>
            <a:off x="3220211" y="4378451"/>
            <a:ext cx="2703575" cy="1801367"/>
          </a:xfrm>
          <a:prstGeom prst="rect">
            <a:avLst/>
          </a:prstGeom>
          <a:noFill/>
          <a:ln>
            <a:noFill/>
          </a:ln>
        </p:spPr>
      </p:pic>
      <p:sp>
        <p:nvSpPr>
          <p:cNvPr id="270" name="Google Shape;270;p33"/>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71" name="Google Shape;271;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2" name="Google Shape;272;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Errores de Restricción de Integridad</a:t>
            </a:r>
            <a:endParaRPr/>
          </a:p>
        </p:txBody>
      </p:sp>
      <p:sp>
        <p:nvSpPr>
          <p:cNvPr id="278" name="Google Shape;278;p34"/>
          <p:cNvSpPr txBox="1"/>
          <p:nvPr/>
        </p:nvSpPr>
        <p:spPr>
          <a:xfrm>
            <a:off x="483552" y="1415417"/>
            <a:ext cx="8183245"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viola una restricción NOT NULL 	porque last_name tiene una restricción de no nulo e 	id=999 no existe, por lo que la subconsulta devuelve un 	resultado nulo</a:t>
            </a:r>
            <a:endParaRPr sz="2800">
              <a:latin typeface="Calibri"/>
              <a:ea typeface="Calibri"/>
              <a:cs typeface="Calibri"/>
              <a:sym typeface="Calibri"/>
            </a:endParaRPr>
          </a:p>
        </p:txBody>
      </p:sp>
      <p:pic>
        <p:nvPicPr>
          <p:cNvPr id="279" name="Google Shape;279;p34"/>
          <p:cNvPicPr preferRelativeResize="0"/>
          <p:nvPr/>
        </p:nvPicPr>
        <p:blipFill rotWithShape="1">
          <a:blip r:embed="rId3">
            <a:alphaModFix/>
          </a:blip>
          <a:srcRect b="0" l="0" r="0" t="0"/>
          <a:stretch/>
        </p:blipFill>
        <p:spPr>
          <a:xfrm>
            <a:off x="670560" y="4701540"/>
            <a:ext cx="6429755" cy="618743"/>
          </a:xfrm>
          <a:prstGeom prst="rect">
            <a:avLst/>
          </a:prstGeom>
          <a:noFill/>
          <a:ln>
            <a:noFill/>
          </a:ln>
        </p:spPr>
      </p:pic>
      <p:sp>
        <p:nvSpPr>
          <p:cNvPr id="280" name="Google Shape;280;p34"/>
          <p:cNvSpPr txBox="1"/>
          <p:nvPr/>
        </p:nvSpPr>
        <p:spPr>
          <a:xfrm>
            <a:off x="405384" y="3051048"/>
            <a:ext cx="8345805" cy="141478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7222"/>
              </a:lnSpc>
              <a:spcBef>
                <a:spcPts val="0"/>
              </a:spcBef>
              <a:spcAft>
                <a:spcPts val="0"/>
              </a:spcAft>
              <a:buNone/>
            </a:pPr>
            <a:r>
              <a:rPr b="1" lang="en-US" sz="1800">
                <a:solidFill>
                  <a:srgbClr val="4E3629"/>
                </a:solidFill>
                <a:latin typeface="Courier New"/>
                <a:ea typeface="Courier New"/>
                <a:cs typeface="Courier New"/>
                <a:sym typeface="Courier New"/>
              </a:rPr>
              <a:t>UPDATE copy_employees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last_name = (SELECT last_name</a:t>
            </a:r>
            <a:endParaRPr sz="1800">
              <a:latin typeface="Courier New"/>
              <a:ea typeface="Courier New"/>
              <a:cs typeface="Courier New"/>
              <a:sym typeface="Courier New"/>
            </a:endParaRPr>
          </a:p>
          <a:p>
            <a:pPr indent="0" lvl="0" marL="2320290" marR="27406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copy_employees WHERE employee_id = 999)</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101;</a:t>
            </a:r>
            <a:endParaRPr sz="1800">
              <a:latin typeface="Courier New"/>
              <a:ea typeface="Courier New"/>
              <a:cs typeface="Courier New"/>
              <a:sym typeface="Courier New"/>
            </a:endParaRPr>
          </a:p>
        </p:txBody>
      </p:sp>
      <p:sp>
        <p:nvSpPr>
          <p:cNvPr id="281" name="Google Shape;281;p34"/>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82" name="Google Shape;282;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3" name="Google Shape;283;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5"/>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Errores de Restricción de Integridad</a:t>
            </a:r>
            <a:endParaRPr/>
          </a:p>
        </p:txBody>
      </p:sp>
      <p:sp>
        <p:nvSpPr>
          <p:cNvPr id="289" name="Google Shape;289;p35"/>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290" name="Google Shape;290;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1" name="Google Shape;291;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2" name="Google Shape;292;p35"/>
          <p:cNvSpPr txBox="1"/>
          <p:nvPr/>
        </p:nvSpPr>
        <p:spPr>
          <a:xfrm>
            <a:off x="483552" y="1415417"/>
            <a:ext cx="7973695" cy="3829050"/>
          </a:xfrm>
          <a:prstGeom prst="rect">
            <a:avLst/>
          </a:prstGeom>
          <a:noFill/>
          <a:ln>
            <a:noFill/>
          </a:ln>
        </p:spPr>
        <p:txBody>
          <a:bodyPr anchorCtr="0" anchor="t" bIns="0" lIns="0" spcFirstLastPara="1" rIns="0" wrap="square" tIns="59675">
            <a:spAutoFit/>
          </a:bodyPr>
          <a:lstStyle/>
          <a:p>
            <a:pPr indent="-177800" lvl="0" marL="182880" marR="8953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¿Cuándo se comprobarán las restricciones clave 	primaria-clave ajena?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tabla EMPLOYEES tiene una restricción de clave 	ajena en la columna department_id que hace 	referencia a department_id de la tabla DEPARTMENTS</a:t>
            </a:r>
            <a:endParaRPr sz="2800">
              <a:latin typeface="Calibri"/>
              <a:ea typeface="Calibri"/>
              <a:cs typeface="Calibri"/>
              <a:sym typeface="Calibri"/>
            </a:endParaRPr>
          </a:p>
          <a:p>
            <a:pPr indent="-177800" lvl="0" marL="182880" marR="49212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garantiza que cada empleado pertenezca a un 	departamento válido</a:t>
            </a:r>
            <a:endParaRPr sz="2800">
              <a:latin typeface="Calibri"/>
              <a:ea typeface="Calibri"/>
              <a:cs typeface="Calibri"/>
              <a:sym typeface="Calibri"/>
            </a:endParaRPr>
          </a:p>
          <a:p>
            <a:pPr indent="-177800" lvl="0" marL="182880" marR="57277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tabla DEPARTMENTS, department_id 10 y 20 	existen pero 15 no</a:t>
            </a:r>
            <a:endParaRPr sz="28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6"/>
          <p:cNvSpPr txBox="1"/>
          <p:nvPr>
            <p:ph type="title"/>
          </p:nvPr>
        </p:nvSpPr>
        <p:spPr>
          <a:xfrm>
            <a:off x="392112" y="748031"/>
            <a:ext cx="6093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Errores de Restricción de Integridad</a:t>
            </a:r>
            <a:endParaRPr/>
          </a:p>
        </p:txBody>
      </p:sp>
      <p:sp>
        <p:nvSpPr>
          <p:cNvPr id="298" name="Google Shape;298;p36"/>
          <p:cNvSpPr txBox="1"/>
          <p:nvPr/>
        </p:nvSpPr>
        <p:spPr>
          <a:xfrm>
            <a:off x="483552" y="1415417"/>
            <a:ext cx="795274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¿Cuál de las siguientes sentencias devolverá un error?</a:t>
            </a:r>
            <a:endParaRPr sz="2800">
              <a:latin typeface="Calibri"/>
              <a:ea typeface="Calibri"/>
              <a:cs typeface="Calibri"/>
              <a:sym typeface="Calibri"/>
            </a:endParaRPr>
          </a:p>
        </p:txBody>
      </p:sp>
      <p:sp>
        <p:nvSpPr>
          <p:cNvPr id="299" name="Google Shape;299;p36"/>
          <p:cNvSpPr/>
          <p:nvPr/>
        </p:nvSpPr>
        <p:spPr>
          <a:xfrm>
            <a:off x="393191" y="2471927"/>
            <a:ext cx="8345805" cy="2574290"/>
          </a:xfrm>
          <a:custGeom>
            <a:rect b="b" l="l" r="r" t="t"/>
            <a:pathLst>
              <a:path extrusionOk="0" h="2574290" w="8345805">
                <a:moveTo>
                  <a:pt x="8345424" y="0"/>
                </a:moveTo>
                <a:lnTo>
                  <a:pt x="0" y="0"/>
                </a:lnTo>
                <a:lnTo>
                  <a:pt x="0" y="2574036"/>
                </a:lnTo>
                <a:lnTo>
                  <a:pt x="8345424" y="2574036"/>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0" name="Google Shape;300;p36"/>
          <p:cNvSpPr txBox="1"/>
          <p:nvPr/>
        </p:nvSpPr>
        <p:spPr>
          <a:xfrm>
            <a:off x="380491" y="2484628"/>
            <a:ext cx="29972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1.</a:t>
            </a:r>
            <a:endParaRPr sz="1800">
              <a:latin typeface="Courier New"/>
              <a:ea typeface="Courier New"/>
              <a:cs typeface="Courier New"/>
              <a:sym typeface="Courier New"/>
            </a:endParaRPr>
          </a:p>
        </p:txBody>
      </p:sp>
      <p:sp>
        <p:nvSpPr>
          <p:cNvPr id="301" name="Google Shape;301;p36"/>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02" name="Google Shape;302;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3" name="Google Shape;303;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4" name="Google Shape;304;p36"/>
          <p:cNvSpPr txBox="1"/>
          <p:nvPr/>
        </p:nvSpPr>
        <p:spPr>
          <a:xfrm>
            <a:off x="1294891" y="2484628"/>
            <a:ext cx="5347335"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employees SET department_id = 15 WHERE employee_id = 100;</a:t>
            </a:r>
            <a:endParaRPr sz="1800">
              <a:latin typeface="Courier New"/>
              <a:ea typeface="Courier New"/>
              <a:cs typeface="Courier New"/>
              <a:sym typeface="Courier New"/>
            </a:endParaRPr>
          </a:p>
        </p:txBody>
      </p:sp>
      <p:sp>
        <p:nvSpPr>
          <p:cNvPr id="305" name="Google Shape;305;p36"/>
          <p:cNvSpPr txBox="1"/>
          <p:nvPr/>
        </p:nvSpPr>
        <p:spPr>
          <a:xfrm>
            <a:off x="380491" y="3581907"/>
            <a:ext cx="29972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2.</a:t>
            </a:r>
            <a:endParaRPr sz="1800">
              <a:latin typeface="Courier New"/>
              <a:ea typeface="Courier New"/>
              <a:cs typeface="Courier New"/>
              <a:sym typeface="Courier New"/>
            </a:endParaRPr>
          </a:p>
        </p:txBody>
      </p:sp>
      <p:sp>
        <p:nvSpPr>
          <p:cNvPr id="306" name="Google Shape;306;p36"/>
          <p:cNvSpPr txBox="1"/>
          <p:nvPr/>
        </p:nvSpPr>
        <p:spPr>
          <a:xfrm>
            <a:off x="1294891" y="3581907"/>
            <a:ext cx="671449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DELETE FROM departments WHERE department_id = 10;</a:t>
            </a:r>
            <a:endParaRPr sz="1800">
              <a:latin typeface="Courier New"/>
              <a:ea typeface="Courier New"/>
              <a:cs typeface="Courier New"/>
              <a:sym typeface="Courier New"/>
            </a:endParaRPr>
          </a:p>
        </p:txBody>
      </p:sp>
      <p:sp>
        <p:nvSpPr>
          <p:cNvPr id="307" name="Google Shape;307;p36"/>
          <p:cNvSpPr txBox="1"/>
          <p:nvPr/>
        </p:nvSpPr>
        <p:spPr>
          <a:xfrm>
            <a:off x="380263" y="4404867"/>
            <a:ext cx="29972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3.</a:t>
            </a:r>
            <a:endParaRPr sz="1800">
              <a:latin typeface="Courier New"/>
              <a:ea typeface="Courier New"/>
              <a:cs typeface="Courier New"/>
              <a:sym typeface="Courier New"/>
            </a:endParaRPr>
          </a:p>
        </p:txBody>
      </p:sp>
      <p:sp>
        <p:nvSpPr>
          <p:cNvPr id="308" name="Google Shape;308;p36"/>
          <p:cNvSpPr txBox="1"/>
          <p:nvPr/>
        </p:nvSpPr>
        <p:spPr>
          <a:xfrm>
            <a:off x="1294663" y="4404867"/>
            <a:ext cx="5347335"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employees SET department_id = 10 WHERE	department_id = 20;</a:t>
            </a:r>
            <a:endParaRPr sz="1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7"/>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Errores de Restricción de Integridad</a:t>
            </a:r>
            <a:endParaRPr/>
          </a:p>
        </p:txBody>
      </p:sp>
      <p:sp>
        <p:nvSpPr>
          <p:cNvPr id="314" name="Google Shape;314;p37"/>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15" name="Google Shape;315;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6" name="Google Shape;316;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7" name="Google Shape;317;p37"/>
          <p:cNvSpPr txBox="1"/>
          <p:nvPr/>
        </p:nvSpPr>
        <p:spPr>
          <a:xfrm>
            <a:off x="483552" y="1381889"/>
            <a:ext cx="8121650" cy="4511675"/>
          </a:xfrm>
          <a:prstGeom prst="rect">
            <a:avLst/>
          </a:prstGeom>
          <a:noFill/>
          <a:ln>
            <a:noFill/>
          </a:ln>
        </p:spPr>
        <p:txBody>
          <a:bodyPr anchorCtr="0" anchor="t" bIns="0" lIns="0" spcFirstLastPara="1" rIns="0" wrap="square" tIns="97150">
            <a:spAutoFit/>
          </a:bodyPr>
          <a:lstStyle/>
          <a:p>
            <a:pPr indent="-177800" lvl="0" marL="182880" marR="11811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modificar las copias de tablas (por ejemplo, 	copy_employees), es posible que vea errores de 	restricción de valor no nulo, pero no verá ningún error 	de restricción de clave primaria-clave ajena</a:t>
            </a:r>
            <a:endParaRPr sz="2800">
              <a:latin typeface="Calibri"/>
              <a:ea typeface="Calibri"/>
              <a:cs typeface="Calibri"/>
              <a:sym typeface="Calibri"/>
            </a:endParaRPr>
          </a:p>
          <a:p>
            <a:pPr indent="-177800" lvl="0" marL="182880" marR="508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motivo es que la sentencia CREATE TABLE ... AS 	(SELECT …) que se utiliza para crear la copia de la tabla, 	copia las filas y las restricciones de valores no nulos, 	pero no copia las restricciones de clave primaria-clave 	ajena</a:t>
            </a:r>
            <a:endParaRPr sz="2800">
              <a:latin typeface="Calibri"/>
              <a:ea typeface="Calibri"/>
              <a:cs typeface="Calibri"/>
              <a:sym typeface="Calibri"/>
            </a:endParaRPr>
          </a:p>
          <a:p>
            <a:pPr indent="-177800" lvl="0" marL="182880" marR="98425"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no existe ninguna restricción de clave 	primaria-clave ajena en ninguna de las tablas copiadas</a:t>
            </a:r>
            <a:endParaRPr sz="2800">
              <a:latin typeface="Calibri"/>
              <a:ea typeface="Calibri"/>
              <a:cs typeface="Calibri"/>
              <a:sym typeface="Calibri"/>
            </a:endParaRPr>
          </a:p>
          <a:p>
            <a:pPr indent="-177800" lvl="0" marL="183515"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adición de restricciones se abordará en otra lección</a:t>
            </a:r>
            <a:endParaRPr sz="2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Cláusula FOR UPDATE en una Sentencia SELECT</a:t>
            </a:r>
            <a:endParaRPr/>
          </a:p>
        </p:txBody>
      </p:sp>
      <p:sp>
        <p:nvSpPr>
          <p:cNvPr id="323" name="Google Shape;323;p38"/>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24" name="Google Shape;324;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5" name="Google Shape;325;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6" name="Google Shape;326;p38"/>
          <p:cNvSpPr txBox="1"/>
          <p:nvPr/>
        </p:nvSpPr>
        <p:spPr>
          <a:xfrm>
            <a:off x="483552" y="1415417"/>
            <a:ext cx="8119745" cy="4497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emite una sentencia SELECT en una tabla de 	base de datos, no se emite ningún bloqueo en la base 	de datos en las filas devueltas por la consulta que está 	emitiendo</a:t>
            </a:r>
            <a:endParaRPr sz="2800">
              <a:latin typeface="Calibri"/>
              <a:ea typeface="Calibri"/>
              <a:cs typeface="Calibri"/>
              <a:sym typeface="Calibri"/>
            </a:endParaRPr>
          </a:p>
          <a:p>
            <a:pPr indent="-177800" lvl="0" marL="182880" marR="8255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mayoría de las veces, esta es así como desea que se 	comporte la base de datos, para mantener el número 	de bloqueos emitidas en un mínimo</a:t>
            </a:r>
            <a:endParaRPr sz="2800">
              <a:latin typeface="Calibri"/>
              <a:ea typeface="Calibri"/>
              <a:cs typeface="Calibri"/>
              <a:sym typeface="Calibri"/>
            </a:endParaRPr>
          </a:p>
          <a:p>
            <a:pPr indent="-177800" lvl="0" marL="182880" marR="29527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a veces, desea asegurarse de que nadie 	más puede actualizar o suprimir los registros que la 	consulta está devolviendo mientras trabaja en esos 	registros</a:t>
            </a:r>
            <a:endParaRPr sz="28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9"/>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Cláusula FOR UPDATE en una Sentencia SELECT</a:t>
            </a:r>
            <a:endParaRPr/>
          </a:p>
        </p:txBody>
      </p:sp>
      <p:sp>
        <p:nvSpPr>
          <p:cNvPr id="332" name="Google Shape;332;p39"/>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33" name="Google Shape;333;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4" name="Google Shape;334;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5" name="Google Shape;335;p39"/>
          <p:cNvSpPr txBox="1"/>
          <p:nvPr/>
        </p:nvSpPr>
        <p:spPr>
          <a:xfrm>
            <a:off x="483552" y="1355371"/>
            <a:ext cx="7940675" cy="3789045"/>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Entonces es cuando se utiliza la cláusula FOR UPDATE</a:t>
            </a:r>
            <a:endParaRPr sz="2800">
              <a:latin typeface="Calibri"/>
              <a:ea typeface="Calibri"/>
              <a:cs typeface="Calibri"/>
              <a:sym typeface="Calibri"/>
            </a:endParaRPr>
          </a:p>
          <a:p>
            <a:pPr indent="-177800" lvl="0" marL="182880" marR="825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cuanto se ejecuta su consulta, la base de datos 	emitirá automáticamente bloqueos de nivel de fila 	exclusivos en todas las filas devueltas por la sentencia 	SELECT, que se mantendrán hasta que emita un 	comando COMMIT o ROLLBACK</a:t>
            </a:r>
            <a:endParaRPr sz="2800">
              <a:latin typeface="Calibri"/>
              <a:ea typeface="Calibri"/>
              <a:cs typeface="Calibri"/>
              <a:sym typeface="Calibri"/>
            </a:endParaRPr>
          </a:p>
          <a:p>
            <a:pPr indent="-177800" lvl="0" marL="182880" marR="5080" rtl="0" algn="just">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Recordatorio: la instancia en línea/alojado de APEX se 	confirmará automáticamente y el bloqueo de nivel de 	fila no se realizará</a:t>
            </a:r>
            <a:endParaRPr sz="28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Cláusula FOR UPDATE en una Sentencia SELECT</a:t>
            </a:r>
            <a:endParaRPr/>
          </a:p>
        </p:txBody>
      </p:sp>
      <p:sp>
        <p:nvSpPr>
          <p:cNvPr id="341" name="Google Shape;341;p40"/>
          <p:cNvSpPr txBox="1"/>
          <p:nvPr/>
        </p:nvSpPr>
        <p:spPr>
          <a:xfrm>
            <a:off x="483552" y="1415417"/>
            <a:ext cx="814324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utiliza una cláusula FOR UPDATE en una sentencia 	SELECT con varias tablas en ella, todas las filas de todas 	las tablas se bloquearán</a:t>
            </a:r>
            <a:endParaRPr sz="2800">
              <a:latin typeface="Calibri"/>
              <a:ea typeface="Calibri"/>
              <a:cs typeface="Calibri"/>
              <a:sym typeface="Calibri"/>
            </a:endParaRPr>
          </a:p>
        </p:txBody>
      </p:sp>
      <p:sp>
        <p:nvSpPr>
          <p:cNvPr id="342" name="Google Shape;342;p40"/>
          <p:cNvSpPr/>
          <p:nvPr/>
        </p:nvSpPr>
        <p:spPr>
          <a:xfrm>
            <a:off x="393191" y="2924555"/>
            <a:ext cx="8345805" cy="1455420"/>
          </a:xfrm>
          <a:custGeom>
            <a:rect b="b" l="l" r="r" t="t"/>
            <a:pathLst>
              <a:path extrusionOk="0" h="1455420" w="8345805">
                <a:moveTo>
                  <a:pt x="8345424" y="0"/>
                </a:moveTo>
                <a:lnTo>
                  <a:pt x="0" y="0"/>
                </a:lnTo>
                <a:lnTo>
                  <a:pt x="0" y="1455420"/>
                </a:lnTo>
                <a:lnTo>
                  <a:pt x="8345424" y="1455420"/>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3" name="Google Shape;343;p40"/>
          <p:cNvSpPr txBox="1"/>
          <p:nvPr/>
        </p:nvSpPr>
        <p:spPr>
          <a:xfrm>
            <a:off x="380491" y="2926674"/>
            <a:ext cx="794321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e.employee_id, e.salary, d.department_name</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e JOIN departments d	USING (department_id)</a:t>
            </a:r>
            <a:endParaRPr sz="1800">
              <a:latin typeface="Courier New"/>
              <a:ea typeface="Courier New"/>
              <a:cs typeface="Courier New"/>
              <a:sym typeface="Courier New"/>
            </a:endParaRPr>
          </a:p>
        </p:txBody>
      </p:sp>
      <p:sp>
        <p:nvSpPr>
          <p:cNvPr id="344" name="Google Shape;344;p40"/>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45" name="Google Shape;345;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6" name="Google Shape;346;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7" name="Google Shape;347;p40"/>
          <p:cNvSpPr txBox="1"/>
          <p:nvPr/>
        </p:nvSpPr>
        <p:spPr>
          <a:xfrm>
            <a:off x="4065158" y="3475314"/>
            <a:ext cx="303022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AND location_id = 1500</a:t>
            </a:r>
            <a:endParaRPr sz="1800">
              <a:latin typeface="Courier New"/>
              <a:ea typeface="Courier New"/>
              <a:cs typeface="Courier New"/>
              <a:sym typeface="Courier New"/>
            </a:endParaRPr>
          </a:p>
        </p:txBody>
      </p:sp>
      <p:sp>
        <p:nvSpPr>
          <p:cNvPr id="348" name="Google Shape;348;p40"/>
          <p:cNvSpPr txBox="1"/>
          <p:nvPr/>
        </p:nvSpPr>
        <p:spPr>
          <a:xfrm>
            <a:off x="380491" y="3475314"/>
            <a:ext cx="3439160" cy="848360"/>
          </a:xfrm>
          <a:prstGeom prst="rect">
            <a:avLst/>
          </a:prstGeom>
          <a:noFill/>
          <a:ln>
            <a:noFill/>
          </a:ln>
        </p:spPr>
        <p:txBody>
          <a:bodyPr anchorCtr="0" anchor="t" bIns="0" lIns="0" spcFirstLastPara="1" rIns="0" wrap="square" tIns="12700">
            <a:spAutoFit/>
          </a:bodyPr>
          <a:lstStyle/>
          <a:p>
            <a:pPr indent="-274955" lvl="0" marL="28702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job_id = 'ST_CLERK' </a:t>
            </a:r>
            <a:r>
              <a:rPr b="1" lang="en-US" sz="1800">
                <a:solidFill>
                  <a:srgbClr val="D1350F"/>
                </a:solidFill>
                <a:latin typeface="Courier New"/>
                <a:ea typeface="Courier New"/>
                <a:cs typeface="Courier New"/>
                <a:sym typeface="Courier New"/>
              </a:rPr>
              <a:t>FOR UPDATE</a:t>
            </a:r>
            <a:endParaRPr sz="1800">
              <a:latin typeface="Courier New"/>
              <a:ea typeface="Courier New"/>
              <a:cs typeface="Courier New"/>
              <a:sym typeface="Courier New"/>
            </a:endParaRPr>
          </a:p>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e.employee_id;</a:t>
            </a:r>
            <a:endParaRPr sz="1800">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1"/>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Cláusula FOR UPDATE en una Sentencia SELECT</a:t>
            </a:r>
            <a:endParaRPr/>
          </a:p>
        </p:txBody>
      </p:sp>
      <p:sp>
        <p:nvSpPr>
          <p:cNvPr id="354" name="Google Shape;354;p41"/>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55" name="Google Shape;355;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6" name="Google Shape;356;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7" name="Google Shape;357;p41"/>
          <p:cNvSpPr txBox="1"/>
          <p:nvPr/>
        </p:nvSpPr>
        <p:spPr>
          <a:xfrm>
            <a:off x="483552" y="1415417"/>
            <a:ext cx="760857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Estas cuatro filas ahora están bloqueadas por el 	usuario que ha ejecutado la sentencia SELECT hasta 	que el usuario emita un COMMIT o ROLLBACK</a:t>
            </a:r>
            <a:endParaRPr sz="2800">
              <a:latin typeface="Calibri"/>
              <a:ea typeface="Calibri"/>
              <a:cs typeface="Calibri"/>
              <a:sym typeface="Calibri"/>
            </a:endParaRPr>
          </a:p>
        </p:txBody>
      </p:sp>
      <p:graphicFrame>
        <p:nvGraphicFramePr>
          <p:cNvPr id="358" name="Google Shape;358;p41"/>
          <p:cNvGraphicFramePr/>
          <p:nvPr/>
        </p:nvGraphicFramePr>
        <p:xfrm>
          <a:off x="904525" y="3434608"/>
          <a:ext cx="3000000" cy="3000000"/>
        </p:xfrm>
        <a:graphic>
          <a:graphicData uri="http://schemas.openxmlformats.org/drawingml/2006/table">
            <a:tbl>
              <a:tblPr bandRow="1" firstRow="1">
                <a:noFill/>
                <a:tableStyleId>{AAB32975-2030-44FD-A115-4670B749DFC6}</a:tableStyleId>
              </a:tblPr>
              <a:tblGrid>
                <a:gridCol w="2639050"/>
                <a:gridCol w="2299975"/>
                <a:gridCol w="2391400"/>
              </a:tblGrid>
              <a:tr h="358775">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4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4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4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3337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141</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337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142</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3100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337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143</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2600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337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144</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2"/>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Terminología</a:t>
            </a:r>
            <a:endParaRPr/>
          </a:p>
        </p:txBody>
      </p:sp>
      <p:sp>
        <p:nvSpPr>
          <p:cNvPr id="364" name="Google Shape;364;p42"/>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65" name="Google Shape;365;p4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6" name="Google Shape;366;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7" name="Google Shape;367;p42"/>
          <p:cNvSpPr txBox="1"/>
          <p:nvPr/>
        </p:nvSpPr>
        <p:spPr>
          <a:xfrm>
            <a:off x="483552" y="1415417"/>
            <a:ext cx="7704455" cy="3119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DELETE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Restricción de integridad</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UPDATE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Subconsulta correlacionada UPDATE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Subconsulta correlacionada DELETE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 UPDATE de SELECT</a:t>
            </a:r>
            <a:endParaRPr sz="24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3"/>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Resumen</a:t>
            </a:r>
            <a:endParaRPr/>
          </a:p>
        </p:txBody>
      </p:sp>
      <p:sp>
        <p:nvSpPr>
          <p:cNvPr id="373" name="Google Shape;373;p43"/>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74" name="Google Shape;374;p4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5" name="Google Shape;375;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6" name="Google Shape;376;p43"/>
          <p:cNvSpPr txBox="1"/>
          <p:nvPr/>
        </p:nvSpPr>
        <p:spPr>
          <a:xfrm>
            <a:off x="483552" y="1393401"/>
            <a:ext cx="7924165" cy="265684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una sentencia UPDATE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DELETE</a:t>
            </a:r>
            <a:endParaRPr sz="2400">
              <a:latin typeface="Calibri"/>
              <a:ea typeface="Calibri"/>
              <a:cs typeface="Calibri"/>
              <a:sym typeface="Calibri"/>
            </a:endParaRPr>
          </a:p>
          <a:p>
            <a:pPr indent="-175260" lvl="0" marL="530860" marR="33591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que utilice una subconsulta para actualizar y suprimir datos de una tabla</a:t>
            </a:r>
            <a:endParaRPr sz="2400">
              <a:latin typeface="Calibri"/>
              <a:ea typeface="Calibri"/>
              <a:cs typeface="Calibri"/>
              <a:sym typeface="Calibri"/>
            </a:endParaRPr>
          </a:p>
          <a:p>
            <a:pPr indent="-175260" lvl="0" marL="530860" marR="5080"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que utilice una subconsulta correlacionada para actualizar y suprimir datos de una tabla</a:t>
            </a:r>
            <a:endParaRPr sz="24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4"/>
          <p:cNvSpPr txBox="1"/>
          <p:nvPr>
            <p:ph type="title"/>
          </p:nvPr>
        </p:nvSpPr>
        <p:spPr>
          <a:xfrm>
            <a:off x="392112" y="385319"/>
            <a:ext cx="8359800" cy="887100"/>
          </a:xfrm>
          <a:prstGeom prst="rect">
            <a:avLst/>
          </a:prstGeom>
          <a:noFill/>
          <a:ln>
            <a:noFill/>
          </a:ln>
        </p:spPr>
        <p:txBody>
          <a:bodyPr anchorCtr="0" anchor="t" bIns="0" lIns="0" spcFirstLastPara="1" rIns="0" wrap="square" tIns="375400">
            <a:spAutoFit/>
          </a:bodyPr>
          <a:lstStyle/>
          <a:p>
            <a:pPr indent="0" lvl="0" marL="12700" rtl="0" algn="l">
              <a:lnSpc>
                <a:spcPct val="100000"/>
              </a:lnSpc>
              <a:spcBef>
                <a:spcPts val="0"/>
              </a:spcBef>
              <a:spcAft>
                <a:spcPts val="0"/>
              </a:spcAft>
              <a:buNone/>
            </a:pPr>
            <a:r>
              <a:rPr lang="en-US"/>
              <a:t>Resumen</a:t>
            </a:r>
            <a:endParaRPr/>
          </a:p>
        </p:txBody>
      </p:sp>
      <p:sp>
        <p:nvSpPr>
          <p:cNvPr id="382" name="Google Shape;382;p44"/>
          <p:cNvSpPr txBox="1"/>
          <p:nvPr>
            <p:ph idx="1" type="body"/>
          </p:nvPr>
        </p:nvSpPr>
        <p:spPr>
          <a:xfrm>
            <a:off x="483552" y="1393401"/>
            <a:ext cx="8042400" cy="21432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5080" rtl="0" algn="l">
              <a:lnSpc>
                <a:spcPct val="107916"/>
              </a:lnSpc>
              <a:spcBef>
                <a:spcPts val="475"/>
              </a:spcBef>
              <a:spcAft>
                <a:spcPts val="0"/>
              </a:spcAft>
              <a:buNone/>
            </a:pPr>
            <a:r>
              <a:rPr lang="en-US" sz="2400">
                <a:solidFill>
                  <a:srgbClr val="D1350F"/>
                </a:solidFill>
              </a:rPr>
              <a:t>−</a:t>
            </a:r>
            <a:r>
              <a:rPr lang="en-US" sz="2400"/>
              <a:t>Explicar cómo las restricciones de integridad de clave ajena y clave primaria afectan a las sentencias UPDATE y DELETE</a:t>
            </a:r>
            <a:endParaRPr sz="2400"/>
          </a:p>
          <a:p>
            <a:pPr indent="-175260" lvl="0" marL="530860" marR="897255" rtl="0" algn="l">
              <a:lnSpc>
                <a:spcPct val="107916"/>
              </a:lnSpc>
              <a:spcBef>
                <a:spcPts val="400"/>
              </a:spcBef>
              <a:spcAft>
                <a:spcPts val="1200"/>
              </a:spcAft>
              <a:buNone/>
            </a:pPr>
            <a:r>
              <a:rPr lang="en-US" sz="2400">
                <a:solidFill>
                  <a:srgbClr val="D1350F"/>
                </a:solidFill>
              </a:rPr>
              <a:t>−</a:t>
            </a:r>
            <a:r>
              <a:rPr lang="en-US" sz="2400"/>
              <a:t>Explicar el objetivo de la cláusula FOR UPDATE en una sentencia SELECT</a:t>
            </a:r>
            <a:endParaRPr sz="2400"/>
          </a:p>
        </p:txBody>
      </p:sp>
      <p:grpSp>
        <p:nvGrpSpPr>
          <p:cNvPr id="383" name="Google Shape;383;p44"/>
          <p:cNvGrpSpPr/>
          <p:nvPr/>
        </p:nvGrpSpPr>
        <p:grpSpPr>
          <a:xfrm>
            <a:off x="4379976" y="3729228"/>
            <a:ext cx="4140707" cy="2261615"/>
            <a:chOff x="4379976" y="3729228"/>
            <a:chExt cx="4140707" cy="2261615"/>
          </a:xfrm>
        </p:grpSpPr>
        <p:pic>
          <p:nvPicPr>
            <p:cNvPr id="384" name="Google Shape;384;p44"/>
            <p:cNvPicPr preferRelativeResize="0"/>
            <p:nvPr/>
          </p:nvPicPr>
          <p:blipFill rotWithShape="1">
            <a:blip r:embed="rId3">
              <a:alphaModFix/>
            </a:blip>
            <a:srcRect b="0" l="0" r="0" t="0"/>
            <a:stretch/>
          </p:blipFill>
          <p:spPr>
            <a:xfrm>
              <a:off x="4379976" y="3729228"/>
              <a:ext cx="4140707" cy="2261615"/>
            </a:xfrm>
            <a:prstGeom prst="rect">
              <a:avLst/>
            </a:prstGeom>
            <a:noFill/>
            <a:ln>
              <a:noFill/>
            </a:ln>
          </p:spPr>
        </p:pic>
        <p:pic>
          <p:nvPicPr>
            <p:cNvPr id="385" name="Google Shape;385;p44"/>
            <p:cNvPicPr preferRelativeResize="0"/>
            <p:nvPr/>
          </p:nvPicPr>
          <p:blipFill rotWithShape="1">
            <a:blip r:embed="rId4">
              <a:alphaModFix/>
            </a:blip>
            <a:srcRect b="0" l="0" r="0" t="0"/>
            <a:stretch/>
          </p:blipFill>
          <p:spPr>
            <a:xfrm>
              <a:off x="4572000" y="3921252"/>
              <a:ext cx="3756659" cy="1877567"/>
            </a:xfrm>
            <a:prstGeom prst="rect">
              <a:avLst/>
            </a:prstGeom>
            <a:noFill/>
            <a:ln>
              <a:noFill/>
            </a:ln>
          </p:spPr>
        </p:pic>
      </p:grpSp>
      <p:sp>
        <p:nvSpPr>
          <p:cNvPr id="386" name="Google Shape;386;p44"/>
          <p:cNvSpPr txBox="1"/>
          <p:nvPr>
            <p:ph idx="10" type="dt"/>
          </p:nvPr>
        </p:nvSpPr>
        <p:spPr>
          <a:xfrm>
            <a:off x="2874191" y="6449092"/>
            <a:ext cx="17253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12-2</a:t>
            </a:r>
            <a:endParaRPr/>
          </a:p>
          <a:p>
            <a:pPr indent="0" lvl="0" marL="12700" marR="5080" rtl="0" algn="l">
              <a:lnSpc>
                <a:spcPct val="114874"/>
              </a:lnSpc>
              <a:spcBef>
                <a:spcPts val="60"/>
              </a:spcBef>
              <a:spcAft>
                <a:spcPts val="0"/>
              </a:spcAft>
              <a:buNone/>
            </a:pPr>
            <a:r>
              <a:rPr lang="en-US"/>
              <a:t>Actualización de Valores de Columna y Supresión de Filas</a:t>
            </a:r>
            <a:endParaRPr/>
          </a:p>
        </p:txBody>
      </p:sp>
      <p:sp>
        <p:nvSpPr>
          <p:cNvPr id="387" name="Google Shape;387;p4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8" name="Google Shape;388;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