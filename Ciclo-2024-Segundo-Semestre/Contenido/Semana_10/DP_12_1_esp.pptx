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A4FC7C1-832E-43D6-9C7B-4F2FEC330DA2}">
  <a:tblStyle styleId="{8A4FC7C1-832E-43D6-9C7B-4F2FEC330DA2}"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14:02:15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estructura y el contenido de la tabla también se pueden ver con el Explorador de Objetos en APEX.</a:t>
            </a:r>
            <a:endParaRPr/>
          </a:p>
        </p:txBody>
      </p:sp>
      <p:sp>
        <p:nvSpPr>
          <p:cNvPr id="139" name="Google Shape;139;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14:02:15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Los nombres de columna se pueden mostrar en cualquier orden (aunque no supone ninguna ventaja hacerlo así) mientras que los valores de columna se muestran en el mismo orden que los nombres de columna.</a:t>
            </a:r>
            <a:endParaRPr/>
          </a:p>
        </p:txBody>
      </p:sp>
      <p:sp>
        <p:nvSpPr>
          <p:cNvPr id="162" name="Google Shape;162;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14:02:16</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en el momento de la escritura, la función DESCRIBE no funciona como se esperaba en APEX. Mientras sea así, utilice el Explorador de Objetos para ver la información detallada de la tabla.</a:t>
            </a:r>
            <a:endParaRPr/>
          </a:p>
        </p:txBody>
      </p:sp>
      <p:sp>
        <p:nvSpPr>
          <p:cNvPr id="173" name="Google Shape;173;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14:02:17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como esta tabla se creó como copia de la tabla de departamentos, la restricción de clave primaria no se ha copiado de la original.</a:t>
            </a:r>
            <a:endParaRPr/>
          </a:p>
        </p:txBody>
      </p:sp>
      <p:sp>
        <p:nvSpPr>
          <p:cNvPr id="194" name="Google Shape;194;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14:02:18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Los tipos de dato se tratan más detalladamente más adelante en el curso.</a:t>
            </a:r>
            <a:endParaRPr/>
          </a:p>
        </p:txBody>
      </p:sp>
      <p:sp>
        <p:nvSpPr>
          <p:cNvPr id="242" name="Google Shape;242;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14:02:19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Se ha omitido la columna EMAIL en la inserción, por lo que la inserción falla ya que no se permiten valores NULL para la columna EMAIL.</a:t>
            </a:r>
            <a:endParaRPr/>
          </a:p>
        </p:txBody>
      </p:sp>
      <p:sp>
        <p:nvSpPr>
          <p:cNvPr id="276" name="Google Shape;276;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14:02:20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los nombres de columna en la salida se han abreviado para que quepan en la diapositiva.</a:t>
            </a:r>
            <a:endParaRPr/>
          </a:p>
        </p:txBody>
      </p:sp>
      <p:sp>
        <p:nvSpPr>
          <p:cNvPr id="297" name="Google Shape;297;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14:02:21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Algunas columnas se han omitido de la salida por motivos de visualización.</a:t>
            </a:r>
            <a:endParaRPr/>
          </a:p>
        </p:txBody>
      </p:sp>
      <p:sp>
        <p:nvSpPr>
          <p:cNvPr id="320" name="Google Shape;320;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14:02:22</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en la lección 3 de esta sección, veremos la sentencia INSERT ALL. Esta permite agregar varias filas en una sentencia SQL.</a:t>
            </a:r>
            <a:endParaRPr/>
          </a:p>
        </p:txBody>
      </p:sp>
      <p:sp>
        <p:nvSpPr>
          <p:cNvPr id="376" name="Google Shape;376;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14:02:23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para ejecutar la sentencia INSERT anterior, se tendrá que crear primero la tabla sales_reps.</a:t>
            </a:r>
            <a:endParaRPr/>
          </a:p>
        </p:txBody>
      </p:sp>
      <p:sp>
        <p:nvSpPr>
          <p:cNvPr id="394" name="Google Shape;394;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4.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showMasterSp="0" type="obj">
  <p:cSld name="OBJECT">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0" y="0"/>
            <a:ext cx="9144000" cy="6858000"/>
          </a:xfrm>
          <a:custGeom>
            <a:rect b="b" l="l" r="r" t="t"/>
            <a:pathLst>
              <a:path extrusionOk="0" h="6858000" w="9144000">
                <a:moveTo>
                  <a:pt x="9144000" y="0"/>
                </a:moveTo>
                <a:lnTo>
                  <a:pt x="0" y="0"/>
                </a:lnTo>
                <a:lnTo>
                  <a:pt x="0" y="6858000"/>
                </a:lnTo>
                <a:lnTo>
                  <a:pt x="9144000" y="6858000"/>
                </a:lnTo>
                <a:lnTo>
                  <a:pt x="9144000"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52" name="Google Shape;52;p13"/>
          <p:cNvPicPr preferRelativeResize="0"/>
          <p:nvPr/>
        </p:nvPicPr>
        <p:blipFill rotWithShape="1">
          <a:blip r:embed="rId2">
            <a:alphaModFix/>
          </a:blip>
          <a:srcRect b="0" l="0" r="0" t="0"/>
          <a:stretch/>
        </p:blipFill>
        <p:spPr>
          <a:xfrm>
            <a:off x="192023" y="192023"/>
            <a:ext cx="8759950" cy="914399"/>
          </a:xfrm>
          <a:prstGeom prst="rect">
            <a:avLst/>
          </a:prstGeom>
          <a:noFill/>
          <a:ln>
            <a:noFill/>
          </a:ln>
        </p:spPr>
      </p:pic>
      <p:pic>
        <p:nvPicPr>
          <p:cNvPr id="53" name="Google Shape;53;p13"/>
          <p:cNvPicPr preferRelativeResize="0"/>
          <p:nvPr/>
        </p:nvPicPr>
        <p:blipFill rotWithShape="1">
          <a:blip r:embed="rId3">
            <a:alphaModFix/>
          </a:blip>
          <a:srcRect b="0" l="0" r="0" t="0"/>
          <a:stretch/>
        </p:blipFill>
        <p:spPr>
          <a:xfrm>
            <a:off x="192023" y="5751576"/>
            <a:ext cx="8759950" cy="914399"/>
          </a:xfrm>
          <a:prstGeom prst="rect">
            <a:avLst/>
          </a:prstGeom>
          <a:noFill/>
          <a:ln>
            <a:noFill/>
          </a:ln>
        </p:spPr>
      </p:pic>
      <p:pic>
        <p:nvPicPr>
          <p:cNvPr id="54" name="Google Shape;54;p13"/>
          <p:cNvPicPr preferRelativeResize="0"/>
          <p:nvPr/>
        </p:nvPicPr>
        <p:blipFill rotWithShape="1">
          <a:blip r:embed="rId4">
            <a:alphaModFix/>
          </a:blip>
          <a:srcRect b="0" l="0" r="0" t="0"/>
          <a:stretch/>
        </p:blipFill>
        <p:spPr>
          <a:xfrm>
            <a:off x="1834895" y="2514600"/>
            <a:ext cx="5474207" cy="1828799"/>
          </a:xfrm>
          <a:prstGeom prst="rect">
            <a:avLst/>
          </a:prstGeom>
          <a:noFill/>
          <a:ln>
            <a:noFill/>
          </a:ln>
        </p:spPr>
      </p:pic>
      <p:sp>
        <p:nvSpPr>
          <p:cNvPr id="55" name="Google Shape;55;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3"/>
          <p:cNvSpPr txBox="1"/>
          <p:nvPr>
            <p:ph idx="10" type="dt"/>
          </p:nvPr>
        </p:nvSpPr>
        <p:spPr>
          <a:xfrm>
            <a:off x="2874191" y="6516395"/>
            <a:ext cx="8376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8" name="Shape 58"/>
        <p:cNvGrpSpPr/>
        <p:nvPr/>
      </p:nvGrpSpPr>
      <p:grpSpPr>
        <a:xfrm>
          <a:off x="0" y="0"/>
          <a:ext cx="0" cy="0"/>
          <a:chOff x="0" y="0"/>
          <a:chExt cx="0" cy="0"/>
        </a:xfrm>
      </p:grpSpPr>
      <p:sp>
        <p:nvSpPr>
          <p:cNvPr id="59" name="Google Shape;59;p14"/>
          <p:cNvSpPr txBox="1"/>
          <p:nvPr>
            <p:ph type="title"/>
          </p:nvPr>
        </p:nvSpPr>
        <p:spPr>
          <a:xfrm>
            <a:off x="392112" y="748031"/>
            <a:ext cx="72168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 name="Google Shape;60;p14"/>
          <p:cNvSpPr txBox="1"/>
          <p:nvPr>
            <p:ph idx="1" type="body"/>
          </p:nvPr>
        </p:nvSpPr>
        <p:spPr>
          <a:xfrm>
            <a:off x="483552" y="1415417"/>
            <a:ext cx="8025900" cy="37293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61" name="Google Shape;61;p14"/>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10" type="dt"/>
          </p:nvPr>
        </p:nvSpPr>
        <p:spPr>
          <a:xfrm>
            <a:off x="2874191" y="6516395"/>
            <a:ext cx="8376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 name="Shape 67"/>
        <p:cNvGrpSpPr/>
        <p:nvPr/>
      </p:nvGrpSpPr>
      <p:grpSpPr>
        <a:xfrm>
          <a:off x="0" y="0"/>
          <a:ext cx="0" cy="0"/>
          <a:chOff x="0" y="0"/>
          <a:chExt cx="0" cy="0"/>
        </a:xfrm>
      </p:grpSpPr>
      <p:grpSp>
        <p:nvGrpSpPr>
          <p:cNvPr id="68" name="Google Shape;68;p15"/>
          <p:cNvGrpSpPr/>
          <p:nvPr/>
        </p:nvGrpSpPr>
        <p:grpSpPr>
          <a:xfrm>
            <a:off x="0" y="0"/>
            <a:ext cx="9144000" cy="6858000"/>
            <a:chOff x="0" y="0"/>
            <a:chExt cx="9144000" cy="6858000"/>
          </a:xfrm>
        </p:grpSpPr>
        <p:pic>
          <p:nvPicPr>
            <p:cNvPr id="69" name="Google Shape;69;p15"/>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70" name="Google Shape;70;p15"/>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1" name="Google Shape;71;p15"/>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72" name="Google Shape;72;p15"/>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73" name="Google Shape;73;p15"/>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74" name="Google Shape;74;p15"/>
          <p:cNvSpPr txBox="1"/>
          <p:nvPr/>
        </p:nvSpPr>
        <p:spPr>
          <a:xfrm>
            <a:off x="962879" y="2400950"/>
            <a:ext cx="234442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12-1</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Sentencias INSERT</a:t>
            </a:r>
            <a:endParaRPr sz="2400">
              <a:latin typeface="Calibri"/>
              <a:ea typeface="Calibri"/>
              <a:cs typeface="Calibri"/>
              <a:sym typeface="Calibri"/>
            </a:endParaRPr>
          </a:p>
        </p:txBody>
      </p:sp>
      <p:pic>
        <p:nvPicPr>
          <p:cNvPr id="75" name="Google Shape;75;p15"/>
          <p:cNvPicPr preferRelativeResize="0"/>
          <p:nvPr/>
        </p:nvPicPr>
        <p:blipFill rotWithShape="1">
          <a:blip r:embed="rId5">
            <a:alphaModFix/>
          </a:blip>
          <a:srcRect b="0" l="0" r="0" t="0"/>
          <a:stretch/>
        </p:blipFill>
        <p:spPr>
          <a:xfrm>
            <a:off x="-126500" y="3318176"/>
            <a:ext cx="3555500" cy="348189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81" name="Google Shape;81;p16"/>
          <p:cNvSpPr txBox="1"/>
          <p:nvPr/>
        </p:nvSpPr>
        <p:spPr>
          <a:xfrm>
            <a:off x="483552" y="1393401"/>
            <a:ext cx="7745730" cy="364426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aprenderá a:</a:t>
            </a:r>
            <a:endParaRPr sz="2800">
              <a:latin typeface="Calibri"/>
              <a:ea typeface="Calibri"/>
              <a:cs typeface="Calibri"/>
              <a:sym typeface="Calibri"/>
            </a:endParaRPr>
          </a:p>
          <a:p>
            <a:pPr indent="-175260" lvl="0" marL="530860" marR="424815"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la importancia de poder modificar los datos de una base de datos</a:t>
            </a:r>
            <a:endParaRPr sz="2400">
              <a:latin typeface="Calibri"/>
              <a:ea typeface="Calibri"/>
              <a:cs typeface="Calibri"/>
              <a:sym typeface="Calibri"/>
            </a:endParaRPr>
          </a:p>
          <a:p>
            <a:pPr indent="-175260" lvl="0" marL="530860" marR="30289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sentencias INSERT que insertan una única fila con una cláusula VALUES</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sentencias INSERT que utilizan valores especiales, valores nulos y valores de fecha</a:t>
            </a:r>
            <a:endParaRPr sz="2400">
              <a:latin typeface="Calibri"/>
              <a:ea typeface="Calibri"/>
              <a:cs typeface="Calibri"/>
              <a:sym typeface="Calibri"/>
            </a:endParaRPr>
          </a:p>
          <a:p>
            <a:pPr indent="-175260" lvl="0" marL="530860" marR="2727325" rtl="0" algn="l">
              <a:lnSpc>
                <a:spcPct val="107916"/>
              </a:lnSpc>
              <a:spcBef>
                <a:spcPts val="40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sentencias INSERT que copian filas de una tabla a otra mediante una subconsulta</a:t>
            </a:r>
            <a:endParaRPr sz="2400">
              <a:latin typeface="Calibri"/>
              <a:ea typeface="Calibri"/>
              <a:cs typeface="Calibri"/>
              <a:sym typeface="Calibri"/>
            </a:endParaRPr>
          </a:p>
        </p:txBody>
      </p:sp>
      <p:grpSp>
        <p:nvGrpSpPr>
          <p:cNvPr id="82" name="Google Shape;82;p16"/>
          <p:cNvGrpSpPr/>
          <p:nvPr/>
        </p:nvGrpSpPr>
        <p:grpSpPr>
          <a:xfrm>
            <a:off x="5480304" y="3912108"/>
            <a:ext cx="3102863" cy="2458211"/>
            <a:chOff x="5480304" y="3912108"/>
            <a:chExt cx="3102863" cy="2458211"/>
          </a:xfrm>
        </p:grpSpPr>
        <p:pic>
          <p:nvPicPr>
            <p:cNvPr id="83" name="Google Shape;83;p16"/>
            <p:cNvPicPr preferRelativeResize="0"/>
            <p:nvPr/>
          </p:nvPicPr>
          <p:blipFill rotWithShape="1">
            <a:blip r:embed="rId3">
              <a:alphaModFix/>
            </a:blip>
            <a:srcRect b="0" l="0" r="0" t="0"/>
            <a:stretch/>
          </p:blipFill>
          <p:spPr>
            <a:xfrm>
              <a:off x="5480304" y="3912108"/>
              <a:ext cx="3102863" cy="2458211"/>
            </a:xfrm>
            <a:prstGeom prst="rect">
              <a:avLst/>
            </a:prstGeom>
            <a:noFill/>
            <a:ln>
              <a:noFill/>
            </a:ln>
          </p:spPr>
        </p:pic>
        <p:pic>
          <p:nvPicPr>
            <p:cNvPr id="84" name="Google Shape;84;p16"/>
            <p:cNvPicPr preferRelativeResize="0"/>
            <p:nvPr/>
          </p:nvPicPr>
          <p:blipFill rotWithShape="1">
            <a:blip r:embed="rId4">
              <a:alphaModFix/>
            </a:blip>
            <a:srcRect b="0" l="0" r="0" t="0"/>
            <a:stretch/>
          </p:blipFill>
          <p:spPr>
            <a:xfrm>
              <a:off x="5672328" y="4104132"/>
              <a:ext cx="2718815" cy="2074163"/>
            </a:xfrm>
            <a:prstGeom prst="rect">
              <a:avLst/>
            </a:prstGeom>
            <a:noFill/>
            <a:ln>
              <a:noFill/>
            </a:ln>
          </p:spPr>
        </p:pic>
      </p:grpSp>
      <p:sp>
        <p:nvSpPr>
          <p:cNvPr id="85" name="Google Shape;85;p16"/>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86" name="Google Shape;86;p1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3" name="Google Shape;93;p17"/>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94" name="Google Shape;94;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5" name="Google Shape;95;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6" name="Google Shape;96;p17"/>
          <p:cNvSpPr txBox="1"/>
          <p:nvPr/>
        </p:nvSpPr>
        <p:spPr>
          <a:xfrm>
            <a:off x="483552" y="1415417"/>
            <a:ext cx="8065770" cy="3061335"/>
          </a:xfrm>
          <a:prstGeom prst="rect">
            <a:avLst/>
          </a:prstGeom>
          <a:noFill/>
          <a:ln>
            <a:noFill/>
          </a:ln>
        </p:spPr>
        <p:txBody>
          <a:bodyPr anchorCtr="0" anchor="t" bIns="0" lIns="0" spcFirstLastPara="1" rIns="0" wrap="square" tIns="59675">
            <a:spAutoFit/>
          </a:bodyPr>
          <a:lstStyle/>
          <a:p>
            <a:pPr indent="-177800" lvl="0" marL="182880" marR="38227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Hasta ahora, ha aprendido cómo acceder a datos de 	una base de datos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Ha llegado el momento de aprender a realizar cambios 	en los datos de la base de datos</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empresa, las bases de datos son dinámicas</a:t>
            </a:r>
            <a:endParaRPr sz="2800">
              <a:latin typeface="Calibri"/>
              <a:ea typeface="Calibri"/>
              <a:cs typeface="Calibri"/>
              <a:sym typeface="Calibri"/>
            </a:endParaRPr>
          </a:p>
          <a:p>
            <a:pPr indent="-177800" lvl="0" marL="182880" marR="726440" rtl="0" algn="l">
              <a:lnSpc>
                <a:spcPct val="108214"/>
              </a:lnSpc>
              <a:spcBef>
                <a:spcPts val="83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Están constantemente en el proceso de inserción, 	actualización y supresión de datos</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102" name="Google Shape;102;p18"/>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103" name="Google Shape;103;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4" name="Google Shape;104;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5" name="Google Shape;105;p18"/>
          <p:cNvSpPr txBox="1"/>
          <p:nvPr/>
        </p:nvSpPr>
        <p:spPr>
          <a:xfrm>
            <a:off x="483552" y="1415417"/>
            <a:ext cx="8062595" cy="3344545"/>
          </a:xfrm>
          <a:prstGeom prst="rect">
            <a:avLst/>
          </a:prstGeom>
          <a:noFill/>
          <a:ln>
            <a:noFill/>
          </a:ln>
        </p:spPr>
        <p:txBody>
          <a:bodyPr anchorCtr="0" anchor="t" bIns="0" lIns="0" spcFirstLastPara="1" rIns="0" wrap="square" tIns="59675">
            <a:spAutoFit/>
          </a:bodyPr>
          <a:lstStyle/>
          <a:p>
            <a:pPr indent="-177800" lvl="0" marL="182880" marR="31432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Piense en cuántas veces cambia la base de datos de 	alumnos de la escuela de un día a otro y de un año a 	otro</a:t>
            </a:r>
            <a:endParaRPr sz="2800">
              <a:latin typeface="Calibri"/>
              <a:ea typeface="Calibri"/>
              <a:cs typeface="Calibri"/>
              <a:sym typeface="Calibri"/>
            </a:endParaRPr>
          </a:p>
          <a:p>
            <a:pPr indent="-177800" lvl="0" marL="182880" marR="21209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no se realizaran cambios, la base de datos perdería 	rápidamente su utilidad</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comenzará a utilizar sentencias de 	lenguaje de manipulación de datos (DML) para realizar 	cambios en una base de datos</a:t>
            </a:r>
            <a:endParaRPr sz="2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Copia de Tablas antes de la Inserción</a:t>
            </a:r>
            <a:endParaRPr/>
          </a:p>
        </p:txBody>
      </p:sp>
      <p:sp>
        <p:nvSpPr>
          <p:cNvPr id="111" name="Google Shape;111;p19"/>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112" name="Google Shape;112;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3" name="Google Shape;113;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4" name="Google Shape;114;p19"/>
          <p:cNvSpPr txBox="1"/>
          <p:nvPr/>
        </p:nvSpPr>
        <p:spPr>
          <a:xfrm>
            <a:off x="483552" y="1387985"/>
            <a:ext cx="8127365" cy="4316730"/>
          </a:xfrm>
          <a:prstGeom prst="rect">
            <a:avLst/>
          </a:prstGeom>
          <a:noFill/>
          <a:ln>
            <a:noFill/>
          </a:ln>
        </p:spPr>
        <p:txBody>
          <a:bodyPr anchorCtr="0" anchor="t" bIns="0" lIns="0" spcFirstLastPara="1" rIns="0" wrap="square" tIns="89525">
            <a:spAutoFit/>
          </a:bodyPr>
          <a:lstStyle/>
          <a:p>
            <a:pPr indent="-172720" lvl="0" marL="184785" marR="805815" rtl="0" algn="l">
              <a:lnSpc>
                <a:spcPct val="9615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Será el responsable de la modificación de tablas en el esquema</a:t>
            </a:r>
            <a:endParaRPr sz="2600">
              <a:latin typeface="Calibri"/>
              <a:ea typeface="Calibri"/>
              <a:cs typeface="Calibri"/>
              <a:sym typeface="Calibri"/>
            </a:endParaRPr>
          </a:p>
          <a:p>
            <a:pPr indent="-172720" lvl="0" marL="184785" marR="212725" rtl="0" algn="l">
              <a:lnSpc>
                <a:spcPct val="96153"/>
              </a:lnSpc>
              <a:spcBef>
                <a:spcPts val="7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También será responsables de restaurarlos al igual que un administrador de base de datos real asume esta responsabilidad</a:t>
            </a:r>
            <a:endParaRPr sz="2600">
              <a:latin typeface="Calibri"/>
              <a:ea typeface="Calibri"/>
              <a:cs typeface="Calibri"/>
              <a:sym typeface="Calibri"/>
            </a:endParaRPr>
          </a:p>
          <a:p>
            <a:pPr indent="-172720" lvl="0" marL="184785" marR="5080" rtl="0" algn="l">
              <a:lnSpc>
                <a:spcPct val="96153"/>
              </a:lnSpc>
              <a:spcBef>
                <a:spcPts val="7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Para mantener las tablas de esquema en su estado original, realizará una copia de cada tabla antes de terminar las actividades prácticas de esta lección y de las posteriores</a:t>
            </a:r>
            <a:endParaRPr sz="2600">
              <a:latin typeface="Calibri"/>
              <a:ea typeface="Calibri"/>
              <a:cs typeface="Calibri"/>
              <a:sym typeface="Calibri"/>
            </a:endParaRPr>
          </a:p>
          <a:p>
            <a:pPr indent="-172720" lvl="0" marL="184785" marR="87630" rtl="0" algn="l">
              <a:lnSpc>
                <a:spcPct val="96153"/>
              </a:lnSpc>
              <a:spcBef>
                <a:spcPts val="79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En cada actividad práctica, utilizará la copia de la tabla que cree, pero no la original</a:t>
            </a:r>
            <a:endParaRPr sz="2600">
              <a:latin typeface="Calibri"/>
              <a:ea typeface="Calibri"/>
              <a:cs typeface="Calibri"/>
              <a:sym typeface="Calibri"/>
            </a:endParaRPr>
          </a:p>
          <a:p>
            <a:pPr indent="-172720" lvl="0" marL="184785" marR="509905" rtl="0" algn="l">
              <a:lnSpc>
                <a:spcPct val="96153"/>
              </a:lnSpc>
              <a:spcBef>
                <a:spcPts val="7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Si por accidente modificara una copia de la tabla, podrá utilizar la tabla original para restaurar la copia</a:t>
            </a:r>
            <a:endParaRPr sz="26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Copia de Tablas antes de la Inserción</a:t>
            </a:r>
            <a:endParaRPr/>
          </a:p>
        </p:txBody>
      </p:sp>
      <p:sp>
        <p:nvSpPr>
          <p:cNvPr id="120" name="Google Shape;120;p20"/>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121" name="Google Shape;121;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2" name="Google Shape;122;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3" name="Google Shape;123;p20"/>
          <p:cNvSpPr txBox="1"/>
          <p:nvPr/>
        </p:nvSpPr>
        <p:spPr>
          <a:xfrm>
            <a:off x="483552" y="1415417"/>
            <a:ext cx="8021320" cy="2960370"/>
          </a:xfrm>
          <a:prstGeom prst="rect">
            <a:avLst/>
          </a:prstGeom>
          <a:noFill/>
          <a:ln>
            <a:noFill/>
          </a:ln>
        </p:spPr>
        <p:txBody>
          <a:bodyPr anchorCtr="0" anchor="t" bIns="0" lIns="0" spcFirstLastPara="1" rIns="0" wrap="square" tIns="59675">
            <a:spAutoFit/>
          </a:bodyPr>
          <a:lstStyle/>
          <a:p>
            <a:pPr indent="-177800" lvl="0" marL="182880" marR="115824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Debe asignar un nombre a cada tabla copiada: 	copy_tablename</a:t>
            </a:r>
            <a:endParaRPr sz="2800">
              <a:latin typeface="Calibri"/>
              <a:ea typeface="Calibri"/>
              <a:cs typeface="Calibri"/>
              <a:sym typeface="Calibri"/>
            </a:endParaRPr>
          </a:p>
          <a:p>
            <a:pPr indent="-177800" lvl="0" marL="182880" marR="39306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copias de tablas no heredarán las reglas de 	integridad de clave primaria a clave ajena asociadas 	(restricciones de relación) de las tablas originales</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embardo, los tipos de dato de columna se heredan 	de las tablas copias</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Sintaxis para Crear una Copia de una Tabla</a:t>
            </a:r>
            <a:endParaRPr/>
          </a:p>
        </p:txBody>
      </p:sp>
      <p:sp>
        <p:nvSpPr>
          <p:cNvPr id="129" name="Google Shape;129;p21"/>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130" name="Google Shape;130;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1" name="Google Shape;131;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2" name="Google Shape;132;p21"/>
          <p:cNvSpPr txBox="1"/>
          <p:nvPr/>
        </p:nvSpPr>
        <p:spPr>
          <a:xfrm>
            <a:off x="483552" y="1415417"/>
            <a:ext cx="3674745"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Cree la sintaxis de tabla:</a:t>
            </a:r>
            <a:endParaRPr sz="2800">
              <a:latin typeface="Calibri"/>
              <a:ea typeface="Calibri"/>
              <a:cs typeface="Calibri"/>
              <a:sym typeface="Calibri"/>
            </a:endParaRPr>
          </a:p>
        </p:txBody>
      </p:sp>
      <p:sp>
        <p:nvSpPr>
          <p:cNvPr id="133" name="Google Shape;133;p21"/>
          <p:cNvSpPr txBox="1"/>
          <p:nvPr/>
        </p:nvSpPr>
        <p:spPr>
          <a:xfrm>
            <a:off x="483552" y="2872361"/>
            <a:ext cx="2037714"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a:t>
            </a:r>
            <a:endParaRPr sz="2800">
              <a:latin typeface="Calibri"/>
              <a:ea typeface="Calibri"/>
              <a:cs typeface="Calibri"/>
              <a:sym typeface="Calibri"/>
            </a:endParaRPr>
          </a:p>
        </p:txBody>
      </p:sp>
      <p:sp>
        <p:nvSpPr>
          <p:cNvPr id="134" name="Google Shape;134;p21"/>
          <p:cNvSpPr txBox="1"/>
          <p:nvPr/>
        </p:nvSpPr>
        <p:spPr>
          <a:xfrm>
            <a:off x="405384" y="1961388"/>
            <a:ext cx="8345805" cy="723900"/>
          </a:xfrm>
          <a:prstGeom prst="rect">
            <a:avLst/>
          </a:prstGeom>
          <a:solidFill>
            <a:srgbClr val="9DBDC4">
              <a:alpha val="49804"/>
            </a:srgbClr>
          </a:solidFill>
          <a:ln>
            <a:noFill/>
          </a:ln>
        </p:spPr>
        <p:txBody>
          <a:bodyPr anchorCtr="0" anchor="t" bIns="0" lIns="0" spcFirstLastPara="1" rIns="0" wrap="square" tIns="5967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TABLE copy_tablename</a:t>
            </a:r>
            <a:endParaRPr sz="1800">
              <a:latin typeface="Courier New"/>
              <a:ea typeface="Courier New"/>
              <a:cs typeface="Courier New"/>
              <a:sym typeface="Courier New"/>
            </a:endParaRPr>
          </a:p>
          <a:p>
            <a:pPr indent="0" lvl="0" marL="408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(SELECT * FROM tablename);</a:t>
            </a:r>
            <a:endParaRPr sz="1800">
              <a:latin typeface="Courier New"/>
              <a:ea typeface="Courier New"/>
              <a:cs typeface="Courier New"/>
              <a:sym typeface="Courier New"/>
            </a:endParaRPr>
          </a:p>
        </p:txBody>
      </p:sp>
      <p:sp>
        <p:nvSpPr>
          <p:cNvPr id="135" name="Google Shape;135;p21"/>
          <p:cNvSpPr txBox="1"/>
          <p:nvPr/>
        </p:nvSpPr>
        <p:spPr>
          <a:xfrm>
            <a:off x="405384" y="3369564"/>
            <a:ext cx="8345805" cy="723900"/>
          </a:xfrm>
          <a:prstGeom prst="rect">
            <a:avLst/>
          </a:prstGeom>
          <a:solidFill>
            <a:srgbClr val="9DBDC4">
              <a:alpha val="49804"/>
            </a:srgbClr>
          </a:solidFill>
          <a:ln>
            <a:noFill/>
          </a:ln>
        </p:spPr>
        <p:txBody>
          <a:bodyPr anchorCtr="0" anchor="t" bIns="0" lIns="0" spcFirstLastPara="1" rIns="0" wrap="square" tIns="60325">
            <a:spAutoFit/>
          </a:bodyPr>
          <a:lstStyle/>
          <a:p>
            <a:pPr indent="0" lvl="0" marL="0" marR="437896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TABLE copy_employees AS (SELECT * FROM employees);</a:t>
            </a:r>
            <a:endParaRPr sz="1800">
              <a:latin typeface="Courier New"/>
              <a:ea typeface="Courier New"/>
              <a:cs typeface="Courier New"/>
              <a:sym typeface="Courier New"/>
            </a:endParaRPr>
          </a:p>
        </p:txBody>
      </p:sp>
      <p:sp>
        <p:nvSpPr>
          <p:cNvPr id="136" name="Google Shape;136;p21"/>
          <p:cNvSpPr txBox="1"/>
          <p:nvPr/>
        </p:nvSpPr>
        <p:spPr>
          <a:xfrm>
            <a:off x="393191" y="4221479"/>
            <a:ext cx="8345805" cy="722630"/>
          </a:xfrm>
          <a:prstGeom prst="rect">
            <a:avLst/>
          </a:prstGeom>
          <a:solidFill>
            <a:srgbClr val="9DBDC4">
              <a:alpha val="49804"/>
            </a:srgbClr>
          </a:solidFill>
          <a:ln>
            <a:noFill/>
          </a:ln>
        </p:spPr>
        <p:txBody>
          <a:bodyPr anchorCtr="0" anchor="t" bIns="0" lIns="0" spcFirstLastPara="1" rIns="0" wrap="square" tIns="59050">
            <a:spAutoFit/>
          </a:bodyPr>
          <a:lstStyle/>
          <a:p>
            <a:pPr indent="0" lvl="0" marL="0" marR="41052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TABLE copy_departments AS (SELECT * FROM departments);</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392112" y="748031"/>
            <a:ext cx="7209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Sintaxis para Crear una Copia de una Tabla</a:t>
            </a:r>
            <a:endParaRPr/>
          </a:p>
        </p:txBody>
      </p:sp>
      <p:sp>
        <p:nvSpPr>
          <p:cNvPr id="142" name="Google Shape;142;p22"/>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143" name="Google Shape;143;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4" name="Google Shape;144;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5" name="Google Shape;145;p22"/>
          <p:cNvSpPr txBox="1"/>
          <p:nvPr/>
        </p:nvSpPr>
        <p:spPr>
          <a:xfrm>
            <a:off x="483552" y="1415417"/>
            <a:ext cx="714184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verificar y ver la copia de la tabla, utilice las 	siguientes sentencias DESCRIBE y SELECT:</a:t>
            </a:r>
            <a:endParaRPr sz="2800">
              <a:latin typeface="Calibri"/>
              <a:ea typeface="Calibri"/>
              <a:cs typeface="Calibri"/>
              <a:sym typeface="Calibri"/>
            </a:endParaRPr>
          </a:p>
        </p:txBody>
      </p:sp>
      <p:sp>
        <p:nvSpPr>
          <p:cNvPr id="146" name="Google Shape;146;p22"/>
          <p:cNvSpPr txBox="1"/>
          <p:nvPr/>
        </p:nvSpPr>
        <p:spPr>
          <a:xfrm>
            <a:off x="405384" y="2418588"/>
            <a:ext cx="8345805" cy="367665"/>
          </a:xfrm>
          <a:prstGeom prst="rect">
            <a:avLst/>
          </a:prstGeom>
          <a:solidFill>
            <a:srgbClr val="9DBDC4">
              <a:alpha val="49804"/>
            </a:srgbClr>
          </a:solidFill>
          <a:ln>
            <a:noFill/>
          </a:ln>
        </p:spPr>
        <p:txBody>
          <a:bodyPr anchorCtr="0" anchor="t" bIns="0" lIns="0" spcFirstLastPara="1" rIns="0" wrap="square" tIns="190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DESCRIBE copy_employees;</a:t>
            </a:r>
            <a:endParaRPr sz="1800">
              <a:latin typeface="Courier New"/>
              <a:ea typeface="Courier New"/>
              <a:cs typeface="Courier New"/>
              <a:sym typeface="Courier New"/>
            </a:endParaRPr>
          </a:p>
        </p:txBody>
      </p:sp>
      <p:sp>
        <p:nvSpPr>
          <p:cNvPr id="147" name="Google Shape;147;p22"/>
          <p:cNvSpPr txBox="1"/>
          <p:nvPr/>
        </p:nvSpPr>
        <p:spPr>
          <a:xfrm>
            <a:off x="405384" y="3107435"/>
            <a:ext cx="8345805" cy="367665"/>
          </a:xfrm>
          <a:prstGeom prst="rect">
            <a:avLst/>
          </a:prstGeom>
          <a:solidFill>
            <a:srgbClr val="9DBDC4">
              <a:alpha val="49804"/>
            </a:srgbClr>
          </a:solidFill>
          <a:ln>
            <a:noFill/>
          </a:ln>
        </p:spPr>
        <p:txBody>
          <a:bodyPr anchorCtr="0" anchor="t" bIns="0" lIns="0" spcFirstLastPara="1" rIns="0" wrap="square" tIns="190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 FROM copy_employees;</a:t>
            </a:r>
            <a:endParaRPr sz="1800">
              <a:latin typeface="Courier New"/>
              <a:ea typeface="Courier New"/>
              <a:cs typeface="Courier New"/>
              <a:sym typeface="Courier New"/>
            </a:endParaRPr>
          </a:p>
        </p:txBody>
      </p:sp>
      <p:sp>
        <p:nvSpPr>
          <p:cNvPr id="148" name="Google Shape;148;p22"/>
          <p:cNvSpPr txBox="1"/>
          <p:nvPr/>
        </p:nvSpPr>
        <p:spPr>
          <a:xfrm>
            <a:off x="388620" y="3759708"/>
            <a:ext cx="8345805" cy="367665"/>
          </a:xfrm>
          <a:prstGeom prst="rect">
            <a:avLst/>
          </a:prstGeom>
          <a:solidFill>
            <a:srgbClr val="9DBDC4">
              <a:alpha val="49804"/>
            </a:srgbClr>
          </a:solidFill>
          <a:ln>
            <a:noFill/>
          </a:ln>
        </p:spPr>
        <p:txBody>
          <a:bodyPr anchorCtr="0" anchor="t" bIns="0" lIns="0" spcFirstLastPara="1" rIns="0" wrap="square" tIns="190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DESCRIBE copy_departments;</a:t>
            </a:r>
            <a:endParaRPr sz="1800">
              <a:latin typeface="Courier New"/>
              <a:ea typeface="Courier New"/>
              <a:cs typeface="Courier New"/>
              <a:sym typeface="Courier New"/>
            </a:endParaRPr>
          </a:p>
        </p:txBody>
      </p:sp>
      <p:sp>
        <p:nvSpPr>
          <p:cNvPr id="149" name="Google Shape;149;p22"/>
          <p:cNvSpPr txBox="1"/>
          <p:nvPr/>
        </p:nvSpPr>
        <p:spPr>
          <a:xfrm>
            <a:off x="405384" y="4402835"/>
            <a:ext cx="8345805" cy="368935"/>
          </a:xfrm>
          <a:prstGeom prst="rect">
            <a:avLst/>
          </a:prstGeom>
          <a:solidFill>
            <a:srgbClr val="9DBDC4">
              <a:alpha val="49804"/>
            </a:srgbClr>
          </a:solidFill>
          <a:ln>
            <a:noFill/>
          </a:ln>
        </p:spPr>
        <p:txBody>
          <a:bodyPr anchorCtr="0" anchor="t" bIns="0" lIns="0" spcFirstLastPara="1" rIns="0" wrap="square" tIns="1967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 FROM copy_departments;</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INSERT</a:t>
            </a:r>
            <a:endParaRPr/>
          </a:p>
        </p:txBody>
      </p:sp>
      <p:sp>
        <p:nvSpPr>
          <p:cNvPr id="155" name="Google Shape;155;p23"/>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156" name="Google Shape;156;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7" name="Google Shape;157;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8" name="Google Shape;158;p23"/>
          <p:cNvSpPr txBox="1"/>
          <p:nvPr/>
        </p:nvSpPr>
        <p:spPr>
          <a:xfrm>
            <a:off x="483552" y="1415417"/>
            <a:ext cx="7922259" cy="3230245"/>
          </a:xfrm>
          <a:prstGeom prst="rect">
            <a:avLst/>
          </a:prstGeom>
          <a:noFill/>
          <a:ln>
            <a:noFill/>
          </a:ln>
        </p:spPr>
        <p:txBody>
          <a:bodyPr anchorCtr="0" anchor="t" bIns="0" lIns="0" spcFirstLastPara="1" rIns="0" wrap="square" tIns="59675">
            <a:spAutoFit/>
          </a:bodyPr>
          <a:lstStyle/>
          <a:p>
            <a:pPr indent="-177800" lvl="0" marL="182880" marR="4699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INSERT se utiliza para agregar una nueva 	fila a una tabla. La sentencia necesita tres valores:</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el nombre de la tabla</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los nombres de las columnas de la tabla que se va a rellenar</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los valores correspondientes para cada columna</a:t>
            </a:r>
            <a:endParaRPr sz="2400">
              <a:latin typeface="Calibri"/>
              <a:ea typeface="Calibri"/>
              <a:cs typeface="Calibri"/>
              <a:sym typeface="Calibri"/>
            </a:endParaRPr>
          </a:p>
          <a:p>
            <a:pPr indent="-177800" lvl="0" marL="182880" marR="195580" rtl="0" algn="l">
              <a:lnSpc>
                <a:spcPct val="108214"/>
              </a:lnSpc>
              <a:spcBef>
                <a:spcPts val="8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¿Cómo podemos INSERTAR los datos siguientes para 	crear un nuevo departamento en la tabla 	copy_departments?</a:t>
            </a:r>
            <a:endParaRPr sz="2800">
              <a:latin typeface="Calibri"/>
              <a:ea typeface="Calibri"/>
              <a:cs typeface="Calibri"/>
              <a:sym typeface="Calibri"/>
            </a:endParaRPr>
          </a:p>
        </p:txBody>
      </p:sp>
      <p:graphicFrame>
        <p:nvGraphicFramePr>
          <p:cNvPr id="159" name="Google Shape;159;p23"/>
          <p:cNvGraphicFramePr/>
          <p:nvPr/>
        </p:nvGraphicFramePr>
        <p:xfrm>
          <a:off x="796913" y="4922404"/>
          <a:ext cx="3000000" cy="3000000"/>
        </p:xfrm>
        <a:graphic>
          <a:graphicData uri="http://schemas.openxmlformats.org/drawingml/2006/table">
            <a:tbl>
              <a:tblPr bandRow="1" firstRow="1">
                <a:noFill/>
                <a:tableStyleId>{8A4FC7C1-832E-43D6-9C7B-4F2FEC330DA2}</a:tableStyleId>
              </a:tblPr>
              <a:tblGrid>
                <a:gridCol w="1760225"/>
                <a:gridCol w="2121525"/>
                <a:gridCol w="1597650"/>
                <a:gridCol w="2058025"/>
              </a:tblGrid>
              <a:tr h="410850">
                <a:tc>
                  <a:txBody>
                    <a:bodyPr/>
                    <a:lstStyle/>
                    <a:p>
                      <a:pPr indent="0" lvl="0" marL="5778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724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8419"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DEPARTMENT_NAME</a:t>
                      </a:r>
                      <a:endParaRPr sz="1600" u="none" cap="none" strike="noStrike">
                        <a:latin typeface="Calibri"/>
                        <a:ea typeface="Calibri"/>
                        <a:cs typeface="Calibri"/>
                        <a:sym typeface="Calibri"/>
                      </a:endParaRPr>
                    </a:p>
                  </a:txBody>
                  <a:tcPr marT="724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8419"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MANAGER_ID</a:t>
                      </a:r>
                      <a:endParaRPr sz="1600" u="none" cap="none" strike="noStrike">
                        <a:latin typeface="Calibri"/>
                        <a:ea typeface="Calibri"/>
                        <a:cs typeface="Calibri"/>
                        <a:sym typeface="Calibri"/>
                      </a:endParaRPr>
                    </a:p>
                  </a:txBody>
                  <a:tcPr marT="724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8419"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LOCATION_ID</a:t>
                      </a:r>
                      <a:endParaRPr sz="1600" u="none" cap="none" strike="noStrike">
                        <a:latin typeface="Calibri"/>
                        <a:ea typeface="Calibri"/>
                        <a:cs typeface="Calibri"/>
                        <a:sym typeface="Calibri"/>
                      </a:endParaRPr>
                    </a:p>
                  </a:txBody>
                  <a:tcPr marT="724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47975">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200</a:t>
                      </a:r>
                      <a:endParaRPr sz="1600" u="none" cap="none" strike="noStrike">
                        <a:latin typeface="Calibri"/>
                        <a:ea typeface="Calibri"/>
                        <a:cs typeface="Calibri"/>
                        <a:sym typeface="Calibri"/>
                      </a:endParaRPr>
                    </a:p>
                  </a:txBody>
                  <a:tcPr marT="4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8419"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Human Resources</a:t>
                      </a:r>
                      <a:endParaRPr sz="1600" u="none" cap="none" strike="noStrike">
                        <a:latin typeface="Calibri"/>
                        <a:ea typeface="Calibri"/>
                        <a:cs typeface="Calibri"/>
                        <a:sym typeface="Calibri"/>
                      </a:endParaRPr>
                    </a:p>
                  </a:txBody>
                  <a:tcPr marT="4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8419"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4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8419"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1500</a:t>
                      </a:r>
                      <a:endParaRPr sz="1600" u="none" cap="none" strike="noStrike">
                        <a:latin typeface="Calibri"/>
                        <a:ea typeface="Calibri"/>
                        <a:cs typeface="Calibri"/>
                        <a:sym typeface="Calibri"/>
                      </a:endParaRPr>
                    </a:p>
                  </a:txBody>
                  <a:tcPr marT="4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392112" y="748031"/>
            <a:ext cx="1225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INSERT</a:t>
            </a:r>
            <a:endParaRPr/>
          </a:p>
        </p:txBody>
      </p:sp>
      <p:sp>
        <p:nvSpPr>
          <p:cNvPr id="165" name="Google Shape;165;p24"/>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166" name="Google Shape;166;p2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7" name="Google Shape;167;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8" name="Google Shape;168;p24"/>
          <p:cNvSpPr txBox="1"/>
          <p:nvPr/>
        </p:nvSpPr>
        <p:spPr>
          <a:xfrm>
            <a:off x="483552" y="1415417"/>
            <a:ext cx="7807959" cy="3288665"/>
          </a:xfrm>
          <a:prstGeom prst="rect">
            <a:avLst/>
          </a:prstGeom>
          <a:noFill/>
          <a:ln>
            <a:noFill/>
          </a:ln>
        </p:spPr>
        <p:txBody>
          <a:bodyPr anchorCtr="0" anchor="t" bIns="0" lIns="0" spcFirstLastPara="1" rIns="0" wrap="square" tIns="59675">
            <a:spAutoFit/>
          </a:bodyPr>
          <a:lstStyle/>
          <a:p>
            <a:pPr indent="-177800" lvl="0" marL="182880" marR="37782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siguiente sintaxis utiliza INSERT para agregar un 	nuevo departamento a la tabla copy_departments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sentencia muestra explícitamente cada columna 	tal y como aparece en la tabla</a:t>
            </a:r>
            <a:endParaRPr sz="2800">
              <a:latin typeface="Calibri"/>
              <a:ea typeface="Calibri"/>
              <a:cs typeface="Calibri"/>
              <a:sym typeface="Calibri"/>
            </a:endParaRPr>
          </a:p>
          <a:p>
            <a:pPr indent="-177800" lvl="0" marL="182880" marR="58610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valores para cada columna se muestran en el 	mismo orden</a:t>
            </a:r>
            <a:endParaRPr sz="2800">
              <a:latin typeface="Calibri"/>
              <a:ea typeface="Calibri"/>
              <a:cs typeface="Calibri"/>
              <a:sym typeface="Calibri"/>
            </a:endParaRPr>
          </a:p>
          <a:p>
            <a:pPr indent="-175260" lvl="0" marL="530860" marR="55880" rtl="0" algn="l">
              <a:lnSpc>
                <a:spcPct val="107916"/>
              </a:lnSpc>
              <a:spcBef>
                <a:spcPts val="40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Tenga en cuenta que los valores de número no están entre comillas simples</a:t>
            </a:r>
            <a:endParaRPr sz="2400">
              <a:latin typeface="Calibri"/>
              <a:ea typeface="Calibri"/>
              <a:cs typeface="Calibri"/>
              <a:sym typeface="Calibri"/>
            </a:endParaRPr>
          </a:p>
        </p:txBody>
      </p:sp>
      <p:graphicFrame>
        <p:nvGraphicFramePr>
          <p:cNvPr id="169" name="Google Shape;169;p24"/>
          <p:cNvGraphicFramePr/>
          <p:nvPr/>
        </p:nvGraphicFramePr>
        <p:xfrm>
          <a:off x="2451098" y="5542443"/>
          <a:ext cx="3000000" cy="3000000"/>
        </p:xfrm>
        <a:graphic>
          <a:graphicData uri="http://schemas.openxmlformats.org/drawingml/2006/table">
            <a:tbl>
              <a:tblPr bandRow="1" firstRow="1">
                <a:noFill/>
                <a:tableStyleId>{8A4FC7C1-832E-43D6-9C7B-4F2FEC330DA2}</a:tableStyleId>
              </a:tblPr>
              <a:tblGrid>
                <a:gridCol w="1467475"/>
                <a:gridCol w="1768475"/>
                <a:gridCol w="1462400"/>
                <a:gridCol w="1584325"/>
              </a:tblGrid>
              <a:tr h="340350">
                <a:tc>
                  <a:txBody>
                    <a:bodyPr/>
                    <a:lstStyle/>
                    <a:p>
                      <a:pPr indent="0" lvl="0" marL="52069"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DEPARTMENT_ID</a:t>
                      </a:r>
                      <a:endParaRPr sz="14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DEPARTMENT_NAME</a:t>
                      </a:r>
                      <a:endParaRPr sz="14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MANAGER_ID</a:t>
                      </a:r>
                      <a:endParaRPr sz="14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LOCATION_ID</a:t>
                      </a:r>
                      <a:endParaRPr sz="14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88300">
                <a:tc>
                  <a:txBody>
                    <a:bodyPr/>
                    <a:lstStyle/>
                    <a:p>
                      <a:pPr indent="0" lvl="0" marL="52069"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200</a:t>
                      </a:r>
                      <a:endParaRPr sz="14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14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Human Resources</a:t>
                      </a:r>
                      <a:endParaRPr sz="14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14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205</a:t>
                      </a:r>
                      <a:endParaRPr sz="14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14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1500</a:t>
                      </a:r>
                      <a:endParaRPr sz="14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70" name="Google Shape;170;p24"/>
          <p:cNvSpPr txBox="1"/>
          <p:nvPr/>
        </p:nvSpPr>
        <p:spPr>
          <a:xfrm>
            <a:off x="393191" y="4747259"/>
            <a:ext cx="8345805" cy="73469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9062"/>
              </a:lnSpc>
              <a:spcBef>
                <a:spcPts val="0"/>
              </a:spcBef>
              <a:spcAft>
                <a:spcPts val="0"/>
              </a:spcAft>
              <a:buNone/>
            </a:pPr>
            <a:r>
              <a:rPr b="1" lang="en-US" sz="1600">
                <a:solidFill>
                  <a:srgbClr val="4E3629"/>
                </a:solidFill>
                <a:latin typeface="Courier New"/>
                <a:ea typeface="Courier New"/>
                <a:cs typeface="Courier New"/>
                <a:sym typeface="Courier New"/>
              </a:rPr>
              <a:t>INSERT INTO copy_departments</a:t>
            </a:r>
            <a:endParaRPr sz="1600">
              <a:latin typeface="Courier New"/>
              <a:ea typeface="Courier New"/>
              <a:cs typeface="Courier New"/>
              <a:sym typeface="Courier New"/>
            </a:endParaRPr>
          </a:p>
          <a:p>
            <a:pPr indent="365125" lvl="0" marL="0" marR="100965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(department_id, department_name, manager_id, location_id) VALUES (200,'Human Resources', 205, 1500);</a:t>
            </a:r>
            <a:endParaRPr sz="160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392112" y="748031"/>
            <a:ext cx="1225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INSERT</a:t>
            </a:r>
            <a:endParaRPr/>
          </a:p>
        </p:txBody>
      </p:sp>
      <p:sp>
        <p:nvSpPr>
          <p:cNvPr id="176" name="Google Shape;176;p25"/>
          <p:cNvSpPr txBox="1"/>
          <p:nvPr/>
        </p:nvSpPr>
        <p:spPr>
          <a:xfrm>
            <a:off x="483552" y="1415417"/>
            <a:ext cx="7825740" cy="3242945"/>
          </a:xfrm>
          <a:prstGeom prst="rect">
            <a:avLst/>
          </a:prstGeom>
          <a:noFill/>
          <a:ln>
            <a:noFill/>
          </a:ln>
        </p:spPr>
        <p:txBody>
          <a:bodyPr anchorCtr="0" anchor="t" bIns="0" lIns="0" spcFirstLastPara="1" rIns="0" wrap="square" tIns="59675">
            <a:spAutoFit/>
          </a:bodyPr>
          <a:lstStyle/>
          <a:p>
            <a:pPr indent="-177800" lvl="0" marL="182880" marR="2476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Otra forma de insertar valores en una tabla es 	agregarlos implícitamente omitiendo los nombres de 	columna</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precaución: los valores de cada columna deben 	coincidir exactamente con el orden por defecto en el 	que aparecen en la tabla (como se muestra en una 	sentencia DESCRIBE) y se debe proporcionar un valor 	para cada columna</a:t>
            </a:r>
            <a:endParaRPr sz="2800">
              <a:latin typeface="Calibri"/>
              <a:ea typeface="Calibri"/>
              <a:cs typeface="Calibri"/>
              <a:sym typeface="Calibri"/>
            </a:endParaRPr>
          </a:p>
        </p:txBody>
      </p:sp>
      <p:pic>
        <p:nvPicPr>
          <p:cNvPr id="177" name="Google Shape;177;p25"/>
          <p:cNvPicPr preferRelativeResize="0"/>
          <p:nvPr/>
        </p:nvPicPr>
        <p:blipFill rotWithShape="1">
          <a:blip r:embed="rId3">
            <a:alphaModFix/>
          </a:blip>
          <a:srcRect b="0" l="0" r="0" t="0"/>
          <a:stretch/>
        </p:blipFill>
        <p:spPr>
          <a:xfrm>
            <a:off x="3203448" y="4664964"/>
            <a:ext cx="2737091" cy="1828799"/>
          </a:xfrm>
          <a:prstGeom prst="rect">
            <a:avLst/>
          </a:prstGeom>
          <a:noFill/>
          <a:ln>
            <a:noFill/>
          </a:ln>
        </p:spPr>
      </p:pic>
      <p:sp>
        <p:nvSpPr>
          <p:cNvPr id="178" name="Google Shape;178;p25"/>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179" name="Google Shape;179;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0" name="Google Shape;180;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INSERT</a:t>
            </a:r>
            <a:endParaRPr/>
          </a:p>
        </p:txBody>
      </p:sp>
      <p:sp>
        <p:nvSpPr>
          <p:cNvPr id="186" name="Google Shape;186;p26"/>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187" name="Google Shape;187;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8" name="Google Shape;188;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9" name="Google Shape;189;p26"/>
          <p:cNvSpPr txBox="1"/>
          <p:nvPr/>
        </p:nvSpPr>
        <p:spPr>
          <a:xfrm>
            <a:off x="483552" y="1415417"/>
            <a:ext cx="8002905" cy="1706245"/>
          </a:xfrm>
          <a:prstGeom prst="rect">
            <a:avLst/>
          </a:prstGeom>
          <a:noFill/>
          <a:ln>
            <a:noFill/>
          </a:ln>
        </p:spPr>
        <p:txBody>
          <a:bodyPr anchorCtr="0" anchor="t" bIns="0" lIns="0" spcFirstLastPara="1" rIns="0" wrap="square" tIns="59675">
            <a:spAutoFit/>
          </a:bodyPr>
          <a:lstStyle/>
          <a:p>
            <a:pPr indent="-177800" lvl="0" marL="182880" marR="16573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INSERT en este ejemplo se ha escrito sin 	nombrar explícitamente las columnas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embargo, para mayor claridad, es mejor utilizar los 	nombres de columna en una cláusula INSERT</a:t>
            </a:r>
            <a:endParaRPr sz="2800">
              <a:latin typeface="Calibri"/>
              <a:ea typeface="Calibri"/>
              <a:cs typeface="Calibri"/>
              <a:sym typeface="Calibri"/>
            </a:endParaRPr>
          </a:p>
        </p:txBody>
      </p:sp>
      <p:graphicFrame>
        <p:nvGraphicFramePr>
          <p:cNvPr id="190" name="Google Shape;190;p26"/>
          <p:cNvGraphicFramePr/>
          <p:nvPr/>
        </p:nvGraphicFramePr>
        <p:xfrm>
          <a:off x="798512" y="4605003"/>
          <a:ext cx="3000000" cy="3000000"/>
        </p:xfrm>
        <a:graphic>
          <a:graphicData uri="http://schemas.openxmlformats.org/drawingml/2006/table">
            <a:tbl>
              <a:tblPr bandRow="1" firstRow="1">
                <a:noFill/>
                <a:tableStyleId>{8A4FC7C1-832E-43D6-9C7B-4F2FEC330DA2}</a:tableStyleId>
              </a:tblPr>
              <a:tblGrid>
                <a:gridCol w="1725300"/>
                <a:gridCol w="2054225"/>
                <a:gridCol w="1753875"/>
                <a:gridCol w="2029450"/>
              </a:tblGrid>
              <a:tr h="407675">
                <a:tc>
                  <a:txBody>
                    <a:bodyPr/>
                    <a:lstStyle/>
                    <a:p>
                      <a:pPr indent="0" lvl="0" marL="5778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7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DEPARTMENT_NAME</a:t>
                      </a:r>
                      <a:endParaRPr sz="1600" u="none" cap="none" strike="noStrike">
                        <a:latin typeface="Calibri"/>
                        <a:ea typeface="Calibri"/>
                        <a:cs typeface="Calibri"/>
                        <a:sym typeface="Calibri"/>
                      </a:endParaRPr>
                    </a:p>
                  </a:txBody>
                  <a:tcPr marT="7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MANAGER_ID</a:t>
                      </a:r>
                      <a:endParaRPr sz="1600" u="none" cap="none" strike="noStrike">
                        <a:latin typeface="Calibri"/>
                        <a:ea typeface="Calibri"/>
                        <a:cs typeface="Calibri"/>
                        <a:sym typeface="Calibri"/>
                      </a:endParaRPr>
                    </a:p>
                  </a:txBody>
                  <a:tcPr marT="7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LOCATION_ID</a:t>
                      </a:r>
                      <a:endParaRPr sz="1600" u="none" cap="none" strike="noStrike">
                        <a:latin typeface="Calibri"/>
                        <a:ea typeface="Calibri"/>
                        <a:cs typeface="Calibri"/>
                        <a:sym typeface="Calibri"/>
                      </a:endParaRPr>
                    </a:p>
                  </a:txBody>
                  <a:tcPr marT="7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41625">
                <a:tc>
                  <a:txBody>
                    <a:bodyPr/>
                    <a:lstStyle/>
                    <a:p>
                      <a:pPr indent="0" lvl="0" marL="58419"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210</a:t>
                      </a:r>
                      <a:endParaRPr sz="1600" u="none" cap="none" strike="noStrike">
                        <a:latin typeface="Calibri"/>
                        <a:ea typeface="Calibri"/>
                        <a:cs typeface="Calibri"/>
                        <a:sym typeface="Calibri"/>
                      </a:endParaRPr>
                    </a:p>
                  </a:txBody>
                  <a:tcPr marT="37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Estate Management</a:t>
                      </a:r>
                      <a:endParaRPr sz="1600" u="none" cap="none" strike="noStrike">
                        <a:latin typeface="Calibri"/>
                        <a:ea typeface="Calibri"/>
                        <a:cs typeface="Calibri"/>
                        <a:sym typeface="Calibri"/>
                      </a:endParaRPr>
                    </a:p>
                  </a:txBody>
                  <a:tcPr marT="37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37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37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91" name="Google Shape;191;p26"/>
          <p:cNvSpPr txBox="1"/>
          <p:nvPr/>
        </p:nvSpPr>
        <p:spPr>
          <a:xfrm>
            <a:off x="393191" y="3307079"/>
            <a:ext cx="8345805" cy="902335"/>
          </a:xfrm>
          <a:prstGeom prst="rect">
            <a:avLst/>
          </a:prstGeom>
          <a:solidFill>
            <a:srgbClr val="9DBDC4">
              <a:alpha val="49804"/>
            </a:srgbClr>
          </a:solidFill>
          <a:ln>
            <a:noFill/>
          </a:ln>
        </p:spPr>
        <p:txBody>
          <a:bodyPr anchorCtr="0" anchor="t" bIns="0" lIns="0" spcFirstLastPara="1" rIns="0" wrap="square" tIns="11425">
            <a:spAutoFit/>
          </a:bodyPr>
          <a:lstStyle/>
          <a:p>
            <a:pPr indent="0" lvl="0" marL="0" marR="45154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INSERT INTO copy_departments VALUES</a:t>
            </a:r>
            <a:endParaRPr sz="1800">
              <a:latin typeface="Courier New"/>
              <a:ea typeface="Courier New"/>
              <a:cs typeface="Courier New"/>
              <a:sym typeface="Courier New"/>
            </a:endParaRPr>
          </a:p>
          <a:p>
            <a:pPr indent="0" lvl="0" marL="2743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(210,'Estate Management', 102, 1700);</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Comprobación de la Tabla en Primer Lugar</a:t>
            </a:r>
            <a:endParaRPr/>
          </a:p>
        </p:txBody>
      </p:sp>
      <p:sp>
        <p:nvSpPr>
          <p:cNvPr id="197" name="Google Shape;197;p27"/>
          <p:cNvSpPr txBox="1"/>
          <p:nvPr/>
        </p:nvSpPr>
        <p:spPr>
          <a:xfrm>
            <a:off x="483552" y="1415417"/>
            <a:ext cx="8034655" cy="2576195"/>
          </a:xfrm>
          <a:prstGeom prst="rect">
            <a:avLst/>
          </a:prstGeom>
          <a:noFill/>
          <a:ln>
            <a:noFill/>
          </a:ln>
        </p:spPr>
        <p:txBody>
          <a:bodyPr anchorCtr="0" anchor="t" bIns="0" lIns="0" spcFirstLastPara="1" rIns="0" wrap="square" tIns="59675">
            <a:spAutoFit/>
          </a:bodyPr>
          <a:lstStyle/>
          <a:p>
            <a:pPr indent="-177800" lvl="0" marL="182880" marR="5969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Antes de insertar datos en una tabla, debe comprobar 	varios detalles de la tabla</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de nombre de tabla DESCRIBE devolverá 	una descripción de la estructura de la tabla y el gráfico 	de resumen de la tabla</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RESUMEN DE LA TABLA COPY_DEPARTMENTS:</a:t>
            </a:r>
            <a:endParaRPr sz="2800">
              <a:latin typeface="Calibri"/>
              <a:ea typeface="Calibri"/>
              <a:cs typeface="Calibri"/>
              <a:sym typeface="Calibri"/>
            </a:endParaRPr>
          </a:p>
        </p:txBody>
      </p:sp>
      <p:grpSp>
        <p:nvGrpSpPr>
          <p:cNvPr id="198" name="Google Shape;198;p27"/>
          <p:cNvGrpSpPr/>
          <p:nvPr/>
        </p:nvGrpSpPr>
        <p:grpSpPr>
          <a:xfrm>
            <a:off x="1054608" y="3979163"/>
            <a:ext cx="6827520" cy="2109470"/>
            <a:chOff x="1054608" y="3979163"/>
            <a:chExt cx="6827520" cy="2109470"/>
          </a:xfrm>
        </p:grpSpPr>
        <p:pic>
          <p:nvPicPr>
            <p:cNvPr id="199" name="Google Shape;199;p27"/>
            <p:cNvPicPr preferRelativeResize="0"/>
            <p:nvPr/>
          </p:nvPicPr>
          <p:blipFill rotWithShape="1">
            <a:blip r:embed="rId3">
              <a:alphaModFix/>
            </a:blip>
            <a:srcRect b="0" l="0" r="0" t="0"/>
            <a:stretch/>
          </p:blipFill>
          <p:spPr>
            <a:xfrm>
              <a:off x="1059180" y="3983735"/>
              <a:ext cx="6818375" cy="2100071"/>
            </a:xfrm>
            <a:prstGeom prst="rect">
              <a:avLst/>
            </a:prstGeom>
            <a:noFill/>
            <a:ln>
              <a:noFill/>
            </a:ln>
          </p:spPr>
        </p:pic>
        <p:sp>
          <p:nvSpPr>
            <p:cNvPr id="200" name="Google Shape;200;p27"/>
            <p:cNvSpPr/>
            <p:nvPr/>
          </p:nvSpPr>
          <p:spPr>
            <a:xfrm>
              <a:off x="1054608" y="3979163"/>
              <a:ext cx="6827520" cy="2109470"/>
            </a:xfrm>
            <a:custGeom>
              <a:rect b="b" l="l" r="r" t="t"/>
              <a:pathLst>
                <a:path extrusionOk="0" h="2109470" w="6827520">
                  <a:moveTo>
                    <a:pt x="0" y="0"/>
                  </a:moveTo>
                  <a:lnTo>
                    <a:pt x="6827520" y="0"/>
                  </a:lnTo>
                  <a:lnTo>
                    <a:pt x="6827520" y="2109216"/>
                  </a:lnTo>
                  <a:lnTo>
                    <a:pt x="0" y="2109216"/>
                  </a:lnTo>
                  <a:lnTo>
                    <a:pt x="0" y="0"/>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01" name="Google Shape;201;p27"/>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202" name="Google Shape;202;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3" name="Google Shape;203;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type="title"/>
          </p:nvPr>
        </p:nvSpPr>
        <p:spPr>
          <a:xfrm>
            <a:off x="392112" y="748031"/>
            <a:ext cx="3500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 de la Tabla</a:t>
            </a:r>
            <a:endParaRPr/>
          </a:p>
        </p:txBody>
      </p:sp>
      <p:sp>
        <p:nvSpPr>
          <p:cNvPr id="209" name="Google Shape;209;p28"/>
          <p:cNvSpPr txBox="1"/>
          <p:nvPr/>
        </p:nvSpPr>
        <p:spPr>
          <a:xfrm>
            <a:off x="483552" y="1415417"/>
            <a:ext cx="8103234" cy="340296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se muestra en el ejemplo, el resumen de la tabla 	proporciona información sobre cada columna de la 	tabla, como:</a:t>
            </a:r>
            <a:endParaRPr sz="2800">
              <a:latin typeface="Calibri"/>
              <a:ea typeface="Calibri"/>
              <a:cs typeface="Calibri"/>
              <a:sym typeface="Calibri"/>
            </a:endParaRPr>
          </a:p>
          <a:p>
            <a:pPr indent="-175260" lvl="0" marL="530860" marR="5221605" rtl="0" algn="l">
              <a:lnSpc>
                <a:spcPct val="107916"/>
              </a:lnSpc>
              <a:spcBef>
                <a:spcPts val="4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permiso de valores duplicados</a:t>
            </a:r>
            <a:endParaRPr sz="2400">
              <a:latin typeface="Calibri"/>
              <a:ea typeface="Calibri"/>
              <a:cs typeface="Calibri"/>
              <a:sym typeface="Calibri"/>
            </a:endParaRPr>
          </a:p>
          <a:p>
            <a:pPr indent="0" lvl="0" marL="355600" rtl="0" algn="l">
              <a:lnSpc>
                <a:spcPct val="100000"/>
              </a:lnSpc>
              <a:spcBef>
                <a:spcPts val="7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tipo de dato permitido</a:t>
            </a:r>
            <a:endParaRPr sz="2400">
              <a:latin typeface="Calibri"/>
              <a:ea typeface="Calibri"/>
              <a:cs typeface="Calibri"/>
              <a:sym typeface="Calibri"/>
            </a:endParaRPr>
          </a:p>
          <a:p>
            <a:pPr indent="-175260" lvl="0" marL="530860" marR="5365750"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cantidad de datos permitida</a:t>
            </a:r>
            <a:endParaRPr sz="2400">
              <a:latin typeface="Calibri"/>
              <a:ea typeface="Calibri"/>
              <a:cs typeface="Calibri"/>
              <a:sym typeface="Calibri"/>
            </a:endParaRPr>
          </a:p>
          <a:p>
            <a:pPr indent="0" lvl="0" marL="355600" rtl="0" algn="l">
              <a:lnSpc>
                <a:spcPct val="100000"/>
              </a:lnSpc>
              <a:spcBef>
                <a:spcPts val="8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permiso de valores NULL</a:t>
            </a:r>
            <a:endParaRPr sz="2400">
              <a:latin typeface="Calibri"/>
              <a:ea typeface="Calibri"/>
              <a:cs typeface="Calibri"/>
              <a:sym typeface="Calibri"/>
            </a:endParaRPr>
          </a:p>
        </p:txBody>
      </p:sp>
      <p:grpSp>
        <p:nvGrpSpPr>
          <p:cNvPr id="210" name="Google Shape;210;p28"/>
          <p:cNvGrpSpPr/>
          <p:nvPr/>
        </p:nvGrpSpPr>
        <p:grpSpPr>
          <a:xfrm>
            <a:off x="4224527" y="2418588"/>
            <a:ext cx="4543425" cy="3665220"/>
            <a:chOff x="4224527" y="2418588"/>
            <a:chExt cx="4543425" cy="3665220"/>
          </a:xfrm>
        </p:grpSpPr>
        <p:pic>
          <p:nvPicPr>
            <p:cNvPr id="211" name="Google Shape;211;p28"/>
            <p:cNvPicPr preferRelativeResize="0"/>
            <p:nvPr/>
          </p:nvPicPr>
          <p:blipFill rotWithShape="1">
            <a:blip r:embed="rId3">
              <a:alphaModFix/>
            </a:blip>
            <a:srcRect b="0" l="0" r="0" t="0"/>
            <a:stretch/>
          </p:blipFill>
          <p:spPr>
            <a:xfrm>
              <a:off x="4229099" y="2423160"/>
              <a:ext cx="4533899" cy="3656075"/>
            </a:xfrm>
            <a:prstGeom prst="rect">
              <a:avLst/>
            </a:prstGeom>
            <a:noFill/>
            <a:ln>
              <a:noFill/>
            </a:ln>
          </p:spPr>
        </p:pic>
        <p:sp>
          <p:nvSpPr>
            <p:cNvPr id="212" name="Google Shape;212;p28"/>
            <p:cNvSpPr/>
            <p:nvPr/>
          </p:nvSpPr>
          <p:spPr>
            <a:xfrm>
              <a:off x="4224527" y="2418588"/>
              <a:ext cx="4543425" cy="3665220"/>
            </a:xfrm>
            <a:custGeom>
              <a:rect b="b" l="l" r="r" t="t"/>
              <a:pathLst>
                <a:path extrusionOk="0" h="3665220" w="4543425">
                  <a:moveTo>
                    <a:pt x="0" y="0"/>
                  </a:moveTo>
                  <a:lnTo>
                    <a:pt x="4543044" y="0"/>
                  </a:lnTo>
                  <a:lnTo>
                    <a:pt x="4543044" y="3665220"/>
                  </a:lnTo>
                  <a:lnTo>
                    <a:pt x="0" y="3665220"/>
                  </a:lnTo>
                  <a:lnTo>
                    <a:pt x="0" y="0"/>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13" name="Google Shape;213;p28"/>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214" name="Google Shape;214;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5" name="Google Shape;215;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9"/>
          <p:cNvSpPr txBox="1"/>
          <p:nvPr>
            <p:ph type="title"/>
          </p:nvPr>
        </p:nvSpPr>
        <p:spPr>
          <a:xfrm>
            <a:off x="392112" y="748031"/>
            <a:ext cx="3500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 de la Tabla</a:t>
            </a:r>
            <a:endParaRPr/>
          </a:p>
        </p:txBody>
      </p:sp>
      <p:sp>
        <p:nvSpPr>
          <p:cNvPr id="221" name="Google Shape;221;p29"/>
          <p:cNvSpPr txBox="1"/>
          <p:nvPr/>
        </p:nvSpPr>
        <p:spPr>
          <a:xfrm>
            <a:off x="483552" y="1415417"/>
            <a:ext cx="8058784"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Observe que la columna Tipo de Dato para los tipos de 	dato de caracteres especifica entre paréntesis el 	número máximo de caracteres permitidos</a:t>
            </a:r>
            <a:endParaRPr sz="2800">
              <a:latin typeface="Calibri"/>
              <a:ea typeface="Calibri"/>
              <a:cs typeface="Calibri"/>
              <a:sym typeface="Calibri"/>
            </a:endParaRPr>
          </a:p>
        </p:txBody>
      </p:sp>
      <p:grpSp>
        <p:nvGrpSpPr>
          <p:cNvPr id="222" name="Google Shape;222;p29"/>
          <p:cNvGrpSpPr/>
          <p:nvPr/>
        </p:nvGrpSpPr>
        <p:grpSpPr>
          <a:xfrm>
            <a:off x="2555748" y="3017520"/>
            <a:ext cx="3896995" cy="3145790"/>
            <a:chOff x="2555748" y="3017520"/>
            <a:chExt cx="3896995" cy="3145790"/>
          </a:xfrm>
        </p:grpSpPr>
        <p:pic>
          <p:nvPicPr>
            <p:cNvPr id="223" name="Google Shape;223;p29"/>
            <p:cNvPicPr preferRelativeResize="0"/>
            <p:nvPr/>
          </p:nvPicPr>
          <p:blipFill rotWithShape="1">
            <a:blip r:embed="rId3">
              <a:alphaModFix/>
            </a:blip>
            <a:srcRect b="0" l="0" r="0" t="0"/>
            <a:stretch/>
          </p:blipFill>
          <p:spPr>
            <a:xfrm>
              <a:off x="2560320" y="3022092"/>
              <a:ext cx="3887724" cy="3136392"/>
            </a:xfrm>
            <a:prstGeom prst="rect">
              <a:avLst/>
            </a:prstGeom>
            <a:noFill/>
            <a:ln>
              <a:noFill/>
            </a:ln>
          </p:spPr>
        </p:pic>
        <p:sp>
          <p:nvSpPr>
            <p:cNvPr id="224" name="Google Shape;224;p29"/>
            <p:cNvSpPr/>
            <p:nvPr/>
          </p:nvSpPr>
          <p:spPr>
            <a:xfrm>
              <a:off x="2555748" y="3017520"/>
              <a:ext cx="3896995" cy="3145790"/>
            </a:xfrm>
            <a:custGeom>
              <a:rect b="b" l="l" r="r" t="t"/>
              <a:pathLst>
                <a:path extrusionOk="0" h="3145790" w="3896995">
                  <a:moveTo>
                    <a:pt x="0" y="0"/>
                  </a:moveTo>
                  <a:lnTo>
                    <a:pt x="3896867" y="0"/>
                  </a:lnTo>
                  <a:lnTo>
                    <a:pt x="3896867" y="3145536"/>
                  </a:lnTo>
                  <a:lnTo>
                    <a:pt x="0" y="3145536"/>
                  </a:lnTo>
                  <a:lnTo>
                    <a:pt x="0" y="0"/>
                  </a:lnTo>
                  <a:close/>
                </a:path>
              </a:pathLst>
            </a:custGeom>
            <a:noFill/>
            <a:ln cap="flat" cmpd="sng" w="9525">
              <a:solidFill>
                <a:srgbClr val="5F5F5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25" name="Google Shape;225;p29"/>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226" name="Google Shape;226;p2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7" name="Google Shape;227;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0"/>
          <p:cNvSpPr txBox="1"/>
          <p:nvPr>
            <p:ph type="title"/>
          </p:nvPr>
        </p:nvSpPr>
        <p:spPr>
          <a:xfrm>
            <a:off x="392112" y="748031"/>
            <a:ext cx="3500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 de la Tabla</a:t>
            </a:r>
            <a:endParaRPr/>
          </a:p>
        </p:txBody>
      </p:sp>
      <p:sp>
        <p:nvSpPr>
          <p:cNvPr id="233" name="Google Shape;233;p30"/>
          <p:cNvSpPr txBox="1"/>
          <p:nvPr/>
        </p:nvSpPr>
        <p:spPr>
          <a:xfrm>
            <a:off x="483552" y="1415417"/>
            <a:ext cx="7904480"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First_name tiene un tipo de dato VARCHAR2(20), 	esto significa que se pueden introducir un máximo de 	20 caracteres para esta columna</a:t>
            </a:r>
            <a:endParaRPr sz="2800">
              <a:latin typeface="Calibri"/>
              <a:ea typeface="Calibri"/>
              <a:cs typeface="Calibri"/>
              <a:sym typeface="Calibri"/>
            </a:endParaRPr>
          </a:p>
        </p:txBody>
      </p:sp>
      <p:grpSp>
        <p:nvGrpSpPr>
          <p:cNvPr id="234" name="Google Shape;234;p30"/>
          <p:cNvGrpSpPr/>
          <p:nvPr/>
        </p:nvGrpSpPr>
        <p:grpSpPr>
          <a:xfrm>
            <a:off x="2555748" y="3017520"/>
            <a:ext cx="3896995" cy="3145790"/>
            <a:chOff x="2555748" y="3017520"/>
            <a:chExt cx="3896995" cy="3145790"/>
          </a:xfrm>
        </p:grpSpPr>
        <p:pic>
          <p:nvPicPr>
            <p:cNvPr id="235" name="Google Shape;235;p30"/>
            <p:cNvPicPr preferRelativeResize="0"/>
            <p:nvPr/>
          </p:nvPicPr>
          <p:blipFill rotWithShape="1">
            <a:blip r:embed="rId3">
              <a:alphaModFix/>
            </a:blip>
            <a:srcRect b="0" l="0" r="0" t="0"/>
            <a:stretch/>
          </p:blipFill>
          <p:spPr>
            <a:xfrm>
              <a:off x="2560320" y="3022092"/>
              <a:ext cx="3887724" cy="3136391"/>
            </a:xfrm>
            <a:prstGeom prst="rect">
              <a:avLst/>
            </a:prstGeom>
            <a:noFill/>
            <a:ln>
              <a:noFill/>
            </a:ln>
          </p:spPr>
        </p:pic>
        <p:sp>
          <p:nvSpPr>
            <p:cNvPr id="236" name="Google Shape;236;p30"/>
            <p:cNvSpPr/>
            <p:nvPr/>
          </p:nvSpPr>
          <p:spPr>
            <a:xfrm>
              <a:off x="2555748" y="3017520"/>
              <a:ext cx="3896995" cy="3145790"/>
            </a:xfrm>
            <a:custGeom>
              <a:rect b="b" l="l" r="r" t="t"/>
              <a:pathLst>
                <a:path extrusionOk="0" h="3145790" w="3896995">
                  <a:moveTo>
                    <a:pt x="0" y="0"/>
                  </a:moveTo>
                  <a:lnTo>
                    <a:pt x="3896867" y="0"/>
                  </a:lnTo>
                  <a:lnTo>
                    <a:pt x="3896867" y="3145536"/>
                  </a:lnTo>
                  <a:lnTo>
                    <a:pt x="0" y="3145536"/>
                  </a:lnTo>
                  <a:lnTo>
                    <a:pt x="0" y="0"/>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37" name="Google Shape;237;p30"/>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238" name="Google Shape;238;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9" name="Google Shape;239;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1"/>
          <p:cNvSpPr txBox="1"/>
          <p:nvPr>
            <p:ph type="title"/>
          </p:nvPr>
        </p:nvSpPr>
        <p:spPr>
          <a:xfrm>
            <a:off x="392112" y="748031"/>
            <a:ext cx="3500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 de la Tabla</a:t>
            </a:r>
            <a:endParaRPr/>
          </a:p>
        </p:txBody>
      </p:sp>
      <p:sp>
        <p:nvSpPr>
          <p:cNvPr id="245" name="Google Shape;245;p31"/>
          <p:cNvSpPr txBox="1"/>
          <p:nvPr>
            <p:ph idx="1" type="body"/>
          </p:nvPr>
        </p:nvSpPr>
        <p:spPr>
          <a:xfrm>
            <a:off x="483552" y="1415417"/>
            <a:ext cx="8025900" cy="2458800"/>
          </a:xfrm>
          <a:prstGeom prst="rect">
            <a:avLst/>
          </a:prstGeom>
          <a:noFill/>
          <a:ln>
            <a:noFill/>
          </a:ln>
        </p:spPr>
        <p:txBody>
          <a:bodyPr anchorCtr="0" anchor="t" bIns="0" lIns="0" spcFirstLastPara="1" rIns="0" wrap="square" tIns="59675">
            <a:spAutoFit/>
          </a:bodyPr>
          <a:lstStyle/>
          <a:p>
            <a:pPr indent="-177800" lvl="0" marL="182880" marR="1355090" rtl="0" algn="l">
              <a:lnSpc>
                <a:spcPct val="108214"/>
              </a:lnSpc>
              <a:spcBef>
                <a:spcPts val="0"/>
              </a:spcBef>
              <a:spcAft>
                <a:spcPts val="0"/>
              </a:spcAft>
              <a:buClr>
                <a:srgbClr val="D1350F"/>
              </a:buClr>
              <a:buSzPts val="2800"/>
              <a:buFont typeface="Arial"/>
              <a:buChar char="•"/>
            </a:pPr>
            <a:r>
              <a:rPr lang="en-US"/>
              <a:t>Para los tipos de dato Number, los paréntesis 	especifican la precisión y la escala</a:t>
            </a:r>
            <a:endParaRPr/>
          </a:p>
          <a:p>
            <a:pPr indent="-177800" lvl="0" marL="182880" marR="5080" rtl="0" algn="l">
              <a:lnSpc>
                <a:spcPct val="108214"/>
              </a:lnSpc>
              <a:spcBef>
                <a:spcPts val="795"/>
              </a:spcBef>
              <a:spcAft>
                <a:spcPts val="1200"/>
              </a:spcAft>
              <a:buClr>
                <a:srgbClr val="D1350F"/>
              </a:buClr>
              <a:buSzPts val="2800"/>
              <a:buFont typeface="Arial"/>
              <a:buChar char="•"/>
            </a:pPr>
            <a:r>
              <a:rPr lang="en-US"/>
              <a:t>La precisión es el número total de dígitos y la escala es 	el número de dígitos a la derecha de la posición 	decimal</a:t>
            </a:r>
            <a:endParaRPr/>
          </a:p>
        </p:txBody>
      </p:sp>
      <p:grpSp>
        <p:nvGrpSpPr>
          <p:cNvPr id="246" name="Google Shape;246;p31"/>
          <p:cNvGrpSpPr/>
          <p:nvPr/>
        </p:nvGrpSpPr>
        <p:grpSpPr>
          <a:xfrm>
            <a:off x="4370831" y="3139439"/>
            <a:ext cx="4159250" cy="3357879"/>
            <a:chOff x="4370831" y="3139439"/>
            <a:chExt cx="4159250" cy="3357879"/>
          </a:xfrm>
        </p:grpSpPr>
        <p:pic>
          <p:nvPicPr>
            <p:cNvPr id="247" name="Google Shape;247;p31"/>
            <p:cNvPicPr preferRelativeResize="0"/>
            <p:nvPr/>
          </p:nvPicPr>
          <p:blipFill rotWithShape="1">
            <a:blip r:embed="rId3">
              <a:alphaModFix/>
            </a:blip>
            <a:srcRect b="0" l="0" r="0" t="0"/>
            <a:stretch/>
          </p:blipFill>
          <p:spPr>
            <a:xfrm>
              <a:off x="4375403" y="3144011"/>
              <a:ext cx="4149852" cy="3348227"/>
            </a:xfrm>
            <a:prstGeom prst="rect">
              <a:avLst/>
            </a:prstGeom>
            <a:noFill/>
            <a:ln>
              <a:noFill/>
            </a:ln>
          </p:spPr>
        </p:pic>
        <p:sp>
          <p:nvSpPr>
            <p:cNvPr id="248" name="Google Shape;248;p31"/>
            <p:cNvSpPr/>
            <p:nvPr/>
          </p:nvSpPr>
          <p:spPr>
            <a:xfrm>
              <a:off x="4370831" y="3139439"/>
              <a:ext cx="4159250" cy="3357879"/>
            </a:xfrm>
            <a:custGeom>
              <a:rect b="b" l="l" r="r" t="t"/>
              <a:pathLst>
                <a:path extrusionOk="0" h="3357879" w="4159250">
                  <a:moveTo>
                    <a:pt x="0" y="0"/>
                  </a:moveTo>
                  <a:lnTo>
                    <a:pt x="4158996" y="0"/>
                  </a:lnTo>
                  <a:lnTo>
                    <a:pt x="4158996" y="3357372"/>
                  </a:lnTo>
                  <a:lnTo>
                    <a:pt x="0" y="3357372"/>
                  </a:lnTo>
                  <a:lnTo>
                    <a:pt x="0" y="0"/>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49" name="Google Shape;249;p31"/>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250" name="Google Shape;250;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1" name="Google Shape;251;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ph type="title"/>
          </p:nvPr>
        </p:nvSpPr>
        <p:spPr>
          <a:xfrm>
            <a:off x="392112" y="748031"/>
            <a:ext cx="3500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 de la Tabla</a:t>
            </a:r>
            <a:endParaRPr/>
          </a:p>
        </p:txBody>
      </p:sp>
      <p:sp>
        <p:nvSpPr>
          <p:cNvPr id="257" name="Google Shape;257;p32"/>
          <p:cNvSpPr txBox="1"/>
          <p:nvPr/>
        </p:nvSpPr>
        <p:spPr>
          <a:xfrm>
            <a:off x="483552" y="1415417"/>
            <a:ext cx="6840855" cy="1706245"/>
          </a:xfrm>
          <a:prstGeom prst="rect">
            <a:avLst/>
          </a:prstGeom>
          <a:noFill/>
          <a:ln>
            <a:noFill/>
          </a:ln>
        </p:spPr>
        <p:txBody>
          <a:bodyPr anchorCtr="0" anchor="t" bIns="0" lIns="0" spcFirstLastPara="1" rIns="0" wrap="square" tIns="59675">
            <a:spAutoFit/>
          </a:bodyPr>
          <a:lstStyle/>
          <a:p>
            <a:pPr indent="-177800" lvl="0" marL="182880" marR="2476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columna SALARY permite números con una 	precisión de 8 y una escala de 2</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valor máximo permitido en esta columna es 	999999,99</a:t>
            </a:r>
            <a:endParaRPr sz="2800">
              <a:latin typeface="Calibri"/>
              <a:ea typeface="Calibri"/>
              <a:cs typeface="Calibri"/>
              <a:sym typeface="Calibri"/>
            </a:endParaRPr>
          </a:p>
        </p:txBody>
      </p:sp>
      <p:grpSp>
        <p:nvGrpSpPr>
          <p:cNvPr id="258" name="Google Shape;258;p32"/>
          <p:cNvGrpSpPr/>
          <p:nvPr/>
        </p:nvGrpSpPr>
        <p:grpSpPr>
          <a:xfrm>
            <a:off x="4567427" y="3139439"/>
            <a:ext cx="4159250" cy="3357879"/>
            <a:chOff x="4567427" y="3139439"/>
            <a:chExt cx="4159250" cy="3357879"/>
          </a:xfrm>
        </p:grpSpPr>
        <p:pic>
          <p:nvPicPr>
            <p:cNvPr id="259" name="Google Shape;259;p32"/>
            <p:cNvPicPr preferRelativeResize="0"/>
            <p:nvPr/>
          </p:nvPicPr>
          <p:blipFill rotWithShape="1">
            <a:blip r:embed="rId3">
              <a:alphaModFix/>
            </a:blip>
            <a:srcRect b="0" l="0" r="0" t="0"/>
            <a:stretch/>
          </p:blipFill>
          <p:spPr>
            <a:xfrm>
              <a:off x="4571999" y="3144011"/>
              <a:ext cx="4149852" cy="3348227"/>
            </a:xfrm>
            <a:prstGeom prst="rect">
              <a:avLst/>
            </a:prstGeom>
            <a:noFill/>
            <a:ln>
              <a:noFill/>
            </a:ln>
          </p:spPr>
        </p:pic>
        <p:sp>
          <p:nvSpPr>
            <p:cNvPr id="260" name="Google Shape;260;p32"/>
            <p:cNvSpPr/>
            <p:nvPr/>
          </p:nvSpPr>
          <p:spPr>
            <a:xfrm>
              <a:off x="4567427" y="3139439"/>
              <a:ext cx="4159250" cy="3357879"/>
            </a:xfrm>
            <a:custGeom>
              <a:rect b="b" l="l" r="r" t="t"/>
              <a:pathLst>
                <a:path extrusionOk="0" h="3357879" w="4159250">
                  <a:moveTo>
                    <a:pt x="0" y="0"/>
                  </a:moveTo>
                  <a:lnTo>
                    <a:pt x="4158996" y="0"/>
                  </a:lnTo>
                  <a:lnTo>
                    <a:pt x="4158996" y="3357372"/>
                  </a:lnTo>
                  <a:lnTo>
                    <a:pt x="0" y="3357372"/>
                  </a:lnTo>
                  <a:lnTo>
                    <a:pt x="0" y="0"/>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61" name="Google Shape;261;p32"/>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262" name="Google Shape;262;p3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3" name="Google Shape;263;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3"/>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Inserción de Filas con Valores Nulos</a:t>
            </a:r>
            <a:endParaRPr/>
          </a:p>
        </p:txBody>
      </p:sp>
      <p:sp>
        <p:nvSpPr>
          <p:cNvPr id="269" name="Google Shape;269;p33"/>
          <p:cNvSpPr txBox="1"/>
          <p:nvPr/>
        </p:nvSpPr>
        <p:spPr>
          <a:xfrm>
            <a:off x="483552" y="1415417"/>
            <a:ext cx="7929245" cy="20904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INSERT no necesita especificar todas las 	columnas: se pueden excluir las columnas con valores 	nulos</a:t>
            </a:r>
            <a:endParaRPr sz="2800">
              <a:latin typeface="Calibri"/>
              <a:ea typeface="Calibri"/>
              <a:cs typeface="Calibri"/>
              <a:sym typeface="Calibri"/>
            </a:endParaRPr>
          </a:p>
          <a:p>
            <a:pPr indent="-177800" lvl="0" marL="182880" marR="20066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a todas las columnas que necesitan un valor se les 	asigna un valor, la inserción funciona</a:t>
            </a:r>
            <a:endParaRPr sz="2800">
              <a:latin typeface="Calibri"/>
              <a:ea typeface="Calibri"/>
              <a:cs typeface="Calibri"/>
              <a:sym typeface="Calibri"/>
            </a:endParaRPr>
          </a:p>
        </p:txBody>
      </p:sp>
      <p:pic>
        <p:nvPicPr>
          <p:cNvPr id="270" name="Google Shape;270;p33"/>
          <p:cNvPicPr preferRelativeResize="0"/>
          <p:nvPr/>
        </p:nvPicPr>
        <p:blipFill rotWithShape="1">
          <a:blip r:embed="rId3">
            <a:alphaModFix/>
          </a:blip>
          <a:srcRect b="0" l="0" r="0" t="0"/>
          <a:stretch/>
        </p:blipFill>
        <p:spPr>
          <a:xfrm>
            <a:off x="2857500" y="3733800"/>
            <a:ext cx="3425434" cy="2393415"/>
          </a:xfrm>
          <a:prstGeom prst="rect">
            <a:avLst/>
          </a:prstGeom>
          <a:noFill/>
          <a:ln>
            <a:noFill/>
          </a:ln>
        </p:spPr>
      </p:pic>
      <p:sp>
        <p:nvSpPr>
          <p:cNvPr id="271" name="Google Shape;271;p33"/>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272" name="Google Shape;272;p3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3" name="Google Shape;273;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4"/>
          <p:cNvSpPr txBox="1"/>
          <p:nvPr>
            <p:ph type="title"/>
          </p:nvPr>
        </p:nvSpPr>
        <p:spPr>
          <a:xfrm>
            <a:off x="392112" y="748031"/>
            <a:ext cx="6066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Inserción de Filas con Valores Nulos</a:t>
            </a:r>
            <a:endParaRPr/>
          </a:p>
        </p:txBody>
      </p:sp>
      <p:sp>
        <p:nvSpPr>
          <p:cNvPr id="279" name="Google Shape;279;p34"/>
          <p:cNvSpPr txBox="1"/>
          <p:nvPr/>
        </p:nvSpPr>
        <p:spPr>
          <a:xfrm>
            <a:off x="483552" y="1415417"/>
            <a:ext cx="8060690" cy="1706245"/>
          </a:xfrm>
          <a:prstGeom prst="rect">
            <a:avLst/>
          </a:prstGeom>
          <a:noFill/>
          <a:ln>
            <a:noFill/>
          </a:ln>
        </p:spPr>
        <p:txBody>
          <a:bodyPr anchorCtr="0" anchor="t" bIns="0" lIns="0" spcFirstLastPara="1" rIns="0" wrap="square" tIns="59675">
            <a:spAutoFit/>
          </a:bodyPr>
          <a:lstStyle/>
          <a:p>
            <a:pPr indent="-177800" lvl="0" marL="182880" marR="368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nuestro ejemplo, la columna EMAIL se define como 	una columna NOT NULL</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intento implícito de agregar valores a la tabla como 	el que se muestra generará un error</a:t>
            </a:r>
            <a:endParaRPr sz="2800">
              <a:latin typeface="Calibri"/>
              <a:ea typeface="Calibri"/>
              <a:cs typeface="Calibri"/>
              <a:sym typeface="Calibri"/>
            </a:endParaRPr>
          </a:p>
        </p:txBody>
      </p:sp>
      <p:pic>
        <p:nvPicPr>
          <p:cNvPr id="280" name="Google Shape;280;p34"/>
          <p:cNvPicPr preferRelativeResize="0"/>
          <p:nvPr/>
        </p:nvPicPr>
        <p:blipFill rotWithShape="1">
          <a:blip r:embed="rId3">
            <a:alphaModFix/>
          </a:blip>
          <a:srcRect b="0" l="0" r="0" t="0"/>
          <a:stretch/>
        </p:blipFill>
        <p:spPr>
          <a:xfrm>
            <a:off x="405384" y="5317235"/>
            <a:ext cx="5219687" cy="571499"/>
          </a:xfrm>
          <a:prstGeom prst="rect">
            <a:avLst/>
          </a:prstGeom>
          <a:noFill/>
          <a:ln>
            <a:noFill/>
          </a:ln>
        </p:spPr>
      </p:pic>
      <p:sp>
        <p:nvSpPr>
          <p:cNvPr id="281" name="Google Shape;281;p34"/>
          <p:cNvSpPr txBox="1"/>
          <p:nvPr/>
        </p:nvSpPr>
        <p:spPr>
          <a:xfrm>
            <a:off x="393191" y="3212592"/>
            <a:ext cx="8345805" cy="192532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8888"/>
              </a:lnSpc>
              <a:spcBef>
                <a:spcPts val="0"/>
              </a:spcBef>
              <a:spcAft>
                <a:spcPts val="0"/>
              </a:spcAft>
              <a:buNone/>
            </a:pPr>
            <a:r>
              <a:rPr b="1" lang="en-US" sz="1800">
                <a:solidFill>
                  <a:srgbClr val="4E3629"/>
                </a:solidFill>
                <a:latin typeface="Courier New"/>
                <a:ea typeface="Courier New"/>
                <a:cs typeface="Courier New"/>
                <a:sym typeface="Courier New"/>
              </a:rPr>
              <a:t>INSERT INTO copy_employees</a:t>
            </a:r>
            <a:endParaRPr sz="1800">
              <a:latin typeface="Courier New"/>
              <a:ea typeface="Courier New"/>
              <a:cs typeface="Courier New"/>
              <a:sym typeface="Courier New"/>
            </a:endParaRPr>
          </a:p>
          <a:p>
            <a:pPr indent="274320" lvl="0" marL="0" marR="12388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(employee_id, first_name, last_name, phone_number, hire_date,</a:t>
            </a:r>
            <a:endParaRPr sz="1800">
              <a:latin typeface="Courier New"/>
              <a:ea typeface="Courier New"/>
              <a:cs typeface="Courier New"/>
              <a:sym typeface="Courier New"/>
            </a:endParaRPr>
          </a:p>
          <a:p>
            <a:pPr indent="409575" lvl="0" marL="0" marR="58794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job_id, salary) VALUES</a:t>
            </a:r>
            <a:endParaRPr sz="1800">
              <a:latin typeface="Courier New"/>
              <a:ea typeface="Courier New"/>
              <a:cs typeface="Courier New"/>
              <a:sym typeface="Courier New"/>
            </a:endParaRPr>
          </a:p>
          <a:p>
            <a:pPr indent="-135890" lvl="0" marL="409575" marR="55753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(302,'Grigorz','Polanski', '8586667641', '15-Jun-2017', 'IT_PROG',4200);</a:t>
            </a:r>
            <a:endParaRPr sz="1800">
              <a:latin typeface="Courier New"/>
              <a:ea typeface="Courier New"/>
              <a:cs typeface="Courier New"/>
              <a:sym typeface="Courier New"/>
            </a:endParaRPr>
          </a:p>
        </p:txBody>
      </p:sp>
      <p:sp>
        <p:nvSpPr>
          <p:cNvPr id="282" name="Google Shape;282;p34"/>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283" name="Google Shape;283;p3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4" name="Google Shape;284;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5"/>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Inserción de Filas con Valores Nulos</a:t>
            </a:r>
            <a:endParaRPr/>
          </a:p>
        </p:txBody>
      </p:sp>
      <p:sp>
        <p:nvSpPr>
          <p:cNvPr id="290" name="Google Shape;290;p35"/>
          <p:cNvSpPr txBox="1"/>
          <p:nvPr>
            <p:ph idx="1" type="body"/>
          </p:nvPr>
        </p:nvSpPr>
        <p:spPr>
          <a:xfrm>
            <a:off x="483552" y="1415417"/>
            <a:ext cx="8025900" cy="29253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a:t>Una inserción implícita insertará automáticamente un 	valor nulo en las columnas que permiten valores nulos</a:t>
            </a:r>
            <a:endParaRPr/>
          </a:p>
          <a:p>
            <a:pPr indent="-177800" lvl="0" marL="182880" marR="226695" rtl="0" algn="l">
              <a:lnSpc>
                <a:spcPct val="108214"/>
              </a:lnSpc>
              <a:spcBef>
                <a:spcPts val="795"/>
              </a:spcBef>
              <a:spcAft>
                <a:spcPts val="1200"/>
              </a:spcAft>
              <a:buClr>
                <a:srgbClr val="D1350F"/>
              </a:buClr>
              <a:buSzPts val="2800"/>
              <a:buFont typeface="Arial"/>
              <a:buChar char="•"/>
            </a:pPr>
            <a:r>
              <a:rPr lang="en-US"/>
              <a:t>Para agregar explícitamente un valor nulo a una 	columna que permite valores nulos, utilice la palabra 	clave NULL en la lista VALUES</a:t>
            </a:r>
            <a:endParaRPr/>
          </a:p>
        </p:txBody>
      </p:sp>
      <p:pic>
        <p:nvPicPr>
          <p:cNvPr id="291" name="Google Shape;291;p35"/>
          <p:cNvPicPr preferRelativeResize="0"/>
          <p:nvPr/>
        </p:nvPicPr>
        <p:blipFill rotWithShape="1">
          <a:blip r:embed="rId3">
            <a:alphaModFix/>
          </a:blip>
          <a:srcRect b="0" l="0" r="0" t="0"/>
          <a:stretch/>
        </p:blipFill>
        <p:spPr>
          <a:xfrm>
            <a:off x="3041903" y="3796283"/>
            <a:ext cx="3060191" cy="2042159"/>
          </a:xfrm>
          <a:prstGeom prst="rect">
            <a:avLst/>
          </a:prstGeom>
          <a:noFill/>
          <a:ln>
            <a:noFill/>
          </a:ln>
        </p:spPr>
      </p:pic>
      <p:sp>
        <p:nvSpPr>
          <p:cNvPr id="292" name="Google Shape;292;p35"/>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293" name="Google Shape;293;p3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94" name="Google Shape;294;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6"/>
          <p:cNvSpPr txBox="1"/>
          <p:nvPr>
            <p:ph type="title"/>
          </p:nvPr>
        </p:nvSpPr>
        <p:spPr>
          <a:xfrm>
            <a:off x="392112" y="748031"/>
            <a:ext cx="6066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Inserción de Filas con Valores Nulos</a:t>
            </a:r>
            <a:endParaRPr/>
          </a:p>
        </p:txBody>
      </p:sp>
      <p:sp>
        <p:nvSpPr>
          <p:cNvPr id="300" name="Google Shape;300;p36"/>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301" name="Google Shape;301;p3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02" name="Google Shape;302;p3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03" name="Google Shape;303;p36"/>
          <p:cNvSpPr txBox="1"/>
          <p:nvPr/>
        </p:nvSpPr>
        <p:spPr>
          <a:xfrm>
            <a:off x="483552" y="1415417"/>
            <a:ext cx="7849234" cy="1220470"/>
          </a:xfrm>
          <a:prstGeom prst="rect">
            <a:avLst/>
          </a:prstGeom>
          <a:noFill/>
          <a:ln>
            <a:noFill/>
          </a:ln>
        </p:spPr>
        <p:txBody>
          <a:bodyPr anchorCtr="0" anchor="t" bIns="0" lIns="0" spcFirstLastPara="1" rIns="0" wrap="square" tIns="59675">
            <a:spAutoFit/>
          </a:bodyPr>
          <a:lstStyle/>
          <a:p>
            <a:pPr indent="-177800" lvl="0" marL="182880"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especificar cadenas vacías y/o fechas que faltan, 	utilice comillas simples vacía (sin espacios entre ellas 	de esta forma") para los datos que faltan</a:t>
            </a:r>
            <a:endParaRPr sz="2800">
              <a:latin typeface="Calibri"/>
              <a:ea typeface="Calibri"/>
              <a:cs typeface="Calibri"/>
              <a:sym typeface="Calibri"/>
            </a:endParaRPr>
          </a:p>
        </p:txBody>
      </p:sp>
      <p:graphicFrame>
        <p:nvGraphicFramePr>
          <p:cNvPr id="304" name="Google Shape;304;p36"/>
          <p:cNvGraphicFramePr/>
          <p:nvPr/>
        </p:nvGraphicFramePr>
        <p:xfrm>
          <a:off x="798511" y="4599970"/>
          <a:ext cx="3000000" cy="3000000"/>
        </p:xfrm>
        <a:graphic>
          <a:graphicData uri="http://schemas.openxmlformats.org/drawingml/2006/table">
            <a:tbl>
              <a:tblPr bandRow="1" firstRow="1">
                <a:noFill/>
                <a:tableStyleId>{8A4FC7C1-832E-43D6-9C7B-4F2FEC330DA2}</a:tableStyleId>
              </a:tblPr>
              <a:tblGrid>
                <a:gridCol w="1117600"/>
                <a:gridCol w="1022975"/>
                <a:gridCol w="995050"/>
                <a:gridCol w="770900"/>
                <a:gridCol w="1373500"/>
                <a:gridCol w="995050"/>
                <a:gridCol w="742950"/>
                <a:gridCol w="659125"/>
              </a:tblGrid>
              <a:tr h="327025">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EMPLOYEE_ID</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FIRST_NAME</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LAST_NAME</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EMAIL</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PHONE_NUMBER</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HIRE_DATE</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JOB_ID</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SALARY</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77500">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302</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Grigorz</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Polanski</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gpolanski</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15-Jun-2017</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IT_PROG</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4200</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305" name="Google Shape;305;p36"/>
          <p:cNvGraphicFramePr/>
          <p:nvPr/>
        </p:nvGraphicFramePr>
        <p:xfrm>
          <a:off x="5642451" y="5431481"/>
          <a:ext cx="3000000" cy="3000000"/>
        </p:xfrm>
        <a:graphic>
          <a:graphicData uri="http://schemas.openxmlformats.org/drawingml/2006/table">
            <a:tbl>
              <a:tblPr bandRow="1" firstRow="1">
                <a:noFill/>
                <a:tableStyleId>{8A4FC7C1-832E-43D6-9C7B-4F2FEC330DA2}</a:tableStyleId>
              </a:tblPr>
              <a:tblGrid>
                <a:gridCol w="898525"/>
                <a:gridCol w="676275"/>
                <a:gridCol w="676275"/>
                <a:gridCol w="575950"/>
              </a:tblGrid>
              <a:tr h="327025">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COMM_PCT</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MGR_ID</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DEPT_ID</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BONUS</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77500">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306" name="Google Shape;306;p36"/>
          <p:cNvSpPr txBox="1"/>
          <p:nvPr/>
        </p:nvSpPr>
        <p:spPr>
          <a:xfrm>
            <a:off x="405384" y="2906267"/>
            <a:ext cx="8345805" cy="160655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9388"/>
              </a:lnSpc>
              <a:spcBef>
                <a:spcPts val="0"/>
              </a:spcBef>
              <a:spcAft>
                <a:spcPts val="0"/>
              </a:spcAft>
              <a:buNone/>
            </a:pPr>
            <a:r>
              <a:rPr b="1" lang="en-US" sz="1800">
                <a:solidFill>
                  <a:srgbClr val="4E3629"/>
                </a:solidFill>
                <a:latin typeface="Courier New"/>
                <a:ea typeface="Courier New"/>
                <a:cs typeface="Courier New"/>
                <a:sym typeface="Courier New"/>
              </a:rPr>
              <a:t>INSERT INTO copy_employees</a:t>
            </a:r>
            <a:endParaRPr sz="1800">
              <a:latin typeface="Courier New"/>
              <a:ea typeface="Courier New"/>
              <a:cs typeface="Courier New"/>
              <a:sym typeface="Courier New"/>
            </a:endParaRPr>
          </a:p>
          <a:p>
            <a:pPr indent="-135890" lvl="0" marL="408940" marR="2851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(employee_id, first_name, last_name, email, phone_number, hire_date, job_id, salary)</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a:t>
            </a:r>
            <a:endParaRPr sz="1800">
              <a:latin typeface="Courier New"/>
              <a:ea typeface="Courier New"/>
              <a:cs typeface="Courier New"/>
              <a:sym typeface="Courier New"/>
            </a:endParaRPr>
          </a:p>
          <a:p>
            <a:pPr indent="-135890" lvl="0" marL="408305" marR="14859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(302,'Grigorz','Polanski', 'gpolanski', '', '15-Jun-2017', 'IT_PROG',4200);</a:t>
            </a:r>
            <a:endParaRPr sz="1800">
              <a:latin typeface="Courier New"/>
              <a:ea typeface="Courier New"/>
              <a:cs typeface="Courier New"/>
              <a:sym typeface="Courier New"/>
            </a:endParaRPr>
          </a:p>
        </p:txBody>
      </p:sp>
      <p:sp>
        <p:nvSpPr>
          <p:cNvPr id="307" name="Google Shape;307;p36"/>
          <p:cNvSpPr txBox="1"/>
          <p:nvPr/>
        </p:nvSpPr>
        <p:spPr>
          <a:xfrm>
            <a:off x="5727541" y="5942990"/>
            <a:ext cx="388620"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solidFill>
                  <a:srgbClr val="4E3629"/>
                </a:solidFill>
                <a:latin typeface="Calibri"/>
                <a:ea typeface="Calibri"/>
                <a:cs typeface="Calibri"/>
                <a:sym typeface="Calibri"/>
              </a:rPr>
              <a:t>…..</a:t>
            </a:r>
            <a:endParaRPr sz="24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7"/>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Inserción de Valores Especiales</a:t>
            </a:r>
            <a:endParaRPr/>
          </a:p>
        </p:txBody>
      </p:sp>
      <p:sp>
        <p:nvSpPr>
          <p:cNvPr id="313" name="Google Shape;313;p37"/>
          <p:cNvSpPr txBox="1"/>
          <p:nvPr/>
        </p:nvSpPr>
        <p:spPr>
          <a:xfrm>
            <a:off x="483552" y="1415417"/>
            <a:ext cx="7943850" cy="33445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valores especiales como SYSDATE y USER se 	pueden introducir en la lista VALUES de una sentencia 	INSERT</a:t>
            </a:r>
            <a:endParaRPr sz="2800">
              <a:latin typeface="Calibri"/>
              <a:ea typeface="Calibri"/>
              <a:cs typeface="Calibri"/>
              <a:sym typeface="Calibri"/>
            </a:endParaRPr>
          </a:p>
          <a:p>
            <a:pPr indent="-177800" lvl="0" marL="182880" marR="70929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SYSDATE colocará la fecha y hora actuales en una 	columna</a:t>
            </a:r>
            <a:endParaRPr sz="2800">
              <a:latin typeface="Calibri"/>
              <a:ea typeface="Calibri"/>
              <a:cs typeface="Calibri"/>
              <a:sym typeface="Calibri"/>
            </a:endParaRPr>
          </a:p>
          <a:p>
            <a:pPr indent="-177800" lvl="0" marL="182880" marR="70421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USER insertará el nombre de usuario de la sesión 	actual, que es OAE_PUBLIC_USER en Oracle 	Application Express</a:t>
            </a:r>
            <a:endParaRPr sz="2800">
              <a:latin typeface="Calibri"/>
              <a:ea typeface="Calibri"/>
              <a:cs typeface="Calibri"/>
              <a:sym typeface="Calibri"/>
            </a:endParaRPr>
          </a:p>
        </p:txBody>
      </p:sp>
      <p:pic>
        <p:nvPicPr>
          <p:cNvPr id="314" name="Google Shape;314;p37"/>
          <p:cNvPicPr preferRelativeResize="0"/>
          <p:nvPr/>
        </p:nvPicPr>
        <p:blipFill rotWithShape="1">
          <a:blip r:embed="rId3">
            <a:alphaModFix/>
          </a:blip>
          <a:srcRect b="0" l="0" r="0" t="0"/>
          <a:stretch/>
        </p:blipFill>
        <p:spPr>
          <a:xfrm>
            <a:off x="6810756" y="4416552"/>
            <a:ext cx="2031491" cy="2022347"/>
          </a:xfrm>
          <a:prstGeom prst="rect">
            <a:avLst/>
          </a:prstGeom>
          <a:noFill/>
          <a:ln>
            <a:noFill/>
          </a:ln>
        </p:spPr>
      </p:pic>
      <p:sp>
        <p:nvSpPr>
          <p:cNvPr id="315" name="Google Shape;315;p37"/>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316" name="Google Shape;316;p3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17" name="Google Shape;317;p3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8"/>
          <p:cNvSpPr txBox="1"/>
          <p:nvPr>
            <p:ph type="title"/>
          </p:nvPr>
        </p:nvSpPr>
        <p:spPr>
          <a:xfrm>
            <a:off x="392112" y="748031"/>
            <a:ext cx="5278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Inserción de Valores Especiales</a:t>
            </a:r>
            <a:endParaRPr/>
          </a:p>
        </p:txBody>
      </p:sp>
      <p:sp>
        <p:nvSpPr>
          <p:cNvPr id="323" name="Google Shape;323;p38"/>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324" name="Google Shape;324;p3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25" name="Google Shape;325;p3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26" name="Google Shape;326;p38"/>
          <p:cNvSpPr txBox="1"/>
          <p:nvPr/>
        </p:nvSpPr>
        <p:spPr>
          <a:xfrm>
            <a:off x="483552" y="1415417"/>
            <a:ext cx="714184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agrega USER como apellido y 	SYSDATE para la fecha de contratación</a:t>
            </a:r>
            <a:endParaRPr sz="2800">
              <a:latin typeface="Calibri"/>
              <a:ea typeface="Calibri"/>
              <a:cs typeface="Calibri"/>
              <a:sym typeface="Calibri"/>
            </a:endParaRPr>
          </a:p>
        </p:txBody>
      </p:sp>
      <p:sp>
        <p:nvSpPr>
          <p:cNvPr id="327" name="Google Shape;327;p38"/>
          <p:cNvSpPr txBox="1"/>
          <p:nvPr/>
        </p:nvSpPr>
        <p:spPr>
          <a:xfrm>
            <a:off x="6066542" y="5765996"/>
            <a:ext cx="388620"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solidFill>
                  <a:srgbClr val="4E3629"/>
                </a:solidFill>
                <a:latin typeface="Calibri"/>
                <a:ea typeface="Calibri"/>
                <a:cs typeface="Calibri"/>
                <a:sym typeface="Calibri"/>
              </a:rPr>
              <a:t>…..</a:t>
            </a:r>
            <a:endParaRPr sz="2400">
              <a:latin typeface="Calibri"/>
              <a:ea typeface="Calibri"/>
              <a:cs typeface="Calibri"/>
              <a:sym typeface="Calibri"/>
            </a:endParaRPr>
          </a:p>
        </p:txBody>
      </p:sp>
      <p:graphicFrame>
        <p:nvGraphicFramePr>
          <p:cNvPr id="328" name="Google Shape;328;p38"/>
          <p:cNvGraphicFramePr/>
          <p:nvPr/>
        </p:nvGraphicFramePr>
        <p:xfrm>
          <a:off x="463143" y="4493087"/>
          <a:ext cx="3000000" cy="3000000"/>
        </p:xfrm>
        <a:graphic>
          <a:graphicData uri="http://schemas.openxmlformats.org/drawingml/2006/table">
            <a:tbl>
              <a:tblPr bandRow="1" firstRow="1">
                <a:noFill/>
                <a:tableStyleId>{8A4FC7C1-832E-43D6-9C7B-4F2FEC330DA2}</a:tableStyleId>
              </a:tblPr>
              <a:tblGrid>
                <a:gridCol w="1132850"/>
                <a:gridCol w="1080125"/>
                <a:gridCol w="1529075"/>
                <a:gridCol w="659125"/>
                <a:gridCol w="1416675"/>
                <a:gridCol w="1023625"/>
                <a:gridCol w="827400"/>
                <a:gridCol w="673100"/>
              </a:tblGrid>
              <a:tr h="327025">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EMPLOYEE_ID</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FIRST_NAME</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LAST_NAME</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EMAIL</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PHONE_NUMBER</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HIRE_DATE</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JOB_ID</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SALARY</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77500">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304</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Test</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APEX_PUBLIC_USER</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t_user</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4159982010</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15-Jun-2017</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ST_CLERK</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2500</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329" name="Google Shape;329;p38"/>
          <p:cNvGraphicFramePr/>
          <p:nvPr/>
        </p:nvGraphicFramePr>
        <p:xfrm>
          <a:off x="5981453" y="5235180"/>
          <a:ext cx="3000000" cy="3000000"/>
        </p:xfrm>
        <a:graphic>
          <a:graphicData uri="http://schemas.openxmlformats.org/drawingml/2006/table">
            <a:tbl>
              <a:tblPr bandRow="1" firstRow="1">
                <a:noFill/>
                <a:tableStyleId>{8A4FC7C1-832E-43D6-9C7B-4F2FEC330DA2}</a:tableStyleId>
              </a:tblPr>
              <a:tblGrid>
                <a:gridCol w="898525"/>
                <a:gridCol w="676275"/>
                <a:gridCol w="676275"/>
                <a:gridCol w="575950"/>
              </a:tblGrid>
              <a:tr h="327025">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COMM_PCT</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MGR_ID</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DEPT_ID</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BONUS</a:t>
                      </a:r>
                      <a:endParaRPr sz="1200" u="none" cap="none" strike="noStrike">
                        <a:latin typeface="Calibri"/>
                        <a:ea typeface="Calibri"/>
                        <a:cs typeface="Calibri"/>
                        <a:sym typeface="Calibri"/>
                      </a:endParaRPr>
                    </a:p>
                  </a:txBody>
                  <a:tcPr marT="62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77500">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81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330" name="Google Shape;330;p38"/>
          <p:cNvSpPr txBox="1"/>
          <p:nvPr/>
        </p:nvSpPr>
        <p:spPr>
          <a:xfrm>
            <a:off x="469391" y="2286000"/>
            <a:ext cx="8345805" cy="2005964"/>
          </a:xfrm>
          <a:prstGeom prst="rect">
            <a:avLst/>
          </a:prstGeom>
          <a:solidFill>
            <a:srgbClr val="9DBDC4">
              <a:alpha val="49804"/>
            </a:srgbClr>
          </a:solidFill>
          <a:ln>
            <a:noFill/>
          </a:ln>
        </p:spPr>
        <p:txBody>
          <a:bodyPr anchorCtr="0" anchor="t" bIns="0" lIns="0" spcFirstLastPara="1" rIns="0" wrap="square" tIns="1522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INSERT INTO copy_employees</a:t>
            </a:r>
            <a:endParaRPr sz="1800">
              <a:latin typeface="Courier New"/>
              <a:ea typeface="Courier New"/>
              <a:cs typeface="Courier New"/>
              <a:sym typeface="Courier New"/>
            </a:endParaRPr>
          </a:p>
          <a:p>
            <a:pPr indent="274320" lvl="0" marL="0" marR="2844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(employee_id, first_name, last_name, email, phone_number, hire_date,</a:t>
            </a:r>
            <a:endParaRPr sz="1800">
              <a:latin typeface="Courier New"/>
              <a:ea typeface="Courier New"/>
              <a:cs typeface="Courier New"/>
              <a:sym typeface="Courier New"/>
            </a:endParaRPr>
          </a:p>
          <a:p>
            <a:pPr indent="409575" lvl="0" marL="0" marR="58794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job_id, salary) VALUES</a:t>
            </a:r>
            <a:endParaRPr sz="1800">
              <a:latin typeface="Courier New"/>
              <a:ea typeface="Courier New"/>
              <a:cs typeface="Courier New"/>
              <a:sym typeface="Courier New"/>
            </a:endParaRPr>
          </a:p>
          <a:p>
            <a:pPr indent="274320" lvl="0" marL="0" marR="151320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(304,'Test',USER, 't_user', 4159982010, SYSDATE, 'ST_CLERK',2500);</a:t>
            </a:r>
            <a:endParaRPr sz="1800">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9"/>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Inserción de Valores de Fecha Específicos</a:t>
            </a:r>
            <a:endParaRPr/>
          </a:p>
        </p:txBody>
      </p:sp>
      <p:sp>
        <p:nvSpPr>
          <p:cNvPr id="336" name="Google Shape;336;p39"/>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337" name="Google Shape;337;p3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38" name="Google Shape;338;p3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39" name="Google Shape;339;p39"/>
          <p:cNvSpPr txBox="1"/>
          <p:nvPr>
            <p:ph idx="1" type="body"/>
          </p:nvPr>
        </p:nvSpPr>
        <p:spPr>
          <a:xfrm>
            <a:off x="483552" y="1415417"/>
            <a:ext cx="8025900" cy="4425600"/>
          </a:xfrm>
          <a:prstGeom prst="rect">
            <a:avLst/>
          </a:prstGeom>
          <a:noFill/>
          <a:ln>
            <a:noFill/>
          </a:ln>
        </p:spPr>
        <p:txBody>
          <a:bodyPr anchorCtr="0" anchor="t" bIns="0" lIns="0" spcFirstLastPara="1" rIns="0" wrap="square" tIns="59675">
            <a:spAutoFit/>
          </a:bodyPr>
          <a:lstStyle/>
          <a:p>
            <a:pPr indent="-177800" lvl="0" marL="182880" marR="252729" rtl="0" algn="l">
              <a:lnSpc>
                <a:spcPct val="108214"/>
              </a:lnSpc>
              <a:spcBef>
                <a:spcPts val="0"/>
              </a:spcBef>
              <a:spcAft>
                <a:spcPts val="0"/>
              </a:spcAft>
              <a:buClr>
                <a:srgbClr val="D1350F"/>
              </a:buClr>
              <a:buSzPts val="2800"/>
              <a:buFont typeface="Arial"/>
              <a:buChar char="•"/>
            </a:pPr>
            <a:r>
              <a:rPr lang="en-US"/>
              <a:t>El modelo de formato por defecto para tipos de dato 	de fecha es DD-Mes-AAAA</a:t>
            </a:r>
            <a:endParaRPr/>
          </a:p>
          <a:p>
            <a:pPr indent="-177800" lvl="0" marL="182880" marR="673735" rtl="0" algn="l">
              <a:lnSpc>
                <a:spcPct val="108214"/>
              </a:lnSpc>
              <a:spcBef>
                <a:spcPts val="795"/>
              </a:spcBef>
              <a:spcAft>
                <a:spcPts val="0"/>
              </a:spcAft>
              <a:buClr>
                <a:srgbClr val="D1350F"/>
              </a:buClr>
              <a:buSzPts val="2800"/>
              <a:buFont typeface="Arial"/>
              <a:buChar char="•"/>
            </a:pPr>
            <a:r>
              <a:rPr lang="en-US"/>
              <a:t>Con este formato de fecha, la hora por defecto de 	medianoche (00:00:00) también se incluye</a:t>
            </a:r>
            <a:endParaRPr/>
          </a:p>
          <a:p>
            <a:pPr indent="-177800" lvl="0" marL="182880" marR="5080" rtl="0" algn="l">
              <a:lnSpc>
                <a:spcPct val="108214"/>
              </a:lnSpc>
              <a:spcBef>
                <a:spcPts val="790"/>
              </a:spcBef>
              <a:spcAft>
                <a:spcPts val="1200"/>
              </a:spcAft>
              <a:buClr>
                <a:srgbClr val="D1350F"/>
              </a:buClr>
              <a:buSzPts val="2800"/>
              <a:buFont typeface="Arial"/>
              <a:buChar char="•"/>
            </a:pPr>
            <a:r>
              <a:rPr lang="en-US"/>
              <a:t>En la sección anterior, hemos aprendido cómo utilizar 	la función TO_CHAR para convertir una fecha en una 	cadena de caracteres cuando queremos recuperar y 	mostrar un valor de fecha con un formato que no es el 	formato por defecto</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0"/>
          <p:cNvSpPr txBox="1"/>
          <p:nvPr/>
        </p:nvSpPr>
        <p:spPr>
          <a:xfrm>
            <a:off x="51721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345" name="Google Shape;345;p40"/>
          <p:cNvSpPr txBox="1"/>
          <p:nvPr/>
        </p:nvSpPr>
        <p:spPr>
          <a:xfrm>
            <a:off x="2874191" y="6489343"/>
            <a:ext cx="837565" cy="271145"/>
          </a:xfrm>
          <a:prstGeom prst="rect">
            <a:avLst/>
          </a:prstGeom>
          <a:noFill/>
          <a:ln>
            <a:noFill/>
          </a:ln>
        </p:spPr>
        <p:txBody>
          <a:bodyPr anchorCtr="0" anchor="t" bIns="0" lIns="0" spcFirstLastPara="1" rIns="0" wrap="square" tIns="12700">
            <a:spAutoFit/>
          </a:bodyPr>
          <a:lstStyle/>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DP 12-1</a:t>
            </a:r>
            <a:endParaRPr sz="850">
              <a:latin typeface="Calibri"/>
              <a:ea typeface="Calibri"/>
              <a:cs typeface="Calibri"/>
              <a:sym typeface="Calibri"/>
            </a:endParaRPr>
          </a:p>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Sentencias INSERT</a:t>
            </a:r>
            <a:endParaRPr sz="850">
              <a:latin typeface="Calibri"/>
              <a:ea typeface="Calibri"/>
              <a:cs typeface="Calibri"/>
              <a:sym typeface="Calibri"/>
            </a:endParaRPr>
          </a:p>
        </p:txBody>
      </p:sp>
      <p:sp>
        <p:nvSpPr>
          <p:cNvPr id="346" name="Google Shape;346;p40"/>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Inserción de Valores de Fecha Específicos</a:t>
            </a:r>
            <a:endParaRPr/>
          </a:p>
        </p:txBody>
      </p:sp>
      <p:sp>
        <p:nvSpPr>
          <p:cNvPr id="347" name="Google Shape;347;p40"/>
          <p:cNvSpPr txBox="1"/>
          <p:nvPr/>
        </p:nvSpPr>
        <p:spPr>
          <a:xfrm>
            <a:off x="483552" y="1415417"/>
            <a:ext cx="5533390"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Este es un recordatorio de TO_CHAR:</a:t>
            </a:r>
            <a:endParaRPr sz="2800">
              <a:latin typeface="Calibri"/>
              <a:ea typeface="Calibri"/>
              <a:cs typeface="Calibri"/>
              <a:sym typeface="Calibri"/>
            </a:endParaRPr>
          </a:p>
        </p:txBody>
      </p:sp>
      <p:sp>
        <p:nvSpPr>
          <p:cNvPr id="348" name="Google Shape;348;p40"/>
          <p:cNvSpPr txBox="1"/>
          <p:nvPr/>
        </p:nvSpPr>
        <p:spPr>
          <a:xfrm>
            <a:off x="8626856" y="6562597"/>
            <a:ext cx="135255"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27</a:t>
            </a:r>
            <a:endParaRPr sz="850">
              <a:latin typeface="Calibri"/>
              <a:ea typeface="Calibri"/>
              <a:cs typeface="Calibri"/>
              <a:sym typeface="Calibri"/>
            </a:endParaRPr>
          </a:p>
        </p:txBody>
      </p:sp>
      <p:graphicFrame>
        <p:nvGraphicFramePr>
          <p:cNvPr id="349" name="Google Shape;349;p40"/>
          <p:cNvGraphicFramePr/>
          <p:nvPr/>
        </p:nvGraphicFramePr>
        <p:xfrm>
          <a:off x="2150404" y="3282813"/>
          <a:ext cx="3000000" cy="3000000"/>
        </p:xfrm>
        <a:graphic>
          <a:graphicData uri="http://schemas.openxmlformats.org/drawingml/2006/table">
            <a:tbl>
              <a:tblPr bandRow="1" firstRow="1">
                <a:noFill/>
                <a:tableStyleId>{8A4FC7C1-832E-43D6-9C7B-4F2FEC330DA2}</a:tableStyleId>
              </a:tblPr>
              <a:tblGrid>
                <a:gridCol w="1255400"/>
                <a:gridCol w="3886200"/>
              </a:tblGrid>
              <a:tr h="3111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TO_CHAR(HIRE_DATE,'MONTH,FMDD,YYYY')</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270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Neena</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September, 21, 1989</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350" name="Google Shape;350;p40"/>
          <p:cNvSpPr/>
          <p:nvPr/>
        </p:nvSpPr>
        <p:spPr>
          <a:xfrm>
            <a:off x="405384" y="2209800"/>
            <a:ext cx="8351520" cy="721360"/>
          </a:xfrm>
          <a:custGeom>
            <a:rect b="b" l="l" r="r" t="t"/>
            <a:pathLst>
              <a:path extrusionOk="0" h="721360" w="8351520">
                <a:moveTo>
                  <a:pt x="8351520" y="0"/>
                </a:moveTo>
                <a:lnTo>
                  <a:pt x="0" y="0"/>
                </a:lnTo>
                <a:lnTo>
                  <a:pt x="0" y="720851"/>
                </a:lnTo>
                <a:lnTo>
                  <a:pt x="8351520" y="720851"/>
                </a:lnTo>
                <a:lnTo>
                  <a:pt x="8351520"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1" name="Google Shape;351;p40"/>
          <p:cNvSpPr txBox="1"/>
          <p:nvPr/>
        </p:nvSpPr>
        <p:spPr>
          <a:xfrm>
            <a:off x="392112" y="2118066"/>
            <a:ext cx="7805420" cy="84836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first_name, TO_CHAR(hire_date,'Month, fmdd, yyyy') FROM employees</a:t>
            </a:r>
            <a:endParaRPr sz="1800">
              <a:latin typeface="Courier New"/>
              <a:ea typeface="Courier New"/>
              <a:cs typeface="Courier New"/>
              <a:sym typeface="Courier New"/>
            </a:endParaRPr>
          </a:p>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employee_id = 101;</a:t>
            </a:r>
            <a:endParaRPr sz="1800">
              <a:latin typeface="Courier New"/>
              <a:ea typeface="Courier New"/>
              <a:cs typeface="Courier New"/>
              <a:sym typeface="Courier New"/>
            </a:endParaRPr>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1"/>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Inserción de Valores de Fecha Específicos</a:t>
            </a:r>
            <a:endParaRPr/>
          </a:p>
        </p:txBody>
      </p:sp>
      <p:sp>
        <p:nvSpPr>
          <p:cNvPr id="357" name="Google Shape;357;p41"/>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358" name="Google Shape;358;p4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59" name="Google Shape;359;p4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60" name="Google Shape;360;p41"/>
          <p:cNvSpPr txBox="1"/>
          <p:nvPr/>
        </p:nvSpPr>
        <p:spPr>
          <a:xfrm>
            <a:off x="483552" y="1415417"/>
            <a:ext cx="8152765" cy="19888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Del mismo modo, si deseamos INSERTAR una fila con 	un formato que no sea el formato por defecto para una 	columna de fecha, debemos utilizar la función 	TO_DATE para convertir el valor de fecha (cadena de 	caracteres) en una fecha</a:t>
            </a:r>
            <a:endParaRPr sz="2800">
              <a:latin typeface="Calibri"/>
              <a:ea typeface="Calibri"/>
              <a:cs typeface="Calibri"/>
              <a:sym typeface="Calibri"/>
            </a:endParaRPr>
          </a:p>
        </p:txBody>
      </p:sp>
      <p:sp>
        <p:nvSpPr>
          <p:cNvPr id="361" name="Google Shape;361;p41"/>
          <p:cNvSpPr txBox="1"/>
          <p:nvPr/>
        </p:nvSpPr>
        <p:spPr>
          <a:xfrm>
            <a:off x="393191" y="3605784"/>
            <a:ext cx="8345805" cy="2001520"/>
          </a:xfrm>
          <a:prstGeom prst="rect">
            <a:avLst/>
          </a:prstGeom>
          <a:solidFill>
            <a:srgbClr val="9DBDC4">
              <a:alpha val="49804"/>
            </a:srgbClr>
          </a:solidFill>
          <a:ln>
            <a:noFill/>
          </a:ln>
        </p:spPr>
        <p:txBody>
          <a:bodyPr anchorCtr="0" anchor="t" bIns="0" lIns="0" spcFirstLastPara="1" rIns="0" wrap="square" tIns="1332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INSERT INTO copy_employees</a:t>
            </a:r>
            <a:endParaRPr sz="1800">
              <a:latin typeface="Courier New"/>
              <a:ea typeface="Courier New"/>
              <a:cs typeface="Courier New"/>
              <a:sym typeface="Courier New"/>
            </a:endParaRPr>
          </a:p>
          <a:p>
            <a:pPr indent="274320" lvl="0" marL="0" marR="2851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(employee_id, first_name, last_name, email, phone_number, hire_date,job_id, salary)</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a:t>
            </a:r>
            <a:endParaRPr sz="1800">
              <a:latin typeface="Courier New"/>
              <a:ea typeface="Courier New"/>
              <a:cs typeface="Courier New"/>
              <a:sym typeface="Courier New"/>
            </a:endParaRPr>
          </a:p>
          <a:p>
            <a:pPr indent="-137160" lvl="0" marL="546735" marR="8305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(301,'Katie','Hernandez', 'khernandez','8586667641', </a:t>
            </a:r>
            <a:r>
              <a:rPr b="1" lang="en-US" sz="1800">
                <a:solidFill>
                  <a:srgbClr val="D1350F"/>
                </a:solidFill>
                <a:latin typeface="Courier New"/>
                <a:ea typeface="Courier New"/>
                <a:cs typeface="Courier New"/>
                <a:sym typeface="Courier New"/>
              </a:rPr>
              <a:t>TO_DATE('July 8, 2017', 'Month fmdd, yyyy')</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'MK_REP',4200);</a:t>
            </a:r>
            <a:endParaRPr sz="1800">
              <a:latin typeface="Courier New"/>
              <a:ea typeface="Courier New"/>
              <a:cs typeface="Courier New"/>
              <a:sym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2"/>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Inserción de Valores de Fecha Específicos</a:t>
            </a:r>
            <a:endParaRPr/>
          </a:p>
        </p:txBody>
      </p:sp>
      <p:sp>
        <p:nvSpPr>
          <p:cNvPr id="367" name="Google Shape;367;p42"/>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368" name="Google Shape;368;p4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69" name="Google Shape;369;p4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70" name="Google Shape;370;p42"/>
          <p:cNvSpPr txBox="1"/>
          <p:nvPr/>
        </p:nvSpPr>
        <p:spPr>
          <a:xfrm>
            <a:off x="483552" y="1415417"/>
            <a:ext cx="7968615"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segundo ejemplo de TO_DATE permite la inserción 	de una hora del día concreta, sustituyendo el la hora 	de medianoche por defecto</a:t>
            </a:r>
            <a:endParaRPr sz="2800">
              <a:latin typeface="Calibri"/>
              <a:ea typeface="Calibri"/>
              <a:cs typeface="Calibri"/>
              <a:sym typeface="Calibri"/>
            </a:endParaRPr>
          </a:p>
        </p:txBody>
      </p:sp>
      <p:sp>
        <p:nvSpPr>
          <p:cNvPr id="371" name="Google Shape;371;p42"/>
          <p:cNvSpPr txBox="1"/>
          <p:nvPr/>
        </p:nvSpPr>
        <p:spPr>
          <a:xfrm>
            <a:off x="393191" y="4454652"/>
            <a:ext cx="8345805" cy="97409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8124"/>
              </a:lnSpc>
              <a:spcBef>
                <a:spcPts val="0"/>
              </a:spcBef>
              <a:spcAft>
                <a:spcPts val="0"/>
              </a:spcAft>
              <a:buNone/>
            </a:pPr>
            <a:r>
              <a:rPr b="1" lang="en-US" sz="1600">
                <a:solidFill>
                  <a:srgbClr val="4E3629"/>
                </a:solidFill>
                <a:latin typeface="Courier New"/>
                <a:ea typeface="Courier New"/>
                <a:cs typeface="Courier New"/>
                <a:sym typeface="Courier New"/>
              </a:rPr>
              <a:t>SELECT first_name, last_name,</a:t>
            </a:r>
            <a:endParaRPr sz="1600">
              <a:latin typeface="Courier New"/>
              <a:ea typeface="Courier New"/>
              <a:cs typeface="Courier New"/>
              <a:sym typeface="Courier New"/>
            </a:endParaRPr>
          </a:p>
          <a:p>
            <a:pPr indent="365125" lvl="0" marL="0" marR="64389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TO_CHAR(hire_date, 'dd-Mon-YYYY HH24:MI') As "Date and Time" FROM copy_employees</a:t>
            </a:r>
            <a:endParaRPr sz="16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WHERE employee_id = 303;</a:t>
            </a:r>
            <a:endParaRPr sz="1600">
              <a:latin typeface="Courier New"/>
              <a:ea typeface="Courier New"/>
              <a:cs typeface="Courier New"/>
              <a:sym typeface="Courier New"/>
            </a:endParaRPr>
          </a:p>
        </p:txBody>
      </p:sp>
      <p:graphicFrame>
        <p:nvGraphicFramePr>
          <p:cNvPr id="372" name="Google Shape;372;p42"/>
          <p:cNvGraphicFramePr/>
          <p:nvPr/>
        </p:nvGraphicFramePr>
        <p:xfrm>
          <a:off x="3881240" y="5518324"/>
          <a:ext cx="3000000" cy="3000000"/>
        </p:xfrm>
        <a:graphic>
          <a:graphicData uri="http://schemas.openxmlformats.org/drawingml/2006/table">
            <a:tbl>
              <a:tblPr bandRow="1" firstRow="1">
                <a:noFill/>
                <a:tableStyleId>{8A4FC7C1-832E-43D6-9C7B-4F2FEC330DA2}</a:tableStyleId>
              </a:tblPr>
              <a:tblGrid>
                <a:gridCol w="1472575"/>
                <a:gridCol w="1428125"/>
                <a:gridCol w="1951350"/>
              </a:tblGrid>
              <a:tr h="4146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724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724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Date and Time</a:t>
                      </a:r>
                      <a:endParaRPr sz="1600" u="none" cap="none" strike="noStrike">
                        <a:latin typeface="Calibri"/>
                        <a:ea typeface="Calibri"/>
                        <a:cs typeface="Calibri"/>
                        <a:sym typeface="Calibri"/>
                      </a:endParaRPr>
                    </a:p>
                  </a:txBody>
                  <a:tcPr marT="724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708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Angelina</a:t>
                      </a:r>
                      <a:endParaRPr sz="1600" u="none" cap="none" strike="noStrike">
                        <a:latin typeface="Calibri"/>
                        <a:ea typeface="Calibri"/>
                        <a:cs typeface="Calibri"/>
                        <a:sym typeface="Calibri"/>
                      </a:endParaRPr>
                    </a:p>
                  </a:txBody>
                  <a:tcPr marT="50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Wright</a:t>
                      </a:r>
                      <a:endParaRPr sz="1600" u="none" cap="none" strike="noStrike">
                        <a:latin typeface="Calibri"/>
                        <a:ea typeface="Calibri"/>
                        <a:cs typeface="Calibri"/>
                        <a:sym typeface="Calibri"/>
                      </a:endParaRPr>
                    </a:p>
                  </a:txBody>
                  <a:tcPr marT="50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10-Jul-2017 17:20</a:t>
                      </a:r>
                      <a:endParaRPr sz="1600" u="none" cap="none" strike="noStrike">
                        <a:latin typeface="Calibri"/>
                        <a:ea typeface="Calibri"/>
                        <a:cs typeface="Calibri"/>
                        <a:sym typeface="Calibri"/>
                      </a:endParaRPr>
                    </a:p>
                  </a:txBody>
                  <a:tcPr marT="50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373" name="Google Shape;373;p42"/>
          <p:cNvSpPr txBox="1"/>
          <p:nvPr/>
        </p:nvSpPr>
        <p:spPr>
          <a:xfrm>
            <a:off x="405384" y="2648711"/>
            <a:ext cx="8345805" cy="1694814"/>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5562"/>
              </a:lnSpc>
              <a:spcBef>
                <a:spcPts val="0"/>
              </a:spcBef>
              <a:spcAft>
                <a:spcPts val="0"/>
              </a:spcAft>
              <a:buNone/>
            </a:pPr>
            <a:r>
              <a:rPr b="1" lang="en-US" sz="1600">
                <a:solidFill>
                  <a:srgbClr val="4E3629"/>
                </a:solidFill>
                <a:latin typeface="Courier New"/>
                <a:ea typeface="Courier New"/>
                <a:cs typeface="Courier New"/>
                <a:sym typeface="Courier New"/>
              </a:rPr>
              <a:t>INSERT INTO copy_employees</a:t>
            </a:r>
            <a:endParaRPr sz="1600">
              <a:latin typeface="Courier New"/>
              <a:ea typeface="Courier New"/>
              <a:cs typeface="Courier New"/>
              <a:sym typeface="Courier New"/>
            </a:endParaRPr>
          </a:p>
          <a:p>
            <a:pPr indent="243840" lvl="0" marL="0" marR="113411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(employee_id, first_name, last_name, email, phone_number, hire_date, job_id, salary)</a:t>
            </a:r>
            <a:endParaRPr sz="16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VALUES</a:t>
            </a:r>
            <a:endParaRPr sz="1600">
              <a:latin typeface="Courier New"/>
              <a:ea typeface="Courier New"/>
              <a:cs typeface="Courier New"/>
              <a:sym typeface="Courier New"/>
            </a:endParaRPr>
          </a:p>
          <a:p>
            <a:pPr indent="-121920" lvl="0" marL="364490" marR="76581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(303,'Angelina','Wright', 'awright','4159982010', </a:t>
            </a:r>
            <a:r>
              <a:rPr b="1" lang="en-US" sz="1600">
                <a:solidFill>
                  <a:srgbClr val="D1350F"/>
                </a:solidFill>
                <a:latin typeface="Courier New"/>
                <a:ea typeface="Courier New"/>
                <a:cs typeface="Courier New"/>
                <a:sym typeface="Courier New"/>
              </a:rPr>
              <a:t>TO_DATE('July 10, 2017 17:20', 'Month fmdd, yyyy HH24:MI')</a:t>
            </a:r>
            <a:r>
              <a:rPr b="1" lang="en-US" sz="1600">
                <a:solidFill>
                  <a:srgbClr val="4E3629"/>
                </a:solidFill>
                <a:latin typeface="Courier New"/>
                <a:ea typeface="Courier New"/>
                <a:cs typeface="Courier New"/>
                <a:sym typeface="Courier New"/>
              </a:rPr>
              <a:t>,</a:t>
            </a:r>
            <a:endParaRPr sz="1600">
              <a:latin typeface="Courier New"/>
              <a:ea typeface="Courier New"/>
              <a:cs typeface="Courier New"/>
              <a:sym typeface="Courier New"/>
            </a:endParaRPr>
          </a:p>
          <a:p>
            <a:pPr indent="0" lvl="0" marL="36449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'MK_REP', 3600);</a:t>
            </a:r>
            <a:endParaRPr sz="1600">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3"/>
          <p:cNvSpPr txBox="1"/>
          <p:nvPr>
            <p:ph type="title"/>
          </p:nvPr>
        </p:nvSpPr>
        <p:spPr>
          <a:xfrm>
            <a:off x="392112" y="748031"/>
            <a:ext cx="6999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una Subconsulta para Copiar Filas</a:t>
            </a:r>
            <a:endParaRPr/>
          </a:p>
        </p:txBody>
      </p:sp>
      <p:sp>
        <p:nvSpPr>
          <p:cNvPr id="379" name="Google Shape;379;p43"/>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380" name="Google Shape;380;p4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81" name="Google Shape;381;p4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82" name="Google Shape;382;p43"/>
          <p:cNvSpPr txBox="1"/>
          <p:nvPr/>
        </p:nvSpPr>
        <p:spPr>
          <a:xfrm>
            <a:off x="483552" y="1415417"/>
            <a:ext cx="7816850" cy="3931285"/>
          </a:xfrm>
          <a:prstGeom prst="rect">
            <a:avLst/>
          </a:prstGeom>
          <a:noFill/>
          <a:ln>
            <a:noFill/>
          </a:ln>
        </p:spPr>
        <p:txBody>
          <a:bodyPr anchorCtr="0" anchor="t" bIns="0" lIns="0" spcFirstLastPara="1" rIns="0" wrap="square" tIns="59675">
            <a:spAutoFit/>
          </a:bodyPr>
          <a:lstStyle/>
          <a:p>
            <a:pPr indent="-177800" lvl="0" marL="182880" marR="70104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Cada sentencia INSERT que hemos visto hasta el 	momento solo agrega una fila a la tabla</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embargo, suponga que deseamos copiar 100 filas 	de una tabla a otra</a:t>
            </a:r>
            <a:endParaRPr sz="2800">
              <a:latin typeface="Calibri"/>
              <a:ea typeface="Calibri"/>
              <a:cs typeface="Calibri"/>
              <a:sym typeface="Calibri"/>
            </a:endParaRPr>
          </a:p>
          <a:p>
            <a:pPr indent="-177800" lvl="0" marL="182880" marR="66738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queremos tener que escribir y ejecutar 100 	sentencias INSERT independientes, una tras otra</a:t>
            </a:r>
            <a:endParaRPr sz="2800">
              <a:latin typeface="Calibri"/>
              <a:ea typeface="Calibri"/>
              <a:cs typeface="Calibri"/>
              <a:sym typeface="Calibri"/>
            </a:endParaRPr>
          </a:p>
          <a:p>
            <a:pPr indent="-177800" lvl="0" marL="183515"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Eso llevaría mucho tiempo</a:t>
            </a:r>
            <a:endParaRPr sz="2800">
              <a:latin typeface="Calibri"/>
              <a:ea typeface="Calibri"/>
              <a:cs typeface="Calibri"/>
              <a:sym typeface="Calibri"/>
            </a:endParaRPr>
          </a:p>
          <a:p>
            <a:pPr indent="-177800" lvl="0" marL="182880" marR="825500" rtl="0" algn="l">
              <a:lnSpc>
                <a:spcPct val="108214"/>
              </a:lnSpc>
              <a:spcBef>
                <a:spcPts val="84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Afortunadamente, SQL nos permite utilizar una 	subconsulta dentro de una sentencia INSERT</a:t>
            </a:r>
            <a:endParaRPr sz="2800">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4"/>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una Subconsulta para Copiar Filas</a:t>
            </a:r>
            <a:endParaRPr/>
          </a:p>
        </p:txBody>
      </p:sp>
      <p:sp>
        <p:nvSpPr>
          <p:cNvPr id="388" name="Google Shape;388;p44"/>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389" name="Google Shape;389;p4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90" name="Google Shape;390;p4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91" name="Google Shape;391;p44"/>
          <p:cNvSpPr txBox="1"/>
          <p:nvPr/>
        </p:nvSpPr>
        <p:spPr>
          <a:xfrm>
            <a:off x="483552" y="1415417"/>
            <a:ext cx="8133715" cy="33445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Todos los resultados de la subconsulta se insertan en la 	tabla</a:t>
            </a:r>
            <a:endParaRPr sz="2800">
              <a:latin typeface="Calibri"/>
              <a:ea typeface="Calibri"/>
              <a:cs typeface="Calibri"/>
              <a:sym typeface="Calibri"/>
            </a:endParaRPr>
          </a:p>
          <a:p>
            <a:pPr indent="-177800" lvl="0" marL="182880" marR="1270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lo tanto podamos copiar 100 filas (o 1000 filas) con 	una subconsulta de varias filas en INSERT</a:t>
            </a:r>
            <a:endParaRPr sz="2800">
              <a:latin typeface="Calibri"/>
              <a:ea typeface="Calibri"/>
              <a:cs typeface="Calibri"/>
              <a:sym typeface="Calibri"/>
            </a:endParaRPr>
          </a:p>
          <a:p>
            <a:pPr indent="-177800" lvl="0" marL="182880" marR="9461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era de esperar, no necesita una cláusula VALUES 	al utilizar una subconsulta para copiar filas porque los 	valores insertados serán exactamente los valores 	devueltos por la subconsulta</a:t>
            </a:r>
            <a:endParaRPr sz="2800">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5"/>
          <p:cNvSpPr txBox="1"/>
          <p:nvPr>
            <p:ph type="title"/>
          </p:nvPr>
        </p:nvSpPr>
        <p:spPr>
          <a:xfrm>
            <a:off x="392112" y="748031"/>
            <a:ext cx="6999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una Subconsulta para Copiar Filas</a:t>
            </a:r>
            <a:endParaRPr/>
          </a:p>
        </p:txBody>
      </p:sp>
      <p:sp>
        <p:nvSpPr>
          <p:cNvPr id="397" name="Google Shape;397;p45"/>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398" name="Google Shape;398;p4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99" name="Google Shape;399;p4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00" name="Google Shape;400;p45"/>
          <p:cNvSpPr txBox="1"/>
          <p:nvPr/>
        </p:nvSpPr>
        <p:spPr>
          <a:xfrm>
            <a:off x="483552" y="1415417"/>
            <a:ext cx="8142605" cy="24745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que se muestra, una nueva tabla 	denominada SALES_REPS se está rellenando con copias 	de algunas de las filas y columnas de la tabla 	EMPLEADOS</a:t>
            </a:r>
            <a:endParaRPr sz="2800">
              <a:latin typeface="Calibri"/>
              <a:ea typeface="Calibri"/>
              <a:cs typeface="Calibri"/>
              <a:sym typeface="Calibri"/>
            </a:endParaRPr>
          </a:p>
          <a:p>
            <a:pPr indent="-177800" lvl="0" marL="182880" marR="5270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cláusula WHERE selecciona aquellos empleados que 	tengan identificadores de trabajo como "%REP%"</a:t>
            </a:r>
            <a:endParaRPr sz="2800">
              <a:latin typeface="Calibri"/>
              <a:ea typeface="Calibri"/>
              <a:cs typeface="Calibri"/>
              <a:sym typeface="Calibri"/>
            </a:endParaRPr>
          </a:p>
        </p:txBody>
      </p:sp>
      <p:sp>
        <p:nvSpPr>
          <p:cNvPr id="401" name="Google Shape;401;p45"/>
          <p:cNvSpPr txBox="1"/>
          <p:nvPr/>
        </p:nvSpPr>
        <p:spPr>
          <a:xfrm>
            <a:off x="393191" y="4134611"/>
            <a:ext cx="8345805" cy="1275715"/>
          </a:xfrm>
          <a:prstGeom prst="rect">
            <a:avLst/>
          </a:prstGeom>
          <a:solidFill>
            <a:srgbClr val="9DBDC4">
              <a:alpha val="49804"/>
            </a:srgbClr>
          </a:solidFill>
          <a:ln>
            <a:noFill/>
          </a:ln>
        </p:spPr>
        <p:txBody>
          <a:bodyPr anchorCtr="0" anchor="t" bIns="0" lIns="0" spcFirstLastPara="1" rIns="0" wrap="square" tIns="61575">
            <a:spAutoFit/>
          </a:bodyPr>
          <a:lstStyle/>
          <a:p>
            <a:pPr indent="-546735" lvl="0" marL="546735" marR="55753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INSERT INTO sales_reps(id, name, salary, commission_pct) SELECT employee_id, last_name, salary, commission_pct FROM	employees</a:t>
            </a:r>
            <a:endParaRPr sz="1800">
              <a:latin typeface="Courier New"/>
              <a:ea typeface="Courier New"/>
              <a:cs typeface="Courier New"/>
              <a:sym typeface="Courier New"/>
            </a:endParaRPr>
          </a:p>
          <a:p>
            <a:pPr indent="0" lvl="0" marL="5467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job_id LIKE '%REP%';</a:t>
            </a:r>
            <a:endParaRPr sz="1800">
              <a:latin typeface="Courier New"/>
              <a:ea typeface="Courier New"/>
              <a:cs typeface="Courier New"/>
              <a:sym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6"/>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una Subconsulta para Copiar Filas</a:t>
            </a:r>
            <a:endParaRPr/>
          </a:p>
        </p:txBody>
      </p:sp>
      <p:sp>
        <p:nvSpPr>
          <p:cNvPr id="407" name="Google Shape;407;p46"/>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408" name="Google Shape;408;p4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09" name="Google Shape;409;p4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10" name="Google Shape;410;p46"/>
          <p:cNvSpPr txBox="1"/>
          <p:nvPr/>
        </p:nvSpPr>
        <p:spPr>
          <a:xfrm>
            <a:off x="483552" y="1415417"/>
            <a:ext cx="8057515" cy="28587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número de columnas y sus tipos de dato de la lista 	de columnas de la cláusula INSERT deben coincidir con 	el número de columnas y sus tipos de dato de la 	subconsulta</a:t>
            </a:r>
            <a:endParaRPr sz="2800">
              <a:latin typeface="Calibri"/>
              <a:ea typeface="Calibri"/>
              <a:cs typeface="Calibri"/>
              <a:sym typeface="Calibri"/>
            </a:endParaRPr>
          </a:p>
          <a:p>
            <a:pPr indent="-177800" lvl="0" marL="182880" marR="83185" rtl="0" algn="just">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subconsulta no está incluida entre paréntesis como 	se hace con las subconsultas en la cláusula WHERE de 	una sentencia SELECT</a:t>
            </a:r>
            <a:endParaRPr sz="2800">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7"/>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una Subconsulta para Copiar Filas</a:t>
            </a:r>
            <a:endParaRPr/>
          </a:p>
        </p:txBody>
      </p:sp>
      <p:sp>
        <p:nvSpPr>
          <p:cNvPr id="416" name="Google Shape;416;p47"/>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417" name="Google Shape;417;p4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18" name="Google Shape;418;p4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19" name="Google Shape;419;p47"/>
          <p:cNvSpPr txBox="1"/>
          <p:nvPr/>
        </p:nvSpPr>
        <p:spPr>
          <a:xfrm>
            <a:off x="483552" y="1415417"/>
            <a:ext cx="8009255" cy="2090420"/>
          </a:xfrm>
          <a:prstGeom prst="rect">
            <a:avLst/>
          </a:prstGeom>
          <a:noFill/>
          <a:ln>
            <a:noFill/>
          </a:ln>
        </p:spPr>
        <p:txBody>
          <a:bodyPr anchorCtr="0" anchor="t" bIns="0" lIns="0" spcFirstLastPara="1" rIns="0" wrap="square" tIns="59675">
            <a:spAutoFit/>
          </a:bodyPr>
          <a:lstStyle/>
          <a:p>
            <a:pPr indent="-177800" lvl="0" marL="182880" marR="4368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deseamos copiar todos los datos: todas las filas y 	todas las columnas: la sintaxis es aún más sencilla</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seleccionar todas las filas de la tabla EMPLEADOS 	e insertarlos en la tabla SALES_REPS, la sentencia se 	escribe de la siguiente forma:</a:t>
            </a:r>
            <a:endParaRPr sz="2800">
              <a:latin typeface="Calibri"/>
              <a:ea typeface="Calibri"/>
              <a:cs typeface="Calibri"/>
              <a:sym typeface="Calibri"/>
            </a:endParaRPr>
          </a:p>
        </p:txBody>
      </p:sp>
      <p:sp>
        <p:nvSpPr>
          <p:cNvPr id="420" name="Google Shape;420;p47"/>
          <p:cNvSpPr txBox="1"/>
          <p:nvPr/>
        </p:nvSpPr>
        <p:spPr>
          <a:xfrm>
            <a:off x="483552" y="4510661"/>
            <a:ext cx="7931150"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 nuevo, esto solo funcionará si ambas tablas tienen 	el mismo número de columnas que coincida con los 	tipos de dato y que estén en el mismo orden</a:t>
            </a:r>
            <a:endParaRPr sz="2800">
              <a:latin typeface="Calibri"/>
              <a:ea typeface="Calibri"/>
              <a:cs typeface="Calibri"/>
              <a:sym typeface="Calibri"/>
            </a:endParaRPr>
          </a:p>
        </p:txBody>
      </p:sp>
      <p:sp>
        <p:nvSpPr>
          <p:cNvPr id="421" name="Google Shape;421;p47"/>
          <p:cNvSpPr txBox="1"/>
          <p:nvPr/>
        </p:nvSpPr>
        <p:spPr>
          <a:xfrm>
            <a:off x="405384" y="3604259"/>
            <a:ext cx="8345805" cy="83058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9722"/>
              </a:lnSpc>
              <a:spcBef>
                <a:spcPts val="0"/>
              </a:spcBef>
              <a:spcAft>
                <a:spcPts val="0"/>
              </a:spcAft>
              <a:buNone/>
            </a:pPr>
            <a:r>
              <a:rPr b="1" lang="en-US" sz="1800">
                <a:solidFill>
                  <a:srgbClr val="4E3629"/>
                </a:solidFill>
                <a:latin typeface="Courier New"/>
                <a:ea typeface="Courier New"/>
                <a:cs typeface="Courier New"/>
                <a:sym typeface="Courier New"/>
              </a:rPr>
              <a:t>INSERT INTO sales_reps</a:t>
            </a:r>
            <a:endParaRPr sz="1800">
              <a:latin typeface="Courier New"/>
              <a:ea typeface="Courier New"/>
              <a:cs typeface="Courier New"/>
              <a:sym typeface="Courier New"/>
            </a:endParaRPr>
          </a:p>
          <a:p>
            <a:pPr indent="0" lvl="0" marL="408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408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8"/>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427" name="Google Shape;427;p48"/>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428" name="Google Shape;428;p4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29" name="Google Shape;429;p4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30" name="Google Shape;430;p48"/>
          <p:cNvSpPr txBox="1"/>
          <p:nvPr/>
        </p:nvSpPr>
        <p:spPr>
          <a:xfrm>
            <a:off x="483552" y="1415417"/>
            <a:ext cx="7704455" cy="23602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INSERT INTO</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USER</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Transaction</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Explícito</a:t>
            </a:r>
            <a:endParaRPr sz="2400">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9"/>
          <p:cNvSpPr txBox="1"/>
          <p:nvPr>
            <p:ph type="title"/>
          </p:nvPr>
        </p:nvSpPr>
        <p:spPr>
          <a:xfrm>
            <a:off x="392112" y="748031"/>
            <a:ext cx="7216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436" name="Google Shape;436;p49"/>
          <p:cNvSpPr txBox="1"/>
          <p:nvPr/>
        </p:nvSpPr>
        <p:spPr>
          <a:xfrm>
            <a:off x="483552" y="1393401"/>
            <a:ext cx="8179434" cy="364426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323215"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la importancia de poder modificar los datos de una base de datos</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sentencias INSERT que insertan una única fila con una cláusula VALUES</a:t>
            </a:r>
            <a:endParaRPr sz="2400">
              <a:latin typeface="Calibri"/>
              <a:ea typeface="Calibri"/>
              <a:cs typeface="Calibri"/>
              <a:sym typeface="Calibri"/>
            </a:endParaRPr>
          </a:p>
          <a:p>
            <a:pPr indent="-175260" lvl="0" marL="530860" marR="43815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sentencias INSERT que utilizan valores especiales, valores nulos y valores de fecha</a:t>
            </a:r>
            <a:endParaRPr sz="2400">
              <a:latin typeface="Calibri"/>
              <a:ea typeface="Calibri"/>
              <a:cs typeface="Calibri"/>
              <a:sym typeface="Calibri"/>
            </a:endParaRPr>
          </a:p>
          <a:p>
            <a:pPr indent="-175260" lvl="0" marL="530860" marR="512445" rtl="0" algn="l">
              <a:lnSpc>
                <a:spcPct val="107916"/>
              </a:lnSpc>
              <a:spcBef>
                <a:spcPts val="40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sentencias INSERT que copian filas de una tabla a otra mediante</a:t>
            </a:r>
            <a:endParaRPr sz="2400">
              <a:latin typeface="Calibri"/>
              <a:ea typeface="Calibri"/>
              <a:cs typeface="Calibri"/>
              <a:sym typeface="Calibri"/>
            </a:endParaRPr>
          </a:p>
          <a:p>
            <a:pPr indent="0" lvl="0" marL="530860" rtl="0" algn="l">
              <a:lnSpc>
                <a:spcPct val="106458"/>
              </a:lnSpc>
              <a:spcBef>
                <a:spcPts val="0"/>
              </a:spcBef>
              <a:spcAft>
                <a:spcPts val="0"/>
              </a:spcAft>
              <a:buNone/>
            </a:pPr>
            <a:r>
              <a:rPr lang="en-US" sz="2400">
                <a:solidFill>
                  <a:srgbClr val="4E3629"/>
                </a:solidFill>
                <a:latin typeface="Calibri"/>
                <a:ea typeface="Calibri"/>
                <a:cs typeface="Calibri"/>
                <a:sym typeface="Calibri"/>
              </a:rPr>
              <a:t>una subconsulta</a:t>
            </a:r>
            <a:endParaRPr sz="2400">
              <a:latin typeface="Calibri"/>
              <a:ea typeface="Calibri"/>
              <a:cs typeface="Calibri"/>
              <a:sym typeface="Calibri"/>
            </a:endParaRPr>
          </a:p>
        </p:txBody>
      </p:sp>
      <p:grpSp>
        <p:nvGrpSpPr>
          <p:cNvPr id="437" name="Google Shape;437;p49"/>
          <p:cNvGrpSpPr/>
          <p:nvPr/>
        </p:nvGrpSpPr>
        <p:grpSpPr>
          <a:xfrm>
            <a:off x="4994147" y="4299203"/>
            <a:ext cx="3758183" cy="2071103"/>
            <a:chOff x="4994147" y="4299203"/>
            <a:chExt cx="3758183" cy="2071103"/>
          </a:xfrm>
        </p:grpSpPr>
        <p:pic>
          <p:nvPicPr>
            <p:cNvPr id="438" name="Google Shape;438;p49"/>
            <p:cNvPicPr preferRelativeResize="0"/>
            <p:nvPr/>
          </p:nvPicPr>
          <p:blipFill rotWithShape="1">
            <a:blip r:embed="rId3">
              <a:alphaModFix/>
            </a:blip>
            <a:srcRect b="0" l="0" r="0" t="0"/>
            <a:stretch/>
          </p:blipFill>
          <p:spPr>
            <a:xfrm>
              <a:off x="4994147" y="4299203"/>
              <a:ext cx="3758183" cy="2071103"/>
            </a:xfrm>
            <a:prstGeom prst="rect">
              <a:avLst/>
            </a:prstGeom>
            <a:noFill/>
            <a:ln>
              <a:noFill/>
            </a:ln>
          </p:spPr>
        </p:pic>
        <p:pic>
          <p:nvPicPr>
            <p:cNvPr id="439" name="Google Shape;439;p49"/>
            <p:cNvPicPr preferRelativeResize="0"/>
            <p:nvPr/>
          </p:nvPicPr>
          <p:blipFill rotWithShape="1">
            <a:blip r:embed="rId4">
              <a:alphaModFix/>
            </a:blip>
            <a:srcRect b="0" l="0" r="0" t="0"/>
            <a:stretch/>
          </p:blipFill>
          <p:spPr>
            <a:xfrm>
              <a:off x="5186172" y="4491227"/>
              <a:ext cx="3374135" cy="1687067"/>
            </a:xfrm>
            <a:prstGeom prst="rect">
              <a:avLst/>
            </a:prstGeom>
            <a:noFill/>
            <a:ln>
              <a:noFill/>
            </a:ln>
          </p:spPr>
        </p:pic>
      </p:grpSp>
      <p:sp>
        <p:nvSpPr>
          <p:cNvPr id="440" name="Google Shape;440;p49"/>
          <p:cNvSpPr txBox="1"/>
          <p:nvPr>
            <p:ph idx="10" type="dt"/>
          </p:nvPr>
        </p:nvSpPr>
        <p:spPr>
          <a:xfrm>
            <a:off x="2874191" y="6516395"/>
            <a:ext cx="837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12-1</a:t>
            </a:r>
            <a:endParaRPr/>
          </a:p>
          <a:p>
            <a:pPr indent="0" lvl="0" marL="12700" rtl="0" algn="l">
              <a:lnSpc>
                <a:spcPct val="120624"/>
              </a:lnSpc>
              <a:spcBef>
                <a:spcPts val="0"/>
              </a:spcBef>
              <a:spcAft>
                <a:spcPts val="0"/>
              </a:spcAft>
              <a:buNone/>
            </a:pPr>
            <a:r>
              <a:rPr lang="en-US"/>
              <a:t>Sentencias INSERT</a:t>
            </a:r>
            <a:endParaRPr/>
          </a:p>
        </p:txBody>
      </p:sp>
      <p:sp>
        <p:nvSpPr>
          <p:cNvPr id="441" name="Google Shape;441;p4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42" name="Google Shape;442;p4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