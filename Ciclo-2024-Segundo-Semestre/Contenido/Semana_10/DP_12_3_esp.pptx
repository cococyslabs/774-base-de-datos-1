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38A8C3B-A392-4931-82B0-F71F3AFECD71}">
  <a:tblStyle styleId="{538A8C3B-A392-4931-82B0-F71F3AFECD71}"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14:03:26</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Un almacén de datos es una recopilación de datos diseñada para soportar la toma de decisiones relacionada con la gestión empresarial. Los almacenes de datos contienen una amplia variedad de datos como, por ejemplo, datos de ventas, de clientes, de nóminas, de contabilidad y de personal, que presentan una imagen coherente de las condiciones empresariales en un solo punto en el tiempo.</a:t>
            </a:r>
            <a:endParaRPr/>
          </a:p>
        </p:txBody>
      </p:sp>
      <p:sp>
        <p:nvSpPr>
          <p:cNvPr id="82" name="Google Shape;82;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14:03:28</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 creación y la modificación de tablas se tratarán más detalladamente más adelante en el curso.</a:t>
            </a:r>
            <a:endParaRPr/>
          </a:p>
        </p:txBody>
      </p:sp>
      <p:sp>
        <p:nvSpPr>
          <p:cNvPr id="118" name="Google Shape;118;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14:03:29</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Si se ha especificado un valor por defecto para la columna hire_date al crear la tabla, Oracle asigna el valor por defecto a la columna. Sin embargo, si no se ha especificado ningún valor por defecto, Oracle asigna un valor nulo.</a:t>
            </a:r>
            <a:endParaRPr/>
          </a:p>
        </p:txBody>
      </p:sp>
      <p:sp>
        <p:nvSpPr>
          <p:cNvPr id="129" name="Google Shape;129;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14:03:30</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create table copy_emp as (Select * from employees where department_id &gt; 100); select * from copy_emp;</a:t>
            </a:r>
            <a:endParaRPr/>
          </a:p>
          <a:p>
            <a:pPr indent="0" lvl="0" marL="0" rtl="0" algn="l">
              <a:spcBef>
                <a:spcPts val="0"/>
              </a:spcBef>
              <a:spcAft>
                <a:spcPts val="0"/>
              </a:spcAft>
              <a:buNone/>
            </a:pPr>
            <a:r>
              <a:rPr lang="en-US"/>
              <a:t>update copy_emp</a:t>
            </a:r>
            <a:endParaRPr/>
          </a:p>
          <a:p>
            <a:pPr indent="0" lvl="0" marL="0" rtl="0" algn="l">
              <a:spcBef>
                <a:spcPts val="0"/>
              </a:spcBef>
              <a:spcAft>
                <a:spcPts val="0"/>
              </a:spcAft>
              <a:buNone/>
            </a:pPr>
            <a:r>
              <a:rPr lang="en-US"/>
              <a:t>set last_name = 'Cotton' where employee_id = 205; select * from copy_emp;</a:t>
            </a:r>
            <a:endParaRPr/>
          </a:p>
          <a:p>
            <a:pPr indent="0" lvl="0" marL="0" rtl="0" algn="l">
              <a:spcBef>
                <a:spcPts val="0"/>
              </a:spcBef>
              <a:spcAft>
                <a:spcPts val="0"/>
              </a:spcAft>
              <a:buNone/>
            </a:pPr>
            <a:r>
              <a:rPr lang="en-US"/>
              <a:t>MERGE INTO copy_emp c USING employees e</a:t>
            </a:r>
            <a:endParaRPr/>
          </a:p>
          <a:p>
            <a:pPr indent="0" lvl="0" marL="0" rtl="0" algn="l">
              <a:spcBef>
                <a:spcPts val="0"/>
              </a:spcBef>
              <a:spcAft>
                <a:spcPts val="0"/>
              </a:spcAft>
              <a:buNone/>
            </a:pPr>
            <a:r>
              <a:rPr lang="en-US"/>
              <a:t> ON (c.employee_id = e.employee_id) WHEN MATCHED THEN UPDATE</a:t>
            </a:r>
            <a:endParaRPr/>
          </a:p>
          <a:p>
            <a:pPr indent="0" lvl="0" marL="0" rtl="0" algn="l">
              <a:spcBef>
                <a:spcPts val="0"/>
              </a:spcBef>
              <a:spcAft>
                <a:spcPts val="0"/>
              </a:spcAft>
              <a:buNone/>
            </a:pPr>
            <a:r>
              <a:rPr lang="en-US"/>
              <a:t>  SET</a:t>
            </a:r>
            <a:endParaRPr/>
          </a:p>
          <a:p>
            <a:pPr indent="0" lvl="0" marL="0" rtl="0" algn="l">
              <a:spcBef>
                <a:spcPts val="0"/>
              </a:spcBef>
              <a:spcAft>
                <a:spcPts val="0"/>
              </a:spcAft>
              <a:buNone/>
            </a:pPr>
            <a:r>
              <a:rPr lang="en-US"/>
              <a:t>  c.last_name = e.last_name,</a:t>
            </a:r>
            <a:endParaRPr/>
          </a:p>
          <a:p>
            <a:pPr indent="0" lvl="0" marL="0" rtl="0" algn="l">
              <a:spcBef>
                <a:spcPts val="0"/>
              </a:spcBef>
              <a:spcAft>
                <a:spcPts val="0"/>
              </a:spcAft>
              <a:buNone/>
            </a:pPr>
            <a:r>
              <a:rPr lang="en-US"/>
              <a:t>  c.department_id = e.department_id WHEN NOT MATCHED THEN INSERT </a:t>
            </a:r>
            <a:endParaRPr/>
          </a:p>
          <a:p>
            <a:pPr indent="0" lvl="0" marL="0" rtl="0" algn="l">
              <a:spcBef>
                <a:spcPts val="0"/>
              </a:spcBef>
              <a:spcAft>
                <a:spcPts val="0"/>
              </a:spcAft>
              <a:buNone/>
            </a:pPr>
            <a:r>
              <a:rPr lang="en-US"/>
              <a:t>  VALUES (e.employee_id, e.first_name, e.last_name, e.email, e.phone_number, e.hire_date, e.job_id, e.salary, e.commission_pct, e.manager_id, e.department_id, e.bonus); select * from copy_emp;</a:t>
            </a:r>
            <a:endParaRPr/>
          </a:p>
          <a:p>
            <a:pPr indent="0" lvl="0" marL="0" rtl="0" algn="l">
              <a:spcBef>
                <a:spcPts val="0"/>
              </a:spcBef>
              <a:spcAft>
                <a:spcPts val="0"/>
              </a:spcAft>
              <a:buNone/>
            </a:pPr>
            <a:r>
              <a:rPr lang="en-US"/>
              <a:t>drop table copy_emp;</a:t>
            </a:r>
            <a:endParaRPr/>
          </a:p>
        </p:txBody>
      </p:sp>
      <p:sp>
        <p:nvSpPr>
          <p:cNvPr id="172" name="Google Shape;172;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14:03:31</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create table copy_emp as (Select * from employees where department_id &gt; 100); select * from copy_emp;</a:t>
            </a:r>
            <a:endParaRPr/>
          </a:p>
          <a:p>
            <a:pPr indent="0" lvl="0" marL="0" rtl="0" algn="l">
              <a:spcBef>
                <a:spcPts val="0"/>
              </a:spcBef>
              <a:spcAft>
                <a:spcPts val="0"/>
              </a:spcAft>
              <a:buNone/>
            </a:pPr>
            <a:r>
              <a:rPr lang="en-US"/>
              <a:t>update copy_emp</a:t>
            </a:r>
            <a:endParaRPr/>
          </a:p>
          <a:p>
            <a:pPr indent="0" lvl="0" marL="0" rtl="0" algn="l">
              <a:spcBef>
                <a:spcPts val="0"/>
              </a:spcBef>
              <a:spcAft>
                <a:spcPts val="0"/>
              </a:spcAft>
              <a:buNone/>
            </a:pPr>
            <a:r>
              <a:rPr lang="en-US"/>
              <a:t>set last_name = 'Cotton' where employee_id = 205; select * from copy_emp;</a:t>
            </a:r>
            <a:endParaRPr/>
          </a:p>
          <a:p>
            <a:pPr indent="0" lvl="0" marL="0" rtl="0" algn="l">
              <a:spcBef>
                <a:spcPts val="0"/>
              </a:spcBef>
              <a:spcAft>
                <a:spcPts val="0"/>
              </a:spcAft>
              <a:buNone/>
            </a:pPr>
            <a:r>
              <a:rPr lang="en-US"/>
              <a:t>MERGE INTO copy_emp c USING employees e</a:t>
            </a:r>
            <a:endParaRPr/>
          </a:p>
          <a:p>
            <a:pPr indent="0" lvl="0" marL="0" rtl="0" algn="l">
              <a:spcBef>
                <a:spcPts val="0"/>
              </a:spcBef>
              <a:spcAft>
                <a:spcPts val="0"/>
              </a:spcAft>
              <a:buNone/>
            </a:pPr>
            <a:r>
              <a:rPr lang="en-US"/>
              <a:t> ON (c.employee_id = e.employee_id) WHEN MATCHED THEN UPDATE</a:t>
            </a:r>
            <a:endParaRPr/>
          </a:p>
          <a:p>
            <a:pPr indent="0" lvl="0" marL="0" rtl="0" algn="l">
              <a:spcBef>
                <a:spcPts val="0"/>
              </a:spcBef>
              <a:spcAft>
                <a:spcPts val="0"/>
              </a:spcAft>
              <a:buNone/>
            </a:pPr>
            <a:r>
              <a:rPr lang="en-US"/>
              <a:t>  SET</a:t>
            </a:r>
            <a:endParaRPr/>
          </a:p>
          <a:p>
            <a:pPr indent="0" lvl="0" marL="0" rtl="0" algn="l">
              <a:spcBef>
                <a:spcPts val="0"/>
              </a:spcBef>
              <a:spcAft>
                <a:spcPts val="0"/>
              </a:spcAft>
              <a:buNone/>
            </a:pPr>
            <a:r>
              <a:rPr lang="en-US"/>
              <a:t>  c.last_name = e.last_name,</a:t>
            </a:r>
            <a:endParaRPr/>
          </a:p>
          <a:p>
            <a:pPr indent="0" lvl="0" marL="0" rtl="0" algn="l">
              <a:spcBef>
                <a:spcPts val="0"/>
              </a:spcBef>
              <a:spcAft>
                <a:spcPts val="0"/>
              </a:spcAft>
              <a:buNone/>
            </a:pPr>
            <a:r>
              <a:rPr lang="en-US"/>
              <a:t>  c.department_id = e.department_id WHEN NOT MATCHED THEN INSERT </a:t>
            </a:r>
            <a:endParaRPr/>
          </a:p>
          <a:p>
            <a:pPr indent="0" lvl="0" marL="0" rtl="0" algn="l">
              <a:spcBef>
                <a:spcPts val="0"/>
              </a:spcBef>
              <a:spcAft>
                <a:spcPts val="0"/>
              </a:spcAft>
              <a:buNone/>
            </a:pPr>
            <a:r>
              <a:rPr lang="en-US"/>
              <a:t>  VALUES (e.employee_id, e.first_name, e.last_name, e.email, e.phone_number, e.hire_date, e.job_id, e.salary, e.commission_pct, e.manager_id, e.department_id, e.bonus); select * from copy_emp;</a:t>
            </a:r>
            <a:endParaRPr/>
          </a:p>
          <a:p>
            <a:pPr indent="0" lvl="0" marL="0" rtl="0" algn="l">
              <a:spcBef>
                <a:spcPts val="0"/>
              </a:spcBef>
              <a:spcAft>
                <a:spcPts val="0"/>
              </a:spcAft>
              <a:buNone/>
            </a:pPr>
            <a:r>
              <a:rPr lang="en-US"/>
              <a:t>drop table copy_emp;</a:t>
            </a:r>
            <a:endParaRPr/>
          </a:p>
        </p:txBody>
      </p:sp>
      <p:sp>
        <p:nvSpPr>
          <p:cNvPr id="183" name="Google Shape;183;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14:03:31</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create table copy_emp as (Select * from employees where department_id &gt; 100); select * from copy_emp;</a:t>
            </a:r>
            <a:endParaRPr/>
          </a:p>
          <a:p>
            <a:pPr indent="0" lvl="0" marL="0" rtl="0" algn="l">
              <a:spcBef>
                <a:spcPts val="0"/>
              </a:spcBef>
              <a:spcAft>
                <a:spcPts val="0"/>
              </a:spcAft>
              <a:buNone/>
            </a:pPr>
            <a:r>
              <a:rPr lang="en-US"/>
              <a:t>update copy_emp</a:t>
            </a:r>
            <a:endParaRPr/>
          </a:p>
          <a:p>
            <a:pPr indent="0" lvl="0" marL="0" rtl="0" algn="l">
              <a:spcBef>
                <a:spcPts val="0"/>
              </a:spcBef>
              <a:spcAft>
                <a:spcPts val="0"/>
              </a:spcAft>
              <a:buNone/>
            </a:pPr>
            <a:r>
              <a:rPr lang="en-US"/>
              <a:t>set last_name = 'Cotton' where employee_id = 205; select * from copy_emp;</a:t>
            </a:r>
            <a:endParaRPr/>
          </a:p>
          <a:p>
            <a:pPr indent="0" lvl="0" marL="0" rtl="0" algn="l">
              <a:spcBef>
                <a:spcPts val="0"/>
              </a:spcBef>
              <a:spcAft>
                <a:spcPts val="0"/>
              </a:spcAft>
              <a:buNone/>
            </a:pPr>
            <a:r>
              <a:rPr lang="en-US"/>
              <a:t>MERGE INTO copy_emp c USING employees e</a:t>
            </a:r>
            <a:endParaRPr/>
          </a:p>
          <a:p>
            <a:pPr indent="0" lvl="0" marL="0" rtl="0" algn="l">
              <a:spcBef>
                <a:spcPts val="0"/>
              </a:spcBef>
              <a:spcAft>
                <a:spcPts val="0"/>
              </a:spcAft>
              <a:buNone/>
            </a:pPr>
            <a:r>
              <a:rPr lang="en-US"/>
              <a:t> ON (c.employee_id = e.employee_id) WHEN MATCHED THEN UPDATE</a:t>
            </a:r>
            <a:endParaRPr/>
          </a:p>
          <a:p>
            <a:pPr indent="0" lvl="0" marL="0" rtl="0" algn="l">
              <a:spcBef>
                <a:spcPts val="0"/>
              </a:spcBef>
              <a:spcAft>
                <a:spcPts val="0"/>
              </a:spcAft>
              <a:buNone/>
            </a:pPr>
            <a:r>
              <a:rPr lang="en-US"/>
              <a:t>  SET</a:t>
            </a:r>
            <a:endParaRPr/>
          </a:p>
          <a:p>
            <a:pPr indent="0" lvl="0" marL="0" rtl="0" algn="l">
              <a:spcBef>
                <a:spcPts val="0"/>
              </a:spcBef>
              <a:spcAft>
                <a:spcPts val="0"/>
              </a:spcAft>
              <a:buNone/>
            </a:pPr>
            <a:r>
              <a:rPr lang="en-US"/>
              <a:t>  c.last_name = e.last_name,</a:t>
            </a:r>
            <a:endParaRPr/>
          </a:p>
          <a:p>
            <a:pPr indent="0" lvl="0" marL="0" rtl="0" algn="l">
              <a:spcBef>
                <a:spcPts val="0"/>
              </a:spcBef>
              <a:spcAft>
                <a:spcPts val="0"/>
              </a:spcAft>
              <a:buNone/>
            </a:pPr>
            <a:r>
              <a:rPr lang="en-US"/>
              <a:t>  c.department_id = e.department_id WHEN NOT MATCHED THEN INSERT </a:t>
            </a:r>
            <a:endParaRPr/>
          </a:p>
          <a:p>
            <a:pPr indent="0" lvl="0" marL="0" rtl="0" algn="l">
              <a:spcBef>
                <a:spcPts val="0"/>
              </a:spcBef>
              <a:spcAft>
                <a:spcPts val="0"/>
              </a:spcAft>
              <a:buNone/>
            </a:pPr>
            <a:r>
              <a:rPr lang="en-US"/>
              <a:t>  VALUES (e.employee_id, e.first_name, e.last_name, e.email, e.phone_number, e.hire_date, e.job_id, e.salary, e.commission_pct, e.manager_id, e.department_id, e.bonus); select * from copy_emp;</a:t>
            </a:r>
            <a:endParaRPr/>
          </a:p>
          <a:p>
            <a:pPr indent="0" lvl="0" marL="0" rtl="0" algn="l">
              <a:spcBef>
                <a:spcPts val="0"/>
              </a:spcBef>
              <a:spcAft>
                <a:spcPts val="0"/>
              </a:spcAft>
              <a:buNone/>
            </a:pPr>
            <a:r>
              <a:rPr lang="en-US"/>
              <a:t>drop table copy_emp;</a:t>
            </a:r>
            <a:endParaRPr/>
          </a:p>
        </p:txBody>
      </p:sp>
      <p:sp>
        <p:nvSpPr>
          <p:cNvPr id="194" name="Google Shape;194;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14:03:33</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Nota: hay ocasiones en que la cláusula WHEN no es necesaria, consulte el ejemplo de la diapositiva siguiente.</a:t>
            </a:r>
            <a:endParaRPr/>
          </a:p>
        </p:txBody>
      </p:sp>
      <p:sp>
        <p:nvSpPr>
          <p:cNvPr id="235" name="Google Shape;235;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14:03:33</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Para obtener ejemplos más detallados incluido el uso de FIRST y ELSE, visite http://docs.oracle.com/cd/B19306_01/server.102/b14200/statements_9014.htm#i2125362</a:t>
            </a:r>
            <a:endParaRPr/>
          </a:p>
        </p:txBody>
      </p:sp>
      <p:sp>
        <p:nvSpPr>
          <p:cNvPr id="244" name="Google Shape;244;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14:03:34</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Esta inserción en varias tablas recuperará las filas de la sentencia SELECT e INSERTARÁ las filas en la tabla my_employees y copy_my_employees.</a:t>
            </a:r>
            <a:endParaRPr/>
          </a:p>
          <a:p>
            <a:pPr indent="0" lvl="0" marL="0" rtl="0" algn="l">
              <a:spcBef>
                <a:spcPts val="0"/>
              </a:spcBef>
              <a:spcAft>
                <a:spcPts val="0"/>
              </a:spcAft>
              <a:buNone/>
            </a:pPr>
            <a:r>
              <a:rPr lang="en-US"/>
              <a:t>INSERT ALL necesita una sentencia SELECT para ejecutarse. Sin embargo, podemos utilizar la tabla ficticia DUAL para realizar varias sentencias INSERT en una única tabla, por ejemplo: INSERT ALL</a:t>
            </a:r>
            <a:endParaRPr/>
          </a:p>
          <a:p>
            <a:pPr indent="0" lvl="0" marL="0" rtl="0" algn="l">
              <a:spcBef>
                <a:spcPts val="0"/>
              </a:spcBef>
              <a:spcAft>
                <a:spcPts val="0"/>
              </a:spcAft>
              <a:buNone/>
            </a:pPr>
            <a:r>
              <a:rPr lang="en-US"/>
              <a:t> INTO copy_employees</a:t>
            </a:r>
            <a:endParaRPr/>
          </a:p>
          <a:p>
            <a:pPr indent="0" lvl="0" marL="0" rtl="0" algn="l">
              <a:spcBef>
                <a:spcPts val="0"/>
              </a:spcBef>
              <a:spcAft>
                <a:spcPts val="0"/>
              </a:spcAft>
              <a:buNone/>
            </a:pPr>
            <a:r>
              <a:rPr lang="en-US"/>
              <a:t> (employee_id, first_name, last_name, email, phone_number, hire_date, job_id, salary)</a:t>
            </a:r>
            <a:endParaRPr/>
          </a:p>
          <a:p>
            <a:pPr indent="0" lvl="0" marL="0" rtl="0" algn="l">
              <a:spcBef>
                <a:spcPts val="0"/>
              </a:spcBef>
              <a:spcAft>
                <a:spcPts val="0"/>
              </a:spcAft>
              <a:buNone/>
            </a:pPr>
            <a:r>
              <a:rPr lang="en-US"/>
              <a:t> VALUES</a:t>
            </a:r>
            <a:endParaRPr/>
          </a:p>
          <a:p>
            <a:pPr indent="0" lvl="0" marL="0" rtl="0" algn="l">
              <a:spcBef>
                <a:spcPts val="0"/>
              </a:spcBef>
              <a:spcAft>
                <a:spcPts val="0"/>
              </a:spcAft>
              <a:buNone/>
            </a:pPr>
            <a:r>
              <a:rPr lang="en-US"/>
              <a:t> (304,'James','Parrot', 'jparrot', '912-699-4656', '15/Jul/2015', 'IT_PROG',4200)</a:t>
            </a:r>
            <a:endParaRPr/>
          </a:p>
          <a:p>
            <a:pPr indent="0" lvl="0" marL="0" rtl="0" algn="l">
              <a:spcBef>
                <a:spcPts val="0"/>
              </a:spcBef>
              <a:spcAft>
                <a:spcPts val="0"/>
              </a:spcAft>
              <a:buNone/>
            </a:pPr>
            <a:r>
              <a:rPr lang="en-US"/>
              <a:t> INTO copy_employees</a:t>
            </a:r>
            <a:endParaRPr/>
          </a:p>
          <a:p>
            <a:pPr indent="0" lvl="0" marL="0" rtl="0" algn="l">
              <a:spcBef>
                <a:spcPts val="0"/>
              </a:spcBef>
              <a:spcAft>
                <a:spcPts val="0"/>
              </a:spcAft>
              <a:buNone/>
            </a:pPr>
            <a:r>
              <a:rPr lang="en-US"/>
              <a:t> (employee_id, first_name, last_name, email, phone_number, hire_date, job_id, salary)</a:t>
            </a:r>
            <a:endParaRPr/>
          </a:p>
          <a:p>
            <a:pPr indent="0" lvl="0" marL="0" rtl="0" algn="l">
              <a:spcBef>
                <a:spcPts val="0"/>
              </a:spcBef>
              <a:spcAft>
                <a:spcPts val="0"/>
              </a:spcAft>
              <a:buNone/>
            </a:pPr>
            <a:r>
              <a:rPr lang="en-US"/>
              <a:t> VALUES</a:t>
            </a:r>
            <a:endParaRPr/>
          </a:p>
          <a:p>
            <a:pPr indent="0" lvl="0" marL="0" rtl="0" algn="l">
              <a:spcBef>
                <a:spcPts val="0"/>
              </a:spcBef>
              <a:spcAft>
                <a:spcPts val="0"/>
              </a:spcAft>
              <a:buNone/>
            </a:pPr>
            <a:r>
              <a:rPr lang="en-US"/>
              <a:t> (305,'Rebecca','Graham', 'rgraham', '480-678-4259', '15/Jun/2015', 'IT_PROG',4200) SELECT * FROM dual;</a:t>
            </a:r>
            <a:endParaRPr/>
          </a:p>
        </p:txBody>
      </p:sp>
      <p:sp>
        <p:nvSpPr>
          <p:cNvPr id="253" name="Google Shape;253;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14:03:34</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Esta inserción en varias tablas utiliza la condición WHEN. Si una fila de la sentencia SELECT coincide con los criterios de la condición WHEN, la fila se agrega a la tabla en la cláusula INTO. Nota: este ejemplo se utiliza para demostrar un uso en el mundo real para inserciones en varias tablas, pero como no existen tablas esta consulta no se ejecutarán en APEX.</a:t>
            </a:r>
            <a:endParaRPr/>
          </a:p>
        </p:txBody>
      </p:sp>
      <p:sp>
        <p:nvSpPr>
          <p:cNvPr id="265" name="Google Shape;265;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392112" y="748031"/>
            <a:ext cx="4742100" cy="528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83552" y="1415417"/>
            <a:ext cx="8176800" cy="44964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10" type="dt"/>
          </p:nvPr>
        </p:nvSpPr>
        <p:spPr>
          <a:xfrm>
            <a:off x="2874191" y="6449092"/>
            <a:ext cx="1263000" cy="3669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lvl1pPr indent="0" lvl="0" marL="38100">
              <a:lnSpc>
                <a:spcPct val="104500"/>
              </a:lnSpc>
              <a:spcBef>
                <a:spcPts val="0"/>
              </a:spcBef>
              <a:buNone/>
              <a:defRPr b="1" i="0" sz="1000">
                <a:solidFill>
                  <a:srgbClr val="4E3629"/>
                </a:solidFill>
                <a:latin typeface="Calibri"/>
                <a:ea typeface="Calibri"/>
                <a:cs typeface="Calibri"/>
                <a:sym typeface="Calibri"/>
              </a:defRPr>
            </a:lvl1pPr>
            <a:lvl2pPr indent="0" lvl="1" marL="38100">
              <a:lnSpc>
                <a:spcPct val="104500"/>
              </a:lnSpc>
              <a:spcBef>
                <a:spcPts val="0"/>
              </a:spcBef>
              <a:buNone/>
              <a:defRPr b="1" i="0" sz="1000">
                <a:solidFill>
                  <a:srgbClr val="4E3629"/>
                </a:solidFill>
                <a:latin typeface="Calibri"/>
                <a:ea typeface="Calibri"/>
                <a:cs typeface="Calibri"/>
                <a:sym typeface="Calibri"/>
              </a:defRPr>
            </a:lvl2pPr>
            <a:lvl3pPr indent="0" lvl="2" marL="38100">
              <a:lnSpc>
                <a:spcPct val="104500"/>
              </a:lnSpc>
              <a:spcBef>
                <a:spcPts val="0"/>
              </a:spcBef>
              <a:buNone/>
              <a:defRPr b="1" i="0" sz="1000">
                <a:solidFill>
                  <a:srgbClr val="4E3629"/>
                </a:solidFill>
                <a:latin typeface="Calibri"/>
                <a:ea typeface="Calibri"/>
                <a:cs typeface="Calibri"/>
                <a:sym typeface="Calibri"/>
              </a:defRPr>
            </a:lvl3pPr>
            <a:lvl4pPr indent="0" lvl="3" marL="38100">
              <a:lnSpc>
                <a:spcPct val="104500"/>
              </a:lnSpc>
              <a:spcBef>
                <a:spcPts val="0"/>
              </a:spcBef>
              <a:buNone/>
              <a:defRPr b="1" i="0" sz="1000">
                <a:solidFill>
                  <a:srgbClr val="4E3629"/>
                </a:solidFill>
                <a:latin typeface="Calibri"/>
                <a:ea typeface="Calibri"/>
                <a:cs typeface="Calibri"/>
                <a:sym typeface="Calibri"/>
              </a:defRPr>
            </a:lvl4pPr>
            <a:lvl5pPr indent="0" lvl="4" marL="38100">
              <a:lnSpc>
                <a:spcPct val="104500"/>
              </a:lnSpc>
              <a:spcBef>
                <a:spcPts val="0"/>
              </a:spcBef>
              <a:buNone/>
              <a:defRPr b="1" i="0" sz="1000">
                <a:solidFill>
                  <a:srgbClr val="4E3629"/>
                </a:solidFill>
                <a:latin typeface="Calibri"/>
                <a:ea typeface="Calibri"/>
                <a:cs typeface="Calibri"/>
                <a:sym typeface="Calibri"/>
              </a:defRPr>
            </a:lvl5pPr>
            <a:lvl6pPr indent="0" lvl="5" marL="38100">
              <a:lnSpc>
                <a:spcPct val="104500"/>
              </a:lnSpc>
              <a:spcBef>
                <a:spcPts val="0"/>
              </a:spcBef>
              <a:buNone/>
              <a:defRPr b="1" i="0" sz="1000">
                <a:solidFill>
                  <a:srgbClr val="4E3629"/>
                </a:solidFill>
                <a:latin typeface="Calibri"/>
                <a:ea typeface="Calibri"/>
                <a:cs typeface="Calibri"/>
                <a:sym typeface="Calibri"/>
              </a:defRPr>
            </a:lvl6pPr>
            <a:lvl7pPr indent="0" lvl="6" marL="38100">
              <a:lnSpc>
                <a:spcPct val="104500"/>
              </a:lnSpc>
              <a:spcBef>
                <a:spcPts val="0"/>
              </a:spcBef>
              <a:buNone/>
              <a:defRPr b="1" i="0" sz="1000">
                <a:solidFill>
                  <a:srgbClr val="4E3629"/>
                </a:solidFill>
                <a:latin typeface="Calibri"/>
                <a:ea typeface="Calibri"/>
                <a:cs typeface="Calibri"/>
                <a:sym typeface="Calibri"/>
              </a:defRPr>
            </a:lvl7pPr>
            <a:lvl8pPr indent="0" lvl="7" marL="38100">
              <a:lnSpc>
                <a:spcPct val="104500"/>
              </a:lnSpc>
              <a:spcBef>
                <a:spcPts val="0"/>
              </a:spcBef>
              <a:buNone/>
              <a:defRPr b="1" i="0" sz="1000">
                <a:solidFill>
                  <a:srgbClr val="4E3629"/>
                </a:solidFill>
                <a:latin typeface="Calibri"/>
                <a:ea typeface="Calibri"/>
                <a:cs typeface="Calibri"/>
                <a:sym typeface="Calibri"/>
              </a:defRPr>
            </a:lvl8pPr>
            <a:lvl9pPr indent="0" lvl="8" marL="38100">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grpSp>
        <p:nvGrpSpPr>
          <p:cNvPr id="60" name="Google Shape;60;p14"/>
          <p:cNvGrpSpPr/>
          <p:nvPr/>
        </p:nvGrpSpPr>
        <p:grpSpPr>
          <a:xfrm>
            <a:off x="0" y="0"/>
            <a:ext cx="9144000" cy="6858000"/>
            <a:chOff x="0" y="0"/>
            <a:chExt cx="9144000" cy="6858000"/>
          </a:xfrm>
        </p:grpSpPr>
        <p:pic>
          <p:nvPicPr>
            <p:cNvPr id="61" name="Google Shape;61;p14"/>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2" name="Google Shape;62;p14"/>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3" name="Google Shape;63;p14"/>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64" name="Google Shape;64;p14"/>
          <p:cNvSpPr txBox="1"/>
          <p:nvPr/>
        </p:nvSpPr>
        <p:spPr>
          <a:xfrm>
            <a:off x="50578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65" name="Google Shape;65;p14"/>
          <p:cNvSpPr txBox="1"/>
          <p:nvPr>
            <p:ph type="title"/>
          </p:nvPr>
        </p:nvSpPr>
        <p:spPr>
          <a:xfrm>
            <a:off x="958315" y="862895"/>
            <a:ext cx="70479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66" name="Google Shape;66;p14"/>
          <p:cNvSpPr txBox="1"/>
          <p:nvPr/>
        </p:nvSpPr>
        <p:spPr>
          <a:xfrm>
            <a:off x="962879" y="2400950"/>
            <a:ext cx="6975475" cy="888365"/>
          </a:xfrm>
          <a:prstGeom prst="rect">
            <a:avLst/>
          </a:prstGeom>
          <a:noFill/>
          <a:ln>
            <a:noFill/>
          </a:ln>
        </p:spPr>
        <p:txBody>
          <a:bodyPr anchorCtr="0" anchor="t" bIns="0" lIns="0" spcFirstLastPara="1" rIns="0" wrap="square" tIns="78100">
            <a:spAutoFit/>
          </a:bodyPr>
          <a:lstStyle/>
          <a:p>
            <a:pPr indent="0" lvl="0" marL="12700" rtl="0" algn="l">
              <a:lnSpc>
                <a:spcPct val="100000"/>
              </a:lnSpc>
              <a:spcBef>
                <a:spcPts val="0"/>
              </a:spcBef>
              <a:spcAft>
                <a:spcPts val="0"/>
              </a:spcAft>
              <a:buNone/>
            </a:pPr>
            <a:r>
              <a:rPr b="1" lang="en-US" sz="2400">
                <a:solidFill>
                  <a:srgbClr val="4E3629"/>
                </a:solidFill>
                <a:latin typeface="Calibri"/>
                <a:ea typeface="Calibri"/>
                <a:cs typeface="Calibri"/>
                <a:sym typeface="Calibri"/>
              </a:rPr>
              <a:t>12-3</a:t>
            </a:r>
            <a:endParaRPr sz="2400">
              <a:latin typeface="Calibri"/>
              <a:ea typeface="Calibri"/>
              <a:cs typeface="Calibri"/>
              <a:sym typeface="Calibri"/>
            </a:endParaRPr>
          </a:p>
          <a:p>
            <a:pPr indent="0" lvl="0" marL="12700" rtl="0" algn="l">
              <a:lnSpc>
                <a:spcPct val="100000"/>
              </a:lnSpc>
              <a:spcBef>
                <a:spcPts val="515"/>
              </a:spcBef>
              <a:spcAft>
                <a:spcPts val="0"/>
              </a:spcAft>
              <a:buNone/>
            </a:pPr>
            <a:r>
              <a:rPr b="1" lang="en-US" sz="2400">
                <a:solidFill>
                  <a:srgbClr val="4E3629"/>
                </a:solidFill>
                <a:latin typeface="Calibri"/>
                <a:ea typeface="Calibri"/>
                <a:cs typeface="Calibri"/>
                <a:sym typeface="Calibri"/>
              </a:rPr>
              <a:t>Valores DEFAULT, MERGE e Inserciones en Varias Tablas</a:t>
            </a:r>
            <a:endParaRPr sz="2400">
              <a:latin typeface="Calibri"/>
              <a:ea typeface="Calibri"/>
              <a:cs typeface="Calibri"/>
              <a:sym typeface="Calibri"/>
            </a:endParaRPr>
          </a:p>
        </p:txBody>
      </p:sp>
      <p:pic>
        <p:nvPicPr>
          <p:cNvPr id="67" name="Google Shape;67;p14"/>
          <p:cNvPicPr preferRelativeResize="0"/>
          <p:nvPr/>
        </p:nvPicPr>
        <p:blipFill rotWithShape="1">
          <a:blip r:embed="rId5">
            <a:alphaModFix/>
          </a:blip>
          <a:srcRect b="0" l="0" r="0" t="0"/>
          <a:stretch/>
        </p:blipFill>
        <p:spPr>
          <a:xfrm>
            <a:off x="-339853" y="3485388"/>
            <a:ext cx="5058157" cy="2965703"/>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92112" y="748031"/>
            <a:ext cx="4742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Objetivos</a:t>
            </a:r>
            <a:endParaRPr/>
          </a:p>
        </p:txBody>
      </p:sp>
      <p:sp>
        <p:nvSpPr>
          <p:cNvPr id="73" name="Google Shape;73;p15"/>
          <p:cNvSpPr txBox="1"/>
          <p:nvPr/>
        </p:nvSpPr>
        <p:spPr>
          <a:xfrm>
            <a:off x="483552" y="1393401"/>
            <a:ext cx="7945120" cy="1998345"/>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aprenderá a:</a:t>
            </a:r>
            <a:endParaRPr sz="2800">
              <a:latin typeface="Calibri"/>
              <a:ea typeface="Calibri"/>
              <a:cs typeface="Calibri"/>
              <a:sym typeface="Calibri"/>
            </a:endParaRPr>
          </a:p>
          <a:p>
            <a:pPr indent="0" lvl="0" marL="35560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Comprender cuándo especificar un valor DEFAULT</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sentencia MERGE</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Construir y ejecutar sentencias DML utilizando subconsultas</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Construir y ejecutar inserciones en varias tablas</a:t>
            </a:r>
            <a:endParaRPr sz="2400">
              <a:latin typeface="Calibri"/>
              <a:ea typeface="Calibri"/>
              <a:cs typeface="Calibri"/>
              <a:sym typeface="Calibri"/>
            </a:endParaRPr>
          </a:p>
        </p:txBody>
      </p:sp>
      <p:grpSp>
        <p:nvGrpSpPr>
          <p:cNvPr id="74" name="Google Shape;74;p15"/>
          <p:cNvGrpSpPr/>
          <p:nvPr/>
        </p:nvGrpSpPr>
        <p:grpSpPr>
          <a:xfrm>
            <a:off x="5301996" y="3566160"/>
            <a:ext cx="3337559" cy="2638043"/>
            <a:chOff x="5301996" y="3566160"/>
            <a:chExt cx="3337559" cy="2638043"/>
          </a:xfrm>
        </p:grpSpPr>
        <p:pic>
          <p:nvPicPr>
            <p:cNvPr id="75" name="Google Shape;75;p15"/>
            <p:cNvPicPr preferRelativeResize="0"/>
            <p:nvPr/>
          </p:nvPicPr>
          <p:blipFill rotWithShape="1">
            <a:blip r:embed="rId3">
              <a:alphaModFix/>
            </a:blip>
            <a:srcRect b="0" l="0" r="0" t="0"/>
            <a:stretch/>
          </p:blipFill>
          <p:spPr>
            <a:xfrm>
              <a:off x="5301996" y="3566160"/>
              <a:ext cx="3337559" cy="2638043"/>
            </a:xfrm>
            <a:prstGeom prst="rect">
              <a:avLst/>
            </a:prstGeom>
            <a:noFill/>
            <a:ln>
              <a:noFill/>
            </a:ln>
          </p:spPr>
        </p:pic>
        <p:pic>
          <p:nvPicPr>
            <p:cNvPr id="76" name="Google Shape;76;p15"/>
            <p:cNvPicPr preferRelativeResize="0"/>
            <p:nvPr/>
          </p:nvPicPr>
          <p:blipFill rotWithShape="1">
            <a:blip r:embed="rId4">
              <a:alphaModFix/>
            </a:blip>
            <a:srcRect b="0" l="0" r="0" t="0"/>
            <a:stretch/>
          </p:blipFill>
          <p:spPr>
            <a:xfrm>
              <a:off x="5494020" y="3758184"/>
              <a:ext cx="2953499" cy="2253995"/>
            </a:xfrm>
            <a:prstGeom prst="rect">
              <a:avLst/>
            </a:prstGeom>
            <a:noFill/>
            <a:ln>
              <a:noFill/>
            </a:ln>
          </p:spPr>
        </p:pic>
      </p:grpSp>
      <p:sp>
        <p:nvSpPr>
          <p:cNvPr id="77" name="Google Shape;77;p15"/>
          <p:cNvSpPr txBox="1"/>
          <p:nvPr>
            <p:ph idx="10" type="dt"/>
          </p:nvPr>
        </p:nvSpPr>
        <p:spPr>
          <a:xfrm>
            <a:off x="2874191" y="6449092"/>
            <a:ext cx="1263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12-3</a:t>
            </a:r>
            <a:endParaRPr/>
          </a:p>
          <a:p>
            <a:pPr indent="0" lvl="0" marL="12700" marR="5080" rtl="0" algn="l">
              <a:lnSpc>
                <a:spcPct val="114874"/>
              </a:lnSpc>
              <a:spcBef>
                <a:spcPts val="60"/>
              </a:spcBef>
              <a:spcAft>
                <a:spcPts val="0"/>
              </a:spcAft>
              <a:buNone/>
            </a:pPr>
            <a:r>
              <a:rPr lang="en-US"/>
              <a:t>Valores DEFAULT, MERGE e Inserciones en Varias Tablas</a:t>
            </a:r>
            <a:endParaRPr/>
          </a:p>
        </p:txBody>
      </p:sp>
      <p:sp>
        <p:nvSpPr>
          <p:cNvPr id="78" name="Google Shape;78;p1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79" name="Google Shape;79;p1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92112" y="748031"/>
            <a:ext cx="4742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85" name="Google Shape;85;p16"/>
          <p:cNvSpPr txBox="1"/>
          <p:nvPr>
            <p:ph idx="10" type="dt"/>
          </p:nvPr>
        </p:nvSpPr>
        <p:spPr>
          <a:xfrm>
            <a:off x="2874191" y="6449092"/>
            <a:ext cx="1263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12-3</a:t>
            </a:r>
            <a:endParaRPr/>
          </a:p>
          <a:p>
            <a:pPr indent="0" lvl="0" marL="12700" marR="5080" rtl="0" algn="l">
              <a:lnSpc>
                <a:spcPct val="114874"/>
              </a:lnSpc>
              <a:spcBef>
                <a:spcPts val="60"/>
              </a:spcBef>
              <a:spcAft>
                <a:spcPts val="0"/>
              </a:spcAft>
              <a:buNone/>
            </a:pPr>
            <a:r>
              <a:rPr lang="en-US"/>
              <a:t>Valores DEFAULT, MERGE e Inserciones en Varias Tablas</a:t>
            </a:r>
            <a:endParaRPr/>
          </a:p>
        </p:txBody>
      </p:sp>
      <p:sp>
        <p:nvSpPr>
          <p:cNvPr id="86" name="Google Shape;86;p1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87" name="Google Shape;87;p1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88" name="Google Shape;88;p16"/>
          <p:cNvSpPr txBox="1"/>
          <p:nvPr>
            <p:ph idx="1" type="body"/>
          </p:nvPr>
        </p:nvSpPr>
        <p:spPr>
          <a:xfrm>
            <a:off x="483552" y="1415417"/>
            <a:ext cx="8176800" cy="4544700"/>
          </a:xfrm>
          <a:prstGeom prst="rect">
            <a:avLst/>
          </a:prstGeom>
          <a:noFill/>
          <a:ln>
            <a:noFill/>
          </a:ln>
        </p:spPr>
        <p:txBody>
          <a:bodyPr anchorCtr="0" anchor="t" bIns="0" lIns="0" spcFirstLastPara="1" rIns="0" wrap="square" tIns="97150">
            <a:spAutoFit/>
          </a:bodyPr>
          <a:lstStyle/>
          <a:p>
            <a:pPr indent="-177800" lvl="0" marL="182880" marR="1413510" rtl="0" algn="l">
              <a:lnSpc>
                <a:spcPct val="80000"/>
              </a:lnSpc>
              <a:spcBef>
                <a:spcPts val="0"/>
              </a:spcBef>
              <a:spcAft>
                <a:spcPts val="0"/>
              </a:spcAft>
              <a:buClr>
                <a:srgbClr val="D1350F"/>
              </a:buClr>
              <a:buSzPts val="2800"/>
              <a:buFont typeface="Arial"/>
              <a:buChar char="•"/>
            </a:pPr>
            <a:r>
              <a:rPr lang="en-US"/>
              <a:t>Hasta ahora, ha estado actualizando los datos 	mediante una única sentencia INSERT</a:t>
            </a:r>
            <a:endParaRPr/>
          </a:p>
          <a:p>
            <a:pPr indent="-177800" lvl="0" marL="182880" marR="455930" rtl="0" algn="l">
              <a:lnSpc>
                <a:spcPct val="80000"/>
              </a:lnSpc>
              <a:spcBef>
                <a:spcPts val="805"/>
              </a:spcBef>
              <a:spcAft>
                <a:spcPts val="0"/>
              </a:spcAft>
              <a:buClr>
                <a:srgbClr val="D1350F"/>
              </a:buClr>
              <a:buSzPts val="2800"/>
              <a:buFont typeface="Arial"/>
              <a:buChar char="•"/>
            </a:pPr>
            <a:r>
              <a:rPr lang="en-US"/>
              <a:t>Ha sido relativamente fácil al agregar registros uno a 	uno, ¿y si la compañía es muy grande y utiliza un 	almacén de datos para almacenar los datos de 	registros de ventas, de clientes, de nóminas, de 	contabilidad y de personal?</a:t>
            </a:r>
            <a:endParaRPr/>
          </a:p>
          <a:p>
            <a:pPr indent="-177800" lvl="0" marL="182880" marR="5080" rtl="0" algn="l">
              <a:lnSpc>
                <a:spcPct val="80000"/>
              </a:lnSpc>
              <a:spcBef>
                <a:spcPts val="800"/>
              </a:spcBef>
              <a:spcAft>
                <a:spcPts val="0"/>
              </a:spcAft>
              <a:buClr>
                <a:srgbClr val="D1350F"/>
              </a:buClr>
              <a:buSzPts val="2800"/>
              <a:buFont typeface="Arial"/>
              <a:buChar char="•"/>
            </a:pPr>
            <a:r>
              <a:rPr lang="en-US"/>
              <a:t>En este caso, es probable que los datos procedan de 	varios orígenes y estén gestionados por varias personas</a:t>
            </a:r>
            <a:endParaRPr/>
          </a:p>
          <a:p>
            <a:pPr indent="-177800" lvl="0" marL="182880" marR="368935" rtl="0" algn="l">
              <a:lnSpc>
                <a:spcPct val="80000"/>
              </a:lnSpc>
              <a:spcBef>
                <a:spcPts val="805"/>
              </a:spcBef>
              <a:spcAft>
                <a:spcPts val="1200"/>
              </a:spcAft>
              <a:buClr>
                <a:srgbClr val="D1350F"/>
              </a:buClr>
              <a:buSzPts val="2800"/>
              <a:buFont typeface="Arial"/>
              <a:buChar char="•"/>
            </a:pPr>
            <a:r>
              <a:rPr lang="en-US"/>
              <a:t>La gestión de datos registro a registro puede ser muy 	confuso y llevar mucho tiempo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392112" y="748031"/>
            <a:ext cx="4742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94" name="Google Shape;94;p17"/>
          <p:cNvSpPr txBox="1"/>
          <p:nvPr>
            <p:ph idx="10" type="dt"/>
          </p:nvPr>
        </p:nvSpPr>
        <p:spPr>
          <a:xfrm>
            <a:off x="2874191" y="6449092"/>
            <a:ext cx="1263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12-3</a:t>
            </a:r>
            <a:endParaRPr/>
          </a:p>
          <a:p>
            <a:pPr indent="0" lvl="0" marL="12700" marR="5080" rtl="0" algn="l">
              <a:lnSpc>
                <a:spcPct val="114874"/>
              </a:lnSpc>
              <a:spcBef>
                <a:spcPts val="60"/>
              </a:spcBef>
              <a:spcAft>
                <a:spcPts val="0"/>
              </a:spcAft>
              <a:buNone/>
            </a:pPr>
            <a:r>
              <a:rPr lang="en-US"/>
              <a:t>Valores DEFAULT, MERGE e Inserciones en Varias Tablas</a:t>
            </a:r>
            <a:endParaRPr/>
          </a:p>
        </p:txBody>
      </p:sp>
      <p:sp>
        <p:nvSpPr>
          <p:cNvPr id="95" name="Google Shape;95;p1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96" name="Google Shape;96;p1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7" name="Google Shape;97;p17"/>
          <p:cNvSpPr txBox="1"/>
          <p:nvPr/>
        </p:nvSpPr>
        <p:spPr>
          <a:xfrm>
            <a:off x="483552" y="1381889"/>
            <a:ext cx="7981315" cy="4170045"/>
          </a:xfrm>
          <a:prstGeom prst="rect">
            <a:avLst/>
          </a:prstGeom>
          <a:noFill/>
          <a:ln>
            <a:noFill/>
          </a:ln>
        </p:spPr>
        <p:txBody>
          <a:bodyPr anchorCtr="0" anchor="t" bIns="0" lIns="0" spcFirstLastPara="1" rIns="0" wrap="square" tIns="97150">
            <a:spAutoFit/>
          </a:bodyPr>
          <a:lstStyle/>
          <a:p>
            <a:pPr indent="-177800" lvl="0" marL="182880" marR="58419"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¿Cómo determina lo que se ha insertado nuevo o qué 	se ha cambiado recientemente?</a:t>
            </a:r>
            <a:endParaRPr sz="2800">
              <a:latin typeface="Calibri"/>
              <a:ea typeface="Calibri"/>
              <a:cs typeface="Calibri"/>
              <a:sym typeface="Calibri"/>
            </a:endParaRPr>
          </a:p>
          <a:p>
            <a:pPr indent="-177800" lvl="0" marL="182880" marR="5080"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conocerá un método más eficaz para 	actualizar e insertar datos utilizando una secuencia de 	comandos INSERT y UPDATE condicionales en una 	única sentencia atómica</a:t>
            </a:r>
            <a:endParaRPr sz="2800">
              <a:latin typeface="Calibri"/>
              <a:ea typeface="Calibri"/>
              <a:cs typeface="Calibri"/>
              <a:sym typeface="Calibri"/>
            </a:endParaRPr>
          </a:p>
          <a:p>
            <a:pPr indent="-177800" lvl="0" marL="182880" marR="162560" rtl="0" algn="l">
              <a:lnSpc>
                <a:spcPct val="80000"/>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También aprenderá a recuperar datos de una única 	subconsulta e INSERTAR las filas devueltas en más de 	una tabla de destino</a:t>
            </a:r>
            <a:endParaRPr sz="2800">
              <a:latin typeface="Calibri"/>
              <a:ea typeface="Calibri"/>
              <a:cs typeface="Calibri"/>
              <a:sym typeface="Calibri"/>
            </a:endParaRPr>
          </a:p>
          <a:p>
            <a:pPr indent="-177800" lvl="0" marL="182880" marR="749935" rtl="0" algn="l">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medida que amplíe sus conocimientos en SQL, 	apreciará formas eficaces para realizar su trabajo</a:t>
            </a:r>
            <a:endParaRPr sz="28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92112" y="748031"/>
            <a:ext cx="4742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DEFAULT</a:t>
            </a:r>
            <a:endParaRPr/>
          </a:p>
        </p:txBody>
      </p:sp>
      <p:sp>
        <p:nvSpPr>
          <p:cNvPr id="103" name="Google Shape;103;p18"/>
          <p:cNvSpPr txBox="1"/>
          <p:nvPr>
            <p:ph idx="10" type="dt"/>
          </p:nvPr>
        </p:nvSpPr>
        <p:spPr>
          <a:xfrm>
            <a:off x="2874191" y="6449092"/>
            <a:ext cx="1263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12-3</a:t>
            </a:r>
            <a:endParaRPr/>
          </a:p>
          <a:p>
            <a:pPr indent="0" lvl="0" marL="12700" marR="5080" rtl="0" algn="l">
              <a:lnSpc>
                <a:spcPct val="114874"/>
              </a:lnSpc>
              <a:spcBef>
                <a:spcPts val="60"/>
              </a:spcBef>
              <a:spcAft>
                <a:spcPts val="0"/>
              </a:spcAft>
              <a:buNone/>
            </a:pPr>
            <a:r>
              <a:rPr lang="en-US"/>
              <a:t>Valores DEFAULT, MERGE e Inserciones en Varias Tablas</a:t>
            </a:r>
            <a:endParaRPr/>
          </a:p>
        </p:txBody>
      </p:sp>
      <p:sp>
        <p:nvSpPr>
          <p:cNvPr id="104" name="Google Shape;104;p1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05" name="Google Shape;105;p1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6" name="Google Shape;106;p18"/>
          <p:cNvSpPr txBox="1"/>
          <p:nvPr/>
        </p:nvSpPr>
        <p:spPr>
          <a:xfrm>
            <a:off x="483552" y="1415417"/>
            <a:ext cx="7978140" cy="2960370"/>
          </a:xfrm>
          <a:prstGeom prst="rect">
            <a:avLst/>
          </a:prstGeom>
          <a:noFill/>
          <a:ln>
            <a:noFill/>
          </a:ln>
        </p:spPr>
        <p:txBody>
          <a:bodyPr anchorCtr="0" anchor="t" bIns="0" lIns="0" spcFirstLastPara="1" rIns="0" wrap="square" tIns="59675">
            <a:spAutoFit/>
          </a:bodyPr>
          <a:lstStyle/>
          <a:p>
            <a:pPr indent="-177800" lvl="0" marL="182880" marR="1828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Cada columna de una tabla puede tener un valor por 	defecto especificado para él</a:t>
            </a:r>
            <a:endParaRPr sz="2800">
              <a:latin typeface="Calibri"/>
              <a:ea typeface="Calibri"/>
              <a:cs typeface="Calibri"/>
              <a:sym typeface="Calibri"/>
            </a:endParaRPr>
          </a:p>
          <a:p>
            <a:pPr indent="-177800" lvl="0" marL="182880" marR="13144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caso de que se inserte una fila nueva y no haya 	ningún valor asignado para la columna, se asignará el 	valor por defecto en lugar de un valor nulo</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uso de valores por defecto permite controlar dónde 	y cuándo se debe aplicar el valor por defecto</a:t>
            </a:r>
            <a:endParaRPr sz="28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392112" y="748031"/>
            <a:ext cx="4742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DEFAULT</a:t>
            </a:r>
            <a:endParaRPr/>
          </a:p>
        </p:txBody>
      </p:sp>
      <p:sp>
        <p:nvSpPr>
          <p:cNvPr id="112" name="Google Shape;112;p19"/>
          <p:cNvSpPr txBox="1"/>
          <p:nvPr>
            <p:ph idx="10" type="dt"/>
          </p:nvPr>
        </p:nvSpPr>
        <p:spPr>
          <a:xfrm>
            <a:off x="2874191" y="6449092"/>
            <a:ext cx="1263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12-3</a:t>
            </a:r>
            <a:endParaRPr/>
          </a:p>
          <a:p>
            <a:pPr indent="0" lvl="0" marL="12700" marR="5080" rtl="0" algn="l">
              <a:lnSpc>
                <a:spcPct val="114874"/>
              </a:lnSpc>
              <a:spcBef>
                <a:spcPts val="60"/>
              </a:spcBef>
              <a:spcAft>
                <a:spcPts val="0"/>
              </a:spcAft>
              <a:buNone/>
            </a:pPr>
            <a:r>
              <a:rPr lang="en-US"/>
              <a:t>Valores DEFAULT, MERGE e Inserciones en Varias Tablas</a:t>
            </a:r>
            <a:endParaRPr/>
          </a:p>
        </p:txBody>
      </p:sp>
      <p:sp>
        <p:nvSpPr>
          <p:cNvPr id="113" name="Google Shape;113;p1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14" name="Google Shape;114;p1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15" name="Google Shape;115;p19"/>
          <p:cNvSpPr txBox="1"/>
          <p:nvPr/>
        </p:nvSpPr>
        <p:spPr>
          <a:xfrm>
            <a:off x="483552" y="1415417"/>
            <a:ext cx="7974330" cy="29603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valor por defecto puede ser un valor literal, una 	expresión o una función SQL como SYSDATE o USER, 	pero el valor no puede ser el nombre de otra columna</a:t>
            </a:r>
            <a:endParaRPr sz="2800">
              <a:latin typeface="Calibri"/>
              <a:ea typeface="Calibri"/>
              <a:cs typeface="Calibri"/>
              <a:sym typeface="Calibri"/>
            </a:endParaRPr>
          </a:p>
          <a:p>
            <a:pPr indent="-177800" lvl="0" marL="182880" marR="8382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valor por defecto debe coincidir con el tipo de dato 	de la columna</a:t>
            </a:r>
            <a:endParaRPr sz="2800">
              <a:latin typeface="Calibri"/>
              <a:ea typeface="Calibri"/>
              <a:cs typeface="Calibri"/>
              <a:sym typeface="Calibri"/>
            </a:endParaRPr>
          </a:p>
          <a:p>
            <a:pPr indent="-177800" lvl="0" marL="182880" marR="47244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puede especificar DEFAULT para una columna al 	crear o modificar la tabla</a:t>
            </a:r>
            <a:endParaRPr sz="28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392112" y="748031"/>
            <a:ext cx="4742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Ejemplo de DEFAULT</a:t>
            </a:r>
            <a:endParaRPr/>
          </a:p>
        </p:txBody>
      </p:sp>
      <p:sp>
        <p:nvSpPr>
          <p:cNvPr id="121" name="Google Shape;121;p20"/>
          <p:cNvSpPr txBox="1"/>
          <p:nvPr>
            <p:ph idx="10" type="dt"/>
          </p:nvPr>
        </p:nvSpPr>
        <p:spPr>
          <a:xfrm>
            <a:off x="2874191" y="6449092"/>
            <a:ext cx="1263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12-3</a:t>
            </a:r>
            <a:endParaRPr/>
          </a:p>
          <a:p>
            <a:pPr indent="0" lvl="0" marL="12700" marR="5080" rtl="0" algn="l">
              <a:lnSpc>
                <a:spcPct val="114874"/>
              </a:lnSpc>
              <a:spcBef>
                <a:spcPts val="60"/>
              </a:spcBef>
              <a:spcAft>
                <a:spcPts val="0"/>
              </a:spcAft>
              <a:buNone/>
            </a:pPr>
            <a:r>
              <a:rPr lang="en-US"/>
              <a:t>Valores DEFAULT, MERGE e Inserciones en Varias Tablas</a:t>
            </a:r>
            <a:endParaRPr/>
          </a:p>
        </p:txBody>
      </p:sp>
      <p:sp>
        <p:nvSpPr>
          <p:cNvPr id="122" name="Google Shape;122;p2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23" name="Google Shape;123;p2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4" name="Google Shape;124;p20"/>
          <p:cNvSpPr txBox="1"/>
          <p:nvPr/>
        </p:nvSpPr>
        <p:spPr>
          <a:xfrm>
            <a:off x="483552" y="1415417"/>
            <a:ext cx="8165465"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ejemplo siguiente, se muestra un valor por 	defecto especificado para la columna hire_date al crear 	la tabla:</a:t>
            </a:r>
            <a:endParaRPr sz="2800">
              <a:latin typeface="Calibri"/>
              <a:ea typeface="Calibri"/>
              <a:cs typeface="Calibri"/>
              <a:sym typeface="Calibri"/>
            </a:endParaRPr>
          </a:p>
        </p:txBody>
      </p:sp>
      <p:sp>
        <p:nvSpPr>
          <p:cNvPr id="125" name="Google Shape;125;p20"/>
          <p:cNvSpPr txBox="1"/>
          <p:nvPr/>
        </p:nvSpPr>
        <p:spPr>
          <a:xfrm>
            <a:off x="483552" y="4126613"/>
            <a:ext cx="7542530"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 agregar filas a esta tabla, SYSDATE se asignará a 	cualquier fila que no especifique explícitamente un 	valor hire_date</a:t>
            </a:r>
            <a:endParaRPr sz="2800">
              <a:latin typeface="Calibri"/>
              <a:ea typeface="Calibri"/>
              <a:cs typeface="Calibri"/>
              <a:sym typeface="Calibri"/>
            </a:endParaRPr>
          </a:p>
        </p:txBody>
      </p:sp>
      <p:sp>
        <p:nvSpPr>
          <p:cNvPr id="126" name="Google Shape;126;p20"/>
          <p:cNvSpPr txBox="1"/>
          <p:nvPr/>
        </p:nvSpPr>
        <p:spPr>
          <a:xfrm>
            <a:off x="393191" y="2775204"/>
            <a:ext cx="8345805" cy="107632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3333"/>
              </a:lnSpc>
              <a:spcBef>
                <a:spcPts val="0"/>
              </a:spcBef>
              <a:spcAft>
                <a:spcPts val="0"/>
              </a:spcAft>
              <a:buNone/>
            </a:pPr>
            <a:r>
              <a:rPr b="1" lang="en-US" sz="1800">
                <a:solidFill>
                  <a:srgbClr val="4E3629"/>
                </a:solidFill>
                <a:latin typeface="Courier New"/>
                <a:ea typeface="Courier New"/>
                <a:cs typeface="Courier New"/>
                <a:sym typeface="Courier New"/>
              </a:rPr>
              <a:t>CREATE TABLE my_employees (</a:t>
            </a:r>
            <a:endParaRPr sz="1800">
              <a:latin typeface="Courier New"/>
              <a:ea typeface="Courier New"/>
              <a:cs typeface="Courier New"/>
              <a:sym typeface="Courier New"/>
            </a:endParaRPr>
          </a:p>
          <a:p>
            <a:pPr indent="0" lvl="0" marL="913765" marR="250825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hire_date	DATE </a:t>
            </a:r>
            <a:r>
              <a:rPr b="1" lang="en-US" sz="1800">
                <a:solidFill>
                  <a:srgbClr val="D1350F"/>
                </a:solidFill>
                <a:latin typeface="Courier New"/>
                <a:ea typeface="Courier New"/>
                <a:cs typeface="Courier New"/>
                <a:sym typeface="Courier New"/>
              </a:rPr>
              <a:t>DEFAULT SYSDATE</a:t>
            </a:r>
            <a:r>
              <a:rPr b="1" lang="en-US" sz="1800">
                <a:solidFill>
                  <a:srgbClr val="4E3629"/>
                </a:solidFill>
                <a:latin typeface="Courier New"/>
                <a:ea typeface="Courier New"/>
                <a:cs typeface="Courier New"/>
                <a:sym typeface="Courier New"/>
              </a:rPr>
              <a:t>, first_name	VARCHAR2(15), last_name	VARCHAR2(15));</a:t>
            </a:r>
            <a:endParaRPr sz="1800">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1"/>
          <p:cNvSpPr txBox="1"/>
          <p:nvPr>
            <p:ph type="title"/>
          </p:nvPr>
        </p:nvSpPr>
        <p:spPr>
          <a:xfrm>
            <a:off x="392112" y="748031"/>
            <a:ext cx="5040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DEFAULT explícito con INSERT</a:t>
            </a:r>
            <a:endParaRPr/>
          </a:p>
        </p:txBody>
      </p:sp>
      <p:sp>
        <p:nvSpPr>
          <p:cNvPr id="132" name="Google Shape;132;p21"/>
          <p:cNvSpPr txBox="1"/>
          <p:nvPr>
            <p:ph idx="10" type="dt"/>
          </p:nvPr>
        </p:nvSpPr>
        <p:spPr>
          <a:xfrm>
            <a:off x="2874191" y="6449092"/>
            <a:ext cx="1263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12-3</a:t>
            </a:r>
            <a:endParaRPr/>
          </a:p>
          <a:p>
            <a:pPr indent="0" lvl="0" marL="12700" marR="5080" rtl="0" algn="l">
              <a:lnSpc>
                <a:spcPct val="114874"/>
              </a:lnSpc>
              <a:spcBef>
                <a:spcPts val="60"/>
              </a:spcBef>
              <a:spcAft>
                <a:spcPts val="0"/>
              </a:spcAft>
              <a:buNone/>
            </a:pPr>
            <a:r>
              <a:rPr lang="en-US"/>
              <a:t>Valores DEFAULT, MERGE e Inserciones en Varias Tablas</a:t>
            </a:r>
            <a:endParaRPr/>
          </a:p>
        </p:txBody>
      </p:sp>
      <p:sp>
        <p:nvSpPr>
          <p:cNvPr id="133" name="Google Shape;133;p2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34" name="Google Shape;134;p2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5" name="Google Shape;135;p21"/>
          <p:cNvSpPr txBox="1"/>
          <p:nvPr/>
        </p:nvSpPr>
        <p:spPr>
          <a:xfrm>
            <a:off x="483552" y="1415417"/>
            <a:ext cx="7981950" cy="17062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pueden utilizar valores por defecto explícitos en las 	sentencias INSERT y UPDATE</a:t>
            </a:r>
            <a:endParaRPr sz="2800">
              <a:latin typeface="Calibri"/>
              <a:ea typeface="Calibri"/>
              <a:cs typeface="Calibri"/>
              <a:sym typeface="Calibri"/>
            </a:endParaRPr>
          </a:p>
          <a:p>
            <a:pPr indent="-177800" lvl="0" marL="182880" marR="73723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ejemplo de INSERT con la tabla my_employees 	muestra el uso explícito de DEFAULT:</a:t>
            </a:r>
            <a:endParaRPr sz="2800">
              <a:latin typeface="Calibri"/>
              <a:ea typeface="Calibri"/>
              <a:cs typeface="Calibri"/>
              <a:sym typeface="Calibri"/>
            </a:endParaRPr>
          </a:p>
        </p:txBody>
      </p:sp>
      <p:sp>
        <p:nvSpPr>
          <p:cNvPr id="136" name="Google Shape;136;p21"/>
          <p:cNvSpPr txBox="1"/>
          <p:nvPr/>
        </p:nvSpPr>
        <p:spPr>
          <a:xfrm>
            <a:off x="483552" y="4126613"/>
            <a:ext cx="3869054"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Uso implícito de DEFAULT</a:t>
            </a:r>
            <a:endParaRPr sz="2800">
              <a:latin typeface="Calibri"/>
              <a:ea typeface="Calibri"/>
              <a:cs typeface="Calibri"/>
              <a:sym typeface="Calibri"/>
            </a:endParaRPr>
          </a:p>
        </p:txBody>
      </p:sp>
      <p:sp>
        <p:nvSpPr>
          <p:cNvPr id="137" name="Google Shape;137;p21"/>
          <p:cNvSpPr txBox="1"/>
          <p:nvPr/>
        </p:nvSpPr>
        <p:spPr>
          <a:xfrm>
            <a:off x="405384" y="3145535"/>
            <a:ext cx="8345805" cy="107442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3055"/>
              </a:lnSpc>
              <a:spcBef>
                <a:spcPts val="0"/>
              </a:spcBef>
              <a:spcAft>
                <a:spcPts val="0"/>
              </a:spcAft>
              <a:buNone/>
            </a:pPr>
            <a:r>
              <a:rPr b="1" lang="en-US" sz="1800">
                <a:solidFill>
                  <a:srgbClr val="4E3629"/>
                </a:solidFill>
                <a:latin typeface="Courier New"/>
                <a:ea typeface="Courier New"/>
                <a:cs typeface="Courier New"/>
                <a:sym typeface="Courier New"/>
              </a:rPr>
              <a:t>INSERT INTO my_employees</a:t>
            </a:r>
            <a:endParaRPr sz="1800">
              <a:latin typeface="Courier New"/>
              <a:ea typeface="Courier New"/>
              <a:cs typeface="Courier New"/>
              <a:sym typeface="Courier New"/>
            </a:endParaRPr>
          </a:p>
          <a:p>
            <a:pPr indent="409575" lvl="0" marL="0" marR="3288029"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(hire_date, first_name, last_name) VALUES</a:t>
            </a:r>
            <a:endParaRPr sz="1800">
              <a:latin typeface="Courier New"/>
              <a:ea typeface="Courier New"/>
              <a:cs typeface="Courier New"/>
              <a:sym typeface="Courier New"/>
            </a:endParaRPr>
          </a:p>
          <a:p>
            <a:pPr indent="0" lvl="0" marL="4089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t>
            </a:r>
            <a:r>
              <a:rPr b="1" lang="en-US" sz="1800">
                <a:solidFill>
                  <a:srgbClr val="D1350F"/>
                </a:solidFill>
                <a:latin typeface="Courier New"/>
                <a:ea typeface="Courier New"/>
                <a:cs typeface="Courier New"/>
                <a:sym typeface="Courier New"/>
              </a:rPr>
              <a:t>DEFAULT</a:t>
            </a:r>
            <a:r>
              <a:rPr b="1" lang="en-US" sz="1800">
                <a:solidFill>
                  <a:srgbClr val="4E3629"/>
                </a:solidFill>
                <a:latin typeface="Courier New"/>
                <a:ea typeface="Courier New"/>
                <a:cs typeface="Courier New"/>
                <a:sym typeface="Courier New"/>
              </a:rPr>
              <a:t>, 'Angelina','Wright');</a:t>
            </a:r>
            <a:endParaRPr sz="1800">
              <a:latin typeface="Courier New"/>
              <a:ea typeface="Courier New"/>
              <a:cs typeface="Courier New"/>
              <a:sym typeface="Courier New"/>
            </a:endParaRPr>
          </a:p>
        </p:txBody>
      </p:sp>
      <p:sp>
        <p:nvSpPr>
          <p:cNvPr id="138" name="Google Shape;138;p21"/>
          <p:cNvSpPr txBox="1"/>
          <p:nvPr/>
        </p:nvSpPr>
        <p:spPr>
          <a:xfrm>
            <a:off x="405384" y="4709159"/>
            <a:ext cx="8345805" cy="107442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3055"/>
              </a:lnSpc>
              <a:spcBef>
                <a:spcPts val="0"/>
              </a:spcBef>
              <a:spcAft>
                <a:spcPts val="0"/>
              </a:spcAft>
              <a:buNone/>
            </a:pPr>
            <a:r>
              <a:rPr b="1" lang="en-US" sz="1800">
                <a:solidFill>
                  <a:srgbClr val="4E3629"/>
                </a:solidFill>
                <a:latin typeface="Courier New"/>
                <a:ea typeface="Courier New"/>
                <a:cs typeface="Courier New"/>
                <a:sym typeface="Courier New"/>
              </a:rPr>
              <a:t>INSERT INTO my_employees</a:t>
            </a:r>
            <a:endParaRPr sz="1800">
              <a:latin typeface="Courier New"/>
              <a:ea typeface="Courier New"/>
              <a:cs typeface="Courier New"/>
              <a:sym typeface="Courier New"/>
            </a:endParaRPr>
          </a:p>
          <a:p>
            <a:pPr indent="409575" lvl="0" marL="0" marR="478853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(first_name, last_name) VALUES</a:t>
            </a:r>
            <a:endParaRPr sz="1800">
              <a:latin typeface="Courier New"/>
              <a:ea typeface="Courier New"/>
              <a:cs typeface="Courier New"/>
              <a:sym typeface="Courier New"/>
            </a:endParaRPr>
          </a:p>
          <a:p>
            <a:pPr indent="0" lvl="0" marL="4089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('Angelina','Wright');</a:t>
            </a:r>
            <a:endParaRPr sz="1800">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txBox="1"/>
          <p:nvPr>
            <p:ph type="title"/>
          </p:nvPr>
        </p:nvSpPr>
        <p:spPr>
          <a:xfrm>
            <a:off x="392112" y="748031"/>
            <a:ext cx="5195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DEFAULT explícito con UPDATE</a:t>
            </a:r>
            <a:endParaRPr/>
          </a:p>
        </p:txBody>
      </p:sp>
      <p:sp>
        <p:nvSpPr>
          <p:cNvPr id="144" name="Google Shape;144;p22"/>
          <p:cNvSpPr txBox="1"/>
          <p:nvPr>
            <p:ph idx="10" type="dt"/>
          </p:nvPr>
        </p:nvSpPr>
        <p:spPr>
          <a:xfrm>
            <a:off x="2874191" y="6449092"/>
            <a:ext cx="1263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12-3</a:t>
            </a:r>
            <a:endParaRPr/>
          </a:p>
          <a:p>
            <a:pPr indent="0" lvl="0" marL="12700" marR="5080" rtl="0" algn="l">
              <a:lnSpc>
                <a:spcPct val="114874"/>
              </a:lnSpc>
              <a:spcBef>
                <a:spcPts val="60"/>
              </a:spcBef>
              <a:spcAft>
                <a:spcPts val="0"/>
              </a:spcAft>
              <a:buNone/>
            </a:pPr>
            <a:r>
              <a:rPr lang="en-US"/>
              <a:t>Valores DEFAULT, MERGE e Inserciones en Varias Tablas</a:t>
            </a:r>
            <a:endParaRPr/>
          </a:p>
        </p:txBody>
      </p:sp>
      <p:sp>
        <p:nvSpPr>
          <p:cNvPr id="145" name="Google Shape;145;p2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46" name="Google Shape;146;p2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7" name="Google Shape;147;p22"/>
          <p:cNvSpPr txBox="1"/>
          <p:nvPr/>
        </p:nvSpPr>
        <p:spPr>
          <a:xfrm>
            <a:off x="483552" y="1381889"/>
            <a:ext cx="7981950" cy="1577975"/>
          </a:xfrm>
          <a:prstGeom prst="rect">
            <a:avLst/>
          </a:prstGeom>
          <a:noFill/>
          <a:ln>
            <a:noFill/>
          </a:ln>
        </p:spPr>
        <p:txBody>
          <a:bodyPr anchorCtr="0" anchor="t" bIns="0" lIns="0" spcFirstLastPara="1" rIns="0" wrap="square" tIns="97150">
            <a:spAutoFit/>
          </a:bodyPr>
          <a:lstStyle/>
          <a:p>
            <a:pPr indent="-177800" lvl="0" marL="182880"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pueden utilizar valores por defecto explícitos en las 	sentencias INSERT y UPDATE</a:t>
            </a:r>
            <a:endParaRPr sz="2800">
              <a:latin typeface="Calibri"/>
              <a:ea typeface="Calibri"/>
              <a:cs typeface="Calibri"/>
              <a:sym typeface="Calibri"/>
            </a:endParaRPr>
          </a:p>
          <a:p>
            <a:pPr indent="-177800" lvl="0" marL="182880" marR="605790"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ejemplo de UPDATE con la tabla my_employees 	muestra el uso explícito de DEFAULT:</a:t>
            </a:r>
            <a:endParaRPr sz="2800">
              <a:latin typeface="Calibri"/>
              <a:ea typeface="Calibri"/>
              <a:cs typeface="Calibri"/>
              <a:sym typeface="Calibri"/>
            </a:endParaRPr>
          </a:p>
        </p:txBody>
      </p:sp>
      <p:sp>
        <p:nvSpPr>
          <p:cNvPr id="148" name="Google Shape;148;p22"/>
          <p:cNvSpPr txBox="1"/>
          <p:nvPr/>
        </p:nvSpPr>
        <p:spPr>
          <a:xfrm>
            <a:off x="483552" y="3837053"/>
            <a:ext cx="8013700" cy="1917700"/>
          </a:xfrm>
          <a:prstGeom prst="rect">
            <a:avLst/>
          </a:prstGeom>
          <a:noFill/>
          <a:ln>
            <a:noFill/>
          </a:ln>
        </p:spPr>
        <p:txBody>
          <a:bodyPr anchorCtr="0" anchor="t" bIns="0" lIns="0" spcFirstLastPara="1" rIns="0" wrap="square" tIns="97150">
            <a:spAutoFit/>
          </a:bodyPr>
          <a:lstStyle/>
          <a:p>
            <a:pPr indent="-177800" lvl="0" marL="182880"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se ha especificado un valor por defecto para la 	columna hire_date, se asigna a la columna el valor por 	defecto</a:t>
            </a:r>
            <a:endParaRPr sz="2800">
              <a:latin typeface="Calibri"/>
              <a:ea typeface="Calibri"/>
              <a:cs typeface="Calibri"/>
              <a:sym typeface="Calibri"/>
            </a:endParaRPr>
          </a:p>
          <a:p>
            <a:pPr indent="-177800" lvl="0" marL="182880" marR="17780" rtl="0" algn="l">
              <a:lnSpc>
                <a:spcPct val="80000"/>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 embargo, si no se ha especificado ningún valor por 	defecto al crear la columna, se asigna un valor nulo</a:t>
            </a:r>
            <a:endParaRPr sz="2800">
              <a:latin typeface="Calibri"/>
              <a:ea typeface="Calibri"/>
              <a:cs typeface="Calibri"/>
              <a:sym typeface="Calibri"/>
            </a:endParaRPr>
          </a:p>
        </p:txBody>
      </p:sp>
      <p:sp>
        <p:nvSpPr>
          <p:cNvPr id="149" name="Google Shape;149;p22"/>
          <p:cNvSpPr txBox="1"/>
          <p:nvPr/>
        </p:nvSpPr>
        <p:spPr>
          <a:xfrm>
            <a:off x="405384" y="3025139"/>
            <a:ext cx="8345805" cy="80772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4722"/>
              </a:lnSpc>
              <a:spcBef>
                <a:spcPts val="0"/>
              </a:spcBef>
              <a:spcAft>
                <a:spcPts val="0"/>
              </a:spcAft>
              <a:buNone/>
            </a:pPr>
            <a:r>
              <a:rPr b="1" lang="en-US" sz="1800">
                <a:solidFill>
                  <a:srgbClr val="4E3629"/>
                </a:solidFill>
                <a:latin typeface="Courier New"/>
                <a:ea typeface="Courier New"/>
                <a:cs typeface="Courier New"/>
                <a:sym typeface="Courier New"/>
              </a:rPr>
              <a:t>UPDATE my_employees</a:t>
            </a:r>
            <a:endParaRPr sz="1800">
              <a:latin typeface="Courier New"/>
              <a:ea typeface="Courier New"/>
              <a:cs typeface="Courier New"/>
              <a:sym typeface="Courier New"/>
            </a:endParaRPr>
          </a:p>
          <a:p>
            <a:pPr indent="0" lvl="0" marL="0" marR="465137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SET hire_date = DEFAULT WHERE last_name = 'Wright';</a:t>
            </a:r>
            <a:endParaRPr sz="1800">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txBox="1"/>
          <p:nvPr>
            <p:ph type="title"/>
          </p:nvPr>
        </p:nvSpPr>
        <p:spPr>
          <a:xfrm>
            <a:off x="392112" y="748031"/>
            <a:ext cx="1278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MERGE</a:t>
            </a:r>
            <a:endParaRPr/>
          </a:p>
        </p:txBody>
      </p:sp>
      <p:sp>
        <p:nvSpPr>
          <p:cNvPr id="155" name="Google Shape;155;p23"/>
          <p:cNvSpPr txBox="1"/>
          <p:nvPr>
            <p:ph idx="10" type="dt"/>
          </p:nvPr>
        </p:nvSpPr>
        <p:spPr>
          <a:xfrm>
            <a:off x="2874191" y="6449092"/>
            <a:ext cx="1263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12-3</a:t>
            </a:r>
            <a:endParaRPr/>
          </a:p>
          <a:p>
            <a:pPr indent="0" lvl="0" marL="12700" marR="5080" rtl="0" algn="l">
              <a:lnSpc>
                <a:spcPct val="114874"/>
              </a:lnSpc>
              <a:spcBef>
                <a:spcPts val="60"/>
              </a:spcBef>
              <a:spcAft>
                <a:spcPts val="0"/>
              </a:spcAft>
              <a:buNone/>
            </a:pPr>
            <a:r>
              <a:rPr lang="en-US"/>
              <a:t>Valores DEFAULT, MERGE e Inserciones en Varias Tablas</a:t>
            </a:r>
            <a:endParaRPr/>
          </a:p>
        </p:txBody>
      </p:sp>
      <p:sp>
        <p:nvSpPr>
          <p:cNvPr id="156" name="Google Shape;156;p2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57" name="Google Shape;157;p2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58" name="Google Shape;158;p23"/>
          <p:cNvSpPr txBox="1"/>
          <p:nvPr>
            <p:ph idx="1" type="body"/>
          </p:nvPr>
        </p:nvSpPr>
        <p:spPr>
          <a:xfrm>
            <a:off x="483552" y="1415417"/>
            <a:ext cx="8176800" cy="4645200"/>
          </a:xfrm>
          <a:prstGeom prst="rect">
            <a:avLst/>
          </a:prstGeom>
          <a:noFill/>
          <a:ln>
            <a:noFill/>
          </a:ln>
        </p:spPr>
        <p:txBody>
          <a:bodyPr anchorCtr="0" anchor="t" bIns="0" lIns="0" spcFirstLastPara="1" rIns="0" wrap="square" tIns="97150">
            <a:spAutoFit/>
          </a:bodyPr>
          <a:lstStyle/>
          <a:p>
            <a:pPr indent="-177800" lvl="0" marL="182880" marR="5080" rtl="0" algn="l">
              <a:lnSpc>
                <a:spcPct val="80000"/>
              </a:lnSpc>
              <a:spcBef>
                <a:spcPts val="0"/>
              </a:spcBef>
              <a:spcAft>
                <a:spcPts val="0"/>
              </a:spcAft>
              <a:buClr>
                <a:srgbClr val="D1350F"/>
              </a:buClr>
              <a:buSzPts val="2800"/>
              <a:buFont typeface="Arial"/>
              <a:buChar char="•"/>
            </a:pPr>
            <a:r>
              <a:rPr lang="en-US"/>
              <a:t>El uso de la sentencia MERGE logra dos tareas al mismo 	tiempo. MERGE INSERTARÁ y ACTUALIZARÁ</a:t>
            </a:r>
            <a:endParaRPr/>
          </a:p>
          <a:p>
            <a:pPr indent="0" lvl="0" marL="184785" rtl="0" algn="l">
              <a:lnSpc>
                <a:spcPct val="83928"/>
              </a:lnSpc>
              <a:spcBef>
                <a:spcPts val="1200"/>
              </a:spcBef>
              <a:spcAft>
                <a:spcPts val="0"/>
              </a:spcAft>
              <a:buNone/>
            </a:pPr>
            <a:r>
              <a:rPr lang="en-US"/>
              <a:t>simultáneamente. Si falta un valor, se inserta uno</a:t>
            </a:r>
            <a:endParaRPr/>
          </a:p>
          <a:p>
            <a:pPr indent="0" lvl="0" marL="184785" rtl="0" algn="l">
              <a:lnSpc>
                <a:spcPct val="108035"/>
              </a:lnSpc>
              <a:spcBef>
                <a:spcPts val="1200"/>
              </a:spcBef>
              <a:spcAft>
                <a:spcPts val="0"/>
              </a:spcAft>
              <a:buNone/>
            </a:pPr>
            <a:r>
              <a:rPr lang="en-US"/>
              <a:t>nuevo</a:t>
            </a:r>
            <a:endParaRPr/>
          </a:p>
          <a:p>
            <a:pPr indent="-177800" lvl="0" marL="182880" marR="826769" rtl="0" algn="l">
              <a:lnSpc>
                <a:spcPct val="80000"/>
              </a:lnSpc>
              <a:spcBef>
                <a:spcPts val="810"/>
              </a:spcBef>
              <a:spcAft>
                <a:spcPts val="0"/>
              </a:spcAft>
              <a:buClr>
                <a:srgbClr val="D1350F"/>
              </a:buClr>
              <a:buSzPts val="2800"/>
              <a:buFont typeface="Arial"/>
              <a:buChar char="•"/>
            </a:pPr>
            <a:r>
              <a:rPr lang="en-US"/>
              <a:t>Si existe un valor pero se debe cambiar, MERGE lo 	actualizará</a:t>
            </a:r>
            <a:endParaRPr/>
          </a:p>
          <a:p>
            <a:pPr indent="-177800" lvl="0" marL="182880" marR="97155" rtl="0" algn="l">
              <a:lnSpc>
                <a:spcPct val="80000"/>
              </a:lnSpc>
              <a:spcBef>
                <a:spcPts val="790"/>
              </a:spcBef>
              <a:spcAft>
                <a:spcPts val="0"/>
              </a:spcAft>
              <a:buClr>
                <a:srgbClr val="D1350F"/>
              </a:buClr>
              <a:buSzPts val="2800"/>
              <a:buFont typeface="Arial"/>
              <a:buChar char="•"/>
            </a:pPr>
            <a:r>
              <a:rPr lang="en-US"/>
              <a:t>Para realizar estos tipos de cambios en tablas de base 	de datos, debe tener privilegios INSERT y UPDATE en la 	tabla de destino y privilegios SELECT en la tabla de 	origen</a:t>
            </a:r>
            <a:endParaRPr/>
          </a:p>
          <a:p>
            <a:pPr indent="-177800" lvl="0" marL="183515" rtl="0" algn="l">
              <a:lnSpc>
                <a:spcPct val="100000"/>
              </a:lnSpc>
              <a:spcBef>
                <a:spcPts val="135"/>
              </a:spcBef>
              <a:spcAft>
                <a:spcPts val="1200"/>
              </a:spcAft>
              <a:buClr>
                <a:srgbClr val="D1350F"/>
              </a:buClr>
              <a:buSzPts val="2800"/>
              <a:buFont typeface="Arial"/>
              <a:buChar char="•"/>
            </a:pPr>
            <a:r>
              <a:rPr lang="en-US"/>
              <a:t>Los alias se pueden utilizar con la sentencia MERGE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4"/>
          <p:cNvSpPr txBox="1"/>
          <p:nvPr>
            <p:ph type="title"/>
          </p:nvPr>
        </p:nvSpPr>
        <p:spPr>
          <a:xfrm>
            <a:off x="392112" y="748031"/>
            <a:ext cx="4742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Sintaxis de MERGE</a:t>
            </a:r>
            <a:endParaRPr/>
          </a:p>
        </p:txBody>
      </p:sp>
      <p:sp>
        <p:nvSpPr>
          <p:cNvPr id="164" name="Google Shape;164;p24"/>
          <p:cNvSpPr txBox="1"/>
          <p:nvPr>
            <p:ph idx="10" type="dt"/>
          </p:nvPr>
        </p:nvSpPr>
        <p:spPr>
          <a:xfrm>
            <a:off x="2874191" y="6449092"/>
            <a:ext cx="1263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12-3</a:t>
            </a:r>
            <a:endParaRPr/>
          </a:p>
          <a:p>
            <a:pPr indent="0" lvl="0" marL="12700" marR="5080" rtl="0" algn="l">
              <a:lnSpc>
                <a:spcPct val="114874"/>
              </a:lnSpc>
              <a:spcBef>
                <a:spcPts val="60"/>
              </a:spcBef>
              <a:spcAft>
                <a:spcPts val="0"/>
              </a:spcAft>
              <a:buNone/>
            </a:pPr>
            <a:r>
              <a:rPr lang="en-US"/>
              <a:t>Valores DEFAULT, MERGE e Inserciones en Varias Tablas</a:t>
            </a:r>
            <a:endParaRPr/>
          </a:p>
        </p:txBody>
      </p:sp>
      <p:sp>
        <p:nvSpPr>
          <p:cNvPr id="165" name="Google Shape;165;p2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66" name="Google Shape;166;p2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67" name="Google Shape;167;p24"/>
          <p:cNvSpPr txBox="1"/>
          <p:nvPr/>
        </p:nvSpPr>
        <p:spPr>
          <a:xfrm>
            <a:off x="483552" y="1415417"/>
            <a:ext cx="8140700" cy="3344545"/>
          </a:xfrm>
          <a:prstGeom prst="rect">
            <a:avLst/>
          </a:prstGeom>
          <a:noFill/>
          <a:ln>
            <a:noFill/>
          </a:ln>
        </p:spPr>
        <p:txBody>
          <a:bodyPr anchorCtr="0" anchor="t" bIns="0" lIns="0" spcFirstLastPara="1" rIns="0" wrap="square" tIns="59675">
            <a:spAutoFit/>
          </a:bodyPr>
          <a:lstStyle/>
          <a:p>
            <a:pPr indent="-177800" lvl="0" marL="182880" marR="27940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lee una fila cada vez de la tabla de origen y se 	compara con las filas de la tabla de destino utilizando 	la condición de coincidencia</a:t>
            </a:r>
            <a:endParaRPr sz="2800">
              <a:latin typeface="Calibri"/>
              <a:ea typeface="Calibri"/>
              <a:cs typeface="Calibri"/>
              <a:sym typeface="Calibri"/>
            </a:endParaRPr>
          </a:p>
          <a:p>
            <a:pPr indent="-177800" lvl="0" marL="182880" marR="29527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existe una fila coincidente en la tabla de destino, la 	fila de origen se utiliza para actualizar una o más 	columnas de la fila de destino coincidente</a:t>
            </a:r>
            <a:endParaRPr sz="2800">
              <a:latin typeface="Calibri"/>
              <a:ea typeface="Calibri"/>
              <a:cs typeface="Calibri"/>
              <a:sym typeface="Calibri"/>
            </a:endParaRPr>
          </a:p>
          <a:p>
            <a:pPr indent="-177800" lvl="0" marL="182880" marR="5080"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no existe una fila coincidente, los valores de la fila de 	origen se utilizan para insertar una nueva fila en la</a:t>
            </a:r>
            <a:endParaRPr sz="2800">
              <a:latin typeface="Calibri"/>
              <a:ea typeface="Calibri"/>
              <a:cs typeface="Calibri"/>
              <a:sym typeface="Calibri"/>
            </a:endParaRPr>
          </a:p>
        </p:txBody>
      </p:sp>
      <p:sp>
        <p:nvSpPr>
          <p:cNvPr id="168" name="Google Shape;168;p24"/>
          <p:cNvSpPr txBox="1"/>
          <p:nvPr/>
        </p:nvSpPr>
        <p:spPr>
          <a:xfrm>
            <a:off x="655764" y="4692340"/>
            <a:ext cx="1191260" cy="836294"/>
          </a:xfrm>
          <a:prstGeom prst="rect">
            <a:avLst/>
          </a:prstGeom>
          <a:noFill/>
          <a:ln>
            <a:noFill/>
          </a:ln>
        </p:spPr>
        <p:txBody>
          <a:bodyPr anchorCtr="0" anchor="t" bIns="0" lIns="0" spcFirstLastPara="1" rIns="0" wrap="square" tIns="59675">
            <a:spAutoFit/>
          </a:bodyPr>
          <a:lstStyle/>
          <a:p>
            <a:pPr indent="0" lvl="0" marL="12700" marR="5080" rtl="0" algn="l">
              <a:lnSpc>
                <a:spcPct val="108214"/>
              </a:lnSpc>
              <a:spcBef>
                <a:spcPts val="0"/>
              </a:spcBef>
              <a:spcAft>
                <a:spcPts val="0"/>
              </a:spcAft>
              <a:buNone/>
            </a:pPr>
            <a:r>
              <a:rPr lang="en-US" sz="2800">
                <a:solidFill>
                  <a:srgbClr val="4E3629"/>
                </a:solidFill>
                <a:latin typeface="Calibri"/>
                <a:ea typeface="Calibri"/>
                <a:cs typeface="Calibri"/>
                <a:sym typeface="Calibri"/>
              </a:rPr>
              <a:t>tabla de destino</a:t>
            </a:r>
            <a:endParaRPr sz="2800">
              <a:latin typeface="Calibri"/>
              <a:ea typeface="Calibri"/>
              <a:cs typeface="Calibri"/>
              <a:sym typeface="Calibri"/>
            </a:endParaRPr>
          </a:p>
        </p:txBody>
      </p:sp>
      <p:sp>
        <p:nvSpPr>
          <p:cNvPr id="169" name="Google Shape;169;p24"/>
          <p:cNvSpPr txBox="1"/>
          <p:nvPr/>
        </p:nvSpPr>
        <p:spPr>
          <a:xfrm>
            <a:off x="2433827" y="4762500"/>
            <a:ext cx="6612890" cy="160020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98000"/>
              </a:lnSpc>
              <a:spcBef>
                <a:spcPts val="0"/>
              </a:spcBef>
              <a:spcAft>
                <a:spcPts val="0"/>
              </a:spcAft>
              <a:buNone/>
            </a:pPr>
            <a:r>
              <a:rPr b="1" lang="en-US" sz="1800">
                <a:solidFill>
                  <a:srgbClr val="4E3629"/>
                </a:solidFill>
                <a:latin typeface="Courier New"/>
                <a:ea typeface="Courier New"/>
                <a:cs typeface="Courier New"/>
                <a:sym typeface="Courier New"/>
              </a:rPr>
              <a:t>MERGE INTO destination-table USING source-table</a:t>
            </a:r>
            <a:endParaRPr sz="1800">
              <a:latin typeface="Courier New"/>
              <a:ea typeface="Courier New"/>
              <a:cs typeface="Courier New"/>
              <a:sym typeface="Courier New"/>
            </a:endParaRPr>
          </a:p>
          <a:p>
            <a:pPr indent="274320" lvl="0" marL="0" marR="332803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ON matching-condition WHEN MATCHED THEN UPDATE</a:t>
            </a:r>
            <a:endParaRPr sz="1800">
              <a:latin typeface="Courier New"/>
              <a:ea typeface="Courier New"/>
              <a:cs typeface="Courier New"/>
              <a:sym typeface="Courier New"/>
            </a:endParaRPr>
          </a:p>
          <a:p>
            <a:pPr indent="0" lvl="0" marL="54673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SET ……</a:t>
            </a:r>
            <a:endParaRPr sz="1800">
              <a:latin typeface="Courier New"/>
              <a:ea typeface="Courier New"/>
              <a:cs typeface="Courier New"/>
              <a:sym typeface="Courier New"/>
            </a:endParaRPr>
          </a:p>
          <a:p>
            <a:pPr indent="-546735" lvl="0" marL="546735" marR="278257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WHEN NOT MATCHED THEN INSERT VALUES (……);</a:t>
            </a:r>
            <a:endParaRPr sz="1800">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5"/>
          <p:cNvSpPr txBox="1"/>
          <p:nvPr>
            <p:ph type="title"/>
          </p:nvPr>
        </p:nvSpPr>
        <p:spPr>
          <a:xfrm>
            <a:off x="392112" y="748031"/>
            <a:ext cx="4742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Ejemplo de MERGE</a:t>
            </a:r>
            <a:endParaRPr/>
          </a:p>
        </p:txBody>
      </p:sp>
      <p:sp>
        <p:nvSpPr>
          <p:cNvPr id="175" name="Google Shape;175;p25"/>
          <p:cNvSpPr txBox="1"/>
          <p:nvPr/>
        </p:nvSpPr>
        <p:spPr>
          <a:xfrm>
            <a:off x="483552" y="1415417"/>
            <a:ext cx="8063230" cy="1220470"/>
          </a:xfrm>
          <a:prstGeom prst="rect">
            <a:avLst/>
          </a:prstGeom>
          <a:noFill/>
          <a:ln>
            <a:noFill/>
          </a:ln>
        </p:spPr>
        <p:txBody>
          <a:bodyPr anchorCtr="0" anchor="t" bIns="0" lIns="0" spcFirstLastPara="1" rIns="0" wrap="square" tIns="59675">
            <a:spAutoFit/>
          </a:bodyPr>
          <a:lstStyle/>
          <a:p>
            <a:pPr indent="-177800" lvl="0" marL="182880" marR="508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este ejemplo, se utiliza la tabla EMPLOYEES (alias e) 	como origen de datos para insertar y actualizar filas en 	una copia de la tabla denominada COPY_EMP (alias c)</a:t>
            </a:r>
            <a:endParaRPr sz="2800">
              <a:latin typeface="Calibri"/>
              <a:ea typeface="Calibri"/>
              <a:cs typeface="Calibri"/>
              <a:sym typeface="Calibri"/>
            </a:endParaRPr>
          </a:p>
        </p:txBody>
      </p:sp>
      <p:sp>
        <p:nvSpPr>
          <p:cNvPr id="176" name="Google Shape;176;p25"/>
          <p:cNvSpPr/>
          <p:nvPr/>
        </p:nvSpPr>
        <p:spPr>
          <a:xfrm>
            <a:off x="405384" y="3075432"/>
            <a:ext cx="8345805" cy="2514600"/>
          </a:xfrm>
          <a:custGeom>
            <a:rect b="b" l="l" r="r" t="t"/>
            <a:pathLst>
              <a:path extrusionOk="0" h="2514600" w="8345805">
                <a:moveTo>
                  <a:pt x="8345424" y="0"/>
                </a:moveTo>
                <a:lnTo>
                  <a:pt x="0" y="0"/>
                </a:lnTo>
                <a:lnTo>
                  <a:pt x="0" y="2514600"/>
                </a:lnTo>
                <a:lnTo>
                  <a:pt x="8345424" y="2514600"/>
                </a:lnTo>
                <a:lnTo>
                  <a:pt x="8345424" y="0"/>
                </a:lnTo>
                <a:close/>
              </a:path>
            </a:pathLst>
          </a:custGeom>
          <a:solidFill>
            <a:srgbClr val="9DBDC4">
              <a:alpha val="4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7" name="Google Shape;177;p25"/>
          <p:cNvSpPr txBox="1"/>
          <p:nvPr/>
        </p:nvSpPr>
        <p:spPr>
          <a:xfrm>
            <a:off x="392112" y="3195617"/>
            <a:ext cx="8215630" cy="2219960"/>
          </a:xfrm>
          <a:prstGeom prst="rect">
            <a:avLst/>
          </a:prstGeom>
          <a:noFill/>
          <a:ln>
            <a:noFill/>
          </a:ln>
        </p:spPr>
        <p:txBody>
          <a:bodyPr anchorCtr="0" anchor="t" bIns="0" lIns="0" spcFirstLastPara="1" rIns="0" wrap="square" tIns="12700">
            <a:spAutoFit/>
          </a:bodyPr>
          <a:lstStyle/>
          <a:p>
            <a:pPr indent="-274320" lvl="0" marL="287020" marR="273494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MERGE INTO copy_emp c	USING employees e ON (c.employee_id = e.employee_id)</a:t>
            </a:r>
            <a:endParaRPr sz="1800">
              <a:latin typeface="Courier New"/>
              <a:ea typeface="Courier New"/>
              <a:cs typeface="Courier New"/>
              <a:sym typeface="Courier New"/>
            </a:endParaRPr>
          </a:p>
          <a:p>
            <a:pPr indent="-683260" lvl="0" marL="695325" marR="491807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WHEN MATCHED THEN UPDATE SET</a:t>
            </a:r>
            <a:endParaRPr sz="1800">
              <a:latin typeface="Courier New"/>
              <a:ea typeface="Courier New"/>
              <a:cs typeface="Courier New"/>
              <a:sym typeface="Courier New"/>
            </a:endParaRPr>
          </a:p>
          <a:p>
            <a:pPr indent="0" lvl="0" marL="1242695" marR="219075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c.last_name	= e.last_name, c.department_id	= e.department_id</a:t>
            </a:r>
            <a:endParaRPr sz="1800">
              <a:latin typeface="Courier New"/>
              <a:ea typeface="Courier New"/>
              <a:cs typeface="Courier New"/>
              <a:sym typeface="Courier New"/>
            </a:endParaRPr>
          </a:p>
          <a:p>
            <a:pPr indent="0" lvl="0" marL="127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WHEN NOT MATCHED THEN INSERT</a:t>
            </a:r>
            <a:endParaRPr sz="1800">
              <a:latin typeface="Courier New"/>
              <a:ea typeface="Courier New"/>
              <a:cs typeface="Courier New"/>
              <a:sym typeface="Courier New"/>
            </a:endParaRPr>
          </a:p>
          <a:p>
            <a:pPr indent="0" lvl="0" marL="69532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VALUES	(e.employee_id, e.last_name, e.department_id);</a:t>
            </a:r>
            <a:endParaRPr sz="1800">
              <a:latin typeface="Courier New"/>
              <a:ea typeface="Courier New"/>
              <a:cs typeface="Courier New"/>
              <a:sym typeface="Courier New"/>
            </a:endParaRPr>
          </a:p>
        </p:txBody>
      </p:sp>
      <p:sp>
        <p:nvSpPr>
          <p:cNvPr id="178" name="Google Shape;178;p25"/>
          <p:cNvSpPr txBox="1"/>
          <p:nvPr>
            <p:ph idx="10" type="dt"/>
          </p:nvPr>
        </p:nvSpPr>
        <p:spPr>
          <a:xfrm>
            <a:off x="2874191" y="6449092"/>
            <a:ext cx="1263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12-3</a:t>
            </a:r>
            <a:endParaRPr/>
          </a:p>
          <a:p>
            <a:pPr indent="0" lvl="0" marL="12700" marR="5080" rtl="0" algn="l">
              <a:lnSpc>
                <a:spcPct val="114874"/>
              </a:lnSpc>
              <a:spcBef>
                <a:spcPts val="60"/>
              </a:spcBef>
              <a:spcAft>
                <a:spcPts val="0"/>
              </a:spcAft>
              <a:buNone/>
            </a:pPr>
            <a:r>
              <a:rPr lang="en-US"/>
              <a:t>Valores DEFAULT, MERGE e Inserciones en Varias Tablas</a:t>
            </a:r>
            <a:endParaRPr/>
          </a:p>
        </p:txBody>
      </p:sp>
      <p:sp>
        <p:nvSpPr>
          <p:cNvPr id="179" name="Google Shape;179;p2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0" name="Google Shape;180;p2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6"/>
          <p:cNvSpPr txBox="1"/>
          <p:nvPr>
            <p:ph type="title"/>
          </p:nvPr>
        </p:nvSpPr>
        <p:spPr>
          <a:xfrm>
            <a:off x="392112" y="748031"/>
            <a:ext cx="4742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Ejemplo de MERGE</a:t>
            </a:r>
            <a:endParaRPr/>
          </a:p>
        </p:txBody>
      </p:sp>
      <p:sp>
        <p:nvSpPr>
          <p:cNvPr id="186" name="Google Shape;186;p26"/>
          <p:cNvSpPr txBox="1"/>
          <p:nvPr>
            <p:ph idx="10" type="dt"/>
          </p:nvPr>
        </p:nvSpPr>
        <p:spPr>
          <a:xfrm>
            <a:off x="2874191" y="6449092"/>
            <a:ext cx="1263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12-3</a:t>
            </a:r>
            <a:endParaRPr/>
          </a:p>
          <a:p>
            <a:pPr indent="0" lvl="0" marL="12700" marR="5080" rtl="0" algn="l">
              <a:lnSpc>
                <a:spcPct val="114874"/>
              </a:lnSpc>
              <a:spcBef>
                <a:spcPts val="60"/>
              </a:spcBef>
              <a:spcAft>
                <a:spcPts val="0"/>
              </a:spcAft>
              <a:buNone/>
            </a:pPr>
            <a:r>
              <a:rPr lang="en-US"/>
              <a:t>Valores DEFAULT, MERGE e Inserciones en Varias Tablas</a:t>
            </a:r>
            <a:endParaRPr/>
          </a:p>
        </p:txBody>
      </p:sp>
      <p:sp>
        <p:nvSpPr>
          <p:cNvPr id="187" name="Google Shape;187;p2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8" name="Google Shape;188;p2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89" name="Google Shape;189;p26"/>
          <p:cNvSpPr txBox="1"/>
          <p:nvPr/>
        </p:nvSpPr>
        <p:spPr>
          <a:xfrm>
            <a:off x="483552" y="1415417"/>
            <a:ext cx="8052434" cy="2090420"/>
          </a:xfrm>
          <a:prstGeom prst="rect">
            <a:avLst/>
          </a:prstGeom>
          <a:noFill/>
          <a:ln>
            <a:noFill/>
          </a:ln>
        </p:spPr>
        <p:txBody>
          <a:bodyPr anchorCtr="0" anchor="t" bIns="0" lIns="0" spcFirstLastPara="1" rIns="0" wrap="square" tIns="59675">
            <a:spAutoFit/>
          </a:bodyPr>
          <a:lstStyle/>
          <a:p>
            <a:pPr indent="-177800" lvl="0" marL="182880" marR="93853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filas 100 y 103 de EMPLOYEES tienen filas 	coincidentes en COPY_EMP y, por lo tanto, se 	actualizaron las filas coincidentes de COPY_EMP</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EMPLOYEE 142 no tiene ninguna fila coincidente y, por 	lo tanto, se insertó en COPY_EMP</a:t>
            </a:r>
            <a:endParaRPr sz="2800">
              <a:latin typeface="Calibri"/>
              <a:ea typeface="Calibri"/>
              <a:cs typeface="Calibri"/>
              <a:sym typeface="Calibri"/>
            </a:endParaRPr>
          </a:p>
        </p:txBody>
      </p:sp>
      <p:sp>
        <p:nvSpPr>
          <p:cNvPr id="190" name="Google Shape;190;p26"/>
          <p:cNvSpPr txBox="1"/>
          <p:nvPr/>
        </p:nvSpPr>
        <p:spPr>
          <a:xfrm>
            <a:off x="476095" y="4098954"/>
            <a:ext cx="245999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FF0000"/>
                </a:solidFill>
                <a:latin typeface="Calibri"/>
                <a:ea typeface="Calibri"/>
                <a:cs typeface="Calibri"/>
                <a:sym typeface="Calibri"/>
              </a:rPr>
              <a:t>EMPLOYEES (tabla de origen)</a:t>
            </a:r>
            <a:endParaRPr sz="1600">
              <a:latin typeface="Calibri"/>
              <a:ea typeface="Calibri"/>
              <a:cs typeface="Calibri"/>
              <a:sym typeface="Calibri"/>
            </a:endParaRPr>
          </a:p>
        </p:txBody>
      </p:sp>
      <p:graphicFrame>
        <p:nvGraphicFramePr>
          <p:cNvPr id="191" name="Google Shape;191;p26"/>
          <p:cNvGraphicFramePr/>
          <p:nvPr/>
        </p:nvGraphicFramePr>
        <p:xfrm>
          <a:off x="2995703" y="4113796"/>
          <a:ext cx="3000000" cy="3000000"/>
        </p:xfrm>
        <a:graphic>
          <a:graphicData uri="http://schemas.openxmlformats.org/drawingml/2006/table">
            <a:tbl>
              <a:tblPr bandRow="1" firstRow="1">
                <a:noFill/>
                <a:tableStyleId>{538A8C3B-A392-4931-82B0-F71F3AFECD71}</a:tableStyleId>
              </a:tblPr>
              <a:tblGrid>
                <a:gridCol w="1695450"/>
                <a:gridCol w="1637025"/>
                <a:gridCol w="2027550"/>
              </a:tblGrid>
              <a:tr h="28830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EMPLOYEE_ID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883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83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103</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Hunold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83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142</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Davies</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7"/>
          <p:cNvSpPr txBox="1"/>
          <p:nvPr>
            <p:ph type="title"/>
          </p:nvPr>
        </p:nvSpPr>
        <p:spPr>
          <a:xfrm>
            <a:off x="392112" y="748031"/>
            <a:ext cx="4742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Ejemplo de MERGE</a:t>
            </a:r>
            <a:endParaRPr/>
          </a:p>
        </p:txBody>
      </p:sp>
      <p:sp>
        <p:nvSpPr>
          <p:cNvPr id="197" name="Google Shape;197;p27"/>
          <p:cNvSpPr txBox="1"/>
          <p:nvPr>
            <p:ph idx="10" type="dt"/>
          </p:nvPr>
        </p:nvSpPr>
        <p:spPr>
          <a:xfrm>
            <a:off x="2874191" y="6449092"/>
            <a:ext cx="1263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12-3</a:t>
            </a:r>
            <a:endParaRPr/>
          </a:p>
          <a:p>
            <a:pPr indent="0" lvl="0" marL="12700" marR="5080" rtl="0" algn="l">
              <a:lnSpc>
                <a:spcPct val="114874"/>
              </a:lnSpc>
              <a:spcBef>
                <a:spcPts val="60"/>
              </a:spcBef>
              <a:spcAft>
                <a:spcPts val="0"/>
              </a:spcAft>
              <a:buNone/>
            </a:pPr>
            <a:r>
              <a:rPr lang="en-US"/>
              <a:t>Valores DEFAULT, MERGE e Inserciones en Varias Tablas</a:t>
            </a:r>
            <a:endParaRPr/>
          </a:p>
        </p:txBody>
      </p:sp>
      <p:sp>
        <p:nvSpPr>
          <p:cNvPr id="198" name="Google Shape;198;p2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99" name="Google Shape;199;p2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00" name="Google Shape;200;p27"/>
          <p:cNvSpPr txBox="1"/>
          <p:nvPr/>
        </p:nvSpPr>
        <p:spPr>
          <a:xfrm>
            <a:off x="484422" y="1627766"/>
            <a:ext cx="245999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FF0000"/>
                </a:solidFill>
                <a:latin typeface="Calibri"/>
                <a:ea typeface="Calibri"/>
                <a:cs typeface="Calibri"/>
                <a:sym typeface="Calibri"/>
              </a:rPr>
              <a:t>EMPLOYEES (tabla de origen)</a:t>
            </a:r>
            <a:endParaRPr sz="1600">
              <a:latin typeface="Calibri"/>
              <a:ea typeface="Calibri"/>
              <a:cs typeface="Calibri"/>
              <a:sym typeface="Calibri"/>
            </a:endParaRPr>
          </a:p>
        </p:txBody>
      </p:sp>
      <p:sp>
        <p:nvSpPr>
          <p:cNvPr id="201" name="Google Shape;201;p27"/>
          <p:cNvSpPr txBox="1"/>
          <p:nvPr/>
        </p:nvSpPr>
        <p:spPr>
          <a:xfrm>
            <a:off x="486854" y="3024314"/>
            <a:ext cx="313182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FF0000"/>
                </a:solidFill>
                <a:latin typeface="Calibri"/>
                <a:ea typeface="Calibri"/>
                <a:cs typeface="Calibri"/>
                <a:sym typeface="Calibri"/>
              </a:rPr>
              <a:t>COPY_EMP antes de ejecutar MERGE</a:t>
            </a:r>
            <a:endParaRPr sz="1600">
              <a:latin typeface="Calibri"/>
              <a:ea typeface="Calibri"/>
              <a:cs typeface="Calibri"/>
              <a:sym typeface="Calibri"/>
            </a:endParaRPr>
          </a:p>
        </p:txBody>
      </p:sp>
      <p:sp>
        <p:nvSpPr>
          <p:cNvPr id="202" name="Google Shape;202;p27"/>
          <p:cNvSpPr txBox="1"/>
          <p:nvPr/>
        </p:nvSpPr>
        <p:spPr>
          <a:xfrm>
            <a:off x="484422" y="4470116"/>
            <a:ext cx="3367404"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FF0000"/>
                </a:solidFill>
                <a:latin typeface="Calibri"/>
                <a:ea typeface="Calibri"/>
                <a:cs typeface="Calibri"/>
                <a:sym typeface="Calibri"/>
              </a:rPr>
              <a:t>COPY_EMP después de ejecutar MERGE</a:t>
            </a:r>
            <a:endParaRPr sz="1600">
              <a:latin typeface="Calibri"/>
              <a:ea typeface="Calibri"/>
              <a:cs typeface="Calibri"/>
              <a:sym typeface="Calibri"/>
            </a:endParaRPr>
          </a:p>
        </p:txBody>
      </p:sp>
      <p:graphicFrame>
        <p:nvGraphicFramePr>
          <p:cNvPr id="203" name="Google Shape;203;p27"/>
          <p:cNvGraphicFramePr/>
          <p:nvPr/>
        </p:nvGraphicFramePr>
        <p:xfrm>
          <a:off x="2885594" y="1805250"/>
          <a:ext cx="3000000" cy="3000000"/>
        </p:xfrm>
        <a:graphic>
          <a:graphicData uri="http://schemas.openxmlformats.org/drawingml/2006/table">
            <a:tbl>
              <a:tblPr bandRow="1" firstRow="1">
                <a:noFill/>
                <a:tableStyleId>{538A8C3B-A392-4931-82B0-F71F3AFECD71}</a:tableStyleId>
              </a:tblPr>
              <a:tblGrid>
                <a:gridCol w="1695450"/>
                <a:gridCol w="1637025"/>
                <a:gridCol w="2027550"/>
              </a:tblGrid>
              <a:tr h="28830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EMPLOYEE_ID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883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83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103</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Hunold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83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142</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Davies</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aphicFrame>
        <p:nvGraphicFramePr>
          <p:cNvPr id="204" name="Google Shape;204;p27"/>
          <p:cNvGraphicFramePr/>
          <p:nvPr/>
        </p:nvGraphicFramePr>
        <p:xfrm>
          <a:off x="2862696" y="3463133"/>
          <a:ext cx="3000000" cy="3000000"/>
        </p:xfrm>
        <a:graphic>
          <a:graphicData uri="http://schemas.openxmlformats.org/drawingml/2006/table">
            <a:tbl>
              <a:tblPr bandRow="1" firstRow="1">
                <a:noFill/>
                <a:tableStyleId>{538A8C3B-A392-4931-82B0-F71F3AFECD71}</a:tableStyleId>
              </a:tblPr>
              <a:tblGrid>
                <a:gridCol w="1702425"/>
                <a:gridCol w="1645275"/>
                <a:gridCol w="2034550"/>
              </a:tblGrid>
              <a:tr h="28830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EMPLOYEE_ID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883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Smith</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83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103</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Chang</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aphicFrame>
        <p:nvGraphicFramePr>
          <p:cNvPr id="205" name="Google Shape;205;p27"/>
          <p:cNvGraphicFramePr/>
          <p:nvPr/>
        </p:nvGraphicFramePr>
        <p:xfrm>
          <a:off x="2885594" y="4921792"/>
          <a:ext cx="3000000" cy="3000000"/>
        </p:xfrm>
        <a:graphic>
          <a:graphicData uri="http://schemas.openxmlformats.org/drawingml/2006/table">
            <a:tbl>
              <a:tblPr bandRow="1" firstRow="1">
                <a:noFill/>
                <a:tableStyleId>{538A8C3B-A392-4931-82B0-F71F3AFECD71}</a:tableStyleId>
              </a:tblPr>
              <a:tblGrid>
                <a:gridCol w="1695450"/>
                <a:gridCol w="1637025"/>
                <a:gridCol w="2027550"/>
              </a:tblGrid>
              <a:tr h="28830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EMPLOYEE_ID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883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83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103</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Hunold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83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142</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Davies</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8"/>
          <p:cNvSpPr txBox="1"/>
          <p:nvPr>
            <p:ph type="title"/>
          </p:nvPr>
        </p:nvSpPr>
        <p:spPr>
          <a:xfrm>
            <a:off x="392112" y="748031"/>
            <a:ext cx="4742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Inserciones en Varias Tablas</a:t>
            </a:r>
            <a:endParaRPr/>
          </a:p>
        </p:txBody>
      </p:sp>
      <p:sp>
        <p:nvSpPr>
          <p:cNvPr id="211" name="Google Shape;211;p28"/>
          <p:cNvSpPr txBox="1"/>
          <p:nvPr>
            <p:ph idx="10" type="dt"/>
          </p:nvPr>
        </p:nvSpPr>
        <p:spPr>
          <a:xfrm>
            <a:off x="2874191" y="6449092"/>
            <a:ext cx="1263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12-3</a:t>
            </a:r>
            <a:endParaRPr/>
          </a:p>
          <a:p>
            <a:pPr indent="0" lvl="0" marL="12700" marR="5080" rtl="0" algn="l">
              <a:lnSpc>
                <a:spcPct val="114874"/>
              </a:lnSpc>
              <a:spcBef>
                <a:spcPts val="60"/>
              </a:spcBef>
              <a:spcAft>
                <a:spcPts val="0"/>
              </a:spcAft>
              <a:buNone/>
            </a:pPr>
            <a:r>
              <a:rPr lang="en-US"/>
              <a:t>Valores DEFAULT, MERGE e Inserciones en Varias Tablas</a:t>
            </a:r>
            <a:endParaRPr/>
          </a:p>
        </p:txBody>
      </p:sp>
      <p:sp>
        <p:nvSpPr>
          <p:cNvPr id="212" name="Google Shape;212;p2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13" name="Google Shape;213;p2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14" name="Google Shape;214;p28"/>
          <p:cNvSpPr txBox="1"/>
          <p:nvPr/>
        </p:nvSpPr>
        <p:spPr>
          <a:xfrm>
            <a:off x="483552" y="1381889"/>
            <a:ext cx="7992745" cy="4409440"/>
          </a:xfrm>
          <a:prstGeom prst="rect">
            <a:avLst/>
          </a:prstGeom>
          <a:noFill/>
          <a:ln>
            <a:noFill/>
          </a:ln>
        </p:spPr>
        <p:txBody>
          <a:bodyPr anchorCtr="0" anchor="t" bIns="0" lIns="0" spcFirstLastPara="1" rIns="0" wrap="square" tIns="97150">
            <a:spAutoFit/>
          </a:bodyPr>
          <a:lstStyle/>
          <a:p>
            <a:pPr indent="-177800" lvl="0" marL="182880" marR="116839"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inserciones en varias tablas se utilizan cuando se 	deben insertar los mismos datos de origen en más de 	una tabla de destino</a:t>
            </a:r>
            <a:endParaRPr sz="2800">
              <a:latin typeface="Calibri"/>
              <a:ea typeface="Calibri"/>
              <a:cs typeface="Calibri"/>
              <a:sym typeface="Calibri"/>
            </a:endParaRPr>
          </a:p>
          <a:p>
            <a:pPr indent="-177800" lvl="0" marL="182880" marR="84455" rtl="0" algn="l">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Esta funcionalidad resulta útil cuando trabaja en un 	entorno de almacén de datos donde es común mover 	con regularidad datos de los sistemas operativos a un 	almacén de datos para la generación de informes 	analíticos y análisis</a:t>
            </a:r>
            <a:endParaRPr sz="2800">
              <a:latin typeface="Calibri"/>
              <a:ea typeface="Calibri"/>
              <a:cs typeface="Calibri"/>
              <a:sym typeface="Calibri"/>
            </a:endParaRPr>
          </a:p>
          <a:p>
            <a:pPr indent="-177800" lvl="0" marL="182880" marR="5080" rtl="0" algn="just">
              <a:lnSpc>
                <a:spcPct val="80000"/>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creación y la gestión de almacenes de datos es una 	forma de gestionar el a veces muy elevado número de 	filas insertadas en sistemas operativos durante un día 	laborable normal</a:t>
            </a:r>
            <a:endParaRPr sz="2800">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9"/>
          <p:cNvSpPr txBox="1"/>
          <p:nvPr>
            <p:ph type="title"/>
          </p:nvPr>
        </p:nvSpPr>
        <p:spPr>
          <a:xfrm>
            <a:off x="392112" y="748031"/>
            <a:ext cx="4742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Inserciones en Varias Tablas</a:t>
            </a:r>
            <a:endParaRPr/>
          </a:p>
        </p:txBody>
      </p:sp>
      <p:sp>
        <p:nvSpPr>
          <p:cNvPr id="220" name="Google Shape;220;p29"/>
          <p:cNvSpPr txBox="1"/>
          <p:nvPr>
            <p:ph idx="10" type="dt"/>
          </p:nvPr>
        </p:nvSpPr>
        <p:spPr>
          <a:xfrm>
            <a:off x="2874191" y="6449092"/>
            <a:ext cx="1263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12-3</a:t>
            </a:r>
            <a:endParaRPr/>
          </a:p>
          <a:p>
            <a:pPr indent="0" lvl="0" marL="12700" marR="5080" rtl="0" algn="l">
              <a:lnSpc>
                <a:spcPct val="114874"/>
              </a:lnSpc>
              <a:spcBef>
                <a:spcPts val="60"/>
              </a:spcBef>
              <a:spcAft>
                <a:spcPts val="0"/>
              </a:spcAft>
              <a:buNone/>
            </a:pPr>
            <a:r>
              <a:rPr lang="en-US"/>
              <a:t>Valores DEFAULT, MERGE e Inserciones en Varias Tablas</a:t>
            </a:r>
            <a:endParaRPr/>
          </a:p>
        </p:txBody>
      </p:sp>
      <p:sp>
        <p:nvSpPr>
          <p:cNvPr id="221" name="Google Shape;221;p2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22" name="Google Shape;222;p2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23" name="Google Shape;223;p29"/>
          <p:cNvSpPr txBox="1"/>
          <p:nvPr>
            <p:ph idx="1" type="body"/>
          </p:nvPr>
        </p:nvSpPr>
        <p:spPr>
          <a:xfrm>
            <a:off x="483552" y="1415417"/>
            <a:ext cx="8176800" cy="5355900"/>
          </a:xfrm>
          <a:prstGeom prst="rect">
            <a:avLst/>
          </a:prstGeom>
          <a:noFill/>
          <a:ln>
            <a:noFill/>
          </a:ln>
        </p:spPr>
        <p:txBody>
          <a:bodyPr anchorCtr="0" anchor="t" bIns="0" lIns="0" spcFirstLastPara="1" rIns="0" wrap="square" tIns="59675">
            <a:spAutoFit/>
          </a:bodyPr>
          <a:lstStyle/>
          <a:p>
            <a:pPr indent="-177800" lvl="0" marL="182880" marR="31115" rtl="0" algn="l">
              <a:lnSpc>
                <a:spcPct val="108214"/>
              </a:lnSpc>
              <a:spcBef>
                <a:spcPts val="0"/>
              </a:spcBef>
              <a:spcAft>
                <a:spcPts val="0"/>
              </a:spcAft>
              <a:buClr>
                <a:srgbClr val="D1350F"/>
              </a:buClr>
              <a:buSzPts val="2800"/>
              <a:buFont typeface="Arial"/>
              <a:buChar char="•"/>
            </a:pPr>
            <a:r>
              <a:rPr lang="en-US"/>
              <a:t>Imagine, por ejemplo, ¿cuántas filas de datos debe 	crear su proveedor de telefonía diariamente para todas 	sus llamadas o mensajes de texto realizados en todos 	los dispositivos a los que tiene acceso a?</a:t>
            </a:r>
            <a:endParaRPr/>
          </a:p>
          <a:p>
            <a:pPr indent="-177800" lvl="0" marL="182880" marR="143510" rtl="0" algn="l">
              <a:lnSpc>
                <a:spcPct val="108214"/>
              </a:lnSpc>
              <a:spcBef>
                <a:spcPts val="780"/>
              </a:spcBef>
              <a:spcAft>
                <a:spcPts val="0"/>
              </a:spcAft>
              <a:buClr>
                <a:srgbClr val="D1350F"/>
              </a:buClr>
              <a:buSzPts val="2800"/>
              <a:buFont typeface="Arial"/>
              <a:buChar char="•"/>
            </a:pPr>
            <a:r>
              <a:rPr lang="en-US"/>
              <a:t>A continuación, agregue a eso la navegación por 	Internet y las descargas de tonos, fondos de escritorio, 	juegos y otras aplicaciones móviles</a:t>
            </a:r>
            <a:endParaRPr/>
          </a:p>
          <a:p>
            <a:pPr indent="-177800" lvl="0" marL="182880" marR="5080" rtl="0" algn="l">
              <a:lnSpc>
                <a:spcPct val="108214"/>
              </a:lnSpc>
              <a:spcBef>
                <a:spcPts val="785"/>
              </a:spcBef>
              <a:spcAft>
                <a:spcPts val="1200"/>
              </a:spcAft>
              <a:buClr>
                <a:srgbClr val="D1350F"/>
              </a:buClr>
              <a:buSzPts val="2800"/>
              <a:buFont typeface="Arial"/>
              <a:buChar char="•"/>
            </a:pPr>
            <a:r>
              <a:rPr lang="en-US"/>
              <a:t>Multiplique ese número por el número total de clientes 	y eso puede darle una idea de la cantidad de datos que 	las compañías de telecomunicaciones tienen que 	gestionar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type="title"/>
          </p:nvPr>
        </p:nvSpPr>
        <p:spPr>
          <a:xfrm>
            <a:off x="392112" y="748031"/>
            <a:ext cx="4742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Inserciones en Varias Tablas</a:t>
            </a:r>
            <a:endParaRPr/>
          </a:p>
        </p:txBody>
      </p:sp>
      <p:sp>
        <p:nvSpPr>
          <p:cNvPr id="229" name="Google Shape;229;p30"/>
          <p:cNvSpPr txBox="1"/>
          <p:nvPr>
            <p:ph idx="10" type="dt"/>
          </p:nvPr>
        </p:nvSpPr>
        <p:spPr>
          <a:xfrm>
            <a:off x="2874191" y="6449092"/>
            <a:ext cx="1263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12-3</a:t>
            </a:r>
            <a:endParaRPr/>
          </a:p>
          <a:p>
            <a:pPr indent="0" lvl="0" marL="12700" marR="5080" rtl="0" algn="l">
              <a:lnSpc>
                <a:spcPct val="114874"/>
              </a:lnSpc>
              <a:spcBef>
                <a:spcPts val="60"/>
              </a:spcBef>
              <a:spcAft>
                <a:spcPts val="0"/>
              </a:spcAft>
              <a:buNone/>
            </a:pPr>
            <a:r>
              <a:rPr lang="en-US"/>
              <a:t>Valores DEFAULT, MERGE e Inserciones en Varias Tablas</a:t>
            </a:r>
            <a:endParaRPr/>
          </a:p>
        </p:txBody>
      </p:sp>
      <p:sp>
        <p:nvSpPr>
          <p:cNvPr id="230" name="Google Shape;230;p3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31" name="Google Shape;231;p3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2" name="Google Shape;232;p30"/>
          <p:cNvSpPr txBox="1"/>
          <p:nvPr/>
        </p:nvSpPr>
        <p:spPr>
          <a:xfrm>
            <a:off x="483552" y="1415417"/>
            <a:ext cx="8126730" cy="449643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Puede que estas filas se tengan que insertar en más de 	una tabla del almacén de datos, por lo que si 	simplemente tenemos que SELECCIONARLAS una vez y, 	a continuación, replicarlas, se mejorará el rendimiento</a:t>
            </a:r>
            <a:endParaRPr sz="2800">
              <a:latin typeface="Calibri"/>
              <a:ea typeface="Calibri"/>
              <a:cs typeface="Calibri"/>
              <a:sym typeface="Calibri"/>
            </a:endParaRPr>
          </a:p>
          <a:p>
            <a:pPr indent="-177800" lvl="0" marL="182880" marR="38735"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inserciones en varias pueden ser in condicionales o 	condicionales. En una inserción incondicional en varias 	tablas, Oracle insertará todas las filas devueltas por la 	subconsulta en todas las cláusulas de inserción de 	tabla encontradas en la sentencia</a:t>
            </a:r>
            <a:endParaRPr sz="2800">
              <a:latin typeface="Calibri"/>
              <a:ea typeface="Calibri"/>
              <a:cs typeface="Calibri"/>
              <a:sym typeface="Calibri"/>
            </a:endParaRPr>
          </a:p>
          <a:p>
            <a:pPr indent="-177800" lvl="0" marL="182880" marR="439420" rtl="0" algn="l">
              <a:lnSpc>
                <a:spcPct val="108214"/>
              </a:lnSpc>
              <a:spcBef>
                <a:spcPts val="7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una inserción condicional en varias tablas, puede 	especificar ALL o FIRST</a:t>
            </a:r>
            <a:endParaRPr sz="2800">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1"/>
          <p:cNvSpPr txBox="1"/>
          <p:nvPr>
            <p:ph type="title"/>
          </p:nvPr>
        </p:nvSpPr>
        <p:spPr>
          <a:xfrm>
            <a:off x="392112" y="748031"/>
            <a:ext cx="4742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Inserciones en Varias Tablas</a:t>
            </a:r>
            <a:endParaRPr/>
          </a:p>
        </p:txBody>
      </p:sp>
      <p:sp>
        <p:nvSpPr>
          <p:cNvPr id="238" name="Google Shape;238;p31"/>
          <p:cNvSpPr txBox="1"/>
          <p:nvPr>
            <p:ph idx="10" type="dt"/>
          </p:nvPr>
        </p:nvSpPr>
        <p:spPr>
          <a:xfrm>
            <a:off x="2874191" y="6449092"/>
            <a:ext cx="1263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12-3</a:t>
            </a:r>
            <a:endParaRPr/>
          </a:p>
          <a:p>
            <a:pPr indent="0" lvl="0" marL="12700" marR="5080" rtl="0" algn="l">
              <a:lnSpc>
                <a:spcPct val="114874"/>
              </a:lnSpc>
              <a:spcBef>
                <a:spcPts val="60"/>
              </a:spcBef>
              <a:spcAft>
                <a:spcPts val="0"/>
              </a:spcAft>
              <a:buNone/>
            </a:pPr>
            <a:r>
              <a:rPr lang="en-US"/>
              <a:t>Valores DEFAULT, MERGE e Inserciones en Varias Tablas</a:t>
            </a:r>
            <a:endParaRPr/>
          </a:p>
        </p:txBody>
      </p:sp>
      <p:sp>
        <p:nvSpPr>
          <p:cNvPr id="239" name="Google Shape;239;p3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40" name="Google Shape;240;p3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41" name="Google Shape;241;p31"/>
          <p:cNvSpPr txBox="1"/>
          <p:nvPr/>
        </p:nvSpPr>
        <p:spPr>
          <a:xfrm>
            <a:off x="483552" y="1381889"/>
            <a:ext cx="7976234" cy="4318635"/>
          </a:xfrm>
          <a:prstGeom prst="rect">
            <a:avLst/>
          </a:prstGeom>
          <a:noFill/>
          <a:ln>
            <a:noFill/>
          </a:ln>
        </p:spPr>
        <p:txBody>
          <a:bodyPr anchorCtr="0" anchor="t" bIns="0" lIns="0" spcFirstLastPara="1" rIns="0" wrap="square" tIns="12050">
            <a:spAutoFit/>
          </a:bodyPr>
          <a:lstStyle/>
          <a:p>
            <a:pPr indent="-177800" lvl="0" marL="183515" rtl="0" algn="l">
              <a:lnSpc>
                <a:spcPct val="117107"/>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Especificación de ALL:</a:t>
            </a:r>
            <a:endParaRPr sz="2800">
              <a:latin typeface="Calibri"/>
              <a:ea typeface="Calibri"/>
              <a:cs typeface="Calibri"/>
              <a:sym typeface="Calibri"/>
            </a:endParaRPr>
          </a:p>
          <a:p>
            <a:pPr indent="-175260" lvl="0" marL="530860" marR="79375" rtl="0" algn="l">
              <a:lnSpc>
                <a:spcPct val="95833"/>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Si especifica ALL, valor por defecto, la base de datos evalúa cada cláusula WHEN independientemente de los resultados de la evaluación de cualquier otra cláusula WHEN</a:t>
            </a:r>
            <a:endParaRPr sz="2400">
              <a:latin typeface="Calibri"/>
              <a:ea typeface="Calibri"/>
              <a:cs typeface="Calibri"/>
              <a:sym typeface="Calibri"/>
            </a:endParaRPr>
          </a:p>
          <a:p>
            <a:pPr indent="-175260" lvl="0" marL="530225" marR="421005" rtl="0" algn="l">
              <a:lnSpc>
                <a:spcPct val="80000"/>
              </a:lnSpc>
              <a:spcBef>
                <a:spcPts val="44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Para cada cláusula WHEN cuya condición se evalúe como true, la base de datos ejecuta la lista de cláusulas INTO correspondientes</a:t>
            </a:r>
            <a:endParaRPr sz="2400">
              <a:latin typeface="Calibri"/>
              <a:ea typeface="Calibri"/>
              <a:cs typeface="Calibri"/>
              <a:sym typeface="Calibri"/>
            </a:endParaRPr>
          </a:p>
          <a:p>
            <a:pPr indent="-177800" lvl="0" marL="183515" rtl="0" algn="l">
              <a:lnSpc>
                <a:spcPct val="117321"/>
              </a:lnSpc>
              <a:spcBef>
                <a:spcPts val="1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Especificación de FIRST:</a:t>
            </a:r>
            <a:endParaRPr sz="2800">
              <a:latin typeface="Calibri"/>
              <a:ea typeface="Calibri"/>
              <a:cs typeface="Calibri"/>
              <a:sym typeface="Calibri"/>
            </a:endParaRPr>
          </a:p>
          <a:p>
            <a:pPr indent="-175260" lvl="0" marL="530860" marR="511809" rtl="0" algn="l">
              <a:lnSpc>
                <a:spcPct val="80000"/>
              </a:lnSpc>
              <a:spcBef>
                <a:spcPts val="5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Si especifica FIRST, la base de datos evalúa cada cláusula WHEN en el orden en el que aparece en la sentencia</a:t>
            </a:r>
            <a:endParaRPr sz="2400">
              <a:latin typeface="Calibri"/>
              <a:ea typeface="Calibri"/>
              <a:cs typeface="Calibri"/>
              <a:sym typeface="Calibri"/>
            </a:endParaRPr>
          </a:p>
          <a:p>
            <a:pPr indent="-175260" lvl="0" marL="530860" marR="5080" rtl="0" algn="l">
              <a:lnSpc>
                <a:spcPct val="95833"/>
              </a:lnSpc>
              <a:spcBef>
                <a:spcPts val="38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Para la primera cláusula WHEN que se evalúe como true, la base de datos ejecuta la cláusula INTO correspondiente y omite las cláusulas WHEN posteriores de la fila determinada</a:t>
            </a:r>
            <a:endParaRPr sz="2400">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2"/>
          <p:cNvSpPr txBox="1"/>
          <p:nvPr>
            <p:ph type="title"/>
          </p:nvPr>
        </p:nvSpPr>
        <p:spPr>
          <a:xfrm>
            <a:off x="392112" y="748031"/>
            <a:ext cx="4742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Inserciones en Varias Tablas</a:t>
            </a:r>
            <a:endParaRPr/>
          </a:p>
        </p:txBody>
      </p:sp>
      <p:sp>
        <p:nvSpPr>
          <p:cNvPr id="247" name="Google Shape;247;p32"/>
          <p:cNvSpPr txBox="1"/>
          <p:nvPr>
            <p:ph idx="10" type="dt"/>
          </p:nvPr>
        </p:nvSpPr>
        <p:spPr>
          <a:xfrm>
            <a:off x="2874191" y="6449092"/>
            <a:ext cx="1263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12-3</a:t>
            </a:r>
            <a:endParaRPr/>
          </a:p>
          <a:p>
            <a:pPr indent="0" lvl="0" marL="12700" marR="5080" rtl="0" algn="l">
              <a:lnSpc>
                <a:spcPct val="114874"/>
              </a:lnSpc>
              <a:spcBef>
                <a:spcPts val="60"/>
              </a:spcBef>
              <a:spcAft>
                <a:spcPts val="0"/>
              </a:spcAft>
              <a:buNone/>
            </a:pPr>
            <a:r>
              <a:rPr lang="en-US"/>
              <a:t>Valores DEFAULT, MERGE e Inserciones en Varias Tablas</a:t>
            </a:r>
            <a:endParaRPr/>
          </a:p>
        </p:txBody>
      </p:sp>
      <p:sp>
        <p:nvSpPr>
          <p:cNvPr id="248" name="Google Shape;248;p3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49" name="Google Shape;249;p3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50" name="Google Shape;250;p32"/>
          <p:cNvSpPr txBox="1"/>
          <p:nvPr/>
        </p:nvSpPr>
        <p:spPr>
          <a:xfrm>
            <a:off x="483552" y="1393401"/>
            <a:ext cx="8065134" cy="2225675"/>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Especificación de la cláusula ELSE:</a:t>
            </a:r>
            <a:endParaRPr sz="2800">
              <a:latin typeface="Calibri"/>
              <a:ea typeface="Calibri"/>
              <a:cs typeface="Calibri"/>
              <a:sym typeface="Calibri"/>
            </a:endParaRPr>
          </a:p>
          <a:p>
            <a:pPr indent="-175260" lvl="0" marL="530860" marR="28575"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Para una fila determinada, si la cláusula WHEN no se evalúa como true, la base de datos ejecuta la lista de cláusulas INTO asociada con la cláusula ELSE</a:t>
            </a:r>
            <a:endParaRPr sz="2400">
              <a:latin typeface="Calibri"/>
              <a:ea typeface="Calibri"/>
              <a:cs typeface="Calibri"/>
              <a:sym typeface="Calibri"/>
            </a:endParaRPr>
          </a:p>
          <a:p>
            <a:pPr indent="-175260" lvl="0" marL="530860" marR="50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Si no especifica una cláusula ELSE, la base de datos no realiza ninguna acción para dicha fila</a:t>
            </a:r>
            <a:endParaRPr sz="2400">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3"/>
          <p:cNvSpPr txBox="1"/>
          <p:nvPr>
            <p:ph type="title"/>
          </p:nvPr>
        </p:nvSpPr>
        <p:spPr>
          <a:xfrm>
            <a:off x="392112" y="748031"/>
            <a:ext cx="663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Sintaxis de Inserciones en Varias Tablas</a:t>
            </a:r>
            <a:endParaRPr/>
          </a:p>
        </p:txBody>
      </p:sp>
      <p:sp>
        <p:nvSpPr>
          <p:cNvPr id="256" name="Google Shape;256;p33"/>
          <p:cNvSpPr txBox="1"/>
          <p:nvPr>
            <p:ph idx="10" type="dt"/>
          </p:nvPr>
        </p:nvSpPr>
        <p:spPr>
          <a:xfrm>
            <a:off x="2874191" y="6449092"/>
            <a:ext cx="1263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12-3</a:t>
            </a:r>
            <a:endParaRPr/>
          </a:p>
          <a:p>
            <a:pPr indent="0" lvl="0" marL="12700" marR="5080" rtl="0" algn="l">
              <a:lnSpc>
                <a:spcPct val="114874"/>
              </a:lnSpc>
              <a:spcBef>
                <a:spcPts val="60"/>
              </a:spcBef>
              <a:spcAft>
                <a:spcPts val="0"/>
              </a:spcAft>
              <a:buNone/>
            </a:pPr>
            <a:r>
              <a:rPr lang="en-US"/>
              <a:t>Valores DEFAULT, MERGE e Inserciones en Varias Tablas</a:t>
            </a:r>
            <a:endParaRPr/>
          </a:p>
        </p:txBody>
      </p:sp>
      <p:sp>
        <p:nvSpPr>
          <p:cNvPr id="257" name="Google Shape;257;p3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58" name="Google Shape;258;p3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59" name="Google Shape;259;p33"/>
          <p:cNvSpPr txBox="1"/>
          <p:nvPr/>
        </p:nvSpPr>
        <p:spPr>
          <a:xfrm>
            <a:off x="483552" y="1415417"/>
            <a:ext cx="8036559"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sintaxis de la sentencia de inserción en varias tablas 	es la siguiente:</a:t>
            </a:r>
            <a:endParaRPr sz="2800">
              <a:latin typeface="Calibri"/>
              <a:ea typeface="Calibri"/>
              <a:cs typeface="Calibri"/>
              <a:sym typeface="Calibri"/>
            </a:endParaRPr>
          </a:p>
        </p:txBody>
      </p:sp>
      <p:sp>
        <p:nvSpPr>
          <p:cNvPr id="260" name="Google Shape;260;p33"/>
          <p:cNvSpPr txBox="1"/>
          <p:nvPr/>
        </p:nvSpPr>
        <p:spPr>
          <a:xfrm>
            <a:off x="483552" y="2771777"/>
            <a:ext cx="7310755"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ejemplo de la sentencia de inserción en varias 	tablas es el siguiente:</a:t>
            </a:r>
            <a:endParaRPr sz="2800">
              <a:latin typeface="Calibri"/>
              <a:ea typeface="Calibri"/>
              <a:cs typeface="Calibri"/>
              <a:sym typeface="Calibri"/>
            </a:endParaRPr>
          </a:p>
        </p:txBody>
      </p:sp>
      <p:sp>
        <p:nvSpPr>
          <p:cNvPr id="261" name="Google Shape;261;p33"/>
          <p:cNvSpPr txBox="1"/>
          <p:nvPr/>
        </p:nvSpPr>
        <p:spPr>
          <a:xfrm>
            <a:off x="405384" y="2404872"/>
            <a:ext cx="8345805" cy="375285"/>
          </a:xfrm>
          <a:prstGeom prst="rect">
            <a:avLst/>
          </a:prstGeom>
          <a:solidFill>
            <a:srgbClr val="9DBDC4">
              <a:alpha val="49804"/>
            </a:srgbClr>
          </a:solidFill>
          <a:ln>
            <a:noFill/>
          </a:ln>
        </p:spPr>
        <p:txBody>
          <a:bodyPr anchorCtr="0" anchor="t" bIns="0" lIns="0" spcFirstLastPara="1" rIns="0" wrap="square" tIns="2285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INSERT ALL INTO clause VALUES clause SUBQUERY</a:t>
            </a:r>
            <a:endParaRPr sz="1800">
              <a:latin typeface="Courier New"/>
              <a:ea typeface="Courier New"/>
              <a:cs typeface="Courier New"/>
              <a:sym typeface="Courier New"/>
            </a:endParaRPr>
          </a:p>
        </p:txBody>
      </p:sp>
      <p:sp>
        <p:nvSpPr>
          <p:cNvPr id="262" name="Google Shape;262;p33"/>
          <p:cNvSpPr txBox="1"/>
          <p:nvPr/>
        </p:nvSpPr>
        <p:spPr>
          <a:xfrm>
            <a:off x="405384" y="3736847"/>
            <a:ext cx="8345805" cy="2011680"/>
          </a:xfrm>
          <a:prstGeom prst="rect">
            <a:avLst/>
          </a:prstGeom>
          <a:solidFill>
            <a:srgbClr val="9DBDC4">
              <a:alpha val="49804"/>
            </a:srgbClr>
          </a:solidFill>
          <a:ln>
            <a:noFill/>
          </a:ln>
        </p:spPr>
        <p:txBody>
          <a:bodyPr anchorCtr="0" anchor="t" bIns="0" lIns="0" spcFirstLastPara="1" rIns="0" wrap="square" tIns="17775">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INSERT ALL</a:t>
            </a:r>
            <a:endParaRPr sz="1800">
              <a:latin typeface="Courier New"/>
              <a:ea typeface="Courier New"/>
              <a:cs typeface="Courier New"/>
              <a:sym typeface="Courier New"/>
            </a:endParaRPr>
          </a:p>
          <a:p>
            <a:pPr indent="0" lvl="0" marL="4089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INTO my_employees</a:t>
            </a:r>
            <a:endParaRPr sz="1800">
              <a:latin typeface="Courier New"/>
              <a:ea typeface="Courier New"/>
              <a:cs typeface="Courier New"/>
              <a:sym typeface="Courier New"/>
            </a:endParaRPr>
          </a:p>
          <a:p>
            <a:pPr indent="409575" lvl="0" marL="408940" marR="192214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VALUES (hire_date, first_name, last_name) INTO copy_my_employees</a:t>
            </a:r>
            <a:endParaRPr sz="1800">
              <a:latin typeface="Courier New"/>
              <a:ea typeface="Courier New"/>
              <a:cs typeface="Courier New"/>
              <a:sym typeface="Courier New"/>
            </a:endParaRPr>
          </a:p>
          <a:p>
            <a:pPr indent="819785" lvl="0" marL="0" marR="192151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VALUES (hire_date, first_name, last_name) SELECT hire_date, first_name, last_name</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4"/>
          <p:cNvSpPr txBox="1"/>
          <p:nvPr>
            <p:ph type="title"/>
          </p:nvPr>
        </p:nvSpPr>
        <p:spPr>
          <a:xfrm>
            <a:off x="392112" y="748031"/>
            <a:ext cx="7202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Inserciones Condicionales en Varias Tablas</a:t>
            </a:r>
            <a:endParaRPr/>
          </a:p>
        </p:txBody>
      </p:sp>
      <p:sp>
        <p:nvSpPr>
          <p:cNvPr id="268" name="Google Shape;268;p34"/>
          <p:cNvSpPr/>
          <p:nvPr/>
        </p:nvSpPr>
        <p:spPr>
          <a:xfrm>
            <a:off x="393191" y="1447800"/>
            <a:ext cx="8345805" cy="4502150"/>
          </a:xfrm>
          <a:custGeom>
            <a:rect b="b" l="l" r="r" t="t"/>
            <a:pathLst>
              <a:path extrusionOk="0" h="4502150" w="8345805">
                <a:moveTo>
                  <a:pt x="8345424" y="0"/>
                </a:moveTo>
                <a:lnTo>
                  <a:pt x="0" y="0"/>
                </a:lnTo>
                <a:lnTo>
                  <a:pt x="0" y="4501896"/>
                </a:lnTo>
                <a:lnTo>
                  <a:pt x="8345424" y="4501896"/>
                </a:lnTo>
                <a:lnTo>
                  <a:pt x="8345424" y="0"/>
                </a:lnTo>
                <a:close/>
              </a:path>
            </a:pathLst>
          </a:custGeom>
          <a:solidFill>
            <a:srgbClr val="9DBDC4">
              <a:alpha val="4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69" name="Google Shape;269;p34"/>
          <p:cNvSpPr txBox="1"/>
          <p:nvPr/>
        </p:nvSpPr>
        <p:spPr>
          <a:xfrm>
            <a:off x="380491" y="1590638"/>
            <a:ext cx="8333105" cy="31953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INSERT ALL</a:t>
            </a:r>
            <a:endParaRPr sz="1600">
              <a:latin typeface="Courier New"/>
              <a:ea typeface="Courier New"/>
              <a:cs typeface="Courier New"/>
              <a:sym typeface="Courier New"/>
            </a:endParaRPr>
          </a:p>
          <a:p>
            <a:pPr indent="0" lvl="0" marL="378460" marR="2453005" rtl="0" algn="just">
              <a:lnSpc>
                <a:spcPct val="100000"/>
              </a:lnSpc>
              <a:spcBef>
                <a:spcPts val="0"/>
              </a:spcBef>
              <a:spcAft>
                <a:spcPts val="0"/>
              </a:spcAft>
              <a:buNone/>
            </a:pPr>
            <a:r>
              <a:rPr b="1" lang="en-US" sz="1600">
                <a:solidFill>
                  <a:srgbClr val="4E3629"/>
                </a:solidFill>
                <a:latin typeface="Courier New"/>
                <a:ea typeface="Courier New"/>
                <a:cs typeface="Courier New"/>
                <a:sym typeface="Courier New"/>
              </a:rPr>
              <a:t>WHEN call_ format IN ('tlk','txt','pic') THEN INTO all_calls</a:t>
            </a:r>
            <a:endParaRPr sz="1600">
              <a:latin typeface="Courier New"/>
              <a:ea typeface="Courier New"/>
              <a:cs typeface="Courier New"/>
              <a:sym typeface="Courier New"/>
            </a:endParaRPr>
          </a:p>
          <a:p>
            <a:pPr indent="365125" lvl="0" marL="378460" marR="5080" rtl="0" algn="just">
              <a:lnSpc>
                <a:spcPct val="100000"/>
              </a:lnSpc>
              <a:spcBef>
                <a:spcPts val="0"/>
              </a:spcBef>
              <a:spcAft>
                <a:spcPts val="0"/>
              </a:spcAft>
              <a:buNone/>
            </a:pPr>
            <a:r>
              <a:rPr b="1" lang="en-US" sz="1600">
                <a:solidFill>
                  <a:srgbClr val="4E3629"/>
                </a:solidFill>
                <a:latin typeface="Courier New"/>
                <a:ea typeface="Courier New"/>
                <a:cs typeface="Courier New"/>
                <a:sym typeface="Courier New"/>
              </a:rPr>
              <a:t>VALUES (caller_id, call_timestamp, call_duration, call_format) WHEN call_ format IN ('tlk','txt') THEN</a:t>
            </a:r>
            <a:endParaRPr sz="1600">
              <a:latin typeface="Courier New"/>
              <a:ea typeface="Courier New"/>
              <a:cs typeface="Courier New"/>
              <a:sym typeface="Courier New"/>
            </a:endParaRPr>
          </a:p>
          <a:p>
            <a:pPr indent="0" lvl="0" marL="378460" rtl="0" algn="just">
              <a:lnSpc>
                <a:spcPct val="100000"/>
              </a:lnSpc>
              <a:spcBef>
                <a:spcPts val="0"/>
              </a:spcBef>
              <a:spcAft>
                <a:spcPts val="0"/>
              </a:spcAft>
              <a:buNone/>
            </a:pPr>
            <a:r>
              <a:rPr b="1" lang="en-US" sz="1600">
                <a:solidFill>
                  <a:srgbClr val="4E3629"/>
                </a:solidFill>
                <a:latin typeface="Courier New"/>
                <a:ea typeface="Courier New"/>
                <a:cs typeface="Courier New"/>
                <a:sym typeface="Courier New"/>
              </a:rPr>
              <a:t>INTO police_record_calls</a:t>
            </a:r>
            <a:endParaRPr sz="1600">
              <a:latin typeface="Courier New"/>
              <a:ea typeface="Courier New"/>
              <a:cs typeface="Courier New"/>
              <a:sym typeface="Courier New"/>
            </a:endParaRPr>
          </a:p>
          <a:p>
            <a:pPr indent="365125" lvl="0" marL="378460" marR="1228725" rtl="0" algn="just">
              <a:lnSpc>
                <a:spcPct val="100000"/>
              </a:lnSpc>
              <a:spcBef>
                <a:spcPts val="0"/>
              </a:spcBef>
              <a:spcAft>
                <a:spcPts val="0"/>
              </a:spcAft>
              <a:buNone/>
            </a:pPr>
            <a:r>
              <a:rPr b="1" lang="en-US" sz="1600">
                <a:solidFill>
                  <a:srgbClr val="4E3629"/>
                </a:solidFill>
                <a:latin typeface="Courier New"/>
                <a:ea typeface="Courier New"/>
                <a:cs typeface="Courier New"/>
                <a:sym typeface="Courier New"/>
              </a:rPr>
              <a:t>VALUES (caller_id, call_timestamp, recipient_caller) WHEN call_duration &lt; 50 AND call_type = 'tlk' THEN</a:t>
            </a:r>
            <a:endParaRPr sz="1600">
              <a:latin typeface="Courier New"/>
              <a:ea typeface="Courier New"/>
              <a:cs typeface="Courier New"/>
              <a:sym typeface="Courier New"/>
            </a:endParaRPr>
          </a:p>
          <a:p>
            <a:pPr indent="0" lvl="0" marL="378460" rtl="0" algn="just">
              <a:lnSpc>
                <a:spcPct val="100000"/>
              </a:lnSpc>
              <a:spcBef>
                <a:spcPts val="0"/>
              </a:spcBef>
              <a:spcAft>
                <a:spcPts val="0"/>
              </a:spcAft>
              <a:buNone/>
            </a:pPr>
            <a:r>
              <a:rPr b="1" lang="en-US" sz="1600">
                <a:solidFill>
                  <a:srgbClr val="4E3629"/>
                </a:solidFill>
                <a:latin typeface="Courier New"/>
                <a:ea typeface="Courier New"/>
                <a:cs typeface="Courier New"/>
                <a:sym typeface="Courier New"/>
              </a:rPr>
              <a:t>INTO short_calls</a:t>
            </a:r>
            <a:endParaRPr sz="1600">
              <a:latin typeface="Courier New"/>
              <a:ea typeface="Courier New"/>
              <a:cs typeface="Courier New"/>
              <a:sym typeface="Courier New"/>
            </a:endParaRPr>
          </a:p>
          <a:p>
            <a:pPr indent="365125" lvl="0" marL="378460" marR="1595120" rtl="0" algn="just">
              <a:lnSpc>
                <a:spcPct val="100000"/>
              </a:lnSpc>
              <a:spcBef>
                <a:spcPts val="0"/>
              </a:spcBef>
              <a:spcAft>
                <a:spcPts val="0"/>
              </a:spcAft>
              <a:buNone/>
            </a:pPr>
            <a:r>
              <a:rPr b="1" lang="en-US" sz="1600">
                <a:solidFill>
                  <a:srgbClr val="4E3629"/>
                </a:solidFill>
                <a:latin typeface="Courier New"/>
                <a:ea typeface="Courier New"/>
                <a:cs typeface="Courier New"/>
                <a:sym typeface="Courier New"/>
              </a:rPr>
              <a:t>VALUES (caller_id, call_timestamp, call_duration) WHEN call_duration &gt; = 50 AND call_type = 'tlk' THEN INTO long_calls</a:t>
            </a:r>
            <a:endParaRPr sz="1600">
              <a:latin typeface="Courier New"/>
              <a:ea typeface="Courier New"/>
              <a:cs typeface="Courier New"/>
              <a:sym typeface="Courier New"/>
            </a:endParaRPr>
          </a:p>
          <a:p>
            <a:pPr indent="0" lvl="0" marL="744220" rtl="0" algn="just">
              <a:lnSpc>
                <a:spcPct val="100000"/>
              </a:lnSpc>
              <a:spcBef>
                <a:spcPts val="0"/>
              </a:spcBef>
              <a:spcAft>
                <a:spcPts val="0"/>
              </a:spcAft>
              <a:buNone/>
            </a:pPr>
            <a:r>
              <a:rPr b="1" lang="en-US" sz="1600">
                <a:solidFill>
                  <a:srgbClr val="4E3629"/>
                </a:solidFill>
                <a:latin typeface="Courier New"/>
                <a:ea typeface="Courier New"/>
                <a:cs typeface="Courier New"/>
                <a:sym typeface="Courier New"/>
              </a:rPr>
              <a:t>VALUES (caller_id, call_timestamp, call_duration)</a:t>
            </a:r>
            <a:endParaRPr sz="1600">
              <a:latin typeface="Courier New"/>
              <a:ea typeface="Courier New"/>
              <a:cs typeface="Courier New"/>
              <a:sym typeface="Courier New"/>
            </a:endParaRPr>
          </a:p>
        </p:txBody>
      </p:sp>
      <p:sp>
        <p:nvSpPr>
          <p:cNvPr id="270" name="Google Shape;270;p34"/>
          <p:cNvSpPr txBox="1"/>
          <p:nvPr>
            <p:ph idx="10" type="dt"/>
          </p:nvPr>
        </p:nvSpPr>
        <p:spPr>
          <a:xfrm>
            <a:off x="2874191" y="6449092"/>
            <a:ext cx="1263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12-3</a:t>
            </a:r>
            <a:endParaRPr/>
          </a:p>
          <a:p>
            <a:pPr indent="0" lvl="0" marL="12700" marR="5080" rtl="0" algn="l">
              <a:lnSpc>
                <a:spcPct val="114874"/>
              </a:lnSpc>
              <a:spcBef>
                <a:spcPts val="60"/>
              </a:spcBef>
              <a:spcAft>
                <a:spcPts val="0"/>
              </a:spcAft>
              <a:buNone/>
            </a:pPr>
            <a:r>
              <a:rPr lang="en-US"/>
              <a:t>Valores DEFAULT, MERGE e Inserciones en Varias Tablas</a:t>
            </a:r>
            <a:endParaRPr/>
          </a:p>
        </p:txBody>
      </p:sp>
      <p:sp>
        <p:nvSpPr>
          <p:cNvPr id="271" name="Google Shape;271;p3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72" name="Google Shape;272;p3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73" name="Google Shape;273;p34"/>
          <p:cNvSpPr txBox="1"/>
          <p:nvPr/>
        </p:nvSpPr>
        <p:spPr>
          <a:xfrm>
            <a:off x="380694" y="4760538"/>
            <a:ext cx="75692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SELECT</a:t>
            </a:r>
            <a:endParaRPr sz="1600">
              <a:latin typeface="Courier New"/>
              <a:ea typeface="Courier New"/>
              <a:cs typeface="Courier New"/>
              <a:sym typeface="Courier New"/>
            </a:endParaRPr>
          </a:p>
        </p:txBody>
      </p:sp>
      <p:sp>
        <p:nvSpPr>
          <p:cNvPr id="274" name="Google Shape;274;p34"/>
          <p:cNvSpPr txBox="1"/>
          <p:nvPr/>
        </p:nvSpPr>
        <p:spPr>
          <a:xfrm>
            <a:off x="1295038" y="4760538"/>
            <a:ext cx="6620509" cy="513080"/>
          </a:xfrm>
          <a:prstGeom prst="rect">
            <a:avLst/>
          </a:prstGeom>
          <a:noFill/>
          <a:ln>
            <a:noFill/>
          </a:ln>
        </p:spPr>
        <p:txBody>
          <a:bodyPr anchorCtr="0" anchor="t" bIns="0" lIns="0" spcFirstLastPara="1" rIns="0" wrap="square" tIns="12050">
            <a:spAutoFit/>
          </a:bodyPr>
          <a:lstStyle/>
          <a:p>
            <a:pPr indent="-62865" lvl="0" marL="74930" marR="508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caller_id, call_timestamp, call_duration, call_format, recipient_caller</a:t>
            </a:r>
            <a:endParaRPr sz="1600">
              <a:latin typeface="Courier New"/>
              <a:ea typeface="Courier New"/>
              <a:cs typeface="Courier New"/>
              <a:sym typeface="Courier New"/>
            </a:endParaRPr>
          </a:p>
        </p:txBody>
      </p:sp>
      <p:sp>
        <p:nvSpPr>
          <p:cNvPr id="275" name="Google Shape;275;p34"/>
          <p:cNvSpPr txBox="1"/>
          <p:nvPr/>
        </p:nvSpPr>
        <p:spPr>
          <a:xfrm>
            <a:off x="380694" y="5248215"/>
            <a:ext cx="5643245" cy="51308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FROM calls</a:t>
            </a:r>
            <a:endParaRPr sz="1600">
              <a:latin typeface="Courier New"/>
              <a:ea typeface="Courier New"/>
              <a:cs typeface="Courier New"/>
              <a:sym typeface="Courier New"/>
            </a:endParaRPr>
          </a:p>
          <a:p>
            <a:pPr indent="0" lvl="0" marL="1270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WHERE TRUNC(call_timestamp ) = TRUNC(SYSDATE);</a:t>
            </a:r>
            <a:endParaRPr sz="1600">
              <a:latin typeface="Courier New"/>
              <a:ea typeface="Courier New"/>
              <a:cs typeface="Courier New"/>
              <a:sym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5"/>
          <p:cNvSpPr txBox="1"/>
          <p:nvPr>
            <p:ph type="title"/>
          </p:nvPr>
        </p:nvSpPr>
        <p:spPr>
          <a:xfrm>
            <a:off x="392112" y="748031"/>
            <a:ext cx="4742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281" name="Google Shape;281;p35"/>
          <p:cNvSpPr txBox="1"/>
          <p:nvPr>
            <p:ph idx="10" type="dt"/>
          </p:nvPr>
        </p:nvSpPr>
        <p:spPr>
          <a:xfrm>
            <a:off x="2874191" y="6449092"/>
            <a:ext cx="1263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12-3</a:t>
            </a:r>
            <a:endParaRPr/>
          </a:p>
          <a:p>
            <a:pPr indent="0" lvl="0" marL="12700" marR="5080" rtl="0" algn="l">
              <a:lnSpc>
                <a:spcPct val="114874"/>
              </a:lnSpc>
              <a:spcBef>
                <a:spcPts val="60"/>
              </a:spcBef>
              <a:spcAft>
                <a:spcPts val="0"/>
              </a:spcAft>
              <a:buNone/>
            </a:pPr>
            <a:r>
              <a:rPr lang="en-US"/>
              <a:t>Valores DEFAULT, MERGE e Inserciones en Varias Tablas</a:t>
            </a:r>
            <a:endParaRPr/>
          </a:p>
        </p:txBody>
      </p:sp>
      <p:sp>
        <p:nvSpPr>
          <p:cNvPr id="282" name="Google Shape;282;p3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83" name="Google Shape;283;p3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84" name="Google Shape;284;p35"/>
          <p:cNvSpPr txBox="1"/>
          <p:nvPr/>
        </p:nvSpPr>
        <p:spPr>
          <a:xfrm>
            <a:off x="483552" y="1415417"/>
            <a:ext cx="7704455" cy="236029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DEFAULT</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MERGE</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Inserciones en Varias Tablas</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ALL, FIRST y ELSE</a:t>
            </a:r>
            <a:endParaRPr sz="2400">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6"/>
          <p:cNvSpPr txBox="1"/>
          <p:nvPr>
            <p:ph type="title"/>
          </p:nvPr>
        </p:nvSpPr>
        <p:spPr>
          <a:xfrm>
            <a:off x="392112" y="748031"/>
            <a:ext cx="4742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a:t>
            </a:r>
            <a:endParaRPr/>
          </a:p>
        </p:txBody>
      </p:sp>
      <p:sp>
        <p:nvSpPr>
          <p:cNvPr id="290" name="Google Shape;290;p36"/>
          <p:cNvSpPr txBox="1"/>
          <p:nvPr/>
        </p:nvSpPr>
        <p:spPr>
          <a:xfrm>
            <a:off x="483552" y="1393401"/>
            <a:ext cx="7945120" cy="1998345"/>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debe haber aprendido lo siguiente:</a:t>
            </a:r>
            <a:endParaRPr sz="2800">
              <a:latin typeface="Calibri"/>
              <a:ea typeface="Calibri"/>
              <a:cs typeface="Calibri"/>
              <a:sym typeface="Calibri"/>
            </a:endParaRPr>
          </a:p>
          <a:p>
            <a:pPr indent="0" lvl="0" marL="35560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Comprender cuándo especificar un valor DEFAULT</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sentencia MERGE</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Construir y ejecutar sentencias DML utilizando subconsultas</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Construir y ejecutar inserciones en varias tablas</a:t>
            </a:r>
            <a:endParaRPr sz="2400">
              <a:latin typeface="Calibri"/>
              <a:ea typeface="Calibri"/>
              <a:cs typeface="Calibri"/>
              <a:sym typeface="Calibri"/>
            </a:endParaRPr>
          </a:p>
        </p:txBody>
      </p:sp>
      <p:grpSp>
        <p:nvGrpSpPr>
          <p:cNvPr id="291" name="Google Shape;291;p36"/>
          <p:cNvGrpSpPr/>
          <p:nvPr/>
        </p:nvGrpSpPr>
        <p:grpSpPr>
          <a:xfrm>
            <a:off x="4379976" y="3886200"/>
            <a:ext cx="4140707" cy="2261615"/>
            <a:chOff x="4379976" y="3886200"/>
            <a:chExt cx="4140707" cy="2261615"/>
          </a:xfrm>
        </p:grpSpPr>
        <p:pic>
          <p:nvPicPr>
            <p:cNvPr id="292" name="Google Shape;292;p36"/>
            <p:cNvPicPr preferRelativeResize="0"/>
            <p:nvPr/>
          </p:nvPicPr>
          <p:blipFill rotWithShape="1">
            <a:blip r:embed="rId3">
              <a:alphaModFix/>
            </a:blip>
            <a:srcRect b="0" l="0" r="0" t="0"/>
            <a:stretch/>
          </p:blipFill>
          <p:spPr>
            <a:xfrm>
              <a:off x="4379976" y="3886200"/>
              <a:ext cx="4140707" cy="2261615"/>
            </a:xfrm>
            <a:prstGeom prst="rect">
              <a:avLst/>
            </a:prstGeom>
            <a:noFill/>
            <a:ln>
              <a:noFill/>
            </a:ln>
          </p:spPr>
        </p:pic>
        <p:pic>
          <p:nvPicPr>
            <p:cNvPr id="293" name="Google Shape;293;p36"/>
            <p:cNvPicPr preferRelativeResize="0"/>
            <p:nvPr/>
          </p:nvPicPr>
          <p:blipFill rotWithShape="1">
            <a:blip r:embed="rId4">
              <a:alphaModFix/>
            </a:blip>
            <a:srcRect b="0" l="0" r="0" t="0"/>
            <a:stretch/>
          </p:blipFill>
          <p:spPr>
            <a:xfrm>
              <a:off x="4572000" y="4078223"/>
              <a:ext cx="3756659" cy="1877567"/>
            </a:xfrm>
            <a:prstGeom prst="rect">
              <a:avLst/>
            </a:prstGeom>
            <a:noFill/>
            <a:ln>
              <a:noFill/>
            </a:ln>
          </p:spPr>
        </p:pic>
      </p:grpSp>
      <p:sp>
        <p:nvSpPr>
          <p:cNvPr id="294" name="Google Shape;294;p36"/>
          <p:cNvSpPr txBox="1"/>
          <p:nvPr>
            <p:ph idx="10" type="dt"/>
          </p:nvPr>
        </p:nvSpPr>
        <p:spPr>
          <a:xfrm>
            <a:off x="2874191" y="6449092"/>
            <a:ext cx="1263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12-3</a:t>
            </a:r>
            <a:endParaRPr/>
          </a:p>
          <a:p>
            <a:pPr indent="0" lvl="0" marL="12700" marR="5080" rtl="0" algn="l">
              <a:lnSpc>
                <a:spcPct val="114874"/>
              </a:lnSpc>
              <a:spcBef>
                <a:spcPts val="60"/>
              </a:spcBef>
              <a:spcAft>
                <a:spcPts val="0"/>
              </a:spcAft>
              <a:buNone/>
            </a:pPr>
            <a:r>
              <a:rPr lang="en-US"/>
              <a:t>Valores DEFAULT, MERGE e Inserciones en Varias Tablas</a:t>
            </a:r>
            <a:endParaRPr/>
          </a:p>
        </p:txBody>
      </p:sp>
      <p:sp>
        <p:nvSpPr>
          <p:cNvPr id="295" name="Google Shape;295;p3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96" name="Google Shape;296;p3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