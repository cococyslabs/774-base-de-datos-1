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39686A-5CF5-4CF7-97BE-1FD31DAA6DDC}">
  <a:tblStyle styleId="{6C39686A-5CF5-4CF7-97BE-1FD31DAA6D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slide" Target="slides/slide42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074" y="385013"/>
            <a:ext cx="83598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14" y="1415923"/>
            <a:ext cx="8169300" cy="4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836" y="6591325"/>
            <a:ext cx="3220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645" y="6517868"/>
            <a:ext cx="1186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8" y="5570220"/>
              <a:ext cx="1258824" cy="420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8536" y="6564274"/>
            <a:ext cx="3220085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92" y="855979"/>
            <a:ext cx="70491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964" y="2401570"/>
            <a:ext cx="333756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13-3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Modificación de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16053" y="3485388"/>
            <a:ext cx="5060441" cy="2963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074" y="748410"/>
            <a:ext cx="1635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3514" y="1393907"/>
            <a:ext cx="8151495" cy="336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aprenderá 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por qué es importante poder modificar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93090" rtl="0" algn="l">
              <a:lnSpc>
                <a:spcPct val="9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proporcionar un ejemplo para cada una de las  sentencias DDL (ALTER, DROP, RENAME y TRUNCATE) y el  efecto que tiene cada una en las tablas y columnas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Construir una consulta y ejecutar los comandos ADD, MODIFY  y DROP de ALTER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ejecutar FLASHBACK QUERY en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realizar operaciones FLASHBACK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92074" y="748410"/>
            <a:ext cx="1635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3514" y="1393907"/>
            <a:ext cx="8091170" cy="4024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aprenderá 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434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Seguimiento de los Cambios en los Datos a lo Largo de un  Período de Tiempo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8669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los motivos para utilizar TRUNCATE frente a DELETE  en las tablas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815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Agregar un comentario a una tabla utilizando el comando  COMMENT ON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Enumerar los cambios que se pueden y no se pueden realizar  en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85153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cuándo y por qué la sentencia SET UNUSED es  ventajosa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92074" y="748410"/>
            <a:ext cx="1471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3514" y="1415923"/>
            <a:ext cx="7947659" cy="3445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¿Recuerde la frase "No hay nada permanente excepto  el cambio"?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1115" rtl="0" algn="l">
              <a:lnSpc>
                <a:spcPct val="108214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¿No sería fantástico si nunca cometiéramos errores ni  necesitáramos cambiar nada?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18540" rtl="0" algn="l">
              <a:lnSpc>
                <a:spcPct val="107857"/>
              </a:lnSpc>
              <a:spcBef>
                <a:spcPts val="80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sabe hasta ahora, las bases de datos son  entidades dinámicas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84935" rtl="0" algn="l">
              <a:lnSpc>
                <a:spcPct val="107857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Probablemente no serían muy útiles si no se  pudieran cambiar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92074" y="748410"/>
            <a:ext cx="1471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83514" y="1415923"/>
            <a:ext cx="8018780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65735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Hasta ahora, ha creado tablas y realizado los cambios  en los datos de fila de tablas, ¿pero cómo realiza  cambios en las propias tablas?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7857"/>
              </a:lnSpc>
              <a:spcBef>
                <a:spcPts val="81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presentan los comandos DDL que se  utilizan para modificar, renombrar, vaciar o  simplemente eliminar una tabla por completo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92074" y="748410"/>
            <a:ext cx="2169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</a:t>
            </a:r>
            <a:endParaRPr sz="3300"/>
          </a:p>
        </p:txBody>
      </p:sp>
      <p:sp>
        <p:nvSpPr>
          <p:cNvPr id="109" name="Google Shape;109;p19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10" name="Google Shape;110;p19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83514" y="1393907"/>
            <a:ext cx="7905750" cy="286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sentencias ALTER TABLE se utilizan para: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Agregar una nueva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Modificar una columna existente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un valor DEFAULT para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Borrar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0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agregar o modificar una columna de una tabla,  pero no puede especificar donde aparece la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92074" y="748410"/>
            <a:ext cx="2169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</a:t>
            </a:r>
            <a:endParaRPr sz="3300"/>
          </a:p>
        </p:txBody>
      </p:sp>
      <p:sp>
        <p:nvSpPr>
          <p:cNvPr id="118" name="Google Shape;118;p20"/>
          <p:cNvSpPr txBox="1"/>
          <p:nvPr/>
        </p:nvSpPr>
        <p:spPr>
          <a:xfrm>
            <a:off x="483514" y="1415923"/>
            <a:ext cx="802322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29845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columna recién agregada siempre se convierte en  la última columna de la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Además, si una tabla ya tiene filas de datos y agrega  una nueva columna a la tabla, la nueva columna  inicialmente será nula para todas las filas ya existentes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2279" y="3947159"/>
            <a:ext cx="3137154" cy="2102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21" name="Google Shape;121;p20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92074" y="748410"/>
            <a:ext cx="6525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TABLE: Adición de una Columna</a:t>
            </a:r>
            <a:endParaRPr sz="3300"/>
          </a:p>
        </p:txBody>
      </p:sp>
      <p:sp>
        <p:nvSpPr>
          <p:cNvPr id="128" name="Google Shape;128;p21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29" name="Google Shape;129;p21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83514" y="1415923"/>
            <a:ext cx="8051800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agregar una nueva columna, utilice la sintaxis SQL  que se muestra a continuación: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83514" y="3257169"/>
            <a:ext cx="203771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05384" y="2337816"/>
            <a:ext cx="8345805" cy="80962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7881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ADD (column name data type [DEFAULT expression],  column name data type [DEFAULT expression], ...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05384" y="3858767"/>
            <a:ext cx="8345805" cy="5867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my_cd_collection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ADD (release_date DATE DEFAULT SYSDATE);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93191" y="4594859"/>
            <a:ext cx="8345805" cy="5867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my_friends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ADD (favorite_game VARCHAR2(30));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92074" y="748410"/>
            <a:ext cx="746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TABLE: Modificación de una Columna</a:t>
            </a:r>
            <a:endParaRPr sz="3300"/>
          </a:p>
        </p:txBody>
      </p:sp>
      <p:sp>
        <p:nvSpPr>
          <p:cNvPr id="141" name="Google Shape;141;p22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42" name="Google Shape;142;p22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483514" y="1382394"/>
            <a:ext cx="8088630" cy="446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-177800" lvl="0" marL="184785" marR="5080" rtl="0" algn="l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modificación de una columna puede incluir cambios  en el tipo de dato, tamaño y valor DEFAULT de una 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49860" rtl="0" algn="l">
              <a:lnSpc>
                <a:spcPct val="96071"/>
              </a:lnSpc>
              <a:spcBef>
                <a:spcPts val="80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reglas y las restricciones al modificar una columna  son las siguientes: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20395" rtl="0" algn="l">
              <a:lnSpc>
                <a:spcPct val="8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aumentar el ancho o la precisión de una columna  numérica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aumentar el ancho de una columna de caracteres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65430" rtl="0" algn="l">
              <a:lnSpc>
                <a:spcPct val="95833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reducir el ancho de una columna NUMBER si la  columna contiene únicamente valores nulos o si la tabla no  tiene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94945" rtl="0" algn="l">
              <a:lnSpc>
                <a:spcPct val="95833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tipos VARCHAR, puede reducir el ancho hasta el mayor  valor incluido en la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92074" y="748410"/>
            <a:ext cx="7461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TABLE: Modificación de una Columna</a:t>
            </a:r>
            <a:endParaRPr sz="3300"/>
          </a:p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483514" y="1415923"/>
            <a:ext cx="8178800" cy="334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022985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cambiar el tipo de dato solo si la columna  contiene valores nulos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4765" rtl="0" algn="l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puede convertir una columna CHAR a VARCHAR2  o una columna VARCHAR2 a CHAR si la columna  contiene valores nulos, o bien si no cambia el tamaño a  algo más pequeño que cualquier valor de la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7857"/>
              </a:lnSpc>
              <a:spcBef>
                <a:spcPts val="85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cambio del valor DEFAULT de una columna silo afecta  a las inserciones posteriores en la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92074" y="385013"/>
            <a:ext cx="83598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ALTER TABLE: Modificación de una  Columna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483514" y="1420495"/>
            <a:ext cx="7032625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272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 se ha creado una tabla con dos columnas: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393191" y="1892807"/>
            <a:ext cx="8345805" cy="7867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5890" lvl="0" marL="409575" marR="4788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(last_name VARCHAR2(20),  salary NUMBER(8,2));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393191" y="3724655"/>
            <a:ext cx="8345805" cy="454659"/>
          </a:xfrm>
          <a:custGeom>
            <a:rect b="b" l="l" r="r" t="t"/>
            <a:pathLst>
              <a:path extrusionOk="0" h="454660" w="8345805">
                <a:moveTo>
                  <a:pt x="8345424" y="0"/>
                </a:moveTo>
                <a:lnTo>
                  <a:pt x="0" y="0"/>
                </a:lnTo>
                <a:lnTo>
                  <a:pt x="0" y="454152"/>
                </a:lnTo>
                <a:lnTo>
                  <a:pt x="8345424" y="454152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" name="Google Shape;162;p24"/>
          <p:cNvSpPr txBox="1"/>
          <p:nvPr/>
        </p:nvSpPr>
        <p:spPr>
          <a:xfrm>
            <a:off x="380491" y="2733522"/>
            <a:ext cx="8132445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925">
            <a:spAutoFit/>
          </a:bodyPr>
          <a:lstStyle/>
          <a:p>
            <a:pPr indent="-172720" lvl="0" marL="2876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¿Cuál de estas modificaciones estaría permitida y cuál no?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287655" marR="0" rtl="0" algn="l">
              <a:lnSpc>
                <a:spcPct val="118076"/>
              </a:lnSpc>
              <a:spcBef>
                <a:spcPts val="49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Considere las respuestas con y sin filas de datos en la tabla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95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MODIFY (last_name VARCHAR2(30));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4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64" name="Google Shape;164;p24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393191" y="4265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1570350"/>
                <a:gridCol w="6774825"/>
              </a:tblGrid>
              <a:tr h="470925"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ALTER TABLE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59690" rtl="0" algn="r">
                        <a:lnSpc>
                          <a:spcPct val="11777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MODIFY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B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8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mod_emp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7310" marR="0" rtl="0" algn="l">
                        <a:lnSpc>
                          <a:spcPct val="11777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(last_name VARCHAR2(10));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B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DE1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10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ALTER TABLE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596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MODIFY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T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10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mod_emp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73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(salary NUMBER(10,2));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T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DE1"/>
                    </a:solidFill>
                  </a:tcPr>
                </a:tc>
              </a:tr>
              <a:tr h="524250">
                <a:tc>
                  <a:txBody>
                    <a:bodyPr/>
                    <a:lstStyle/>
                    <a:p>
                      <a:pPr indent="0" lvl="0" marL="0" marR="60325" rtl="0" algn="r">
                        <a:lnSpc>
                          <a:spcPct val="112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ALTER TABLE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59690" rtl="0" algn="r">
                        <a:lnSpc>
                          <a:spcPct val="11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MODIFY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T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D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1122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mod_emp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67310" marR="0" rtl="0" algn="l">
                        <a:lnSpc>
                          <a:spcPct val="11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(salary NUMBER(8,2) DEFAULT 50);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T cap="flat" cmpd="sng" w="82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D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92074" y="385013"/>
            <a:ext cx="83598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ALTER TABLE: Modificación de una  Columna</a:t>
            </a:r>
            <a:endParaRPr/>
          </a:p>
        </p:txBody>
      </p:sp>
      <p:sp>
        <p:nvSpPr>
          <p:cNvPr id="172" name="Google Shape;172;p25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73" name="Google Shape;173;p25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483514" y="1902079"/>
            <a:ext cx="8134984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estaría permitida si las columnas estuvieran vacías  o el nombre más largo tuviera 10 caracteres o menos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483514" y="3743705"/>
            <a:ext cx="7633334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Estaría permitida con o sin datos ya que aumenta el  ancho de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393191" y="2994660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2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MODIFY (last_name VARCHAR2(10));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393191" y="4890515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2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MODIFY (last_name VARCHAR2(30));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392074" y="385013"/>
            <a:ext cx="83598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ALTER TABLE: Modificación de una  Columna</a:t>
            </a:r>
            <a:endParaRPr/>
          </a:p>
        </p:txBody>
      </p:sp>
      <p:sp>
        <p:nvSpPr>
          <p:cNvPr id="184" name="Google Shape;184;p26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85" name="Google Shape;185;p26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483514" y="1902079"/>
            <a:ext cx="7626984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Estaría permitida con o sin datos ya que aumenta la  precisión de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83514" y="3743705"/>
            <a:ext cx="7973695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permitiría con o sin datos, ya que solo se agrega un  valor DEFAULT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417576" y="2942844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1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MODIFY (salary NUMBER(10,2));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417576" y="4890515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mod_emp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1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MODIFY (salary NUMBER(8,2) DEFAULT 50);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92074" y="748410"/>
            <a:ext cx="662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TABLE: Borrado de una Columna</a:t>
            </a:r>
            <a:endParaRPr sz="3300"/>
          </a:p>
        </p:txBody>
      </p:sp>
      <p:sp>
        <p:nvSpPr>
          <p:cNvPr id="196" name="Google Shape;196;p27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197" name="Google Shape;197;p27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483514" y="1393907"/>
            <a:ext cx="7955280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borrar una columna se aplican las siguientes reglas: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puede borrar una columna que contenga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se puede borrar una columna cada vez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74675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puede borrar todas las columnas de una tabla; debe  permanecer al menos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165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vez borrada la columna, los valores de datos de esta no  se pueden recuperar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92074" y="748410"/>
            <a:ext cx="662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ALTER TABLE: Borrado de una Columna</a:t>
            </a:r>
            <a:endParaRPr sz="3300"/>
          </a:p>
        </p:txBody>
      </p:sp>
      <p:sp>
        <p:nvSpPr>
          <p:cNvPr id="205" name="Google Shape;205;p28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06" name="Google Shape;206;p28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483514" y="1415923"/>
            <a:ext cx="200913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 SQL: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483514" y="2873120"/>
            <a:ext cx="203771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05384" y="2071116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COLUMN column name;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399288" y="3520440"/>
            <a:ext cx="8345805" cy="5200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my_cd_collection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COLUMN release_date;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405384" y="4404359"/>
            <a:ext cx="8345805" cy="51815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my_friends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COLUMN favorite_game;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392074" y="748410"/>
            <a:ext cx="481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SET UNUSED para Columnas</a:t>
            </a:r>
            <a:endParaRPr sz="3300"/>
          </a:p>
        </p:txBody>
      </p:sp>
      <p:sp>
        <p:nvSpPr>
          <p:cNvPr id="218" name="Google Shape;218;p29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19" name="Google Shape;219;p29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483514" y="1420495"/>
            <a:ext cx="7974330" cy="403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172720" lvl="0" marL="184785" marR="645795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Borrar una columna de una tabla grande puede llevar  mucho tiempo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421005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alternativa más rápida es marcar la columna como  no utilizable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valores de columna permanecen en la base de datos,  pero no se puede acceder a ellos de ninguna forma, por lo  que el efecto es el mismo que borrar la columna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85725" rtl="0" algn="l">
              <a:lnSpc>
                <a:spcPct val="108076"/>
              </a:lnSpc>
              <a:spcBef>
                <a:spcPts val="845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hecho, puede agregar una nueva columna a la base de  datos con el mismo nombre que la columna no utilizada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0" rtl="0" algn="l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columnas no utilizadas existen, pero son invisibles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83514" y="5495035"/>
            <a:ext cx="1296035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272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1876044" y="5602223"/>
            <a:ext cx="6863080" cy="3219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tablename SET UNUSED (column name);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392074" y="748410"/>
            <a:ext cx="6813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SET UNUSED para Columnas</a:t>
            </a:r>
            <a:endParaRPr sz="3300"/>
          </a:p>
        </p:txBody>
      </p:sp>
      <p:sp>
        <p:nvSpPr>
          <p:cNvPr id="229" name="Google Shape;229;p30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30" name="Google Shape;230;p30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483514" y="1415923"/>
            <a:ext cx="14662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483514" y="2388488"/>
            <a:ext cx="7877175" cy="257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DROP UNUSED COLUMNS elimina todas las columnas  marcadas actualmente como no utilizadas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84328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Utilice esta sentencia cuando desee reclamar el  espacio en disco adicional de las columnas no  utilizadas en una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393191" y="1840992"/>
            <a:ext cx="8345805" cy="53530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copy_employees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9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SET UNUSED (email);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393191" y="4962144"/>
            <a:ext cx="8345805" cy="5365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4788535" rtl="0" algn="ctr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copy_employees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7821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UNUSED COLUMNS;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92074" y="748410"/>
            <a:ext cx="4363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 de ALTER TABLE</a:t>
            </a:r>
            <a:endParaRPr sz="3300"/>
          </a:p>
        </p:txBody>
      </p:sp>
      <p:sp>
        <p:nvSpPr>
          <p:cNvPr id="241" name="Google Shape;241;p31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42" name="Google Shape;242;p31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3" name="Google Shape;243;p31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83514" y="1415923"/>
            <a:ext cx="8176895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gráfico se resumen los usos del comando ALTER  TABLE: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31"/>
          <p:cNvGraphicFramePr/>
          <p:nvPr/>
        </p:nvGraphicFramePr>
        <p:xfrm>
          <a:off x="398462" y="2393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2948300"/>
                <a:gridCol w="2047875"/>
                <a:gridCol w="3351525"/>
              </a:tblGrid>
              <a:tr h="265950">
                <a:tc>
                  <a:txBody>
                    <a:bodyPr/>
                    <a:lstStyle/>
                    <a:p>
                      <a:pPr indent="0" lvl="0" marL="139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Sintaxis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74050">
                <a:tc>
                  <a:txBody>
                    <a:bodyPr/>
                    <a:lstStyle/>
                    <a:p>
                      <a:pPr indent="0" lvl="0" marL="13970" marR="5841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 TABLE tablename ADD (column name  data type [DEFAULT expression], column name  data type [DEFAULT expression], …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 una nueva columna a 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4604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517525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puede especificar dónde debe aparecer la  columna en la tabla. Se convierte en la última  columna.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74050">
                <a:tc>
                  <a:txBody>
                    <a:bodyPr/>
                    <a:lstStyle/>
                    <a:p>
                      <a:pPr indent="0" lvl="0" marL="13970" marR="603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 TABLE tablename MODIFY (column  name data type [DEFAULT expression], column  name data type, …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184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utiliza para cambiar el tipo de  dato, tamaño y valor por  defecto de una columna.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9715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cambio del valor por defecto de una columna solo  afecta a las inserciones posteriores en la tabla.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74050">
                <a:tc>
                  <a:txBody>
                    <a:bodyPr/>
                    <a:lstStyle/>
                    <a:p>
                      <a:pPr indent="0" lvl="0" marL="13970" marR="456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 TABLE tablename DROP COLUMN  column name;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47688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utiliza para borrar una  columna de una tabla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64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Debe quedar al menos una columna en la tabla  después de modificarla. Una vez borrada, la columna  no se puede recuperar.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74050">
                <a:tc>
                  <a:txBody>
                    <a:bodyPr/>
                    <a:lstStyle/>
                    <a:p>
                      <a:pPr indent="0" lvl="0" marL="13970" marR="850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 TABLE tablename SET UNUSED (column  name);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285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utiliza para marcar una o más  columnas para que se puedan  borrar más tarde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76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restaura espacio en disco. Las columnas se tratan  como si se hubieran borrado.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74050">
                <a:tc>
                  <a:txBody>
                    <a:bodyPr/>
                    <a:lstStyle/>
                    <a:p>
                      <a:pPr indent="0" lvl="0" marL="139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 TABLE tablename DROP UNUSED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397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8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1460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 de la tabla todas las  columnas marcadas  actualmente como no utilizadas.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4604" marR="1143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 vez definidas como no utilizadas, no hay acceso  a las columnas; no se muestra ningún dato con  DESCRIBE. Eliminación permanente; sin rollback.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392074" y="748410"/>
            <a:ext cx="2117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DROP TABLE</a:t>
            </a:r>
            <a:endParaRPr sz="3300"/>
          </a:p>
        </p:txBody>
      </p:sp>
      <p:sp>
        <p:nvSpPr>
          <p:cNvPr id="251" name="Google Shape;251;p32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52" name="Google Shape;252;p32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83514" y="1415923"/>
            <a:ext cx="8169275" cy="3822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29337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DROP TABLE elimina la definición de una  tabla de Oracle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base de datos pierde todos los datos de la tabla y los  índices asociados a los mismos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se emite una sentencia DROP TABLE: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suprimen todos los datos de la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elimina la descripción de la tabla del diccionario de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67335" rtl="0" algn="l">
              <a:lnSpc>
                <a:spcPct val="107857"/>
              </a:lnSpc>
              <a:spcBef>
                <a:spcPts val="82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Server no cuestiona la decisión y borra la tabla  inmediatamente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title"/>
          </p:nvPr>
        </p:nvSpPr>
        <p:spPr>
          <a:xfrm>
            <a:off x="392074" y="748410"/>
            <a:ext cx="2117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DROP TABLE</a:t>
            </a:r>
            <a:endParaRPr sz="3300"/>
          </a:p>
        </p:txBody>
      </p:sp>
      <p:sp>
        <p:nvSpPr>
          <p:cNvPr id="260" name="Google Shape;260;p33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61" name="Google Shape;261;p33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2" name="Google Shape;262;p33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483514" y="1415923"/>
            <a:ext cx="8157209" cy="257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37465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diapositiva, verá que puede restaurar  una tabla después borrarla, pero no está garantizado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el creador de la tabla o un usuario con el privilegio  DROP ANY TABLE (normalmente solo el DBA) puede  eliminar una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83514" y="4621529"/>
            <a:ext cx="14662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405384" y="4165091"/>
            <a:ext cx="8345805" cy="25907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tablename;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393191" y="5311140"/>
            <a:ext cx="8345805" cy="25907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copy_employees;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392074" y="748410"/>
            <a:ext cx="3113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TABLE</a:t>
            </a:r>
            <a:endParaRPr sz="3300"/>
          </a:p>
        </p:txBody>
      </p:sp>
      <p:sp>
        <p:nvSpPr>
          <p:cNvPr id="272" name="Google Shape;272;p34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73" name="Google Shape;273;p34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4" name="Google Shape;274;p34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4"/>
          <p:cNvSpPr txBox="1"/>
          <p:nvPr>
            <p:ph idx="1" type="body"/>
          </p:nvPr>
        </p:nvSpPr>
        <p:spPr>
          <a:xfrm>
            <a:off x="483514" y="1415923"/>
            <a:ext cx="81693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3843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/>
              <a:t>Si borra una tabla por error, puede recuperar esa tabla  y sus datos</a:t>
            </a:r>
            <a:endParaRPr/>
          </a:p>
          <a:p>
            <a:pPr indent="-177800" lvl="0" marL="184785" marR="5080" rtl="0" algn="l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/>
              <a:t>Cada usuario de base de datos tiene su propia papelera  de reciclaje a la que se mueven los objetos borrados y  que se pueden recuperar de aquí con el comando  FLASHBACK TABLE</a:t>
            </a:r>
            <a:endParaRPr/>
          </a:p>
          <a:p>
            <a:pPr indent="-177800" lvl="0" marL="184785" marR="530860" rtl="0" algn="l">
              <a:lnSpc>
                <a:spcPct val="107857"/>
              </a:lnSpc>
              <a:spcBef>
                <a:spcPts val="85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/>
              <a:t>Este comando se puede utilizar para restaurar una  tabla, una vista o un índice que se haya borrado por  error</a:t>
            </a:r>
            <a:endParaRPr/>
          </a:p>
          <a:p>
            <a:pPr indent="-177800" lvl="0" marL="184785" rtl="0" algn="l">
              <a:lnSpc>
                <a:spcPct val="100000"/>
              </a:lnSpc>
              <a:spcBef>
                <a:spcPts val="425"/>
              </a:spcBef>
              <a:spcAft>
                <a:spcPts val="120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/>
              <a:t>La sintaxis es la siguiente:</a:t>
            </a:r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393191" y="5605271"/>
            <a:ext cx="8345805" cy="3613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FLASHBACK TABLE tablename TO BEFORE DROP;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92074" y="748410"/>
            <a:ext cx="3113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TABLE</a:t>
            </a:r>
            <a:endParaRPr sz="3300"/>
          </a:p>
        </p:txBody>
      </p:sp>
      <p:sp>
        <p:nvSpPr>
          <p:cNvPr id="282" name="Google Shape;282;p35"/>
          <p:cNvSpPr txBox="1"/>
          <p:nvPr/>
        </p:nvSpPr>
        <p:spPr>
          <a:xfrm>
            <a:off x="483514" y="1415923"/>
            <a:ext cx="7563484" cy="1219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si borra la tabla EMPLOYEES por error,  puede recuperarla simplemente emitiendo el  comando: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483514" y="3156585"/>
            <a:ext cx="7900670" cy="247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177800" lvl="0" marL="184785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propietario de una tabla, puede emitir el  comando de flashback y si la tabla que está  restaurando tenía índices, estos también se restauran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87680" rtl="0" algn="l">
              <a:lnSpc>
                <a:spcPct val="108214"/>
              </a:lnSpc>
              <a:spcBef>
                <a:spcPts val="83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posible ver los objetos que se pueden restaurar  consultando la vista del diccionario de datos  USER_RECYCLEBIN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417576" y="2679192"/>
            <a:ext cx="8345805" cy="3613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FLASHBACK TABLE copy_employees TO BEFORE DROP;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5" name="Google Shape;28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523" y="4959096"/>
            <a:ext cx="1284731" cy="159715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5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87" name="Google Shape;287;p35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type="title"/>
          </p:nvPr>
        </p:nvSpPr>
        <p:spPr>
          <a:xfrm>
            <a:off x="392074" y="748410"/>
            <a:ext cx="3113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TABLE</a:t>
            </a:r>
            <a:endParaRPr sz="3300"/>
          </a:p>
        </p:txBody>
      </p:sp>
      <p:sp>
        <p:nvSpPr>
          <p:cNvPr id="294" name="Google Shape;294;p36"/>
          <p:cNvSpPr txBox="1"/>
          <p:nvPr/>
        </p:nvSpPr>
        <p:spPr>
          <a:xfrm>
            <a:off x="483514" y="1415923"/>
            <a:ext cx="7664450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puede consultar la vista USER_RECYCLEBIN como  todas las demás vistas del diccionario de datos: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523" y="4959096"/>
            <a:ext cx="1284731" cy="15971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36"/>
          <p:cNvGraphicFramePr/>
          <p:nvPr/>
        </p:nvGraphicFramePr>
        <p:xfrm>
          <a:off x="798512" y="33354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2504450"/>
                <a:gridCol w="2504450"/>
                <a:gridCol w="2504450"/>
              </a:tblGrid>
              <a:tr h="3683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DROPTIME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2007-12-05:12.34.24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4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EMP_PK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2007-12-05:12.34.24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36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298" name="Google Shape;298;p36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405384" y="2427732"/>
            <a:ext cx="8345805" cy="57340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original_name, operation, droptime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user_recyclebin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392074" y="748410"/>
            <a:ext cx="3113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TABLE</a:t>
            </a:r>
            <a:endParaRPr sz="3300"/>
          </a:p>
        </p:txBody>
      </p:sp>
      <p:sp>
        <p:nvSpPr>
          <p:cNvPr id="306" name="Google Shape;306;p37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07" name="Google Shape;307;p37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08" name="Google Shape;308;p37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7"/>
          <p:cNvSpPr txBox="1"/>
          <p:nvPr/>
        </p:nvSpPr>
        <p:spPr>
          <a:xfrm>
            <a:off x="483514" y="1415923"/>
            <a:ext cx="8078470" cy="38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13411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vez restaurada una tabla con el comando  FLASHBACK TABLE, ya no está visible en la vista  USER_RECYCLEBIN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80695" rtl="0" algn="l">
              <a:lnSpc>
                <a:spcPct val="107857"/>
              </a:lnSpc>
              <a:spcBef>
                <a:spcPts val="81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Cualquier índice que se borrara con la tabla original  también se restaurará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32740" rtl="0" algn="l">
              <a:lnSpc>
                <a:spcPct val="90000"/>
              </a:lnSpc>
              <a:spcBef>
                <a:spcPts val="76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que sea necesario (por motivos de seguridad)  borrar una tabla completamente, omitiendo la  papelera de reciclaje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se puede hacer agregando la palabra clave PURGE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7"/>
          <p:cNvSpPr txBox="1"/>
          <p:nvPr/>
        </p:nvSpPr>
        <p:spPr>
          <a:xfrm>
            <a:off x="393191" y="5413247"/>
            <a:ext cx="8345805" cy="3251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copy_employees PURGE;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392074" y="748410"/>
            <a:ext cx="1534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RENAME</a:t>
            </a:r>
            <a:endParaRPr sz="3300"/>
          </a:p>
        </p:txBody>
      </p:sp>
      <p:sp>
        <p:nvSpPr>
          <p:cNvPr id="316" name="Google Shape;316;p38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17" name="Google Shape;317;p38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18" name="Google Shape;318;p38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483514" y="1382394"/>
            <a:ext cx="7898765" cy="202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-177800" lvl="0" marL="184785" marR="1018540" rtl="0" algn="l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cambiar el nombre de una tabla, utilice la  sentencia RENAME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96071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solo lo puede hacer el propietario del objeto o el  DBA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483514" y="3838194"/>
            <a:ext cx="14662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483514" y="4723638"/>
            <a:ext cx="8012430" cy="1134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-177800" lvl="0" marL="184785" marR="5080" rtl="0" algn="just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Veremos más adelante que podemos renombrar otros  tipos de objetos como, por ejemplo, vistas, secuencias  y sinónimos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393191" y="3429000"/>
            <a:ext cx="8345805" cy="3251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RENAME old_name to new_name;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3" name="Google Shape;323;p38"/>
          <p:cNvSpPr txBox="1"/>
          <p:nvPr/>
        </p:nvSpPr>
        <p:spPr>
          <a:xfrm>
            <a:off x="391668" y="4326635"/>
            <a:ext cx="8347075" cy="3251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RENAME my_cd_collection TO my_music;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392074" y="748410"/>
            <a:ext cx="1838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TRUNCATE</a:t>
            </a:r>
            <a:endParaRPr sz="3300"/>
          </a:p>
        </p:txBody>
      </p:sp>
      <p:sp>
        <p:nvSpPr>
          <p:cNvPr id="329" name="Google Shape;329;p39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30" name="Google Shape;330;p39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31" name="Google Shape;331;p39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483514" y="1415923"/>
            <a:ext cx="7945120" cy="2799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truncar una tabla, se eliminan todas las filas de una  tabla y se libera el espacio de almacenamiento  utilizado por dicha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utiliza la sentencia TRUNCATE TABLE: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puede realizar rollback de la eliminación de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3958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Debe ser el propietario de la tabla o tener privilegios de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0860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sistema DROP ANY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/>
          <p:nvPr>
            <p:ph type="title"/>
          </p:nvPr>
        </p:nvSpPr>
        <p:spPr>
          <a:xfrm>
            <a:off x="392074" y="748410"/>
            <a:ext cx="1838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TRUNCATE</a:t>
            </a:r>
            <a:endParaRPr sz="3300"/>
          </a:p>
        </p:txBody>
      </p:sp>
      <p:sp>
        <p:nvSpPr>
          <p:cNvPr id="338" name="Google Shape;338;p40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39" name="Google Shape;339;p40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40" name="Google Shape;340;p40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483514" y="1415923"/>
            <a:ext cx="13754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483514" y="2388488"/>
            <a:ext cx="8054340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la sentencia DELETE también se eliminan todas las  filas de una tabla, pero no se libera el espacio de  almacenamiento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88963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TRUNCATE es más rápido que DELETE porque no  genera información de rollback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405384" y="1953767"/>
            <a:ext cx="8345805" cy="3251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TRUNCATE TABLE tablename;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type="title"/>
          </p:nvPr>
        </p:nvSpPr>
        <p:spPr>
          <a:xfrm>
            <a:off x="392074" y="748410"/>
            <a:ext cx="3682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COMMENT ON TABLE</a:t>
            </a:r>
            <a:endParaRPr sz="3300"/>
          </a:p>
        </p:txBody>
      </p:sp>
      <p:sp>
        <p:nvSpPr>
          <p:cNvPr id="349" name="Google Shape;349;p41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50" name="Google Shape;350;p41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51" name="Google Shape;351;p41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483514" y="1415923"/>
            <a:ext cx="7877175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agregar un comentario de hasta 2.000  caracteres sobre una columna, tabla o vista mediante  la sentencia COMMENT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Sintaxis: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483514" y="3640912"/>
            <a:ext cx="14655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405384" y="3105911"/>
            <a:ext cx="8345805" cy="58547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81990" lvl="0" marL="681990" marR="178562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COMMENT ON TABLE tablename | COLUMN table.column  IS 'place your comment here';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405384" y="4178808"/>
            <a:ext cx="8345805" cy="58547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COMMENT ON TABLE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1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IS 'Western Region only';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type="title"/>
          </p:nvPr>
        </p:nvSpPr>
        <p:spPr>
          <a:xfrm>
            <a:off x="392074" y="748410"/>
            <a:ext cx="3682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COMMENT ON TABLE</a:t>
            </a:r>
            <a:endParaRPr sz="3300"/>
          </a:p>
        </p:txBody>
      </p:sp>
      <p:sp>
        <p:nvSpPr>
          <p:cNvPr id="361" name="Google Shape;361;p42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62" name="Google Shape;362;p42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63" name="Google Shape;363;p42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483514" y="1415923"/>
            <a:ext cx="7763509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ver los comentarios de la tabla en el diccionario  de datos: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483514" y="4229861"/>
            <a:ext cx="8113395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 borrar un comentario realizado anteriormente  en una tabla o columna, utilice la cadena vacía ("):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42"/>
          <p:cNvGraphicFramePr/>
          <p:nvPr/>
        </p:nvGraphicFramePr>
        <p:xfrm>
          <a:off x="2491867" y="32075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2079625"/>
                <a:gridCol w="2079625"/>
              </a:tblGrid>
              <a:tr h="3671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COMMENTS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7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Western Region Only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42"/>
          <p:cNvSpPr txBox="1"/>
          <p:nvPr/>
        </p:nvSpPr>
        <p:spPr>
          <a:xfrm>
            <a:off x="405384" y="2510027"/>
            <a:ext cx="8345805" cy="58547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4651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table_name, comments  FROM user_tab_comments;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417576" y="5210555"/>
            <a:ext cx="8345805" cy="3994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COMMENT ON TABLE employees IS ' ' 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374" name="Google Shape;374;p43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75" name="Google Shape;375;p43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76" name="Google Shape;376;p43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3"/>
          <p:cNvSpPr txBox="1"/>
          <p:nvPr/>
        </p:nvSpPr>
        <p:spPr>
          <a:xfrm>
            <a:off x="483514" y="1382394"/>
            <a:ext cx="8112125" cy="461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-177800" lvl="0" marL="184785" marR="308610" rtl="0" algn="l">
              <a:lnSpc>
                <a:spcPct val="96071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que detecte que los datos en una tabla se han  cambiado, de algún modo, de forma incorrecta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34645" rtl="0" algn="l">
              <a:lnSpc>
                <a:spcPct val="80000"/>
              </a:lnSpc>
              <a:spcBef>
                <a:spcPts val="82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Afortunadamente, Oracle tiene una función que  permite ver los datos de fila en momentos concretos  en el tiempo, por lo que puede comparar diferentes  versiones de una fila a lo largo del tiempo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función es muy útil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2387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Imagine, por ejemplo, que alguien por error ha  realizado algún DML en una tabla y, a continuación,  ejecuta COMMIT en dichos cambios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Application Express confirma automáticamente,  por lo que se cometen fácilmente errores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383" name="Google Shape;383;p44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84" name="Google Shape;384;p44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85" name="Google Shape;385;p44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483514" y="1415923"/>
            <a:ext cx="8056245" cy="411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6731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utilizar la función FLASHBACK QUERY para  examinar qué aspecto tenían las filas ANTES de que se  aplicaran esos cambios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160" rtl="0" algn="l">
              <a:lnSpc>
                <a:spcPct val="107857"/>
              </a:lnSpc>
              <a:spcBef>
                <a:spcPts val="81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Oracle cambia datos, siempre mantiene una  copia del aspecto de los datos corregidos antes de que  se realizara cualquier cambio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lo que mantiene una copia del valor anterior de la  columna para una actualización de columna, mantiene  toda la fila para una supresión y no mantiene nada  para una sentencia de inserción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392" name="Google Shape;392;p45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393" name="Google Shape;393;p45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94" name="Google Shape;394;p45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483514" y="1415923"/>
            <a:ext cx="8072755" cy="296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108075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Estas copias antiguas se mantienen en un lugar  especial denominado el tablespace UNDO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usuarios pueden acceder a esta zona especial de la  base de datos mediante una consulta de flashback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69240" rtl="0" algn="l">
              <a:lnSpc>
                <a:spcPct val="90000"/>
              </a:lnSpc>
              <a:spcBef>
                <a:spcPts val="75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consultar las versiones anteriores de los datos  utilizando la cláusula VERSIONS en una sentencia 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01" name="Google Shape;401;p46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02" name="Google Shape;402;p46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03" name="Google Shape;403;p46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 txBox="1"/>
          <p:nvPr/>
        </p:nvSpPr>
        <p:spPr>
          <a:xfrm>
            <a:off x="483514" y="1382394"/>
            <a:ext cx="203771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6"/>
          <p:cNvSpPr txBox="1"/>
          <p:nvPr/>
        </p:nvSpPr>
        <p:spPr>
          <a:xfrm>
            <a:off x="483514" y="3596716"/>
            <a:ext cx="8136890" cy="226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177800" lvl="0" marL="184785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número SCN al que se hacía referencia en la consulta  anterior significa que el número de cambio del sistema  es una identificación precisa de tiempo en la base de 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39115" rtl="0" algn="l">
              <a:lnSpc>
                <a:spcPct val="96071"/>
              </a:lnSpc>
              <a:spcBef>
                <a:spcPts val="78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trata de un número secuencial que incrementa y  mantiene la propia base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6"/>
          <p:cNvSpPr txBox="1"/>
          <p:nvPr/>
        </p:nvSpPr>
        <p:spPr>
          <a:xfrm>
            <a:off x="393191" y="1882139"/>
            <a:ext cx="8345805" cy="16967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employee_id,first_name ||' '|| last_name AS "NAME",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87680" marR="3087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versions_operation 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"OPERATION",  </a:t>
            </a:r>
            <a:r>
              <a:rPr b="1" lang="en-US" sz="16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versions_starttime 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"START_DATE",  </a:t>
            </a:r>
            <a:r>
              <a:rPr b="1" lang="en-US" sz="16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versions_endtime	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"END_DATE", salary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320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 BETWEEN SCN MINVALUE AND MAXVALUE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employee_id = 1;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7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12" name="Google Shape;412;p47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13" name="Google Shape;413;p47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14" name="Google Shape;414;p47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7"/>
          <p:cNvSpPr txBox="1"/>
          <p:nvPr/>
        </p:nvSpPr>
        <p:spPr>
          <a:xfrm>
            <a:off x="483514" y="1415923"/>
            <a:ext cx="7823834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7272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mejor forma de demostrar FLASHBACK QUERY es  con un ejemplo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0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contenido es el siguiente para employee_id 1 en la  tabla de empleados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 txBox="1"/>
          <p:nvPr/>
        </p:nvSpPr>
        <p:spPr>
          <a:xfrm>
            <a:off x="471931" y="5219522"/>
            <a:ext cx="26130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han encontrado datos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7"/>
          <p:cNvSpPr txBox="1"/>
          <p:nvPr/>
        </p:nvSpPr>
        <p:spPr>
          <a:xfrm>
            <a:off x="405384" y="3186683"/>
            <a:ext cx="8345805" cy="18872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employee_id,first_name ||' '|| last_name AS "NAME",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marR="24676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versions_operation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"OPERATION",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versions_starttime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"START_DATE",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versions_endtime	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"END_DATE",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 BETWEEN SCN MINVALUE AND MAXVALUE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8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23" name="Google Shape;423;p48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24" name="Google Shape;424;p48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25" name="Google Shape;425;p48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380491" y="1579244"/>
            <a:ext cx="57708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creamos el empleado: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7" name="Google Shape;427;p48"/>
          <p:cNvGraphicFramePr/>
          <p:nvPr/>
        </p:nvGraphicFramePr>
        <p:xfrm>
          <a:off x="734313" y="5298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1273800"/>
                <a:gridCol w="1397000"/>
                <a:gridCol w="1010925"/>
                <a:gridCol w="2168525"/>
                <a:gridCol w="918200"/>
                <a:gridCol w="732150"/>
              </a:tblGrid>
              <a:tr h="3358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START_DATE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END_DATE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58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06.51.58 AM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33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20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428" name="Google Shape;428;p48"/>
          <p:cNvSpPr txBox="1"/>
          <p:nvPr/>
        </p:nvSpPr>
        <p:spPr>
          <a:xfrm>
            <a:off x="405384" y="2272283"/>
            <a:ext cx="8345805" cy="81724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copy_employees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VALUES (1, 'Natacha', 'Hansen', 'NHANSEN', '4412312341234',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92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'07-SEP-1998', 'AD_VP', 12000, null, 100, 90, NULL);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393191" y="3221735"/>
            <a:ext cx="8345805" cy="188531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employee_id,first_name ||' '|| last_name AS "NAME",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7370" marR="2466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versions_operation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"OPERATION",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versions_starttime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"START_DATE",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versions_endtime	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"END_DATE",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 BETWEEN SCN MINVALUE AND MAXVALUE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35" name="Google Shape;435;p49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36" name="Google Shape;436;p49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37" name="Google Shape;437;p49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9"/>
          <p:cNvSpPr txBox="1"/>
          <p:nvPr/>
        </p:nvSpPr>
        <p:spPr>
          <a:xfrm>
            <a:off x="483514" y="1415923"/>
            <a:ext cx="58527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puede actualizar la fila: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p49"/>
          <p:cNvGraphicFramePr/>
          <p:nvPr/>
        </p:nvGraphicFramePr>
        <p:xfrm>
          <a:off x="821867" y="48705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1019800"/>
                <a:gridCol w="1202050"/>
                <a:gridCol w="882025"/>
                <a:gridCol w="1866275"/>
                <a:gridCol w="1917700"/>
                <a:gridCol w="601350"/>
              </a:tblGrid>
              <a:tr h="3358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START_DATE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8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END_DATE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947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06.57.01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58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06.51.58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06.57.01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p49"/>
          <p:cNvSpPr txBox="1"/>
          <p:nvPr/>
        </p:nvSpPr>
        <p:spPr>
          <a:xfrm>
            <a:off x="405384" y="1937004"/>
            <a:ext cx="8345805" cy="81724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UPDATE copy_employees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SET salary = 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405384" y="2865120"/>
            <a:ext cx="8345805" cy="18872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employee_id,first_name ||' '|| last_name AS "NAME",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marR="24676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versions_operation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"OPERATION",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versions_starttime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"START_DATE",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versions_endtime	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"END_DATE",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 BETWEEN SCN MINVALUE AND MAXVALUE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47" name="Google Shape;447;p50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48" name="Google Shape;448;p50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49" name="Google Shape;449;p50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483514" y="1415923"/>
            <a:ext cx="56737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puede suprimir la fila: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1" name="Google Shape;451;p50"/>
          <p:cNvGraphicFramePr/>
          <p:nvPr/>
        </p:nvGraphicFramePr>
        <p:xfrm>
          <a:off x="821867" y="46452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{6C39686A-5CF5-4CF7-97BE-1FD31DAA6DDC}</a:tableStyleId>
              </a:tblPr>
              <a:tblGrid>
                <a:gridCol w="1019800"/>
                <a:gridCol w="1202050"/>
                <a:gridCol w="882025"/>
                <a:gridCol w="1866275"/>
                <a:gridCol w="1917700"/>
                <a:gridCol w="601350"/>
              </a:tblGrid>
              <a:tr h="3358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START_DATE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84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END_DATE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58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07.00.10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58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06.57.01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07.00.10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58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Natacha Hansen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06.51.58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07-SEP-1998 06.57.01 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325" marB="0" marR="0" marL="0">
                    <a:lnL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452" name="Google Shape;452;p50"/>
          <p:cNvSpPr txBox="1"/>
          <p:nvPr/>
        </p:nvSpPr>
        <p:spPr>
          <a:xfrm>
            <a:off x="405384" y="1882139"/>
            <a:ext cx="8345805" cy="6267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copy_employees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50"/>
          <p:cNvSpPr txBox="1"/>
          <p:nvPr/>
        </p:nvSpPr>
        <p:spPr>
          <a:xfrm>
            <a:off x="405384" y="2636520"/>
            <a:ext cx="8345805" cy="18872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employee_id,first_name ||' '|| last_name AS "NAME",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marR="24676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versions_operation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"OPERATION",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versions_starttime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"START_DATE",  </a:t>
            </a: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versions_endtime	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"END_DATE",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1350E"/>
                </a:solidFill>
                <a:latin typeface="Courier New"/>
                <a:ea typeface="Courier New"/>
                <a:cs typeface="Courier New"/>
                <a:sym typeface="Courier New"/>
              </a:rPr>
              <a:t>VERSIONS BETWEEN SCN MINVALUE AND MAXVALUE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>
            <p:ph type="title"/>
          </p:nvPr>
        </p:nvSpPr>
        <p:spPr>
          <a:xfrm>
            <a:off x="392074" y="748410"/>
            <a:ext cx="3269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FLASHBACK QUERY</a:t>
            </a:r>
            <a:endParaRPr sz="3300"/>
          </a:p>
        </p:txBody>
      </p:sp>
      <p:sp>
        <p:nvSpPr>
          <p:cNvPr id="459" name="Google Shape;459;p51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60" name="Google Shape;460;p51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61" name="Google Shape;461;p51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1"/>
          <p:cNvSpPr txBox="1"/>
          <p:nvPr/>
        </p:nvSpPr>
        <p:spPr>
          <a:xfrm>
            <a:off x="483514" y="1415923"/>
            <a:ext cx="7590155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187960" rtl="0" algn="just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resultado de la última consulta de la diapositiva  anterior solo está disponible si se utiliza Flashback  query, es decir, la cláusula VERSIONS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7857"/>
              </a:lnSpc>
              <a:spcBef>
                <a:spcPts val="815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intenta realizar una búsqueda normal de  employee_id = 1 tras la sentencia delete, recibirá el  error normal, No Data Found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405384" y="4005071"/>
            <a:ext cx="8345805" cy="8826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3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copy_employees  WHERE employee_id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 txBox="1"/>
          <p:nvPr>
            <p:ph type="title"/>
          </p:nvPr>
        </p:nvSpPr>
        <p:spPr>
          <a:xfrm>
            <a:off x="392074" y="748410"/>
            <a:ext cx="223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469" name="Google Shape;469;p52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70" name="Google Shape;470;p52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71" name="Google Shape;471;p52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2"/>
          <p:cNvSpPr txBox="1"/>
          <p:nvPr/>
        </p:nvSpPr>
        <p:spPr>
          <a:xfrm>
            <a:off x="483514" y="1415923"/>
            <a:ext cx="7707630" cy="3336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ALTER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165" lvl="1" marL="87503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D1350E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b="0" i="0" sz="20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177165" lvl="1" marL="87503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D1350E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endParaRPr b="0" i="0" sz="20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177165" lvl="1" marL="875030" marR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>
                <a:srgbClr val="D1350E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endParaRPr b="0" i="0" sz="20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DROP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TRUNCATE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"/>
          <p:cNvSpPr txBox="1"/>
          <p:nvPr>
            <p:ph type="title"/>
          </p:nvPr>
        </p:nvSpPr>
        <p:spPr>
          <a:xfrm>
            <a:off x="392074" y="748410"/>
            <a:ext cx="223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478" name="Google Shape;478;p53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79" name="Google Shape;479;p53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80" name="Google Shape;480;p53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3"/>
          <p:cNvSpPr txBox="1"/>
          <p:nvPr/>
        </p:nvSpPr>
        <p:spPr>
          <a:xfrm>
            <a:off x="483514" y="1415923"/>
            <a:ext cx="7707630" cy="236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800" lvl="0" marL="184785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COMMENT ON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FLASHBACK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FLASHBACK QUERY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SET UNUSED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"/>
          <p:cNvSpPr txBox="1"/>
          <p:nvPr>
            <p:ph type="title"/>
          </p:nvPr>
        </p:nvSpPr>
        <p:spPr>
          <a:xfrm>
            <a:off x="392074" y="748410"/>
            <a:ext cx="1602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487" name="Google Shape;487;p54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88" name="Google Shape;488;p54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89" name="Google Shape;489;p54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4"/>
          <p:cNvSpPr txBox="1"/>
          <p:nvPr/>
        </p:nvSpPr>
        <p:spPr>
          <a:xfrm>
            <a:off x="483514" y="1393907"/>
            <a:ext cx="8151495" cy="336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ha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por qué es importante poder modificar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93090" rtl="0" algn="l">
              <a:lnSpc>
                <a:spcPct val="9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proporcionar un ejemplo para cada una de las  sentencias DDL (ALTER, DROP, RENAME y TRUNCATE) y el  efecto que tiene cada una en las tablas y columnas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Construir una consulta y ejecutar los comandos ADD, MODIFY  y DROP de ALTER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ejecutar FLASHBACK QUERY en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y realizar operaciones FLASHBACK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type="title"/>
          </p:nvPr>
        </p:nvSpPr>
        <p:spPr>
          <a:xfrm>
            <a:off x="392074" y="748410"/>
            <a:ext cx="1602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496" name="Google Shape;496;p55"/>
          <p:cNvSpPr txBox="1"/>
          <p:nvPr>
            <p:ph idx="10" type="dt"/>
          </p:nvPr>
        </p:nvSpPr>
        <p:spPr>
          <a:xfrm>
            <a:off x="2874645" y="6517868"/>
            <a:ext cx="1186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Modificación de una Tabla</a:t>
            </a:r>
            <a:endParaRPr/>
          </a:p>
        </p:txBody>
      </p:sp>
      <p:sp>
        <p:nvSpPr>
          <p:cNvPr id="497" name="Google Shape;497;p55"/>
          <p:cNvSpPr txBox="1"/>
          <p:nvPr>
            <p:ph idx="11" type="ftr"/>
          </p:nvPr>
        </p:nvSpPr>
        <p:spPr>
          <a:xfrm>
            <a:off x="5172836" y="6591325"/>
            <a:ext cx="322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498" name="Google Shape;498;p55"/>
          <p:cNvSpPr txBox="1"/>
          <p:nvPr>
            <p:ph idx="12" type="sldNum"/>
          </p:nvPr>
        </p:nvSpPr>
        <p:spPr>
          <a:xfrm>
            <a:off x="8602980" y="6591325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483514" y="1393907"/>
            <a:ext cx="8091170" cy="4024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E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ha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434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Seguimiento de los Cambios en los Datos a lo Largo de un  Período de Tiempo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8669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los motivos para utilizar TRUNCATE frente a DELETE  en las tablas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815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Agregar un comentario a una tabla utilizando el comando  COMMENT ON TABLE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Enumerar los cambios que se pueden y no se pueden realizar  en una columna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85153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cuándo y por qué la sentencia SET UNUSED es  ventajosa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