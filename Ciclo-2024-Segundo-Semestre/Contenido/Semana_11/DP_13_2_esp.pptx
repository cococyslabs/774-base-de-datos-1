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68580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96F63B4-2A52-4E26-8514-78795E7FD2E4}">
  <a:tblStyle styleId="{396F63B4-2A52-4E26-8514-78795E7FD2E4}"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 name="Google Shape;58;p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 name="Google Shape;70;p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 name="Google Shape;79;p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 name="Google Shape;88;p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 name="Google Shape;97;p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2023-02-15 14:30:04</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Las fracciones de segundos pueden  ser importantes para algunas  empresas. La moneda y los  mercados de valores deben  conocer la hora exacta a la que  se producen transacciones, ya  que los precios pueden cambiar  cientos de veces en un segundo,  por lo que deben poder realizar  un seguimiento de la hora  precisa de  transacciones/fluctuaciones de  precios hasta las fracciones de  segundo.</a:t>
            </a:r>
            <a:endParaRPr/>
          </a:p>
        </p:txBody>
      </p:sp>
      <p:sp>
        <p:nvSpPr>
          <p:cNvPr id="133" name="Google Shape;133;p1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2023-02-15 14:30:04</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La tabla time_ex1 tiene una columna  de tipo TIMESTAMP. Introduce  un valor TIMESTAMP como un  literal.</a:t>
            </a:r>
            <a:endParaRPr/>
          </a:p>
          <a:p>
            <a:pPr indent="0" lvl="0" marL="0" rtl="0" algn="l">
              <a:spcBef>
                <a:spcPts val="0"/>
              </a:spcBef>
              <a:spcAft>
                <a:spcPts val="0"/>
              </a:spcAft>
              <a:buNone/>
            </a:pPr>
            <a:r>
              <a:rPr lang="en-US"/>
              <a:t>Utiliza la función SYSDATE, pero  SYSDATE solo devuelve la hora hasta el  segundo más cercano, por lo  que no se registra ningún  microsegundo.</a:t>
            </a:r>
            <a:endParaRPr/>
          </a:p>
          <a:p>
            <a:pPr indent="0" lvl="0" marL="0" rtl="0" algn="l">
              <a:spcBef>
                <a:spcPts val="0"/>
              </a:spcBef>
              <a:spcAft>
                <a:spcPts val="0"/>
              </a:spcAft>
              <a:buNone/>
            </a:pPr>
            <a:r>
              <a:rPr lang="en-US"/>
              <a:t>Utiliza la función SYSTIMESTAMP.  Esto es similar a SYSDATE,  pero también devuelve  fracciones de segundos, por lo  que se inserta la hora hasta el  microsegundo más próximo.</a:t>
            </a:r>
            <a:endParaRPr/>
          </a:p>
        </p:txBody>
      </p:sp>
      <p:sp>
        <p:nvSpPr>
          <p:cNvPr id="142" name="Google Shape;142;p1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1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1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2023-02-15 14:30:04</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La tabla time_ex2 tiene una columna  de tipo TIMESTAMP WITH TIME  ZONE. </a:t>
            </a:r>
            <a:endParaRPr/>
          </a:p>
          <a:p>
            <a:pPr indent="0" lvl="0" marL="0" rtl="0" algn="l">
              <a:spcBef>
                <a:spcPts val="0"/>
              </a:spcBef>
              <a:spcAft>
                <a:spcPts val="0"/>
              </a:spcAft>
              <a:buNone/>
            </a:pPr>
            <a:r>
              <a:rPr lang="en-US"/>
              <a:t>Utiliza la función SYSTIMESTAMP  para agregar la hora con el  desplazamiento de UTC. Como  el servidor APEX está ubicado  en California, EE. UU., la zona  horaria es UTC - 7:00 (Hora  Oficial del Pacífico o PST)  Introduce un valor literal  TIMESTAMP WITH LOCAL  TIME con la hora local de  UTC+2:00.</a:t>
            </a:r>
            <a:endParaRPr/>
          </a:p>
        </p:txBody>
      </p:sp>
      <p:sp>
        <p:nvSpPr>
          <p:cNvPr id="175" name="Google Shape;175;p1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1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2023-02-15 14:30:05</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El tipo de dato TIMESTAMP WITH  LOCAL TIME ZONE almacena el  registro de hora sin la  información de zona horaria.  Convierte la hora para la zona  horaria de la base de datos cada  vez que se envían los datos a y  desde un cliente. Debido a las  limitaciones de la versión en  línea alojado de APEX, el  ejemplo anterior siempre  mostrará la hora local como UTC  -07:00 (PST).</a:t>
            </a:r>
            <a:endParaRPr/>
          </a:p>
        </p:txBody>
      </p:sp>
      <p:sp>
        <p:nvSpPr>
          <p:cNvPr id="200" name="Google Shape;200;p1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p1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p1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2023-02-15 14:30:05</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La tabla se crea con 2 columnas de  tipo INTERVAL YEAR TO  MONTHS. </a:t>
            </a:r>
            <a:endParaRPr/>
          </a:p>
          <a:p>
            <a:pPr indent="0" lvl="0" marL="0" rtl="0" algn="l">
              <a:spcBef>
                <a:spcPts val="0"/>
              </a:spcBef>
              <a:spcAft>
                <a:spcPts val="0"/>
              </a:spcAft>
              <a:buNone/>
            </a:pPr>
            <a:r>
              <a:rPr lang="en-US"/>
              <a:t>La sentencia INSERT agrega un  INTERVALO de 120 meses (10 años) a  Loan_duration1 y un intervalo de  3 años y 6 meses a  loan_duration2.</a:t>
            </a:r>
            <a:endParaRPr/>
          </a:p>
        </p:txBody>
      </p:sp>
      <p:sp>
        <p:nvSpPr>
          <p:cNvPr id="234" name="Google Shape;234;p1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p2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2023-02-15 14:30:06</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Esta tabla se crea con 2 columnas  INTERVAL DAY TO SECOND.</a:t>
            </a:r>
            <a:endParaRPr/>
          </a:p>
          <a:p>
            <a:pPr indent="0" lvl="0" marL="0" rtl="0" algn="l">
              <a:spcBef>
                <a:spcPts val="0"/>
              </a:spcBef>
              <a:spcAft>
                <a:spcPts val="0"/>
              </a:spcAft>
              <a:buNone/>
            </a:pPr>
            <a:r>
              <a:rPr lang="en-US"/>
              <a:t>La sentencia INSERT agrega un  INTERVALO de 25 días a day_duration1 y 4  días, 10  horas,  30  minutos  y   10 segundos a day_duration2.  La sentencia SELECT toma la  fecha actual y agrega las  duraciones almacenados en las  columnas.</a:t>
            </a:r>
            <a:endParaRPr/>
          </a:p>
        </p:txBody>
      </p:sp>
      <p:sp>
        <p:nvSpPr>
          <p:cNvPr id="260" name="Google Shape;260;p2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p2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3" name="Google Shape;283;p2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644233"/>
            <a:ext cx="4045200" cy="197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50" name="Shape 50"/>
        <p:cNvGrpSpPr/>
        <p:nvPr/>
      </p:nvGrpSpPr>
      <p:grpSpPr>
        <a:xfrm>
          <a:off x="0" y="0"/>
          <a:ext cx="0" cy="0"/>
          <a:chOff x="0" y="0"/>
          <a:chExt cx="0" cy="0"/>
        </a:xfrm>
      </p:grpSpPr>
      <p:sp>
        <p:nvSpPr>
          <p:cNvPr id="51" name="Google Shape;51;p13"/>
          <p:cNvSpPr txBox="1"/>
          <p:nvPr>
            <p:ph type="title"/>
          </p:nvPr>
        </p:nvSpPr>
        <p:spPr>
          <a:xfrm>
            <a:off x="392112" y="748031"/>
            <a:ext cx="7073400" cy="5283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800"/>
              <a:buNone/>
              <a:defRPr b="0" i="0" sz="3300">
                <a:solidFill>
                  <a:srgbClr val="4E3629"/>
                </a:solidFill>
                <a:latin typeface="Calibri"/>
                <a:ea typeface="Calibri"/>
                <a:cs typeface="Calibri"/>
                <a:sym typeface="Calibri"/>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 name="Google Shape;52;p13"/>
          <p:cNvSpPr txBox="1"/>
          <p:nvPr>
            <p:ph idx="1" type="body"/>
          </p:nvPr>
        </p:nvSpPr>
        <p:spPr>
          <a:xfrm>
            <a:off x="483552" y="3052193"/>
            <a:ext cx="7836600" cy="28047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800"/>
              <a:buNone/>
              <a:defRPr b="0" i="0" sz="2800">
                <a:solidFill>
                  <a:srgbClr val="4E3629"/>
                </a:solidFill>
                <a:latin typeface="Calibri"/>
                <a:ea typeface="Calibri"/>
                <a:cs typeface="Calibri"/>
                <a:sym typeface="Calibri"/>
              </a:defRPr>
            </a:lvl1pPr>
            <a:lvl2pPr indent="-228600" lvl="1" marL="914400" algn="l">
              <a:spcBef>
                <a:spcPts val="1200"/>
              </a:spcBef>
              <a:spcAft>
                <a:spcPts val="0"/>
              </a:spcAft>
              <a:buSzPts val="1400"/>
              <a:buNone/>
              <a:defRPr/>
            </a:lvl2pPr>
            <a:lvl3pPr indent="-228600" lvl="2" marL="1371600" algn="l">
              <a:spcBef>
                <a:spcPts val="1200"/>
              </a:spcBef>
              <a:spcAft>
                <a:spcPts val="0"/>
              </a:spcAft>
              <a:buSzPts val="1400"/>
              <a:buNone/>
              <a:defRPr/>
            </a:lvl3pPr>
            <a:lvl4pPr indent="-228600" lvl="3" marL="1828800" algn="l">
              <a:spcBef>
                <a:spcPts val="1200"/>
              </a:spcBef>
              <a:spcAft>
                <a:spcPts val="0"/>
              </a:spcAft>
              <a:buSzPts val="1400"/>
              <a:buNone/>
              <a:defRPr/>
            </a:lvl4pPr>
            <a:lvl5pPr indent="-228600" lvl="4" marL="2286000" algn="l">
              <a:spcBef>
                <a:spcPts val="1200"/>
              </a:spcBef>
              <a:spcAft>
                <a:spcPts val="0"/>
              </a:spcAft>
              <a:buSzPts val="1400"/>
              <a:buNone/>
              <a:defRPr/>
            </a:lvl5pPr>
            <a:lvl6pPr indent="-228600" lvl="5" marL="2743200" algn="l">
              <a:spcBef>
                <a:spcPts val="1200"/>
              </a:spcBef>
              <a:spcAft>
                <a:spcPts val="0"/>
              </a:spcAft>
              <a:buSzPts val="1400"/>
              <a:buNone/>
              <a:defRPr/>
            </a:lvl6pPr>
            <a:lvl7pPr indent="-228600" lvl="6" marL="3200400" algn="l">
              <a:spcBef>
                <a:spcPts val="1200"/>
              </a:spcBef>
              <a:spcAft>
                <a:spcPts val="0"/>
              </a:spcAft>
              <a:buSzPts val="1400"/>
              <a:buNone/>
              <a:defRPr/>
            </a:lvl7pPr>
            <a:lvl8pPr indent="-228600" lvl="7" marL="3657600" algn="l">
              <a:spcBef>
                <a:spcPts val="1200"/>
              </a:spcBef>
              <a:spcAft>
                <a:spcPts val="0"/>
              </a:spcAft>
              <a:buSzPts val="1400"/>
              <a:buNone/>
              <a:defRPr/>
            </a:lvl8pPr>
            <a:lvl9pPr indent="-228600" lvl="8" marL="4114800" algn="l">
              <a:spcBef>
                <a:spcPts val="1200"/>
              </a:spcBef>
              <a:spcAft>
                <a:spcPts val="1200"/>
              </a:spcAft>
              <a:buSzPts val="1400"/>
              <a:buNone/>
              <a:defRPr/>
            </a:lvl9pPr>
          </a:lstStyle>
          <a:p/>
        </p:txBody>
      </p:sp>
      <p:sp>
        <p:nvSpPr>
          <p:cNvPr id="53" name="Google Shape;53;p13"/>
          <p:cNvSpPr txBox="1"/>
          <p:nvPr>
            <p:ph idx="11" type="ftr"/>
          </p:nvPr>
        </p:nvSpPr>
        <p:spPr>
          <a:xfrm>
            <a:off x="5172119" y="6589648"/>
            <a:ext cx="3222000" cy="1341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850">
                <a:solidFill>
                  <a:srgbClr val="4E3629"/>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3"/>
          <p:cNvSpPr txBox="1"/>
          <p:nvPr>
            <p:ph idx="10" type="dt"/>
          </p:nvPr>
        </p:nvSpPr>
        <p:spPr>
          <a:xfrm>
            <a:off x="2874191" y="6516395"/>
            <a:ext cx="960000" cy="2496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850">
                <a:solidFill>
                  <a:srgbClr val="4E3629"/>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13"/>
          <p:cNvSpPr txBox="1"/>
          <p:nvPr>
            <p:ph idx="12" type="sldNum"/>
          </p:nvPr>
        </p:nvSpPr>
        <p:spPr>
          <a:xfrm>
            <a:off x="8601456" y="6589648"/>
            <a:ext cx="186000" cy="130800"/>
          </a:xfrm>
          <a:prstGeom prst="rect">
            <a:avLst/>
          </a:prstGeom>
          <a:noFill/>
          <a:ln>
            <a:noFill/>
          </a:ln>
        </p:spPr>
        <p:txBody>
          <a:bodyPr anchorCtr="0" anchor="t" bIns="0" lIns="0" spcFirstLastPara="1" rIns="0" wrap="square" tIns="0">
            <a:spAutoFit/>
          </a:bodyPr>
          <a:lstStyle>
            <a:lvl1pPr indent="0" lvl="0" marL="38100" marR="0" algn="l">
              <a:lnSpc>
                <a:spcPct val="107058"/>
              </a:lnSpc>
              <a:spcBef>
                <a:spcPts val="0"/>
              </a:spcBef>
              <a:buNone/>
              <a:defRPr b="0" i="0" sz="850">
                <a:solidFill>
                  <a:srgbClr val="4E3629"/>
                </a:solidFill>
                <a:latin typeface="Calibri"/>
                <a:ea typeface="Calibri"/>
                <a:cs typeface="Calibri"/>
                <a:sym typeface="Calibri"/>
              </a:defRPr>
            </a:lvl1pPr>
            <a:lvl2pPr indent="0" lvl="1" marL="38100" marR="0" algn="l">
              <a:lnSpc>
                <a:spcPct val="107058"/>
              </a:lnSpc>
              <a:spcBef>
                <a:spcPts val="0"/>
              </a:spcBef>
              <a:buNone/>
              <a:defRPr b="0" i="0" sz="850">
                <a:solidFill>
                  <a:srgbClr val="4E3629"/>
                </a:solidFill>
                <a:latin typeface="Calibri"/>
                <a:ea typeface="Calibri"/>
                <a:cs typeface="Calibri"/>
                <a:sym typeface="Calibri"/>
              </a:defRPr>
            </a:lvl2pPr>
            <a:lvl3pPr indent="0" lvl="2" marL="38100" marR="0" algn="l">
              <a:lnSpc>
                <a:spcPct val="107058"/>
              </a:lnSpc>
              <a:spcBef>
                <a:spcPts val="0"/>
              </a:spcBef>
              <a:buNone/>
              <a:defRPr b="0" i="0" sz="850">
                <a:solidFill>
                  <a:srgbClr val="4E3629"/>
                </a:solidFill>
                <a:latin typeface="Calibri"/>
                <a:ea typeface="Calibri"/>
                <a:cs typeface="Calibri"/>
                <a:sym typeface="Calibri"/>
              </a:defRPr>
            </a:lvl3pPr>
            <a:lvl4pPr indent="0" lvl="3" marL="38100" marR="0" algn="l">
              <a:lnSpc>
                <a:spcPct val="107058"/>
              </a:lnSpc>
              <a:spcBef>
                <a:spcPts val="0"/>
              </a:spcBef>
              <a:buNone/>
              <a:defRPr b="0" i="0" sz="850">
                <a:solidFill>
                  <a:srgbClr val="4E3629"/>
                </a:solidFill>
                <a:latin typeface="Calibri"/>
                <a:ea typeface="Calibri"/>
                <a:cs typeface="Calibri"/>
                <a:sym typeface="Calibri"/>
              </a:defRPr>
            </a:lvl4pPr>
            <a:lvl5pPr indent="0" lvl="4" marL="38100" marR="0" algn="l">
              <a:lnSpc>
                <a:spcPct val="107058"/>
              </a:lnSpc>
              <a:spcBef>
                <a:spcPts val="0"/>
              </a:spcBef>
              <a:buNone/>
              <a:defRPr b="0" i="0" sz="850">
                <a:solidFill>
                  <a:srgbClr val="4E3629"/>
                </a:solidFill>
                <a:latin typeface="Calibri"/>
                <a:ea typeface="Calibri"/>
                <a:cs typeface="Calibri"/>
                <a:sym typeface="Calibri"/>
              </a:defRPr>
            </a:lvl5pPr>
            <a:lvl6pPr indent="0" lvl="5" marL="38100" marR="0" algn="l">
              <a:lnSpc>
                <a:spcPct val="107058"/>
              </a:lnSpc>
              <a:spcBef>
                <a:spcPts val="0"/>
              </a:spcBef>
              <a:buNone/>
              <a:defRPr b="0" i="0" sz="850">
                <a:solidFill>
                  <a:srgbClr val="4E3629"/>
                </a:solidFill>
                <a:latin typeface="Calibri"/>
                <a:ea typeface="Calibri"/>
                <a:cs typeface="Calibri"/>
                <a:sym typeface="Calibri"/>
              </a:defRPr>
            </a:lvl6pPr>
            <a:lvl7pPr indent="0" lvl="6" marL="38100" marR="0" algn="l">
              <a:lnSpc>
                <a:spcPct val="107058"/>
              </a:lnSpc>
              <a:spcBef>
                <a:spcPts val="0"/>
              </a:spcBef>
              <a:buNone/>
              <a:defRPr b="0" i="0" sz="850">
                <a:solidFill>
                  <a:srgbClr val="4E3629"/>
                </a:solidFill>
                <a:latin typeface="Calibri"/>
                <a:ea typeface="Calibri"/>
                <a:cs typeface="Calibri"/>
                <a:sym typeface="Calibri"/>
              </a:defRPr>
            </a:lvl7pPr>
            <a:lvl8pPr indent="0" lvl="7" marL="38100" marR="0" algn="l">
              <a:lnSpc>
                <a:spcPct val="107058"/>
              </a:lnSpc>
              <a:spcBef>
                <a:spcPts val="0"/>
              </a:spcBef>
              <a:buNone/>
              <a:defRPr b="0" i="0" sz="850">
                <a:solidFill>
                  <a:srgbClr val="4E3629"/>
                </a:solidFill>
                <a:latin typeface="Calibri"/>
                <a:ea typeface="Calibri"/>
                <a:cs typeface="Calibri"/>
                <a:sym typeface="Calibri"/>
              </a:defRPr>
            </a:lvl8pPr>
            <a:lvl9pPr indent="0" lvl="8" marL="38100" marR="0" algn="l">
              <a:lnSpc>
                <a:spcPct val="107058"/>
              </a:lnSpc>
              <a:spcBef>
                <a:spcPts val="0"/>
              </a:spcBef>
              <a:buNone/>
              <a:defRPr b="0" i="0" sz="850">
                <a:solidFill>
                  <a:srgbClr val="4E3629"/>
                </a:solidFill>
                <a:latin typeface="Calibri"/>
                <a:ea typeface="Calibri"/>
                <a:cs typeface="Calibri"/>
                <a:sym typeface="Calibri"/>
              </a:defRPr>
            </a:lvl9pPr>
          </a:lstStyle>
          <a:p>
            <a:pPr indent="0" lvl="0" marL="38100" rtl="0" algn="l">
              <a:spcBef>
                <a:spcPts val="0"/>
              </a:spcBef>
              <a:spcAft>
                <a:spcPts val="0"/>
              </a:spcAft>
              <a:buNone/>
            </a:pPr>
            <a:fld id="{00000000-1234-1234-1234-123412341234}" type="slidenum">
              <a:rPr lang="en-US"/>
              <a:t>‹#›</a:t>
            </a:fld>
            <a:endParaRPr sz="1000">
              <a:solidFill>
                <a:schemeClr val="dk2"/>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9" name="Shape 59"/>
        <p:cNvGrpSpPr/>
        <p:nvPr/>
      </p:nvGrpSpPr>
      <p:grpSpPr>
        <a:xfrm>
          <a:off x="0" y="0"/>
          <a:ext cx="0" cy="0"/>
          <a:chOff x="0" y="0"/>
          <a:chExt cx="0" cy="0"/>
        </a:xfrm>
      </p:grpSpPr>
      <p:grpSp>
        <p:nvGrpSpPr>
          <p:cNvPr id="60" name="Google Shape;60;p14"/>
          <p:cNvGrpSpPr/>
          <p:nvPr/>
        </p:nvGrpSpPr>
        <p:grpSpPr>
          <a:xfrm>
            <a:off x="0" y="0"/>
            <a:ext cx="9144000" cy="6858000"/>
            <a:chOff x="0" y="0"/>
            <a:chExt cx="9144000" cy="6858000"/>
          </a:xfrm>
        </p:grpSpPr>
        <p:pic>
          <p:nvPicPr>
            <p:cNvPr id="61" name="Google Shape;61;p14"/>
            <p:cNvPicPr preferRelativeResize="0"/>
            <p:nvPr/>
          </p:nvPicPr>
          <p:blipFill rotWithShape="1">
            <a:blip r:embed="rId3">
              <a:alphaModFix/>
            </a:blip>
            <a:srcRect b="0" l="0" r="0" t="0"/>
            <a:stretch/>
          </p:blipFill>
          <p:spPr>
            <a:xfrm>
              <a:off x="0" y="0"/>
              <a:ext cx="9144000" cy="6858000"/>
            </a:xfrm>
            <a:prstGeom prst="rect">
              <a:avLst/>
            </a:prstGeom>
            <a:noFill/>
            <a:ln>
              <a:noFill/>
            </a:ln>
          </p:spPr>
        </p:pic>
        <p:sp>
          <p:nvSpPr>
            <p:cNvPr id="62" name="Google Shape;62;p14"/>
            <p:cNvSpPr/>
            <p:nvPr/>
          </p:nvSpPr>
          <p:spPr>
            <a:xfrm>
              <a:off x="560831" y="702563"/>
              <a:ext cx="8022590" cy="5453380"/>
            </a:xfrm>
            <a:custGeom>
              <a:rect b="b" l="l" r="r" t="t"/>
              <a:pathLst>
                <a:path extrusionOk="0" h="5453380" w="8022590">
                  <a:moveTo>
                    <a:pt x="8022335" y="0"/>
                  </a:moveTo>
                  <a:lnTo>
                    <a:pt x="0" y="0"/>
                  </a:lnTo>
                  <a:lnTo>
                    <a:pt x="0" y="5452872"/>
                  </a:lnTo>
                  <a:lnTo>
                    <a:pt x="8022335" y="5452872"/>
                  </a:lnTo>
                  <a:lnTo>
                    <a:pt x="8022335" y="0"/>
                  </a:lnTo>
                  <a:close/>
                </a:path>
              </a:pathLst>
            </a:custGeom>
            <a:solidFill>
              <a:srgbClr val="DFE1E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pic>
          <p:nvPicPr>
            <p:cNvPr id="63" name="Google Shape;63;p14"/>
            <p:cNvPicPr preferRelativeResize="0"/>
            <p:nvPr/>
          </p:nvPicPr>
          <p:blipFill rotWithShape="1">
            <a:blip r:embed="rId4">
              <a:alphaModFix/>
            </a:blip>
            <a:srcRect b="0" l="0" r="0" t="0"/>
            <a:stretch/>
          </p:blipFill>
          <p:spPr>
            <a:xfrm>
              <a:off x="970787" y="5570219"/>
              <a:ext cx="1258823" cy="420623"/>
            </a:xfrm>
            <a:prstGeom prst="rect">
              <a:avLst/>
            </a:prstGeom>
            <a:noFill/>
            <a:ln>
              <a:noFill/>
            </a:ln>
          </p:spPr>
        </p:pic>
      </p:grpSp>
      <p:sp>
        <p:nvSpPr>
          <p:cNvPr id="64" name="Google Shape;64;p14"/>
          <p:cNvSpPr txBox="1"/>
          <p:nvPr/>
        </p:nvSpPr>
        <p:spPr>
          <a:xfrm>
            <a:off x="5057819" y="6562597"/>
            <a:ext cx="3221990" cy="15557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850">
                <a:solidFill>
                  <a:srgbClr val="FCEFD9"/>
                </a:solidFill>
                <a:latin typeface="Calibri"/>
                <a:ea typeface="Calibri"/>
                <a:cs typeface="Calibri"/>
                <a:sym typeface="Calibri"/>
              </a:rPr>
              <a:t>Copyright © 2020, Oracle y/o sus filiales. Todos los derechos reservados.</a:t>
            </a:r>
            <a:endParaRPr sz="850">
              <a:latin typeface="Calibri"/>
              <a:ea typeface="Calibri"/>
              <a:cs typeface="Calibri"/>
              <a:sym typeface="Calibri"/>
            </a:endParaRPr>
          </a:p>
        </p:txBody>
      </p:sp>
      <p:sp>
        <p:nvSpPr>
          <p:cNvPr id="65" name="Google Shape;65;p14"/>
          <p:cNvSpPr txBox="1"/>
          <p:nvPr>
            <p:ph type="title"/>
          </p:nvPr>
        </p:nvSpPr>
        <p:spPr>
          <a:xfrm>
            <a:off x="958315" y="855591"/>
            <a:ext cx="7046700" cy="1574400"/>
          </a:xfrm>
          <a:prstGeom prst="rect">
            <a:avLst/>
          </a:prstGeom>
          <a:noFill/>
          <a:ln>
            <a:noFill/>
          </a:ln>
        </p:spPr>
        <p:txBody>
          <a:bodyPr anchorCtr="0" anchor="t" bIns="0" lIns="0" spcFirstLastPara="1" rIns="0" wrap="square" tIns="153650">
            <a:spAutoFit/>
          </a:bodyPr>
          <a:lstStyle/>
          <a:p>
            <a:pPr indent="0" lvl="0" marL="12700" marR="5080" rtl="0" algn="l">
              <a:lnSpc>
                <a:spcPct val="96041"/>
              </a:lnSpc>
              <a:spcBef>
                <a:spcPts val="0"/>
              </a:spcBef>
              <a:spcAft>
                <a:spcPts val="0"/>
              </a:spcAft>
              <a:buNone/>
            </a:pPr>
            <a:r>
              <a:rPr lang="en-US" sz="4800"/>
              <a:t>Database Programming with  SQL</a:t>
            </a:r>
            <a:endParaRPr sz="4800"/>
          </a:p>
        </p:txBody>
      </p:sp>
      <p:sp>
        <p:nvSpPr>
          <p:cNvPr id="66" name="Google Shape;66;p14"/>
          <p:cNvSpPr txBox="1"/>
          <p:nvPr/>
        </p:nvSpPr>
        <p:spPr>
          <a:xfrm>
            <a:off x="962879" y="2400950"/>
            <a:ext cx="2698115" cy="888365"/>
          </a:xfrm>
          <a:prstGeom prst="rect">
            <a:avLst/>
          </a:prstGeom>
          <a:noFill/>
          <a:ln>
            <a:noFill/>
          </a:ln>
        </p:spPr>
        <p:txBody>
          <a:bodyPr anchorCtr="0" anchor="t" bIns="0" lIns="0" spcFirstLastPara="1" rIns="0" wrap="square" tIns="78100">
            <a:spAutoFit/>
          </a:bodyPr>
          <a:lstStyle/>
          <a:p>
            <a:pPr indent="0" lvl="0" marL="12700" marR="0" rtl="0" algn="l">
              <a:lnSpc>
                <a:spcPct val="100000"/>
              </a:lnSpc>
              <a:spcBef>
                <a:spcPts val="0"/>
              </a:spcBef>
              <a:spcAft>
                <a:spcPts val="0"/>
              </a:spcAft>
              <a:buNone/>
            </a:pPr>
            <a:r>
              <a:rPr b="1" lang="en-US" sz="2400">
                <a:solidFill>
                  <a:srgbClr val="4E3629"/>
                </a:solidFill>
                <a:latin typeface="Calibri"/>
                <a:ea typeface="Calibri"/>
                <a:cs typeface="Calibri"/>
                <a:sym typeface="Calibri"/>
              </a:rPr>
              <a:t>13-2</a:t>
            </a:r>
            <a:endParaRPr sz="2400">
              <a:latin typeface="Calibri"/>
              <a:ea typeface="Calibri"/>
              <a:cs typeface="Calibri"/>
              <a:sym typeface="Calibri"/>
            </a:endParaRPr>
          </a:p>
          <a:p>
            <a:pPr indent="0" lvl="0" marL="12700" marR="0" rtl="0" algn="l">
              <a:lnSpc>
                <a:spcPct val="100000"/>
              </a:lnSpc>
              <a:spcBef>
                <a:spcPts val="515"/>
              </a:spcBef>
              <a:spcAft>
                <a:spcPts val="0"/>
              </a:spcAft>
              <a:buNone/>
            </a:pPr>
            <a:r>
              <a:rPr b="1" lang="en-US" sz="2400">
                <a:solidFill>
                  <a:srgbClr val="4E3629"/>
                </a:solidFill>
                <a:latin typeface="Calibri"/>
                <a:ea typeface="Calibri"/>
                <a:cs typeface="Calibri"/>
                <a:sym typeface="Calibri"/>
              </a:rPr>
              <a:t>Uso de Tipos de Dato</a:t>
            </a:r>
            <a:endParaRPr sz="2400">
              <a:latin typeface="Calibri"/>
              <a:ea typeface="Calibri"/>
              <a:cs typeface="Calibri"/>
              <a:sym typeface="Calibri"/>
            </a:endParaRPr>
          </a:p>
        </p:txBody>
      </p:sp>
      <p:pic>
        <p:nvPicPr>
          <p:cNvPr id="67" name="Google Shape;67;p14"/>
          <p:cNvPicPr preferRelativeResize="0"/>
          <p:nvPr/>
        </p:nvPicPr>
        <p:blipFill rotWithShape="1">
          <a:blip r:embed="rId5">
            <a:alphaModFix/>
          </a:blip>
          <a:srcRect b="0" l="0" r="0" t="0"/>
          <a:stretch/>
        </p:blipFill>
        <p:spPr>
          <a:xfrm>
            <a:off x="-339853" y="3369564"/>
            <a:ext cx="5058157" cy="296722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392112" y="748031"/>
            <a:ext cx="1636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Objetivos</a:t>
            </a:r>
            <a:endParaRPr/>
          </a:p>
        </p:txBody>
      </p:sp>
      <p:sp>
        <p:nvSpPr>
          <p:cNvPr id="73" name="Google Shape;73;p15"/>
          <p:cNvSpPr txBox="1"/>
          <p:nvPr>
            <p:ph idx="10" type="dt"/>
          </p:nvPr>
        </p:nvSpPr>
        <p:spPr>
          <a:xfrm>
            <a:off x="2874191" y="6516395"/>
            <a:ext cx="960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13-2</a:t>
            </a:r>
            <a:endParaRPr/>
          </a:p>
          <a:p>
            <a:pPr indent="0" lvl="0" marL="12700" rtl="0" algn="l">
              <a:lnSpc>
                <a:spcPct val="120624"/>
              </a:lnSpc>
              <a:spcBef>
                <a:spcPts val="0"/>
              </a:spcBef>
              <a:spcAft>
                <a:spcPts val="0"/>
              </a:spcAft>
              <a:buNone/>
            </a:pPr>
            <a:r>
              <a:rPr lang="en-US"/>
              <a:t>Uso de Tipos de Dato</a:t>
            </a:r>
            <a:endParaRPr/>
          </a:p>
        </p:txBody>
      </p:sp>
      <p:sp>
        <p:nvSpPr>
          <p:cNvPr id="74" name="Google Shape;74;p15"/>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75" name="Google Shape;75;p15"/>
          <p:cNvSpPr txBox="1"/>
          <p:nvPr>
            <p:ph idx="12" type="sldNum"/>
          </p:nvPr>
        </p:nvSpPr>
        <p:spPr>
          <a:xfrm>
            <a:off x="8601456" y="6589648"/>
            <a:ext cx="186000" cy="1308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76" name="Google Shape;76;p15"/>
          <p:cNvSpPr txBox="1"/>
          <p:nvPr/>
        </p:nvSpPr>
        <p:spPr>
          <a:xfrm>
            <a:off x="483552" y="1393401"/>
            <a:ext cx="7983220" cy="3644265"/>
          </a:xfrm>
          <a:prstGeom prst="rect">
            <a:avLst/>
          </a:prstGeom>
          <a:noFill/>
          <a:ln>
            <a:noFill/>
          </a:ln>
        </p:spPr>
        <p:txBody>
          <a:bodyPr anchorCtr="0" anchor="t" bIns="0" lIns="0" spcFirstLastPara="1" rIns="0" wrap="square" tIns="34275">
            <a:spAutoFit/>
          </a:bodyPr>
          <a:lstStyle/>
          <a:p>
            <a:pPr indent="-177800" lvl="0" marL="184785" marR="0"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esta lección, aprenderá a:</a:t>
            </a:r>
            <a:endParaRPr sz="2800">
              <a:latin typeface="Calibri"/>
              <a:ea typeface="Calibri"/>
              <a:cs typeface="Calibri"/>
              <a:sym typeface="Calibri"/>
            </a:endParaRPr>
          </a:p>
          <a:p>
            <a:pPr indent="-175260" lvl="0" marL="530860" marR="645160" rtl="0" algn="l">
              <a:lnSpc>
                <a:spcPct val="107916"/>
              </a:lnSpc>
              <a:spcBef>
                <a:spcPts val="47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Crear una tabla utilizando los tipos de dato de columna  TIMESTAMP y TIMESTAMP WITH TIME ZONE</a:t>
            </a:r>
            <a:endParaRPr sz="2400">
              <a:latin typeface="Calibri"/>
              <a:ea typeface="Calibri"/>
              <a:cs typeface="Calibri"/>
              <a:sym typeface="Calibri"/>
            </a:endParaRPr>
          </a:p>
          <a:p>
            <a:pPr indent="-175260" lvl="0" marL="530860" marR="516890"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Crear una tabla utilizando los tipos de dato de columna  INTERVAL YEAR TO MONTH e INTERVAL DAY TO SECOND</a:t>
            </a:r>
            <a:endParaRPr sz="2400">
              <a:latin typeface="Calibri"/>
              <a:ea typeface="Calibri"/>
              <a:cs typeface="Calibri"/>
              <a:sym typeface="Calibri"/>
            </a:endParaRPr>
          </a:p>
          <a:p>
            <a:pPr indent="-175260" lvl="0" marL="530860" marR="76200" rtl="0" algn="just">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Dar ejemplos de organizaciones y situaciones personales en  las que es importante conocer a qué zona horaria se refiere  un valor de fecha y hora</a:t>
            </a:r>
            <a:endParaRPr sz="2400">
              <a:latin typeface="Calibri"/>
              <a:ea typeface="Calibri"/>
              <a:cs typeface="Calibri"/>
              <a:sym typeface="Calibri"/>
            </a:endParaRPr>
          </a:p>
          <a:p>
            <a:pPr indent="-175260" lvl="0" marL="530860" marR="5080" rtl="0" algn="just">
              <a:lnSpc>
                <a:spcPct val="107916"/>
              </a:lnSpc>
              <a:spcBef>
                <a:spcPts val="414"/>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Enumerar y dar un ejemplo de cada uno de los tipos de dato  de número, fecha y carácter</a:t>
            </a:r>
            <a:endParaRPr sz="2400">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6"/>
          <p:cNvSpPr txBox="1"/>
          <p:nvPr>
            <p:ph type="title"/>
          </p:nvPr>
        </p:nvSpPr>
        <p:spPr>
          <a:xfrm>
            <a:off x="392112" y="748031"/>
            <a:ext cx="14727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Objetivo</a:t>
            </a:r>
            <a:endParaRPr/>
          </a:p>
        </p:txBody>
      </p:sp>
      <p:sp>
        <p:nvSpPr>
          <p:cNvPr id="82" name="Google Shape;82;p16"/>
          <p:cNvSpPr txBox="1"/>
          <p:nvPr>
            <p:ph idx="10" type="dt"/>
          </p:nvPr>
        </p:nvSpPr>
        <p:spPr>
          <a:xfrm>
            <a:off x="2874191" y="6516395"/>
            <a:ext cx="960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13-2</a:t>
            </a:r>
            <a:endParaRPr/>
          </a:p>
          <a:p>
            <a:pPr indent="0" lvl="0" marL="12700" rtl="0" algn="l">
              <a:lnSpc>
                <a:spcPct val="120624"/>
              </a:lnSpc>
              <a:spcBef>
                <a:spcPts val="0"/>
              </a:spcBef>
              <a:spcAft>
                <a:spcPts val="0"/>
              </a:spcAft>
              <a:buNone/>
            </a:pPr>
            <a:r>
              <a:rPr lang="en-US"/>
              <a:t>Uso de Tipos de Dato</a:t>
            </a:r>
            <a:endParaRPr/>
          </a:p>
        </p:txBody>
      </p:sp>
      <p:sp>
        <p:nvSpPr>
          <p:cNvPr id="83" name="Google Shape;83;p16"/>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84" name="Google Shape;84;p16"/>
          <p:cNvSpPr txBox="1"/>
          <p:nvPr>
            <p:ph idx="12" type="sldNum"/>
          </p:nvPr>
        </p:nvSpPr>
        <p:spPr>
          <a:xfrm>
            <a:off x="8601456" y="6589648"/>
            <a:ext cx="186000" cy="1308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85" name="Google Shape;85;p16"/>
          <p:cNvSpPr txBox="1"/>
          <p:nvPr/>
        </p:nvSpPr>
        <p:spPr>
          <a:xfrm>
            <a:off x="483552" y="1381889"/>
            <a:ext cx="8021320" cy="4613910"/>
          </a:xfrm>
          <a:prstGeom prst="rect">
            <a:avLst/>
          </a:prstGeom>
          <a:noFill/>
          <a:ln>
            <a:noFill/>
          </a:ln>
        </p:spPr>
        <p:txBody>
          <a:bodyPr anchorCtr="0" anchor="t" bIns="0" lIns="0" spcFirstLastPara="1" rIns="0" wrap="square" tIns="97150">
            <a:spAutoFit/>
          </a:bodyPr>
          <a:lstStyle/>
          <a:p>
            <a:pPr indent="-177800" lvl="0" marL="184785" marR="25400" rtl="0" algn="l">
              <a:lnSpc>
                <a:spcPct val="8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alguna vez viaja a otro país, descubrirá rápidamente  que el dinero en su bolsillo puede no ser el de la  moneda local</a:t>
            </a:r>
            <a:endParaRPr sz="2800">
              <a:latin typeface="Calibri"/>
              <a:ea typeface="Calibri"/>
              <a:cs typeface="Calibri"/>
              <a:sym typeface="Calibri"/>
            </a:endParaRPr>
          </a:p>
          <a:p>
            <a:pPr indent="-177800" lvl="0" marL="184785" marR="713740" rtl="0" algn="l">
              <a:lnSpc>
                <a:spcPct val="80000"/>
              </a:lnSpc>
              <a:spcBef>
                <a:spcPts val="81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desea comprar algo, será necesario convertir el  dinero en la moneda del país local</a:t>
            </a:r>
            <a:endParaRPr sz="2800">
              <a:latin typeface="Calibri"/>
              <a:ea typeface="Calibri"/>
              <a:cs typeface="Calibri"/>
              <a:sym typeface="Calibri"/>
            </a:endParaRPr>
          </a:p>
          <a:p>
            <a:pPr indent="-177800" lvl="0" marL="184785" marR="233045" rtl="0" algn="l">
              <a:lnSpc>
                <a:spcPct val="80000"/>
              </a:lnSpc>
              <a:spcBef>
                <a:spcPts val="79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Este proceso de conversión se parece mucho a tratar  con tipos de dato en SQL</a:t>
            </a:r>
            <a:endParaRPr sz="2800">
              <a:latin typeface="Calibri"/>
              <a:ea typeface="Calibri"/>
              <a:cs typeface="Calibri"/>
              <a:sym typeface="Calibri"/>
            </a:endParaRPr>
          </a:p>
          <a:p>
            <a:pPr indent="-177800" lvl="0" marL="184785" marR="52069" rtl="0" algn="l">
              <a:lnSpc>
                <a:spcPct val="80000"/>
              </a:lnSpc>
              <a:spcBef>
                <a:spcPts val="80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Los distintos tipos de dato tienen tipos diferentes de  características, cuyo objetivo es almacenar de manera  eficaz los datos</a:t>
            </a:r>
            <a:endParaRPr sz="2800">
              <a:latin typeface="Calibri"/>
              <a:ea typeface="Calibri"/>
              <a:cs typeface="Calibri"/>
              <a:sym typeface="Calibri"/>
            </a:endParaRPr>
          </a:p>
          <a:p>
            <a:pPr indent="-177800" lvl="0" marL="184785" marR="5080" rtl="0" algn="l">
              <a:lnSpc>
                <a:spcPct val="80000"/>
              </a:lnSpc>
              <a:spcBef>
                <a:spcPts val="80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esta lección, aprenderá más sobre los tipos de dato  y sus usos</a:t>
            </a:r>
            <a:endParaRPr sz="2800">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7"/>
          <p:cNvSpPr txBox="1"/>
          <p:nvPr>
            <p:ph type="title"/>
          </p:nvPr>
        </p:nvSpPr>
        <p:spPr>
          <a:xfrm>
            <a:off x="392112" y="748031"/>
            <a:ext cx="5284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Visión General de Tipo de Dato</a:t>
            </a:r>
            <a:endParaRPr/>
          </a:p>
        </p:txBody>
      </p:sp>
      <p:sp>
        <p:nvSpPr>
          <p:cNvPr id="91" name="Google Shape;91;p17"/>
          <p:cNvSpPr txBox="1"/>
          <p:nvPr>
            <p:ph idx="10" type="dt"/>
          </p:nvPr>
        </p:nvSpPr>
        <p:spPr>
          <a:xfrm>
            <a:off x="2874191" y="6516395"/>
            <a:ext cx="960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13-2</a:t>
            </a:r>
            <a:endParaRPr/>
          </a:p>
          <a:p>
            <a:pPr indent="0" lvl="0" marL="12700" rtl="0" algn="l">
              <a:lnSpc>
                <a:spcPct val="120624"/>
              </a:lnSpc>
              <a:spcBef>
                <a:spcPts val="0"/>
              </a:spcBef>
              <a:spcAft>
                <a:spcPts val="0"/>
              </a:spcAft>
              <a:buNone/>
            </a:pPr>
            <a:r>
              <a:rPr lang="en-US"/>
              <a:t>Uso de Tipos de Dato</a:t>
            </a:r>
            <a:endParaRPr/>
          </a:p>
        </p:txBody>
      </p:sp>
      <p:sp>
        <p:nvSpPr>
          <p:cNvPr id="92" name="Google Shape;92;p17"/>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93" name="Google Shape;93;p17"/>
          <p:cNvSpPr txBox="1"/>
          <p:nvPr>
            <p:ph idx="12" type="sldNum"/>
          </p:nvPr>
        </p:nvSpPr>
        <p:spPr>
          <a:xfrm>
            <a:off x="8601456" y="6589648"/>
            <a:ext cx="186000" cy="1308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94" name="Google Shape;94;p17"/>
          <p:cNvSpPr txBox="1"/>
          <p:nvPr/>
        </p:nvSpPr>
        <p:spPr>
          <a:xfrm>
            <a:off x="483552" y="1415417"/>
            <a:ext cx="8108950" cy="2960370"/>
          </a:xfrm>
          <a:prstGeom prst="rect">
            <a:avLst/>
          </a:prstGeom>
          <a:noFill/>
          <a:ln>
            <a:noFill/>
          </a:ln>
        </p:spPr>
        <p:txBody>
          <a:bodyPr anchorCtr="0" anchor="t" bIns="0" lIns="0" spcFirstLastPara="1" rIns="0" wrap="square" tIns="59675">
            <a:spAutoFit/>
          </a:bodyPr>
          <a:lstStyle/>
          <a:p>
            <a:pPr indent="-177800" lvl="0" marL="184785" marR="635000" rtl="0" algn="just">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Cada valor manipulado por Oracle tiene un tipo de  dato</a:t>
            </a:r>
            <a:endParaRPr sz="2800">
              <a:latin typeface="Calibri"/>
              <a:ea typeface="Calibri"/>
              <a:cs typeface="Calibri"/>
              <a:sym typeface="Calibri"/>
            </a:endParaRPr>
          </a:p>
          <a:p>
            <a:pPr indent="-177800" lvl="0" marL="184785" marR="824230" rtl="0" algn="just">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tipo de dato de un valor asocia un juego fijo de  propiedades al valor</a:t>
            </a:r>
            <a:endParaRPr sz="2800">
              <a:latin typeface="Calibri"/>
              <a:ea typeface="Calibri"/>
              <a:cs typeface="Calibri"/>
              <a:sym typeface="Calibri"/>
            </a:endParaRPr>
          </a:p>
          <a:p>
            <a:pPr indent="-177800" lvl="0" marL="184785" marR="5080" rtl="0" algn="just">
              <a:lnSpc>
                <a:spcPct val="108214"/>
              </a:lnSpc>
              <a:spcBef>
                <a:spcPts val="79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Estas propiedades hacen que la base de datos trate los  valores de un tipo de dato de forma diferente a valores  de otro tipo de dato</a:t>
            </a:r>
            <a:endParaRPr sz="2800">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8"/>
          <p:cNvSpPr txBox="1"/>
          <p:nvPr>
            <p:ph type="title"/>
          </p:nvPr>
        </p:nvSpPr>
        <p:spPr>
          <a:xfrm>
            <a:off x="392112" y="748031"/>
            <a:ext cx="5284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Visión General de Tipo de Dato</a:t>
            </a:r>
            <a:endParaRPr/>
          </a:p>
        </p:txBody>
      </p:sp>
      <p:sp>
        <p:nvSpPr>
          <p:cNvPr id="100" name="Google Shape;100;p18"/>
          <p:cNvSpPr txBox="1"/>
          <p:nvPr>
            <p:ph idx="10" type="dt"/>
          </p:nvPr>
        </p:nvSpPr>
        <p:spPr>
          <a:xfrm>
            <a:off x="2874191" y="6516395"/>
            <a:ext cx="960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13-2</a:t>
            </a:r>
            <a:endParaRPr/>
          </a:p>
          <a:p>
            <a:pPr indent="0" lvl="0" marL="12700" rtl="0" algn="l">
              <a:lnSpc>
                <a:spcPct val="120624"/>
              </a:lnSpc>
              <a:spcBef>
                <a:spcPts val="0"/>
              </a:spcBef>
              <a:spcAft>
                <a:spcPts val="0"/>
              </a:spcAft>
              <a:buNone/>
            </a:pPr>
            <a:r>
              <a:rPr lang="en-US"/>
              <a:t>Uso de Tipos de Dato</a:t>
            </a:r>
            <a:endParaRPr/>
          </a:p>
        </p:txBody>
      </p:sp>
      <p:sp>
        <p:nvSpPr>
          <p:cNvPr id="101" name="Google Shape;101;p18"/>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02" name="Google Shape;102;p18"/>
          <p:cNvSpPr txBox="1"/>
          <p:nvPr>
            <p:ph idx="12" type="sldNum"/>
          </p:nvPr>
        </p:nvSpPr>
        <p:spPr>
          <a:xfrm>
            <a:off x="8601456" y="6589648"/>
            <a:ext cx="186000" cy="1308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103" name="Google Shape;103;p18"/>
          <p:cNvSpPr txBox="1"/>
          <p:nvPr/>
        </p:nvSpPr>
        <p:spPr>
          <a:xfrm>
            <a:off x="483552" y="1393401"/>
            <a:ext cx="7919084" cy="4286885"/>
          </a:xfrm>
          <a:prstGeom prst="rect">
            <a:avLst/>
          </a:prstGeom>
          <a:noFill/>
          <a:ln>
            <a:noFill/>
          </a:ln>
        </p:spPr>
        <p:txBody>
          <a:bodyPr anchorCtr="0" anchor="t" bIns="0" lIns="0" spcFirstLastPara="1" rIns="0" wrap="square" tIns="34275">
            <a:spAutoFit/>
          </a:bodyPr>
          <a:lstStyle/>
          <a:p>
            <a:pPr indent="-177800" lvl="0" marL="184785" marR="0"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Los distintos tipos de dato ofrecen varias ventajas:</a:t>
            </a:r>
            <a:endParaRPr sz="2800">
              <a:latin typeface="Calibri"/>
              <a:ea typeface="Calibri"/>
              <a:cs typeface="Calibri"/>
              <a:sym typeface="Calibri"/>
            </a:endParaRPr>
          </a:p>
          <a:p>
            <a:pPr indent="-175260" lvl="0" marL="530860" marR="1217930" rtl="0" algn="l">
              <a:lnSpc>
                <a:spcPct val="107916"/>
              </a:lnSpc>
              <a:spcBef>
                <a:spcPts val="47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Las columnas de un solo tipo producen resultados  consistentes</a:t>
            </a:r>
            <a:endParaRPr sz="2400">
              <a:latin typeface="Calibri"/>
              <a:ea typeface="Calibri"/>
              <a:cs typeface="Calibri"/>
              <a:sym typeface="Calibri"/>
            </a:endParaRPr>
          </a:p>
          <a:p>
            <a:pPr indent="-175260" lvl="0" marL="530860" marR="363220"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Por ejemplo, las columnas del tipo de dato DATE siempre  producen valores de fecha</a:t>
            </a:r>
            <a:endParaRPr sz="2400">
              <a:latin typeface="Calibri"/>
              <a:ea typeface="Calibri"/>
              <a:cs typeface="Calibri"/>
              <a:sym typeface="Calibri"/>
            </a:endParaRPr>
          </a:p>
          <a:p>
            <a:pPr indent="-175260" lvl="0" marL="530860" marR="222885"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No se puede insertar el tipo de dato incorrecto en una  columna. Por ejemplo, las columnas del tipo de dato DATE  impedirán que se inserten datos de tipo NUMBER</a:t>
            </a:r>
            <a:endParaRPr sz="2400">
              <a:latin typeface="Calibri"/>
              <a:ea typeface="Calibri"/>
              <a:cs typeface="Calibri"/>
              <a:sym typeface="Calibri"/>
            </a:endParaRPr>
          </a:p>
          <a:p>
            <a:pPr indent="-177800" lvl="0" marL="184785" marR="147320" rtl="0" algn="l">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Por este motivo, cada columna de una base de datos  relacional solo puede contener un tipo de dato</a:t>
            </a:r>
            <a:endParaRPr sz="2800">
              <a:latin typeface="Calibri"/>
              <a:ea typeface="Calibri"/>
              <a:cs typeface="Calibri"/>
              <a:sym typeface="Calibri"/>
            </a:endParaRPr>
          </a:p>
          <a:p>
            <a:pPr indent="-177800" lvl="0" marL="184785" marR="0" rtl="0" algn="l">
              <a:lnSpc>
                <a:spcPct val="100000"/>
              </a:lnSpc>
              <a:spcBef>
                <a:spcPts val="41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No puede combinar los tipos de dato en una columna</a:t>
            </a:r>
            <a:endParaRPr sz="280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9"/>
          <p:cNvSpPr txBox="1"/>
          <p:nvPr>
            <p:ph type="title"/>
          </p:nvPr>
        </p:nvSpPr>
        <p:spPr>
          <a:xfrm>
            <a:off x="392112" y="748031"/>
            <a:ext cx="4047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Tipos de Dato Comunes</a:t>
            </a:r>
            <a:endParaRPr/>
          </a:p>
        </p:txBody>
      </p:sp>
      <p:sp>
        <p:nvSpPr>
          <p:cNvPr id="109" name="Google Shape;109;p19"/>
          <p:cNvSpPr txBox="1"/>
          <p:nvPr>
            <p:ph idx="10" type="dt"/>
          </p:nvPr>
        </p:nvSpPr>
        <p:spPr>
          <a:xfrm>
            <a:off x="2874191" y="6516395"/>
            <a:ext cx="960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13-2</a:t>
            </a:r>
            <a:endParaRPr/>
          </a:p>
          <a:p>
            <a:pPr indent="0" lvl="0" marL="12700" rtl="0" algn="l">
              <a:lnSpc>
                <a:spcPct val="120624"/>
              </a:lnSpc>
              <a:spcBef>
                <a:spcPts val="0"/>
              </a:spcBef>
              <a:spcAft>
                <a:spcPts val="0"/>
              </a:spcAft>
              <a:buNone/>
            </a:pPr>
            <a:r>
              <a:rPr lang="en-US"/>
              <a:t>Uso de Tipos de Dato</a:t>
            </a:r>
            <a:endParaRPr/>
          </a:p>
        </p:txBody>
      </p:sp>
      <p:sp>
        <p:nvSpPr>
          <p:cNvPr id="110" name="Google Shape;110;p19"/>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11" name="Google Shape;111;p19"/>
          <p:cNvSpPr txBox="1"/>
          <p:nvPr>
            <p:ph idx="12" type="sldNum"/>
          </p:nvPr>
        </p:nvSpPr>
        <p:spPr>
          <a:xfrm>
            <a:off x="8601456" y="6589648"/>
            <a:ext cx="186000" cy="1308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112" name="Google Shape;112;p19"/>
          <p:cNvSpPr txBox="1"/>
          <p:nvPr/>
        </p:nvSpPr>
        <p:spPr>
          <a:xfrm>
            <a:off x="483552" y="1415417"/>
            <a:ext cx="7920990" cy="3715385"/>
          </a:xfrm>
          <a:prstGeom prst="rect">
            <a:avLst/>
          </a:prstGeom>
          <a:noFill/>
          <a:ln>
            <a:noFill/>
          </a:ln>
        </p:spPr>
        <p:txBody>
          <a:bodyPr anchorCtr="0" anchor="t" bIns="0" lIns="0" spcFirstLastPara="1" rIns="0" wrap="square" tIns="59675">
            <a:spAutoFit/>
          </a:bodyPr>
          <a:lstStyle/>
          <a:p>
            <a:pPr indent="-177800" lvl="0" marL="184785" marR="10033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 continuación se muestran los tipos de dato de  columna más utilizados para los valores de carácter y  número</a:t>
            </a:r>
            <a:endParaRPr sz="2800">
              <a:latin typeface="Calibri"/>
              <a:ea typeface="Calibri"/>
              <a:cs typeface="Calibri"/>
              <a:sym typeface="Calibri"/>
            </a:endParaRPr>
          </a:p>
          <a:p>
            <a:pPr indent="-177800" lvl="0" marL="184785" marR="0" rtl="0" algn="l">
              <a:lnSpc>
                <a:spcPct val="100000"/>
              </a:lnSpc>
              <a:spcBef>
                <a:spcPts val="409"/>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valores de carácter:</a:t>
            </a:r>
            <a:endParaRPr sz="2800">
              <a:latin typeface="Calibri"/>
              <a:ea typeface="Calibri"/>
              <a:cs typeface="Calibri"/>
              <a:sym typeface="Calibri"/>
            </a:endParaRPr>
          </a:p>
          <a:p>
            <a:pPr indent="0" lvl="0" marL="355600" marR="0" rtl="0" algn="l">
              <a:lnSpc>
                <a:spcPct val="100000"/>
              </a:lnSpc>
              <a:spcBef>
                <a:spcPts val="13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CHAR (tamaño fijo, máximo de 2000 caracteres)</a:t>
            </a:r>
            <a:endParaRPr sz="2400">
              <a:latin typeface="Calibri"/>
              <a:ea typeface="Calibri"/>
              <a:cs typeface="Calibri"/>
              <a:sym typeface="Calibri"/>
            </a:endParaRPr>
          </a:p>
          <a:p>
            <a:pPr indent="0" lvl="0" marL="355600" marR="0" rtl="0" algn="l">
              <a:lnSpc>
                <a:spcPct val="100000"/>
              </a:lnSpc>
              <a:spcBef>
                <a:spcPts val="12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VARCHAR2 (tamaño variable, máximo de 32,767 caracteres)</a:t>
            </a:r>
            <a:endParaRPr sz="2400">
              <a:latin typeface="Calibri"/>
              <a:ea typeface="Calibri"/>
              <a:cs typeface="Calibri"/>
              <a:sym typeface="Calibri"/>
            </a:endParaRPr>
          </a:p>
          <a:p>
            <a:pPr indent="0" lvl="0" marL="355600" marR="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CLOB (tamaño variable, máximo de 128 terabytes)</a:t>
            </a:r>
            <a:endParaRPr sz="2400">
              <a:latin typeface="Calibri"/>
              <a:ea typeface="Calibri"/>
              <a:cs typeface="Calibri"/>
              <a:sym typeface="Calibri"/>
            </a:endParaRPr>
          </a:p>
          <a:p>
            <a:pPr indent="-177800" lvl="0" marL="184785" marR="0" rtl="0" algn="l">
              <a:lnSpc>
                <a:spcPct val="100000"/>
              </a:lnSpc>
              <a:spcBef>
                <a:spcPts val="44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valores de número:</a:t>
            </a:r>
            <a:endParaRPr sz="2800">
              <a:latin typeface="Calibri"/>
              <a:ea typeface="Calibri"/>
              <a:cs typeface="Calibri"/>
              <a:sym typeface="Calibri"/>
            </a:endParaRPr>
          </a:p>
          <a:p>
            <a:pPr indent="0" lvl="0" marL="355600" marR="0" rtl="0" algn="l">
              <a:lnSpc>
                <a:spcPct val="100000"/>
              </a:lnSpc>
              <a:spcBef>
                <a:spcPts val="13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NUMBER (tamaño variable, precisión máxima de 38 dígitos)</a:t>
            </a:r>
            <a:endParaRPr sz="2400">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0"/>
          <p:cNvSpPr txBox="1"/>
          <p:nvPr>
            <p:ph type="title"/>
          </p:nvPr>
        </p:nvSpPr>
        <p:spPr>
          <a:xfrm>
            <a:off x="392112" y="748031"/>
            <a:ext cx="4047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Tipos de Dato Comunes</a:t>
            </a:r>
            <a:endParaRPr/>
          </a:p>
        </p:txBody>
      </p:sp>
      <p:sp>
        <p:nvSpPr>
          <p:cNvPr id="118" name="Google Shape;118;p20"/>
          <p:cNvSpPr txBox="1"/>
          <p:nvPr>
            <p:ph idx="10" type="dt"/>
          </p:nvPr>
        </p:nvSpPr>
        <p:spPr>
          <a:xfrm>
            <a:off x="2874191" y="6516395"/>
            <a:ext cx="960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13-2</a:t>
            </a:r>
            <a:endParaRPr/>
          </a:p>
          <a:p>
            <a:pPr indent="0" lvl="0" marL="12700" rtl="0" algn="l">
              <a:lnSpc>
                <a:spcPct val="120624"/>
              </a:lnSpc>
              <a:spcBef>
                <a:spcPts val="0"/>
              </a:spcBef>
              <a:spcAft>
                <a:spcPts val="0"/>
              </a:spcAft>
              <a:buNone/>
            </a:pPr>
            <a:r>
              <a:rPr lang="en-US"/>
              <a:t>Uso de Tipos de Dato</a:t>
            </a:r>
            <a:endParaRPr/>
          </a:p>
        </p:txBody>
      </p:sp>
      <p:sp>
        <p:nvSpPr>
          <p:cNvPr id="119" name="Google Shape;119;p20"/>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20" name="Google Shape;120;p20"/>
          <p:cNvSpPr txBox="1"/>
          <p:nvPr>
            <p:ph idx="12" type="sldNum"/>
          </p:nvPr>
        </p:nvSpPr>
        <p:spPr>
          <a:xfrm>
            <a:off x="8601456" y="6589648"/>
            <a:ext cx="186000" cy="1308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121" name="Google Shape;121;p20"/>
          <p:cNvSpPr txBox="1"/>
          <p:nvPr/>
        </p:nvSpPr>
        <p:spPr>
          <a:xfrm>
            <a:off x="483552" y="1415417"/>
            <a:ext cx="8024495" cy="4478655"/>
          </a:xfrm>
          <a:prstGeom prst="rect">
            <a:avLst/>
          </a:prstGeom>
          <a:noFill/>
          <a:ln>
            <a:noFill/>
          </a:ln>
        </p:spPr>
        <p:txBody>
          <a:bodyPr anchorCtr="0" anchor="t" bIns="0" lIns="0" spcFirstLastPara="1" rIns="0" wrap="square" tIns="59675">
            <a:spAutoFit/>
          </a:bodyPr>
          <a:lstStyle/>
          <a:p>
            <a:pPr indent="-177800" lvl="0" marL="184785"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 continuación se muestran los tipos de dato de  columna más utilizados para los valores de fecha, hora  y binario</a:t>
            </a:r>
            <a:endParaRPr sz="2800">
              <a:latin typeface="Calibri"/>
              <a:ea typeface="Calibri"/>
              <a:cs typeface="Calibri"/>
              <a:sym typeface="Calibri"/>
            </a:endParaRPr>
          </a:p>
          <a:p>
            <a:pPr indent="-177800" lvl="0" marL="184785" marR="0" rtl="0" algn="l">
              <a:lnSpc>
                <a:spcPct val="100000"/>
              </a:lnSpc>
              <a:spcBef>
                <a:spcPts val="409"/>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valores de fecha y hora:</a:t>
            </a:r>
            <a:endParaRPr sz="2800">
              <a:latin typeface="Calibri"/>
              <a:ea typeface="Calibri"/>
              <a:cs typeface="Calibri"/>
              <a:sym typeface="Calibri"/>
            </a:endParaRPr>
          </a:p>
          <a:p>
            <a:pPr indent="0" lvl="0" marL="355600" marR="0" rtl="0" algn="l">
              <a:lnSpc>
                <a:spcPct val="100000"/>
              </a:lnSpc>
              <a:spcBef>
                <a:spcPts val="13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DATE</a:t>
            </a:r>
            <a:endParaRPr sz="2400">
              <a:latin typeface="Calibri"/>
              <a:ea typeface="Calibri"/>
              <a:cs typeface="Calibri"/>
              <a:sym typeface="Calibri"/>
            </a:endParaRPr>
          </a:p>
          <a:p>
            <a:pPr indent="0" lvl="0" marL="355600" marR="0" rtl="0" algn="l">
              <a:lnSpc>
                <a:spcPct val="100000"/>
              </a:lnSpc>
              <a:spcBef>
                <a:spcPts val="12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TIMESTAMP ….</a:t>
            </a:r>
            <a:endParaRPr sz="2400">
              <a:latin typeface="Calibri"/>
              <a:ea typeface="Calibri"/>
              <a:cs typeface="Calibri"/>
              <a:sym typeface="Calibri"/>
            </a:endParaRPr>
          </a:p>
          <a:p>
            <a:pPr indent="0" lvl="0" marL="355600" marR="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INTERVAL</a:t>
            </a:r>
            <a:endParaRPr sz="2400">
              <a:latin typeface="Calibri"/>
              <a:ea typeface="Calibri"/>
              <a:cs typeface="Calibri"/>
              <a:sym typeface="Calibri"/>
            </a:endParaRPr>
          </a:p>
          <a:p>
            <a:pPr indent="-177800" lvl="0" marL="184785" marR="513715" rtl="0" algn="l">
              <a:lnSpc>
                <a:spcPct val="108214"/>
              </a:lnSpc>
              <a:spcBef>
                <a:spcPts val="81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valores binarios (p. ej., multimedia: JPG, WAV,  MP3, etc.):</a:t>
            </a:r>
            <a:endParaRPr sz="2800">
              <a:latin typeface="Calibri"/>
              <a:ea typeface="Calibri"/>
              <a:cs typeface="Calibri"/>
              <a:sym typeface="Calibri"/>
            </a:endParaRPr>
          </a:p>
          <a:p>
            <a:pPr indent="0" lvl="0" marL="355600" marR="0" rtl="0" algn="l">
              <a:lnSpc>
                <a:spcPct val="100000"/>
              </a:lnSpc>
              <a:spcBef>
                <a:spcPts val="8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RAW (tamaño variable, máximo de 2000 bytes)</a:t>
            </a:r>
            <a:endParaRPr sz="2400">
              <a:latin typeface="Calibri"/>
              <a:ea typeface="Calibri"/>
              <a:cs typeface="Calibri"/>
              <a:sym typeface="Calibri"/>
            </a:endParaRPr>
          </a:p>
          <a:p>
            <a:pPr indent="0" lvl="0" marL="355600" marR="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BLOB (tamaño variable, máximo de 128 terabytes)</a:t>
            </a:r>
            <a:endParaRPr sz="2400">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1"/>
          <p:cNvSpPr txBox="1"/>
          <p:nvPr>
            <p:ph type="title"/>
          </p:nvPr>
        </p:nvSpPr>
        <p:spPr>
          <a:xfrm>
            <a:off x="392112" y="748031"/>
            <a:ext cx="4047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Tipos de Dato Comunes</a:t>
            </a:r>
            <a:endParaRPr/>
          </a:p>
        </p:txBody>
      </p:sp>
      <p:sp>
        <p:nvSpPr>
          <p:cNvPr id="127" name="Google Shape;127;p21"/>
          <p:cNvSpPr txBox="1"/>
          <p:nvPr>
            <p:ph idx="10" type="dt"/>
          </p:nvPr>
        </p:nvSpPr>
        <p:spPr>
          <a:xfrm>
            <a:off x="2874191" y="6516395"/>
            <a:ext cx="960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13-2</a:t>
            </a:r>
            <a:endParaRPr/>
          </a:p>
          <a:p>
            <a:pPr indent="0" lvl="0" marL="12700" rtl="0" algn="l">
              <a:lnSpc>
                <a:spcPct val="120624"/>
              </a:lnSpc>
              <a:spcBef>
                <a:spcPts val="0"/>
              </a:spcBef>
              <a:spcAft>
                <a:spcPts val="0"/>
              </a:spcAft>
              <a:buNone/>
            </a:pPr>
            <a:r>
              <a:rPr lang="en-US"/>
              <a:t>Uso de Tipos de Dato</a:t>
            </a:r>
            <a:endParaRPr/>
          </a:p>
        </p:txBody>
      </p:sp>
      <p:sp>
        <p:nvSpPr>
          <p:cNvPr id="128" name="Google Shape;128;p21"/>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29" name="Google Shape;129;p21"/>
          <p:cNvSpPr txBox="1"/>
          <p:nvPr>
            <p:ph idx="12" type="sldNum"/>
          </p:nvPr>
        </p:nvSpPr>
        <p:spPr>
          <a:xfrm>
            <a:off x="8601456" y="6589648"/>
            <a:ext cx="186000" cy="1308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130" name="Google Shape;130;p21"/>
          <p:cNvSpPr txBox="1"/>
          <p:nvPr/>
        </p:nvSpPr>
        <p:spPr>
          <a:xfrm>
            <a:off x="483552" y="1381889"/>
            <a:ext cx="8138795" cy="4613910"/>
          </a:xfrm>
          <a:prstGeom prst="rect">
            <a:avLst/>
          </a:prstGeom>
          <a:noFill/>
          <a:ln>
            <a:noFill/>
          </a:ln>
        </p:spPr>
        <p:txBody>
          <a:bodyPr anchorCtr="0" anchor="t" bIns="0" lIns="0" spcFirstLastPara="1" rIns="0" wrap="square" tIns="97150">
            <a:spAutoFit/>
          </a:bodyPr>
          <a:lstStyle/>
          <a:p>
            <a:pPr indent="-177800" lvl="0" marL="184785" marR="37465" rtl="0" algn="l">
              <a:lnSpc>
                <a:spcPct val="8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valores de caracteres, normalmente es mejor  utilizar VARCHAR2 o CLOB que CHAR, porque se ahorra  espacio</a:t>
            </a:r>
            <a:endParaRPr sz="2800">
              <a:latin typeface="Calibri"/>
              <a:ea typeface="Calibri"/>
              <a:cs typeface="Calibri"/>
              <a:sym typeface="Calibri"/>
            </a:endParaRPr>
          </a:p>
          <a:p>
            <a:pPr indent="-177800" lvl="0" marL="184785" marR="0" rtl="0" algn="l">
              <a:lnSpc>
                <a:spcPct val="100000"/>
              </a:lnSpc>
              <a:spcBef>
                <a:spcPts val="13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Por ejemplo, el apellido de un empleado es "Chang"</a:t>
            </a:r>
            <a:endParaRPr sz="2800">
              <a:latin typeface="Calibri"/>
              <a:ea typeface="Calibri"/>
              <a:cs typeface="Calibri"/>
              <a:sym typeface="Calibri"/>
            </a:endParaRPr>
          </a:p>
          <a:p>
            <a:pPr indent="-177800" lvl="0" marL="184785" marR="93980" rtl="0" algn="l">
              <a:lnSpc>
                <a:spcPct val="80000"/>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una columna VARCHAR2(30), solo se almacenan los  5 caracteres importantes: C h a n g</a:t>
            </a:r>
            <a:endParaRPr sz="2800">
              <a:latin typeface="Calibri"/>
              <a:ea typeface="Calibri"/>
              <a:cs typeface="Calibri"/>
              <a:sym typeface="Calibri"/>
            </a:endParaRPr>
          </a:p>
          <a:p>
            <a:pPr indent="-177800" lvl="0" marL="184785" marR="433070" rtl="0" algn="l">
              <a:lnSpc>
                <a:spcPct val="80000"/>
              </a:lnSpc>
              <a:spcBef>
                <a:spcPts val="80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Pero en una columna CHAR(30), se almacenarán  también 25 espacios finales, para formar un tamaño  fijo de 30 caracteres</a:t>
            </a:r>
            <a:endParaRPr sz="2800">
              <a:latin typeface="Calibri"/>
              <a:ea typeface="Calibri"/>
              <a:cs typeface="Calibri"/>
              <a:sym typeface="Calibri"/>
            </a:endParaRPr>
          </a:p>
          <a:p>
            <a:pPr indent="-177800" lvl="0" marL="184785" marR="5080" rtl="0" algn="just">
              <a:lnSpc>
                <a:spcPct val="80000"/>
              </a:lnSpc>
              <a:spcBef>
                <a:spcPts val="80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Los valores de número pueden ser negativos, así como  positivos. Por ejemplo, NUMBER(6,2) puede almacenar  cualquier valor de +9999,99 hasta -9999,99</a:t>
            </a:r>
            <a:endParaRPr sz="2800">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2"/>
          <p:cNvSpPr txBox="1"/>
          <p:nvPr>
            <p:ph type="title"/>
          </p:nvPr>
        </p:nvSpPr>
        <p:spPr>
          <a:xfrm>
            <a:off x="392112" y="748031"/>
            <a:ext cx="43263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Tipos de Dato DATE-TIME</a:t>
            </a:r>
            <a:endParaRPr/>
          </a:p>
        </p:txBody>
      </p:sp>
      <p:sp>
        <p:nvSpPr>
          <p:cNvPr id="136" name="Google Shape;136;p22"/>
          <p:cNvSpPr txBox="1"/>
          <p:nvPr>
            <p:ph idx="10" type="dt"/>
          </p:nvPr>
        </p:nvSpPr>
        <p:spPr>
          <a:xfrm>
            <a:off x="2874191" y="6516395"/>
            <a:ext cx="960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13-2</a:t>
            </a:r>
            <a:endParaRPr/>
          </a:p>
          <a:p>
            <a:pPr indent="0" lvl="0" marL="12700" rtl="0" algn="l">
              <a:lnSpc>
                <a:spcPct val="120624"/>
              </a:lnSpc>
              <a:spcBef>
                <a:spcPts val="0"/>
              </a:spcBef>
              <a:spcAft>
                <a:spcPts val="0"/>
              </a:spcAft>
              <a:buNone/>
            </a:pPr>
            <a:r>
              <a:rPr lang="en-US"/>
              <a:t>Uso de Tipos de Dato</a:t>
            </a:r>
            <a:endParaRPr/>
          </a:p>
        </p:txBody>
      </p:sp>
      <p:sp>
        <p:nvSpPr>
          <p:cNvPr id="137" name="Google Shape;137;p22"/>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38" name="Google Shape;138;p22"/>
          <p:cNvSpPr txBox="1"/>
          <p:nvPr>
            <p:ph idx="12" type="sldNum"/>
          </p:nvPr>
        </p:nvSpPr>
        <p:spPr>
          <a:xfrm>
            <a:off x="8601456" y="6589648"/>
            <a:ext cx="186000" cy="1308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139" name="Google Shape;139;p22"/>
          <p:cNvSpPr txBox="1"/>
          <p:nvPr/>
        </p:nvSpPr>
        <p:spPr>
          <a:xfrm>
            <a:off x="483552" y="1415417"/>
            <a:ext cx="8037830" cy="4213225"/>
          </a:xfrm>
          <a:prstGeom prst="rect">
            <a:avLst/>
          </a:prstGeom>
          <a:noFill/>
          <a:ln>
            <a:noFill/>
          </a:ln>
        </p:spPr>
        <p:txBody>
          <a:bodyPr anchorCtr="0" anchor="t" bIns="0" lIns="0" spcFirstLastPara="1" rIns="0" wrap="square" tIns="59675">
            <a:spAutoFit/>
          </a:bodyPr>
          <a:lstStyle/>
          <a:p>
            <a:pPr indent="-177800" lvl="0" marL="184785" marR="3619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tipo de dato DATE almacena un valor de siglos hasta  segundos enteros, pero no se pueden almacenar las  fracciones de un segundo</a:t>
            </a:r>
            <a:endParaRPr sz="2800">
              <a:latin typeface="Calibri"/>
              <a:ea typeface="Calibri"/>
              <a:cs typeface="Calibri"/>
              <a:sym typeface="Calibri"/>
            </a:endParaRPr>
          </a:p>
          <a:p>
            <a:pPr indent="-177800" lvl="0" marL="184785" marR="912494"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"21-Aug-2003 17:25:30" es un valor válido, pero  "21-Aug-2003 17:25:30.255" no lo es</a:t>
            </a:r>
            <a:endParaRPr sz="2800">
              <a:latin typeface="Calibri"/>
              <a:ea typeface="Calibri"/>
              <a:cs typeface="Calibri"/>
              <a:sym typeface="Calibri"/>
            </a:endParaRPr>
          </a:p>
          <a:p>
            <a:pPr indent="-177800" lvl="0" marL="184785" marR="25146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tipo de dato TIMESTAMP es una extensión del tipo  de dato DATE que permite fracciones de un segundo</a:t>
            </a:r>
            <a:endParaRPr sz="2800">
              <a:latin typeface="Calibri"/>
              <a:ea typeface="Calibri"/>
              <a:cs typeface="Calibri"/>
              <a:sym typeface="Calibri"/>
            </a:endParaRPr>
          </a:p>
          <a:p>
            <a:pPr indent="-177800" lvl="0" marL="184785" marR="5080" rtl="0" algn="just">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Por ejemplo, TIMESTAMP(3) permite 3 dígitos después  de los segundos completos, lo que permite almacenar  valores de hasta milisegundos</a:t>
            </a:r>
            <a:endParaRPr sz="2800">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3"/>
          <p:cNvSpPr txBox="1"/>
          <p:nvPr>
            <p:ph type="title"/>
          </p:nvPr>
        </p:nvSpPr>
        <p:spPr>
          <a:xfrm>
            <a:off x="392112" y="748031"/>
            <a:ext cx="43263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Tipos de Dato DATE-TIME</a:t>
            </a:r>
            <a:endParaRPr/>
          </a:p>
        </p:txBody>
      </p:sp>
      <p:sp>
        <p:nvSpPr>
          <p:cNvPr id="145" name="Google Shape;145;p23"/>
          <p:cNvSpPr txBox="1"/>
          <p:nvPr>
            <p:ph idx="10" type="dt"/>
          </p:nvPr>
        </p:nvSpPr>
        <p:spPr>
          <a:xfrm>
            <a:off x="2874191" y="6516395"/>
            <a:ext cx="960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13-2</a:t>
            </a:r>
            <a:endParaRPr/>
          </a:p>
          <a:p>
            <a:pPr indent="0" lvl="0" marL="12700" rtl="0" algn="l">
              <a:lnSpc>
                <a:spcPct val="120624"/>
              </a:lnSpc>
              <a:spcBef>
                <a:spcPts val="0"/>
              </a:spcBef>
              <a:spcAft>
                <a:spcPts val="0"/>
              </a:spcAft>
              <a:buNone/>
            </a:pPr>
            <a:r>
              <a:rPr lang="en-US"/>
              <a:t>Uso de Tipos de Dato</a:t>
            </a:r>
            <a:endParaRPr/>
          </a:p>
        </p:txBody>
      </p:sp>
      <p:sp>
        <p:nvSpPr>
          <p:cNvPr id="146" name="Google Shape;146;p23"/>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47" name="Google Shape;147;p23"/>
          <p:cNvSpPr txBox="1"/>
          <p:nvPr>
            <p:ph idx="12" type="sldNum"/>
          </p:nvPr>
        </p:nvSpPr>
        <p:spPr>
          <a:xfrm>
            <a:off x="8601456" y="6589648"/>
            <a:ext cx="186000" cy="1308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148" name="Google Shape;148;p23"/>
          <p:cNvSpPr txBox="1"/>
          <p:nvPr/>
        </p:nvSpPr>
        <p:spPr>
          <a:xfrm>
            <a:off x="483552" y="1415417"/>
            <a:ext cx="3729354" cy="452120"/>
          </a:xfrm>
          <a:prstGeom prst="rect">
            <a:avLst/>
          </a:prstGeom>
          <a:noFill/>
          <a:ln>
            <a:noFill/>
          </a:ln>
        </p:spPr>
        <p:txBody>
          <a:bodyPr anchorCtr="0" anchor="t" bIns="0" lIns="0" spcFirstLastPara="1" rIns="0" wrap="square" tIns="12050">
            <a:spAutoFit/>
          </a:bodyPr>
          <a:lstStyle/>
          <a:p>
            <a:pPr indent="-177800" lvl="0" marL="184785" marR="0"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Ejemplo de TIMESTAMP:</a:t>
            </a:r>
            <a:endParaRPr sz="2800">
              <a:latin typeface="Calibri"/>
              <a:ea typeface="Calibri"/>
              <a:cs typeface="Calibri"/>
              <a:sym typeface="Calibri"/>
            </a:endParaRPr>
          </a:p>
        </p:txBody>
      </p:sp>
      <p:graphicFrame>
        <p:nvGraphicFramePr>
          <p:cNvPr id="149" name="Google Shape;149;p23"/>
          <p:cNvGraphicFramePr/>
          <p:nvPr/>
        </p:nvGraphicFramePr>
        <p:xfrm>
          <a:off x="5826805" y="4879357"/>
          <a:ext cx="3000000" cy="3000000"/>
        </p:xfrm>
        <a:graphic>
          <a:graphicData uri="http://schemas.openxmlformats.org/drawingml/2006/table">
            <a:tbl>
              <a:tblPr bandRow="1" firstRow="1">
                <a:noFill/>
                <a:tableStyleId>{396F63B4-2A52-4E26-8514-78795E7FD2E4}</a:tableStyleId>
              </a:tblPr>
              <a:tblGrid>
                <a:gridCol w="2905750"/>
              </a:tblGrid>
              <a:tr h="309050">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EXACT_TIME</a:t>
                      </a:r>
                      <a:endParaRPr sz="1600" u="none" cap="none" strike="noStrike">
                        <a:latin typeface="Calibri"/>
                        <a:ea typeface="Calibri"/>
                        <a:cs typeface="Calibri"/>
                        <a:sym typeface="Calibri"/>
                      </a:endParaRPr>
                    </a:p>
                  </a:txBody>
                  <a:tcPr marT="196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r>
              <a:tr h="30905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10-JUN-15 10.52.29.123456 AM</a:t>
                      </a:r>
                      <a:endParaRPr sz="1600" u="none" cap="none" strike="noStrike">
                        <a:latin typeface="Calibri"/>
                        <a:ea typeface="Calibri"/>
                        <a:cs typeface="Calibri"/>
                        <a:sym typeface="Calibri"/>
                      </a:endParaRPr>
                    </a:p>
                  </a:txBody>
                  <a:tcPr marT="196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30905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16-JUL-15 08.17.08.000000 AM</a:t>
                      </a:r>
                      <a:endParaRPr sz="1600" u="none" cap="none" strike="noStrike">
                        <a:latin typeface="Calibri"/>
                        <a:ea typeface="Calibri"/>
                        <a:cs typeface="Calibri"/>
                        <a:sym typeface="Calibri"/>
                      </a:endParaRPr>
                    </a:p>
                  </a:txBody>
                  <a:tcPr marT="196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30902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16-JUL-15 08.17.16.610293 AM</a:t>
                      </a:r>
                      <a:endParaRPr sz="1600" u="none" cap="none" strike="noStrike">
                        <a:latin typeface="Calibri"/>
                        <a:ea typeface="Calibri"/>
                        <a:cs typeface="Calibri"/>
                        <a:sym typeface="Calibri"/>
                      </a:endParaRPr>
                    </a:p>
                  </a:txBody>
                  <a:tcPr marT="196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sp>
        <p:nvSpPr>
          <p:cNvPr id="150" name="Google Shape;150;p23"/>
          <p:cNvSpPr txBox="1"/>
          <p:nvPr/>
        </p:nvSpPr>
        <p:spPr>
          <a:xfrm>
            <a:off x="405384" y="1993392"/>
            <a:ext cx="8345805" cy="524510"/>
          </a:xfrm>
          <a:prstGeom prst="rect">
            <a:avLst/>
          </a:prstGeom>
          <a:solidFill>
            <a:srgbClr val="9DBDC4">
              <a:alpha val="49804"/>
            </a:srgbClr>
          </a:solidFill>
          <a:ln>
            <a:noFill/>
          </a:ln>
        </p:spPr>
        <p:txBody>
          <a:bodyPr anchorCtr="0" anchor="t" bIns="0" lIns="0" spcFirstLastPara="1" rIns="0" wrap="square" tIns="0">
            <a:spAutoFit/>
          </a:bodyPr>
          <a:lstStyle/>
          <a:p>
            <a:pPr indent="0" lvl="0" marL="0" marR="0" rtl="0" algn="l">
              <a:lnSpc>
                <a:spcPct val="102500"/>
              </a:lnSpc>
              <a:spcBef>
                <a:spcPts val="0"/>
              </a:spcBef>
              <a:spcAft>
                <a:spcPts val="0"/>
              </a:spcAft>
              <a:buNone/>
            </a:pPr>
            <a:r>
              <a:rPr b="1" lang="en-US" sz="1800">
                <a:solidFill>
                  <a:srgbClr val="4E3629"/>
                </a:solidFill>
                <a:latin typeface="Courier New"/>
                <a:ea typeface="Courier New"/>
                <a:cs typeface="Courier New"/>
                <a:sym typeface="Courier New"/>
              </a:rPr>
              <a:t>CREATE TABLE time_ex1</a:t>
            </a:r>
            <a:endParaRPr sz="1800">
              <a:latin typeface="Courier New"/>
              <a:ea typeface="Courier New"/>
              <a:cs typeface="Courier New"/>
              <a:sym typeface="Courier New"/>
            </a:endParaRPr>
          </a:p>
          <a:p>
            <a:pPr indent="0" lvl="0" marL="0"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(exact_time TIMESTAMP);</a:t>
            </a:r>
            <a:endParaRPr sz="1800">
              <a:latin typeface="Courier New"/>
              <a:ea typeface="Courier New"/>
              <a:cs typeface="Courier New"/>
              <a:sym typeface="Courier New"/>
            </a:endParaRPr>
          </a:p>
        </p:txBody>
      </p:sp>
      <p:sp>
        <p:nvSpPr>
          <p:cNvPr id="151" name="Google Shape;151;p23"/>
          <p:cNvSpPr txBox="1"/>
          <p:nvPr/>
        </p:nvSpPr>
        <p:spPr>
          <a:xfrm>
            <a:off x="405384" y="2682239"/>
            <a:ext cx="8345805" cy="523240"/>
          </a:xfrm>
          <a:prstGeom prst="rect">
            <a:avLst/>
          </a:prstGeom>
          <a:solidFill>
            <a:srgbClr val="9DBDC4">
              <a:alpha val="49804"/>
            </a:srgbClr>
          </a:solidFill>
          <a:ln>
            <a:noFill/>
          </a:ln>
        </p:spPr>
        <p:txBody>
          <a:bodyPr anchorCtr="0" anchor="t" bIns="0" lIns="0" spcFirstLastPara="1" rIns="0" wrap="square" tIns="0">
            <a:spAutoFit/>
          </a:bodyPr>
          <a:lstStyle/>
          <a:p>
            <a:pPr indent="0" lvl="0" marL="0" marR="0" rtl="0" algn="l">
              <a:lnSpc>
                <a:spcPct val="102166"/>
              </a:lnSpc>
              <a:spcBef>
                <a:spcPts val="0"/>
              </a:spcBef>
              <a:spcAft>
                <a:spcPts val="0"/>
              </a:spcAft>
              <a:buNone/>
            </a:pPr>
            <a:r>
              <a:rPr b="1" lang="en-US" sz="1800">
                <a:solidFill>
                  <a:srgbClr val="4E3629"/>
                </a:solidFill>
                <a:latin typeface="Courier New"/>
                <a:ea typeface="Courier New"/>
                <a:cs typeface="Courier New"/>
                <a:sym typeface="Courier New"/>
              </a:rPr>
              <a:t>INSERT INTO time_ex1</a:t>
            </a:r>
            <a:endParaRPr sz="1800">
              <a:latin typeface="Courier New"/>
              <a:ea typeface="Courier New"/>
              <a:cs typeface="Courier New"/>
              <a:sym typeface="Courier New"/>
            </a:endParaRPr>
          </a:p>
          <a:p>
            <a:pPr indent="0" lvl="0" marL="0"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VALUES ('10-Jun-2017 10:52:29.123456');</a:t>
            </a:r>
            <a:endParaRPr sz="1800">
              <a:latin typeface="Courier New"/>
              <a:ea typeface="Courier New"/>
              <a:cs typeface="Courier New"/>
              <a:sym typeface="Courier New"/>
            </a:endParaRPr>
          </a:p>
        </p:txBody>
      </p:sp>
      <p:sp>
        <p:nvSpPr>
          <p:cNvPr id="152" name="Google Shape;152;p23"/>
          <p:cNvSpPr txBox="1"/>
          <p:nvPr/>
        </p:nvSpPr>
        <p:spPr>
          <a:xfrm>
            <a:off x="405384" y="3384803"/>
            <a:ext cx="8345805" cy="523240"/>
          </a:xfrm>
          <a:prstGeom prst="rect">
            <a:avLst/>
          </a:prstGeom>
          <a:solidFill>
            <a:srgbClr val="9DBDC4">
              <a:alpha val="49804"/>
            </a:srgbClr>
          </a:solidFill>
          <a:ln>
            <a:noFill/>
          </a:ln>
        </p:spPr>
        <p:txBody>
          <a:bodyPr anchorCtr="0" anchor="t" bIns="0" lIns="0" spcFirstLastPara="1" rIns="0" wrap="square" tIns="0">
            <a:spAutoFit/>
          </a:bodyPr>
          <a:lstStyle/>
          <a:p>
            <a:pPr indent="0" lvl="0" marL="0" marR="0" rtl="0" algn="l">
              <a:lnSpc>
                <a:spcPct val="102500"/>
              </a:lnSpc>
              <a:spcBef>
                <a:spcPts val="0"/>
              </a:spcBef>
              <a:spcAft>
                <a:spcPts val="0"/>
              </a:spcAft>
              <a:buNone/>
            </a:pPr>
            <a:r>
              <a:rPr b="1" lang="en-US" sz="1800">
                <a:solidFill>
                  <a:srgbClr val="4E3629"/>
                </a:solidFill>
                <a:latin typeface="Courier New"/>
                <a:ea typeface="Courier New"/>
                <a:cs typeface="Courier New"/>
                <a:sym typeface="Courier New"/>
              </a:rPr>
              <a:t>INSERT INTO time_ex1</a:t>
            </a:r>
            <a:endParaRPr sz="1800">
              <a:latin typeface="Courier New"/>
              <a:ea typeface="Courier New"/>
              <a:cs typeface="Courier New"/>
              <a:sym typeface="Courier New"/>
            </a:endParaRPr>
          </a:p>
          <a:p>
            <a:pPr indent="0" lvl="0" marL="0"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VALUES (SYSDATE);</a:t>
            </a:r>
            <a:endParaRPr sz="1800">
              <a:latin typeface="Courier New"/>
              <a:ea typeface="Courier New"/>
              <a:cs typeface="Courier New"/>
              <a:sym typeface="Courier New"/>
            </a:endParaRPr>
          </a:p>
        </p:txBody>
      </p:sp>
      <p:sp>
        <p:nvSpPr>
          <p:cNvPr id="153" name="Google Shape;153;p23"/>
          <p:cNvSpPr txBox="1"/>
          <p:nvPr/>
        </p:nvSpPr>
        <p:spPr>
          <a:xfrm>
            <a:off x="405384" y="4134611"/>
            <a:ext cx="8345805" cy="524510"/>
          </a:xfrm>
          <a:prstGeom prst="rect">
            <a:avLst/>
          </a:prstGeom>
          <a:solidFill>
            <a:srgbClr val="9DBDC4">
              <a:alpha val="49804"/>
            </a:srgbClr>
          </a:solidFill>
          <a:ln>
            <a:noFill/>
          </a:ln>
        </p:spPr>
        <p:txBody>
          <a:bodyPr anchorCtr="0" anchor="t" bIns="0" lIns="0" spcFirstLastPara="1" rIns="0" wrap="square" tIns="0">
            <a:spAutoFit/>
          </a:bodyPr>
          <a:lstStyle/>
          <a:p>
            <a:pPr indent="0" lvl="0" marL="0" marR="0" rtl="0" algn="l">
              <a:lnSpc>
                <a:spcPct val="102777"/>
              </a:lnSpc>
              <a:spcBef>
                <a:spcPts val="0"/>
              </a:spcBef>
              <a:spcAft>
                <a:spcPts val="0"/>
              </a:spcAft>
              <a:buNone/>
            </a:pPr>
            <a:r>
              <a:rPr b="1" lang="en-US" sz="1800">
                <a:solidFill>
                  <a:srgbClr val="4E3629"/>
                </a:solidFill>
                <a:latin typeface="Courier New"/>
                <a:ea typeface="Courier New"/>
                <a:cs typeface="Courier New"/>
                <a:sym typeface="Courier New"/>
              </a:rPr>
              <a:t>INSERT INTO time_ex1</a:t>
            </a:r>
            <a:endParaRPr sz="1800">
              <a:latin typeface="Courier New"/>
              <a:ea typeface="Courier New"/>
              <a:cs typeface="Courier New"/>
              <a:sym typeface="Courier New"/>
            </a:endParaRPr>
          </a:p>
          <a:p>
            <a:pPr indent="0" lvl="0" marL="0"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VALUES (SYSTIMESTAMP);</a:t>
            </a:r>
            <a:endParaRPr sz="1800">
              <a:latin typeface="Courier New"/>
              <a:ea typeface="Courier New"/>
              <a:cs typeface="Courier New"/>
              <a:sym typeface="Courier New"/>
            </a:endParaRPr>
          </a:p>
        </p:txBody>
      </p:sp>
      <p:sp>
        <p:nvSpPr>
          <p:cNvPr id="154" name="Google Shape;154;p23"/>
          <p:cNvSpPr txBox="1"/>
          <p:nvPr/>
        </p:nvSpPr>
        <p:spPr>
          <a:xfrm>
            <a:off x="393191" y="4887467"/>
            <a:ext cx="3467100" cy="523240"/>
          </a:xfrm>
          <a:prstGeom prst="rect">
            <a:avLst/>
          </a:prstGeom>
          <a:solidFill>
            <a:srgbClr val="9DBDC4">
              <a:alpha val="49804"/>
            </a:srgbClr>
          </a:solidFill>
          <a:ln>
            <a:noFill/>
          </a:ln>
        </p:spPr>
        <p:txBody>
          <a:bodyPr anchorCtr="0" anchor="t" bIns="0" lIns="0" spcFirstLastPara="1" rIns="0" wrap="square" tIns="0">
            <a:spAutoFit/>
          </a:bodyPr>
          <a:lstStyle/>
          <a:p>
            <a:pPr indent="0" lvl="0" marL="0" marR="0" rtl="0" algn="l">
              <a:lnSpc>
                <a:spcPct val="102166"/>
              </a:lnSpc>
              <a:spcBef>
                <a:spcPts val="0"/>
              </a:spcBef>
              <a:spcAft>
                <a:spcPts val="0"/>
              </a:spcAft>
              <a:buNone/>
            </a:pPr>
            <a:r>
              <a:rPr b="1" lang="en-US" sz="1800">
                <a:solidFill>
                  <a:srgbClr val="4E3629"/>
                </a:solidFill>
                <a:latin typeface="Courier New"/>
                <a:ea typeface="Courier New"/>
                <a:cs typeface="Courier New"/>
                <a:sym typeface="Courier New"/>
              </a:rPr>
              <a:t>SELECT *</a:t>
            </a:r>
            <a:endParaRPr sz="1800">
              <a:latin typeface="Courier New"/>
              <a:ea typeface="Courier New"/>
              <a:cs typeface="Courier New"/>
              <a:sym typeface="Courier New"/>
            </a:endParaRPr>
          </a:p>
          <a:p>
            <a:pPr indent="0" lvl="0" marL="0"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time_ex1;</a:t>
            </a:r>
            <a:endParaRPr sz="1800">
              <a:latin typeface="Courier New"/>
              <a:ea typeface="Courier New"/>
              <a:cs typeface="Courier New"/>
              <a:sym typeface="Courier New"/>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4"/>
          <p:cNvSpPr txBox="1"/>
          <p:nvPr>
            <p:ph type="title"/>
          </p:nvPr>
        </p:nvSpPr>
        <p:spPr>
          <a:xfrm>
            <a:off x="392112" y="748031"/>
            <a:ext cx="6507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TIMESTAMP…With [LOCAL] Time Zone</a:t>
            </a:r>
            <a:endParaRPr/>
          </a:p>
        </p:txBody>
      </p:sp>
      <p:sp>
        <p:nvSpPr>
          <p:cNvPr id="160" name="Google Shape;160;p24"/>
          <p:cNvSpPr txBox="1"/>
          <p:nvPr>
            <p:ph idx="10" type="dt"/>
          </p:nvPr>
        </p:nvSpPr>
        <p:spPr>
          <a:xfrm>
            <a:off x="2874191" y="6516395"/>
            <a:ext cx="960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13-2</a:t>
            </a:r>
            <a:endParaRPr/>
          </a:p>
          <a:p>
            <a:pPr indent="0" lvl="0" marL="12700" rtl="0" algn="l">
              <a:lnSpc>
                <a:spcPct val="120624"/>
              </a:lnSpc>
              <a:spcBef>
                <a:spcPts val="0"/>
              </a:spcBef>
              <a:spcAft>
                <a:spcPts val="0"/>
              </a:spcAft>
              <a:buNone/>
            </a:pPr>
            <a:r>
              <a:rPr lang="en-US"/>
              <a:t>Uso de Tipos de Dato</a:t>
            </a:r>
            <a:endParaRPr/>
          </a:p>
        </p:txBody>
      </p:sp>
      <p:sp>
        <p:nvSpPr>
          <p:cNvPr id="161" name="Google Shape;161;p24"/>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62" name="Google Shape;162;p24"/>
          <p:cNvSpPr txBox="1"/>
          <p:nvPr>
            <p:ph idx="12" type="sldNum"/>
          </p:nvPr>
        </p:nvSpPr>
        <p:spPr>
          <a:xfrm>
            <a:off x="8601456" y="6589648"/>
            <a:ext cx="186000" cy="1308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163" name="Google Shape;163;p24"/>
          <p:cNvSpPr txBox="1"/>
          <p:nvPr/>
        </p:nvSpPr>
        <p:spPr>
          <a:xfrm>
            <a:off x="483552" y="1415417"/>
            <a:ext cx="8085455" cy="3445510"/>
          </a:xfrm>
          <a:prstGeom prst="rect">
            <a:avLst/>
          </a:prstGeom>
          <a:noFill/>
          <a:ln>
            <a:noFill/>
          </a:ln>
        </p:spPr>
        <p:txBody>
          <a:bodyPr anchorCtr="0" anchor="t" bIns="0" lIns="0" spcFirstLastPara="1" rIns="0" wrap="square" tIns="59675">
            <a:spAutoFit/>
          </a:bodyPr>
          <a:lstStyle/>
          <a:p>
            <a:pPr indent="-177800" lvl="0" marL="184785" marR="86042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Piense en el valor de hora "17:30". Por supuesto,  significa "cinco y media de la tarde"</a:t>
            </a:r>
            <a:endParaRPr sz="2800">
              <a:latin typeface="Calibri"/>
              <a:ea typeface="Calibri"/>
              <a:cs typeface="Calibri"/>
              <a:sym typeface="Calibri"/>
            </a:endParaRPr>
          </a:p>
          <a:p>
            <a:pPr indent="-177800" lvl="0" marL="184785" marR="0" rtl="0" algn="l">
              <a:lnSpc>
                <a:spcPct val="100000"/>
              </a:lnSpc>
              <a:spcBef>
                <a:spcPts val="41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¿Pero en qué zona horaria?</a:t>
            </a:r>
            <a:endParaRPr sz="2800">
              <a:latin typeface="Calibri"/>
              <a:ea typeface="Calibri"/>
              <a:cs typeface="Calibri"/>
              <a:sym typeface="Calibri"/>
            </a:endParaRPr>
          </a:p>
          <a:p>
            <a:pPr indent="-177800" lvl="0" marL="184785" marR="214629" rtl="0" algn="l">
              <a:lnSpc>
                <a:spcPct val="108214"/>
              </a:lnSpc>
              <a:spcBef>
                <a:spcPts val="844"/>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 cinco y media de la hora de Nueva York, de Pekín,  de Estambul tiempo... ?</a:t>
            </a:r>
            <a:endParaRPr sz="2800">
              <a:latin typeface="Calibri"/>
              <a:ea typeface="Calibri"/>
              <a:cs typeface="Calibri"/>
              <a:sym typeface="Calibri"/>
            </a:endParaRPr>
          </a:p>
          <a:p>
            <a:pPr indent="-177800" lvl="0" marL="184785" marR="5080" rtl="0" algn="just">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las organizaciones globalizadas actuales que operan  en muchos países distintos, es importante saber a qué  zona horaria hacer referencia un valor de fecha-hora</a:t>
            </a:r>
            <a:endParaRPr sz="2800">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5"/>
          <p:cNvSpPr txBox="1"/>
          <p:nvPr>
            <p:ph type="title"/>
          </p:nvPr>
        </p:nvSpPr>
        <p:spPr>
          <a:xfrm>
            <a:off x="392112" y="748031"/>
            <a:ext cx="6507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TIMESTAMP…With [LOCAL] Time Zone</a:t>
            </a:r>
            <a:endParaRPr/>
          </a:p>
        </p:txBody>
      </p:sp>
      <p:sp>
        <p:nvSpPr>
          <p:cNvPr id="169" name="Google Shape;169;p25"/>
          <p:cNvSpPr txBox="1"/>
          <p:nvPr>
            <p:ph idx="10" type="dt"/>
          </p:nvPr>
        </p:nvSpPr>
        <p:spPr>
          <a:xfrm>
            <a:off x="2874191" y="6516395"/>
            <a:ext cx="960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13-2</a:t>
            </a:r>
            <a:endParaRPr/>
          </a:p>
          <a:p>
            <a:pPr indent="0" lvl="0" marL="12700" rtl="0" algn="l">
              <a:lnSpc>
                <a:spcPct val="120624"/>
              </a:lnSpc>
              <a:spcBef>
                <a:spcPts val="0"/>
              </a:spcBef>
              <a:spcAft>
                <a:spcPts val="0"/>
              </a:spcAft>
              <a:buNone/>
            </a:pPr>
            <a:r>
              <a:rPr lang="en-US"/>
              <a:t>Uso de Tipos de Dato</a:t>
            </a:r>
            <a:endParaRPr/>
          </a:p>
        </p:txBody>
      </p:sp>
      <p:sp>
        <p:nvSpPr>
          <p:cNvPr id="170" name="Google Shape;170;p25"/>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71" name="Google Shape;171;p25"/>
          <p:cNvSpPr txBox="1"/>
          <p:nvPr>
            <p:ph idx="12" type="sldNum"/>
          </p:nvPr>
        </p:nvSpPr>
        <p:spPr>
          <a:xfrm>
            <a:off x="8601456" y="6589648"/>
            <a:ext cx="186000" cy="1308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172" name="Google Shape;172;p25"/>
          <p:cNvSpPr txBox="1"/>
          <p:nvPr/>
        </p:nvSpPr>
        <p:spPr>
          <a:xfrm>
            <a:off x="483552" y="1415417"/>
            <a:ext cx="7878445" cy="2960370"/>
          </a:xfrm>
          <a:prstGeom prst="rect">
            <a:avLst/>
          </a:prstGeom>
          <a:noFill/>
          <a:ln>
            <a:noFill/>
          </a:ln>
        </p:spPr>
        <p:txBody>
          <a:bodyPr anchorCtr="0" anchor="t" bIns="0" lIns="0" spcFirstLastPara="1" rIns="0" wrap="square" tIns="59675">
            <a:spAutoFit/>
          </a:bodyPr>
          <a:lstStyle/>
          <a:p>
            <a:pPr indent="-177800" lvl="0" marL="184785"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TIMESTAMP WITH TIME ZONE almacena un valor de  zona horaria como un desplazamiento de la Hora  Universal Coordinada o UCT (también conocida como  Hora Media de Greenwich o GMT)</a:t>
            </a:r>
            <a:endParaRPr sz="2800">
              <a:latin typeface="Calibri"/>
              <a:ea typeface="Calibri"/>
              <a:cs typeface="Calibri"/>
              <a:sym typeface="Calibri"/>
            </a:endParaRPr>
          </a:p>
          <a:p>
            <a:pPr indent="-177800" lvl="0" marL="184785" marR="0" rtl="0" algn="l">
              <a:lnSpc>
                <a:spcPct val="114107"/>
              </a:lnSpc>
              <a:spcBef>
                <a:spcPts val="40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Un valor "21-Aug-2003 08:00:00 –5:00" significa 8:00</a:t>
            </a:r>
            <a:endParaRPr sz="2800">
              <a:latin typeface="Calibri"/>
              <a:ea typeface="Calibri"/>
              <a:cs typeface="Calibri"/>
              <a:sym typeface="Calibri"/>
            </a:endParaRPr>
          </a:p>
          <a:p>
            <a:pPr indent="0" lvl="0" marL="184785" marR="0" rtl="0" algn="l">
              <a:lnSpc>
                <a:spcPct val="114107"/>
              </a:lnSpc>
              <a:spcBef>
                <a:spcPts val="0"/>
              </a:spcBef>
              <a:spcAft>
                <a:spcPts val="0"/>
              </a:spcAft>
              <a:buNone/>
            </a:pPr>
            <a:r>
              <a:rPr lang="en-US" sz="2800">
                <a:solidFill>
                  <a:srgbClr val="4E3629"/>
                </a:solidFill>
                <a:latin typeface="Calibri"/>
                <a:ea typeface="Calibri"/>
                <a:cs typeface="Calibri"/>
                <a:sym typeface="Calibri"/>
              </a:rPr>
              <a:t>a.m. 5 horas por debajo de UTC</a:t>
            </a:r>
            <a:endParaRPr sz="2800">
              <a:latin typeface="Calibri"/>
              <a:ea typeface="Calibri"/>
              <a:cs typeface="Calibri"/>
              <a:sym typeface="Calibri"/>
            </a:endParaRPr>
          </a:p>
          <a:p>
            <a:pPr indent="-177800" lvl="0" marL="184785" marR="0" rtl="0" algn="l">
              <a:lnSpc>
                <a:spcPct val="100000"/>
              </a:lnSpc>
              <a:spcBef>
                <a:spcPts val="46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Esta es Hora Oficial Oriental de EE. UU. (EST)</a:t>
            </a:r>
            <a:endParaRPr sz="2800">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6"/>
          <p:cNvSpPr txBox="1"/>
          <p:nvPr>
            <p:ph type="title"/>
          </p:nvPr>
        </p:nvSpPr>
        <p:spPr>
          <a:xfrm>
            <a:off x="392112" y="748031"/>
            <a:ext cx="6507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TIMESTAMP…With [LOCAL] Time Zone</a:t>
            </a:r>
            <a:endParaRPr/>
          </a:p>
        </p:txBody>
      </p:sp>
      <p:sp>
        <p:nvSpPr>
          <p:cNvPr id="178" name="Google Shape;178;p26"/>
          <p:cNvSpPr txBox="1"/>
          <p:nvPr>
            <p:ph idx="10" type="dt"/>
          </p:nvPr>
        </p:nvSpPr>
        <p:spPr>
          <a:xfrm>
            <a:off x="2874191" y="6516395"/>
            <a:ext cx="960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13-2</a:t>
            </a:r>
            <a:endParaRPr/>
          </a:p>
          <a:p>
            <a:pPr indent="0" lvl="0" marL="12700" rtl="0" algn="l">
              <a:lnSpc>
                <a:spcPct val="120624"/>
              </a:lnSpc>
              <a:spcBef>
                <a:spcPts val="0"/>
              </a:spcBef>
              <a:spcAft>
                <a:spcPts val="0"/>
              </a:spcAft>
              <a:buNone/>
            </a:pPr>
            <a:r>
              <a:rPr lang="en-US"/>
              <a:t>Uso de Tipos de Dato</a:t>
            </a:r>
            <a:endParaRPr/>
          </a:p>
        </p:txBody>
      </p:sp>
      <p:sp>
        <p:nvSpPr>
          <p:cNvPr id="179" name="Google Shape;179;p26"/>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80" name="Google Shape;180;p26"/>
          <p:cNvSpPr txBox="1"/>
          <p:nvPr>
            <p:ph idx="12" type="sldNum"/>
          </p:nvPr>
        </p:nvSpPr>
        <p:spPr>
          <a:xfrm>
            <a:off x="8601456" y="6589648"/>
            <a:ext cx="186000" cy="1308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181" name="Google Shape;181;p26"/>
          <p:cNvSpPr txBox="1"/>
          <p:nvPr/>
        </p:nvSpPr>
        <p:spPr>
          <a:xfrm>
            <a:off x="483552" y="1415417"/>
            <a:ext cx="6312535" cy="452120"/>
          </a:xfrm>
          <a:prstGeom prst="rect">
            <a:avLst/>
          </a:prstGeom>
          <a:noFill/>
          <a:ln>
            <a:noFill/>
          </a:ln>
        </p:spPr>
        <p:txBody>
          <a:bodyPr anchorCtr="0" anchor="t" bIns="0" lIns="0" spcFirstLastPara="1" rIns="0" wrap="square" tIns="12050">
            <a:spAutoFit/>
          </a:bodyPr>
          <a:lstStyle/>
          <a:p>
            <a:pPr indent="-177800" lvl="0" marL="184785" marR="0"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Ejemplo de TIMESTAMP WITH TIME ZONE:</a:t>
            </a:r>
            <a:endParaRPr sz="2800">
              <a:latin typeface="Calibri"/>
              <a:ea typeface="Calibri"/>
              <a:cs typeface="Calibri"/>
              <a:sym typeface="Calibri"/>
            </a:endParaRPr>
          </a:p>
        </p:txBody>
      </p:sp>
      <p:graphicFrame>
        <p:nvGraphicFramePr>
          <p:cNvPr id="182" name="Google Shape;182;p26"/>
          <p:cNvGraphicFramePr/>
          <p:nvPr/>
        </p:nvGraphicFramePr>
        <p:xfrm>
          <a:off x="5227854" y="4629617"/>
          <a:ext cx="3000000" cy="3000000"/>
        </p:xfrm>
        <a:graphic>
          <a:graphicData uri="http://schemas.openxmlformats.org/drawingml/2006/table">
            <a:tbl>
              <a:tblPr bandRow="1" firstRow="1">
                <a:noFill/>
                <a:tableStyleId>{396F63B4-2A52-4E26-8514-78795E7FD2E4}</a:tableStyleId>
              </a:tblPr>
              <a:tblGrid>
                <a:gridCol w="3505200"/>
              </a:tblGrid>
              <a:tr h="387425">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TIME_WITH_OFFSET</a:t>
                      </a:r>
                      <a:endParaRPr sz="1600" u="none" cap="none" strike="noStrike">
                        <a:latin typeface="Calibri"/>
                        <a:ea typeface="Calibri"/>
                        <a:cs typeface="Calibri"/>
                        <a:sym typeface="Calibri"/>
                      </a:endParaRPr>
                    </a:p>
                  </a:txBody>
                  <a:tcPr marT="590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r>
              <a:tr h="39615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16-JUL-15 08.49.47.126056 AM -07:00</a:t>
                      </a:r>
                      <a:endParaRPr sz="1600" u="none" cap="none" strike="noStrike">
                        <a:latin typeface="Calibri"/>
                        <a:ea typeface="Calibri"/>
                        <a:cs typeface="Calibri"/>
                        <a:sym typeface="Calibri"/>
                      </a:endParaRPr>
                    </a:p>
                  </a:txBody>
                  <a:tcPr marT="635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39615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10-JUN-15 10.52.29.123456 AM +02:00</a:t>
                      </a:r>
                      <a:endParaRPr sz="1600" u="none" cap="none" strike="noStrike">
                        <a:latin typeface="Calibri"/>
                        <a:ea typeface="Calibri"/>
                        <a:cs typeface="Calibri"/>
                        <a:sym typeface="Calibri"/>
                      </a:endParaRPr>
                    </a:p>
                  </a:txBody>
                  <a:tcPr marT="635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sp>
        <p:nvSpPr>
          <p:cNvPr id="183" name="Google Shape;183;p26"/>
          <p:cNvSpPr txBox="1"/>
          <p:nvPr/>
        </p:nvSpPr>
        <p:spPr>
          <a:xfrm>
            <a:off x="406908" y="2023872"/>
            <a:ext cx="8345805" cy="524510"/>
          </a:xfrm>
          <a:prstGeom prst="rect">
            <a:avLst/>
          </a:prstGeom>
          <a:solidFill>
            <a:srgbClr val="9DBDC4">
              <a:alpha val="49804"/>
            </a:srgbClr>
          </a:solidFill>
          <a:ln>
            <a:noFill/>
          </a:ln>
        </p:spPr>
        <p:txBody>
          <a:bodyPr anchorCtr="0" anchor="t" bIns="0" lIns="0" spcFirstLastPara="1" rIns="0" wrap="square" tIns="0">
            <a:spAutoFit/>
          </a:bodyPr>
          <a:lstStyle/>
          <a:p>
            <a:pPr indent="0" lvl="0" marL="0" marR="0" rtl="0" algn="l">
              <a:lnSpc>
                <a:spcPct val="102500"/>
              </a:lnSpc>
              <a:spcBef>
                <a:spcPts val="0"/>
              </a:spcBef>
              <a:spcAft>
                <a:spcPts val="0"/>
              </a:spcAft>
              <a:buNone/>
            </a:pPr>
            <a:r>
              <a:rPr b="1" lang="en-US" sz="1800">
                <a:solidFill>
                  <a:srgbClr val="4E3629"/>
                </a:solidFill>
                <a:latin typeface="Courier New"/>
                <a:ea typeface="Courier New"/>
                <a:cs typeface="Courier New"/>
                <a:sym typeface="Courier New"/>
              </a:rPr>
              <a:t>CREATE TABLE time_ex2</a:t>
            </a:r>
            <a:endParaRPr sz="1800">
              <a:latin typeface="Courier New"/>
              <a:ea typeface="Courier New"/>
              <a:cs typeface="Courier New"/>
              <a:sym typeface="Courier New"/>
            </a:endParaRPr>
          </a:p>
          <a:p>
            <a:pPr indent="0" lvl="0" marL="0"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(time_with_offset TIMESTAMP WITH TIME ZONE);</a:t>
            </a:r>
            <a:endParaRPr sz="1800">
              <a:latin typeface="Courier New"/>
              <a:ea typeface="Courier New"/>
              <a:cs typeface="Courier New"/>
              <a:sym typeface="Courier New"/>
            </a:endParaRPr>
          </a:p>
        </p:txBody>
      </p:sp>
      <p:sp>
        <p:nvSpPr>
          <p:cNvPr id="184" name="Google Shape;184;p26"/>
          <p:cNvSpPr txBox="1"/>
          <p:nvPr/>
        </p:nvSpPr>
        <p:spPr>
          <a:xfrm>
            <a:off x="393191" y="2775204"/>
            <a:ext cx="8345805" cy="523240"/>
          </a:xfrm>
          <a:prstGeom prst="rect">
            <a:avLst/>
          </a:prstGeom>
          <a:solidFill>
            <a:srgbClr val="9DBDC4">
              <a:alpha val="49804"/>
            </a:srgbClr>
          </a:solidFill>
          <a:ln>
            <a:noFill/>
          </a:ln>
        </p:spPr>
        <p:txBody>
          <a:bodyPr anchorCtr="0" anchor="t" bIns="0" lIns="0" spcFirstLastPara="1" rIns="0" wrap="square" tIns="0">
            <a:spAutoFit/>
          </a:bodyPr>
          <a:lstStyle/>
          <a:p>
            <a:pPr indent="0" lvl="0" marL="0" marR="0" rtl="0" algn="l">
              <a:lnSpc>
                <a:spcPct val="102166"/>
              </a:lnSpc>
              <a:spcBef>
                <a:spcPts val="0"/>
              </a:spcBef>
              <a:spcAft>
                <a:spcPts val="0"/>
              </a:spcAft>
              <a:buNone/>
            </a:pPr>
            <a:r>
              <a:rPr b="1" lang="en-US" sz="1800">
                <a:solidFill>
                  <a:srgbClr val="4E3629"/>
                </a:solidFill>
                <a:latin typeface="Courier New"/>
                <a:ea typeface="Courier New"/>
                <a:cs typeface="Courier New"/>
                <a:sym typeface="Courier New"/>
              </a:rPr>
              <a:t>INSERT INTO time_ex2</a:t>
            </a:r>
            <a:endParaRPr sz="1800">
              <a:latin typeface="Courier New"/>
              <a:ea typeface="Courier New"/>
              <a:cs typeface="Courier New"/>
              <a:sym typeface="Courier New"/>
            </a:endParaRPr>
          </a:p>
          <a:p>
            <a:pPr indent="0" lvl="0" marL="0"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VALUES (SYSTIMESTAMP);</a:t>
            </a:r>
            <a:endParaRPr sz="1800">
              <a:latin typeface="Courier New"/>
              <a:ea typeface="Courier New"/>
              <a:cs typeface="Courier New"/>
              <a:sym typeface="Courier New"/>
            </a:endParaRPr>
          </a:p>
        </p:txBody>
      </p:sp>
      <p:sp>
        <p:nvSpPr>
          <p:cNvPr id="185" name="Google Shape;185;p26"/>
          <p:cNvSpPr txBox="1"/>
          <p:nvPr/>
        </p:nvSpPr>
        <p:spPr>
          <a:xfrm>
            <a:off x="393191" y="3560064"/>
            <a:ext cx="8345805" cy="523240"/>
          </a:xfrm>
          <a:prstGeom prst="rect">
            <a:avLst/>
          </a:prstGeom>
          <a:solidFill>
            <a:srgbClr val="9DBDC4">
              <a:alpha val="49804"/>
            </a:srgbClr>
          </a:solidFill>
          <a:ln>
            <a:noFill/>
          </a:ln>
        </p:spPr>
        <p:txBody>
          <a:bodyPr anchorCtr="0" anchor="t" bIns="0" lIns="0" spcFirstLastPara="1" rIns="0" wrap="square" tIns="0">
            <a:spAutoFit/>
          </a:bodyPr>
          <a:lstStyle/>
          <a:p>
            <a:pPr indent="0" lvl="0" marL="0" marR="0" rtl="0" algn="l">
              <a:lnSpc>
                <a:spcPct val="102500"/>
              </a:lnSpc>
              <a:spcBef>
                <a:spcPts val="0"/>
              </a:spcBef>
              <a:spcAft>
                <a:spcPts val="0"/>
              </a:spcAft>
              <a:buNone/>
            </a:pPr>
            <a:r>
              <a:rPr b="1" lang="en-US" sz="1800">
                <a:solidFill>
                  <a:srgbClr val="4E3629"/>
                </a:solidFill>
                <a:latin typeface="Courier New"/>
                <a:ea typeface="Courier New"/>
                <a:cs typeface="Courier New"/>
                <a:sym typeface="Courier New"/>
              </a:rPr>
              <a:t>INSERT INTO time_ex2</a:t>
            </a:r>
            <a:endParaRPr sz="1800">
              <a:latin typeface="Courier New"/>
              <a:ea typeface="Courier New"/>
              <a:cs typeface="Courier New"/>
              <a:sym typeface="Courier New"/>
            </a:endParaRPr>
          </a:p>
          <a:p>
            <a:pPr indent="0" lvl="0" marL="0"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VALUES ('10-Jun-2017 10:52:29.123456 AM +2:00');</a:t>
            </a:r>
            <a:endParaRPr sz="1800">
              <a:latin typeface="Courier New"/>
              <a:ea typeface="Courier New"/>
              <a:cs typeface="Courier New"/>
              <a:sym typeface="Courier New"/>
            </a:endParaRPr>
          </a:p>
        </p:txBody>
      </p:sp>
      <p:sp>
        <p:nvSpPr>
          <p:cNvPr id="186" name="Google Shape;186;p26"/>
          <p:cNvSpPr txBox="1"/>
          <p:nvPr/>
        </p:nvSpPr>
        <p:spPr>
          <a:xfrm>
            <a:off x="393191" y="4636008"/>
            <a:ext cx="3915410" cy="523240"/>
          </a:xfrm>
          <a:prstGeom prst="rect">
            <a:avLst/>
          </a:prstGeom>
          <a:solidFill>
            <a:srgbClr val="9DBDC4">
              <a:alpha val="49804"/>
            </a:srgbClr>
          </a:solidFill>
          <a:ln>
            <a:noFill/>
          </a:ln>
        </p:spPr>
        <p:txBody>
          <a:bodyPr anchorCtr="0" anchor="t" bIns="0" lIns="0" spcFirstLastPara="1" rIns="0" wrap="square" tIns="0">
            <a:spAutoFit/>
          </a:bodyPr>
          <a:lstStyle/>
          <a:p>
            <a:pPr indent="0" lvl="0" marL="0" marR="0" rtl="0" algn="l">
              <a:lnSpc>
                <a:spcPct val="102500"/>
              </a:lnSpc>
              <a:spcBef>
                <a:spcPts val="0"/>
              </a:spcBef>
              <a:spcAft>
                <a:spcPts val="0"/>
              </a:spcAft>
              <a:buNone/>
            </a:pPr>
            <a:r>
              <a:rPr b="1" lang="en-US" sz="1800">
                <a:solidFill>
                  <a:srgbClr val="4E3629"/>
                </a:solidFill>
                <a:latin typeface="Courier New"/>
                <a:ea typeface="Courier New"/>
                <a:cs typeface="Courier New"/>
                <a:sym typeface="Courier New"/>
              </a:rPr>
              <a:t>SELECT *</a:t>
            </a:r>
            <a:endParaRPr sz="1800">
              <a:latin typeface="Courier New"/>
              <a:ea typeface="Courier New"/>
              <a:cs typeface="Courier New"/>
              <a:sym typeface="Courier New"/>
            </a:endParaRPr>
          </a:p>
          <a:p>
            <a:pPr indent="0" lvl="0" marL="0"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time_ex2;</a:t>
            </a:r>
            <a:endParaRPr sz="1800">
              <a:latin typeface="Courier New"/>
              <a:ea typeface="Courier New"/>
              <a:cs typeface="Courier New"/>
              <a:sym typeface="Courier New"/>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7"/>
          <p:cNvSpPr txBox="1"/>
          <p:nvPr>
            <p:ph type="title"/>
          </p:nvPr>
        </p:nvSpPr>
        <p:spPr>
          <a:xfrm>
            <a:off x="392112" y="748031"/>
            <a:ext cx="6507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TIMESTAMP…With [LOCAL] Time Zone</a:t>
            </a:r>
            <a:endParaRPr/>
          </a:p>
        </p:txBody>
      </p:sp>
      <p:sp>
        <p:nvSpPr>
          <p:cNvPr id="192" name="Google Shape;192;p27"/>
          <p:cNvSpPr txBox="1"/>
          <p:nvPr>
            <p:ph idx="10" type="dt"/>
          </p:nvPr>
        </p:nvSpPr>
        <p:spPr>
          <a:xfrm>
            <a:off x="2874191" y="6516395"/>
            <a:ext cx="960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13-2</a:t>
            </a:r>
            <a:endParaRPr/>
          </a:p>
          <a:p>
            <a:pPr indent="0" lvl="0" marL="12700" rtl="0" algn="l">
              <a:lnSpc>
                <a:spcPct val="120624"/>
              </a:lnSpc>
              <a:spcBef>
                <a:spcPts val="0"/>
              </a:spcBef>
              <a:spcAft>
                <a:spcPts val="0"/>
              </a:spcAft>
              <a:buNone/>
            </a:pPr>
            <a:r>
              <a:rPr lang="en-US"/>
              <a:t>Uso de Tipos de Dato</a:t>
            </a:r>
            <a:endParaRPr/>
          </a:p>
        </p:txBody>
      </p:sp>
      <p:sp>
        <p:nvSpPr>
          <p:cNvPr id="193" name="Google Shape;193;p27"/>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94" name="Google Shape;194;p27"/>
          <p:cNvSpPr txBox="1"/>
          <p:nvPr>
            <p:ph idx="12" type="sldNum"/>
          </p:nvPr>
        </p:nvSpPr>
        <p:spPr>
          <a:xfrm>
            <a:off x="8601456" y="6589648"/>
            <a:ext cx="186000" cy="1308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195" name="Google Shape;195;p27"/>
          <p:cNvSpPr txBox="1"/>
          <p:nvPr/>
        </p:nvSpPr>
        <p:spPr>
          <a:xfrm>
            <a:off x="483552" y="1415417"/>
            <a:ext cx="8050530" cy="2473960"/>
          </a:xfrm>
          <a:prstGeom prst="rect">
            <a:avLst/>
          </a:prstGeom>
          <a:noFill/>
          <a:ln>
            <a:noFill/>
          </a:ln>
        </p:spPr>
        <p:txBody>
          <a:bodyPr anchorCtr="0" anchor="t" bIns="0" lIns="0" spcFirstLastPara="1" rIns="0" wrap="square" tIns="59675">
            <a:spAutoFit/>
          </a:bodyPr>
          <a:lstStyle/>
          <a:p>
            <a:pPr indent="-177800" lvl="0" marL="184785"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TIMESTAMP WITH LOCAL TIME ZONE es similar, pero  con una diferencia: si esta columna se seleccionado en  una sentencia SQL, la hora se convierte  automáticamente a la zona horaria del usuario que  realiza la selección</a:t>
            </a:r>
            <a:endParaRPr sz="2800">
              <a:latin typeface="Calibri"/>
              <a:ea typeface="Calibri"/>
              <a:cs typeface="Calibri"/>
              <a:sym typeface="Calibri"/>
            </a:endParaRPr>
          </a:p>
          <a:p>
            <a:pPr indent="-177800" lvl="0" marL="184785" marR="0" rtl="0" algn="l">
              <a:lnSpc>
                <a:spcPct val="100000"/>
              </a:lnSpc>
              <a:spcBef>
                <a:spcPts val="40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Ejemplo de TIMESTAMP With…Time Zone:</a:t>
            </a:r>
            <a:endParaRPr sz="2800">
              <a:latin typeface="Calibri"/>
              <a:ea typeface="Calibri"/>
              <a:cs typeface="Calibri"/>
              <a:sym typeface="Calibri"/>
            </a:endParaRPr>
          </a:p>
        </p:txBody>
      </p:sp>
      <p:sp>
        <p:nvSpPr>
          <p:cNvPr id="196" name="Google Shape;196;p27"/>
          <p:cNvSpPr txBox="1"/>
          <p:nvPr/>
        </p:nvSpPr>
        <p:spPr>
          <a:xfrm>
            <a:off x="405384" y="3884676"/>
            <a:ext cx="8345805" cy="814069"/>
          </a:xfrm>
          <a:prstGeom prst="rect">
            <a:avLst/>
          </a:prstGeom>
          <a:solidFill>
            <a:srgbClr val="9DBDC4">
              <a:alpha val="49804"/>
            </a:srgbClr>
          </a:solidFill>
          <a:ln>
            <a:noFill/>
          </a:ln>
        </p:spPr>
        <p:txBody>
          <a:bodyPr anchorCtr="0" anchor="t" bIns="0" lIns="0" spcFirstLastPara="1" rIns="0" wrap="square" tIns="0">
            <a:spAutoFit/>
          </a:bodyPr>
          <a:lstStyle/>
          <a:p>
            <a:pPr indent="0" lvl="0" marL="0" marR="0" rtl="0" algn="l">
              <a:lnSpc>
                <a:spcPct val="106111"/>
              </a:lnSpc>
              <a:spcBef>
                <a:spcPts val="0"/>
              </a:spcBef>
              <a:spcAft>
                <a:spcPts val="0"/>
              </a:spcAft>
              <a:buNone/>
            </a:pPr>
            <a:r>
              <a:rPr b="1" lang="en-US" sz="1800">
                <a:solidFill>
                  <a:srgbClr val="4E3629"/>
                </a:solidFill>
                <a:latin typeface="Courier New"/>
                <a:ea typeface="Courier New"/>
                <a:cs typeface="Courier New"/>
                <a:sym typeface="Courier New"/>
              </a:rPr>
              <a:t>CREATE TABLE time_ex3</a:t>
            </a:r>
            <a:endParaRPr sz="1800">
              <a:latin typeface="Courier New"/>
              <a:ea typeface="Courier New"/>
              <a:cs typeface="Courier New"/>
              <a:sym typeface="Courier New"/>
            </a:endParaRPr>
          </a:p>
          <a:p>
            <a:pPr indent="-273685" lvl="0" marL="273685" marR="178943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 first_column TIMESTAMP WITH TIME ZONE,  second_column TIMESTAMP WITH LOCAL TIME ZONE);</a:t>
            </a:r>
            <a:endParaRPr sz="1800">
              <a:latin typeface="Courier New"/>
              <a:ea typeface="Courier New"/>
              <a:cs typeface="Courier New"/>
              <a:sym typeface="Courier New"/>
            </a:endParaRPr>
          </a:p>
        </p:txBody>
      </p:sp>
      <p:sp>
        <p:nvSpPr>
          <p:cNvPr id="197" name="Google Shape;197;p27"/>
          <p:cNvSpPr txBox="1"/>
          <p:nvPr/>
        </p:nvSpPr>
        <p:spPr>
          <a:xfrm>
            <a:off x="405384" y="4823459"/>
            <a:ext cx="8345805" cy="1243965"/>
          </a:xfrm>
          <a:prstGeom prst="rect">
            <a:avLst/>
          </a:prstGeom>
          <a:solidFill>
            <a:srgbClr val="9DBDC4">
              <a:alpha val="49804"/>
            </a:srgbClr>
          </a:solidFill>
          <a:ln>
            <a:noFill/>
          </a:ln>
        </p:spPr>
        <p:txBody>
          <a:bodyPr anchorCtr="0" anchor="t" bIns="0" lIns="0" spcFirstLastPara="1" rIns="0" wrap="square" tIns="45700">
            <a:spAutoFit/>
          </a:bodyPr>
          <a:lstStyle/>
          <a:p>
            <a:pPr indent="-273685" lvl="0" marL="273685" marR="410591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INSERT INTO time_ex3  (first_column, second_column)</a:t>
            </a:r>
            <a:endParaRPr sz="1800">
              <a:latin typeface="Courier New"/>
              <a:ea typeface="Courier New"/>
              <a:cs typeface="Courier New"/>
              <a:sym typeface="Courier New"/>
            </a:endParaRPr>
          </a:p>
          <a:p>
            <a:pPr indent="0" lvl="0" marL="0"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VALUES</a:t>
            </a:r>
            <a:endParaRPr sz="1800">
              <a:latin typeface="Courier New"/>
              <a:ea typeface="Courier New"/>
              <a:cs typeface="Courier New"/>
              <a:sym typeface="Courier New"/>
            </a:endParaRPr>
          </a:p>
          <a:p>
            <a:pPr indent="0" lvl="0" marL="273685"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('15-Jul-2017 08:00:00 AM -07:00', '15-Nov-2007 08:00:00');</a:t>
            </a:r>
            <a:endParaRPr sz="1800">
              <a:latin typeface="Courier New"/>
              <a:ea typeface="Courier New"/>
              <a:cs typeface="Courier New"/>
              <a:sym typeface="Courier New"/>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8"/>
          <p:cNvSpPr txBox="1"/>
          <p:nvPr>
            <p:ph type="title"/>
          </p:nvPr>
        </p:nvSpPr>
        <p:spPr>
          <a:xfrm>
            <a:off x="392112" y="748031"/>
            <a:ext cx="7073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Ejemplo de TIMESTAMP…With Time Zone</a:t>
            </a:r>
            <a:endParaRPr/>
          </a:p>
        </p:txBody>
      </p:sp>
      <p:sp>
        <p:nvSpPr>
          <p:cNvPr id="203" name="Google Shape;203;p28"/>
          <p:cNvSpPr txBox="1"/>
          <p:nvPr>
            <p:ph idx="10" type="dt"/>
          </p:nvPr>
        </p:nvSpPr>
        <p:spPr>
          <a:xfrm>
            <a:off x="2874191" y="6516395"/>
            <a:ext cx="960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13-2</a:t>
            </a:r>
            <a:endParaRPr/>
          </a:p>
          <a:p>
            <a:pPr indent="0" lvl="0" marL="12700" rtl="0" algn="l">
              <a:lnSpc>
                <a:spcPct val="120624"/>
              </a:lnSpc>
              <a:spcBef>
                <a:spcPts val="0"/>
              </a:spcBef>
              <a:spcAft>
                <a:spcPts val="0"/>
              </a:spcAft>
              <a:buNone/>
            </a:pPr>
            <a:r>
              <a:rPr lang="en-US"/>
              <a:t>Uso de Tipos de Dato</a:t>
            </a:r>
            <a:endParaRPr/>
          </a:p>
        </p:txBody>
      </p:sp>
      <p:sp>
        <p:nvSpPr>
          <p:cNvPr id="204" name="Google Shape;204;p28"/>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05" name="Google Shape;205;p28"/>
          <p:cNvSpPr txBox="1"/>
          <p:nvPr>
            <p:ph idx="12" type="sldNum"/>
          </p:nvPr>
        </p:nvSpPr>
        <p:spPr>
          <a:xfrm>
            <a:off x="8601456" y="6589648"/>
            <a:ext cx="186000" cy="1308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206" name="Google Shape;206;p28"/>
          <p:cNvSpPr txBox="1"/>
          <p:nvPr/>
        </p:nvSpPr>
        <p:spPr>
          <a:xfrm>
            <a:off x="483552" y="1415417"/>
            <a:ext cx="7774940" cy="1322070"/>
          </a:xfrm>
          <a:prstGeom prst="rect">
            <a:avLst/>
          </a:prstGeom>
          <a:noFill/>
          <a:ln>
            <a:noFill/>
          </a:ln>
        </p:spPr>
        <p:txBody>
          <a:bodyPr anchorCtr="0" anchor="t" bIns="0" lIns="0" spcFirstLastPara="1" rIns="0" wrap="square" tIns="59675">
            <a:spAutoFit/>
          </a:bodyPr>
          <a:lstStyle/>
          <a:p>
            <a:pPr indent="-177800" lvl="0" marL="184785"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Ambos valores se almacenan con un desplazamiento  de hora de –07:00 horas (PST)</a:t>
            </a:r>
            <a:endParaRPr sz="2800">
              <a:latin typeface="Calibri"/>
              <a:ea typeface="Calibri"/>
              <a:cs typeface="Calibri"/>
              <a:sym typeface="Calibri"/>
            </a:endParaRPr>
          </a:p>
          <a:p>
            <a:pPr indent="-177800" lvl="0" marL="184785" marR="0" rtl="0" algn="l">
              <a:lnSpc>
                <a:spcPct val="100000"/>
              </a:lnSpc>
              <a:spcBef>
                <a:spcPts val="41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Pero ahora un usuario en Estambul ejecuta:</a:t>
            </a:r>
            <a:endParaRPr sz="2800">
              <a:latin typeface="Calibri"/>
              <a:ea typeface="Calibri"/>
              <a:cs typeface="Calibri"/>
              <a:sym typeface="Calibri"/>
            </a:endParaRPr>
          </a:p>
        </p:txBody>
      </p:sp>
      <p:sp>
        <p:nvSpPr>
          <p:cNvPr id="207" name="Google Shape;207;p28"/>
          <p:cNvSpPr txBox="1"/>
          <p:nvPr/>
        </p:nvSpPr>
        <p:spPr>
          <a:xfrm>
            <a:off x="483552" y="4228721"/>
            <a:ext cx="7970520" cy="1220470"/>
          </a:xfrm>
          <a:prstGeom prst="rect">
            <a:avLst/>
          </a:prstGeom>
          <a:noFill/>
          <a:ln>
            <a:noFill/>
          </a:ln>
        </p:spPr>
        <p:txBody>
          <a:bodyPr anchorCtr="0" anchor="t" bIns="0" lIns="0" spcFirstLastPara="1" rIns="0" wrap="square" tIns="59675">
            <a:spAutoFit/>
          </a:bodyPr>
          <a:lstStyle/>
          <a:p>
            <a:pPr indent="-177800" lvl="0" marL="184785"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hora de Estambul es de 9 horas por delante de PST;  cuando son las 8:00 a.m. en Los Ángeles, son las 5:00</a:t>
            </a:r>
            <a:endParaRPr sz="2800">
              <a:latin typeface="Calibri"/>
              <a:ea typeface="Calibri"/>
              <a:cs typeface="Calibri"/>
              <a:sym typeface="Calibri"/>
            </a:endParaRPr>
          </a:p>
          <a:p>
            <a:pPr indent="0" lvl="0" marL="184785" marR="0" rtl="0" algn="l">
              <a:lnSpc>
                <a:spcPct val="106250"/>
              </a:lnSpc>
              <a:spcBef>
                <a:spcPts val="0"/>
              </a:spcBef>
              <a:spcAft>
                <a:spcPts val="0"/>
              </a:spcAft>
              <a:buNone/>
            </a:pPr>
            <a:r>
              <a:rPr lang="en-US" sz="2800">
                <a:solidFill>
                  <a:srgbClr val="4E3629"/>
                </a:solidFill>
                <a:latin typeface="Calibri"/>
                <a:ea typeface="Calibri"/>
                <a:cs typeface="Calibri"/>
                <a:sym typeface="Calibri"/>
              </a:rPr>
              <a:t>p.m. en Estambul</a:t>
            </a:r>
            <a:endParaRPr sz="2800">
              <a:latin typeface="Calibri"/>
              <a:ea typeface="Calibri"/>
              <a:cs typeface="Calibri"/>
              <a:sym typeface="Calibri"/>
            </a:endParaRPr>
          </a:p>
        </p:txBody>
      </p:sp>
      <p:graphicFrame>
        <p:nvGraphicFramePr>
          <p:cNvPr id="208" name="Google Shape;208;p28"/>
          <p:cNvGraphicFramePr/>
          <p:nvPr/>
        </p:nvGraphicFramePr>
        <p:xfrm>
          <a:off x="791005" y="3422650"/>
          <a:ext cx="3000000" cy="3000000"/>
        </p:xfrm>
        <a:graphic>
          <a:graphicData uri="http://schemas.openxmlformats.org/drawingml/2006/table">
            <a:tbl>
              <a:tblPr bandRow="1" firstRow="1">
                <a:noFill/>
                <a:tableStyleId>{396F63B4-2A52-4E26-8514-78795E7FD2E4}</a:tableStyleId>
              </a:tblPr>
              <a:tblGrid>
                <a:gridCol w="3768725"/>
                <a:gridCol w="3768725"/>
              </a:tblGrid>
              <a:tr h="349700">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FIRST_COLUMN</a:t>
                      </a:r>
                      <a:endParaRPr sz="1600" u="none" cap="none" strike="noStrike">
                        <a:latin typeface="Calibri"/>
                        <a:ea typeface="Calibri"/>
                        <a:cs typeface="Calibri"/>
                        <a:sym typeface="Calibri"/>
                      </a:endParaRPr>
                    </a:p>
                  </a:txBody>
                  <a:tcPr marT="400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SECOND_COLUMN</a:t>
                      </a:r>
                      <a:endParaRPr sz="1600" u="none" cap="none" strike="noStrike">
                        <a:latin typeface="Calibri"/>
                        <a:ea typeface="Calibri"/>
                        <a:cs typeface="Calibri"/>
                        <a:sym typeface="Calibri"/>
                      </a:endParaRPr>
                    </a:p>
                  </a:txBody>
                  <a:tcPr marT="400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r>
              <a:tr h="3497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15-JUL-15 08.00.00.000000 AM -07:00</a:t>
                      </a:r>
                      <a:endParaRPr sz="1600" u="none" cap="none" strike="noStrike">
                        <a:latin typeface="Calibri"/>
                        <a:ea typeface="Calibri"/>
                        <a:cs typeface="Calibri"/>
                        <a:sym typeface="Calibri"/>
                      </a:endParaRPr>
                    </a:p>
                  </a:txBody>
                  <a:tcPr marT="400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15-NOV-07 05.00.00.000000 PM</a:t>
                      </a:r>
                      <a:endParaRPr sz="1600" u="none" cap="none" strike="noStrike">
                        <a:latin typeface="Calibri"/>
                        <a:ea typeface="Calibri"/>
                        <a:cs typeface="Calibri"/>
                        <a:sym typeface="Calibri"/>
                      </a:endParaRPr>
                    </a:p>
                  </a:txBody>
                  <a:tcPr marT="400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sp>
        <p:nvSpPr>
          <p:cNvPr id="209" name="Google Shape;209;p28"/>
          <p:cNvSpPr txBox="1"/>
          <p:nvPr/>
        </p:nvSpPr>
        <p:spPr>
          <a:xfrm>
            <a:off x="393191" y="2740151"/>
            <a:ext cx="8345805" cy="568960"/>
          </a:xfrm>
          <a:prstGeom prst="rect">
            <a:avLst/>
          </a:prstGeom>
          <a:solidFill>
            <a:srgbClr val="9DBDC4">
              <a:alpha val="49804"/>
            </a:srgbClr>
          </a:solidFill>
          <a:ln>
            <a:noFill/>
          </a:ln>
        </p:spPr>
        <p:txBody>
          <a:bodyPr anchorCtr="0" anchor="t" bIns="0" lIns="0" spcFirstLastPara="1" rIns="0" wrap="square" tIns="0">
            <a:spAutoFit/>
          </a:bodyPr>
          <a:lstStyle/>
          <a:p>
            <a:pPr indent="0" lvl="0" marL="0" marR="0" rtl="0" algn="l">
              <a:lnSpc>
                <a:spcPct val="112222"/>
              </a:lnSpc>
              <a:spcBef>
                <a:spcPts val="0"/>
              </a:spcBef>
              <a:spcAft>
                <a:spcPts val="0"/>
              </a:spcAft>
              <a:buNone/>
            </a:pPr>
            <a:r>
              <a:rPr b="1" lang="en-US" sz="1800">
                <a:solidFill>
                  <a:srgbClr val="4E3629"/>
                </a:solidFill>
                <a:latin typeface="Courier New"/>
                <a:ea typeface="Courier New"/>
                <a:cs typeface="Courier New"/>
                <a:sym typeface="Courier New"/>
              </a:rPr>
              <a:t>SELECT *</a:t>
            </a:r>
            <a:endParaRPr sz="1800">
              <a:latin typeface="Courier New"/>
              <a:ea typeface="Courier New"/>
              <a:cs typeface="Courier New"/>
              <a:sym typeface="Courier New"/>
            </a:endParaRPr>
          </a:p>
          <a:p>
            <a:pPr indent="0" lvl="0" marL="0"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time_ex3;</a:t>
            </a:r>
            <a:endParaRPr sz="1800">
              <a:latin typeface="Courier New"/>
              <a:ea typeface="Courier New"/>
              <a:cs typeface="Courier New"/>
              <a:sym typeface="Courier New"/>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9"/>
          <p:cNvSpPr txBox="1"/>
          <p:nvPr>
            <p:ph type="title"/>
          </p:nvPr>
        </p:nvSpPr>
        <p:spPr>
          <a:xfrm>
            <a:off x="392112" y="748031"/>
            <a:ext cx="40983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Tipos de Dato INTERVAL</a:t>
            </a:r>
            <a:endParaRPr/>
          </a:p>
        </p:txBody>
      </p:sp>
      <p:sp>
        <p:nvSpPr>
          <p:cNvPr id="215" name="Google Shape;215;p29"/>
          <p:cNvSpPr txBox="1"/>
          <p:nvPr/>
        </p:nvSpPr>
        <p:spPr>
          <a:xfrm>
            <a:off x="483552" y="1415417"/>
            <a:ext cx="7721600" cy="2576195"/>
          </a:xfrm>
          <a:prstGeom prst="rect">
            <a:avLst/>
          </a:prstGeom>
          <a:noFill/>
          <a:ln>
            <a:noFill/>
          </a:ln>
        </p:spPr>
        <p:txBody>
          <a:bodyPr anchorCtr="0" anchor="t" bIns="0" lIns="0" spcFirstLastPara="1" rIns="0" wrap="square" tIns="59675">
            <a:spAutoFit/>
          </a:bodyPr>
          <a:lstStyle/>
          <a:p>
            <a:pPr indent="-177800" lvl="0" marL="184785" marR="48450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Estos almacenan el tiempo o intervalo de tiempo  transcurrido entre dos valores de fecha y hora</a:t>
            </a:r>
            <a:endParaRPr sz="2800">
              <a:latin typeface="Calibri"/>
              <a:ea typeface="Calibri"/>
              <a:cs typeface="Calibri"/>
              <a:sym typeface="Calibri"/>
            </a:endParaRPr>
          </a:p>
          <a:p>
            <a:pPr indent="-177800" lvl="0" marL="184785"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INTERVAL YEAR TO MONTH almacena un período de  tiempo medido en años y meses</a:t>
            </a:r>
            <a:endParaRPr sz="2800">
              <a:latin typeface="Calibri"/>
              <a:ea typeface="Calibri"/>
              <a:cs typeface="Calibri"/>
              <a:sym typeface="Calibri"/>
            </a:endParaRPr>
          </a:p>
          <a:p>
            <a:pPr indent="-177800" lvl="0" marL="184785" marR="143510" rtl="0" algn="l">
              <a:lnSpc>
                <a:spcPct val="108214"/>
              </a:lnSpc>
              <a:spcBef>
                <a:spcPts val="79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INTERVAL DAY TO SECOND almacena un período de  tiempo medido en días, horas, minutos y segundos</a:t>
            </a:r>
            <a:endParaRPr sz="2800">
              <a:latin typeface="Calibri"/>
              <a:ea typeface="Calibri"/>
              <a:cs typeface="Calibri"/>
              <a:sym typeface="Calibri"/>
            </a:endParaRPr>
          </a:p>
        </p:txBody>
      </p:sp>
      <p:pic>
        <p:nvPicPr>
          <p:cNvPr id="216" name="Google Shape;216;p29"/>
          <p:cNvPicPr preferRelativeResize="0"/>
          <p:nvPr/>
        </p:nvPicPr>
        <p:blipFill rotWithShape="1">
          <a:blip r:embed="rId3">
            <a:alphaModFix/>
          </a:blip>
          <a:srcRect b="0" l="0" r="0" t="0"/>
          <a:stretch/>
        </p:blipFill>
        <p:spPr>
          <a:xfrm>
            <a:off x="3240023" y="4393691"/>
            <a:ext cx="2663939" cy="1780031"/>
          </a:xfrm>
          <a:prstGeom prst="rect">
            <a:avLst/>
          </a:prstGeom>
          <a:noFill/>
          <a:ln>
            <a:noFill/>
          </a:ln>
        </p:spPr>
      </p:pic>
      <p:sp>
        <p:nvSpPr>
          <p:cNvPr id="217" name="Google Shape;217;p29"/>
          <p:cNvSpPr txBox="1"/>
          <p:nvPr>
            <p:ph idx="10" type="dt"/>
          </p:nvPr>
        </p:nvSpPr>
        <p:spPr>
          <a:xfrm>
            <a:off x="2874191" y="6516395"/>
            <a:ext cx="960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13-2</a:t>
            </a:r>
            <a:endParaRPr/>
          </a:p>
          <a:p>
            <a:pPr indent="0" lvl="0" marL="12700" rtl="0" algn="l">
              <a:lnSpc>
                <a:spcPct val="120624"/>
              </a:lnSpc>
              <a:spcBef>
                <a:spcPts val="0"/>
              </a:spcBef>
              <a:spcAft>
                <a:spcPts val="0"/>
              </a:spcAft>
              <a:buNone/>
            </a:pPr>
            <a:r>
              <a:rPr lang="en-US"/>
              <a:t>Uso de Tipos de Dato</a:t>
            </a:r>
            <a:endParaRPr/>
          </a:p>
        </p:txBody>
      </p:sp>
      <p:sp>
        <p:nvSpPr>
          <p:cNvPr id="218" name="Google Shape;218;p29"/>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19" name="Google Shape;219;p29"/>
          <p:cNvSpPr txBox="1"/>
          <p:nvPr>
            <p:ph idx="12" type="sldNum"/>
          </p:nvPr>
        </p:nvSpPr>
        <p:spPr>
          <a:xfrm>
            <a:off x="8601456" y="6589648"/>
            <a:ext cx="186000" cy="1308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0"/>
          <p:cNvSpPr txBox="1"/>
          <p:nvPr>
            <p:ph type="title"/>
          </p:nvPr>
        </p:nvSpPr>
        <p:spPr>
          <a:xfrm>
            <a:off x="392112" y="748031"/>
            <a:ext cx="48672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INTERVAL YEAR…TO MONTH</a:t>
            </a:r>
            <a:endParaRPr/>
          </a:p>
        </p:txBody>
      </p:sp>
      <p:sp>
        <p:nvSpPr>
          <p:cNvPr id="225" name="Google Shape;225;p30"/>
          <p:cNvSpPr txBox="1"/>
          <p:nvPr/>
        </p:nvSpPr>
        <p:spPr>
          <a:xfrm>
            <a:off x="483552" y="1415417"/>
            <a:ext cx="1374775" cy="452120"/>
          </a:xfrm>
          <a:prstGeom prst="rect">
            <a:avLst/>
          </a:prstGeom>
          <a:noFill/>
          <a:ln>
            <a:noFill/>
          </a:ln>
        </p:spPr>
        <p:txBody>
          <a:bodyPr anchorCtr="0" anchor="t" bIns="0" lIns="0" spcFirstLastPara="1" rIns="0" wrap="square" tIns="12050">
            <a:spAutoFit/>
          </a:bodyPr>
          <a:lstStyle/>
          <a:p>
            <a:pPr indent="-177800" lvl="0" marL="184785" marR="0"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Sintaxis:</a:t>
            </a:r>
            <a:endParaRPr sz="2800">
              <a:latin typeface="Calibri"/>
              <a:ea typeface="Calibri"/>
              <a:cs typeface="Calibri"/>
              <a:sym typeface="Calibri"/>
            </a:endParaRPr>
          </a:p>
        </p:txBody>
      </p:sp>
      <p:sp>
        <p:nvSpPr>
          <p:cNvPr id="226" name="Google Shape;226;p30"/>
          <p:cNvSpPr txBox="1"/>
          <p:nvPr/>
        </p:nvSpPr>
        <p:spPr>
          <a:xfrm>
            <a:off x="483552" y="2387729"/>
            <a:ext cx="7513320" cy="1320800"/>
          </a:xfrm>
          <a:prstGeom prst="rect">
            <a:avLst/>
          </a:prstGeom>
          <a:noFill/>
          <a:ln>
            <a:noFill/>
          </a:ln>
        </p:spPr>
        <p:txBody>
          <a:bodyPr anchorCtr="0" anchor="t" bIns="0" lIns="0" spcFirstLastPara="1" rIns="0" wrap="square" tIns="59675">
            <a:spAutoFit/>
          </a:bodyPr>
          <a:lstStyle/>
          <a:p>
            <a:pPr indent="-177800" lvl="0" marL="184785"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year_precision es el número máximo de dígitos del  elemento YEAR</a:t>
            </a:r>
            <a:endParaRPr sz="2800">
              <a:latin typeface="Calibri"/>
              <a:ea typeface="Calibri"/>
              <a:cs typeface="Calibri"/>
              <a:sym typeface="Calibri"/>
            </a:endParaRPr>
          </a:p>
          <a:p>
            <a:pPr indent="-177800" lvl="0" marL="184785" marR="0" rtl="0" algn="l">
              <a:lnSpc>
                <a:spcPct val="100000"/>
              </a:lnSpc>
              <a:spcBef>
                <a:spcPts val="40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valor por defecto de year_precision es 2</a:t>
            </a:r>
            <a:endParaRPr sz="2800">
              <a:latin typeface="Calibri"/>
              <a:ea typeface="Calibri"/>
              <a:cs typeface="Calibri"/>
              <a:sym typeface="Calibri"/>
            </a:endParaRPr>
          </a:p>
        </p:txBody>
      </p:sp>
      <p:pic>
        <p:nvPicPr>
          <p:cNvPr id="227" name="Google Shape;227;p30"/>
          <p:cNvPicPr preferRelativeResize="0"/>
          <p:nvPr/>
        </p:nvPicPr>
        <p:blipFill rotWithShape="1">
          <a:blip r:embed="rId3">
            <a:alphaModFix/>
          </a:blip>
          <a:srcRect b="0" l="0" r="0" t="0"/>
          <a:stretch/>
        </p:blipFill>
        <p:spPr>
          <a:xfrm>
            <a:off x="3240023" y="4393691"/>
            <a:ext cx="2663939" cy="1780031"/>
          </a:xfrm>
          <a:prstGeom prst="rect">
            <a:avLst/>
          </a:prstGeom>
          <a:noFill/>
          <a:ln>
            <a:noFill/>
          </a:ln>
        </p:spPr>
      </p:pic>
      <p:sp>
        <p:nvSpPr>
          <p:cNvPr id="228" name="Google Shape;228;p30"/>
          <p:cNvSpPr txBox="1"/>
          <p:nvPr/>
        </p:nvSpPr>
        <p:spPr>
          <a:xfrm>
            <a:off x="393191" y="1940051"/>
            <a:ext cx="8345805" cy="393700"/>
          </a:xfrm>
          <a:prstGeom prst="rect">
            <a:avLst/>
          </a:prstGeom>
          <a:solidFill>
            <a:srgbClr val="9DBDC4">
              <a:alpha val="49804"/>
            </a:srgbClr>
          </a:solidFill>
          <a:ln>
            <a:noFill/>
          </a:ln>
        </p:spPr>
        <p:txBody>
          <a:bodyPr anchorCtr="0" anchor="t" bIns="0" lIns="0" spcFirstLastPara="1" rIns="0" wrap="square" tIns="32375">
            <a:spAutoFit/>
          </a:bodyPr>
          <a:lstStyle/>
          <a:p>
            <a:pPr indent="0" lvl="0" marL="0"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INTERVAL YEAR [(year_precision)] TO MONTH</a:t>
            </a:r>
            <a:endParaRPr sz="1800">
              <a:latin typeface="Courier New"/>
              <a:ea typeface="Courier New"/>
              <a:cs typeface="Courier New"/>
              <a:sym typeface="Courier New"/>
            </a:endParaRPr>
          </a:p>
        </p:txBody>
      </p:sp>
      <p:sp>
        <p:nvSpPr>
          <p:cNvPr id="229" name="Google Shape;229;p30"/>
          <p:cNvSpPr txBox="1"/>
          <p:nvPr>
            <p:ph idx="10" type="dt"/>
          </p:nvPr>
        </p:nvSpPr>
        <p:spPr>
          <a:xfrm>
            <a:off x="2874191" y="6516395"/>
            <a:ext cx="960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13-2</a:t>
            </a:r>
            <a:endParaRPr/>
          </a:p>
          <a:p>
            <a:pPr indent="0" lvl="0" marL="12700" rtl="0" algn="l">
              <a:lnSpc>
                <a:spcPct val="120624"/>
              </a:lnSpc>
              <a:spcBef>
                <a:spcPts val="0"/>
              </a:spcBef>
              <a:spcAft>
                <a:spcPts val="0"/>
              </a:spcAft>
              <a:buNone/>
            </a:pPr>
            <a:r>
              <a:rPr lang="en-US"/>
              <a:t>Uso de Tipos de Dato</a:t>
            </a:r>
            <a:endParaRPr/>
          </a:p>
        </p:txBody>
      </p:sp>
      <p:sp>
        <p:nvSpPr>
          <p:cNvPr id="230" name="Google Shape;230;p30"/>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31" name="Google Shape;231;p30"/>
          <p:cNvSpPr txBox="1"/>
          <p:nvPr>
            <p:ph idx="12" type="sldNum"/>
          </p:nvPr>
        </p:nvSpPr>
        <p:spPr>
          <a:xfrm>
            <a:off x="8601456" y="6589648"/>
            <a:ext cx="186000" cy="1308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1"/>
          <p:cNvSpPr txBox="1"/>
          <p:nvPr>
            <p:ph type="title"/>
          </p:nvPr>
        </p:nvSpPr>
        <p:spPr>
          <a:xfrm>
            <a:off x="392112" y="748031"/>
            <a:ext cx="48672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INTERVAL YEAR…TO MONTH</a:t>
            </a:r>
            <a:endParaRPr/>
          </a:p>
        </p:txBody>
      </p:sp>
      <p:sp>
        <p:nvSpPr>
          <p:cNvPr id="237" name="Google Shape;237;p31"/>
          <p:cNvSpPr txBox="1"/>
          <p:nvPr>
            <p:ph idx="10" type="dt"/>
          </p:nvPr>
        </p:nvSpPr>
        <p:spPr>
          <a:xfrm>
            <a:off x="2874191" y="6516395"/>
            <a:ext cx="960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13-2</a:t>
            </a:r>
            <a:endParaRPr/>
          </a:p>
          <a:p>
            <a:pPr indent="0" lvl="0" marL="12700" rtl="0" algn="l">
              <a:lnSpc>
                <a:spcPct val="120624"/>
              </a:lnSpc>
              <a:spcBef>
                <a:spcPts val="0"/>
              </a:spcBef>
              <a:spcAft>
                <a:spcPts val="0"/>
              </a:spcAft>
              <a:buNone/>
            </a:pPr>
            <a:r>
              <a:rPr lang="en-US"/>
              <a:t>Uso de Tipos de Dato</a:t>
            </a:r>
            <a:endParaRPr/>
          </a:p>
        </p:txBody>
      </p:sp>
      <p:sp>
        <p:nvSpPr>
          <p:cNvPr id="238" name="Google Shape;238;p31"/>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39" name="Google Shape;239;p31"/>
          <p:cNvSpPr txBox="1"/>
          <p:nvPr>
            <p:ph idx="12" type="sldNum"/>
          </p:nvPr>
        </p:nvSpPr>
        <p:spPr>
          <a:xfrm>
            <a:off x="8601456" y="6589648"/>
            <a:ext cx="186000" cy="1308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240" name="Google Shape;240;p31"/>
          <p:cNvSpPr txBox="1"/>
          <p:nvPr/>
        </p:nvSpPr>
        <p:spPr>
          <a:xfrm>
            <a:off x="483552" y="1415417"/>
            <a:ext cx="6946900" cy="452120"/>
          </a:xfrm>
          <a:prstGeom prst="rect">
            <a:avLst/>
          </a:prstGeom>
          <a:noFill/>
          <a:ln>
            <a:noFill/>
          </a:ln>
        </p:spPr>
        <p:txBody>
          <a:bodyPr anchorCtr="0" anchor="t" bIns="0" lIns="0" spcFirstLastPara="1" rIns="0" wrap="square" tIns="12050">
            <a:spAutoFit/>
          </a:bodyPr>
          <a:lstStyle/>
          <a:p>
            <a:pPr indent="-177800" lvl="0" marL="184785" marR="0"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este ejemplo se muestra INTERVAL YEAR TO</a:t>
            </a:r>
            <a:endParaRPr sz="2800">
              <a:latin typeface="Calibri"/>
              <a:ea typeface="Calibri"/>
              <a:cs typeface="Calibri"/>
              <a:sym typeface="Calibri"/>
            </a:endParaRPr>
          </a:p>
        </p:txBody>
      </p:sp>
      <p:sp>
        <p:nvSpPr>
          <p:cNvPr id="241" name="Google Shape;241;p31"/>
          <p:cNvSpPr txBox="1"/>
          <p:nvPr/>
        </p:nvSpPr>
        <p:spPr>
          <a:xfrm>
            <a:off x="655764" y="1799627"/>
            <a:ext cx="1281430" cy="45212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2800">
                <a:solidFill>
                  <a:srgbClr val="4E3629"/>
                </a:solidFill>
                <a:latin typeface="Calibri"/>
                <a:ea typeface="Calibri"/>
                <a:cs typeface="Calibri"/>
                <a:sym typeface="Calibri"/>
              </a:rPr>
              <a:t>MONTH:</a:t>
            </a:r>
            <a:endParaRPr sz="2800">
              <a:latin typeface="Calibri"/>
              <a:ea typeface="Calibri"/>
              <a:cs typeface="Calibri"/>
              <a:sym typeface="Calibri"/>
            </a:endParaRPr>
          </a:p>
        </p:txBody>
      </p:sp>
      <p:sp>
        <p:nvSpPr>
          <p:cNvPr id="242" name="Google Shape;242;p31"/>
          <p:cNvSpPr txBox="1"/>
          <p:nvPr/>
        </p:nvSpPr>
        <p:spPr>
          <a:xfrm>
            <a:off x="692283" y="3625964"/>
            <a:ext cx="4140835"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800">
                <a:solidFill>
                  <a:srgbClr val="D1350F"/>
                </a:solidFill>
                <a:latin typeface="Calibri"/>
                <a:ea typeface="Calibri"/>
                <a:cs typeface="Calibri"/>
                <a:sym typeface="Calibri"/>
              </a:rPr>
              <a:t>Suponga que la fecha de hoy es: 17-Jul-2017</a:t>
            </a:r>
            <a:endParaRPr sz="1800">
              <a:latin typeface="Calibri"/>
              <a:ea typeface="Calibri"/>
              <a:cs typeface="Calibri"/>
              <a:sym typeface="Calibri"/>
            </a:endParaRPr>
          </a:p>
        </p:txBody>
      </p:sp>
      <p:graphicFrame>
        <p:nvGraphicFramePr>
          <p:cNvPr id="243" name="Google Shape;243;p31"/>
          <p:cNvGraphicFramePr/>
          <p:nvPr/>
        </p:nvGraphicFramePr>
        <p:xfrm>
          <a:off x="386840" y="5230342"/>
          <a:ext cx="3000000" cy="3000000"/>
        </p:xfrm>
        <a:graphic>
          <a:graphicData uri="http://schemas.openxmlformats.org/drawingml/2006/table">
            <a:tbl>
              <a:tblPr bandRow="1" firstRow="1">
                <a:noFill/>
                <a:tableStyleId>{396F63B4-2A52-4E26-8514-78795E7FD2E4}</a:tableStyleId>
              </a:tblPr>
              <a:tblGrid>
                <a:gridCol w="4167500"/>
                <a:gridCol w="4167500"/>
              </a:tblGrid>
              <a:tr h="487675">
                <a:tc>
                  <a:txBody>
                    <a:bodyPr/>
                    <a:lstStyle/>
                    <a:p>
                      <a:pPr indent="0" lvl="0" marL="71755" marR="0" rtl="0" algn="l">
                        <a:lnSpc>
                          <a:spcPct val="113750"/>
                        </a:lnSpc>
                        <a:spcBef>
                          <a:spcPts val="0"/>
                        </a:spcBef>
                        <a:spcAft>
                          <a:spcPts val="0"/>
                        </a:spcAft>
                        <a:buNone/>
                      </a:pPr>
                      <a:r>
                        <a:rPr b="1" lang="en-US" sz="1600" u="none" cap="none" strike="noStrike">
                          <a:solidFill>
                            <a:srgbClr val="4E3629"/>
                          </a:solidFill>
                          <a:latin typeface="Calibri"/>
                          <a:ea typeface="Calibri"/>
                          <a:cs typeface="Calibri"/>
                          <a:sym typeface="Calibri"/>
                        </a:rPr>
                        <a:t>120 months from now (120 meses a partir de</a:t>
                      </a:r>
                      <a:endParaRPr sz="1600" u="none" cap="none" strike="noStrike">
                        <a:latin typeface="Calibri"/>
                        <a:ea typeface="Calibri"/>
                        <a:cs typeface="Calibri"/>
                        <a:sym typeface="Calibri"/>
                      </a:endParaRPr>
                    </a:p>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ahora)</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71755" marR="0" rtl="0" algn="l">
                        <a:lnSpc>
                          <a:spcPct val="113750"/>
                        </a:lnSpc>
                        <a:spcBef>
                          <a:spcPts val="0"/>
                        </a:spcBef>
                        <a:spcAft>
                          <a:spcPts val="0"/>
                        </a:spcAft>
                        <a:buNone/>
                      </a:pPr>
                      <a:r>
                        <a:rPr b="1" lang="en-US" sz="1600" u="none" cap="none" strike="noStrike">
                          <a:solidFill>
                            <a:srgbClr val="4E3629"/>
                          </a:solidFill>
                          <a:latin typeface="Calibri"/>
                          <a:ea typeface="Calibri"/>
                          <a:cs typeface="Calibri"/>
                          <a:sym typeface="Calibri"/>
                        </a:rPr>
                        <a:t>3 years 6 months from now (3 años y 6 meses a</a:t>
                      </a:r>
                      <a:endParaRPr sz="1600" u="none" cap="none" strike="noStrike">
                        <a:latin typeface="Calibri"/>
                        <a:ea typeface="Calibri"/>
                        <a:cs typeface="Calibri"/>
                        <a:sym typeface="Calibri"/>
                      </a:endParaRPr>
                    </a:p>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partir de ahora)</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r>
              <a:tr h="39665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17-Jul-2027</a:t>
                      </a:r>
                      <a:endParaRPr sz="1600" u="none" cap="none" strike="noStrike">
                        <a:latin typeface="Calibri"/>
                        <a:ea typeface="Calibri"/>
                        <a:cs typeface="Calibri"/>
                        <a:sym typeface="Calibri"/>
                      </a:endParaRPr>
                    </a:p>
                  </a:txBody>
                  <a:tcPr marT="635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17-Jan-2021</a:t>
                      </a:r>
                      <a:endParaRPr sz="1600" u="none" cap="none" strike="noStrike">
                        <a:latin typeface="Calibri"/>
                        <a:ea typeface="Calibri"/>
                        <a:cs typeface="Calibri"/>
                        <a:sym typeface="Calibri"/>
                      </a:endParaRPr>
                    </a:p>
                  </a:txBody>
                  <a:tcPr marT="635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sp>
        <p:nvSpPr>
          <p:cNvPr id="244" name="Google Shape;244;p31"/>
          <p:cNvSpPr txBox="1"/>
          <p:nvPr/>
        </p:nvSpPr>
        <p:spPr>
          <a:xfrm>
            <a:off x="2186939" y="1882139"/>
            <a:ext cx="6541134" cy="795655"/>
          </a:xfrm>
          <a:prstGeom prst="rect">
            <a:avLst/>
          </a:prstGeom>
          <a:solidFill>
            <a:srgbClr val="9DBDC4">
              <a:alpha val="49804"/>
            </a:srgbClr>
          </a:solidFill>
          <a:ln>
            <a:noFill/>
          </a:ln>
        </p:spPr>
        <p:txBody>
          <a:bodyPr anchorCtr="0" anchor="t" bIns="0" lIns="0" spcFirstLastPara="1" rIns="0" wrap="square" tIns="0">
            <a:spAutoFit/>
          </a:bodyPr>
          <a:lstStyle/>
          <a:p>
            <a:pPr indent="0" lvl="0" marL="0" marR="0" rtl="0" algn="l">
              <a:lnSpc>
                <a:spcPct val="101944"/>
              </a:lnSpc>
              <a:spcBef>
                <a:spcPts val="0"/>
              </a:spcBef>
              <a:spcAft>
                <a:spcPts val="0"/>
              </a:spcAft>
              <a:buNone/>
            </a:pPr>
            <a:r>
              <a:rPr b="1" lang="en-US" sz="1800">
                <a:solidFill>
                  <a:srgbClr val="4E3629"/>
                </a:solidFill>
                <a:latin typeface="Courier New"/>
                <a:ea typeface="Courier New"/>
                <a:cs typeface="Courier New"/>
                <a:sym typeface="Courier New"/>
              </a:rPr>
              <a:t>CREATE TABLE time_ex4</a:t>
            </a:r>
            <a:endParaRPr sz="1800">
              <a:latin typeface="Courier New"/>
              <a:ea typeface="Courier New"/>
              <a:cs typeface="Courier New"/>
              <a:sym typeface="Courier New"/>
            </a:endParaRPr>
          </a:p>
          <a:p>
            <a:pPr indent="-136525" lvl="0" marL="136525" marR="66357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(loan_duration1 INTERVAL YEAR(3) TO MONTH,  loan_duration2 INTERVAL YEAR(2) TO MONTH);</a:t>
            </a:r>
            <a:endParaRPr sz="1800">
              <a:latin typeface="Courier New"/>
              <a:ea typeface="Courier New"/>
              <a:cs typeface="Courier New"/>
              <a:sym typeface="Courier New"/>
            </a:endParaRPr>
          </a:p>
        </p:txBody>
      </p:sp>
      <p:sp>
        <p:nvSpPr>
          <p:cNvPr id="245" name="Google Shape;245;p31"/>
          <p:cNvSpPr txBox="1"/>
          <p:nvPr/>
        </p:nvSpPr>
        <p:spPr>
          <a:xfrm>
            <a:off x="393191" y="2750820"/>
            <a:ext cx="8345805" cy="795655"/>
          </a:xfrm>
          <a:prstGeom prst="rect">
            <a:avLst/>
          </a:prstGeom>
          <a:solidFill>
            <a:srgbClr val="9DBDC4">
              <a:alpha val="49804"/>
            </a:srgbClr>
          </a:solidFill>
          <a:ln>
            <a:noFill/>
          </a:ln>
        </p:spPr>
        <p:txBody>
          <a:bodyPr anchorCtr="0" anchor="t" bIns="0" lIns="0" spcFirstLastPara="1" rIns="0" wrap="square" tIns="0">
            <a:spAutoFit/>
          </a:bodyPr>
          <a:lstStyle/>
          <a:p>
            <a:pPr indent="0" lvl="0" marL="0" marR="0" rtl="0" algn="l">
              <a:lnSpc>
                <a:spcPct val="102166"/>
              </a:lnSpc>
              <a:spcBef>
                <a:spcPts val="0"/>
              </a:spcBef>
              <a:spcAft>
                <a:spcPts val="0"/>
              </a:spcAft>
              <a:buNone/>
            </a:pPr>
            <a:r>
              <a:rPr b="1" lang="en-US" sz="1800">
                <a:solidFill>
                  <a:srgbClr val="4E3629"/>
                </a:solidFill>
                <a:latin typeface="Courier New"/>
                <a:ea typeface="Courier New"/>
                <a:cs typeface="Courier New"/>
                <a:sym typeface="Courier New"/>
              </a:rPr>
              <a:t>INSERT INTO time_ex4 (loan_duration1, loan_duration2)</a:t>
            </a:r>
            <a:endParaRPr sz="1800">
              <a:latin typeface="Courier New"/>
              <a:ea typeface="Courier New"/>
              <a:cs typeface="Courier New"/>
              <a:sym typeface="Courier New"/>
            </a:endParaRPr>
          </a:p>
          <a:p>
            <a:pPr indent="-1229360" lvl="0" marL="1229360" marR="301625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VALUES (INTERVAL '120' MONTH(3),  INTERVAL '3-6' YEAR TO MONTH);</a:t>
            </a:r>
            <a:endParaRPr sz="1800">
              <a:latin typeface="Courier New"/>
              <a:ea typeface="Courier New"/>
              <a:cs typeface="Courier New"/>
              <a:sym typeface="Courier New"/>
            </a:endParaRPr>
          </a:p>
        </p:txBody>
      </p:sp>
      <p:sp>
        <p:nvSpPr>
          <p:cNvPr id="246" name="Google Shape;246;p31"/>
          <p:cNvSpPr txBox="1"/>
          <p:nvPr/>
        </p:nvSpPr>
        <p:spPr>
          <a:xfrm>
            <a:off x="393191" y="3980688"/>
            <a:ext cx="8345805" cy="1149350"/>
          </a:xfrm>
          <a:prstGeom prst="rect">
            <a:avLst/>
          </a:prstGeom>
          <a:solidFill>
            <a:srgbClr val="9DBDC4">
              <a:alpha val="49804"/>
            </a:srgbClr>
          </a:solidFill>
          <a:ln>
            <a:noFill/>
          </a:ln>
        </p:spPr>
        <p:txBody>
          <a:bodyPr anchorCtr="0" anchor="t" bIns="0" lIns="0" spcFirstLastPara="1" rIns="0" wrap="square" tIns="0">
            <a:spAutoFit/>
          </a:bodyPr>
          <a:lstStyle/>
          <a:p>
            <a:pPr indent="-956944" lvl="0" marL="956944" marR="0" rtl="0" algn="l">
              <a:lnSpc>
                <a:spcPct val="119444"/>
              </a:lnSpc>
              <a:spcBef>
                <a:spcPts val="0"/>
              </a:spcBef>
              <a:spcAft>
                <a:spcPts val="0"/>
              </a:spcAft>
              <a:buNone/>
            </a:pPr>
            <a:r>
              <a:rPr b="1" lang="en-US" sz="1800">
                <a:solidFill>
                  <a:srgbClr val="4E3629"/>
                </a:solidFill>
                <a:latin typeface="Courier New"/>
                <a:ea typeface="Courier New"/>
                <a:cs typeface="Courier New"/>
                <a:sym typeface="Courier New"/>
              </a:rPr>
              <a:t>SELECT SYSDATE + loan_duration1 AS "120 months from now",</a:t>
            </a:r>
            <a:endParaRPr sz="1800">
              <a:latin typeface="Courier New"/>
              <a:ea typeface="Courier New"/>
              <a:cs typeface="Courier New"/>
              <a:sym typeface="Courier New"/>
            </a:endParaRPr>
          </a:p>
          <a:p>
            <a:pPr indent="0" lvl="0" marL="956944"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SYSDATE + loan_duration2 AS "3 years 6 months from</a:t>
            </a:r>
            <a:endParaRPr sz="1800">
              <a:latin typeface="Courier New"/>
              <a:ea typeface="Courier New"/>
              <a:cs typeface="Courier New"/>
              <a:sym typeface="Courier New"/>
            </a:endParaRPr>
          </a:p>
          <a:p>
            <a:pPr indent="0" lvl="0" marL="0"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now"</a:t>
            </a:r>
            <a:endParaRPr sz="1800">
              <a:latin typeface="Courier New"/>
              <a:ea typeface="Courier New"/>
              <a:cs typeface="Courier New"/>
              <a:sym typeface="Courier New"/>
            </a:endParaRPr>
          </a:p>
          <a:p>
            <a:pPr indent="0" lvl="0" marL="0"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time_ex4;</a:t>
            </a:r>
            <a:endParaRPr sz="1800">
              <a:latin typeface="Courier New"/>
              <a:ea typeface="Courier New"/>
              <a:cs typeface="Courier New"/>
              <a:sym typeface="Courier New"/>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2"/>
          <p:cNvSpPr txBox="1"/>
          <p:nvPr>
            <p:ph type="title"/>
          </p:nvPr>
        </p:nvSpPr>
        <p:spPr>
          <a:xfrm>
            <a:off x="392112" y="748031"/>
            <a:ext cx="47073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INTERVAL DAY…TO SECOND</a:t>
            </a:r>
            <a:endParaRPr/>
          </a:p>
        </p:txBody>
      </p:sp>
      <p:sp>
        <p:nvSpPr>
          <p:cNvPr id="252" name="Google Shape;252;p32"/>
          <p:cNvSpPr txBox="1"/>
          <p:nvPr>
            <p:ph idx="10" type="dt"/>
          </p:nvPr>
        </p:nvSpPr>
        <p:spPr>
          <a:xfrm>
            <a:off x="2874191" y="6516395"/>
            <a:ext cx="960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13-2</a:t>
            </a:r>
            <a:endParaRPr/>
          </a:p>
          <a:p>
            <a:pPr indent="0" lvl="0" marL="12700" rtl="0" algn="l">
              <a:lnSpc>
                <a:spcPct val="120624"/>
              </a:lnSpc>
              <a:spcBef>
                <a:spcPts val="0"/>
              </a:spcBef>
              <a:spcAft>
                <a:spcPts val="0"/>
              </a:spcAft>
              <a:buNone/>
            </a:pPr>
            <a:r>
              <a:rPr lang="en-US"/>
              <a:t>Uso de Tipos de Dato</a:t>
            </a:r>
            <a:endParaRPr/>
          </a:p>
        </p:txBody>
      </p:sp>
      <p:sp>
        <p:nvSpPr>
          <p:cNvPr id="253" name="Google Shape;253;p32"/>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54" name="Google Shape;254;p32"/>
          <p:cNvSpPr txBox="1"/>
          <p:nvPr>
            <p:ph idx="12" type="sldNum"/>
          </p:nvPr>
        </p:nvSpPr>
        <p:spPr>
          <a:xfrm>
            <a:off x="8601456" y="6589648"/>
            <a:ext cx="186000" cy="1308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255" name="Google Shape;255;p32"/>
          <p:cNvSpPr txBox="1"/>
          <p:nvPr/>
        </p:nvSpPr>
        <p:spPr>
          <a:xfrm>
            <a:off x="483552" y="1381889"/>
            <a:ext cx="8096884" cy="1236980"/>
          </a:xfrm>
          <a:prstGeom prst="rect">
            <a:avLst/>
          </a:prstGeom>
          <a:noFill/>
          <a:ln>
            <a:noFill/>
          </a:ln>
        </p:spPr>
        <p:txBody>
          <a:bodyPr anchorCtr="0" anchor="t" bIns="0" lIns="0" spcFirstLastPara="1" rIns="0" wrap="square" tIns="97150">
            <a:spAutoFit/>
          </a:bodyPr>
          <a:lstStyle/>
          <a:p>
            <a:pPr indent="-177800" lvl="0" marL="184785" marR="5080" rtl="0" algn="l">
              <a:lnSpc>
                <a:spcPct val="8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Utilice esta opción cuando necesite una diferencia más  precisa entre dos valores de fecha-hora</a:t>
            </a:r>
            <a:endParaRPr sz="2800">
              <a:latin typeface="Calibri"/>
              <a:ea typeface="Calibri"/>
              <a:cs typeface="Calibri"/>
              <a:sym typeface="Calibri"/>
            </a:endParaRPr>
          </a:p>
          <a:p>
            <a:pPr indent="-177800" lvl="0" marL="184785" marR="0" rtl="0" algn="l">
              <a:lnSpc>
                <a:spcPct val="100000"/>
              </a:lnSpc>
              <a:spcBef>
                <a:spcPts val="13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Sintaxis:</a:t>
            </a:r>
            <a:endParaRPr sz="2800">
              <a:latin typeface="Calibri"/>
              <a:ea typeface="Calibri"/>
              <a:cs typeface="Calibri"/>
              <a:sym typeface="Calibri"/>
            </a:endParaRPr>
          </a:p>
        </p:txBody>
      </p:sp>
      <p:sp>
        <p:nvSpPr>
          <p:cNvPr id="256" name="Google Shape;256;p32"/>
          <p:cNvSpPr txBox="1"/>
          <p:nvPr>
            <p:ph idx="1" type="body"/>
          </p:nvPr>
        </p:nvSpPr>
        <p:spPr>
          <a:xfrm>
            <a:off x="483552" y="3052193"/>
            <a:ext cx="7836600" cy="2820000"/>
          </a:xfrm>
          <a:prstGeom prst="rect">
            <a:avLst/>
          </a:prstGeom>
          <a:noFill/>
          <a:ln>
            <a:noFill/>
          </a:ln>
        </p:spPr>
        <p:txBody>
          <a:bodyPr anchorCtr="0" anchor="t" bIns="0" lIns="0" spcFirstLastPara="1" rIns="0" wrap="square" tIns="97150">
            <a:spAutoFit/>
          </a:bodyPr>
          <a:lstStyle/>
          <a:p>
            <a:pPr indent="-177800" lvl="0" marL="184785" marR="410845" rtl="0" algn="l">
              <a:lnSpc>
                <a:spcPct val="80000"/>
              </a:lnSpc>
              <a:spcBef>
                <a:spcPts val="0"/>
              </a:spcBef>
              <a:spcAft>
                <a:spcPts val="0"/>
              </a:spcAft>
              <a:buClr>
                <a:srgbClr val="D1350F"/>
              </a:buClr>
              <a:buSzPts val="2800"/>
              <a:buFont typeface="Arial"/>
              <a:buChar char="•"/>
            </a:pPr>
            <a:r>
              <a:rPr lang="en-US"/>
              <a:t>Day_precision es el número máximo de dígitos del  elemento DAY</a:t>
            </a:r>
            <a:endParaRPr/>
          </a:p>
          <a:p>
            <a:pPr indent="-177800" lvl="0" marL="184785" rtl="0" algn="l">
              <a:lnSpc>
                <a:spcPct val="100000"/>
              </a:lnSpc>
              <a:spcBef>
                <a:spcPts val="135"/>
              </a:spcBef>
              <a:spcAft>
                <a:spcPts val="0"/>
              </a:spcAft>
              <a:buClr>
                <a:srgbClr val="D1350F"/>
              </a:buClr>
              <a:buSzPts val="2800"/>
              <a:buFont typeface="Arial"/>
              <a:buChar char="•"/>
            </a:pPr>
            <a:r>
              <a:rPr lang="en-US"/>
              <a:t>El valor por defecto de day_precision es 2</a:t>
            </a:r>
            <a:endParaRPr/>
          </a:p>
          <a:p>
            <a:pPr indent="-177800" lvl="0" marL="184785" marR="5080" rtl="0" algn="l">
              <a:lnSpc>
                <a:spcPct val="80000"/>
              </a:lnSpc>
              <a:spcBef>
                <a:spcPts val="790"/>
              </a:spcBef>
              <a:spcAft>
                <a:spcPts val="0"/>
              </a:spcAft>
              <a:buClr>
                <a:srgbClr val="D1350F"/>
              </a:buClr>
              <a:buSzPts val="2800"/>
              <a:buFont typeface="Arial"/>
              <a:buChar char="•"/>
            </a:pPr>
            <a:r>
              <a:rPr lang="en-US"/>
              <a:t>fractional_seconds_precision es el número de dígitos  de la parte fraccionaria del campo de fecha/hora  SECOND</a:t>
            </a:r>
            <a:endParaRPr/>
          </a:p>
          <a:p>
            <a:pPr indent="-177800" lvl="0" marL="184785" rtl="0" algn="l">
              <a:lnSpc>
                <a:spcPct val="100000"/>
              </a:lnSpc>
              <a:spcBef>
                <a:spcPts val="135"/>
              </a:spcBef>
              <a:spcAft>
                <a:spcPts val="1200"/>
              </a:spcAft>
              <a:buClr>
                <a:srgbClr val="D1350F"/>
              </a:buClr>
              <a:buSzPts val="2800"/>
              <a:buFont typeface="Arial"/>
              <a:buChar char="•"/>
            </a:pPr>
            <a:r>
              <a:rPr lang="en-US"/>
              <a:t>El valor por defecto es 6</a:t>
            </a:r>
            <a:endParaRPr/>
          </a:p>
        </p:txBody>
      </p:sp>
      <p:sp>
        <p:nvSpPr>
          <p:cNvPr id="257" name="Google Shape;257;p32"/>
          <p:cNvSpPr txBox="1"/>
          <p:nvPr/>
        </p:nvSpPr>
        <p:spPr>
          <a:xfrm>
            <a:off x="393191" y="2634995"/>
            <a:ext cx="8345805" cy="524510"/>
          </a:xfrm>
          <a:prstGeom prst="rect">
            <a:avLst/>
          </a:prstGeom>
          <a:solidFill>
            <a:srgbClr val="9DBDC4">
              <a:alpha val="49804"/>
            </a:srgbClr>
          </a:solidFill>
          <a:ln>
            <a:noFill/>
          </a:ln>
        </p:spPr>
        <p:txBody>
          <a:bodyPr anchorCtr="0" anchor="t" bIns="0" lIns="0" spcFirstLastPara="1" rIns="0" wrap="square" tIns="0">
            <a:spAutoFit/>
          </a:bodyPr>
          <a:lstStyle/>
          <a:p>
            <a:pPr indent="0" lvl="0" marL="0" marR="0" rtl="0" algn="l">
              <a:lnSpc>
                <a:spcPct val="102500"/>
              </a:lnSpc>
              <a:spcBef>
                <a:spcPts val="0"/>
              </a:spcBef>
              <a:spcAft>
                <a:spcPts val="0"/>
              </a:spcAft>
              <a:buNone/>
            </a:pPr>
            <a:r>
              <a:rPr b="1" lang="en-US" sz="1800">
                <a:solidFill>
                  <a:srgbClr val="4E3629"/>
                </a:solidFill>
                <a:latin typeface="Courier New"/>
                <a:ea typeface="Courier New"/>
                <a:cs typeface="Courier New"/>
                <a:sym typeface="Courier New"/>
              </a:rPr>
              <a:t>INTERVAL DAY [day_precision)] TO SECOND</a:t>
            </a:r>
            <a:endParaRPr sz="1800">
              <a:latin typeface="Courier New"/>
              <a:ea typeface="Courier New"/>
              <a:cs typeface="Courier New"/>
              <a:sym typeface="Courier New"/>
            </a:endParaRPr>
          </a:p>
          <a:p>
            <a:pPr indent="0" lvl="0" marL="0"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[(fractional_seconds_precision)]</a:t>
            </a:r>
            <a:endParaRPr sz="1800">
              <a:latin typeface="Courier New"/>
              <a:ea typeface="Courier New"/>
              <a:cs typeface="Courier New"/>
              <a:sym typeface="Courier New"/>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3"/>
          <p:cNvSpPr txBox="1"/>
          <p:nvPr>
            <p:ph type="title"/>
          </p:nvPr>
        </p:nvSpPr>
        <p:spPr>
          <a:xfrm>
            <a:off x="392112" y="748031"/>
            <a:ext cx="47073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INTERVAL DAY…TO SECOND</a:t>
            </a:r>
            <a:endParaRPr/>
          </a:p>
        </p:txBody>
      </p:sp>
      <p:sp>
        <p:nvSpPr>
          <p:cNvPr id="263" name="Google Shape;263;p33"/>
          <p:cNvSpPr txBox="1"/>
          <p:nvPr/>
        </p:nvSpPr>
        <p:spPr>
          <a:xfrm>
            <a:off x="483552" y="1415417"/>
            <a:ext cx="8146415" cy="452120"/>
          </a:xfrm>
          <a:prstGeom prst="rect">
            <a:avLst/>
          </a:prstGeom>
          <a:noFill/>
          <a:ln>
            <a:noFill/>
          </a:ln>
        </p:spPr>
        <p:txBody>
          <a:bodyPr anchorCtr="0" anchor="t" bIns="0" lIns="0" spcFirstLastPara="1" rIns="0" wrap="square" tIns="12050">
            <a:spAutoFit/>
          </a:bodyPr>
          <a:lstStyle/>
          <a:p>
            <a:pPr indent="-177800" lvl="0" marL="184785" marR="0"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este ejemplo se muestra INTERVAL DAY TO SECOND:</a:t>
            </a:r>
            <a:endParaRPr sz="2800">
              <a:latin typeface="Calibri"/>
              <a:ea typeface="Calibri"/>
              <a:cs typeface="Calibri"/>
              <a:sym typeface="Calibri"/>
            </a:endParaRPr>
          </a:p>
        </p:txBody>
      </p:sp>
      <p:graphicFrame>
        <p:nvGraphicFramePr>
          <p:cNvPr id="264" name="Google Shape;264;p33"/>
          <p:cNvGraphicFramePr/>
          <p:nvPr/>
        </p:nvGraphicFramePr>
        <p:xfrm>
          <a:off x="398462" y="5189912"/>
          <a:ext cx="3000000" cy="3000000"/>
        </p:xfrm>
        <a:graphic>
          <a:graphicData uri="http://schemas.openxmlformats.org/drawingml/2006/table">
            <a:tbl>
              <a:tblPr bandRow="1" firstRow="1">
                <a:noFill/>
                <a:tableStyleId>{396F63B4-2A52-4E26-8514-78795E7FD2E4}</a:tableStyleId>
              </a:tblPr>
              <a:tblGrid>
                <a:gridCol w="4178925"/>
                <a:gridCol w="4178925"/>
              </a:tblGrid>
              <a:tr h="487675">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25 Days from now (25 días a partir de ahora)</a:t>
                      </a:r>
                      <a:endParaRPr sz="1600" u="none" cap="none" strike="noStrike">
                        <a:latin typeface="Calibri"/>
                        <a:ea typeface="Calibri"/>
                        <a:cs typeface="Calibri"/>
                        <a:sym typeface="Calibri"/>
                      </a:endParaRPr>
                    </a:p>
                  </a:txBody>
                  <a:tcPr marT="1092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71755" marR="0" rtl="0" algn="l">
                        <a:lnSpc>
                          <a:spcPct val="113750"/>
                        </a:lnSpc>
                        <a:spcBef>
                          <a:spcPts val="0"/>
                        </a:spcBef>
                        <a:spcAft>
                          <a:spcPts val="0"/>
                        </a:spcAft>
                        <a:buNone/>
                      </a:pPr>
                      <a:r>
                        <a:rPr b="1" lang="en-US" sz="1600" u="none" cap="none" strike="noStrike">
                          <a:solidFill>
                            <a:srgbClr val="4E3629"/>
                          </a:solidFill>
                          <a:latin typeface="Calibri"/>
                          <a:ea typeface="Calibri"/>
                          <a:cs typeface="Calibri"/>
                          <a:sym typeface="Calibri"/>
                        </a:rPr>
                        <a:t>precise days and time from now (Días y hora</a:t>
                      </a:r>
                      <a:endParaRPr sz="1600" u="none" cap="none" strike="noStrike">
                        <a:latin typeface="Calibri"/>
                        <a:ea typeface="Calibri"/>
                        <a:cs typeface="Calibri"/>
                        <a:sym typeface="Calibri"/>
                      </a:endParaRPr>
                    </a:p>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precisos a partir de ahora)</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r>
              <a:tr h="3805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11-Aug-2017</a:t>
                      </a:r>
                      <a:endParaRPr sz="1600" u="none" cap="none" strike="noStrike">
                        <a:latin typeface="Calibri"/>
                        <a:ea typeface="Calibri"/>
                        <a:cs typeface="Calibri"/>
                        <a:sym typeface="Calibri"/>
                      </a:endParaRPr>
                    </a:p>
                  </a:txBody>
                  <a:tcPr marT="552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21-Jul-2017 01:13:17</a:t>
                      </a:r>
                      <a:endParaRPr sz="1600" u="none" cap="none" strike="noStrike">
                        <a:latin typeface="Calibri"/>
                        <a:ea typeface="Calibri"/>
                        <a:cs typeface="Calibri"/>
                        <a:sym typeface="Calibri"/>
                      </a:endParaRPr>
                    </a:p>
                  </a:txBody>
                  <a:tcPr marT="552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graphicFrame>
        <p:nvGraphicFramePr>
          <p:cNvPr id="265" name="Google Shape;265;p33"/>
          <p:cNvGraphicFramePr/>
          <p:nvPr/>
        </p:nvGraphicFramePr>
        <p:xfrm>
          <a:off x="405241" y="1865376"/>
          <a:ext cx="3000000" cy="3000000"/>
        </p:xfrm>
        <a:graphic>
          <a:graphicData uri="http://schemas.openxmlformats.org/drawingml/2006/table">
            <a:tbl>
              <a:tblPr bandRow="1" firstRow="1">
                <a:noFill/>
                <a:tableStyleId>{396F63B4-2A52-4E26-8514-78795E7FD2E4}</a:tableStyleId>
              </a:tblPr>
              <a:tblGrid>
                <a:gridCol w="3207375"/>
                <a:gridCol w="956300"/>
                <a:gridCol w="408300"/>
                <a:gridCol w="3773800"/>
              </a:tblGrid>
              <a:tr h="299700">
                <a:tc>
                  <a:txBody>
                    <a:bodyPr/>
                    <a:lstStyle/>
                    <a:p>
                      <a:pPr indent="0" lvl="0" marL="0" marR="0" rtl="0" algn="l">
                        <a:lnSpc>
                          <a:spcPct val="117777"/>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CREATE TABLE time_ex5</a:t>
                      </a:r>
                      <a:endParaRPr sz="1800" u="none" cap="none" strike="noStrike">
                        <a:latin typeface="Courier New"/>
                        <a:ea typeface="Courier New"/>
                        <a:cs typeface="Courier New"/>
                        <a:sym typeface="Courier New"/>
                      </a:endParaRPr>
                    </a:p>
                  </a:txBody>
                  <a:tcPr marT="0" marB="0" marR="0" marL="0">
                    <a:solidFill>
                      <a:srgbClr val="CDDDE1"/>
                    </a:solidFill>
                  </a:tcPr>
                </a:tc>
                <a:tc gridSpan="3">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solidFill>
                      <a:srgbClr val="CDDDE1"/>
                    </a:solidFill>
                  </a:tcPr>
                </a:tc>
                <a:tc hMerge="1"/>
                <a:tc hMerge="1"/>
              </a:tr>
              <a:tr h="274325">
                <a:tc>
                  <a:txBody>
                    <a:bodyPr/>
                    <a:lstStyle/>
                    <a:p>
                      <a:pPr indent="0" lvl="0" marL="0" marR="0" rtl="0" algn="l">
                        <a:lnSpc>
                          <a:spcPct val="106666"/>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(day_duration1 INTERVAL</a:t>
                      </a:r>
                      <a:endParaRPr sz="1800" u="none" cap="none" strike="noStrike">
                        <a:latin typeface="Courier New"/>
                        <a:ea typeface="Courier New"/>
                        <a:cs typeface="Courier New"/>
                        <a:sym typeface="Courier New"/>
                      </a:endParaRPr>
                    </a:p>
                  </a:txBody>
                  <a:tcPr marT="0" marB="0" marR="0" marL="0">
                    <a:solidFill>
                      <a:srgbClr val="CDDDE1"/>
                    </a:solidFill>
                  </a:tcPr>
                </a:tc>
                <a:tc>
                  <a:txBody>
                    <a:bodyPr/>
                    <a:lstStyle/>
                    <a:p>
                      <a:pPr indent="0" lvl="0" marL="1270" marR="0" rtl="0" algn="ctr">
                        <a:lnSpc>
                          <a:spcPct val="106666"/>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DAY(3)</a:t>
                      </a:r>
                      <a:endParaRPr sz="1800" u="none" cap="none" strike="noStrike">
                        <a:latin typeface="Courier New"/>
                        <a:ea typeface="Courier New"/>
                        <a:cs typeface="Courier New"/>
                        <a:sym typeface="Courier New"/>
                      </a:endParaRPr>
                    </a:p>
                  </a:txBody>
                  <a:tcPr marT="0" marB="0" marR="0" marL="0">
                    <a:solidFill>
                      <a:srgbClr val="CDDDE1"/>
                    </a:solidFill>
                  </a:tcPr>
                </a:tc>
                <a:tc>
                  <a:txBody>
                    <a:bodyPr/>
                    <a:lstStyle/>
                    <a:p>
                      <a:pPr indent="0" lvl="0" marL="635" marR="0" rtl="0" algn="ctr">
                        <a:lnSpc>
                          <a:spcPct val="106666"/>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TO</a:t>
                      </a:r>
                      <a:endParaRPr sz="1800" u="none" cap="none" strike="noStrike">
                        <a:latin typeface="Courier New"/>
                        <a:ea typeface="Courier New"/>
                        <a:cs typeface="Courier New"/>
                        <a:sym typeface="Courier New"/>
                      </a:endParaRPr>
                    </a:p>
                  </a:txBody>
                  <a:tcPr marT="0" marB="0" marR="0" marL="0">
                    <a:solidFill>
                      <a:srgbClr val="CDDDE1"/>
                    </a:solidFill>
                  </a:tcPr>
                </a:tc>
                <a:tc>
                  <a:txBody>
                    <a:bodyPr/>
                    <a:lstStyle/>
                    <a:p>
                      <a:pPr indent="0" lvl="0" marL="67945" marR="0" rtl="0" algn="l">
                        <a:lnSpc>
                          <a:spcPct val="106666"/>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SECOND,</a:t>
                      </a:r>
                      <a:endParaRPr sz="1800" u="none" cap="none" strike="noStrike">
                        <a:latin typeface="Courier New"/>
                        <a:ea typeface="Courier New"/>
                        <a:cs typeface="Courier New"/>
                        <a:sym typeface="Courier New"/>
                      </a:endParaRPr>
                    </a:p>
                  </a:txBody>
                  <a:tcPr marT="0" marB="0" marR="0" marL="0">
                    <a:solidFill>
                      <a:srgbClr val="CDDDE1"/>
                    </a:solidFill>
                  </a:tcPr>
                </a:tc>
              </a:tr>
              <a:tr h="293150">
                <a:tc>
                  <a:txBody>
                    <a:bodyPr/>
                    <a:lstStyle/>
                    <a:p>
                      <a:pPr indent="0" lvl="0" marL="136525" marR="0" rtl="0" algn="l">
                        <a:lnSpc>
                          <a:spcPct val="106666"/>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day_duration2 INTERVAL</a:t>
                      </a:r>
                      <a:endParaRPr sz="1800" u="none" cap="none" strike="noStrike">
                        <a:latin typeface="Courier New"/>
                        <a:ea typeface="Courier New"/>
                        <a:cs typeface="Courier New"/>
                        <a:sym typeface="Courier New"/>
                      </a:endParaRPr>
                    </a:p>
                  </a:txBody>
                  <a:tcPr marT="0" marB="0" marR="0" marL="0">
                    <a:solidFill>
                      <a:srgbClr val="CDDDE1"/>
                    </a:solidFill>
                  </a:tcPr>
                </a:tc>
                <a:tc>
                  <a:txBody>
                    <a:bodyPr/>
                    <a:lstStyle/>
                    <a:p>
                      <a:pPr indent="0" lvl="0" marL="0" marR="0" rtl="0" algn="ctr">
                        <a:lnSpc>
                          <a:spcPct val="106666"/>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DAY(3)</a:t>
                      </a:r>
                      <a:endParaRPr sz="1800" u="none" cap="none" strike="noStrike">
                        <a:latin typeface="Courier New"/>
                        <a:ea typeface="Courier New"/>
                        <a:cs typeface="Courier New"/>
                        <a:sym typeface="Courier New"/>
                      </a:endParaRPr>
                    </a:p>
                  </a:txBody>
                  <a:tcPr marT="0" marB="0" marR="0" marL="0">
                    <a:solidFill>
                      <a:srgbClr val="CDDDE1"/>
                    </a:solidFill>
                  </a:tcPr>
                </a:tc>
                <a:tc>
                  <a:txBody>
                    <a:bodyPr/>
                    <a:lstStyle/>
                    <a:p>
                      <a:pPr indent="0" lvl="0" marL="0" marR="0" rtl="0" algn="ctr">
                        <a:lnSpc>
                          <a:spcPct val="106666"/>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TO</a:t>
                      </a:r>
                      <a:endParaRPr sz="1800" u="none" cap="none" strike="noStrike">
                        <a:latin typeface="Courier New"/>
                        <a:ea typeface="Courier New"/>
                        <a:cs typeface="Courier New"/>
                        <a:sym typeface="Courier New"/>
                      </a:endParaRPr>
                    </a:p>
                  </a:txBody>
                  <a:tcPr marT="0" marB="0" marR="0" marL="0">
                    <a:solidFill>
                      <a:srgbClr val="CDDDE1"/>
                    </a:solidFill>
                  </a:tcPr>
                </a:tc>
                <a:tc>
                  <a:txBody>
                    <a:bodyPr/>
                    <a:lstStyle/>
                    <a:p>
                      <a:pPr indent="0" lvl="0" marL="66675" marR="0" rtl="0" algn="l">
                        <a:lnSpc>
                          <a:spcPct val="106666"/>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SECOND);</a:t>
                      </a:r>
                      <a:endParaRPr sz="1800" u="none" cap="none" strike="noStrike">
                        <a:latin typeface="Courier New"/>
                        <a:ea typeface="Courier New"/>
                        <a:cs typeface="Courier New"/>
                        <a:sym typeface="Courier New"/>
                      </a:endParaRPr>
                    </a:p>
                  </a:txBody>
                  <a:tcPr marT="0" marB="0" marR="0" marL="0">
                    <a:solidFill>
                      <a:srgbClr val="CDDDE1"/>
                    </a:solidFill>
                  </a:tcPr>
                </a:tc>
              </a:tr>
            </a:tbl>
          </a:graphicData>
        </a:graphic>
      </p:graphicFrame>
      <p:graphicFrame>
        <p:nvGraphicFramePr>
          <p:cNvPr id="266" name="Google Shape;266;p33"/>
          <p:cNvGraphicFramePr/>
          <p:nvPr/>
        </p:nvGraphicFramePr>
        <p:xfrm>
          <a:off x="405241" y="2883407"/>
          <a:ext cx="3000000" cy="3000000"/>
        </p:xfrm>
        <a:graphic>
          <a:graphicData uri="http://schemas.openxmlformats.org/drawingml/2006/table">
            <a:tbl>
              <a:tblPr bandRow="1" firstRow="1">
                <a:noFill/>
                <a:tableStyleId>{396F63B4-2A52-4E26-8514-78795E7FD2E4}</a:tableStyleId>
              </a:tblPr>
              <a:tblGrid>
                <a:gridCol w="1979925"/>
                <a:gridCol w="1227450"/>
                <a:gridCol w="956300"/>
                <a:gridCol w="408300"/>
                <a:gridCol w="3773800"/>
              </a:tblGrid>
              <a:tr h="574975">
                <a:tc gridSpan="2">
                  <a:txBody>
                    <a:bodyPr/>
                    <a:lstStyle/>
                    <a:p>
                      <a:pPr indent="0" lvl="0" marL="0" marR="60325" rtl="0" algn="l">
                        <a:lnSpc>
                          <a:spcPct val="120000"/>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CREATE TABLE time_ex5  (day_duration1 INTERVAL</a:t>
                      </a:r>
                      <a:endParaRPr sz="1800" u="none" cap="none" strike="noStrike">
                        <a:latin typeface="Courier New"/>
                        <a:ea typeface="Courier New"/>
                        <a:cs typeface="Courier New"/>
                        <a:sym typeface="Courier New"/>
                      </a:endParaRPr>
                    </a:p>
                  </a:txBody>
                  <a:tcPr marT="4450" marB="0" marR="0" marL="0">
                    <a:solidFill>
                      <a:srgbClr val="CDDDE1"/>
                    </a:solidFill>
                  </a:tcPr>
                </a:tc>
                <a:tc hMerge="1"/>
                <a:tc>
                  <a:txBody>
                    <a:bodyPr/>
                    <a:lstStyle/>
                    <a:p>
                      <a:pPr indent="0" lvl="0" marL="0" marR="0"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p>
                      <a:pPr indent="0" lvl="0" marL="1270" marR="0" rtl="0" algn="ctr">
                        <a:lnSpc>
                          <a:spcPct val="100000"/>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DAY(3)</a:t>
                      </a:r>
                      <a:endParaRPr sz="1800" u="none" cap="none" strike="noStrike">
                        <a:latin typeface="Courier New"/>
                        <a:ea typeface="Courier New"/>
                        <a:cs typeface="Courier New"/>
                        <a:sym typeface="Courier New"/>
                      </a:endParaRPr>
                    </a:p>
                  </a:txBody>
                  <a:tcPr marT="6975" marB="0" marR="0" marL="0">
                    <a:solidFill>
                      <a:srgbClr val="CDDDE1"/>
                    </a:solidFill>
                  </a:tcPr>
                </a:tc>
                <a:tc>
                  <a:txBody>
                    <a:bodyPr/>
                    <a:lstStyle/>
                    <a:p>
                      <a:pPr indent="0" lvl="0" marL="0" marR="0"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p>
                      <a:pPr indent="0" lvl="0" marL="635" marR="0" rtl="0" algn="ctr">
                        <a:lnSpc>
                          <a:spcPct val="100000"/>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TO</a:t>
                      </a:r>
                      <a:endParaRPr sz="1800" u="none" cap="none" strike="noStrike">
                        <a:latin typeface="Courier New"/>
                        <a:ea typeface="Courier New"/>
                        <a:cs typeface="Courier New"/>
                        <a:sym typeface="Courier New"/>
                      </a:endParaRPr>
                    </a:p>
                  </a:txBody>
                  <a:tcPr marT="6975" marB="0" marR="0" marL="0">
                    <a:solidFill>
                      <a:srgbClr val="CDDDE1"/>
                    </a:solidFill>
                  </a:tcPr>
                </a:tc>
                <a:tc>
                  <a:txBody>
                    <a:bodyPr/>
                    <a:lstStyle/>
                    <a:p>
                      <a:pPr indent="0" lvl="0" marL="0" marR="0"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p>
                      <a:pPr indent="0" lvl="0" marL="67945" marR="0" rtl="0" algn="l">
                        <a:lnSpc>
                          <a:spcPct val="100000"/>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SECOND,</a:t>
                      </a:r>
                      <a:endParaRPr sz="1800" u="none" cap="none" strike="noStrike">
                        <a:latin typeface="Courier New"/>
                        <a:ea typeface="Courier New"/>
                        <a:cs typeface="Courier New"/>
                        <a:sym typeface="Courier New"/>
                      </a:endParaRPr>
                    </a:p>
                  </a:txBody>
                  <a:tcPr marT="6975" marB="0" marR="0" marL="0">
                    <a:solidFill>
                      <a:srgbClr val="CDDDE1"/>
                    </a:solidFill>
                  </a:tcPr>
                </a:tc>
              </a:tr>
              <a:tr h="293700">
                <a:tc>
                  <a:txBody>
                    <a:bodyPr/>
                    <a:lstStyle/>
                    <a:p>
                      <a:pPr indent="0" lvl="0" marL="136525" marR="0" rtl="0" algn="l">
                        <a:lnSpc>
                          <a:spcPct val="106666"/>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day_duration2</a:t>
                      </a:r>
                      <a:endParaRPr sz="1800" u="none" cap="none" strike="noStrike">
                        <a:latin typeface="Courier New"/>
                        <a:ea typeface="Courier New"/>
                        <a:cs typeface="Courier New"/>
                        <a:sym typeface="Courier New"/>
                      </a:endParaRPr>
                    </a:p>
                  </a:txBody>
                  <a:tcPr marT="0" marB="0" marR="0" marL="0">
                    <a:solidFill>
                      <a:srgbClr val="CDDDE1"/>
                    </a:solidFill>
                  </a:tcPr>
                </a:tc>
                <a:tc>
                  <a:txBody>
                    <a:bodyPr/>
                    <a:lstStyle/>
                    <a:p>
                      <a:pPr indent="0" lvl="0" marL="67310" marR="0" rtl="0" algn="l">
                        <a:lnSpc>
                          <a:spcPct val="106666"/>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INTERVAL</a:t>
                      </a:r>
                      <a:endParaRPr sz="1800" u="none" cap="none" strike="noStrike">
                        <a:latin typeface="Courier New"/>
                        <a:ea typeface="Courier New"/>
                        <a:cs typeface="Courier New"/>
                        <a:sym typeface="Courier New"/>
                      </a:endParaRPr>
                    </a:p>
                  </a:txBody>
                  <a:tcPr marT="0" marB="0" marR="0" marL="0">
                    <a:solidFill>
                      <a:srgbClr val="CDDDE1"/>
                    </a:solidFill>
                  </a:tcPr>
                </a:tc>
                <a:tc>
                  <a:txBody>
                    <a:bodyPr/>
                    <a:lstStyle/>
                    <a:p>
                      <a:pPr indent="0" lvl="0" marL="0" marR="0" rtl="0" algn="ctr">
                        <a:lnSpc>
                          <a:spcPct val="106666"/>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DAY(3)</a:t>
                      </a:r>
                      <a:endParaRPr sz="1800" u="none" cap="none" strike="noStrike">
                        <a:latin typeface="Courier New"/>
                        <a:ea typeface="Courier New"/>
                        <a:cs typeface="Courier New"/>
                        <a:sym typeface="Courier New"/>
                      </a:endParaRPr>
                    </a:p>
                  </a:txBody>
                  <a:tcPr marT="0" marB="0" marR="0" marL="0">
                    <a:solidFill>
                      <a:srgbClr val="CDDDE1"/>
                    </a:solidFill>
                  </a:tcPr>
                </a:tc>
                <a:tc>
                  <a:txBody>
                    <a:bodyPr/>
                    <a:lstStyle/>
                    <a:p>
                      <a:pPr indent="0" lvl="0" marL="0" marR="0" rtl="0" algn="ctr">
                        <a:lnSpc>
                          <a:spcPct val="106666"/>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TO</a:t>
                      </a:r>
                      <a:endParaRPr sz="1800" u="none" cap="none" strike="noStrike">
                        <a:latin typeface="Courier New"/>
                        <a:ea typeface="Courier New"/>
                        <a:cs typeface="Courier New"/>
                        <a:sym typeface="Courier New"/>
                      </a:endParaRPr>
                    </a:p>
                  </a:txBody>
                  <a:tcPr marT="0" marB="0" marR="0" marL="0">
                    <a:solidFill>
                      <a:srgbClr val="CDDDE1"/>
                    </a:solidFill>
                  </a:tcPr>
                </a:tc>
                <a:tc>
                  <a:txBody>
                    <a:bodyPr/>
                    <a:lstStyle/>
                    <a:p>
                      <a:pPr indent="0" lvl="0" marL="66675" marR="0" rtl="0" algn="l">
                        <a:lnSpc>
                          <a:spcPct val="106666"/>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SECOND);</a:t>
                      </a:r>
                      <a:endParaRPr sz="1800" u="none" cap="none" strike="noStrike">
                        <a:latin typeface="Courier New"/>
                        <a:ea typeface="Courier New"/>
                        <a:cs typeface="Courier New"/>
                        <a:sym typeface="Courier New"/>
                      </a:endParaRPr>
                    </a:p>
                  </a:txBody>
                  <a:tcPr marT="0" marB="0" marR="0" marL="0">
                    <a:solidFill>
                      <a:srgbClr val="CDDDE1"/>
                    </a:solidFill>
                  </a:tcPr>
                </a:tc>
              </a:tr>
            </a:tbl>
          </a:graphicData>
        </a:graphic>
      </p:graphicFrame>
      <p:sp>
        <p:nvSpPr>
          <p:cNvPr id="267" name="Google Shape;267;p33"/>
          <p:cNvSpPr/>
          <p:nvPr/>
        </p:nvSpPr>
        <p:spPr>
          <a:xfrm>
            <a:off x="405384" y="3902964"/>
            <a:ext cx="8345805" cy="1143000"/>
          </a:xfrm>
          <a:custGeom>
            <a:rect b="b" l="l" r="r" t="t"/>
            <a:pathLst>
              <a:path extrusionOk="0" h="1143000" w="8345805">
                <a:moveTo>
                  <a:pt x="8345424" y="0"/>
                </a:moveTo>
                <a:lnTo>
                  <a:pt x="0" y="0"/>
                </a:lnTo>
                <a:lnTo>
                  <a:pt x="0" y="1143000"/>
                </a:lnTo>
                <a:lnTo>
                  <a:pt x="8345424" y="1143000"/>
                </a:lnTo>
                <a:lnTo>
                  <a:pt x="8345424" y="0"/>
                </a:lnTo>
                <a:close/>
              </a:path>
            </a:pathLst>
          </a:custGeom>
          <a:solidFill>
            <a:srgbClr val="9DBDC4">
              <a:alpha val="49804"/>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268" name="Google Shape;268;p33"/>
          <p:cNvSpPr txBox="1"/>
          <p:nvPr/>
        </p:nvSpPr>
        <p:spPr>
          <a:xfrm>
            <a:off x="404812" y="3885446"/>
            <a:ext cx="8063865" cy="1122680"/>
          </a:xfrm>
          <a:prstGeom prst="rect">
            <a:avLst/>
          </a:prstGeom>
          <a:noFill/>
          <a:ln>
            <a:noFill/>
          </a:ln>
        </p:spPr>
        <p:txBody>
          <a:bodyPr anchorCtr="0" anchor="t" bIns="0" lIns="0" spcFirstLastPara="1" rIns="0" wrap="square" tIns="12700">
            <a:spAutoFit/>
          </a:bodyPr>
          <a:lstStyle/>
          <a:p>
            <a:pPr indent="-409575" lvl="0" marL="409575" marR="508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SYSDATE + day_duration1 AS	"25 Days from now",  TO_CHAR(SYSDATE + day_duration2, 'dd-Mon-yyyy hh:mi:ss')  AS	"precise days and time from now"</a:t>
            </a:r>
            <a:endParaRPr sz="1800">
              <a:latin typeface="Courier New"/>
              <a:ea typeface="Courier New"/>
              <a:cs typeface="Courier New"/>
              <a:sym typeface="Courier New"/>
            </a:endParaRPr>
          </a:p>
          <a:p>
            <a:pPr indent="0" lvl="0" marL="0"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time_ex5;</a:t>
            </a:r>
            <a:endParaRPr sz="1800">
              <a:latin typeface="Courier New"/>
              <a:ea typeface="Courier New"/>
              <a:cs typeface="Courier New"/>
              <a:sym typeface="Courier New"/>
            </a:endParaRPr>
          </a:p>
        </p:txBody>
      </p:sp>
      <p:sp>
        <p:nvSpPr>
          <p:cNvPr id="269" name="Google Shape;269;p33"/>
          <p:cNvSpPr txBox="1"/>
          <p:nvPr>
            <p:ph idx="10" type="dt"/>
          </p:nvPr>
        </p:nvSpPr>
        <p:spPr>
          <a:xfrm>
            <a:off x="2874191" y="6516395"/>
            <a:ext cx="960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13-2</a:t>
            </a:r>
            <a:endParaRPr/>
          </a:p>
          <a:p>
            <a:pPr indent="0" lvl="0" marL="12700" rtl="0" algn="l">
              <a:lnSpc>
                <a:spcPct val="120624"/>
              </a:lnSpc>
              <a:spcBef>
                <a:spcPts val="0"/>
              </a:spcBef>
              <a:spcAft>
                <a:spcPts val="0"/>
              </a:spcAft>
              <a:buNone/>
            </a:pPr>
            <a:r>
              <a:rPr lang="en-US"/>
              <a:t>Uso de Tipos de Dato</a:t>
            </a:r>
            <a:endParaRPr/>
          </a:p>
        </p:txBody>
      </p:sp>
      <p:sp>
        <p:nvSpPr>
          <p:cNvPr id="270" name="Google Shape;270;p33"/>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71" name="Google Shape;271;p33"/>
          <p:cNvSpPr txBox="1"/>
          <p:nvPr>
            <p:ph idx="12" type="sldNum"/>
          </p:nvPr>
        </p:nvSpPr>
        <p:spPr>
          <a:xfrm>
            <a:off x="8601456" y="6589648"/>
            <a:ext cx="186000" cy="1308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4"/>
          <p:cNvSpPr txBox="1"/>
          <p:nvPr>
            <p:ph type="title"/>
          </p:nvPr>
        </p:nvSpPr>
        <p:spPr>
          <a:xfrm>
            <a:off x="392112" y="748031"/>
            <a:ext cx="2229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Terminología</a:t>
            </a:r>
            <a:endParaRPr/>
          </a:p>
        </p:txBody>
      </p:sp>
      <p:sp>
        <p:nvSpPr>
          <p:cNvPr id="277" name="Google Shape;277;p34"/>
          <p:cNvSpPr txBox="1"/>
          <p:nvPr>
            <p:ph idx="10" type="dt"/>
          </p:nvPr>
        </p:nvSpPr>
        <p:spPr>
          <a:xfrm>
            <a:off x="2874191" y="6516395"/>
            <a:ext cx="960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13-2</a:t>
            </a:r>
            <a:endParaRPr/>
          </a:p>
          <a:p>
            <a:pPr indent="0" lvl="0" marL="12700" rtl="0" algn="l">
              <a:lnSpc>
                <a:spcPct val="120624"/>
              </a:lnSpc>
              <a:spcBef>
                <a:spcPts val="0"/>
              </a:spcBef>
              <a:spcAft>
                <a:spcPts val="0"/>
              </a:spcAft>
              <a:buNone/>
            </a:pPr>
            <a:r>
              <a:rPr lang="en-US"/>
              <a:t>Uso de Tipos de Dato</a:t>
            </a:r>
            <a:endParaRPr/>
          </a:p>
        </p:txBody>
      </p:sp>
      <p:sp>
        <p:nvSpPr>
          <p:cNvPr id="278" name="Google Shape;278;p34"/>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79" name="Google Shape;279;p34"/>
          <p:cNvSpPr txBox="1"/>
          <p:nvPr>
            <p:ph idx="12" type="sldNum"/>
          </p:nvPr>
        </p:nvSpPr>
        <p:spPr>
          <a:xfrm>
            <a:off x="8601456" y="6589648"/>
            <a:ext cx="186000" cy="1308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280" name="Google Shape;280;p34"/>
          <p:cNvSpPr txBox="1"/>
          <p:nvPr/>
        </p:nvSpPr>
        <p:spPr>
          <a:xfrm>
            <a:off x="483552" y="1415417"/>
            <a:ext cx="7705725" cy="3500120"/>
          </a:xfrm>
          <a:prstGeom prst="rect">
            <a:avLst/>
          </a:prstGeom>
          <a:noFill/>
          <a:ln>
            <a:noFill/>
          </a:ln>
        </p:spPr>
        <p:txBody>
          <a:bodyPr anchorCtr="0" anchor="t" bIns="0" lIns="0" spcFirstLastPara="1" rIns="0" wrap="square" tIns="59675">
            <a:spAutoFit/>
          </a:bodyPr>
          <a:lstStyle/>
          <a:p>
            <a:pPr indent="-177800" lvl="0" marL="18542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Entre los términos clave utilizados en esta lección se  incluyen:</a:t>
            </a:r>
            <a:endParaRPr sz="2800">
              <a:latin typeface="Calibri"/>
              <a:ea typeface="Calibri"/>
              <a:cs typeface="Calibri"/>
              <a:sym typeface="Calibri"/>
            </a:endParaRPr>
          </a:p>
          <a:p>
            <a:pPr indent="0" lvl="0" marL="355600" marR="0" rtl="0" algn="l">
              <a:lnSpc>
                <a:spcPct val="100000"/>
              </a:lnSpc>
              <a:spcBef>
                <a:spcPts val="9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CLOB</a:t>
            </a:r>
            <a:endParaRPr sz="2400">
              <a:latin typeface="Calibri"/>
              <a:ea typeface="Calibri"/>
              <a:cs typeface="Calibri"/>
              <a:sym typeface="Calibri"/>
            </a:endParaRPr>
          </a:p>
          <a:p>
            <a:pPr indent="0" lvl="0" marL="355600" marR="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BLOB</a:t>
            </a:r>
            <a:endParaRPr sz="2400">
              <a:latin typeface="Calibri"/>
              <a:ea typeface="Calibri"/>
              <a:cs typeface="Calibri"/>
              <a:sym typeface="Calibri"/>
            </a:endParaRPr>
          </a:p>
          <a:p>
            <a:pPr indent="0" lvl="0" marL="355600" marR="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TIMESTAMP</a:t>
            </a:r>
            <a:endParaRPr sz="2400">
              <a:latin typeface="Calibri"/>
              <a:ea typeface="Calibri"/>
              <a:cs typeface="Calibri"/>
              <a:sym typeface="Calibri"/>
            </a:endParaRPr>
          </a:p>
          <a:p>
            <a:pPr indent="0" lvl="0" marL="355600" marR="0" rtl="0" algn="l">
              <a:lnSpc>
                <a:spcPct val="100000"/>
              </a:lnSpc>
              <a:spcBef>
                <a:spcPts val="12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TIMESTAMP WITH TIMEZONE</a:t>
            </a:r>
            <a:endParaRPr sz="2400">
              <a:latin typeface="Calibri"/>
              <a:ea typeface="Calibri"/>
              <a:cs typeface="Calibri"/>
              <a:sym typeface="Calibri"/>
            </a:endParaRPr>
          </a:p>
          <a:p>
            <a:pPr indent="0" lvl="0" marL="355600" marR="0" rtl="0" algn="l">
              <a:lnSpc>
                <a:spcPct val="100000"/>
              </a:lnSpc>
              <a:spcBef>
                <a:spcPts val="10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TIMESTAMP WITH LOCAL TIMEZONE</a:t>
            </a:r>
            <a:endParaRPr sz="2400">
              <a:latin typeface="Calibri"/>
              <a:ea typeface="Calibri"/>
              <a:cs typeface="Calibri"/>
              <a:sym typeface="Calibri"/>
            </a:endParaRPr>
          </a:p>
          <a:p>
            <a:pPr indent="0" lvl="0" marL="355600" marR="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INTERVAL DAY TO SECOND</a:t>
            </a:r>
            <a:endParaRPr sz="2400">
              <a:latin typeface="Calibri"/>
              <a:ea typeface="Calibri"/>
              <a:cs typeface="Calibri"/>
              <a:sym typeface="Calibri"/>
            </a:endParaRPr>
          </a:p>
          <a:p>
            <a:pPr indent="0" lvl="0" marL="355600" marR="0" rtl="0" algn="l">
              <a:lnSpc>
                <a:spcPct val="100000"/>
              </a:lnSpc>
              <a:spcBef>
                <a:spcPts val="12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INTERVAL DAY TO MONTH</a:t>
            </a:r>
            <a:endParaRPr sz="2400">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5"/>
          <p:cNvSpPr txBox="1"/>
          <p:nvPr>
            <p:ph type="title"/>
          </p:nvPr>
        </p:nvSpPr>
        <p:spPr>
          <a:xfrm>
            <a:off x="392112" y="748031"/>
            <a:ext cx="1602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Resumen</a:t>
            </a:r>
            <a:endParaRPr/>
          </a:p>
        </p:txBody>
      </p:sp>
      <p:sp>
        <p:nvSpPr>
          <p:cNvPr id="286" name="Google Shape;286;p35"/>
          <p:cNvSpPr txBox="1"/>
          <p:nvPr>
            <p:ph idx="10" type="dt"/>
          </p:nvPr>
        </p:nvSpPr>
        <p:spPr>
          <a:xfrm>
            <a:off x="2874191" y="6516395"/>
            <a:ext cx="960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13-2</a:t>
            </a:r>
            <a:endParaRPr/>
          </a:p>
          <a:p>
            <a:pPr indent="0" lvl="0" marL="12700" rtl="0" algn="l">
              <a:lnSpc>
                <a:spcPct val="120624"/>
              </a:lnSpc>
              <a:spcBef>
                <a:spcPts val="0"/>
              </a:spcBef>
              <a:spcAft>
                <a:spcPts val="0"/>
              </a:spcAft>
              <a:buNone/>
            </a:pPr>
            <a:r>
              <a:rPr lang="en-US"/>
              <a:t>Uso de Tipos de Dato</a:t>
            </a:r>
            <a:endParaRPr/>
          </a:p>
        </p:txBody>
      </p:sp>
      <p:sp>
        <p:nvSpPr>
          <p:cNvPr id="287" name="Google Shape;287;p35"/>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88" name="Google Shape;288;p35"/>
          <p:cNvSpPr txBox="1"/>
          <p:nvPr>
            <p:ph idx="12" type="sldNum"/>
          </p:nvPr>
        </p:nvSpPr>
        <p:spPr>
          <a:xfrm>
            <a:off x="8601456" y="6589648"/>
            <a:ext cx="186000" cy="1308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289" name="Google Shape;289;p35"/>
          <p:cNvSpPr txBox="1"/>
          <p:nvPr/>
        </p:nvSpPr>
        <p:spPr>
          <a:xfrm>
            <a:off x="483552" y="1393401"/>
            <a:ext cx="7983220" cy="3644265"/>
          </a:xfrm>
          <a:prstGeom prst="rect">
            <a:avLst/>
          </a:prstGeom>
          <a:noFill/>
          <a:ln>
            <a:noFill/>
          </a:ln>
        </p:spPr>
        <p:txBody>
          <a:bodyPr anchorCtr="0" anchor="t" bIns="0" lIns="0" spcFirstLastPara="1" rIns="0" wrap="square" tIns="34275">
            <a:spAutoFit/>
          </a:bodyPr>
          <a:lstStyle/>
          <a:p>
            <a:pPr indent="-177800" lvl="0" marL="184785" marR="0"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esta lección, ha aprendido lo siguiente:</a:t>
            </a:r>
            <a:endParaRPr sz="2800">
              <a:latin typeface="Calibri"/>
              <a:ea typeface="Calibri"/>
              <a:cs typeface="Calibri"/>
              <a:sym typeface="Calibri"/>
            </a:endParaRPr>
          </a:p>
          <a:p>
            <a:pPr indent="-175260" lvl="0" marL="530860" marR="645160" rtl="0" algn="l">
              <a:lnSpc>
                <a:spcPct val="107916"/>
              </a:lnSpc>
              <a:spcBef>
                <a:spcPts val="47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Crear una tabla utilizando los tipos de dato de columna  TIMESTAMP y TIMESTAMP WITH TIME ZONE</a:t>
            </a:r>
            <a:endParaRPr sz="2400">
              <a:latin typeface="Calibri"/>
              <a:ea typeface="Calibri"/>
              <a:cs typeface="Calibri"/>
              <a:sym typeface="Calibri"/>
            </a:endParaRPr>
          </a:p>
          <a:p>
            <a:pPr indent="-175260" lvl="0" marL="530860" marR="516890"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Crear una tabla utilizando los tipos de dato de columna  INTERVAL YEAR TO MONTH e INTERVAL DAY TO SECOND</a:t>
            </a:r>
            <a:endParaRPr sz="2400">
              <a:latin typeface="Calibri"/>
              <a:ea typeface="Calibri"/>
              <a:cs typeface="Calibri"/>
              <a:sym typeface="Calibri"/>
            </a:endParaRPr>
          </a:p>
          <a:p>
            <a:pPr indent="-175260" lvl="0" marL="530860" marR="76200" rtl="0" algn="just">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Dar ejemplos de organizaciones y situaciones personales en  las que es importante conocer a qué zona horaria se refiere  un valor de fecha y hora</a:t>
            </a:r>
            <a:endParaRPr sz="2400">
              <a:latin typeface="Calibri"/>
              <a:ea typeface="Calibri"/>
              <a:cs typeface="Calibri"/>
              <a:sym typeface="Calibri"/>
            </a:endParaRPr>
          </a:p>
          <a:p>
            <a:pPr indent="-175260" lvl="0" marL="530860" marR="5080" rtl="0" algn="just">
              <a:lnSpc>
                <a:spcPct val="107916"/>
              </a:lnSpc>
              <a:spcBef>
                <a:spcPts val="414"/>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Enumerar y dar un ejemplo de cada uno de los tipos de dato  de número, fecha y carácter</a:t>
            </a:r>
            <a:endParaRPr sz="2400">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