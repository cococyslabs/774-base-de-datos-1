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Lst>
  <p:sldSz cy="68580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 name="Google Shape;66;p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 name="Google Shape;78;p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 name="Google Shape;96;p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 name="Google Shape;105;p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p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 name="Google Shape;123;p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 name="Google Shape;132;p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 name="Google Shape;141;p1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p1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p1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2020-12-17 07:55:52</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Puede utilizar DESCRIBE o su  forma abreviada DESC para ver  descripciones de tablas.</a:t>
            </a:r>
            <a:endParaRPr/>
          </a:p>
        </p:txBody>
      </p:sp>
      <p:sp>
        <p:nvSpPr>
          <p:cNvPr id="168" name="Google Shape;168;p1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p1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p1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p1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p1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0" name="Google Shape;220;p1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2020-12-17 07:55:52</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Las definiciones de columnas se  separan con comas.</a:t>
            </a:r>
            <a:endParaRPr/>
          </a:p>
          <a:p>
            <a:pPr indent="0" lvl="0" marL="0" rtl="0" algn="l">
              <a:spcBef>
                <a:spcPts val="0"/>
              </a:spcBef>
              <a:spcAft>
                <a:spcPts val="0"/>
              </a:spcAft>
              <a:buNone/>
            </a:pPr>
            <a:r>
              <a:rPr lang="en-US"/>
              <a:t>Los tipos de dato se tratan con más  detalle en la siguiente lección.</a:t>
            </a:r>
            <a:endParaRPr/>
          </a:p>
        </p:txBody>
      </p:sp>
      <p:sp>
        <p:nvSpPr>
          <p:cNvPr id="231" name="Google Shape;231;p1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1" name="Google Shape;241;p2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 name="Google Shape;252;p2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7" name="Google Shape;277;p2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2020-12-17 07:55:53</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Las compañías a menudo compran  datos de referencia a fuentes  externas, por ejemplo,  información de marketing sobre  clientes potenciales o archivos  de direcciones con códigos  postales. En lugar de cargar  todos estos datos en la base de  datos, las compañías suelen  dejar los datos en archivos  planos externos a la base de  datos y acceder a ellos como  una tabla externa.</a:t>
            </a:r>
            <a:endParaRPr/>
          </a:p>
        </p:txBody>
      </p:sp>
      <p:sp>
        <p:nvSpPr>
          <p:cNvPr id="306" name="Google Shape;306;p2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5" name="Google Shape;335;p2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4" name="Google Shape;344;p2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2020-12-17 07:55:53</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Esta consulta no se ejecutará en APEX  porque no hay conexión a una  tabla externa .</a:t>
            </a:r>
            <a:endParaRPr/>
          </a:p>
        </p:txBody>
      </p:sp>
      <p:sp>
        <p:nvSpPr>
          <p:cNvPr id="353" name="Google Shape;353;p2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3" name="Google Shape;363;p2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9" name="Google Shape;389;p2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2020-12-17 07:55:54</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Las vistas se describirán más  detalladamente más adelante en el curso.</a:t>
            </a:r>
            <a:endParaRPr/>
          </a:p>
        </p:txBody>
      </p:sp>
      <p:sp>
        <p:nvSpPr>
          <p:cNvPr id="416" name="Google Shape;416;p2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3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2" name="Google Shape;442;p3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p3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9" name="Google Shape;469;p3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3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2020-12-17 07:55:54</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Si no está seguro de la vista del  diccionario de datos que necesita, puede  utilizar SELECT * FROM  DICTIONARY y se devolverá el  nombre de las vistas incluidas en  el diccionario con una  descripción de su contenido.</a:t>
            </a:r>
            <a:endParaRPr/>
          </a:p>
        </p:txBody>
      </p:sp>
      <p:sp>
        <p:nvSpPr>
          <p:cNvPr id="480" name="Google Shape;480;p3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3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1" name="Google Shape;491;p3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p3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0" name="Google Shape;500;p3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992767"/>
            <a:ext cx="8520600" cy="27369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3778833"/>
            <a:ext cx="8520600" cy="10569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867800"/>
            <a:ext cx="8520600" cy="11223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536633"/>
            <a:ext cx="8520600" cy="4555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536633"/>
            <a:ext cx="3999900" cy="4555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536633"/>
            <a:ext cx="3999900" cy="4555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740800"/>
            <a:ext cx="2808000" cy="1007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852800"/>
            <a:ext cx="2808000" cy="42393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600200"/>
            <a:ext cx="6367800" cy="54543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644233"/>
            <a:ext cx="4045200" cy="19764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3737433"/>
            <a:ext cx="4045200" cy="16467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965433"/>
            <a:ext cx="3837000" cy="49269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5640767"/>
            <a:ext cx="5998800" cy="806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4202967"/>
            <a:ext cx="8520600" cy="17343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50" name="Shape 50"/>
        <p:cNvGrpSpPr/>
        <p:nvPr/>
      </p:nvGrpSpPr>
      <p:grpSpPr>
        <a:xfrm>
          <a:off x="0" y="0"/>
          <a:ext cx="0" cy="0"/>
          <a:chOff x="0" y="0"/>
          <a:chExt cx="0" cy="0"/>
        </a:xfrm>
      </p:grpSpPr>
      <p:sp>
        <p:nvSpPr>
          <p:cNvPr id="51" name="Google Shape;51;p13"/>
          <p:cNvSpPr txBox="1"/>
          <p:nvPr>
            <p:ph type="title"/>
          </p:nvPr>
        </p:nvSpPr>
        <p:spPr>
          <a:xfrm>
            <a:off x="392112" y="748031"/>
            <a:ext cx="6926700" cy="5283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2800"/>
              <a:buNone/>
              <a:defRPr b="0" i="0" sz="3300">
                <a:solidFill>
                  <a:srgbClr val="4E3629"/>
                </a:solidFill>
                <a:latin typeface="Calibri"/>
                <a:ea typeface="Calibri"/>
                <a:cs typeface="Calibri"/>
                <a:sym typeface="Calibri"/>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2" name="Google Shape;52;p13"/>
          <p:cNvSpPr txBox="1"/>
          <p:nvPr>
            <p:ph idx="1" type="body"/>
          </p:nvPr>
        </p:nvSpPr>
        <p:spPr>
          <a:xfrm>
            <a:off x="480377" y="1355371"/>
            <a:ext cx="8183100" cy="399150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800"/>
              <a:buNone/>
              <a:defRPr b="0" i="0" sz="2800">
                <a:solidFill>
                  <a:srgbClr val="4E3629"/>
                </a:solidFill>
                <a:latin typeface="Calibri"/>
                <a:ea typeface="Calibri"/>
                <a:cs typeface="Calibri"/>
                <a:sym typeface="Calibri"/>
              </a:defRPr>
            </a:lvl1pPr>
            <a:lvl2pPr indent="-228600" lvl="1" marL="914400" algn="l">
              <a:spcBef>
                <a:spcPts val="1200"/>
              </a:spcBef>
              <a:spcAft>
                <a:spcPts val="0"/>
              </a:spcAft>
              <a:buSzPts val="1400"/>
              <a:buNone/>
              <a:defRPr/>
            </a:lvl2pPr>
            <a:lvl3pPr indent="-228600" lvl="2" marL="1371600" algn="l">
              <a:spcBef>
                <a:spcPts val="1200"/>
              </a:spcBef>
              <a:spcAft>
                <a:spcPts val="0"/>
              </a:spcAft>
              <a:buSzPts val="1400"/>
              <a:buNone/>
              <a:defRPr/>
            </a:lvl3pPr>
            <a:lvl4pPr indent="-228600" lvl="3" marL="1828800" algn="l">
              <a:spcBef>
                <a:spcPts val="1200"/>
              </a:spcBef>
              <a:spcAft>
                <a:spcPts val="0"/>
              </a:spcAft>
              <a:buSzPts val="1400"/>
              <a:buNone/>
              <a:defRPr/>
            </a:lvl4pPr>
            <a:lvl5pPr indent="-228600" lvl="4" marL="2286000" algn="l">
              <a:spcBef>
                <a:spcPts val="1200"/>
              </a:spcBef>
              <a:spcAft>
                <a:spcPts val="0"/>
              </a:spcAft>
              <a:buSzPts val="1400"/>
              <a:buNone/>
              <a:defRPr/>
            </a:lvl5pPr>
            <a:lvl6pPr indent="-228600" lvl="5" marL="2743200" algn="l">
              <a:spcBef>
                <a:spcPts val="1200"/>
              </a:spcBef>
              <a:spcAft>
                <a:spcPts val="0"/>
              </a:spcAft>
              <a:buSzPts val="1400"/>
              <a:buNone/>
              <a:defRPr/>
            </a:lvl6pPr>
            <a:lvl7pPr indent="-228600" lvl="6" marL="3200400" algn="l">
              <a:spcBef>
                <a:spcPts val="1200"/>
              </a:spcBef>
              <a:spcAft>
                <a:spcPts val="0"/>
              </a:spcAft>
              <a:buSzPts val="1400"/>
              <a:buNone/>
              <a:defRPr/>
            </a:lvl7pPr>
            <a:lvl8pPr indent="-228600" lvl="7" marL="3657600" algn="l">
              <a:spcBef>
                <a:spcPts val="1200"/>
              </a:spcBef>
              <a:spcAft>
                <a:spcPts val="0"/>
              </a:spcAft>
              <a:buSzPts val="1400"/>
              <a:buNone/>
              <a:defRPr/>
            </a:lvl8pPr>
            <a:lvl9pPr indent="-228600" lvl="8" marL="4114800" algn="l">
              <a:spcBef>
                <a:spcPts val="1200"/>
              </a:spcBef>
              <a:spcAft>
                <a:spcPts val="1200"/>
              </a:spcAft>
              <a:buSzPts val="1400"/>
              <a:buNone/>
              <a:defRPr/>
            </a:lvl9pPr>
          </a:lstStyle>
          <a:p/>
        </p:txBody>
      </p:sp>
      <p:sp>
        <p:nvSpPr>
          <p:cNvPr id="53" name="Google Shape;53;p13"/>
          <p:cNvSpPr txBox="1"/>
          <p:nvPr>
            <p:ph idx="11" type="ftr"/>
          </p:nvPr>
        </p:nvSpPr>
        <p:spPr>
          <a:xfrm>
            <a:off x="5172119" y="6589648"/>
            <a:ext cx="3222000" cy="1341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850">
                <a:solidFill>
                  <a:srgbClr val="4E3629"/>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13"/>
          <p:cNvSpPr txBox="1"/>
          <p:nvPr>
            <p:ph idx="10" type="dt"/>
          </p:nvPr>
        </p:nvSpPr>
        <p:spPr>
          <a:xfrm>
            <a:off x="2874191" y="6516395"/>
            <a:ext cx="834300" cy="2496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850">
                <a:solidFill>
                  <a:srgbClr val="4E3629"/>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13"/>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lvl1pPr indent="0" lvl="0" marL="38100" marR="0" algn="l">
              <a:lnSpc>
                <a:spcPct val="104500"/>
              </a:lnSpc>
              <a:spcBef>
                <a:spcPts val="0"/>
              </a:spcBef>
              <a:buNone/>
              <a:defRPr b="1" i="0" sz="1000">
                <a:solidFill>
                  <a:srgbClr val="4E3629"/>
                </a:solidFill>
                <a:latin typeface="Calibri"/>
                <a:ea typeface="Calibri"/>
                <a:cs typeface="Calibri"/>
                <a:sym typeface="Calibri"/>
              </a:defRPr>
            </a:lvl1pPr>
            <a:lvl2pPr indent="0" lvl="1" marL="38100" marR="0" algn="l">
              <a:lnSpc>
                <a:spcPct val="104500"/>
              </a:lnSpc>
              <a:spcBef>
                <a:spcPts val="0"/>
              </a:spcBef>
              <a:buNone/>
              <a:defRPr b="1" i="0" sz="1000">
                <a:solidFill>
                  <a:srgbClr val="4E3629"/>
                </a:solidFill>
                <a:latin typeface="Calibri"/>
                <a:ea typeface="Calibri"/>
                <a:cs typeface="Calibri"/>
                <a:sym typeface="Calibri"/>
              </a:defRPr>
            </a:lvl2pPr>
            <a:lvl3pPr indent="0" lvl="2" marL="38100" marR="0" algn="l">
              <a:lnSpc>
                <a:spcPct val="104500"/>
              </a:lnSpc>
              <a:spcBef>
                <a:spcPts val="0"/>
              </a:spcBef>
              <a:buNone/>
              <a:defRPr b="1" i="0" sz="1000">
                <a:solidFill>
                  <a:srgbClr val="4E3629"/>
                </a:solidFill>
                <a:latin typeface="Calibri"/>
                <a:ea typeface="Calibri"/>
                <a:cs typeface="Calibri"/>
                <a:sym typeface="Calibri"/>
              </a:defRPr>
            </a:lvl3pPr>
            <a:lvl4pPr indent="0" lvl="3" marL="38100" marR="0" algn="l">
              <a:lnSpc>
                <a:spcPct val="104500"/>
              </a:lnSpc>
              <a:spcBef>
                <a:spcPts val="0"/>
              </a:spcBef>
              <a:buNone/>
              <a:defRPr b="1" i="0" sz="1000">
                <a:solidFill>
                  <a:srgbClr val="4E3629"/>
                </a:solidFill>
                <a:latin typeface="Calibri"/>
                <a:ea typeface="Calibri"/>
                <a:cs typeface="Calibri"/>
                <a:sym typeface="Calibri"/>
              </a:defRPr>
            </a:lvl4pPr>
            <a:lvl5pPr indent="0" lvl="4" marL="38100" marR="0" algn="l">
              <a:lnSpc>
                <a:spcPct val="104500"/>
              </a:lnSpc>
              <a:spcBef>
                <a:spcPts val="0"/>
              </a:spcBef>
              <a:buNone/>
              <a:defRPr b="1" i="0" sz="1000">
                <a:solidFill>
                  <a:srgbClr val="4E3629"/>
                </a:solidFill>
                <a:latin typeface="Calibri"/>
                <a:ea typeface="Calibri"/>
                <a:cs typeface="Calibri"/>
                <a:sym typeface="Calibri"/>
              </a:defRPr>
            </a:lvl5pPr>
            <a:lvl6pPr indent="0" lvl="5" marL="38100" marR="0" algn="l">
              <a:lnSpc>
                <a:spcPct val="104500"/>
              </a:lnSpc>
              <a:spcBef>
                <a:spcPts val="0"/>
              </a:spcBef>
              <a:buNone/>
              <a:defRPr b="1" i="0" sz="1000">
                <a:solidFill>
                  <a:srgbClr val="4E3629"/>
                </a:solidFill>
                <a:latin typeface="Calibri"/>
                <a:ea typeface="Calibri"/>
                <a:cs typeface="Calibri"/>
                <a:sym typeface="Calibri"/>
              </a:defRPr>
            </a:lvl6pPr>
            <a:lvl7pPr indent="0" lvl="6" marL="38100" marR="0" algn="l">
              <a:lnSpc>
                <a:spcPct val="104500"/>
              </a:lnSpc>
              <a:spcBef>
                <a:spcPts val="0"/>
              </a:spcBef>
              <a:buNone/>
              <a:defRPr b="1" i="0" sz="1000">
                <a:solidFill>
                  <a:srgbClr val="4E3629"/>
                </a:solidFill>
                <a:latin typeface="Calibri"/>
                <a:ea typeface="Calibri"/>
                <a:cs typeface="Calibri"/>
                <a:sym typeface="Calibri"/>
              </a:defRPr>
            </a:lvl7pPr>
            <a:lvl8pPr indent="0" lvl="7" marL="38100" marR="0" algn="l">
              <a:lnSpc>
                <a:spcPct val="104500"/>
              </a:lnSpc>
              <a:spcBef>
                <a:spcPts val="0"/>
              </a:spcBef>
              <a:buNone/>
              <a:defRPr b="1" i="0" sz="1000">
                <a:solidFill>
                  <a:srgbClr val="4E3629"/>
                </a:solidFill>
                <a:latin typeface="Calibri"/>
                <a:ea typeface="Calibri"/>
                <a:cs typeface="Calibri"/>
                <a:sym typeface="Calibri"/>
              </a:defRPr>
            </a:lvl8pPr>
            <a:lvl9pPr indent="0" lvl="8" marL="38100" marR="0" algn="l">
              <a:lnSpc>
                <a:spcPct val="104500"/>
              </a:lnSpc>
              <a:spcBef>
                <a:spcPts val="0"/>
              </a:spcBef>
              <a:buNone/>
              <a:defRPr b="1" i="0" sz="1000">
                <a:solidFill>
                  <a:srgbClr val="4E3629"/>
                </a:solidFill>
                <a:latin typeface="Calibri"/>
                <a:ea typeface="Calibri"/>
                <a:cs typeface="Calibri"/>
                <a:sym typeface="Calibri"/>
              </a:defRPr>
            </a:lvl9pPr>
          </a:lstStyle>
          <a:p>
            <a:pPr indent="0" lvl="0" marL="38100" rtl="0" algn="l">
              <a:spcBef>
                <a:spcPts val="0"/>
              </a:spcBef>
              <a:spcAft>
                <a:spcPts val="0"/>
              </a:spcAft>
              <a:buNone/>
            </a:pPr>
            <a:fld id="{00000000-1234-1234-1234-123412341234}" type="slidenum">
              <a:rPr lang="en-US"/>
              <a:t>‹#›</a:t>
            </a:fld>
            <a:endParaRPr b="0">
              <a:solidFill>
                <a:schemeClr val="dk2"/>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showMasterSp="0" type="obj">
  <p:cSld name="OBJECT">
    <p:bg>
      <p:bgPr>
        <a:solidFill>
          <a:schemeClr val="lt1"/>
        </a:solidFill>
      </p:bgPr>
    </p:bg>
    <p:spTree>
      <p:nvGrpSpPr>
        <p:cNvPr id="56" name="Shape 56"/>
        <p:cNvGrpSpPr/>
        <p:nvPr/>
      </p:nvGrpSpPr>
      <p:grpSpPr>
        <a:xfrm>
          <a:off x="0" y="0"/>
          <a:ext cx="0" cy="0"/>
          <a:chOff x="0" y="0"/>
          <a:chExt cx="0" cy="0"/>
        </a:xfrm>
      </p:grpSpPr>
      <p:sp>
        <p:nvSpPr>
          <p:cNvPr id="57" name="Google Shape;57;p14"/>
          <p:cNvSpPr/>
          <p:nvPr/>
        </p:nvSpPr>
        <p:spPr>
          <a:xfrm>
            <a:off x="0" y="0"/>
            <a:ext cx="9144000" cy="6858000"/>
          </a:xfrm>
          <a:custGeom>
            <a:rect b="b" l="l" r="r" t="t"/>
            <a:pathLst>
              <a:path extrusionOk="0" h="6858000" w="9144000">
                <a:moveTo>
                  <a:pt x="9144000" y="0"/>
                </a:moveTo>
                <a:lnTo>
                  <a:pt x="0" y="0"/>
                </a:lnTo>
                <a:lnTo>
                  <a:pt x="0" y="6858000"/>
                </a:lnTo>
                <a:lnTo>
                  <a:pt x="9144000" y="6858000"/>
                </a:lnTo>
                <a:lnTo>
                  <a:pt x="9144000" y="0"/>
                </a:lnTo>
                <a:close/>
              </a:path>
            </a:pathLst>
          </a:custGeom>
          <a:solidFill>
            <a:srgbClr val="E0E2E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pic>
        <p:nvPicPr>
          <p:cNvPr id="58" name="Google Shape;58;p14"/>
          <p:cNvPicPr preferRelativeResize="0"/>
          <p:nvPr/>
        </p:nvPicPr>
        <p:blipFill rotWithShape="1">
          <a:blip r:embed="rId2">
            <a:alphaModFix/>
          </a:blip>
          <a:srcRect b="0" l="0" r="0" t="0"/>
          <a:stretch/>
        </p:blipFill>
        <p:spPr>
          <a:xfrm>
            <a:off x="192023" y="192023"/>
            <a:ext cx="8759950" cy="914399"/>
          </a:xfrm>
          <a:prstGeom prst="rect">
            <a:avLst/>
          </a:prstGeom>
          <a:noFill/>
          <a:ln>
            <a:noFill/>
          </a:ln>
        </p:spPr>
      </p:pic>
      <p:pic>
        <p:nvPicPr>
          <p:cNvPr id="59" name="Google Shape;59;p14"/>
          <p:cNvPicPr preferRelativeResize="0"/>
          <p:nvPr/>
        </p:nvPicPr>
        <p:blipFill rotWithShape="1">
          <a:blip r:embed="rId3">
            <a:alphaModFix/>
          </a:blip>
          <a:srcRect b="0" l="0" r="0" t="0"/>
          <a:stretch/>
        </p:blipFill>
        <p:spPr>
          <a:xfrm>
            <a:off x="192023" y="5751576"/>
            <a:ext cx="8759950" cy="914399"/>
          </a:xfrm>
          <a:prstGeom prst="rect">
            <a:avLst/>
          </a:prstGeom>
          <a:noFill/>
          <a:ln>
            <a:noFill/>
          </a:ln>
        </p:spPr>
      </p:pic>
      <p:pic>
        <p:nvPicPr>
          <p:cNvPr id="60" name="Google Shape;60;p14"/>
          <p:cNvPicPr preferRelativeResize="0"/>
          <p:nvPr/>
        </p:nvPicPr>
        <p:blipFill rotWithShape="1">
          <a:blip r:embed="rId4">
            <a:alphaModFix/>
          </a:blip>
          <a:srcRect b="0" l="0" r="0" t="0"/>
          <a:stretch/>
        </p:blipFill>
        <p:spPr>
          <a:xfrm>
            <a:off x="1834895" y="2514600"/>
            <a:ext cx="5474207" cy="1828799"/>
          </a:xfrm>
          <a:prstGeom prst="rect">
            <a:avLst/>
          </a:prstGeom>
          <a:noFill/>
          <a:ln>
            <a:noFill/>
          </a:ln>
        </p:spPr>
      </p:pic>
      <p:sp>
        <p:nvSpPr>
          <p:cNvPr id="61" name="Google Shape;61;p14"/>
          <p:cNvSpPr txBox="1"/>
          <p:nvPr>
            <p:ph idx="11" type="ftr"/>
          </p:nvPr>
        </p:nvSpPr>
        <p:spPr>
          <a:xfrm>
            <a:off x="5172119" y="6589648"/>
            <a:ext cx="3222000" cy="1341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850">
                <a:solidFill>
                  <a:srgbClr val="4E3629"/>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14"/>
          <p:cNvSpPr txBox="1"/>
          <p:nvPr>
            <p:ph idx="10" type="dt"/>
          </p:nvPr>
        </p:nvSpPr>
        <p:spPr>
          <a:xfrm>
            <a:off x="2874191" y="6516395"/>
            <a:ext cx="834300" cy="2496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850">
                <a:solidFill>
                  <a:srgbClr val="4E3629"/>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14"/>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lvl1pPr indent="0" lvl="0" marL="38100" marR="0" algn="l">
              <a:lnSpc>
                <a:spcPct val="104500"/>
              </a:lnSpc>
              <a:spcBef>
                <a:spcPts val="0"/>
              </a:spcBef>
              <a:buNone/>
              <a:defRPr b="1" i="0" sz="1000">
                <a:solidFill>
                  <a:srgbClr val="4E3629"/>
                </a:solidFill>
                <a:latin typeface="Calibri"/>
                <a:ea typeface="Calibri"/>
                <a:cs typeface="Calibri"/>
                <a:sym typeface="Calibri"/>
              </a:defRPr>
            </a:lvl1pPr>
            <a:lvl2pPr indent="0" lvl="1" marL="38100" marR="0" algn="l">
              <a:lnSpc>
                <a:spcPct val="104500"/>
              </a:lnSpc>
              <a:spcBef>
                <a:spcPts val="0"/>
              </a:spcBef>
              <a:buNone/>
              <a:defRPr b="1" i="0" sz="1000">
                <a:solidFill>
                  <a:srgbClr val="4E3629"/>
                </a:solidFill>
                <a:latin typeface="Calibri"/>
                <a:ea typeface="Calibri"/>
                <a:cs typeface="Calibri"/>
                <a:sym typeface="Calibri"/>
              </a:defRPr>
            </a:lvl2pPr>
            <a:lvl3pPr indent="0" lvl="2" marL="38100" marR="0" algn="l">
              <a:lnSpc>
                <a:spcPct val="104500"/>
              </a:lnSpc>
              <a:spcBef>
                <a:spcPts val="0"/>
              </a:spcBef>
              <a:buNone/>
              <a:defRPr b="1" i="0" sz="1000">
                <a:solidFill>
                  <a:srgbClr val="4E3629"/>
                </a:solidFill>
                <a:latin typeface="Calibri"/>
                <a:ea typeface="Calibri"/>
                <a:cs typeface="Calibri"/>
                <a:sym typeface="Calibri"/>
              </a:defRPr>
            </a:lvl3pPr>
            <a:lvl4pPr indent="0" lvl="3" marL="38100" marR="0" algn="l">
              <a:lnSpc>
                <a:spcPct val="104500"/>
              </a:lnSpc>
              <a:spcBef>
                <a:spcPts val="0"/>
              </a:spcBef>
              <a:buNone/>
              <a:defRPr b="1" i="0" sz="1000">
                <a:solidFill>
                  <a:srgbClr val="4E3629"/>
                </a:solidFill>
                <a:latin typeface="Calibri"/>
                <a:ea typeface="Calibri"/>
                <a:cs typeface="Calibri"/>
                <a:sym typeface="Calibri"/>
              </a:defRPr>
            </a:lvl4pPr>
            <a:lvl5pPr indent="0" lvl="4" marL="38100" marR="0" algn="l">
              <a:lnSpc>
                <a:spcPct val="104500"/>
              </a:lnSpc>
              <a:spcBef>
                <a:spcPts val="0"/>
              </a:spcBef>
              <a:buNone/>
              <a:defRPr b="1" i="0" sz="1000">
                <a:solidFill>
                  <a:srgbClr val="4E3629"/>
                </a:solidFill>
                <a:latin typeface="Calibri"/>
                <a:ea typeface="Calibri"/>
                <a:cs typeface="Calibri"/>
                <a:sym typeface="Calibri"/>
              </a:defRPr>
            </a:lvl5pPr>
            <a:lvl6pPr indent="0" lvl="5" marL="38100" marR="0" algn="l">
              <a:lnSpc>
                <a:spcPct val="104500"/>
              </a:lnSpc>
              <a:spcBef>
                <a:spcPts val="0"/>
              </a:spcBef>
              <a:buNone/>
              <a:defRPr b="1" i="0" sz="1000">
                <a:solidFill>
                  <a:srgbClr val="4E3629"/>
                </a:solidFill>
                <a:latin typeface="Calibri"/>
                <a:ea typeface="Calibri"/>
                <a:cs typeface="Calibri"/>
                <a:sym typeface="Calibri"/>
              </a:defRPr>
            </a:lvl6pPr>
            <a:lvl7pPr indent="0" lvl="6" marL="38100" marR="0" algn="l">
              <a:lnSpc>
                <a:spcPct val="104500"/>
              </a:lnSpc>
              <a:spcBef>
                <a:spcPts val="0"/>
              </a:spcBef>
              <a:buNone/>
              <a:defRPr b="1" i="0" sz="1000">
                <a:solidFill>
                  <a:srgbClr val="4E3629"/>
                </a:solidFill>
                <a:latin typeface="Calibri"/>
                <a:ea typeface="Calibri"/>
                <a:cs typeface="Calibri"/>
                <a:sym typeface="Calibri"/>
              </a:defRPr>
            </a:lvl7pPr>
            <a:lvl8pPr indent="0" lvl="7" marL="38100" marR="0" algn="l">
              <a:lnSpc>
                <a:spcPct val="104500"/>
              </a:lnSpc>
              <a:spcBef>
                <a:spcPts val="0"/>
              </a:spcBef>
              <a:buNone/>
              <a:defRPr b="1" i="0" sz="1000">
                <a:solidFill>
                  <a:srgbClr val="4E3629"/>
                </a:solidFill>
                <a:latin typeface="Calibri"/>
                <a:ea typeface="Calibri"/>
                <a:cs typeface="Calibri"/>
                <a:sym typeface="Calibri"/>
              </a:defRPr>
            </a:lvl8pPr>
            <a:lvl9pPr indent="0" lvl="8" marL="38100" marR="0" algn="l">
              <a:lnSpc>
                <a:spcPct val="104500"/>
              </a:lnSpc>
              <a:spcBef>
                <a:spcPts val="0"/>
              </a:spcBef>
              <a:buNone/>
              <a:defRPr b="1" i="0" sz="1000">
                <a:solidFill>
                  <a:srgbClr val="4E3629"/>
                </a:solidFill>
                <a:latin typeface="Calibri"/>
                <a:ea typeface="Calibri"/>
                <a:cs typeface="Calibri"/>
                <a:sym typeface="Calibri"/>
              </a:defRPr>
            </a:lvl9pPr>
          </a:lstStyle>
          <a:p>
            <a:pPr indent="0" lvl="0" marL="38100" rtl="0" algn="l">
              <a:spcBef>
                <a:spcPts val="0"/>
              </a:spcBef>
              <a:spcAft>
                <a:spcPts val="0"/>
              </a:spcAft>
              <a:buNone/>
            </a:pPr>
            <a:fld id="{00000000-1234-1234-1234-123412341234}" type="slidenum">
              <a:rPr lang="en-US"/>
              <a:t>‹#›</a:t>
            </a:fld>
            <a:endParaRPr b="0">
              <a:solidFill>
                <a:schemeClr val="dk2"/>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8.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8.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7" name="Shape 67"/>
        <p:cNvGrpSpPr/>
        <p:nvPr/>
      </p:nvGrpSpPr>
      <p:grpSpPr>
        <a:xfrm>
          <a:off x="0" y="0"/>
          <a:ext cx="0" cy="0"/>
          <a:chOff x="0" y="0"/>
          <a:chExt cx="0" cy="0"/>
        </a:xfrm>
      </p:grpSpPr>
      <p:grpSp>
        <p:nvGrpSpPr>
          <p:cNvPr id="68" name="Google Shape;68;p15"/>
          <p:cNvGrpSpPr/>
          <p:nvPr/>
        </p:nvGrpSpPr>
        <p:grpSpPr>
          <a:xfrm>
            <a:off x="0" y="0"/>
            <a:ext cx="9144000" cy="6858000"/>
            <a:chOff x="0" y="0"/>
            <a:chExt cx="9144000" cy="6858000"/>
          </a:xfrm>
        </p:grpSpPr>
        <p:pic>
          <p:nvPicPr>
            <p:cNvPr id="69" name="Google Shape;69;p15"/>
            <p:cNvPicPr preferRelativeResize="0"/>
            <p:nvPr/>
          </p:nvPicPr>
          <p:blipFill rotWithShape="1">
            <a:blip r:embed="rId3">
              <a:alphaModFix/>
            </a:blip>
            <a:srcRect b="0" l="0" r="0" t="0"/>
            <a:stretch/>
          </p:blipFill>
          <p:spPr>
            <a:xfrm>
              <a:off x="0" y="0"/>
              <a:ext cx="9144000" cy="6858000"/>
            </a:xfrm>
            <a:prstGeom prst="rect">
              <a:avLst/>
            </a:prstGeom>
            <a:noFill/>
            <a:ln>
              <a:noFill/>
            </a:ln>
          </p:spPr>
        </p:pic>
        <p:sp>
          <p:nvSpPr>
            <p:cNvPr id="70" name="Google Shape;70;p15"/>
            <p:cNvSpPr/>
            <p:nvPr/>
          </p:nvSpPr>
          <p:spPr>
            <a:xfrm>
              <a:off x="560831" y="702563"/>
              <a:ext cx="8022590" cy="5453380"/>
            </a:xfrm>
            <a:custGeom>
              <a:rect b="b" l="l" r="r" t="t"/>
              <a:pathLst>
                <a:path extrusionOk="0" h="5453380" w="8022590">
                  <a:moveTo>
                    <a:pt x="8022335" y="0"/>
                  </a:moveTo>
                  <a:lnTo>
                    <a:pt x="0" y="0"/>
                  </a:lnTo>
                  <a:lnTo>
                    <a:pt x="0" y="5452872"/>
                  </a:lnTo>
                  <a:lnTo>
                    <a:pt x="8022335" y="5452872"/>
                  </a:lnTo>
                  <a:lnTo>
                    <a:pt x="8022335" y="0"/>
                  </a:lnTo>
                  <a:close/>
                </a:path>
              </a:pathLst>
            </a:custGeom>
            <a:solidFill>
              <a:srgbClr val="E0E2E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pic>
          <p:nvPicPr>
            <p:cNvPr id="71" name="Google Shape;71;p15"/>
            <p:cNvPicPr preferRelativeResize="0"/>
            <p:nvPr/>
          </p:nvPicPr>
          <p:blipFill rotWithShape="1">
            <a:blip r:embed="rId4">
              <a:alphaModFix/>
            </a:blip>
            <a:srcRect b="0" l="0" r="0" t="0"/>
            <a:stretch/>
          </p:blipFill>
          <p:spPr>
            <a:xfrm>
              <a:off x="970787" y="5570219"/>
              <a:ext cx="1258823" cy="420623"/>
            </a:xfrm>
            <a:prstGeom prst="rect">
              <a:avLst/>
            </a:prstGeom>
            <a:noFill/>
            <a:ln>
              <a:noFill/>
            </a:ln>
          </p:spPr>
        </p:pic>
      </p:grpSp>
      <p:sp>
        <p:nvSpPr>
          <p:cNvPr id="72" name="Google Shape;72;p15"/>
          <p:cNvSpPr txBox="1"/>
          <p:nvPr/>
        </p:nvSpPr>
        <p:spPr>
          <a:xfrm>
            <a:off x="5057819" y="6562597"/>
            <a:ext cx="3221990" cy="15557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850">
                <a:solidFill>
                  <a:srgbClr val="FDF0D9"/>
                </a:solidFill>
                <a:latin typeface="Calibri"/>
                <a:ea typeface="Calibri"/>
                <a:cs typeface="Calibri"/>
                <a:sym typeface="Calibri"/>
              </a:rPr>
              <a:t>Copyright © 2020, Oracle y/o sus filiales. Todos los derechos reservados.</a:t>
            </a:r>
            <a:endParaRPr sz="850">
              <a:latin typeface="Calibri"/>
              <a:ea typeface="Calibri"/>
              <a:cs typeface="Calibri"/>
              <a:sym typeface="Calibri"/>
            </a:endParaRPr>
          </a:p>
        </p:txBody>
      </p:sp>
      <p:sp>
        <p:nvSpPr>
          <p:cNvPr id="73" name="Google Shape;73;p15"/>
          <p:cNvSpPr txBox="1"/>
          <p:nvPr>
            <p:ph type="title"/>
          </p:nvPr>
        </p:nvSpPr>
        <p:spPr>
          <a:xfrm>
            <a:off x="958315" y="855591"/>
            <a:ext cx="7046700" cy="1574400"/>
          </a:xfrm>
          <a:prstGeom prst="rect">
            <a:avLst/>
          </a:prstGeom>
          <a:noFill/>
          <a:ln>
            <a:noFill/>
          </a:ln>
        </p:spPr>
        <p:txBody>
          <a:bodyPr anchorCtr="0" anchor="t" bIns="0" lIns="0" spcFirstLastPara="1" rIns="0" wrap="square" tIns="153650">
            <a:spAutoFit/>
          </a:bodyPr>
          <a:lstStyle/>
          <a:p>
            <a:pPr indent="0" lvl="0" marL="12700" marR="5080" rtl="0" algn="l">
              <a:lnSpc>
                <a:spcPct val="96041"/>
              </a:lnSpc>
              <a:spcBef>
                <a:spcPts val="0"/>
              </a:spcBef>
              <a:spcAft>
                <a:spcPts val="0"/>
              </a:spcAft>
              <a:buNone/>
            </a:pPr>
            <a:r>
              <a:rPr lang="en-US" sz="4800"/>
              <a:t>Database Programming with  SQL</a:t>
            </a:r>
            <a:endParaRPr sz="4800"/>
          </a:p>
        </p:txBody>
      </p:sp>
      <p:sp>
        <p:nvSpPr>
          <p:cNvPr id="74" name="Google Shape;74;p15"/>
          <p:cNvSpPr txBox="1"/>
          <p:nvPr/>
        </p:nvSpPr>
        <p:spPr>
          <a:xfrm>
            <a:off x="962879" y="2400950"/>
            <a:ext cx="2343785" cy="888365"/>
          </a:xfrm>
          <a:prstGeom prst="rect">
            <a:avLst/>
          </a:prstGeom>
          <a:noFill/>
          <a:ln>
            <a:noFill/>
          </a:ln>
        </p:spPr>
        <p:txBody>
          <a:bodyPr anchorCtr="0" anchor="t" bIns="0" lIns="0" spcFirstLastPara="1" rIns="0" wrap="square" tIns="78100">
            <a:spAutoFit/>
          </a:bodyPr>
          <a:lstStyle/>
          <a:p>
            <a:pPr indent="0" lvl="0" marL="12700" marR="0" rtl="0" algn="l">
              <a:lnSpc>
                <a:spcPct val="100000"/>
              </a:lnSpc>
              <a:spcBef>
                <a:spcPts val="0"/>
              </a:spcBef>
              <a:spcAft>
                <a:spcPts val="0"/>
              </a:spcAft>
              <a:buNone/>
            </a:pPr>
            <a:r>
              <a:rPr b="1" lang="en-US" sz="2400">
                <a:solidFill>
                  <a:srgbClr val="4E3629"/>
                </a:solidFill>
                <a:latin typeface="Calibri"/>
                <a:ea typeface="Calibri"/>
                <a:cs typeface="Calibri"/>
                <a:sym typeface="Calibri"/>
              </a:rPr>
              <a:t>13-1</a:t>
            </a:r>
            <a:endParaRPr sz="2400">
              <a:latin typeface="Calibri"/>
              <a:ea typeface="Calibri"/>
              <a:cs typeface="Calibri"/>
              <a:sym typeface="Calibri"/>
            </a:endParaRPr>
          </a:p>
          <a:p>
            <a:pPr indent="0" lvl="0" marL="12700" marR="0" rtl="0" algn="l">
              <a:lnSpc>
                <a:spcPct val="100000"/>
              </a:lnSpc>
              <a:spcBef>
                <a:spcPts val="515"/>
              </a:spcBef>
              <a:spcAft>
                <a:spcPts val="0"/>
              </a:spcAft>
              <a:buNone/>
            </a:pPr>
            <a:r>
              <a:rPr b="1" lang="en-US" sz="2400">
                <a:solidFill>
                  <a:srgbClr val="4E3629"/>
                </a:solidFill>
                <a:latin typeface="Calibri"/>
                <a:ea typeface="Calibri"/>
                <a:cs typeface="Calibri"/>
                <a:sym typeface="Calibri"/>
              </a:rPr>
              <a:t>Creación de tablas</a:t>
            </a:r>
            <a:endParaRPr sz="2400">
              <a:latin typeface="Calibri"/>
              <a:ea typeface="Calibri"/>
              <a:cs typeface="Calibri"/>
              <a:sym typeface="Calibri"/>
            </a:endParaRPr>
          </a:p>
        </p:txBody>
      </p:sp>
      <p:pic>
        <p:nvPicPr>
          <p:cNvPr id="75" name="Google Shape;75;p15"/>
          <p:cNvPicPr preferRelativeResize="0"/>
          <p:nvPr/>
        </p:nvPicPr>
        <p:blipFill rotWithShape="1">
          <a:blip r:embed="rId5">
            <a:alphaModFix/>
          </a:blip>
          <a:srcRect b="0" l="0" r="0" t="0"/>
          <a:stretch/>
        </p:blipFill>
        <p:spPr>
          <a:xfrm>
            <a:off x="-290625" y="3486750"/>
            <a:ext cx="3404125" cy="3157075"/>
          </a:xfrm>
          <a:prstGeom prst="rect">
            <a:avLst/>
          </a:prstGeom>
          <a:noFill/>
          <a:ln>
            <a:noFill/>
          </a:ln>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6"/>
          <p:cNvSpPr txBox="1"/>
          <p:nvPr>
            <p:ph type="title"/>
          </p:nvPr>
        </p:nvSpPr>
        <p:spPr>
          <a:xfrm>
            <a:off x="392112" y="748031"/>
            <a:ext cx="1636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Objetivos</a:t>
            </a:r>
            <a:endParaRPr/>
          </a:p>
        </p:txBody>
      </p:sp>
      <p:sp>
        <p:nvSpPr>
          <p:cNvPr id="81" name="Google Shape;81;p16"/>
          <p:cNvSpPr txBox="1"/>
          <p:nvPr>
            <p:ph idx="10" type="dt"/>
          </p:nvPr>
        </p:nvSpPr>
        <p:spPr>
          <a:xfrm>
            <a:off x="2874191" y="6516395"/>
            <a:ext cx="834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13-1</a:t>
            </a:r>
            <a:endParaRPr/>
          </a:p>
          <a:p>
            <a:pPr indent="0" lvl="0" marL="12700" rtl="0" algn="l">
              <a:lnSpc>
                <a:spcPct val="120624"/>
              </a:lnSpc>
              <a:spcBef>
                <a:spcPts val="0"/>
              </a:spcBef>
              <a:spcAft>
                <a:spcPts val="0"/>
              </a:spcAft>
              <a:buNone/>
            </a:pPr>
            <a:r>
              <a:rPr lang="en-US"/>
              <a:t>Creación de tablas</a:t>
            </a:r>
            <a:endParaRPr/>
          </a:p>
        </p:txBody>
      </p:sp>
      <p:sp>
        <p:nvSpPr>
          <p:cNvPr id="82" name="Google Shape;82;p16"/>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83" name="Google Shape;83;p16"/>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84" name="Google Shape;84;p16"/>
          <p:cNvSpPr txBox="1"/>
          <p:nvPr/>
        </p:nvSpPr>
        <p:spPr>
          <a:xfrm>
            <a:off x="483552" y="1393401"/>
            <a:ext cx="8088630" cy="3745229"/>
          </a:xfrm>
          <a:prstGeom prst="rect">
            <a:avLst/>
          </a:prstGeom>
          <a:noFill/>
          <a:ln>
            <a:noFill/>
          </a:ln>
        </p:spPr>
        <p:txBody>
          <a:bodyPr anchorCtr="0" anchor="t" bIns="0" lIns="0" spcFirstLastPara="1" rIns="0" wrap="square" tIns="34275">
            <a:spAutoFit/>
          </a:bodyPr>
          <a:lstStyle/>
          <a:p>
            <a:pPr indent="-177800" lvl="0" marL="184785" marR="0"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esta lección, aprenderá a:</a:t>
            </a:r>
            <a:endParaRPr sz="2800">
              <a:latin typeface="Calibri"/>
              <a:ea typeface="Calibri"/>
              <a:cs typeface="Calibri"/>
              <a:sym typeface="Calibri"/>
            </a:endParaRPr>
          </a:p>
          <a:p>
            <a:pPr indent="0" lvl="0" marL="355600" marR="0" rtl="0" algn="l">
              <a:lnSpc>
                <a:spcPct val="100000"/>
              </a:lnSpc>
              <a:spcBef>
                <a:spcPts val="14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Enumerar y clasificar los principales objetos de base de datos</a:t>
            </a:r>
            <a:endParaRPr sz="2400">
              <a:latin typeface="Calibri"/>
              <a:ea typeface="Calibri"/>
              <a:cs typeface="Calibri"/>
              <a:sym typeface="Calibri"/>
            </a:endParaRPr>
          </a:p>
          <a:p>
            <a:pPr indent="0" lvl="0" marL="355600" marR="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Revisar la estructura de una tabla</a:t>
            </a:r>
            <a:endParaRPr sz="2400">
              <a:latin typeface="Calibri"/>
              <a:ea typeface="Calibri"/>
              <a:cs typeface="Calibri"/>
              <a:sym typeface="Calibri"/>
            </a:endParaRPr>
          </a:p>
          <a:p>
            <a:pPr indent="-175260" lvl="0" marL="530860" marR="555625" rtl="0" algn="l">
              <a:lnSpc>
                <a:spcPct val="107916"/>
              </a:lnSpc>
              <a:spcBef>
                <a:spcPts val="434"/>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Describir cómo la base de datos Oracle utiliza los objetos  de esquema</a:t>
            </a:r>
            <a:endParaRPr sz="2400">
              <a:latin typeface="Calibri"/>
              <a:ea typeface="Calibri"/>
              <a:cs typeface="Calibri"/>
              <a:sym typeface="Calibri"/>
            </a:endParaRPr>
          </a:p>
          <a:p>
            <a:pPr indent="-175260" lvl="0" marL="530860" marR="643890" rtl="0" algn="l">
              <a:lnSpc>
                <a:spcPct val="107916"/>
              </a:lnSpc>
              <a:spcBef>
                <a:spcPts val="409"/>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Crear una tabla mediante el tipo de dato adecuado para  cada columna</a:t>
            </a:r>
            <a:endParaRPr sz="2400">
              <a:latin typeface="Calibri"/>
              <a:ea typeface="Calibri"/>
              <a:cs typeface="Calibri"/>
              <a:sym typeface="Calibri"/>
            </a:endParaRPr>
          </a:p>
          <a:p>
            <a:pPr indent="0" lvl="0" marL="355600" marR="0" rtl="0" algn="l">
              <a:lnSpc>
                <a:spcPct val="100000"/>
              </a:lnSpc>
              <a:spcBef>
                <a:spcPts val="7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Explicar el uso de tablas externas</a:t>
            </a:r>
            <a:endParaRPr sz="2400">
              <a:latin typeface="Calibri"/>
              <a:ea typeface="Calibri"/>
              <a:cs typeface="Calibri"/>
              <a:sym typeface="Calibri"/>
            </a:endParaRPr>
          </a:p>
          <a:p>
            <a:pPr indent="-175260" lvl="0" marL="530860" marR="49530" rtl="0" algn="l">
              <a:lnSpc>
                <a:spcPct val="107916"/>
              </a:lnSpc>
              <a:spcBef>
                <a:spcPts val="434"/>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Consultar el diccionario de datos para obtener los nombres y  otros atributos de objetos de la base de datos</a:t>
            </a:r>
            <a:endParaRPr sz="2400">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7"/>
          <p:cNvSpPr txBox="1"/>
          <p:nvPr>
            <p:ph type="title"/>
          </p:nvPr>
        </p:nvSpPr>
        <p:spPr>
          <a:xfrm>
            <a:off x="392112" y="748031"/>
            <a:ext cx="14727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Objetivo</a:t>
            </a:r>
            <a:endParaRPr/>
          </a:p>
        </p:txBody>
      </p:sp>
      <p:sp>
        <p:nvSpPr>
          <p:cNvPr id="90" name="Google Shape;90;p17"/>
          <p:cNvSpPr txBox="1"/>
          <p:nvPr>
            <p:ph idx="10" type="dt"/>
          </p:nvPr>
        </p:nvSpPr>
        <p:spPr>
          <a:xfrm>
            <a:off x="2874191" y="6516395"/>
            <a:ext cx="834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13-1</a:t>
            </a:r>
            <a:endParaRPr/>
          </a:p>
          <a:p>
            <a:pPr indent="0" lvl="0" marL="12700" rtl="0" algn="l">
              <a:lnSpc>
                <a:spcPct val="120624"/>
              </a:lnSpc>
              <a:spcBef>
                <a:spcPts val="0"/>
              </a:spcBef>
              <a:spcAft>
                <a:spcPts val="0"/>
              </a:spcAft>
              <a:buNone/>
            </a:pPr>
            <a:r>
              <a:rPr lang="en-US"/>
              <a:t>Creación de tablas</a:t>
            </a:r>
            <a:endParaRPr/>
          </a:p>
        </p:txBody>
      </p:sp>
      <p:sp>
        <p:nvSpPr>
          <p:cNvPr id="91" name="Google Shape;91;p17"/>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92" name="Google Shape;92;p17"/>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93" name="Google Shape;93;p17"/>
          <p:cNvSpPr txBox="1"/>
          <p:nvPr/>
        </p:nvSpPr>
        <p:spPr>
          <a:xfrm>
            <a:off x="483552" y="1415417"/>
            <a:ext cx="8120380" cy="3344545"/>
          </a:xfrm>
          <a:prstGeom prst="rect">
            <a:avLst/>
          </a:prstGeom>
          <a:noFill/>
          <a:ln>
            <a:noFill/>
          </a:ln>
        </p:spPr>
        <p:txBody>
          <a:bodyPr anchorCtr="0" anchor="t" bIns="0" lIns="0" spcFirstLastPara="1" rIns="0" wrap="square" tIns="59675">
            <a:spAutoFit/>
          </a:bodyPr>
          <a:lstStyle/>
          <a:p>
            <a:pPr indent="-177800" lvl="0" marL="184785" marR="148590" rtl="0" algn="just">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Hasta ahora, ha seleccionado, actualizado, insertado y  suprimido información en las tablas existentes de una  base de datos</a:t>
            </a:r>
            <a:endParaRPr sz="2800">
              <a:latin typeface="Calibri"/>
              <a:ea typeface="Calibri"/>
              <a:cs typeface="Calibri"/>
              <a:sym typeface="Calibri"/>
            </a:endParaRPr>
          </a:p>
          <a:p>
            <a:pPr indent="-177800" lvl="0" marL="184785" marR="5080" rtl="0" algn="just">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Como administrador de base de datos (DBA), se espera  que sepa también cómo crear tablas</a:t>
            </a:r>
            <a:endParaRPr sz="2800">
              <a:latin typeface="Calibri"/>
              <a:ea typeface="Calibri"/>
              <a:cs typeface="Calibri"/>
              <a:sym typeface="Calibri"/>
            </a:endParaRPr>
          </a:p>
          <a:p>
            <a:pPr indent="-177800" lvl="0" marL="184785" marR="133985"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esta lección, conocerá los objetos de base de datos  que más se utilizan, cómo mirar la estructura de la  tabla y cómo crear tablas nuevas</a:t>
            </a:r>
            <a:endParaRPr sz="2800">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8"/>
          <p:cNvSpPr txBox="1"/>
          <p:nvPr>
            <p:ph type="title"/>
          </p:nvPr>
        </p:nvSpPr>
        <p:spPr>
          <a:xfrm>
            <a:off x="392112" y="748031"/>
            <a:ext cx="14727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Objetivo</a:t>
            </a:r>
            <a:endParaRPr/>
          </a:p>
        </p:txBody>
      </p:sp>
      <p:sp>
        <p:nvSpPr>
          <p:cNvPr id="99" name="Google Shape;99;p18"/>
          <p:cNvSpPr txBox="1"/>
          <p:nvPr>
            <p:ph idx="10" type="dt"/>
          </p:nvPr>
        </p:nvSpPr>
        <p:spPr>
          <a:xfrm>
            <a:off x="2874191" y="6516395"/>
            <a:ext cx="834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13-1</a:t>
            </a:r>
            <a:endParaRPr/>
          </a:p>
          <a:p>
            <a:pPr indent="0" lvl="0" marL="12700" rtl="0" algn="l">
              <a:lnSpc>
                <a:spcPct val="120624"/>
              </a:lnSpc>
              <a:spcBef>
                <a:spcPts val="0"/>
              </a:spcBef>
              <a:spcAft>
                <a:spcPts val="0"/>
              </a:spcAft>
              <a:buNone/>
            </a:pPr>
            <a:r>
              <a:rPr lang="en-US"/>
              <a:t>Creación de tablas</a:t>
            </a:r>
            <a:endParaRPr/>
          </a:p>
        </p:txBody>
      </p:sp>
      <p:sp>
        <p:nvSpPr>
          <p:cNvPr id="100" name="Google Shape;100;p18"/>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01" name="Google Shape;101;p18"/>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02" name="Google Shape;102;p18"/>
          <p:cNvSpPr txBox="1"/>
          <p:nvPr/>
        </p:nvSpPr>
        <p:spPr>
          <a:xfrm>
            <a:off x="483552" y="1415417"/>
            <a:ext cx="8162925" cy="4011295"/>
          </a:xfrm>
          <a:prstGeom prst="rect">
            <a:avLst/>
          </a:prstGeom>
          <a:noFill/>
          <a:ln>
            <a:noFill/>
          </a:ln>
        </p:spPr>
        <p:txBody>
          <a:bodyPr anchorCtr="0" anchor="t" bIns="0" lIns="0" spcFirstLastPara="1" rIns="0" wrap="square" tIns="59675">
            <a:spAutoFit/>
          </a:bodyPr>
          <a:lstStyle/>
          <a:p>
            <a:pPr indent="-177800" lvl="0" marL="184785" marR="70866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Las tablas serán pequeñas en comparación con las  tablas que contienen millones de filas y cientos de  columnas, pero la creación de una tabla pequeña  implica las mismas sentencias SQL y sintaxis que la  creación de una muy grande</a:t>
            </a:r>
            <a:endParaRPr sz="2800">
              <a:latin typeface="Calibri"/>
              <a:ea typeface="Calibri"/>
              <a:cs typeface="Calibri"/>
              <a:sym typeface="Calibri"/>
            </a:endParaRPr>
          </a:p>
          <a:p>
            <a:pPr indent="-177800" lvl="0" marL="184785" marR="5080" rtl="0" algn="l">
              <a:lnSpc>
                <a:spcPct val="108214"/>
              </a:lnSpc>
              <a:spcBef>
                <a:spcPts val="77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También aprenderá sobre las tablas externas, tablas  que son similares en cuanto a estructura a las tablas de  base de datos Oracle normales, pero las filas de datos  reales se almacenan de forma externa un archivo plano  y solo se acceder a ellas cuando es necesario</a:t>
            </a:r>
            <a:endParaRPr sz="2800">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9"/>
          <p:cNvSpPr txBox="1"/>
          <p:nvPr>
            <p:ph type="title"/>
          </p:nvPr>
        </p:nvSpPr>
        <p:spPr>
          <a:xfrm>
            <a:off x="392112" y="748031"/>
            <a:ext cx="69267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Objetos de Esquema de la Base de Datos</a:t>
            </a:r>
            <a:endParaRPr/>
          </a:p>
        </p:txBody>
      </p:sp>
      <p:sp>
        <p:nvSpPr>
          <p:cNvPr id="108" name="Google Shape;108;p19"/>
          <p:cNvSpPr txBox="1"/>
          <p:nvPr>
            <p:ph idx="10" type="dt"/>
          </p:nvPr>
        </p:nvSpPr>
        <p:spPr>
          <a:xfrm>
            <a:off x="2874191" y="6516395"/>
            <a:ext cx="834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13-1</a:t>
            </a:r>
            <a:endParaRPr/>
          </a:p>
          <a:p>
            <a:pPr indent="0" lvl="0" marL="12700" rtl="0" algn="l">
              <a:lnSpc>
                <a:spcPct val="120624"/>
              </a:lnSpc>
              <a:spcBef>
                <a:spcPts val="0"/>
              </a:spcBef>
              <a:spcAft>
                <a:spcPts val="0"/>
              </a:spcAft>
              <a:buNone/>
            </a:pPr>
            <a:r>
              <a:rPr lang="en-US"/>
              <a:t>Creación de tablas</a:t>
            </a:r>
            <a:endParaRPr/>
          </a:p>
        </p:txBody>
      </p:sp>
      <p:sp>
        <p:nvSpPr>
          <p:cNvPr id="109" name="Google Shape;109;p19"/>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10" name="Google Shape;110;p19"/>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11" name="Google Shape;111;p19"/>
          <p:cNvSpPr txBox="1"/>
          <p:nvPr/>
        </p:nvSpPr>
        <p:spPr>
          <a:xfrm>
            <a:off x="483552" y="1415417"/>
            <a:ext cx="8088630" cy="2858770"/>
          </a:xfrm>
          <a:prstGeom prst="rect">
            <a:avLst/>
          </a:prstGeom>
          <a:noFill/>
          <a:ln>
            <a:noFill/>
          </a:ln>
        </p:spPr>
        <p:txBody>
          <a:bodyPr anchorCtr="0" anchor="t" bIns="0" lIns="0" spcFirstLastPara="1" rIns="0" wrap="square" tIns="59675">
            <a:spAutoFit/>
          </a:bodyPr>
          <a:lstStyle/>
          <a:p>
            <a:pPr indent="-177800" lvl="0" marL="184785" marR="63500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Una base de datos Oracle puede contener muchos  tipos distintos de objetos</a:t>
            </a:r>
            <a:endParaRPr sz="2800">
              <a:latin typeface="Calibri"/>
              <a:ea typeface="Calibri"/>
              <a:cs typeface="Calibri"/>
              <a:sym typeface="Calibri"/>
            </a:endParaRPr>
          </a:p>
          <a:p>
            <a:pPr indent="-177800" lvl="0" marL="184785" marR="508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esta sección se presentan los objetos más utilizados  y también se describe cómo Oracle Server utiliza la  información almacenada en el diccionario de datos  cuando realiza el trabajo como resultado de las  sentencias SQL que emita</a:t>
            </a:r>
            <a:endParaRPr sz="280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0"/>
          <p:cNvSpPr txBox="1"/>
          <p:nvPr>
            <p:ph type="title"/>
          </p:nvPr>
        </p:nvSpPr>
        <p:spPr>
          <a:xfrm>
            <a:off x="392112" y="748031"/>
            <a:ext cx="69267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Objetos de Esquema de la Base de Datos</a:t>
            </a:r>
            <a:endParaRPr/>
          </a:p>
        </p:txBody>
      </p:sp>
      <p:sp>
        <p:nvSpPr>
          <p:cNvPr id="117" name="Google Shape;117;p20"/>
          <p:cNvSpPr txBox="1"/>
          <p:nvPr>
            <p:ph idx="10" type="dt"/>
          </p:nvPr>
        </p:nvSpPr>
        <p:spPr>
          <a:xfrm>
            <a:off x="2874191" y="6516395"/>
            <a:ext cx="834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13-1</a:t>
            </a:r>
            <a:endParaRPr/>
          </a:p>
          <a:p>
            <a:pPr indent="0" lvl="0" marL="12700" rtl="0" algn="l">
              <a:lnSpc>
                <a:spcPct val="120624"/>
              </a:lnSpc>
              <a:spcBef>
                <a:spcPts val="0"/>
              </a:spcBef>
              <a:spcAft>
                <a:spcPts val="0"/>
              </a:spcAft>
              <a:buNone/>
            </a:pPr>
            <a:r>
              <a:rPr lang="en-US"/>
              <a:t>Creación de tablas</a:t>
            </a:r>
            <a:endParaRPr/>
          </a:p>
        </p:txBody>
      </p:sp>
      <p:sp>
        <p:nvSpPr>
          <p:cNvPr id="118" name="Google Shape;118;p20"/>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19" name="Google Shape;119;p20"/>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20" name="Google Shape;120;p20"/>
          <p:cNvSpPr txBox="1"/>
          <p:nvPr/>
        </p:nvSpPr>
        <p:spPr>
          <a:xfrm>
            <a:off x="483552" y="1393401"/>
            <a:ext cx="7926070" cy="3623945"/>
          </a:xfrm>
          <a:prstGeom prst="rect">
            <a:avLst/>
          </a:prstGeom>
          <a:noFill/>
          <a:ln>
            <a:noFill/>
          </a:ln>
        </p:spPr>
        <p:txBody>
          <a:bodyPr anchorCtr="0" anchor="t" bIns="0" lIns="0" spcFirstLastPara="1" rIns="0" wrap="square" tIns="34275">
            <a:spAutoFit/>
          </a:bodyPr>
          <a:lstStyle/>
          <a:p>
            <a:pPr indent="-177800" lvl="0" marL="184785" marR="0"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Los principales tipos de objetos de base de datos son:</a:t>
            </a:r>
            <a:endParaRPr sz="2800">
              <a:latin typeface="Calibri"/>
              <a:ea typeface="Calibri"/>
              <a:cs typeface="Calibri"/>
              <a:sym typeface="Calibri"/>
            </a:endParaRPr>
          </a:p>
          <a:p>
            <a:pPr indent="0" lvl="0" marL="355600" marR="0" rtl="0" algn="l">
              <a:lnSpc>
                <a:spcPct val="100000"/>
              </a:lnSpc>
              <a:spcBef>
                <a:spcPts val="14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Tabla</a:t>
            </a:r>
            <a:endParaRPr sz="2400">
              <a:latin typeface="Calibri"/>
              <a:ea typeface="Calibri"/>
              <a:cs typeface="Calibri"/>
              <a:sym typeface="Calibri"/>
            </a:endParaRPr>
          </a:p>
          <a:p>
            <a:pPr indent="0" lvl="0" marL="355600" marR="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Índice de</a:t>
            </a:r>
            <a:endParaRPr sz="2400">
              <a:latin typeface="Calibri"/>
              <a:ea typeface="Calibri"/>
              <a:cs typeface="Calibri"/>
              <a:sym typeface="Calibri"/>
            </a:endParaRPr>
          </a:p>
          <a:p>
            <a:pPr indent="0" lvl="0" marL="355600" marR="0" rtl="0" algn="l">
              <a:lnSpc>
                <a:spcPct val="100000"/>
              </a:lnSpc>
              <a:spcBef>
                <a:spcPts val="10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¿La restricción</a:t>
            </a:r>
            <a:endParaRPr sz="2400">
              <a:latin typeface="Calibri"/>
              <a:ea typeface="Calibri"/>
              <a:cs typeface="Calibri"/>
              <a:sym typeface="Calibri"/>
            </a:endParaRPr>
          </a:p>
          <a:p>
            <a:pPr indent="0" lvl="0" marL="355600" marR="0" rtl="0" algn="l">
              <a:lnSpc>
                <a:spcPct val="100000"/>
              </a:lnSpc>
              <a:spcBef>
                <a:spcPts val="12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Ver</a:t>
            </a:r>
            <a:endParaRPr sz="2400">
              <a:latin typeface="Calibri"/>
              <a:ea typeface="Calibri"/>
              <a:cs typeface="Calibri"/>
              <a:sym typeface="Calibri"/>
            </a:endParaRPr>
          </a:p>
          <a:p>
            <a:pPr indent="0" lvl="0" marL="355600" marR="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Secuencia</a:t>
            </a:r>
            <a:endParaRPr sz="2400">
              <a:latin typeface="Calibri"/>
              <a:ea typeface="Calibri"/>
              <a:cs typeface="Calibri"/>
              <a:sym typeface="Calibri"/>
            </a:endParaRPr>
          </a:p>
          <a:p>
            <a:pPr indent="0" lvl="0" marL="355600" marR="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Sinónimo</a:t>
            </a:r>
            <a:endParaRPr sz="2400">
              <a:latin typeface="Calibri"/>
              <a:ea typeface="Calibri"/>
              <a:cs typeface="Calibri"/>
              <a:sym typeface="Calibri"/>
            </a:endParaRPr>
          </a:p>
          <a:p>
            <a:pPr indent="-177800" lvl="0" marL="184785" marR="327660" rtl="0" algn="l">
              <a:lnSpc>
                <a:spcPct val="108214"/>
              </a:lnSpc>
              <a:spcBef>
                <a:spcPts val="81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Algunos de estos tipos de objetos pueden existir de  forma independiente y otros no pueden</a:t>
            </a:r>
            <a:endParaRPr sz="2800">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1"/>
          <p:cNvSpPr txBox="1"/>
          <p:nvPr>
            <p:ph type="title"/>
          </p:nvPr>
        </p:nvSpPr>
        <p:spPr>
          <a:xfrm>
            <a:off x="392112" y="748031"/>
            <a:ext cx="69267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Objetos de Esquema de la Base de Datos</a:t>
            </a:r>
            <a:endParaRPr/>
          </a:p>
        </p:txBody>
      </p:sp>
      <p:sp>
        <p:nvSpPr>
          <p:cNvPr id="126" name="Google Shape;126;p21"/>
          <p:cNvSpPr txBox="1"/>
          <p:nvPr>
            <p:ph idx="10" type="dt"/>
          </p:nvPr>
        </p:nvSpPr>
        <p:spPr>
          <a:xfrm>
            <a:off x="2874191" y="6516395"/>
            <a:ext cx="834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13-1</a:t>
            </a:r>
            <a:endParaRPr/>
          </a:p>
          <a:p>
            <a:pPr indent="0" lvl="0" marL="12700" rtl="0" algn="l">
              <a:lnSpc>
                <a:spcPct val="120624"/>
              </a:lnSpc>
              <a:spcBef>
                <a:spcPts val="0"/>
              </a:spcBef>
              <a:spcAft>
                <a:spcPts val="0"/>
              </a:spcAft>
              <a:buNone/>
            </a:pPr>
            <a:r>
              <a:rPr lang="en-US"/>
              <a:t>Creación de tablas</a:t>
            </a:r>
            <a:endParaRPr/>
          </a:p>
        </p:txBody>
      </p:sp>
      <p:sp>
        <p:nvSpPr>
          <p:cNvPr id="127" name="Google Shape;127;p21"/>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28" name="Google Shape;128;p21"/>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29" name="Google Shape;129;p21"/>
          <p:cNvSpPr txBox="1"/>
          <p:nvPr/>
        </p:nvSpPr>
        <p:spPr>
          <a:xfrm>
            <a:off x="483552" y="1381889"/>
            <a:ext cx="8069580" cy="4511675"/>
          </a:xfrm>
          <a:prstGeom prst="rect">
            <a:avLst/>
          </a:prstGeom>
          <a:noFill/>
          <a:ln>
            <a:noFill/>
          </a:ln>
        </p:spPr>
        <p:txBody>
          <a:bodyPr anchorCtr="0" anchor="t" bIns="0" lIns="0" spcFirstLastPara="1" rIns="0" wrap="square" tIns="97150">
            <a:spAutoFit/>
          </a:bodyPr>
          <a:lstStyle/>
          <a:p>
            <a:pPr indent="-177800" lvl="0" marL="184785" marR="5080" rtl="0" algn="l">
              <a:lnSpc>
                <a:spcPct val="8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Algunos de los tipos de objetos ocupan espacio, lo que  se denomina almacenamiento, en la base de datos y  otros no</a:t>
            </a:r>
            <a:endParaRPr sz="2800">
              <a:latin typeface="Calibri"/>
              <a:ea typeface="Calibri"/>
              <a:cs typeface="Calibri"/>
              <a:sym typeface="Calibri"/>
            </a:endParaRPr>
          </a:p>
          <a:p>
            <a:pPr indent="-177800" lvl="0" marL="184785" marR="64769" rtl="0" algn="l">
              <a:lnSpc>
                <a:spcPct val="80000"/>
              </a:lnSpc>
              <a:spcBef>
                <a:spcPts val="81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Los objetos de base de datos que ocupan mucho  espacio de almacenamiento se denominan segmentos</a:t>
            </a:r>
            <a:endParaRPr sz="2800">
              <a:latin typeface="Calibri"/>
              <a:ea typeface="Calibri"/>
              <a:cs typeface="Calibri"/>
              <a:sym typeface="Calibri"/>
            </a:endParaRPr>
          </a:p>
          <a:p>
            <a:pPr indent="-177800" lvl="0" marL="184785" marR="78105" rtl="0" algn="just">
              <a:lnSpc>
                <a:spcPct val="80000"/>
              </a:lnSpc>
              <a:spcBef>
                <a:spcPts val="79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Las tablas y los índices son ejemplos de segmentos, ya  que los valores almacenados en las columnas de cada  fila ocupan mucho espacio en el disco físico</a:t>
            </a:r>
            <a:endParaRPr sz="2800">
              <a:latin typeface="Calibri"/>
              <a:ea typeface="Calibri"/>
              <a:cs typeface="Calibri"/>
              <a:sym typeface="Calibri"/>
            </a:endParaRPr>
          </a:p>
          <a:p>
            <a:pPr indent="-177800" lvl="0" marL="184785" marR="109855" rtl="0" algn="l">
              <a:lnSpc>
                <a:spcPct val="80000"/>
              </a:lnSpc>
              <a:spcBef>
                <a:spcPts val="80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Las vistas, restricciones, secuencias y sinónimos  también son objetos, pero el único espacio que  necesitan en la base de datos está en la definición del  objeto: ninguno de ellos tiene filas de datos asociadas</a:t>
            </a:r>
            <a:endParaRPr sz="2800">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2"/>
          <p:cNvSpPr txBox="1"/>
          <p:nvPr>
            <p:ph type="title"/>
          </p:nvPr>
        </p:nvSpPr>
        <p:spPr>
          <a:xfrm>
            <a:off x="392112" y="748031"/>
            <a:ext cx="69267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Objetos de Esquema de la Base de Datos</a:t>
            </a:r>
            <a:endParaRPr/>
          </a:p>
        </p:txBody>
      </p:sp>
      <p:sp>
        <p:nvSpPr>
          <p:cNvPr id="135" name="Google Shape;135;p22"/>
          <p:cNvSpPr txBox="1"/>
          <p:nvPr>
            <p:ph idx="10" type="dt"/>
          </p:nvPr>
        </p:nvSpPr>
        <p:spPr>
          <a:xfrm>
            <a:off x="2874191" y="6516395"/>
            <a:ext cx="834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13-1</a:t>
            </a:r>
            <a:endParaRPr/>
          </a:p>
          <a:p>
            <a:pPr indent="0" lvl="0" marL="12700" rtl="0" algn="l">
              <a:lnSpc>
                <a:spcPct val="120624"/>
              </a:lnSpc>
              <a:spcBef>
                <a:spcPts val="0"/>
              </a:spcBef>
              <a:spcAft>
                <a:spcPts val="0"/>
              </a:spcAft>
              <a:buNone/>
            </a:pPr>
            <a:r>
              <a:rPr lang="en-US"/>
              <a:t>Creación de tablas</a:t>
            </a:r>
            <a:endParaRPr/>
          </a:p>
        </p:txBody>
      </p:sp>
      <p:sp>
        <p:nvSpPr>
          <p:cNvPr id="136" name="Google Shape;136;p22"/>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37" name="Google Shape;137;p22"/>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38" name="Google Shape;138;p22"/>
          <p:cNvSpPr txBox="1"/>
          <p:nvPr/>
        </p:nvSpPr>
        <p:spPr>
          <a:xfrm>
            <a:off x="483552" y="1387985"/>
            <a:ext cx="8168005" cy="4214495"/>
          </a:xfrm>
          <a:prstGeom prst="rect">
            <a:avLst/>
          </a:prstGeom>
          <a:noFill/>
          <a:ln>
            <a:noFill/>
          </a:ln>
        </p:spPr>
        <p:txBody>
          <a:bodyPr anchorCtr="0" anchor="t" bIns="0" lIns="0" spcFirstLastPara="1" rIns="0" wrap="square" tIns="89525">
            <a:spAutoFit/>
          </a:bodyPr>
          <a:lstStyle/>
          <a:p>
            <a:pPr indent="-172720" lvl="0" marL="184785" marR="154305" rtl="0" algn="l">
              <a:lnSpc>
                <a:spcPct val="96153"/>
              </a:lnSpc>
              <a:spcBef>
                <a:spcPts val="0"/>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La base de datos almacena las definiciones de todos los  objetos de base de datos en el diccionario de datos y estas  definiciones están accesibles para todos los usuarios de la  base de datos así como para la base de datos en sí</a:t>
            </a:r>
            <a:endParaRPr sz="2600">
              <a:latin typeface="Calibri"/>
              <a:ea typeface="Calibri"/>
              <a:cs typeface="Calibri"/>
              <a:sym typeface="Calibri"/>
            </a:endParaRPr>
          </a:p>
          <a:p>
            <a:pPr indent="-172720" lvl="0" marL="184785" marR="935355" rtl="0" algn="l">
              <a:lnSpc>
                <a:spcPct val="96153"/>
              </a:lnSpc>
              <a:spcBef>
                <a:spcPts val="785"/>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¿Se ha preguntado alguna vez cómo sabe Oracle qué  columnas devolver de una consulta?</a:t>
            </a:r>
            <a:endParaRPr sz="2600">
              <a:latin typeface="Calibri"/>
              <a:ea typeface="Calibri"/>
              <a:cs typeface="Calibri"/>
              <a:sym typeface="Calibri"/>
            </a:endParaRPr>
          </a:p>
          <a:p>
            <a:pPr indent="-172085" lvl="0" marL="184150" marR="5080" rtl="0" algn="l">
              <a:lnSpc>
                <a:spcPct val="96153"/>
              </a:lnSpc>
              <a:spcBef>
                <a:spcPts val="785"/>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Por ejemplo, si especifica SELECT * FROM jobs en lugar de  SELECT job_id, job_title FROM jobs, ¿cómo sabe Oracle qué  columnas devolver?</a:t>
            </a:r>
            <a:endParaRPr sz="2600">
              <a:latin typeface="Calibri"/>
              <a:ea typeface="Calibri"/>
              <a:cs typeface="Calibri"/>
              <a:sym typeface="Calibri"/>
            </a:endParaRPr>
          </a:p>
          <a:p>
            <a:pPr indent="-172720" lvl="0" marL="184785" marR="15240" rtl="0" algn="l">
              <a:lnSpc>
                <a:spcPct val="96153"/>
              </a:lnSpc>
              <a:spcBef>
                <a:spcPts val="790"/>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La base de datos busca la definición de la tabla utilizada en  la consulta, traduce el "*" en la lista completa de columnas,  y devuelve el resultado</a:t>
            </a:r>
            <a:endParaRPr sz="2600">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3"/>
          <p:cNvSpPr txBox="1"/>
          <p:nvPr>
            <p:ph type="title"/>
          </p:nvPr>
        </p:nvSpPr>
        <p:spPr>
          <a:xfrm>
            <a:off x="392112" y="748031"/>
            <a:ext cx="69267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Objetos de Esquema de la Base de Datos</a:t>
            </a:r>
            <a:endParaRPr/>
          </a:p>
        </p:txBody>
      </p:sp>
      <p:sp>
        <p:nvSpPr>
          <p:cNvPr id="144" name="Google Shape;144;p23"/>
          <p:cNvSpPr txBox="1"/>
          <p:nvPr>
            <p:ph idx="10" type="dt"/>
          </p:nvPr>
        </p:nvSpPr>
        <p:spPr>
          <a:xfrm>
            <a:off x="2874191" y="6516395"/>
            <a:ext cx="834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13-1</a:t>
            </a:r>
            <a:endParaRPr/>
          </a:p>
          <a:p>
            <a:pPr indent="0" lvl="0" marL="12700" rtl="0" algn="l">
              <a:lnSpc>
                <a:spcPct val="120624"/>
              </a:lnSpc>
              <a:spcBef>
                <a:spcPts val="0"/>
              </a:spcBef>
              <a:spcAft>
                <a:spcPts val="0"/>
              </a:spcAft>
              <a:buNone/>
            </a:pPr>
            <a:r>
              <a:rPr lang="en-US"/>
              <a:t>Creación de tablas</a:t>
            </a:r>
            <a:endParaRPr/>
          </a:p>
        </p:txBody>
      </p:sp>
      <p:sp>
        <p:nvSpPr>
          <p:cNvPr id="145" name="Google Shape;145;p23"/>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46" name="Google Shape;146;p23"/>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47" name="Google Shape;147;p23"/>
          <p:cNvSpPr txBox="1"/>
          <p:nvPr/>
        </p:nvSpPr>
        <p:spPr>
          <a:xfrm>
            <a:off x="483552" y="1415417"/>
            <a:ext cx="8032750" cy="4395470"/>
          </a:xfrm>
          <a:prstGeom prst="rect">
            <a:avLst/>
          </a:prstGeom>
          <a:noFill/>
          <a:ln>
            <a:noFill/>
          </a:ln>
        </p:spPr>
        <p:txBody>
          <a:bodyPr anchorCtr="0" anchor="t" bIns="0" lIns="0" spcFirstLastPara="1" rIns="0" wrap="square" tIns="59675">
            <a:spAutoFit/>
          </a:bodyPr>
          <a:lstStyle/>
          <a:p>
            <a:pPr indent="-177800" lvl="0" marL="184785" marR="163195"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base de datos utiliza el diccionario de datos para  todas las sentencias que emita, incluso aunque  enumere los nombres de columna en lugar de utilizar  "*"</a:t>
            </a:r>
            <a:endParaRPr sz="2800">
              <a:latin typeface="Calibri"/>
              <a:ea typeface="Calibri"/>
              <a:cs typeface="Calibri"/>
              <a:sym typeface="Calibri"/>
            </a:endParaRPr>
          </a:p>
          <a:p>
            <a:pPr indent="-177800" lvl="0" marL="184785" marR="5080" rtl="0" algn="l">
              <a:lnSpc>
                <a:spcPct val="108214"/>
              </a:lnSpc>
              <a:spcBef>
                <a:spcPts val="78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Comprueba que las tablas a las que hace referencia en  la sentencia existen en la base de datos, comprueba  que los nombres de columna son correctos,  comprueba si tiene los privilegios correctos para  realizar la acción que está solicitando y, finalmente,  utiliza el diccionario de datos para decidir el plan de  ejecución, cómo realizará en realidad la solicitud</a:t>
            </a:r>
            <a:endParaRPr sz="2800">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4"/>
          <p:cNvSpPr txBox="1"/>
          <p:nvPr>
            <p:ph type="title"/>
          </p:nvPr>
        </p:nvSpPr>
        <p:spPr>
          <a:xfrm>
            <a:off x="392112" y="748031"/>
            <a:ext cx="69267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Objetos de Esquema de la Base de Datos</a:t>
            </a:r>
            <a:endParaRPr/>
          </a:p>
        </p:txBody>
      </p:sp>
      <p:sp>
        <p:nvSpPr>
          <p:cNvPr id="153" name="Google Shape;153;p24"/>
          <p:cNvSpPr txBox="1"/>
          <p:nvPr>
            <p:ph idx="10" type="dt"/>
          </p:nvPr>
        </p:nvSpPr>
        <p:spPr>
          <a:xfrm>
            <a:off x="2874191" y="6516395"/>
            <a:ext cx="834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13-1</a:t>
            </a:r>
            <a:endParaRPr/>
          </a:p>
          <a:p>
            <a:pPr indent="0" lvl="0" marL="12700" rtl="0" algn="l">
              <a:lnSpc>
                <a:spcPct val="120624"/>
              </a:lnSpc>
              <a:spcBef>
                <a:spcPts val="0"/>
              </a:spcBef>
              <a:spcAft>
                <a:spcPts val="0"/>
              </a:spcAft>
              <a:buNone/>
            </a:pPr>
            <a:r>
              <a:rPr lang="en-US"/>
              <a:t>Creación de tablas</a:t>
            </a:r>
            <a:endParaRPr/>
          </a:p>
        </p:txBody>
      </p:sp>
      <p:sp>
        <p:nvSpPr>
          <p:cNvPr id="154" name="Google Shape;154;p24"/>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55" name="Google Shape;155;p24"/>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56" name="Google Shape;156;p24"/>
          <p:cNvSpPr txBox="1"/>
          <p:nvPr/>
        </p:nvSpPr>
        <p:spPr>
          <a:xfrm>
            <a:off x="483552" y="1415417"/>
            <a:ext cx="8183245" cy="2090420"/>
          </a:xfrm>
          <a:prstGeom prst="rect">
            <a:avLst/>
          </a:prstGeom>
          <a:noFill/>
          <a:ln>
            <a:noFill/>
          </a:ln>
        </p:spPr>
        <p:txBody>
          <a:bodyPr anchorCtr="0" anchor="t" bIns="0" lIns="0" spcFirstLastPara="1" rIns="0" wrap="square" tIns="59675">
            <a:spAutoFit/>
          </a:bodyPr>
          <a:lstStyle/>
          <a:p>
            <a:pPr indent="-177800" lvl="0" marL="184785" marR="132969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Todos los usuarios de la base de datos pueden  consultar el diccionario de datos</a:t>
            </a:r>
            <a:endParaRPr sz="2800">
              <a:latin typeface="Calibri"/>
              <a:ea typeface="Calibri"/>
              <a:cs typeface="Calibri"/>
              <a:sym typeface="Calibri"/>
            </a:endParaRPr>
          </a:p>
          <a:p>
            <a:pPr indent="-177800" lvl="0" marL="184785" marR="508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Application Express, se puede acceder a él mediante  sentencias SQL en la interfaz SQL Workshop&gt; SQL  Commands</a:t>
            </a:r>
            <a:endParaRPr sz="2800">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5"/>
          <p:cNvSpPr txBox="1"/>
          <p:nvPr>
            <p:ph type="title"/>
          </p:nvPr>
        </p:nvSpPr>
        <p:spPr>
          <a:xfrm>
            <a:off x="392112" y="748031"/>
            <a:ext cx="69267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Objetos de Esquema de la Base de Datos</a:t>
            </a:r>
            <a:endParaRPr/>
          </a:p>
        </p:txBody>
      </p:sp>
      <p:sp>
        <p:nvSpPr>
          <p:cNvPr id="162" name="Google Shape;162;p25"/>
          <p:cNvSpPr txBox="1"/>
          <p:nvPr>
            <p:ph idx="10" type="dt"/>
          </p:nvPr>
        </p:nvSpPr>
        <p:spPr>
          <a:xfrm>
            <a:off x="2874191" y="6516395"/>
            <a:ext cx="834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13-1</a:t>
            </a:r>
            <a:endParaRPr/>
          </a:p>
          <a:p>
            <a:pPr indent="0" lvl="0" marL="12700" rtl="0" algn="l">
              <a:lnSpc>
                <a:spcPct val="120624"/>
              </a:lnSpc>
              <a:spcBef>
                <a:spcPts val="0"/>
              </a:spcBef>
              <a:spcAft>
                <a:spcPts val="0"/>
              </a:spcAft>
              <a:buNone/>
            </a:pPr>
            <a:r>
              <a:rPr lang="en-US"/>
              <a:t>Creación de tablas</a:t>
            </a:r>
            <a:endParaRPr/>
          </a:p>
        </p:txBody>
      </p:sp>
      <p:sp>
        <p:nvSpPr>
          <p:cNvPr id="163" name="Google Shape;163;p25"/>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64" name="Google Shape;164;p25"/>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65" name="Google Shape;165;p25"/>
          <p:cNvSpPr txBox="1"/>
          <p:nvPr/>
        </p:nvSpPr>
        <p:spPr>
          <a:xfrm>
            <a:off x="483552" y="1415417"/>
            <a:ext cx="8181975" cy="4112895"/>
          </a:xfrm>
          <a:prstGeom prst="rect">
            <a:avLst/>
          </a:prstGeom>
          <a:noFill/>
          <a:ln>
            <a:noFill/>
          </a:ln>
        </p:spPr>
        <p:txBody>
          <a:bodyPr anchorCtr="0" anchor="t" bIns="0" lIns="0" spcFirstLastPara="1" rIns="0" wrap="square" tIns="59675">
            <a:spAutoFit/>
          </a:bodyPr>
          <a:lstStyle/>
          <a:p>
            <a:pPr indent="-177800" lvl="0" marL="184785" marR="10795" rtl="0" algn="just">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la ventana SQL Commands, debe saber los nombres  de la tabla que consulta y en la interfaz Object Browser,  solo tiene que hacer clic en los objetos mostrados para  ver sus detalles</a:t>
            </a:r>
            <a:endParaRPr sz="2800">
              <a:latin typeface="Calibri"/>
              <a:ea typeface="Calibri"/>
              <a:cs typeface="Calibri"/>
              <a:sym typeface="Calibri"/>
            </a:endParaRPr>
          </a:p>
          <a:p>
            <a:pPr indent="-177800" lvl="0" marL="184785" marR="659765" rtl="0" algn="l">
              <a:lnSpc>
                <a:spcPct val="108214"/>
              </a:lnSpc>
              <a:spcBef>
                <a:spcPts val="78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 desea ver los detalles de una tabla, simplemente  haga clic en su título en la lista de la tabla</a:t>
            </a:r>
            <a:endParaRPr sz="2800">
              <a:latin typeface="Calibri"/>
              <a:ea typeface="Calibri"/>
              <a:cs typeface="Calibri"/>
              <a:sym typeface="Calibri"/>
            </a:endParaRPr>
          </a:p>
          <a:p>
            <a:pPr indent="-177800" lvl="0" marL="184785" marR="508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Con el Explorador de objetos, puede ver los detalles de  las tablas, así como las opciones para ver los datos,  índices, restricciones, concesiones y otros detalles de la  tabla</a:t>
            </a:r>
            <a:endParaRPr sz="2800">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grpSp>
        <p:nvGrpSpPr>
          <p:cNvPr id="170" name="Google Shape;170;p26"/>
          <p:cNvGrpSpPr/>
          <p:nvPr/>
        </p:nvGrpSpPr>
        <p:grpSpPr>
          <a:xfrm>
            <a:off x="1088135" y="3636263"/>
            <a:ext cx="6967855" cy="2512060"/>
            <a:chOff x="1088135" y="3636263"/>
            <a:chExt cx="6967855" cy="2512060"/>
          </a:xfrm>
        </p:grpSpPr>
        <p:pic>
          <p:nvPicPr>
            <p:cNvPr id="171" name="Google Shape;171;p26"/>
            <p:cNvPicPr preferRelativeResize="0"/>
            <p:nvPr/>
          </p:nvPicPr>
          <p:blipFill rotWithShape="1">
            <a:blip r:embed="rId3">
              <a:alphaModFix/>
            </a:blip>
            <a:srcRect b="0" l="0" r="0" t="0"/>
            <a:stretch/>
          </p:blipFill>
          <p:spPr>
            <a:xfrm>
              <a:off x="1092707" y="3640836"/>
              <a:ext cx="6958583" cy="2502407"/>
            </a:xfrm>
            <a:prstGeom prst="rect">
              <a:avLst/>
            </a:prstGeom>
            <a:noFill/>
            <a:ln>
              <a:noFill/>
            </a:ln>
          </p:spPr>
        </p:pic>
        <p:sp>
          <p:nvSpPr>
            <p:cNvPr id="172" name="Google Shape;172;p26"/>
            <p:cNvSpPr/>
            <p:nvPr/>
          </p:nvSpPr>
          <p:spPr>
            <a:xfrm>
              <a:off x="1088135" y="3636263"/>
              <a:ext cx="6967855" cy="2512060"/>
            </a:xfrm>
            <a:custGeom>
              <a:rect b="b" l="l" r="r" t="t"/>
              <a:pathLst>
                <a:path extrusionOk="0" h="2512060" w="6967855">
                  <a:moveTo>
                    <a:pt x="0" y="0"/>
                  </a:moveTo>
                  <a:lnTo>
                    <a:pt x="6967727" y="0"/>
                  </a:lnTo>
                  <a:lnTo>
                    <a:pt x="6967727" y="2511552"/>
                  </a:lnTo>
                  <a:lnTo>
                    <a:pt x="0" y="2511552"/>
                  </a:lnTo>
                  <a:lnTo>
                    <a:pt x="0" y="0"/>
                  </a:lnTo>
                  <a:close/>
                </a:path>
              </a:pathLst>
            </a:custGeom>
            <a:noFill/>
            <a:ln cap="flat" cmpd="sng" w="9525">
              <a:solidFill>
                <a:srgbClr val="4E3629"/>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grpSp>
      <p:sp>
        <p:nvSpPr>
          <p:cNvPr id="173" name="Google Shape;173;p26"/>
          <p:cNvSpPr txBox="1"/>
          <p:nvPr>
            <p:ph type="title"/>
          </p:nvPr>
        </p:nvSpPr>
        <p:spPr>
          <a:xfrm>
            <a:off x="392112" y="748031"/>
            <a:ext cx="69267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Objetos de Esquema de la Base de Datos</a:t>
            </a:r>
            <a:endParaRPr/>
          </a:p>
        </p:txBody>
      </p:sp>
      <p:sp>
        <p:nvSpPr>
          <p:cNvPr id="174" name="Google Shape;174;p26"/>
          <p:cNvSpPr txBox="1"/>
          <p:nvPr>
            <p:ph idx="10" type="dt"/>
          </p:nvPr>
        </p:nvSpPr>
        <p:spPr>
          <a:xfrm>
            <a:off x="2874191" y="6516395"/>
            <a:ext cx="834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13-1</a:t>
            </a:r>
            <a:endParaRPr/>
          </a:p>
          <a:p>
            <a:pPr indent="0" lvl="0" marL="12700" rtl="0" algn="l">
              <a:lnSpc>
                <a:spcPct val="120624"/>
              </a:lnSpc>
              <a:spcBef>
                <a:spcPts val="0"/>
              </a:spcBef>
              <a:spcAft>
                <a:spcPts val="0"/>
              </a:spcAft>
              <a:buNone/>
            </a:pPr>
            <a:r>
              <a:rPr lang="en-US"/>
              <a:t>Creación de tablas</a:t>
            </a:r>
            <a:endParaRPr/>
          </a:p>
        </p:txBody>
      </p:sp>
      <p:sp>
        <p:nvSpPr>
          <p:cNvPr id="175" name="Google Shape;175;p26"/>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76" name="Google Shape;176;p26"/>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77" name="Google Shape;177;p26"/>
          <p:cNvSpPr txBox="1"/>
          <p:nvPr/>
        </p:nvSpPr>
        <p:spPr>
          <a:xfrm>
            <a:off x="483552" y="1415417"/>
            <a:ext cx="8057515" cy="1706245"/>
          </a:xfrm>
          <a:prstGeom prst="rect">
            <a:avLst/>
          </a:prstGeom>
          <a:noFill/>
          <a:ln>
            <a:noFill/>
          </a:ln>
        </p:spPr>
        <p:txBody>
          <a:bodyPr anchorCtr="0" anchor="t" bIns="0" lIns="0" spcFirstLastPara="1" rIns="0" wrap="square" tIns="59675">
            <a:spAutoFit/>
          </a:bodyPr>
          <a:lstStyle/>
          <a:p>
            <a:pPr indent="-177800" lvl="0" marL="184785" marR="448945"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Mediante la ventana SQL Commands, debe solicitar  una DESCripción de la tabla</a:t>
            </a:r>
            <a:endParaRPr sz="2800">
              <a:latin typeface="Calibri"/>
              <a:ea typeface="Calibri"/>
              <a:cs typeface="Calibri"/>
              <a:sym typeface="Calibri"/>
            </a:endParaRPr>
          </a:p>
          <a:p>
            <a:pPr indent="-177800" lvl="0" marL="184785" marR="508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Ninguna de las opciones adicionales que ofrece Object  Browser está disponible en esta interfaz</a:t>
            </a:r>
            <a:endParaRPr sz="2800">
              <a:latin typeface="Calibri"/>
              <a:ea typeface="Calibri"/>
              <a:cs typeface="Calibri"/>
              <a:sym typeface="Calibri"/>
            </a:endParaRPr>
          </a:p>
        </p:txBody>
      </p:sp>
      <p:sp>
        <p:nvSpPr>
          <p:cNvPr id="178" name="Google Shape;178;p26"/>
          <p:cNvSpPr txBox="1"/>
          <p:nvPr/>
        </p:nvSpPr>
        <p:spPr>
          <a:xfrm>
            <a:off x="393191" y="3208020"/>
            <a:ext cx="8345805" cy="347980"/>
          </a:xfrm>
          <a:prstGeom prst="rect">
            <a:avLst/>
          </a:prstGeom>
          <a:solidFill>
            <a:srgbClr val="9DBEC4">
              <a:alpha val="49804"/>
            </a:srgbClr>
          </a:solidFill>
          <a:ln>
            <a:noFill/>
          </a:ln>
        </p:spPr>
        <p:txBody>
          <a:bodyPr anchorCtr="0" anchor="t" bIns="0" lIns="0" spcFirstLastPara="1" rIns="0" wrap="square" tIns="8875">
            <a:spAutoFit/>
          </a:bodyPr>
          <a:lstStyle/>
          <a:p>
            <a:pPr indent="0" lvl="0" marL="136525" marR="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DESCRIBE	jobs;</a:t>
            </a:r>
            <a:endParaRPr sz="1800">
              <a:latin typeface="Courier New"/>
              <a:ea typeface="Courier New"/>
              <a:cs typeface="Courier New"/>
              <a:sym typeface="Courier New"/>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7"/>
          <p:cNvSpPr txBox="1"/>
          <p:nvPr>
            <p:ph type="title"/>
          </p:nvPr>
        </p:nvSpPr>
        <p:spPr>
          <a:xfrm>
            <a:off x="392112" y="748031"/>
            <a:ext cx="3022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Creación de Tabla</a:t>
            </a:r>
            <a:endParaRPr/>
          </a:p>
        </p:txBody>
      </p:sp>
      <p:sp>
        <p:nvSpPr>
          <p:cNvPr id="184" name="Google Shape;184;p27"/>
          <p:cNvSpPr txBox="1"/>
          <p:nvPr>
            <p:ph idx="10" type="dt"/>
          </p:nvPr>
        </p:nvSpPr>
        <p:spPr>
          <a:xfrm>
            <a:off x="2874191" y="6516395"/>
            <a:ext cx="834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13-1</a:t>
            </a:r>
            <a:endParaRPr/>
          </a:p>
          <a:p>
            <a:pPr indent="0" lvl="0" marL="12700" rtl="0" algn="l">
              <a:lnSpc>
                <a:spcPct val="120624"/>
              </a:lnSpc>
              <a:spcBef>
                <a:spcPts val="0"/>
              </a:spcBef>
              <a:spcAft>
                <a:spcPts val="0"/>
              </a:spcAft>
              <a:buNone/>
            </a:pPr>
            <a:r>
              <a:rPr lang="en-US"/>
              <a:t>Creación de tablas</a:t>
            </a:r>
            <a:endParaRPr/>
          </a:p>
        </p:txBody>
      </p:sp>
      <p:sp>
        <p:nvSpPr>
          <p:cNvPr id="185" name="Google Shape;185;p27"/>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86" name="Google Shape;186;p27"/>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87" name="Google Shape;187;p27"/>
          <p:cNvSpPr txBox="1"/>
          <p:nvPr/>
        </p:nvSpPr>
        <p:spPr>
          <a:xfrm>
            <a:off x="483552" y="1415417"/>
            <a:ext cx="7667625" cy="4268470"/>
          </a:xfrm>
          <a:prstGeom prst="rect">
            <a:avLst/>
          </a:prstGeom>
          <a:noFill/>
          <a:ln>
            <a:noFill/>
          </a:ln>
        </p:spPr>
        <p:txBody>
          <a:bodyPr anchorCtr="0" anchor="t" bIns="0" lIns="0" spcFirstLastPara="1" rIns="0" wrap="square" tIns="59675">
            <a:spAutoFit/>
          </a:bodyPr>
          <a:lstStyle/>
          <a:p>
            <a:pPr indent="-177800" lvl="0" marL="184785" marR="23876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Todos los datos de una base de datos relacional se  almacenan en tablas</a:t>
            </a:r>
            <a:endParaRPr sz="2800">
              <a:latin typeface="Calibri"/>
              <a:ea typeface="Calibri"/>
              <a:cs typeface="Calibri"/>
              <a:sym typeface="Calibri"/>
            </a:endParaRPr>
          </a:p>
          <a:p>
            <a:pPr indent="-177800" lvl="0" marL="184785" marR="508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Al crear una nueva tabla, utilice las siguientes reglas  para los nombres de tabla y columnas:</a:t>
            </a:r>
            <a:endParaRPr sz="2800">
              <a:latin typeface="Calibri"/>
              <a:ea typeface="Calibri"/>
              <a:cs typeface="Calibri"/>
              <a:sym typeface="Calibri"/>
            </a:endParaRPr>
          </a:p>
          <a:p>
            <a:pPr indent="0" lvl="0" marL="355600" marR="0" rtl="0" algn="l">
              <a:lnSpc>
                <a:spcPct val="100000"/>
              </a:lnSpc>
              <a:spcBef>
                <a:spcPts val="8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Deben empezar por una letra</a:t>
            </a:r>
            <a:endParaRPr sz="2400">
              <a:latin typeface="Calibri"/>
              <a:ea typeface="Calibri"/>
              <a:cs typeface="Calibri"/>
              <a:sym typeface="Calibri"/>
            </a:endParaRPr>
          </a:p>
          <a:p>
            <a:pPr indent="0" lvl="0" marL="355600" marR="0" rtl="0" algn="l">
              <a:lnSpc>
                <a:spcPct val="100000"/>
              </a:lnSpc>
              <a:spcBef>
                <a:spcPts val="12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Deben tener entre 1 y 30 caracteres</a:t>
            </a:r>
            <a:endParaRPr sz="2400">
              <a:latin typeface="Calibri"/>
              <a:ea typeface="Calibri"/>
              <a:cs typeface="Calibri"/>
              <a:sym typeface="Calibri"/>
            </a:endParaRPr>
          </a:p>
          <a:p>
            <a:pPr indent="-175260" lvl="0" marL="530860" marR="780415" rtl="0" algn="l">
              <a:lnSpc>
                <a:spcPct val="107916"/>
              </a:lnSpc>
              <a:spcBef>
                <a:spcPts val="439"/>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Solo deben contener A - Z, a - z, 0 - 9, _ (carácter de  subrayado), $ y #</a:t>
            </a:r>
            <a:endParaRPr sz="2400">
              <a:latin typeface="Calibri"/>
              <a:ea typeface="Calibri"/>
              <a:cs typeface="Calibri"/>
              <a:sym typeface="Calibri"/>
            </a:endParaRPr>
          </a:p>
          <a:p>
            <a:pPr indent="-175260" lvl="0" marL="530860" marR="528955" rtl="0" algn="l">
              <a:lnSpc>
                <a:spcPct val="107916"/>
              </a:lnSpc>
              <a:spcBef>
                <a:spcPts val="40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No deben ser un duplicado de otro nombre de objeto  propiedad del mismo usuario</a:t>
            </a:r>
            <a:endParaRPr sz="2400">
              <a:latin typeface="Calibri"/>
              <a:ea typeface="Calibri"/>
              <a:cs typeface="Calibri"/>
              <a:sym typeface="Calibri"/>
            </a:endParaRPr>
          </a:p>
          <a:p>
            <a:pPr indent="0" lvl="0" marL="355600" marR="0" rtl="0" algn="l">
              <a:lnSpc>
                <a:spcPct val="100000"/>
              </a:lnSpc>
              <a:spcBef>
                <a:spcPts val="8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No deben ser una palabra reservada de Oracle Server</a:t>
            </a:r>
            <a:endParaRPr sz="2400">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pic>
        <p:nvPicPr>
          <p:cNvPr id="192" name="Google Shape;192;p28"/>
          <p:cNvPicPr preferRelativeResize="0"/>
          <p:nvPr/>
        </p:nvPicPr>
        <p:blipFill rotWithShape="1">
          <a:blip r:embed="rId3">
            <a:alphaModFix/>
          </a:blip>
          <a:srcRect b="0" l="0" r="0" t="0"/>
          <a:stretch/>
        </p:blipFill>
        <p:spPr>
          <a:xfrm>
            <a:off x="3936491" y="5180075"/>
            <a:ext cx="1456995" cy="1054918"/>
          </a:xfrm>
          <a:prstGeom prst="rect">
            <a:avLst/>
          </a:prstGeom>
          <a:noFill/>
          <a:ln>
            <a:noFill/>
          </a:ln>
        </p:spPr>
      </p:pic>
      <p:sp>
        <p:nvSpPr>
          <p:cNvPr id="193" name="Google Shape;193;p28"/>
          <p:cNvSpPr txBox="1"/>
          <p:nvPr>
            <p:ph type="title"/>
          </p:nvPr>
        </p:nvSpPr>
        <p:spPr>
          <a:xfrm>
            <a:off x="392112" y="748031"/>
            <a:ext cx="41523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Reglas de Nomenclatura</a:t>
            </a:r>
            <a:endParaRPr/>
          </a:p>
        </p:txBody>
      </p:sp>
      <p:sp>
        <p:nvSpPr>
          <p:cNvPr id="194" name="Google Shape;194;p28"/>
          <p:cNvSpPr txBox="1"/>
          <p:nvPr>
            <p:ph idx="10" type="dt"/>
          </p:nvPr>
        </p:nvSpPr>
        <p:spPr>
          <a:xfrm>
            <a:off x="2874191" y="6516395"/>
            <a:ext cx="834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13-1</a:t>
            </a:r>
            <a:endParaRPr/>
          </a:p>
          <a:p>
            <a:pPr indent="0" lvl="0" marL="12700" rtl="0" algn="l">
              <a:lnSpc>
                <a:spcPct val="120624"/>
              </a:lnSpc>
              <a:spcBef>
                <a:spcPts val="0"/>
              </a:spcBef>
              <a:spcAft>
                <a:spcPts val="0"/>
              </a:spcAft>
              <a:buNone/>
            </a:pPr>
            <a:r>
              <a:rPr lang="en-US"/>
              <a:t>Creación de tablas</a:t>
            </a:r>
            <a:endParaRPr/>
          </a:p>
        </p:txBody>
      </p:sp>
      <p:sp>
        <p:nvSpPr>
          <p:cNvPr id="195" name="Google Shape;195;p28"/>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96" name="Google Shape;196;p28"/>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97" name="Google Shape;197;p28"/>
          <p:cNvSpPr txBox="1"/>
          <p:nvPr/>
        </p:nvSpPr>
        <p:spPr>
          <a:xfrm>
            <a:off x="483552" y="1415417"/>
            <a:ext cx="8098790" cy="3829050"/>
          </a:xfrm>
          <a:prstGeom prst="rect">
            <a:avLst/>
          </a:prstGeom>
          <a:noFill/>
          <a:ln>
            <a:noFill/>
          </a:ln>
        </p:spPr>
        <p:txBody>
          <a:bodyPr anchorCtr="0" anchor="t" bIns="0" lIns="0" spcFirstLastPara="1" rIns="0" wrap="square" tIns="59675">
            <a:spAutoFit/>
          </a:bodyPr>
          <a:lstStyle/>
          <a:p>
            <a:pPr indent="-177800" lvl="0" marL="184785" marR="4572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Es mejor utilizar nombres descriptivos para las tablas y  otros objetos de la base de datos</a:t>
            </a:r>
            <a:endParaRPr sz="2800">
              <a:latin typeface="Calibri"/>
              <a:ea typeface="Calibri"/>
              <a:cs typeface="Calibri"/>
              <a:sym typeface="Calibri"/>
            </a:endParaRPr>
          </a:p>
          <a:p>
            <a:pPr indent="-177800" lvl="0" marL="184785" marR="508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 una tabla va a almacenar información sobre los  alumnos, asígnele el nombre ALUMNOS, no PERSONAS  o NIÑOS</a:t>
            </a:r>
            <a:endParaRPr sz="2800">
              <a:latin typeface="Calibri"/>
              <a:ea typeface="Calibri"/>
              <a:cs typeface="Calibri"/>
              <a:sym typeface="Calibri"/>
            </a:endParaRPr>
          </a:p>
          <a:p>
            <a:pPr indent="-177800" lvl="0" marL="184785" marR="1989455"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Los nombres de tablas no son sensibles a  mayúsculas/minúsculas</a:t>
            </a:r>
            <a:endParaRPr sz="2800">
              <a:latin typeface="Calibri"/>
              <a:ea typeface="Calibri"/>
              <a:cs typeface="Calibri"/>
              <a:sym typeface="Calibri"/>
            </a:endParaRPr>
          </a:p>
          <a:p>
            <a:pPr indent="-177800" lvl="0" marL="184785" marR="186690" rtl="0" algn="l">
              <a:lnSpc>
                <a:spcPct val="108214"/>
              </a:lnSpc>
              <a:spcBef>
                <a:spcPts val="78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Por ejemplo, ALUMNOS se trata igual que ALuMnoS o  alumnos</a:t>
            </a:r>
            <a:endParaRPr sz="2800">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9"/>
          <p:cNvSpPr txBox="1"/>
          <p:nvPr>
            <p:ph type="title"/>
          </p:nvPr>
        </p:nvSpPr>
        <p:spPr>
          <a:xfrm>
            <a:off x="392112" y="748031"/>
            <a:ext cx="41523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Reglas de Nomenclatura</a:t>
            </a:r>
            <a:endParaRPr/>
          </a:p>
        </p:txBody>
      </p:sp>
      <p:sp>
        <p:nvSpPr>
          <p:cNvPr id="203" name="Google Shape;203;p29"/>
          <p:cNvSpPr txBox="1"/>
          <p:nvPr/>
        </p:nvSpPr>
        <p:spPr>
          <a:xfrm>
            <a:off x="483552" y="1415417"/>
            <a:ext cx="8157209" cy="2960370"/>
          </a:xfrm>
          <a:prstGeom prst="rect">
            <a:avLst/>
          </a:prstGeom>
          <a:noFill/>
          <a:ln>
            <a:noFill/>
          </a:ln>
        </p:spPr>
        <p:txBody>
          <a:bodyPr anchorCtr="0" anchor="t" bIns="0" lIns="0" spcFirstLastPara="1" rIns="0" wrap="square" tIns="59675">
            <a:spAutoFit/>
          </a:bodyPr>
          <a:lstStyle/>
          <a:p>
            <a:pPr indent="-177800" lvl="0" marL="184785"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Los nombres de tabla deben ser en plural, por ejemplo,  ALUMNOS, no alumno</a:t>
            </a:r>
            <a:endParaRPr sz="2800">
              <a:latin typeface="Calibri"/>
              <a:ea typeface="Calibri"/>
              <a:cs typeface="Calibri"/>
              <a:sym typeface="Calibri"/>
            </a:endParaRPr>
          </a:p>
          <a:p>
            <a:pPr indent="-177800" lvl="0" marL="184785" marR="873760" rtl="0" algn="just">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creación de tablas forma parte del lenguaje de  definición de datos (DDL) de SQL</a:t>
            </a:r>
            <a:endParaRPr sz="2800">
              <a:latin typeface="Calibri"/>
              <a:ea typeface="Calibri"/>
              <a:cs typeface="Calibri"/>
              <a:sym typeface="Calibri"/>
            </a:endParaRPr>
          </a:p>
          <a:p>
            <a:pPr indent="-177800" lvl="0" marL="184785" marR="379730" rtl="0" algn="just">
              <a:lnSpc>
                <a:spcPct val="108214"/>
              </a:lnSpc>
              <a:spcBef>
                <a:spcPts val="79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las sentencias DDL que se utilizan para configurar,  cambiar y eliminar estructuras de datos de tablas se  incluyen ALTER, DROP, RENAME y TRUNCATE</a:t>
            </a:r>
            <a:endParaRPr sz="2800">
              <a:latin typeface="Calibri"/>
              <a:ea typeface="Calibri"/>
              <a:cs typeface="Calibri"/>
              <a:sym typeface="Calibri"/>
            </a:endParaRPr>
          </a:p>
        </p:txBody>
      </p:sp>
      <p:pic>
        <p:nvPicPr>
          <p:cNvPr id="204" name="Google Shape;204;p29"/>
          <p:cNvPicPr preferRelativeResize="0"/>
          <p:nvPr/>
        </p:nvPicPr>
        <p:blipFill rotWithShape="1">
          <a:blip r:embed="rId3">
            <a:alphaModFix/>
          </a:blip>
          <a:srcRect b="0" l="0" r="0" t="0"/>
          <a:stretch/>
        </p:blipFill>
        <p:spPr>
          <a:xfrm>
            <a:off x="3706367" y="4716779"/>
            <a:ext cx="2253094" cy="1630880"/>
          </a:xfrm>
          <a:prstGeom prst="rect">
            <a:avLst/>
          </a:prstGeom>
          <a:noFill/>
          <a:ln>
            <a:noFill/>
          </a:ln>
        </p:spPr>
      </p:pic>
      <p:sp>
        <p:nvSpPr>
          <p:cNvPr id="205" name="Google Shape;205;p29"/>
          <p:cNvSpPr txBox="1"/>
          <p:nvPr>
            <p:ph idx="10" type="dt"/>
          </p:nvPr>
        </p:nvSpPr>
        <p:spPr>
          <a:xfrm>
            <a:off x="2874191" y="6516395"/>
            <a:ext cx="834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13-1</a:t>
            </a:r>
            <a:endParaRPr/>
          </a:p>
          <a:p>
            <a:pPr indent="0" lvl="0" marL="12700" rtl="0" algn="l">
              <a:lnSpc>
                <a:spcPct val="120624"/>
              </a:lnSpc>
              <a:spcBef>
                <a:spcPts val="0"/>
              </a:spcBef>
              <a:spcAft>
                <a:spcPts val="0"/>
              </a:spcAft>
              <a:buNone/>
            </a:pPr>
            <a:r>
              <a:rPr lang="en-US"/>
              <a:t>Creación de tablas</a:t>
            </a:r>
            <a:endParaRPr/>
          </a:p>
        </p:txBody>
      </p:sp>
      <p:sp>
        <p:nvSpPr>
          <p:cNvPr id="206" name="Google Shape;206;p29"/>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07" name="Google Shape;207;p29"/>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0"/>
          <p:cNvSpPr txBox="1"/>
          <p:nvPr>
            <p:ph type="title"/>
          </p:nvPr>
        </p:nvSpPr>
        <p:spPr>
          <a:xfrm>
            <a:off x="392112" y="748031"/>
            <a:ext cx="2415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CREATE TABLE</a:t>
            </a:r>
            <a:endParaRPr/>
          </a:p>
        </p:txBody>
      </p:sp>
      <p:sp>
        <p:nvSpPr>
          <p:cNvPr id="213" name="Google Shape;213;p30"/>
          <p:cNvSpPr txBox="1"/>
          <p:nvPr>
            <p:ph idx="10" type="dt"/>
          </p:nvPr>
        </p:nvSpPr>
        <p:spPr>
          <a:xfrm>
            <a:off x="2874191" y="6516395"/>
            <a:ext cx="834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13-1</a:t>
            </a:r>
            <a:endParaRPr/>
          </a:p>
          <a:p>
            <a:pPr indent="0" lvl="0" marL="12700" rtl="0" algn="l">
              <a:lnSpc>
                <a:spcPct val="120624"/>
              </a:lnSpc>
              <a:spcBef>
                <a:spcPts val="0"/>
              </a:spcBef>
              <a:spcAft>
                <a:spcPts val="0"/>
              </a:spcAft>
              <a:buNone/>
            </a:pPr>
            <a:r>
              <a:rPr lang="en-US"/>
              <a:t>Creación de tablas</a:t>
            </a:r>
            <a:endParaRPr/>
          </a:p>
        </p:txBody>
      </p:sp>
      <p:sp>
        <p:nvSpPr>
          <p:cNvPr id="214" name="Google Shape;214;p30"/>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15" name="Google Shape;215;p30"/>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16" name="Google Shape;216;p30"/>
          <p:cNvSpPr txBox="1"/>
          <p:nvPr/>
        </p:nvSpPr>
        <p:spPr>
          <a:xfrm>
            <a:off x="483552" y="1381889"/>
            <a:ext cx="7964170" cy="4170045"/>
          </a:xfrm>
          <a:prstGeom prst="rect">
            <a:avLst/>
          </a:prstGeom>
          <a:noFill/>
          <a:ln>
            <a:noFill/>
          </a:ln>
        </p:spPr>
        <p:txBody>
          <a:bodyPr anchorCtr="0" anchor="t" bIns="0" lIns="0" spcFirstLastPara="1" rIns="0" wrap="square" tIns="97150">
            <a:spAutoFit/>
          </a:bodyPr>
          <a:lstStyle/>
          <a:p>
            <a:pPr indent="-177800" lvl="0" marL="184785" marR="327025" rtl="0" algn="l">
              <a:lnSpc>
                <a:spcPct val="8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Para crear una nueva tabla, debe tener el privilegio  CREATE TABLE y un área de almacenamiento para él</a:t>
            </a:r>
            <a:endParaRPr sz="2800">
              <a:latin typeface="Calibri"/>
              <a:ea typeface="Calibri"/>
              <a:cs typeface="Calibri"/>
              <a:sym typeface="Calibri"/>
            </a:endParaRPr>
          </a:p>
          <a:p>
            <a:pPr indent="-177800" lvl="0" marL="184785" marR="21590" rtl="0" algn="l">
              <a:lnSpc>
                <a:spcPct val="80000"/>
              </a:lnSpc>
              <a:spcBef>
                <a:spcPts val="80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El administrador de la base datos utiliza sentencias de  lenguaje de control de datos (DCL) para otorgar este  privilegio a los usuarios y asignar un área de  almacenamiento</a:t>
            </a:r>
            <a:endParaRPr sz="2800">
              <a:latin typeface="Calibri"/>
              <a:ea typeface="Calibri"/>
              <a:cs typeface="Calibri"/>
              <a:sym typeface="Calibri"/>
            </a:endParaRPr>
          </a:p>
          <a:p>
            <a:pPr indent="-177800" lvl="0" marL="184785" marR="767080" rtl="0" algn="l">
              <a:lnSpc>
                <a:spcPct val="80000"/>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Las tablas que pertenecen a otros usuarios no se  incluyen en su esquema</a:t>
            </a:r>
            <a:endParaRPr sz="2800">
              <a:latin typeface="Calibri"/>
              <a:ea typeface="Calibri"/>
              <a:cs typeface="Calibri"/>
              <a:sym typeface="Calibri"/>
            </a:endParaRPr>
          </a:p>
          <a:p>
            <a:pPr indent="-177800" lvl="0" marL="184785" marR="5080" rtl="0" algn="l">
              <a:lnSpc>
                <a:spcPct val="80000"/>
              </a:lnSpc>
              <a:spcBef>
                <a:spcPts val="80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 desea utilizar una tabla que no está en su esquema,  utilice el nombre del propietario de la tabla como  prefijo para el nombre de tabla:</a:t>
            </a:r>
            <a:endParaRPr sz="2800">
              <a:latin typeface="Calibri"/>
              <a:ea typeface="Calibri"/>
              <a:cs typeface="Calibri"/>
              <a:sym typeface="Calibri"/>
            </a:endParaRPr>
          </a:p>
        </p:txBody>
      </p:sp>
      <p:sp>
        <p:nvSpPr>
          <p:cNvPr id="217" name="Google Shape;217;p30"/>
          <p:cNvSpPr txBox="1"/>
          <p:nvPr/>
        </p:nvSpPr>
        <p:spPr>
          <a:xfrm>
            <a:off x="393191" y="5553455"/>
            <a:ext cx="8345805" cy="513715"/>
          </a:xfrm>
          <a:prstGeom prst="rect">
            <a:avLst/>
          </a:prstGeom>
          <a:solidFill>
            <a:srgbClr val="9DBEC4">
              <a:alpha val="49804"/>
            </a:srgbClr>
          </a:solidFill>
          <a:ln>
            <a:noFill/>
          </a:ln>
        </p:spPr>
        <p:txBody>
          <a:bodyPr anchorCtr="0" anchor="t" bIns="0" lIns="0" spcFirstLastPara="1" rIns="0" wrap="square" tIns="0">
            <a:spAutoFit/>
          </a:bodyPr>
          <a:lstStyle/>
          <a:p>
            <a:pPr indent="0" lvl="0" marL="0" marR="0" rtl="0" algn="l">
              <a:lnSpc>
                <a:spcPct val="100555"/>
              </a:lnSpc>
              <a:spcBef>
                <a:spcPts val="0"/>
              </a:spcBef>
              <a:spcAft>
                <a:spcPts val="0"/>
              </a:spcAft>
              <a:buNone/>
            </a:pPr>
            <a:r>
              <a:rPr b="1" lang="en-US" sz="1800">
                <a:solidFill>
                  <a:srgbClr val="4E3629"/>
                </a:solidFill>
                <a:latin typeface="Courier New"/>
                <a:ea typeface="Courier New"/>
                <a:cs typeface="Courier New"/>
                <a:sym typeface="Courier New"/>
              </a:rPr>
              <a:t>SELECT *</a:t>
            </a:r>
            <a:endParaRPr sz="1800">
              <a:latin typeface="Courier New"/>
              <a:ea typeface="Courier New"/>
              <a:cs typeface="Courier New"/>
              <a:sym typeface="Courier New"/>
            </a:endParaRPr>
          </a:p>
          <a:p>
            <a:pPr indent="0" lvl="0" marL="0" marR="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mary.students;</a:t>
            </a:r>
            <a:endParaRPr sz="1800">
              <a:latin typeface="Courier New"/>
              <a:ea typeface="Courier New"/>
              <a:cs typeface="Courier New"/>
              <a:sym typeface="Courier New"/>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1"/>
          <p:cNvSpPr txBox="1"/>
          <p:nvPr>
            <p:ph type="title"/>
          </p:nvPr>
        </p:nvSpPr>
        <p:spPr>
          <a:xfrm>
            <a:off x="392112" y="748031"/>
            <a:ext cx="2415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CREATE TABLE</a:t>
            </a:r>
            <a:endParaRPr/>
          </a:p>
        </p:txBody>
      </p:sp>
      <p:sp>
        <p:nvSpPr>
          <p:cNvPr id="223" name="Google Shape;223;p31"/>
          <p:cNvSpPr txBox="1"/>
          <p:nvPr>
            <p:ph idx="10" type="dt"/>
          </p:nvPr>
        </p:nvSpPr>
        <p:spPr>
          <a:xfrm>
            <a:off x="2874191" y="6516395"/>
            <a:ext cx="834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13-1</a:t>
            </a:r>
            <a:endParaRPr/>
          </a:p>
          <a:p>
            <a:pPr indent="0" lvl="0" marL="12700" rtl="0" algn="l">
              <a:lnSpc>
                <a:spcPct val="120624"/>
              </a:lnSpc>
              <a:spcBef>
                <a:spcPts val="0"/>
              </a:spcBef>
              <a:spcAft>
                <a:spcPts val="0"/>
              </a:spcAft>
              <a:buNone/>
            </a:pPr>
            <a:r>
              <a:rPr lang="en-US"/>
              <a:t>Creación de tablas</a:t>
            </a:r>
            <a:endParaRPr/>
          </a:p>
        </p:txBody>
      </p:sp>
      <p:sp>
        <p:nvSpPr>
          <p:cNvPr id="224" name="Google Shape;224;p31"/>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25" name="Google Shape;225;p31"/>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26" name="Google Shape;226;p31"/>
          <p:cNvSpPr txBox="1"/>
          <p:nvPr/>
        </p:nvSpPr>
        <p:spPr>
          <a:xfrm>
            <a:off x="483552" y="1415417"/>
            <a:ext cx="7964170" cy="1220470"/>
          </a:xfrm>
          <a:prstGeom prst="rect">
            <a:avLst/>
          </a:prstGeom>
          <a:noFill/>
          <a:ln>
            <a:noFill/>
          </a:ln>
        </p:spPr>
        <p:txBody>
          <a:bodyPr anchorCtr="0" anchor="t" bIns="0" lIns="0" spcFirstLastPara="1" rIns="0" wrap="square" tIns="59675">
            <a:spAutoFit/>
          </a:bodyPr>
          <a:lstStyle/>
          <a:p>
            <a:pPr indent="-177800" lvl="0" marL="184785"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 desea utilizar una tabla que no está en su esquema,  utilice el nombre del propietario de la tabla como  prefijo para el nombre de tabla:</a:t>
            </a:r>
            <a:endParaRPr sz="2800">
              <a:latin typeface="Calibri"/>
              <a:ea typeface="Calibri"/>
              <a:cs typeface="Calibri"/>
              <a:sym typeface="Calibri"/>
            </a:endParaRPr>
          </a:p>
        </p:txBody>
      </p:sp>
      <p:sp>
        <p:nvSpPr>
          <p:cNvPr id="227" name="Google Shape;227;p31"/>
          <p:cNvSpPr txBox="1"/>
          <p:nvPr/>
        </p:nvSpPr>
        <p:spPr>
          <a:xfrm>
            <a:off x="826452" y="3599309"/>
            <a:ext cx="7204075" cy="720725"/>
          </a:xfrm>
          <a:prstGeom prst="rect">
            <a:avLst/>
          </a:prstGeom>
          <a:noFill/>
          <a:ln>
            <a:noFill/>
          </a:ln>
        </p:spPr>
        <p:txBody>
          <a:bodyPr anchorCtr="0" anchor="t" bIns="0" lIns="0" spcFirstLastPara="1" rIns="0" wrap="square" tIns="53975">
            <a:spAutoFit/>
          </a:bodyPr>
          <a:lstStyle/>
          <a:p>
            <a:pPr indent="-175260" lvl="0" marL="187325" marR="5080" rtl="0" algn="l">
              <a:lnSpc>
                <a:spcPct val="107916"/>
              </a:lnSpc>
              <a:spcBef>
                <a:spcPts val="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Se le debe otorgar acceso a una tabla para poder realizar  selecciones en ella</a:t>
            </a:r>
            <a:endParaRPr sz="2400">
              <a:latin typeface="Calibri"/>
              <a:ea typeface="Calibri"/>
              <a:cs typeface="Calibri"/>
              <a:sym typeface="Calibri"/>
            </a:endParaRPr>
          </a:p>
        </p:txBody>
      </p:sp>
      <p:sp>
        <p:nvSpPr>
          <p:cNvPr id="228" name="Google Shape;228;p31"/>
          <p:cNvSpPr txBox="1"/>
          <p:nvPr/>
        </p:nvSpPr>
        <p:spPr>
          <a:xfrm>
            <a:off x="393191" y="2782823"/>
            <a:ext cx="8345805" cy="513715"/>
          </a:xfrm>
          <a:prstGeom prst="rect">
            <a:avLst/>
          </a:prstGeom>
          <a:solidFill>
            <a:srgbClr val="9DBEC4">
              <a:alpha val="49804"/>
            </a:srgbClr>
          </a:solid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a:t>
            </a:r>
            <a:endParaRPr sz="1800">
              <a:latin typeface="Courier New"/>
              <a:ea typeface="Courier New"/>
              <a:cs typeface="Courier New"/>
              <a:sym typeface="Courier New"/>
            </a:endParaRPr>
          </a:p>
          <a:p>
            <a:pPr indent="0" lvl="0" marL="0" marR="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mary.students;</a:t>
            </a:r>
            <a:endParaRPr sz="1800">
              <a:latin typeface="Courier New"/>
              <a:ea typeface="Courier New"/>
              <a:cs typeface="Courier New"/>
              <a:sym typeface="Courier New"/>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2"/>
          <p:cNvSpPr txBox="1"/>
          <p:nvPr>
            <p:ph type="title"/>
          </p:nvPr>
        </p:nvSpPr>
        <p:spPr>
          <a:xfrm>
            <a:off x="392112" y="748031"/>
            <a:ext cx="4312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Sintaxis de CREATE TABLE</a:t>
            </a:r>
            <a:endParaRPr/>
          </a:p>
        </p:txBody>
      </p:sp>
      <p:sp>
        <p:nvSpPr>
          <p:cNvPr id="234" name="Google Shape;234;p32"/>
          <p:cNvSpPr txBox="1"/>
          <p:nvPr>
            <p:ph idx="10" type="dt"/>
          </p:nvPr>
        </p:nvSpPr>
        <p:spPr>
          <a:xfrm>
            <a:off x="2874191" y="6516395"/>
            <a:ext cx="834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13-1</a:t>
            </a:r>
            <a:endParaRPr/>
          </a:p>
          <a:p>
            <a:pPr indent="0" lvl="0" marL="12700" rtl="0" algn="l">
              <a:lnSpc>
                <a:spcPct val="120624"/>
              </a:lnSpc>
              <a:spcBef>
                <a:spcPts val="0"/>
              </a:spcBef>
              <a:spcAft>
                <a:spcPts val="0"/>
              </a:spcAft>
              <a:buNone/>
            </a:pPr>
            <a:r>
              <a:rPr lang="en-US"/>
              <a:t>Creación de tablas</a:t>
            </a:r>
            <a:endParaRPr/>
          </a:p>
        </p:txBody>
      </p:sp>
      <p:sp>
        <p:nvSpPr>
          <p:cNvPr id="235" name="Google Shape;235;p32"/>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36" name="Google Shape;236;p32"/>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37" name="Google Shape;237;p32"/>
          <p:cNvSpPr txBox="1"/>
          <p:nvPr/>
        </p:nvSpPr>
        <p:spPr>
          <a:xfrm>
            <a:off x="483552" y="1415417"/>
            <a:ext cx="7695565" cy="2689860"/>
          </a:xfrm>
          <a:prstGeom prst="rect">
            <a:avLst/>
          </a:prstGeom>
          <a:noFill/>
          <a:ln>
            <a:noFill/>
          </a:ln>
        </p:spPr>
        <p:txBody>
          <a:bodyPr anchorCtr="0" anchor="t" bIns="0" lIns="0" spcFirstLastPara="1" rIns="0" wrap="square" tIns="59675">
            <a:spAutoFit/>
          </a:bodyPr>
          <a:lstStyle/>
          <a:p>
            <a:pPr indent="-177800" lvl="0" marL="184785" marR="605155"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Para crear una nueva tabla, utilice los siguientes  detalles de sintaxis:</a:t>
            </a:r>
            <a:endParaRPr sz="2800">
              <a:latin typeface="Calibri"/>
              <a:ea typeface="Calibri"/>
              <a:cs typeface="Calibri"/>
              <a:sym typeface="Calibri"/>
            </a:endParaRPr>
          </a:p>
          <a:p>
            <a:pPr indent="0" lvl="0" marL="355600" marR="0" rtl="0" algn="l">
              <a:lnSpc>
                <a:spcPct val="100000"/>
              </a:lnSpc>
              <a:spcBef>
                <a:spcPts val="9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table es el nombre de la tabla</a:t>
            </a:r>
            <a:endParaRPr sz="2400">
              <a:latin typeface="Calibri"/>
              <a:ea typeface="Calibri"/>
              <a:cs typeface="Calibri"/>
              <a:sym typeface="Calibri"/>
            </a:endParaRPr>
          </a:p>
          <a:p>
            <a:pPr indent="0" lvl="0" marL="355600" marR="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column es el nombre de la columna</a:t>
            </a:r>
            <a:endParaRPr sz="2400">
              <a:latin typeface="Calibri"/>
              <a:ea typeface="Calibri"/>
              <a:cs typeface="Calibri"/>
              <a:sym typeface="Calibri"/>
            </a:endParaRPr>
          </a:p>
          <a:p>
            <a:pPr indent="0" lvl="0" marL="355600" marR="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datatype es el tipo de dato y la longitud de la columna</a:t>
            </a:r>
            <a:endParaRPr sz="2400">
              <a:latin typeface="Calibri"/>
              <a:ea typeface="Calibri"/>
              <a:cs typeface="Calibri"/>
              <a:sym typeface="Calibri"/>
            </a:endParaRPr>
          </a:p>
          <a:p>
            <a:pPr indent="-175260" lvl="0" marL="530860" marR="5080" rtl="0" algn="l">
              <a:lnSpc>
                <a:spcPct val="107916"/>
              </a:lnSpc>
              <a:spcBef>
                <a:spcPts val="44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La expresión DEFAULT especifica un valor por defecto si se  omite un valor en la sentencia INSERT</a:t>
            </a:r>
            <a:endParaRPr sz="2400">
              <a:latin typeface="Calibri"/>
              <a:ea typeface="Calibri"/>
              <a:cs typeface="Calibri"/>
              <a:sym typeface="Calibri"/>
            </a:endParaRPr>
          </a:p>
        </p:txBody>
      </p:sp>
      <p:sp>
        <p:nvSpPr>
          <p:cNvPr id="238" name="Google Shape;238;p32"/>
          <p:cNvSpPr txBox="1"/>
          <p:nvPr/>
        </p:nvSpPr>
        <p:spPr>
          <a:xfrm>
            <a:off x="393191" y="4233671"/>
            <a:ext cx="8345805" cy="1176655"/>
          </a:xfrm>
          <a:prstGeom prst="rect">
            <a:avLst/>
          </a:prstGeom>
          <a:solidFill>
            <a:srgbClr val="9DBEC4">
              <a:alpha val="49804"/>
            </a:srgbClr>
          </a:solidFill>
          <a:ln>
            <a:noFill/>
          </a:ln>
        </p:spPr>
        <p:txBody>
          <a:bodyPr anchorCtr="0" anchor="t" bIns="0" lIns="0" spcFirstLastPara="1" rIns="0" wrap="square" tIns="12050">
            <a:spAutoFit/>
          </a:bodyPr>
          <a:lstStyle/>
          <a:p>
            <a:pPr indent="0" lvl="0" marL="0" marR="0" rtl="0" algn="just">
              <a:lnSpc>
                <a:spcPct val="100000"/>
              </a:lnSpc>
              <a:spcBef>
                <a:spcPts val="0"/>
              </a:spcBef>
              <a:spcAft>
                <a:spcPts val="0"/>
              </a:spcAft>
              <a:buNone/>
            </a:pPr>
            <a:r>
              <a:rPr b="1" lang="en-US" sz="1800">
                <a:solidFill>
                  <a:srgbClr val="4E3629"/>
                </a:solidFill>
                <a:latin typeface="Courier New"/>
                <a:ea typeface="Courier New"/>
                <a:cs typeface="Courier New"/>
                <a:sym typeface="Courier New"/>
              </a:rPr>
              <a:t>CREATE TABLE table</a:t>
            </a:r>
            <a:endParaRPr sz="1800">
              <a:latin typeface="Courier New"/>
              <a:ea typeface="Courier New"/>
              <a:cs typeface="Courier New"/>
              <a:sym typeface="Courier New"/>
            </a:endParaRPr>
          </a:p>
          <a:p>
            <a:pPr indent="0" lvl="0" marL="0" marR="3014345" rtl="0" algn="just">
              <a:lnSpc>
                <a:spcPct val="100000"/>
              </a:lnSpc>
              <a:spcBef>
                <a:spcPts val="0"/>
              </a:spcBef>
              <a:spcAft>
                <a:spcPts val="0"/>
              </a:spcAft>
              <a:buNone/>
            </a:pPr>
            <a:r>
              <a:rPr b="1" lang="en-US" sz="1800">
                <a:solidFill>
                  <a:srgbClr val="4E3629"/>
                </a:solidFill>
                <a:latin typeface="Courier New"/>
                <a:ea typeface="Courier New"/>
                <a:cs typeface="Courier New"/>
                <a:sym typeface="Courier New"/>
              </a:rPr>
              <a:t>(column data type [DEFAULT expression],  (column data type [DEFAULT expression],  (……[ ] );</a:t>
            </a:r>
            <a:endParaRPr sz="1800">
              <a:latin typeface="Courier New"/>
              <a:ea typeface="Courier New"/>
              <a:cs typeface="Courier New"/>
              <a:sym typeface="Courier New"/>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3"/>
          <p:cNvSpPr txBox="1"/>
          <p:nvPr>
            <p:ph type="title"/>
          </p:nvPr>
        </p:nvSpPr>
        <p:spPr>
          <a:xfrm>
            <a:off x="392112" y="748031"/>
            <a:ext cx="4420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Ejemplo de CREATE TABLE</a:t>
            </a:r>
            <a:endParaRPr/>
          </a:p>
        </p:txBody>
      </p:sp>
      <p:sp>
        <p:nvSpPr>
          <p:cNvPr id="244" name="Google Shape;244;p33"/>
          <p:cNvSpPr txBox="1"/>
          <p:nvPr>
            <p:ph idx="10" type="dt"/>
          </p:nvPr>
        </p:nvSpPr>
        <p:spPr>
          <a:xfrm>
            <a:off x="2874191" y="6516395"/>
            <a:ext cx="834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13-1</a:t>
            </a:r>
            <a:endParaRPr/>
          </a:p>
          <a:p>
            <a:pPr indent="0" lvl="0" marL="12700" rtl="0" algn="l">
              <a:lnSpc>
                <a:spcPct val="120624"/>
              </a:lnSpc>
              <a:spcBef>
                <a:spcPts val="0"/>
              </a:spcBef>
              <a:spcAft>
                <a:spcPts val="0"/>
              </a:spcAft>
              <a:buNone/>
            </a:pPr>
            <a:r>
              <a:rPr lang="en-US"/>
              <a:t>Creación de tablas</a:t>
            </a:r>
            <a:endParaRPr/>
          </a:p>
        </p:txBody>
      </p:sp>
      <p:sp>
        <p:nvSpPr>
          <p:cNvPr id="245" name="Google Shape;245;p33"/>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46" name="Google Shape;246;p33"/>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47" name="Google Shape;247;p33"/>
          <p:cNvSpPr txBox="1"/>
          <p:nvPr/>
        </p:nvSpPr>
        <p:spPr>
          <a:xfrm>
            <a:off x="483552" y="1415417"/>
            <a:ext cx="8013700" cy="836294"/>
          </a:xfrm>
          <a:prstGeom prst="rect">
            <a:avLst/>
          </a:prstGeom>
          <a:noFill/>
          <a:ln>
            <a:noFill/>
          </a:ln>
        </p:spPr>
        <p:txBody>
          <a:bodyPr anchorCtr="0" anchor="t" bIns="0" lIns="0" spcFirstLastPara="1" rIns="0" wrap="square" tIns="59675">
            <a:spAutoFit/>
          </a:bodyPr>
          <a:lstStyle/>
          <a:p>
            <a:pPr indent="-177800" lvl="0" marL="184785"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Los ejemplos siguientes muestran la sentencia CREATE  TABLE:</a:t>
            </a:r>
            <a:endParaRPr sz="2800">
              <a:latin typeface="Calibri"/>
              <a:ea typeface="Calibri"/>
              <a:cs typeface="Calibri"/>
              <a:sym typeface="Calibri"/>
            </a:endParaRPr>
          </a:p>
        </p:txBody>
      </p:sp>
      <p:sp>
        <p:nvSpPr>
          <p:cNvPr id="248" name="Google Shape;248;p33"/>
          <p:cNvSpPr txBox="1"/>
          <p:nvPr/>
        </p:nvSpPr>
        <p:spPr>
          <a:xfrm>
            <a:off x="405384" y="2302764"/>
            <a:ext cx="8345805" cy="1445260"/>
          </a:xfrm>
          <a:prstGeom prst="rect">
            <a:avLst/>
          </a:prstGeom>
          <a:solidFill>
            <a:srgbClr val="9DBEC4">
              <a:alpha val="49804"/>
            </a:srgbClr>
          </a:solidFill>
          <a:ln>
            <a:noFill/>
          </a:ln>
        </p:spPr>
        <p:txBody>
          <a:bodyPr anchorCtr="0" anchor="t" bIns="0" lIns="0" spcFirstLastPara="1" rIns="0" wrap="square" tIns="8250">
            <a:spAutoFit/>
          </a:bodyPr>
          <a:lstStyle/>
          <a:p>
            <a:pPr indent="-136525" lvl="0" marL="136525" marR="437896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CREATE TABLE my_cd_collection  (cd_number NUMBER(3),</a:t>
            </a:r>
            <a:endParaRPr sz="1800">
              <a:latin typeface="Courier New"/>
              <a:ea typeface="Courier New"/>
              <a:cs typeface="Courier New"/>
              <a:sym typeface="Courier New"/>
            </a:endParaRPr>
          </a:p>
          <a:p>
            <a:pPr indent="0" lvl="0" marL="273685" marR="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title VARCHAR2(20),</a:t>
            </a:r>
            <a:endParaRPr sz="1800">
              <a:latin typeface="Courier New"/>
              <a:ea typeface="Courier New"/>
              <a:cs typeface="Courier New"/>
              <a:sym typeface="Courier New"/>
            </a:endParaRPr>
          </a:p>
          <a:p>
            <a:pPr indent="0" lvl="0" marL="273685" marR="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artist VARCHAR2(20),</a:t>
            </a:r>
            <a:endParaRPr sz="1800">
              <a:latin typeface="Courier New"/>
              <a:ea typeface="Courier New"/>
              <a:cs typeface="Courier New"/>
              <a:sym typeface="Courier New"/>
            </a:endParaRPr>
          </a:p>
          <a:p>
            <a:pPr indent="0" lvl="0" marL="273685" marR="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purchase_date DATE DEFAULT SYSDATE);</a:t>
            </a:r>
            <a:endParaRPr sz="1800">
              <a:latin typeface="Courier New"/>
              <a:ea typeface="Courier New"/>
              <a:cs typeface="Courier New"/>
              <a:sym typeface="Courier New"/>
            </a:endParaRPr>
          </a:p>
        </p:txBody>
      </p:sp>
      <p:sp>
        <p:nvSpPr>
          <p:cNvPr id="249" name="Google Shape;249;p33"/>
          <p:cNvSpPr txBox="1"/>
          <p:nvPr/>
        </p:nvSpPr>
        <p:spPr>
          <a:xfrm>
            <a:off x="393191" y="4008120"/>
            <a:ext cx="8345805" cy="1798320"/>
          </a:xfrm>
          <a:prstGeom prst="rect">
            <a:avLst/>
          </a:prstGeom>
          <a:solidFill>
            <a:srgbClr val="9DBEC4">
              <a:alpha val="49804"/>
            </a:srgbClr>
          </a:solidFill>
          <a:ln>
            <a:noFill/>
          </a:ln>
        </p:spPr>
        <p:txBody>
          <a:bodyPr anchorCtr="0" anchor="t" bIns="0" lIns="0" spcFirstLastPara="1" rIns="0" wrap="square" tIns="48250">
            <a:spAutoFit/>
          </a:bodyPr>
          <a:lstStyle/>
          <a:p>
            <a:pPr indent="-136525" lvl="0" marL="136525" marR="478980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CREATE TABLE my_friends  (first_name VARCHAR2(20),  last_name VARCHAR2(30),  email VARCHAR2(30),</a:t>
            </a:r>
            <a:endParaRPr sz="1800">
              <a:latin typeface="Courier New"/>
              <a:ea typeface="Courier New"/>
              <a:cs typeface="Courier New"/>
              <a:sym typeface="Courier New"/>
            </a:endParaRPr>
          </a:p>
          <a:p>
            <a:pPr indent="0" lvl="0" marL="273685" marR="492379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phone_num VARCHAR2(12),  birth_date DATE);</a:t>
            </a:r>
            <a:endParaRPr sz="1800">
              <a:latin typeface="Courier New"/>
              <a:ea typeface="Courier New"/>
              <a:cs typeface="Courier New"/>
              <a:sym typeface="Courier New"/>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4"/>
          <p:cNvSpPr txBox="1"/>
          <p:nvPr>
            <p:ph type="title"/>
          </p:nvPr>
        </p:nvSpPr>
        <p:spPr>
          <a:xfrm>
            <a:off x="392112" y="748031"/>
            <a:ext cx="26364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Tablas Externas</a:t>
            </a:r>
            <a:endParaRPr/>
          </a:p>
        </p:txBody>
      </p:sp>
      <p:sp>
        <p:nvSpPr>
          <p:cNvPr id="255" name="Google Shape;255;p34"/>
          <p:cNvSpPr txBox="1"/>
          <p:nvPr/>
        </p:nvSpPr>
        <p:spPr>
          <a:xfrm>
            <a:off x="483552" y="1381889"/>
            <a:ext cx="7092950" cy="452120"/>
          </a:xfrm>
          <a:prstGeom prst="rect">
            <a:avLst/>
          </a:prstGeom>
          <a:noFill/>
          <a:ln>
            <a:noFill/>
          </a:ln>
        </p:spPr>
        <p:txBody>
          <a:bodyPr anchorCtr="0" anchor="t" bIns="0" lIns="0" spcFirstLastPara="1" rIns="0" wrap="square" tIns="12050">
            <a:spAutoFit/>
          </a:bodyPr>
          <a:lstStyle/>
          <a:p>
            <a:pPr indent="-177800" lvl="0" marL="184785" marR="0"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Oracle también soporta otro tipo de tabla: tabla</a:t>
            </a:r>
            <a:endParaRPr sz="2800">
              <a:latin typeface="Calibri"/>
              <a:ea typeface="Calibri"/>
              <a:cs typeface="Calibri"/>
              <a:sym typeface="Calibri"/>
            </a:endParaRPr>
          </a:p>
        </p:txBody>
      </p:sp>
      <p:sp>
        <p:nvSpPr>
          <p:cNvPr id="256" name="Google Shape;256;p34"/>
          <p:cNvSpPr txBox="1"/>
          <p:nvPr/>
        </p:nvSpPr>
        <p:spPr>
          <a:xfrm>
            <a:off x="483552" y="1723133"/>
            <a:ext cx="5084445" cy="3385820"/>
          </a:xfrm>
          <a:prstGeom prst="rect">
            <a:avLst/>
          </a:prstGeom>
          <a:noFill/>
          <a:ln>
            <a:noFill/>
          </a:ln>
        </p:spPr>
        <p:txBody>
          <a:bodyPr anchorCtr="0" anchor="t" bIns="0" lIns="0" spcFirstLastPara="1" rIns="0" wrap="square" tIns="12050">
            <a:spAutoFit/>
          </a:bodyPr>
          <a:lstStyle/>
          <a:p>
            <a:pPr indent="0" lvl="0" marL="184785" marR="0" rtl="0" algn="l">
              <a:lnSpc>
                <a:spcPct val="100000"/>
              </a:lnSpc>
              <a:spcBef>
                <a:spcPts val="0"/>
              </a:spcBef>
              <a:spcAft>
                <a:spcPts val="0"/>
              </a:spcAft>
              <a:buNone/>
            </a:pPr>
            <a:r>
              <a:rPr lang="en-US" sz="2800">
                <a:solidFill>
                  <a:srgbClr val="4E3629"/>
                </a:solidFill>
                <a:latin typeface="Calibri"/>
                <a:ea typeface="Calibri"/>
                <a:cs typeface="Calibri"/>
                <a:sym typeface="Calibri"/>
              </a:rPr>
              <a:t>externa</a:t>
            </a:r>
            <a:endParaRPr sz="2800">
              <a:latin typeface="Calibri"/>
              <a:ea typeface="Calibri"/>
              <a:cs typeface="Calibri"/>
              <a:sym typeface="Calibri"/>
            </a:endParaRPr>
          </a:p>
          <a:p>
            <a:pPr indent="-177800" lvl="0" marL="184785" marR="5080" rtl="0" algn="l">
              <a:lnSpc>
                <a:spcPct val="80000"/>
              </a:lnSpc>
              <a:spcBef>
                <a:spcPts val="80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una tabla externa, las filas de  datos no están en los archivos de  la base de datos, sino que en su  lugar se encuentran en un archivo  plano, almacenado de forma  externa a la base de datos</a:t>
            </a:r>
            <a:endParaRPr sz="2800">
              <a:latin typeface="Calibri"/>
              <a:ea typeface="Calibri"/>
              <a:cs typeface="Calibri"/>
              <a:sym typeface="Calibri"/>
            </a:endParaRPr>
          </a:p>
          <a:p>
            <a:pPr indent="-177800" lvl="0" marL="184785" marR="180975" rtl="0" algn="l">
              <a:lnSpc>
                <a:spcPct val="80000"/>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Normalmente, una tabla externa  se utiliza para almacenar datos</a:t>
            </a:r>
            <a:endParaRPr sz="2800">
              <a:latin typeface="Calibri"/>
              <a:ea typeface="Calibri"/>
              <a:cs typeface="Calibri"/>
              <a:sym typeface="Calibri"/>
            </a:endParaRPr>
          </a:p>
        </p:txBody>
      </p:sp>
      <p:sp>
        <p:nvSpPr>
          <p:cNvPr id="257" name="Google Shape;257;p34"/>
          <p:cNvSpPr txBox="1"/>
          <p:nvPr/>
        </p:nvSpPr>
        <p:spPr>
          <a:xfrm>
            <a:off x="655764" y="4998076"/>
            <a:ext cx="4798060" cy="45212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2800">
                <a:solidFill>
                  <a:srgbClr val="4E3629"/>
                </a:solidFill>
                <a:latin typeface="Calibri"/>
                <a:ea typeface="Calibri"/>
                <a:cs typeface="Calibri"/>
                <a:sym typeface="Calibri"/>
              </a:rPr>
              <a:t>migrados de versiones anteriores</a:t>
            </a:r>
            <a:endParaRPr sz="2800">
              <a:latin typeface="Calibri"/>
              <a:ea typeface="Calibri"/>
              <a:cs typeface="Calibri"/>
              <a:sym typeface="Calibri"/>
            </a:endParaRPr>
          </a:p>
        </p:txBody>
      </p:sp>
      <p:sp>
        <p:nvSpPr>
          <p:cNvPr id="258" name="Google Shape;258;p34"/>
          <p:cNvSpPr txBox="1"/>
          <p:nvPr/>
        </p:nvSpPr>
        <p:spPr>
          <a:xfrm>
            <a:off x="655764" y="5339319"/>
            <a:ext cx="7202805" cy="45212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2800">
                <a:solidFill>
                  <a:srgbClr val="4E3629"/>
                </a:solidFill>
                <a:latin typeface="Calibri"/>
                <a:ea typeface="Calibri"/>
                <a:cs typeface="Calibri"/>
                <a:sym typeface="Calibri"/>
              </a:rPr>
              <a:t>de las bases de datos utilizadas por una compañía</a:t>
            </a:r>
            <a:endParaRPr sz="2800">
              <a:latin typeface="Calibri"/>
              <a:ea typeface="Calibri"/>
              <a:cs typeface="Calibri"/>
              <a:sym typeface="Calibri"/>
            </a:endParaRPr>
          </a:p>
        </p:txBody>
      </p:sp>
      <p:grpSp>
        <p:nvGrpSpPr>
          <p:cNvPr id="259" name="Google Shape;259;p34"/>
          <p:cNvGrpSpPr/>
          <p:nvPr/>
        </p:nvGrpSpPr>
        <p:grpSpPr>
          <a:xfrm>
            <a:off x="6064757" y="1852422"/>
            <a:ext cx="2569845" cy="2001520"/>
            <a:chOff x="6064757" y="1852422"/>
            <a:chExt cx="2569845" cy="2001520"/>
          </a:xfrm>
        </p:grpSpPr>
        <p:sp>
          <p:nvSpPr>
            <p:cNvPr id="260" name="Google Shape;260;p34"/>
            <p:cNvSpPr/>
            <p:nvPr/>
          </p:nvSpPr>
          <p:spPr>
            <a:xfrm>
              <a:off x="6064757" y="2102548"/>
              <a:ext cx="2569845" cy="1751330"/>
            </a:xfrm>
            <a:custGeom>
              <a:rect b="b" l="l" r="r" t="t"/>
              <a:pathLst>
                <a:path extrusionOk="0" h="1751329" w="2569845">
                  <a:moveTo>
                    <a:pt x="2569464" y="0"/>
                  </a:moveTo>
                  <a:lnTo>
                    <a:pt x="2550197" y="43395"/>
                  </a:lnTo>
                  <a:lnTo>
                    <a:pt x="2516949" y="71012"/>
                  </a:lnTo>
                  <a:lnTo>
                    <a:pt x="2468503" y="97359"/>
                  </a:lnTo>
                  <a:lnTo>
                    <a:pt x="2405822" y="122248"/>
                  </a:lnTo>
                  <a:lnTo>
                    <a:pt x="2369446" y="134088"/>
                  </a:lnTo>
                  <a:lnTo>
                    <a:pt x="2329872" y="145493"/>
                  </a:lnTo>
                  <a:lnTo>
                    <a:pt x="2287222" y="156440"/>
                  </a:lnTo>
                  <a:lnTo>
                    <a:pt x="2241615" y="166905"/>
                  </a:lnTo>
                  <a:lnTo>
                    <a:pt x="2193174" y="176864"/>
                  </a:lnTo>
                  <a:lnTo>
                    <a:pt x="2142017" y="186296"/>
                  </a:lnTo>
                  <a:lnTo>
                    <a:pt x="2088265" y="195175"/>
                  </a:lnTo>
                  <a:lnTo>
                    <a:pt x="2032040" y="203479"/>
                  </a:lnTo>
                  <a:lnTo>
                    <a:pt x="1973460" y="211184"/>
                  </a:lnTo>
                  <a:lnTo>
                    <a:pt x="1912648" y="218266"/>
                  </a:lnTo>
                  <a:lnTo>
                    <a:pt x="1849723" y="224702"/>
                  </a:lnTo>
                  <a:lnTo>
                    <a:pt x="1784807" y="230469"/>
                  </a:lnTo>
                  <a:lnTo>
                    <a:pt x="1718018" y="235544"/>
                  </a:lnTo>
                  <a:lnTo>
                    <a:pt x="1649478" y="239902"/>
                  </a:lnTo>
                  <a:lnTo>
                    <a:pt x="1579308" y="243520"/>
                  </a:lnTo>
                  <a:lnTo>
                    <a:pt x="1507628" y="246375"/>
                  </a:lnTo>
                  <a:lnTo>
                    <a:pt x="1434558" y="248443"/>
                  </a:lnTo>
                  <a:lnTo>
                    <a:pt x="1360219" y="249701"/>
                  </a:lnTo>
                  <a:lnTo>
                    <a:pt x="1284732" y="250126"/>
                  </a:lnTo>
                  <a:lnTo>
                    <a:pt x="1209244" y="249701"/>
                  </a:lnTo>
                  <a:lnTo>
                    <a:pt x="1134905" y="248443"/>
                  </a:lnTo>
                  <a:lnTo>
                    <a:pt x="1061835" y="246375"/>
                  </a:lnTo>
                  <a:lnTo>
                    <a:pt x="990155" y="243520"/>
                  </a:lnTo>
                  <a:lnTo>
                    <a:pt x="919985" y="239902"/>
                  </a:lnTo>
                  <a:lnTo>
                    <a:pt x="851445" y="235544"/>
                  </a:lnTo>
                  <a:lnTo>
                    <a:pt x="784656" y="230469"/>
                  </a:lnTo>
                  <a:lnTo>
                    <a:pt x="719740" y="224702"/>
                  </a:lnTo>
                  <a:lnTo>
                    <a:pt x="656815" y="218266"/>
                  </a:lnTo>
                  <a:lnTo>
                    <a:pt x="596003" y="211184"/>
                  </a:lnTo>
                  <a:lnTo>
                    <a:pt x="537423" y="203479"/>
                  </a:lnTo>
                  <a:lnTo>
                    <a:pt x="481198" y="195175"/>
                  </a:lnTo>
                  <a:lnTo>
                    <a:pt x="427446" y="186296"/>
                  </a:lnTo>
                  <a:lnTo>
                    <a:pt x="376289" y="176864"/>
                  </a:lnTo>
                  <a:lnTo>
                    <a:pt x="327848" y="166905"/>
                  </a:lnTo>
                  <a:lnTo>
                    <a:pt x="282241" y="156440"/>
                  </a:lnTo>
                  <a:lnTo>
                    <a:pt x="239591" y="145493"/>
                  </a:lnTo>
                  <a:lnTo>
                    <a:pt x="200017" y="134088"/>
                  </a:lnTo>
                  <a:lnTo>
                    <a:pt x="163641" y="122248"/>
                  </a:lnTo>
                  <a:lnTo>
                    <a:pt x="100960" y="97359"/>
                  </a:lnTo>
                  <a:lnTo>
                    <a:pt x="52514" y="71012"/>
                  </a:lnTo>
                  <a:lnTo>
                    <a:pt x="19266" y="43395"/>
                  </a:lnTo>
                  <a:lnTo>
                    <a:pt x="0" y="0"/>
                  </a:lnTo>
                  <a:lnTo>
                    <a:pt x="0" y="1500759"/>
                  </a:lnTo>
                  <a:lnTo>
                    <a:pt x="19266" y="1544154"/>
                  </a:lnTo>
                  <a:lnTo>
                    <a:pt x="52514" y="1571771"/>
                  </a:lnTo>
                  <a:lnTo>
                    <a:pt x="100960" y="1598118"/>
                  </a:lnTo>
                  <a:lnTo>
                    <a:pt x="163641" y="1623007"/>
                  </a:lnTo>
                  <a:lnTo>
                    <a:pt x="200017" y="1634847"/>
                  </a:lnTo>
                  <a:lnTo>
                    <a:pt x="239591" y="1646252"/>
                  </a:lnTo>
                  <a:lnTo>
                    <a:pt x="282241" y="1657199"/>
                  </a:lnTo>
                  <a:lnTo>
                    <a:pt x="327848" y="1667664"/>
                  </a:lnTo>
                  <a:lnTo>
                    <a:pt x="376289" y="1677623"/>
                  </a:lnTo>
                  <a:lnTo>
                    <a:pt x="427446" y="1687055"/>
                  </a:lnTo>
                  <a:lnTo>
                    <a:pt x="481198" y="1695934"/>
                  </a:lnTo>
                  <a:lnTo>
                    <a:pt x="537423" y="1704238"/>
                  </a:lnTo>
                  <a:lnTo>
                    <a:pt x="596003" y="1711943"/>
                  </a:lnTo>
                  <a:lnTo>
                    <a:pt x="656815" y="1719025"/>
                  </a:lnTo>
                  <a:lnTo>
                    <a:pt x="719740" y="1725461"/>
                  </a:lnTo>
                  <a:lnTo>
                    <a:pt x="784656" y="1731228"/>
                  </a:lnTo>
                  <a:lnTo>
                    <a:pt x="851445" y="1736303"/>
                  </a:lnTo>
                  <a:lnTo>
                    <a:pt x="919985" y="1740661"/>
                  </a:lnTo>
                  <a:lnTo>
                    <a:pt x="990155" y="1744279"/>
                  </a:lnTo>
                  <a:lnTo>
                    <a:pt x="1061835" y="1747134"/>
                  </a:lnTo>
                  <a:lnTo>
                    <a:pt x="1134905" y="1749202"/>
                  </a:lnTo>
                  <a:lnTo>
                    <a:pt x="1209244" y="1750460"/>
                  </a:lnTo>
                  <a:lnTo>
                    <a:pt x="1284732" y="1750885"/>
                  </a:lnTo>
                  <a:lnTo>
                    <a:pt x="1360219" y="1750460"/>
                  </a:lnTo>
                  <a:lnTo>
                    <a:pt x="1434558" y="1749202"/>
                  </a:lnTo>
                  <a:lnTo>
                    <a:pt x="1507628" y="1747134"/>
                  </a:lnTo>
                  <a:lnTo>
                    <a:pt x="1579308" y="1744279"/>
                  </a:lnTo>
                  <a:lnTo>
                    <a:pt x="1649478" y="1740661"/>
                  </a:lnTo>
                  <a:lnTo>
                    <a:pt x="1718018" y="1736303"/>
                  </a:lnTo>
                  <a:lnTo>
                    <a:pt x="1784807" y="1731228"/>
                  </a:lnTo>
                  <a:lnTo>
                    <a:pt x="1849723" y="1725461"/>
                  </a:lnTo>
                  <a:lnTo>
                    <a:pt x="1912648" y="1719025"/>
                  </a:lnTo>
                  <a:lnTo>
                    <a:pt x="1973460" y="1711943"/>
                  </a:lnTo>
                  <a:lnTo>
                    <a:pt x="2032040" y="1704238"/>
                  </a:lnTo>
                  <a:lnTo>
                    <a:pt x="2088265" y="1695934"/>
                  </a:lnTo>
                  <a:lnTo>
                    <a:pt x="2142017" y="1687055"/>
                  </a:lnTo>
                  <a:lnTo>
                    <a:pt x="2193174" y="1677623"/>
                  </a:lnTo>
                  <a:lnTo>
                    <a:pt x="2241615" y="1667664"/>
                  </a:lnTo>
                  <a:lnTo>
                    <a:pt x="2287222" y="1657199"/>
                  </a:lnTo>
                  <a:lnTo>
                    <a:pt x="2329872" y="1646252"/>
                  </a:lnTo>
                  <a:lnTo>
                    <a:pt x="2369446" y="1634847"/>
                  </a:lnTo>
                  <a:lnTo>
                    <a:pt x="2405822" y="1623007"/>
                  </a:lnTo>
                  <a:lnTo>
                    <a:pt x="2468503" y="1598118"/>
                  </a:lnTo>
                  <a:lnTo>
                    <a:pt x="2516949" y="1571771"/>
                  </a:lnTo>
                  <a:lnTo>
                    <a:pt x="2550197" y="1544154"/>
                  </a:lnTo>
                  <a:lnTo>
                    <a:pt x="2569464" y="1500759"/>
                  </a:lnTo>
                  <a:lnTo>
                    <a:pt x="2569464" y="0"/>
                  </a:lnTo>
                  <a:close/>
                </a:path>
              </a:pathLst>
            </a:custGeom>
            <a:solidFill>
              <a:srgbClr val="C0C0C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261" name="Google Shape;261;p34"/>
            <p:cNvSpPr/>
            <p:nvPr/>
          </p:nvSpPr>
          <p:spPr>
            <a:xfrm>
              <a:off x="6064757" y="1852422"/>
              <a:ext cx="2569845" cy="500380"/>
            </a:xfrm>
            <a:custGeom>
              <a:rect b="b" l="l" r="r" t="t"/>
              <a:pathLst>
                <a:path extrusionOk="0" h="500380" w="2569845">
                  <a:moveTo>
                    <a:pt x="1284732" y="0"/>
                  </a:moveTo>
                  <a:lnTo>
                    <a:pt x="1209244" y="424"/>
                  </a:lnTo>
                  <a:lnTo>
                    <a:pt x="1134905" y="1682"/>
                  </a:lnTo>
                  <a:lnTo>
                    <a:pt x="1061835" y="3751"/>
                  </a:lnTo>
                  <a:lnTo>
                    <a:pt x="990155" y="6606"/>
                  </a:lnTo>
                  <a:lnTo>
                    <a:pt x="919985" y="10224"/>
                  </a:lnTo>
                  <a:lnTo>
                    <a:pt x="851445" y="14582"/>
                  </a:lnTo>
                  <a:lnTo>
                    <a:pt x="784656" y="19656"/>
                  </a:lnTo>
                  <a:lnTo>
                    <a:pt x="719740" y="25423"/>
                  </a:lnTo>
                  <a:lnTo>
                    <a:pt x="656815" y="31860"/>
                  </a:lnTo>
                  <a:lnTo>
                    <a:pt x="596003" y="38942"/>
                  </a:lnTo>
                  <a:lnTo>
                    <a:pt x="537423" y="46647"/>
                  </a:lnTo>
                  <a:lnTo>
                    <a:pt x="481198" y="54950"/>
                  </a:lnTo>
                  <a:lnTo>
                    <a:pt x="427446" y="63830"/>
                  </a:lnTo>
                  <a:lnTo>
                    <a:pt x="376289" y="73261"/>
                  </a:lnTo>
                  <a:lnTo>
                    <a:pt x="327848" y="83221"/>
                  </a:lnTo>
                  <a:lnTo>
                    <a:pt x="282241" y="93686"/>
                  </a:lnTo>
                  <a:lnTo>
                    <a:pt x="239591" y="104633"/>
                  </a:lnTo>
                  <a:lnTo>
                    <a:pt x="200017" y="116038"/>
                  </a:lnTo>
                  <a:lnTo>
                    <a:pt x="163641" y="127877"/>
                  </a:lnTo>
                  <a:lnTo>
                    <a:pt x="100960" y="152767"/>
                  </a:lnTo>
                  <a:lnTo>
                    <a:pt x="52514" y="179114"/>
                  </a:lnTo>
                  <a:lnTo>
                    <a:pt x="19266" y="206731"/>
                  </a:lnTo>
                  <a:lnTo>
                    <a:pt x="0" y="250126"/>
                  </a:lnTo>
                  <a:lnTo>
                    <a:pt x="2180" y="264823"/>
                  </a:lnTo>
                  <a:lnTo>
                    <a:pt x="33930" y="307477"/>
                  </a:lnTo>
                  <a:lnTo>
                    <a:pt x="74898" y="334482"/>
                  </a:lnTo>
                  <a:lnTo>
                    <a:pt x="130581" y="360124"/>
                  </a:lnTo>
                  <a:lnTo>
                    <a:pt x="200017" y="384214"/>
                  </a:lnTo>
                  <a:lnTo>
                    <a:pt x="239591" y="395619"/>
                  </a:lnTo>
                  <a:lnTo>
                    <a:pt x="282241" y="406566"/>
                  </a:lnTo>
                  <a:lnTo>
                    <a:pt x="327848" y="417031"/>
                  </a:lnTo>
                  <a:lnTo>
                    <a:pt x="376289" y="426991"/>
                  </a:lnTo>
                  <a:lnTo>
                    <a:pt x="427446" y="436422"/>
                  </a:lnTo>
                  <a:lnTo>
                    <a:pt x="481198" y="445302"/>
                  </a:lnTo>
                  <a:lnTo>
                    <a:pt x="537423" y="453605"/>
                  </a:lnTo>
                  <a:lnTo>
                    <a:pt x="596003" y="461310"/>
                  </a:lnTo>
                  <a:lnTo>
                    <a:pt x="656815" y="468392"/>
                  </a:lnTo>
                  <a:lnTo>
                    <a:pt x="719740" y="474829"/>
                  </a:lnTo>
                  <a:lnTo>
                    <a:pt x="784656" y="480596"/>
                  </a:lnTo>
                  <a:lnTo>
                    <a:pt x="851445" y="485670"/>
                  </a:lnTo>
                  <a:lnTo>
                    <a:pt x="919985" y="490028"/>
                  </a:lnTo>
                  <a:lnTo>
                    <a:pt x="990155" y="493646"/>
                  </a:lnTo>
                  <a:lnTo>
                    <a:pt x="1061835" y="496501"/>
                  </a:lnTo>
                  <a:lnTo>
                    <a:pt x="1134905" y="498570"/>
                  </a:lnTo>
                  <a:lnTo>
                    <a:pt x="1209244" y="499828"/>
                  </a:lnTo>
                  <a:lnTo>
                    <a:pt x="1284732" y="500252"/>
                  </a:lnTo>
                  <a:lnTo>
                    <a:pt x="1360219" y="499828"/>
                  </a:lnTo>
                  <a:lnTo>
                    <a:pt x="1434558" y="498570"/>
                  </a:lnTo>
                  <a:lnTo>
                    <a:pt x="1507628" y="496501"/>
                  </a:lnTo>
                  <a:lnTo>
                    <a:pt x="1579308" y="493646"/>
                  </a:lnTo>
                  <a:lnTo>
                    <a:pt x="1649478" y="490028"/>
                  </a:lnTo>
                  <a:lnTo>
                    <a:pt x="1718018" y="485670"/>
                  </a:lnTo>
                  <a:lnTo>
                    <a:pt x="1784807" y="480596"/>
                  </a:lnTo>
                  <a:lnTo>
                    <a:pt x="1849723" y="474829"/>
                  </a:lnTo>
                  <a:lnTo>
                    <a:pt x="1912648" y="468392"/>
                  </a:lnTo>
                  <a:lnTo>
                    <a:pt x="1973460" y="461310"/>
                  </a:lnTo>
                  <a:lnTo>
                    <a:pt x="2032040" y="453605"/>
                  </a:lnTo>
                  <a:lnTo>
                    <a:pt x="2088265" y="445302"/>
                  </a:lnTo>
                  <a:lnTo>
                    <a:pt x="2142017" y="436422"/>
                  </a:lnTo>
                  <a:lnTo>
                    <a:pt x="2193174" y="426991"/>
                  </a:lnTo>
                  <a:lnTo>
                    <a:pt x="2241615" y="417031"/>
                  </a:lnTo>
                  <a:lnTo>
                    <a:pt x="2287222" y="406566"/>
                  </a:lnTo>
                  <a:lnTo>
                    <a:pt x="2329872" y="395619"/>
                  </a:lnTo>
                  <a:lnTo>
                    <a:pt x="2369446" y="384214"/>
                  </a:lnTo>
                  <a:lnTo>
                    <a:pt x="2405822" y="372375"/>
                  </a:lnTo>
                  <a:lnTo>
                    <a:pt x="2468503" y="347485"/>
                  </a:lnTo>
                  <a:lnTo>
                    <a:pt x="2516949" y="321138"/>
                  </a:lnTo>
                  <a:lnTo>
                    <a:pt x="2550197" y="293521"/>
                  </a:lnTo>
                  <a:lnTo>
                    <a:pt x="2569464" y="250126"/>
                  </a:lnTo>
                  <a:lnTo>
                    <a:pt x="2567283" y="235429"/>
                  </a:lnTo>
                  <a:lnTo>
                    <a:pt x="2535533" y="192775"/>
                  </a:lnTo>
                  <a:lnTo>
                    <a:pt x="2494565" y="165770"/>
                  </a:lnTo>
                  <a:lnTo>
                    <a:pt x="2438882" y="140128"/>
                  </a:lnTo>
                  <a:lnTo>
                    <a:pt x="2369446" y="116038"/>
                  </a:lnTo>
                  <a:lnTo>
                    <a:pt x="2329872" y="104633"/>
                  </a:lnTo>
                  <a:lnTo>
                    <a:pt x="2287222" y="93686"/>
                  </a:lnTo>
                  <a:lnTo>
                    <a:pt x="2241615" y="83221"/>
                  </a:lnTo>
                  <a:lnTo>
                    <a:pt x="2193174" y="73261"/>
                  </a:lnTo>
                  <a:lnTo>
                    <a:pt x="2142017" y="63830"/>
                  </a:lnTo>
                  <a:lnTo>
                    <a:pt x="2088265" y="54950"/>
                  </a:lnTo>
                  <a:lnTo>
                    <a:pt x="2032040" y="46647"/>
                  </a:lnTo>
                  <a:lnTo>
                    <a:pt x="1973460" y="38942"/>
                  </a:lnTo>
                  <a:lnTo>
                    <a:pt x="1912648" y="31860"/>
                  </a:lnTo>
                  <a:lnTo>
                    <a:pt x="1849723" y="25423"/>
                  </a:lnTo>
                  <a:lnTo>
                    <a:pt x="1784807" y="19656"/>
                  </a:lnTo>
                  <a:lnTo>
                    <a:pt x="1718018" y="14582"/>
                  </a:lnTo>
                  <a:lnTo>
                    <a:pt x="1649478" y="10224"/>
                  </a:lnTo>
                  <a:lnTo>
                    <a:pt x="1579308" y="6606"/>
                  </a:lnTo>
                  <a:lnTo>
                    <a:pt x="1507628" y="3751"/>
                  </a:lnTo>
                  <a:lnTo>
                    <a:pt x="1434558" y="1682"/>
                  </a:lnTo>
                  <a:lnTo>
                    <a:pt x="1360219" y="424"/>
                  </a:lnTo>
                  <a:lnTo>
                    <a:pt x="1284732" y="0"/>
                  </a:lnTo>
                  <a:close/>
                </a:path>
              </a:pathLst>
            </a:custGeom>
            <a:solidFill>
              <a:srgbClr val="DADADA"/>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262" name="Google Shape;262;p34"/>
            <p:cNvSpPr/>
            <p:nvPr/>
          </p:nvSpPr>
          <p:spPr>
            <a:xfrm>
              <a:off x="6064757" y="1852422"/>
              <a:ext cx="2569845" cy="2001520"/>
            </a:xfrm>
            <a:custGeom>
              <a:rect b="b" l="l" r="r" t="t"/>
              <a:pathLst>
                <a:path extrusionOk="0" h="2001520" w="2569845">
                  <a:moveTo>
                    <a:pt x="2569464" y="250126"/>
                  </a:moveTo>
                  <a:lnTo>
                    <a:pt x="2550197" y="293521"/>
                  </a:lnTo>
                  <a:lnTo>
                    <a:pt x="2516949" y="321138"/>
                  </a:lnTo>
                  <a:lnTo>
                    <a:pt x="2468503" y="347485"/>
                  </a:lnTo>
                  <a:lnTo>
                    <a:pt x="2405822" y="372375"/>
                  </a:lnTo>
                  <a:lnTo>
                    <a:pt x="2369446" y="384214"/>
                  </a:lnTo>
                  <a:lnTo>
                    <a:pt x="2329872" y="395619"/>
                  </a:lnTo>
                  <a:lnTo>
                    <a:pt x="2287222" y="406566"/>
                  </a:lnTo>
                  <a:lnTo>
                    <a:pt x="2241615" y="417031"/>
                  </a:lnTo>
                  <a:lnTo>
                    <a:pt x="2193174" y="426991"/>
                  </a:lnTo>
                  <a:lnTo>
                    <a:pt x="2142017" y="436422"/>
                  </a:lnTo>
                  <a:lnTo>
                    <a:pt x="2088265" y="445302"/>
                  </a:lnTo>
                  <a:lnTo>
                    <a:pt x="2032040" y="453605"/>
                  </a:lnTo>
                  <a:lnTo>
                    <a:pt x="1973460" y="461310"/>
                  </a:lnTo>
                  <a:lnTo>
                    <a:pt x="1912648" y="468392"/>
                  </a:lnTo>
                  <a:lnTo>
                    <a:pt x="1849723" y="474829"/>
                  </a:lnTo>
                  <a:lnTo>
                    <a:pt x="1784807" y="480596"/>
                  </a:lnTo>
                  <a:lnTo>
                    <a:pt x="1718018" y="485670"/>
                  </a:lnTo>
                  <a:lnTo>
                    <a:pt x="1649478" y="490028"/>
                  </a:lnTo>
                  <a:lnTo>
                    <a:pt x="1579308" y="493646"/>
                  </a:lnTo>
                  <a:lnTo>
                    <a:pt x="1507628" y="496501"/>
                  </a:lnTo>
                  <a:lnTo>
                    <a:pt x="1434558" y="498570"/>
                  </a:lnTo>
                  <a:lnTo>
                    <a:pt x="1360219" y="499828"/>
                  </a:lnTo>
                  <a:lnTo>
                    <a:pt x="1284732" y="500252"/>
                  </a:lnTo>
                  <a:lnTo>
                    <a:pt x="1209244" y="499828"/>
                  </a:lnTo>
                  <a:lnTo>
                    <a:pt x="1134905" y="498570"/>
                  </a:lnTo>
                  <a:lnTo>
                    <a:pt x="1061835" y="496501"/>
                  </a:lnTo>
                  <a:lnTo>
                    <a:pt x="990155" y="493646"/>
                  </a:lnTo>
                  <a:lnTo>
                    <a:pt x="919985" y="490028"/>
                  </a:lnTo>
                  <a:lnTo>
                    <a:pt x="851445" y="485670"/>
                  </a:lnTo>
                  <a:lnTo>
                    <a:pt x="784656" y="480596"/>
                  </a:lnTo>
                  <a:lnTo>
                    <a:pt x="719740" y="474829"/>
                  </a:lnTo>
                  <a:lnTo>
                    <a:pt x="656815" y="468392"/>
                  </a:lnTo>
                  <a:lnTo>
                    <a:pt x="596003" y="461310"/>
                  </a:lnTo>
                  <a:lnTo>
                    <a:pt x="537423" y="453605"/>
                  </a:lnTo>
                  <a:lnTo>
                    <a:pt x="481198" y="445302"/>
                  </a:lnTo>
                  <a:lnTo>
                    <a:pt x="427446" y="436422"/>
                  </a:lnTo>
                  <a:lnTo>
                    <a:pt x="376289" y="426991"/>
                  </a:lnTo>
                  <a:lnTo>
                    <a:pt x="327848" y="417031"/>
                  </a:lnTo>
                  <a:lnTo>
                    <a:pt x="282241" y="406566"/>
                  </a:lnTo>
                  <a:lnTo>
                    <a:pt x="239591" y="395619"/>
                  </a:lnTo>
                  <a:lnTo>
                    <a:pt x="200017" y="384214"/>
                  </a:lnTo>
                  <a:lnTo>
                    <a:pt x="163641" y="372375"/>
                  </a:lnTo>
                  <a:lnTo>
                    <a:pt x="100960" y="347485"/>
                  </a:lnTo>
                  <a:lnTo>
                    <a:pt x="52514" y="321138"/>
                  </a:lnTo>
                  <a:lnTo>
                    <a:pt x="19266" y="293521"/>
                  </a:lnTo>
                  <a:lnTo>
                    <a:pt x="0" y="250126"/>
                  </a:lnTo>
                  <a:lnTo>
                    <a:pt x="2180" y="235429"/>
                  </a:lnTo>
                  <a:lnTo>
                    <a:pt x="33930" y="192775"/>
                  </a:lnTo>
                  <a:lnTo>
                    <a:pt x="74898" y="165770"/>
                  </a:lnTo>
                  <a:lnTo>
                    <a:pt x="130581" y="140128"/>
                  </a:lnTo>
                  <a:lnTo>
                    <a:pt x="200017" y="116038"/>
                  </a:lnTo>
                  <a:lnTo>
                    <a:pt x="239591" y="104633"/>
                  </a:lnTo>
                  <a:lnTo>
                    <a:pt x="282241" y="93686"/>
                  </a:lnTo>
                  <a:lnTo>
                    <a:pt x="327848" y="83221"/>
                  </a:lnTo>
                  <a:lnTo>
                    <a:pt x="376289" y="73261"/>
                  </a:lnTo>
                  <a:lnTo>
                    <a:pt x="427446" y="63830"/>
                  </a:lnTo>
                  <a:lnTo>
                    <a:pt x="481198" y="54950"/>
                  </a:lnTo>
                  <a:lnTo>
                    <a:pt x="537423" y="46647"/>
                  </a:lnTo>
                  <a:lnTo>
                    <a:pt x="596003" y="38942"/>
                  </a:lnTo>
                  <a:lnTo>
                    <a:pt x="656815" y="31860"/>
                  </a:lnTo>
                  <a:lnTo>
                    <a:pt x="719740" y="25423"/>
                  </a:lnTo>
                  <a:lnTo>
                    <a:pt x="784656" y="19656"/>
                  </a:lnTo>
                  <a:lnTo>
                    <a:pt x="851445" y="14582"/>
                  </a:lnTo>
                  <a:lnTo>
                    <a:pt x="919985" y="10224"/>
                  </a:lnTo>
                  <a:lnTo>
                    <a:pt x="990155" y="6606"/>
                  </a:lnTo>
                  <a:lnTo>
                    <a:pt x="1061835" y="3751"/>
                  </a:lnTo>
                  <a:lnTo>
                    <a:pt x="1134905" y="1682"/>
                  </a:lnTo>
                  <a:lnTo>
                    <a:pt x="1209244" y="424"/>
                  </a:lnTo>
                  <a:lnTo>
                    <a:pt x="1284732" y="0"/>
                  </a:lnTo>
                  <a:lnTo>
                    <a:pt x="1360219" y="424"/>
                  </a:lnTo>
                  <a:lnTo>
                    <a:pt x="1434558" y="1682"/>
                  </a:lnTo>
                  <a:lnTo>
                    <a:pt x="1507628" y="3751"/>
                  </a:lnTo>
                  <a:lnTo>
                    <a:pt x="1579308" y="6606"/>
                  </a:lnTo>
                  <a:lnTo>
                    <a:pt x="1649478" y="10224"/>
                  </a:lnTo>
                  <a:lnTo>
                    <a:pt x="1718018" y="14582"/>
                  </a:lnTo>
                  <a:lnTo>
                    <a:pt x="1784807" y="19656"/>
                  </a:lnTo>
                  <a:lnTo>
                    <a:pt x="1849723" y="25423"/>
                  </a:lnTo>
                  <a:lnTo>
                    <a:pt x="1912648" y="31860"/>
                  </a:lnTo>
                  <a:lnTo>
                    <a:pt x="1973460" y="38942"/>
                  </a:lnTo>
                  <a:lnTo>
                    <a:pt x="2032040" y="46647"/>
                  </a:lnTo>
                  <a:lnTo>
                    <a:pt x="2088265" y="54950"/>
                  </a:lnTo>
                  <a:lnTo>
                    <a:pt x="2142017" y="63830"/>
                  </a:lnTo>
                  <a:lnTo>
                    <a:pt x="2193174" y="73261"/>
                  </a:lnTo>
                  <a:lnTo>
                    <a:pt x="2241615" y="83221"/>
                  </a:lnTo>
                  <a:lnTo>
                    <a:pt x="2287222" y="93686"/>
                  </a:lnTo>
                  <a:lnTo>
                    <a:pt x="2329872" y="104633"/>
                  </a:lnTo>
                  <a:lnTo>
                    <a:pt x="2369446" y="116038"/>
                  </a:lnTo>
                  <a:lnTo>
                    <a:pt x="2405822" y="127877"/>
                  </a:lnTo>
                  <a:lnTo>
                    <a:pt x="2468503" y="152767"/>
                  </a:lnTo>
                  <a:lnTo>
                    <a:pt x="2516949" y="179114"/>
                  </a:lnTo>
                  <a:lnTo>
                    <a:pt x="2550197" y="206731"/>
                  </a:lnTo>
                  <a:lnTo>
                    <a:pt x="2569464" y="250126"/>
                  </a:lnTo>
                  <a:close/>
                </a:path>
                <a:path extrusionOk="0" h="2001520" w="2569845">
                  <a:moveTo>
                    <a:pt x="2569464" y="250126"/>
                  </a:moveTo>
                  <a:lnTo>
                    <a:pt x="2569464" y="1750885"/>
                  </a:lnTo>
                  <a:lnTo>
                    <a:pt x="2567283" y="1765582"/>
                  </a:lnTo>
                  <a:lnTo>
                    <a:pt x="2535533" y="1808236"/>
                  </a:lnTo>
                  <a:lnTo>
                    <a:pt x="2494565" y="1835241"/>
                  </a:lnTo>
                  <a:lnTo>
                    <a:pt x="2438882" y="1860883"/>
                  </a:lnTo>
                  <a:lnTo>
                    <a:pt x="2369446" y="1884973"/>
                  </a:lnTo>
                  <a:lnTo>
                    <a:pt x="2329872" y="1896378"/>
                  </a:lnTo>
                  <a:lnTo>
                    <a:pt x="2287222" y="1907325"/>
                  </a:lnTo>
                  <a:lnTo>
                    <a:pt x="2241615" y="1917790"/>
                  </a:lnTo>
                  <a:lnTo>
                    <a:pt x="2193174" y="1927750"/>
                  </a:lnTo>
                  <a:lnTo>
                    <a:pt x="2142017" y="1937181"/>
                  </a:lnTo>
                  <a:lnTo>
                    <a:pt x="2088265" y="1946061"/>
                  </a:lnTo>
                  <a:lnTo>
                    <a:pt x="2032040" y="1954364"/>
                  </a:lnTo>
                  <a:lnTo>
                    <a:pt x="1973460" y="1962069"/>
                  </a:lnTo>
                  <a:lnTo>
                    <a:pt x="1912648" y="1969151"/>
                  </a:lnTo>
                  <a:lnTo>
                    <a:pt x="1849723" y="1975588"/>
                  </a:lnTo>
                  <a:lnTo>
                    <a:pt x="1784807" y="1981355"/>
                  </a:lnTo>
                  <a:lnTo>
                    <a:pt x="1718018" y="1986429"/>
                  </a:lnTo>
                  <a:lnTo>
                    <a:pt x="1649478" y="1990787"/>
                  </a:lnTo>
                  <a:lnTo>
                    <a:pt x="1579308" y="1994405"/>
                  </a:lnTo>
                  <a:lnTo>
                    <a:pt x="1507628" y="1997260"/>
                  </a:lnTo>
                  <a:lnTo>
                    <a:pt x="1434558" y="1999329"/>
                  </a:lnTo>
                  <a:lnTo>
                    <a:pt x="1360219" y="2000587"/>
                  </a:lnTo>
                  <a:lnTo>
                    <a:pt x="1284732" y="2001012"/>
                  </a:lnTo>
                  <a:lnTo>
                    <a:pt x="1209244" y="2000587"/>
                  </a:lnTo>
                  <a:lnTo>
                    <a:pt x="1134905" y="1999329"/>
                  </a:lnTo>
                  <a:lnTo>
                    <a:pt x="1061835" y="1997260"/>
                  </a:lnTo>
                  <a:lnTo>
                    <a:pt x="990155" y="1994405"/>
                  </a:lnTo>
                  <a:lnTo>
                    <a:pt x="919985" y="1990787"/>
                  </a:lnTo>
                  <a:lnTo>
                    <a:pt x="851445" y="1986429"/>
                  </a:lnTo>
                  <a:lnTo>
                    <a:pt x="784656" y="1981355"/>
                  </a:lnTo>
                  <a:lnTo>
                    <a:pt x="719740" y="1975588"/>
                  </a:lnTo>
                  <a:lnTo>
                    <a:pt x="656815" y="1969151"/>
                  </a:lnTo>
                  <a:lnTo>
                    <a:pt x="596003" y="1962069"/>
                  </a:lnTo>
                  <a:lnTo>
                    <a:pt x="537423" y="1954364"/>
                  </a:lnTo>
                  <a:lnTo>
                    <a:pt x="481198" y="1946061"/>
                  </a:lnTo>
                  <a:lnTo>
                    <a:pt x="427446" y="1937181"/>
                  </a:lnTo>
                  <a:lnTo>
                    <a:pt x="376289" y="1927750"/>
                  </a:lnTo>
                  <a:lnTo>
                    <a:pt x="327848" y="1917790"/>
                  </a:lnTo>
                  <a:lnTo>
                    <a:pt x="282241" y="1907325"/>
                  </a:lnTo>
                  <a:lnTo>
                    <a:pt x="239591" y="1896378"/>
                  </a:lnTo>
                  <a:lnTo>
                    <a:pt x="200017" y="1884973"/>
                  </a:lnTo>
                  <a:lnTo>
                    <a:pt x="163641" y="1873134"/>
                  </a:lnTo>
                  <a:lnTo>
                    <a:pt x="100960" y="1848244"/>
                  </a:lnTo>
                  <a:lnTo>
                    <a:pt x="52514" y="1821897"/>
                  </a:lnTo>
                  <a:lnTo>
                    <a:pt x="19266" y="1794280"/>
                  </a:lnTo>
                  <a:lnTo>
                    <a:pt x="0" y="1750885"/>
                  </a:lnTo>
                  <a:lnTo>
                    <a:pt x="0" y="250126"/>
                  </a:lnTo>
                </a:path>
              </a:pathLst>
            </a:custGeom>
            <a:noFill/>
            <a:ln cap="flat" cmpd="sng" w="28950">
              <a:solidFill>
                <a:srgbClr val="4E3629"/>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grpSp>
      <p:sp>
        <p:nvSpPr>
          <p:cNvPr id="263" name="Google Shape;263;p34"/>
          <p:cNvSpPr txBox="1"/>
          <p:nvPr/>
        </p:nvSpPr>
        <p:spPr>
          <a:xfrm>
            <a:off x="6682839" y="1968550"/>
            <a:ext cx="1383665" cy="26924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1" lang="en-US" sz="1600">
                <a:solidFill>
                  <a:srgbClr val="4E3629"/>
                </a:solidFill>
                <a:latin typeface="Calibri"/>
                <a:ea typeface="Calibri"/>
                <a:cs typeface="Calibri"/>
                <a:sym typeface="Calibri"/>
              </a:rPr>
              <a:t>Oracle </a:t>
            </a:r>
            <a:r>
              <a:rPr lang="en-US" sz="1600">
                <a:solidFill>
                  <a:srgbClr val="4E3629"/>
                </a:solidFill>
                <a:latin typeface="Calibri"/>
                <a:ea typeface="Calibri"/>
                <a:cs typeface="Calibri"/>
                <a:sym typeface="Calibri"/>
              </a:rPr>
              <a:t>Database</a:t>
            </a:r>
            <a:endParaRPr sz="1600">
              <a:latin typeface="Calibri"/>
              <a:ea typeface="Calibri"/>
              <a:cs typeface="Calibri"/>
              <a:sym typeface="Calibri"/>
            </a:endParaRPr>
          </a:p>
        </p:txBody>
      </p:sp>
      <p:grpSp>
        <p:nvGrpSpPr>
          <p:cNvPr id="264" name="Google Shape;264;p34"/>
          <p:cNvGrpSpPr/>
          <p:nvPr/>
        </p:nvGrpSpPr>
        <p:grpSpPr>
          <a:xfrm>
            <a:off x="7730489" y="4046981"/>
            <a:ext cx="904240" cy="373380"/>
            <a:chOff x="7730489" y="4046981"/>
            <a:chExt cx="904240" cy="373380"/>
          </a:xfrm>
        </p:grpSpPr>
        <p:sp>
          <p:nvSpPr>
            <p:cNvPr id="265" name="Google Shape;265;p34"/>
            <p:cNvSpPr/>
            <p:nvPr/>
          </p:nvSpPr>
          <p:spPr>
            <a:xfrm>
              <a:off x="7730489" y="4046981"/>
              <a:ext cx="904240" cy="373380"/>
            </a:xfrm>
            <a:custGeom>
              <a:rect b="b" l="l" r="r" t="t"/>
              <a:pathLst>
                <a:path extrusionOk="0" h="373379" w="904240">
                  <a:moveTo>
                    <a:pt x="903731" y="0"/>
                  </a:moveTo>
                  <a:lnTo>
                    <a:pt x="0" y="0"/>
                  </a:lnTo>
                  <a:lnTo>
                    <a:pt x="0" y="373380"/>
                  </a:lnTo>
                  <a:lnTo>
                    <a:pt x="903731" y="373380"/>
                  </a:lnTo>
                  <a:lnTo>
                    <a:pt x="903731" y="0"/>
                  </a:lnTo>
                  <a:close/>
                </a:path>
              </a:pathLst>
            </a:custGeom>
            <a:solidFill>
              <a:srgbClr val="4E3629"/>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266" name="Google Shape;266;p34"/>
            <p:cNvSpPr/>
            <p:nvPr/>
          </p:nvSpPr>
          <p:spPr>
            <a:xfrm>
              <a:off x="7730489" y="4046981"/>
              <a:ext cx="904240" cy="373380"/>
            </a:xfrm>
            <a:custGeom>
              <a:rect b="b" l="l" r="r" t="t"/>
              <a:pathLst>
                <a:path extrusionOk="0" h="373379" w="904240">
                  <a:moveTo>
                    <a:pt x="0" y="0"/>
                  </a:moveTo>
                  <a:lnTo>
                    <a:pt x="903731" y="0"/>
                  </a:lnTo>
                  <a:lnTo>
                    <a:pt x="903731" y="373380"/>
                  </a:lnTo>
                  <a:lnTo>
                    <a:pt x="0" y="373380"/>
                  </a:lnTo>
                  <a:lnTo>
                    <a:pt x="0" y="0"/>
                  </a:lnTo>
                  <a:close/>
                </a:path>
              </a:pathLst>
            </a:custGeom>
            <a:noFill/>
            <a:ln cap="flat" cmpd="sng" w="28950">
              <a:solidFill>
                <a:srgbClr val="4E3629"/>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grpSp>
      <p:grpSp>
        <p:nvGrpSpPr>
          <p:cNvPr id="267" name="Google Shape;267;p34"/>
          <p:cNvGrpSpPr/>
          <p:nvPr/>
        </p:nvGrpSpPr>
        <p:grpSpPr>
          <a:xfrm>
            <a:off x="5976366" y="4046981"/>
            <a:ext cx="927100" cy="373380"/>
            <a:chOff x="5976366" y="4046981"/>
            <a:chExt cx="927100" cy="373380"/>
          </a:xfrm>
        </p:grpSpPr>
        <p:sp>
          <p:nvSpPr>
            <p:cNvPr id="268" name="Google Shape;268;p34"/>
            <p:cNvSpPr/>
            <p:nvPr/>
          </p:nvSpPr>
          <p:spPr>
            <a:xfrm>
              <a:off x="5976366" y="4046981"/>
              <a:ext cx="927100" cy="373380"/>
            </a:xfrm>
            <a:custGeom>
              <a:rect b="b" l="l" r="r" t="t"/>
              <a:pathLst>
                <a:path extrusionOk="0" h="373379" w="927100">
                  <a:moveTo>
                    <a:pt x="926591" y="0"/>
                  </a:moveTo>
                  <a:lnTo>
                    <a:pt x="0" y="0"/>
                  </a:lnTo>
                  <a:lnTo>
                    <a:pt x="0" y="373380"/>
                  </a:lnTo>
                  <a:lnTo>
                    <a:pt x="926591" y="373380"/>
                  </a:lnTo>
                  <a:lnTo>
                    <a:pt x="926591" y="0"/>
                  </a:lnTo>
                  <a:close/>
                </a:path>
              </a:pathLst>
            </a:custGeom>
            <a:solidFill>
              <a:srgbClr val="FFC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269" name="Google Shape;269;p34"/>
            <p:cNvSpPr/>
            <p:nvPr/>
          </p:nvSpPr>
          <p:spPr>
            <a:xfrm>
              <a:off x="5976366" y="4046981"/>
              <a:ext cx="927100" cy="373380"/>
            </a:xfrm>
            <a:custGeom>
              <a:rect b="b" l="l" r="r" t="t"/>
              <a:pathLst>
                <a:path extrusionOk="0" h="373379" w="927100">
                  <a:moveTo>
                    <a:pt x="0" y="0"/>
                  </a:moveTo>
                  <a:lnTo>
                    <a:pt x="926591" y="0"/>
                  </a:lnTo>
                  <a:lnTo>
                    <a:pt x="926591" y="373380"/>
                  </a:lnTo>
                  <a:lnTo>
                    <a:pt x="0" y="373380"/>
                  </a:lnTo>
                  <a:lnTo>
                    <a:pt x="0" y="0"/>
                  </a:lnTo>
                  <a:close/>
                </a:path>
              </a:pathLst>
            </a:custGeom>
            <a:noFill/>
            <a:ln cap="flat" cmpd="sng" w="28950">
              <a:solidFill>
                <a:srgbClr val="4E3629"/>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grpSp>
      <p:sp>
        <p:nvSpPr>
          <p:cNvPr id="270" name="Google Shape;270;p34"/>
          <p:cNvSpPr txBox="1"/>
          <p:nvPr/>
        </p:nvSpPr>
        <p:spPr>
          <a:xfrm>
            <a:off x="5843047" y="4438001"/>
            <a:ext cx="1159510" cy="848360"/>
          </a:xfrm>
          <a:prstGeom prst="rect">
            <a:avLst/>
          </a:prstGeom>
          <a:noFill/>
          <a:ln>
            <a:noFill/>
          </a:ln>
        </p:spPr>
        <p:txBody>
          <a:bodyPr anchorCtr="0" anchor="t" bIns="0" lIns="0" spcFirstLastPara="1" rIns="0" wrap="square" tIns="12700">
            <a:spAutoFit/>
          </a:bodyPr>
          <a:lstStyle/>
          <a:p>
            <a:pPr indent="2540" lvl="0" marL="12700" marR="5080" rtl="0" algn="ctr">
              <a:lnSpc>
                <a:spcPct val="100000"/>
              </a:lnSpc>
              <a:spcBef>
                <a:spcPts val="0"/>
              </a:spcBef>
              <a:spcAft>
                <a:spcPts val="0"/>
              </a:spcAft>
              <a:buNone/>
            </a:pPr>
            <a:r>
              <a:rPr b="1" lang="en-US" sz="1800">
                <a:solidFill>
                  <a:srgbClr val="4E3629"/>
                </a:solidFill>
                <a:latin typeface="Calibri"/>
                <a:ea typeface="Calibri"/>
                <a:cs typeface="Calibri"/>
                <a:sym typeface="Calibri"/>
              </a:rPr>
              <a:t>Archivo  plano: tabla  externa 1</a:t>
            </a:r>
            <a:endParaRPr sz="1800">
              <a:latin typeface="Calibri"/>
              <a:ea typeface="Calibri"/>
              <a:cs typeface="Calibri"/>
              <a:sym typeface="Calibri"/>
            </a:endParaRPr>
          </a:p>
        </p:txBody>
      </p:sp>
      <p:sp>
        <p:nvSpPr>
          <p:cNvPr id="271" name="Google Shape;271;p34"/>
          <p:cNvSpPr txBox="1"/>
          <p:nvPr>
            <p:ph idx="10" type="dt"/>
          </p:nvPr>
        </p:nvSpPr>
        <p:spPr>
          <a:xfrm>
            <a:off x="2874191" y="6516395"/>
            <a:ext cx="834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13-1</a:t>
            </a:r>
            <a:endParaRPr/>
          </a:p>
          <a:p>
            <a:pPr indent="0" lvl="0" marL="12700" rtl="0" algn="l">
              <a:lnSpc>
                <a:spcPct val="120624"/>
              </a:lnSpc>
              <a:spcBef>
                <a:spcPts val="0"/>
              </a:spcBef>
              <a:spcAft>
                <a:spcPts val="0"/>
              </a:spcAft>
              <a:buNone/>
            </a:pPr>
            <a:r>
              <a:rPr lang="en-US"/>
              <a:t>Creación de tablas</a:t>
            </a:r>
            <a:endParaRPr/>
          </a:p>
        </p:txBody>
      </p:sp>
      <p:sp>
        <p:nvSpPr>
          <p:cNvPr id="272" name="Google Shape;272;p34"/>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73" name="Google Shape;273;p34"/>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74" name="Google Shape;274;p34"/>
          <p:cNvSpPr txBox="1"/>
          <p:nvPr/>
        </p:nvSpPr>
        <p:spPr>
          <a:xfrm>
            <a:off x="7595495" y="4446002"/>
            <a:ext cx="1159510" cy="848360"/>
          </a:xfrm>
          <a:prstGeom prst="rect">
            <a:avLst/>
          </a:prstGeom>
          <a:noFill/>
          <a:ln>
            <a:noFill/>
          </a:ln>
        </p:spPr>
        <p:txBody>
          <a:bodyPr anchorCtr="0" anchor="t" bIns="0" lIns="0" spcFirstLastPara="1" rIns="0" wrap="square" tIns="12700">
            <a:spAutoFit/>
          </a:bodyPr>
          <a:lstStyle/>
          <a:p>
            <a:pPr indent="2540" lvl="0" marL="12700" marR="5080" rtl="0" algn="ctr">
              <a:lnSpc>
                <a:spcPct val="100000"/>
              </a:lnSpc>
              <a:spcBef>
                <a:spcPts val="0"/>
              </a:spcBef>
              <a:spcAft>
                <a:spcPts val="0"/>
              </a:spcAft>
              <a:buNone/>
            </a:pPr>
            <a:r>
              <a:rPr b="1" lang="en-US" sz="1800">
                <a:solidFill>
                  <a:srgbClr val="4E3629"/>
                </a:solidFill>
                <a:latin typeface="Calibri"/>
                <a:ea typeface="Calibri"/>
                <a:cs typeface="Calibri"/>
                <a:sym typeface="Calibri"/>
              </a:rPr>
              <a:t>Archivo  plano: tabla  externa 2</a:t>
            </a:r>
            <a:endParaRPr sz="1800">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35"/>
          <p:cNvSpPr txBox="1"/>
          <p:nvPr>
            <p:ph type="title"/>
          </p:nvPr>
        </p:nvSpPr>
        <p:spPr>
          <a:xfrm>
            <a:off x="392112" y="748031"/>
            <a:ext cx="26364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Tablas Externas</a:t>
            </a:r>
            <a:endParaRPr/>
          </a:p>
        </p:txBody>
      </p:sp>
      <p:sp>
        <p:nvSpPr>
          <p:cNvPr id="280" name="Google Shape;280;p35"/>
          <p:cNvSpPr txBox="1"/>
          <p:nvPr/>
        </p:nvSpPr>
        <p:spPr>
          <a:xfrm>
            <a:off x="483552" y="1381889"/>
            <a:ext cx="5497830" cy="4309110"/>
          </a:xfrm>
          <a:prstGeom prst="rect">
            <a:avLst/>
          </a:prstGeom>
          <a:noFill/>
          <a:ln>
            <a:noFill/>
          </a:ln>
        </p:spPr>
        <p:txBody>
          <a:bodyPr anchorCtr="0" anchor="t" bIns="0" lIns="0" spcFirstLastPara="1" rIns="0" wrap="square" tIns="97150">
            <a:spAutoFit/>
          </a:bodyPr>
          <a:lstStyle/>
          <a:p>
            <a:pPr indent="-177800" lvl="0" marL="184785" marR="5080" rtl="0" algn="l">
              <a:lnSpc>
                <a:spcPct val="8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Cuando una compañía implanta una  nueva aplicación y base de datos,  suele tener que importar la mayoría  de los datos de los sistemas antiguos  al nuevo sistema para el acceso de  lectura y escritura normal, pero  puede haber algunos datos que no  se utilicen con frecuencia y, por</a:t>
            </a:r>
            <a:endParaRPr sz="2800">
              <a:latin typeface="Calibri"/>
              <a:ea typeface="Calibri"/>
              <a:cs typeface="Calibri"/>
              <a:sym typeface="Calibri"/>
            </a:endParaRPr>
          </a:p>
          <a:p>
            <a:pPr indent="0" lvl="0" marL="184785" marR="0" rtl="0" algn="l">
              <a:lnSpc>
                <a:spcPct val="83928"/>
              </a:lnSpc>
              <a:spcBef>
                <a:spcPts val="0"/>
              </a:spcBef>
              <a:spcAft>
                <a:spcPts val="0"/>
              </a:spcAft>
              <a:buNone/>
            </a:pPr>
            <a:r>
              <a:rPr lang="en-US" sz="2800">
                <a:solidFill>
                  <a:srgbClr val="4E3629"/>
                </a:solidFill>
                <a:latin typeface="Calibri"/>
                <a:ea typeface="Calibri"/>
                <a:cs typeface="Calibri"/>
                <a:sym typeface="Calibri"/>
              </a:rPr>
              <a:t>lo tanto, solo se tenga que acceder</a:t>
            </a:r>
            <a:endParaRPr sz="2800">
              <a:latin typeface="Calibri"/>
              <a:ea typeface="Calibri"/>
              <a:cs typeface="Calibri"/>
              <a:sym typeface="Calibri"/>
            </a:endParaRPr>
          </a:p>
          <a:p>
            <a:pPr indent="0" lvl="0" marL="184785" marR="0" rtl="0" algn="l">
              <a:lnSpc>
                <a:spcPct val="108035"/>
              </a:lnSpc>
              <a:spcBef>
                <a:spcPts val="0"/>
              </a:spcBef>
              <a:spcAft>
                <a:spcPts val="0"/>
              </a:spcAft>
              <a:buNone/>
            </a:pPr>
            <a:r>
              <a:rPr lang="en-US" sz="2800">
                <a:solidFill>
                  <a:srgbClr val="4E3629"/>
                </a:solidFill>
                <a:latin typeface="Calibri"/>
                <a:ea typeface="Calibri"/>
                <a:cs typeface="Calibri"/>
                <a:sym typeface="Calibri"/>
              </a:rPr>
              <a:t>a ellos para lectura</a:t>
            </a:r>
            <a:endParaRPr sz="2800">
              <a:latin typeface="Calibri"/>
              <a:ea typeface="Calibri"/>
              <a:cs typeface="Calibri"/>
              <a:sym typeface="Calibri"/>
            </a:endParaRPr>
          </a:p>
          <a:p>
            <a:pPr indent="-177800" lvl="0" marL="184785" marR="640715" rtl="0" algn="l">
              <a:lnSpc>
                <a:spcPct val="80000"/>
              </a:lnSpc>
              <a:spcBef>
                <a:spcPts val="81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Este tipo de dato podría alojarse  en una tabla externa</a:t>
            </a:r>
            <a:endParaRPr sz="2800">
              <a:latin typeface="Calibri"/>
              <a:ea typeface="Calibri"/>
              <a:cs typeface="Calibri"/>
              <a:sym typeface="Calibri"/>
            </a:endParaRPr>
          </a:p>
        </p:txBody>
      </p:sp>
      <p:sp>
        <p:nvSpPr>
          <p:cNvPr id="281" name="Google Shape;281;p35"/>
          <p:cNvSpPr txBox="1"/>
          <p:nvPr/>
        </p:nvSpPr>
        <p:spPr>
          <a:xfrm>
            <a:off x="5983041" y="5462929"/>
            <a:ext cx="2752090" cy="574040"/>
          </a:xfrm>
          <a:prstGeom prst="rect">
            <a:avLst/>
          </a:prstGeom>
          <a:noFill/>
          <a:ln>
            <a:noFill/>
          </a:ln>
        </p:spPr>
        <p:txBody>
          <a:bodyPr anchorCtr="0" anchor="t" bIns="0" lIns="0" spcFirstLastPara="1" rIns="0" wrap="square" tIns="12700">
            <a:spAutoFit/>
          </a:bodyPr>
          <a:lstStyle/>
          <a:p>
            <a:pPr indent="-120650" lvl="0" marL="132715" marR="5080" rtl="0" algn="l">
              <a:lnSpc>
                <a:spcPct val="100000"/>
              </a:lnSpc>
              <a:spcBef>
                <a:spcPts val="0"/>
              </a:spcBef>
              <a:spcAft>
                <a:spcPts val="0"/>
              </a:spcAft>
              <a:buNone/>
            </a:pPr>
            <a:r>
              <a:rPr b="1" lang="en-US" sz="1800">
                <a:solidFill>
                  <a:srgbClr val="4E3629"/>
                </a:solidFill>
                <a:latin typeface="Calibri"/>
                <a:ea typeface="Calibri"/>
                <a:cs typeface="Calibri"/>
                <a:sym typeface="Calibri"/>
              </a:rPr>
              <a:t>Una copia de seguridad en el  nivel de sistema operativo</a:t>
            </a:r>
            <a:endParaRPr sz="1800">
              <a:latin typeface="Calibri"/>
              <a:ea typeface="Calibri"/>
              <a:cs typeface="Calibri"/>
              <a:sym typeface="Calibri"/>
            </a:endParaRPr>
          </a:p>
        </p:txBody>
      </p:sp>
      <p:grpSp>
        <p:nvGrpSpPr>
          <p:cNvPr id="282" name="Google Shape;282;p35"/>
          <p:cNvGrpSpPr/>
          <p:nvPr/>
        </p:nvGrpSpPr>
        <p:grpSpPr>
          <a:xfrm>
            <a:off x="6949786" y="4978141"/>
            <a:ext cx="242985" cy="526216"/>
            <a:chOff x="6949786" y="4978141"/>
            <a:chExt cx="242985" cy="526216"/>
          </a:xfrm>
        </p:grpSpPr>
        <p:sp>
          <p:nvSpPr>
            <p:cNvPr id="283" name="Google Shape;283;p35"/>
            <p:cNvSpPr/>
            <p:nvPr/>
          </p:nvSpPr>
          <p:spPr>
            <a:xfrm>
              <a:off x="6994016" y="5064937"/>
              <a:ext cx="198755" cy="439420"/>
            </a:xfrm>
            <a:custGeom>
              <a:rect b="b" l="l" r="r" t="t"/>
              <a:pathLst>
                <a:path extrusionOk="0" h="439420" w="198754">
                  <a:moveTo>
                    <a:pt x="198500" y="438988"/>
                  </a:moveTo>
                  <a:lnTo>
                    <a:pt x="0" y="0"/>
                  </a:lnTo>
                </a:path>
              </a:pathLst>
            </a:custGeom>
            <a:noFill/>
            <a:ln cap="flat" cmpd="sng" w="38100">
              <a:solidFill>
                <a:srgbClr val="FF33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284" name="Google Shape;284;p35"/>
            <p:cNvSpPr/>
            <p:nvPr/>
          </p:nvSpPr>
          <p:spPr>
            <a:xfrm>
              <a:off x="6949786" y="4978141"/>
              <a:ext cx="104775" cy="128270"/>
            </a:xfrm>
            <a:custGeom>
              <a:rect b="b" l="l" r="r" t="t"/>
              <a:pathLst>
                <a:path extrusionOk="0" h="128270" w="104775">
                  <a:moveTo>
                    <a:pt x="4991" y="0"/>
                  </a:moveTo>
                  <a:lnTo>
                    <a:pt x="0" y="127698"/>
                  </a:lnTo>
                  <a:lnTo>
                    <a:pt x="104152" y="80606"/>
                  </a:lnTo>
                  <a:lnTo>
                    <a:pt x="4991" y="0"/>
                  </a:lnTo>
                  <a:close/>
                </a:path>
              </a:pathLst>
            </a:custGeom>
            <a:solidFill>
              <a:srgbClr val="FF33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grpSp>
      <p:grpSp>
        <p:nvGrpSpPr>
          <p:cNvPr id="285" name="Google Shape;285;p35"/>
          <p:cNvGrpSpPr/>
          <p:nvPr/>
        </p:nvGrpSpPr>
        <p:grpSpPr>
          <a:xfrm>
            <a:off x="6121145" y="1608581"/>
            <a:ext cx="2425065" cy="1923796"/>
            <a:chOff x="6121145" y="1608581"/>
            <a:chExt cx="2425065" cy="1923796"/>
          </a:xfrm>
        </p:grpSpPr>
        <p:sp>
          <p:nvSpPr>
            <p:cNvPr id="286" name="Google Shape;286;p35"/>
            <p:cNvSpPr/>
            <p:nvPr/>
          </p:nvSpPr>
          <p:spPr>
            <a:xfrm>
              <a:off x="6121145" y="1848992"/>
              <a:ext cx="2425065" cy="1683385"/>
            </a:xfrm>
            <a:custGeom>
              <a:rect b="b" l="l" r="r" t="t"/>
              <a:pathLst>
                <a:path extrusionOk="0" h="1683385" w="2425065">
                  <a:moveTo>
                    <a:pt x="2424684" y="0"/>
                  </a:moveTo>
                  <a:lnTo>
                    <a:pt x="2405151" y="43215"/>
                  </a:lnTo>
                  <a:lnTo>
                    <a:pt x="2371483" y="70654"/>
                  </a:lnTo>
                  <a:lnTo>
                    <a:pt x="2322483" y="96764"/>
                  </a:lnTo>
                  <a:lnTo>
                    <a:pt x="2259163" y="121341"/>
                  </a:lnTo>
                  <a:lnTo>
                    <a:pt x="2222451" y="132992"/>
                  </a:lnTo>
                  <a:lnTo>
                    <a:pt x="2182539" y="144185"/>
                  </a:lnTo>
                  <a:lnTo>
                    <a:pt x="2139555" y="154895"/>
                  </a:lnTo>
                  <a:lnTo>
                    <a:pt x="2093626" y="165095"/>
                  </a:lnTo>
                  <a:lnTo>
                    <a:pt x="2044878" y="174762"/>
                  </a:lnTo>
                  <a:lnTo>
                    <a:pt x="1993437" y="183870"/>
                  </a:lnTo>
                  <a:lnTo>
                    <a:pt x="1939432" y="192394"/>
                  </a:lnTo>
                  <a:lnTo>
                    <a:pt x="1882988" y="200308"/>
                  </a:lnTo>
                  <a:lnTo>
                    <a:pt x="1824233" y="207588"/>
                  </a:lnTo>
                  <a:lnTo>
                    <a:pt x="1763293" y="214209"/>
                  </a:lnTo>
                  <a:lnTo>
                    <a:pt x="1700295" y="220144"/>
                  </a:lnTo>
                  <a:lnTo>
                    <a:pt x="1635366" y="225370"/>
                  </a:lnTo>
                  <a:lnTo>
                    <a:pt x="1568633" y="229861"/>
                  </a:lnTo>
                  <a:lnTo>
                    <a:pt x="1500222" y="233592"/>
                  </a:lnTo>
                  <a:lnTo>
                    <a:pt x="1430261" y="236537"/>
                  </a:lnTo>
                  <a:lnTo>
                    <a:pt x="1358876" y="238672"/>
                  </a:lnTo>
                  <a:lnTo>
                    <a:pt x="1286194" y="239972"/>
                  </a:lnTo>
                  <a:lnTo>
                    <a:pt x="1212342" y="240411"/>
                  </a:lnTo>
                  <a:lnTo>
                    <a:pt x="1138489" y="239972"/>
                  </a:lnTo>
                  <a:lnTo>
                    <a:pt x="1065807" y="238672"/>
                  </a:lnTo>
                  <a:lnTo>
                    <a:pt x="994422" y="236537"/>
                  </a:lnTo>
                  <a:lnTo>
                    <a:pt x="924461" y="233592"/>
                  </a:lnTo>
                  <a:lnTo>
                    <a:pt x="856050" y="229861"/>
                  </a:lnTo>
                  <a:lnTo>
                    <a:pt x="789317" y="225370"/>
                  </a:lnTo>
                  <a:lnTo>
                    <a:pt x="724388" y="220144"/>
                  </a:lnTo>
                  <a:lnTo>
                    <a:pt x="661390" y="214209"/>
                  </a:lnTo>
                  <a:lnTo>
                    <a:pt x="600450" y="207588"/>
                  </a:lnTo>
                  <a:lnTo>
                    <a:pt x="541695" y="200308"/>
                  </a:lnTo>
                  <a:lnTo>
                    <a:pt x="485251" y="192394"/>
                  </a:lnTo>
                  <a:lnTo>
                    <a:pt x="431246" y="183870"/>
                  </a:lnTo>
                  <a:lnTo>
                    <a:pt x="379805" y="174762"/>
                  </a:lnTo>
                  <a:lnTo>
                    <a:pt x="331057" y="165095"/>
                  </a:lnTo>
                  <a:lnTo>
                    <a:pt x="285128" y="154895"/>
                  </a:lnTo>
                  <a:lnTo>
                    <a:pt x="242144" y="144185"/>
                  </a:lnTo>
                  <a:lnTo>
                    <a:pt x="202232" y="132992"/>
                  </a:lnTo>
                  <a:lnTo>
                    <a:pt x="165520" y="121341"/>
                  </a:lnTo>
                  <a:lnTo>
                    <a:pt x="102200" y="96764"/>
                  </a:lnTo>
                  <a:lnTo>
                    <a:pt x="53200" y="70654"/>
                  </a:lnTo>
                  <a:lnTo>
                    <a:pt x="19532" y="43215"/>
                  </a:lnTo>
                  <a:lnTo>
                    <a:pt x="0" y="0"/>
                  </a:lnTo>
                  <a:lnTo>
                    <a:pt x="0" y="1442466"/>
                  </a:lnTo>
                  <a:lnTo>
                    <a:pt x="19532" y="1485681"/>
                  </a:lnTo>
                  <a:lnTo>
                    <a:pt x="53200" y="1513120"/>
                  </a:lnTo>
                  <a:lnTo>
                    <a:pt x="102200" y="1539230"/>
                  </a:lnTo>
                  <a:lnTo>
                    <a:pt x="165520" y="1563807"/>
                  </a:lnTo>
                  <a:lnTo>
                    <a:pt x="202232" y="1575458"/>
                  </a:lnTo>
                  <a:lnTo>
                    <a:pt x="242144" y="1586651"/>
                  </a:lnTo>
                  <a:lnTo>
                    <a:pt x="285128" y="1597361"/>
                  </a:lnTo>
                  <a:lnTo>
                    <a:pt x="331057" y="1607561"/>
                  </a:lnTo>
                  <a:lnTo>
                    <a:pt x="379805" y="1617228"/>
                  </a:lnTo>
                  <a:lnTo>
                    <a:pt x="431246" y="1626336"/>
                  </a:lnTo>
                  <a:lnTo>
                    <a:pt x="485251" y="1634860"/>
                  </a:lnTo>
                  <a:lnTo>
                    <a:pt x="541695" y="1642774"/>
                  </a:lnTo>
                  <a:lnTo>
                    <a:pt x="600450" y="1650054"/>
                  </a:lnTo>
                  <a:lnTo>
                    <a:pt x="661390" y="1656675"/>
                  </a:lnTo>
                  <a:lnTo>
                    <a:pt x="724388" y="1662610"/>
                  </a:lnTo>
                  <a:lnTo>
                    <a:pt x="789317" y="1667836"/>
                  </a:lnTo>
                  <a:lnTo>
                    <a:pt x="856050" y="1672327"/>
                  </a:lnTo>
                  <a:lnTo>
                    <a:pt x="924461" y="1676058"/>
                  </a:lnTo>
                  <a:lnTo>
                    <a:pt x="994422" y="1679003"/>
                  </a:lnTo>
                  <a:lnTo>
                    <a:pt x="1065807" y="1681138"/>
                  </a:lnTo>
                  <a:lnTo>
                    <a:pt x="1138489" y="1682438"/>
                  </a:lnTo>
                  <a:lnTo>
                    <a:pt x="1212342" y="1682877"/>
                  </a:lnTo>
                  <a:lnTo>
                    <a:pt x="1286194" y="1682438"/>
                  </a:lnTo>
                  <a:lnTo>
                    <a:pt x="1358876" y="1681138"/>
                  </a:lnTo>
                  <a:lnTo>
                    <a:pt x="1430261" y="1679003"/>
                  </a:lnTo>
                  <a:lnTo>
                    <a:pt x="1500222" y="1676058"/>
                  </a:lnTo>
                  <a:lnTo>
                    <a:pt x="1568633" y="1672327"/>
                  </a:lnTo>
                  <a:lnTo>
                    <a:pt x="1635366" y="1667836"/>
                  </a:lnTo>
                  <a:lnTo>
                    <a:pt x="1700295" y="1662610"/>
                  </a:lnTo>
                  <a:lnTo>
                    <a:pt x="1763293" y="1656675"/>
                  </a:lnTo>
                  <a:lnTo>
                    <a:pt x="1824233" y="1650054"/>
                  </a:lnTo>
                  <a:lnTo>
                    <a:pt x="1882988" y="1642774"/>
                  </a:lnTo>
                  <a:lnTo>
                    <a:pt x="1939432" y="1634860"/>
                  </a:lnTo>
                  <a:lnTo>
                    <a:pt x="1993437" y="1626336"/>
                  </a:lnTo>
                  <a:lnTo>
                    <a:pt x="2044878" y="1617228"/>
                  </a:lnTo>
                  <a:lnTo>
                    <a:pt x="2093626" y="1607561"/>
                  </a:lnTo>
                  <a:lnTo>
                    <a:pt x="2139555" y="1597361"/>
                  </a:lnTo>
                  <a:lnTo>
                    <a:pt x="2182539" y="1586651"/>
                  </a:lnTo>
                  <a:lnTo>
                    <a:pt x="2222451" y="1575458"/>
                  </a:lnTo>
                  <a:lnTo>
                    <a:pt x="2259163" y="1563807"/>
                  </a:lnTo>
                  <a:lnTo>
                    <a:pt x="2322483" y="1539230"/>
                  </a:lnTo>
                  <a:lnTo>
                    <a:pt x="2371483" y="1513120"/>
                  </a:lnTo>
                  <a:lnTo>
                    <a:pt x="2405151" y="1485681"/>
                  </a:lnTo>
                  <a:lnTo>
                    <a:pt x="2424684" y="1442466"/>
                  </a:lnTo>
                  <a:lnTo>
                    <a:pt x="2424684" y="0"/>
                  </a:lnTo>
                  <a:close/>
                </a:path>
              </a:pathLst>
            </a:custGeom>
            <a:solidFill>
              <a:srgbClr val="C0C0C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287" name="Google Shape;287;p35"/>
            <p:cNvSpPr/>
            <p:nvPr/>
          </p:nvSpPr>
          <p:spPr>
            <a:xfrm>
              <a:off x="6121145" y="1608581"/>
              <a:ext cx="2425065" cy="481330"/>
            </a:xfrm>
            <a:custGeom>
              <a:rect b="b" l="l" r="r" t="t"/>
              <a:pathLst>
                <a:path extrusionOk="0" h="481330" w="2425065">
                  <a:moveTo>
                    <a:pt x="1212342" y="0"/>
                  </a:moveTo>
                  <a:lnTo>
                    <a:pt x="1138489" y="438"/>
                  </a:lnTo>
                  <a:lnTo>
                    <a:pt x="1065807" y="1738"/>
                  </a:lnTo>
                  <a:lnTo>
                    <a:pt x="994422" y="3873"/>
                  </a:lnTo>
                  <a:lnTo>
                    <a:pt x="924461" y="6818"/>
                  </a:lnTo>
                  <a:lnTo>
                    <a:pt x="856050" y="10549"/>
                  </a:lnTo>
                  <a:lnTo>
                    <a:pt x="789317" y="15040"/>
                  </a:lnTo>
                  <a:lnTo>
                    <a:pt x="724388" y="20266"/>
                  </a:lnTo>
                  <a:lnTo>
                    <a:pt x="661390" y="26201"/>
                  </a:lnTo>
                  <a:lnTo>
                    <a:pt x="600450" y="32822"/>
                  </a:lnTo>
                  <a:lnTo>
                    <a:pt x="541695" y="40102"/>
                  </a:lnTo>
                  <a:lnTo>
                    <a:pt x="485251" y="48016"/>
                  </a:lnTo>
                  <a:lnTo>
                    <a:pt x="431246" y="56540"/>
                  </a:lnTo>
                  <a:lnTo>
                    <a:pt x="379805" y="65648"/>
                  </a:lnTo>
                  <a:lnTo>
                    <a:pt x="331057" y="75315"/>
                  </a:lnTo>
                  <a:lnTo>
                    <a:pt x="285128" y="85515"/>
                  </a:lnTo>
                  <a:lnTo>
                    <a:pt x="242144" y="96225"/>
                  </a:lnTo>
                  <a:lnTo>
                    <a:pt x="202232" y="107418"/>
                  </a:lnTo>
                  <a:lnTo>
                    <a:pt x="165520" y="119069"/>
                  </a:lnTo>
                  <a:lnTo>
                    <a:pt x="102200" y="143646"/>
                  </a:lnTo>
                  <a:lnTo>
                    <a:pt x="53200" y="169756"/>
                  </a:lnTo>
                  <a:lnTo>
                    <a:pt x="19532" y="197195"/>
                  </a:lnTo>
                  <a:lnTo>
                    <a:pt x="0" y="240411"/>
                  </a:lnTo>
                  <a:lnTo>
                    <a:pt x="2212" y="255056"/>
                  </a:lnTo>
                  <a:lnTo>
                    <a:pt x="34386" y="297499"/>
                  </a:lnTo>
                  <a:lnTo>
                    <a:pt x="75847" y="324299"/>
                  </a:lnTo>
                  <a:lnTo>
                    <a:pt x="132134" y="349667"/>
                  </a:lnTo>
                  <a:lnTo>
                    <a:pt x="202232" y="373403"/>
                  </a:lnTo>
                  <a:lnTo>
                    <a:pt x="242144" y="384596"/>
                  </a:lnTo>
                  <a:lnTo>
                    <a:pt x="285128" y="395306"/>
                  </a:lnTo>
                  <a:lnTo>
                    <a:pt x="331057" y="405506"/>
                  </a:lnTo>
                  <a:lnTo>
                    <a:pt x="379805" y="415173"/>
                  </a:lnTo>
                  <a:lnTo>
                    <a:pt x="431246" y="424281"/>
                  </a:lnTo>
                  <a:lnTo>
                    <a:pt x="485251" y="432805"/>
                  </a:lnTo>
                  <a:lnTo>
                    <a:pt x="541695" y="440719"/>
                  </a:lnTo>
                  <a:lnTo>
                    <a:pt x="600450" y="447999"/>
                  </a:lnTo>
                  <a:lnTo>
                    <a:pt x="661390" y="454620"/>
                  </a:lnTo>
                  <a:lnTo>
                    <a:pt x="724388" y="460555"/>
                  </a:lnTo>
                  <a:lnTo>
                    <a:pt x="789317" y="465781"/>
                  </a:lnTo>
                  <a:lnTo>
                    <a:pt x="856050" y="470272"/>
                  </a:lnTo>
                  <a:lnTo>
                    <a:pt x="924461" y="474003"/>
                  </a:lnTo>
                  <a:lnTo>
                    <a:pt x="994422" y="476948"/>
                  </a:lnTo>
                  <a:lnTo>
                    <a:pt x="1065807" y="479083"/>
                  </a:lnTo>
                  <a:lnTo>
                    <a:pt x="1138489" y="480383"/>
                  </a:lnTo>
                  <a:lnTo>
                    <a:pt x="1212342" y="480822"/>
                  </a:lnTo>
                  <a:lnTo>
                    <a:pt x="1286194" y="480383"/>
                  </a:lnTo>
                  <a:lnTo>
                    <a:pt x="1358876" y="479083"/>
                  </a:lnTo>
                  <a:lnTo>
                    <a:pt x="1430261" y="476948"/>
                  </a:lnTo>
                  <a:lnTo>
                    <a:pt x="1500222" y="474003"/>
                  </a:lnTo>
                  <a:lnTo>
                    <a:pt x="1568633" y="470272"/>
                  </a:lnTo>
                  <a:lnTo>
                    <a:pt x="1635366" y="465781"/>
                  </a:lnTo>
                  <a:lnTo>
                    <a:pt x="1700295" y="460555"/>
                  </a:lnTo>
                  <a:lnTo>
                    <a:pt x="1763293" y="454620"/>
                  </a:lnTo>
                  <a:lnTo>
                    <a:pt x="1824233" y="447999"/>
                  </a:lnTo>
                  <a:lnTo>
                    <a:pt x="1882988" y="440719"/>
                  </a:lnTo>
                  <a:lnTo>
                    <a:pt x="1939432" y="432805"/>
                  </a:lnTo>
                  <a:lnTo>
                    <a:pt x="1993437" y="424281"/>
                  </a:lnTo>
                  <a:lnTo>
                    <a:pt x="2044878" y="415173"/>
                  </a:lnTo>
                  <a:lnTo>
                    <a:pt x="2093626" y="405506"/>
                  </a:lnTo>
                  <a:lnTo>
                    <a:pt x="2139555" y="395306"/>
                  </a:lnTo>
                  <a:lnTo>
                    <a:pt x="2182539" y="384596"/>
                  </a:lnTo>
                  <a:lnTo>
                    <a:pt x="2222451" y="373403"/>
                  </a:lnTo>
                  <a:lnTo>
                    <a:pt x="2259163" y="361752"/>
                  </a:lnTo>
                  <a:lnTo>
                    <a:pt x="2322483" y="337175"/>
                  </a:lnTo>
                  <a:lnTo>
                    <a:pt x="2371483" y="311065"/>
                  </a:lnTo>
                  <a:lnTo>
                    <a:pt x="2405151" y="283626"/>
                  </a:lnTo>
                  <a:lnTo>
                    <a:pt x="2424684" y="240411"/>
                  </a:lnTo>
                  <a:lnTo>
                    <a:pt x="2422471" y="225765"/>
                  </a:lnTo>
                  <a:lnTo>
                    <a:pt x="2390297" y="183322"/>
                  </a:lnTo>
                  <a:lnTo>
                    <a:pt x="2348836" y="156522"/>
                  </a:lnTo>
                  <a:lnTo>
                    <a:pt x="2292549" y="131154"/>
                  </a:lnTo>
                  <a:lnTo>
                    <a:pt x="2222451" y="107418"/>
                  </a:lnTo>
                  <a:lnTo>
                    <a:pt x="2182539" y="96225"/>
                  </a:lnTo>
                  <a:lnTo>
                    <a:pt x="2139555" y="85515"/>
                  </a:lnTo>
                  <a:lnTo>
                    <a:pt x="2093626" y="75315"/>
                  </a:lnTo>
                  <a:lnTo>
                    <a:pt x="2044878" y="65648"/>
                  </a:lnTo>
                  <a:lnTo>
                    <a:pt x="1993437" y="56540"/>
                  </a:lnTo>
                  <a:lnTo>
                    <a:pt x="1939432" y="48016"/>
                  </a:lnTo>
                  <a:lnTo>
                    <a:pt x="1882988" y="40102"/>
                  </a:lnTo>
                  <a:lnTo>
                    <a:pt x="1824233" y="32822"/>
                  </a:lnTo>
                  <a:lnTo>
                    <a:pt x="1763293" y="26201"/>
                  </a:lnTo>
                  <a:lnTo>
                    <a:pt x="1700295" y="20266"/>
                  </a:lnTo>
                  <a:lnTo>
                    <a:pt x="1635366" y="15040"/>
                  </a:lnTo>
                  <a:lnTo>
                    <a:pt x="1568633" y="10549"/>
                  </a:lnTo>
                  <a:lnTo>
                    <a:pt x="1500222" y="6818"/>
                  </a:lnTo>
                  <a:lnTo>
                    <a:pt x="1430261" y="3873"/>
                  </a:lnTo>
                  <a:lnTo>
                    <a:pt x="1358876" y="1738"/>
                  </a:lnTo>
                  <a:lnTo>
                    <a:pt x="1286194" y="438"/>
                  </a:lnTo>
                  <a:lnTo>
                    <a:pt x="1212342" y="0"/>
                  </a:lnTo>
                  <a:close/>
                </a:path>
              </a:pathLst>
            </a:custGeom>
            <a:solidFill>
              <a:srgbClr val="DADADA"/>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288" name="Google Shape;288;p35"/>
            <p:cNvSpPr/>
            <p:nvPr/>
          </p:nvSpPr>
          <p:spPr>
            <a:xfrm>
              <a:off x="6121145" y="1608581"/>
              <a:ext cx="2425065" cy="1923414"/>
            </a:xfrm>
            <a:custGeom>
              <a:rect b="b" l="l" r="r" t="t"/>
              <a:pathLst>
                <a:path extrusionOk="0" h="1923414" w="2425065">
                  <a:moveTo>
                    <a:pt x="2424683" y="240411"/>
                  </a:moveTo>
                  <a:lnTo>
                    <a:pt x="2405151" y="283626"/>
                  </a:lnTo>
                  <a:lnTo>
                    <a:pt x="2371483" y="311065"/>
                  </a:lnTo>
                  <a:lnTo>
                    <a:pt x="2322483" y="337175"/>
                  </a:lnTo>
                  <a:lnTo>
                    <a:pt x="2259163" y="361752"/>
                  </a:lnTo>
                  <a:lnTo>
                    <a:pt x="2222451" y="373403"/>
                  </a:lnTo>
                  <a:lnTo>
                    <a:pt x="2182539" y="384596"/>
                  </a:lnTo>
                  <a:lnTo>
                    <a:pt x="2139555" y="395306"/>
                  </a:lnTo>
                  <a:lnTo>
                    <a:pt x="2093626" y="405506"/>
                  </a:lnTo>
                  <a:lnTo>
                    <a:pt x="2044878" y="415173"/>
                  </a:lnTo>
                  <a:lnTo>
                    <a:pt x="1993437" y="424281"/>
                  </a:lnTo>
                  <a:lnTo>
                    <a:pt x="1939432" y="432805"/>
                  </a:lnTo>
                  <a:lnTo>
                    <a:pt x="1882988" y="440719"/>
                  </a:lnTo>
                  <a:lnTo>
                    <a:pt x="1824233" y="447999"/>
                  </a:lnTo>
                  <a:lnTo>
                    <a:pt x="1763293" y="454620"/>
                  </a:lnTo>
                  <a:lnTo>
                    <a:pt x="1700295" y="460555"/>
                  </a:lnTo>
                  <a:lnTo>
                    <a:pt x="1635366" y="465781"/>
                  </a:lnTo>
                  <a:lnTo>
                    <a:pt x="1568633" y="470272"/>
                  </a:lnTo>
                  <a:lnTo>
                    <a:pt x="1500222" y="474003"/>
                  </a:lnTo>
                  <a:lnTo>
                    <a:pt x="1430261" y="476948"/>
                  </a:lnTo>
                  <a:lnTo>
                    <a:pt x="1358876" y="479083"/>
                  </a:lnTo>
                  <a:lnTo>
                    <a:pt x="1286194" y="480383"/>
                  </a:lnTo>
                  <a:lnTo>
                    <a:pt x="1212341" y="480822"/>
                  </a:lnTo>
                  <a:lnTo>
                    <a:pt x="1138489" y="480383"/>
                  </a:lnTo>
                  <a:lnTo>
                    <a:pt x="1065807" y="479083"/>
                  </a:lnTo>
                  <a:lnTo>
                    <a:pt x="994422" y="476948"/>
                  </a:lnTo>
                  <a:lnTo>
                    <a:pt x="924461" y="474003"/>
                  </a:lnTo>
                  <a:lnTo>
                    <a:pt x="856050" y="470272"/>
                  </a:lnTo>
                  <a:lnTo>
                    <a:pt x="789317" y="465781"/>
                  </a:lnTo>
                  <a:lnTo>
                    <a:pt x="724388" y="460555"/>
                  </a:lnTo>
                  <a:lnTo>
                    <a:pt x="661390" y="454620"/>
                  </a:lnTo>
                  <a:lnTo>
                    <a:pt x="600450" y="447999"/>
                  </a:lnTo>
                  <a:lnTo>
                    <a:pt x="541695" y="440719"/>
                  </a:lnTo>
                  <a:lnTo>
                    <a:pt x="485251" y="432805"/>
                  </a:lnTo>
                  <a:lnTo>
                    <a:pt x="431246" y="424281"/>
                  </a:lnTo>
                  <a:lnTo>
                    <a:pt x="379805" y="415173"/>
                  </a:lnTo>
                  <a:lnTo>
                    <a:pt x="331057" y="405506"/>
                  </a:lnTo>
                  <a:lnTo>
                    <a:pt x="285128" y="395306"/>
                  </a:lnTo>
                  <a:lnTo>
                    <a:pt x="242144" y="384596"/>
                  </a:lnTo>
                  <a:lnTo>
                    <a:pt x="202232" y="373403"/>
                  </a:lnTo>
                  <a:lnTo>
                    <a:pt x="165520" y="361752"/>
                  </a:lnTo>
                  <a:lnTo>
                    <a:pt x="102200" y="337175"/>
                  </a:lnTo>
                  <a:lnTo>
                    <a:pt x="53200" y="311065"/>
                  </a:lnTo>
                  <a:lnTo>
                    <a:pt x="19532" y="283626"/>
                  </a:lnTo>
                  <a:lnTo>
                    <a:pt x="0" y="240411"/>
                  </a:lnTo>
                  <a:lnTo>
                    <a:pt x="2212" y="225765"/>
                  </a:lnTo>
                  <a:lnTo>
                    <a:pt x="34386" y="183322"/>
                  </a:lnTo>
                  <a:lnTo>
                    <a:pt x="75847" y="156522"/>
                  </a:lnTo>
                  <a:lnTo>
                    <a:pt x="132134" y="131154"/>
                  </a:lnTo>
                  <a:lnTo>
                    <a:pt x="202232" y="107418"/>
                  </a:lnTo>
                  <a:lnTo>
                    <a:pt x="242144" y="96225"/>
                  </a:lnTo>
                  <a:lnTo>
                    <a:pt x="285128" y="85515"/>
                  </a:lnTo>
                  <a:lnTo>
                    <a:pt x="331057" y="75315"/>
                  </a:lnTo>
                  <a:lnTo>
                    <a:pt x="379805" y="65648"/>
                  </a:lnTo>
                  <a:lnTo>
                    <a:pt x="431246" y="56540"/>
                  </a:lnTo>
                  <a:lnTo>
                    <a:pt x="485251" y="48016"/>
                  </a:lnTo>
                  <a:lnTo>
                    <a:pt x="541695" y="40102"/>
                  </a:lnTo>
                  <a:lnTo>
                    <a:pt x="600450" y="32822"/>
                  </a:lnTo>
                  <a:lnTo>
                    <a:pt x="661390" y="26201"/>
                  </a:lnTo>
                  <a:lnTo>
                    <a:pt x="724388" y="20266"/>
                  </a:lnTo>
                  <a:lnTo>
                    <a:pt x="789317" y="15040"/>
                  </a:lnTo>
                  <a:lnTo>
                    <a:pt x="856050" y="10549"/>
                  </a:lnTo>
                  <a:lnTo>
                    <a:pt x="924461" y="6818"/>
                  </a:lnTo>
                  <a:lnTo>
                    <a:pt x="994422" y="3873"/>
                  </a:lnTo>
                  <a:lnTo>
                    <a:pt x="1065807" y="1738"/>
                  </a:lnTo>
                  <a:lnTo>
                    <a:pt x="1138489" y="438"/>
                  </a:lnTo>
                  <a:lnTo>
                    <a:pt x="1212341" y="0"/>
                  </a:lnTo>
                  <a:lnTo>
                    <a:pt x="1286194" y="438"/>
                  </a:lnTo>
                  <a:lnTo>
                    <a:pt x="1358876" y="1738"/>
                  </a:lnTo>
                  <a:lnTo>
                    <a:pt x="1430261" y="3873"/>
                  </a:lnTo>
                  <a:lnTo>
                    <a:pt x="1500222" y="6818"/>
                  </a:lnTo>
                  <a:lnTo>
                    <a:pt x="1568633" y="10549"/>
                  </a:lnTo>
                  <a:lnTo>
                    <a:pt x="1635366" y="15040"/>
                  </a:lnTo>
                  <a:lnTo>
                    <a:pt x="1700295" y="20266"/>
                  </a:lnTo>
                  <a:lnTo>
                    <a:pt x="1763293" y="26201"/>
                  </a:lnTo>
                  <a:lnTo>
                    <a:pt x="1824233" y="32822"/>
                  </a:lnTo>
                  <a:lnTo>
                    <a:pt x="1882988" y="40102"/>
                  </a:lnTo>
                  <a:lnTo>
                    <a:pt x="1939432" y="48016"/>
                  </a:lnTo>
                  <a:lnTo>
                    <a:pt x="1993437" y="56540"/>
                  </a:lnTo>
                  <a:lnTo>
                    <a:pt x="2044878" y="65648"/>
                  </a:lnTo>
                  <a:lnTo>
                    <a:pt x="2093626" y="75315"/>
                  </a:lnTo>
                  <a:lnTo>
                    <a:pt x="2139555" y="85515"/>
                  </a:lnTo>
                  <a:lnTo>
                    <a:pt x="2182539" y="96225"/>
                  </a:lnTo>
                  <a:lnTo>
                    <a:pt x="2222451" y="107418"/>
                  </a:lnTo>
                  <a:lnTo>
                    <a:pt x="2259163" y="119069"/>
                  </a:lnTo>
                  <a:lnTo>
                    <a:pt x="2322483" y="143646"/>
                  </a:lnTo>
                  <a:lnTo>
                    <a:pt x="2371483" y="169756"/>
                  </a:lnTo>
                  <a:lnTo>
                    <a:pt x="2405151" y="197195"/>
                  </a:lnTo>
                  <a:lnTo>
                    <a:pt x="2424683" y="240411"/>
                  </a:lnTo>
                  <a:close/>
                </a:path>
                <a:path extrusionOk="0" h="1923414" w="2425065">
                  <a:moveTo>
                    <a:pt x="2424683" y="240411"/>
                  </a:moveTo>
                  <a:lnTo>
                    <a:pt x="2424683" y="1682877"/>
                  </a:lnTo>
                  <a:lnTo>
                    <a:pt x="2422471" y="1697522"/>
                  </a:lnTo>
                  <a:lnTo>
                    <a:pt x="2390297" y="1739965"/>
                  </a:lnTo>
                  <a:lnTo>
                    <a:pt x="2348836" y="1766765"/>
                  </a:lnTo>
                  <a:lnTo>
                    <a:pt x="2292549" y="1792133"/>
                  </a:lnTo>
                  <a:lnTo>
                    <a:pt x="2222451" y="1815869"/>
                  </a:lnTo>
                  <a:lnTo>
                    <a:pt x="2182539" y="1827062"/>
                  </a:lnTo>
                  <a:lnTo>
                    <a:pt x="2139555" y="1837772"/>
                  </a:lnTo>
                  <a:lnTo>
                    <a:pt x="2093626" y="1847972"/>
                  </a:lnTo>
                  <a:lnTo>
                    <a:pt x="2044878" y="1857639"/>
                  </a:lnTo>
                  <a:lnTo>
                    <a:pt x="1993437" y="1866747"/>
                  </a:lnTo>
                  <a:lnTo>
                    <a:pt x="1939432" y="1875271"/>
                  </a:lnTo>
                  <a:lnTo>
                    <a:pt x="1882988" y="1883185"/>
                  </a:lnTo>
                  <a:lnTo>
                    <a:pt x="1824233" y="1890465"/>
                  </a:lnTo>
                  <a:lnTo>
                    <a:pt x="1763293" y="1897086"/>
                  </a:lnTo>
                  <a:lnTo>
                    <a:pt x="1700295" y="1903021"/>
                  </a:lnTo>
                  <a:lnTo>
                    <a:pt x="1635366" y="1908247"/>
                  </a:lnTo>
                  <a:lnTo>
                    <a:pt x="1568633" y="1912738"/>
                  </a:lnTo>
                  <a:lnTo>
                    <a:pt x="1500222" y="1916469"/>
                  </a:lnTo>
                  <a:lnTo>
                    <a:pt x="1430261" y="1919414"/>
                  </a:lnTo>
                  <a:lnTo>
                    <a:pt x="1358876" y="1921549"/>
                  </a:lnTo>
                  <a:lnTo>
                    <a:pt x="1286194" y="1922849"/>
                  </a:lnTo>
                  <a:lnTo>
                    <a:pt x="1212341" y="1923288"/>
                  </a:lnTo>
                  <a:lnTo>
                    <a:pt x="1138489" y="1922849"/>
                  </a:lnTo>
                  <a:lnTo>
                    <a:pt x="1065807" y="1921549"/>
                  </a:lnTo>
                  <a:lnTo>
                    <a:pt x="994422" y="1919414"/>
                  </a:lnTo>
                  <a:lnTo>
                    <a:pt x="924461" y="1916469"/>
                  </a:lnTo>
                  <a:lnTo>
                    <a:pt x="856050" y="1912738"/>
                  </a:lnTo>
                  <a:lnTo>
                    <a:pt x="789317" y="1908247"/>
                  </a:lnTo>
                  <a:lnTo>
                    <a:pt x="724388" y="1903021"/>
                  </a:lnTo>
                  <a:lnTo>
                    <a:pt x="661390" y="1897086"/>
                  </a:lnTo>
                  <a:lnTo>
                    <a:pt x="600450" y="1890465"/>
                  </a:lnTo>
                  <a:lnTo>
                    <a:pt x="541695" y="1883185"/>
                  </a:lnTo>
                  <a:lnTo>
                    <a:pt x="485251" y="1875271"/>
                  </a:lnTo>
                  <a:lnTo>
                    <a:pt x="431246" y="1866747"/>
                  </a:lnTo>
                  <a:lnTo>
                    <a:pt x="379805" y="1857639"/>
                  </a:lnTo>
                  <a:lnTo>
                    <a:pt x="331057" y="1847972"/>
                  </a:lnTo>
                  <a:lnTo>
                    <a:pt x="285128" y="1837772"/>
                  </a:lnTo>
                  <a:lnTo>
                    <a:pt x="242144" y="1827062"/>
                  </a:lnTo>
                  <a:lnTo>
                    <a:pt x="202232" y="1815869"/>
                  </a:lnTo>
                  <a:lnTo>
                    <a:pt x="165520" y="1804218"/>
                  </a:lnTo>
                  <a:lnTo>
                    <a:pt x="102200" y="1779641"/>
                  </a:lnTo>
                  <a:lnTo>
                    <a:pt x="53200" y="1753531"/>
                  </a:lnTo>
                  <a:lnTo>
                    <a:pt x="19532" y="1726092"/>
                  </a:lnTo>
                  <a:lnTo>
                    <a:pt x="0" y="1682877"/>
                  </a:lnTo>
                  <a:lnTo>
                    <a:pt x="0" y="240411"/>
                  </a:lnTo>
                </a:path>
              </a:pathLst>
            </a:custGeom>
            <a:noFill/>
            <a:ln cap="flat" cmpd="sng" w="28950">
              <a:solidFill>
                <a:srgbClr val="4E3629"/>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grpSp>
      <p:sp>
        <p:nvSpPr>
          <p:cNvPr id="289" name="Google Shape;289;p35"/>
          <p:cNvSpPr txBox="1"/>
          <p:nvPr/>
        </p:nvSpPr>
        <p:spPr>
          <a:xfrm>
            <a:off x="6709629" y="1721128"/>
            <a:ext cx="1403350" cy="26924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1" lang="en-US" sz="1600">
                <a:solidFill>
                  <a:srgbClr val="4E3629"/>
                </a:solidFill>
                <a:latin typeface="Calibri"/>
                <a:ea typeface="Calibri"/>
                <a:cs typeface="Calibri"/>
                <a:sym typeface="Calibri"/>
              </a:rPr>
              <a:t>Oracle Database</a:t>
            </a:r>
            <a:endParaRPr sz="1600">
              <a:latin typeface="Calibri"/>
              <a:ea typeface="Calibri"/>
              <a:cs typeface="Calibri"/>
              <a:sym typeface="Calibri"/>
            </a:endParaRPr>
          </a:p>
        </p:txBody>
      </p:sp>
      <p:grpSp>
        <p:nvGrpSpPr>
          <p:cNvPr id="290" name="Google Shape;290;p35"/>
          <p:cNvGrpSpPr/>
          <p:nvPr/>
        </p:nvGrpSpPr>
        <p:grpSpPr>
          <a:xfrm>
            <a:off x="7693913" y="3717798"/>
            <a:ext cx="852169" cy="360045"/>
            <a:chOff x="7693913" y="3717798"/>
            <a:chExt cx="852169" cy="360045"/>
          </a:xfrm>
        </p:grpSpPr>
        <p:sp>
          <p:nvSpPr>
            <p:cNvPr id="291" name="Google Shape;291;p35"/>
            <p:cNvSpPr/>
            <p:nvPr/>
          </p:nvSpPr>
          <p:spPr>
            <a:xfrm>
              <a:off x="7693913" y="3717798"/>
              <a:ext cx="852169" cy="360045"/>
            </a:xfrm>
            <a:custGeom>
              <a:rect b="b" l="l" r="r" t="t"/>
              <a:pathLst>
                <a:path extrusionOk="0" h="360045" w="852170">
                  <a:moveTo>
                    <a:pt x="851916" y="0"/>
                  </a:moveTo>
                  <a:lnTo>
                    <a:pt x="0" y="0"/>
                  </a:lnTo>
                  <a:lnTo>
                    <a:pt x="0" y="359663"/>
                  </a:lnTo>
                  <a:lnTo>
                    <a:pt x="851916" y="359663"/>
                  </a:lnTo>
                  <a:lnTo>
                    <a:pt x="851916" y="0"/>
                  </a:lnTo>
                  <a:close/>
                </a:path>
              </a:pathLst>
            </a:custGeom>
            <a:solidFill>
              <a:srgbClr val="4E3629"/>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292" name="Google Shape;292;p35"/>
            <p:cNvSpPr/>
            <p:nvPr/>
          </p:nvSpPr>
          <p:spPr>
            <a:xfrm>
              <a:off x="7693913" y="3717798"/>
              <a:ext cx="852169" cy="360045"/>
            </a:xfrm>
            <a:custGeom>
              <a:rect b="b" l="l" r="r" t="t"/>
              <a:pathLst>
                <a:path extrusionOk="0" h="360045" w="852170">
                  <a:moveTo>
                    <a:pt x="0" y="0"/>
                  </a:moveTo>
                  <a:lnTo>
                    <a:pt x="851916" y="0"/>
                  </a:lnTo>
                  <a:lnTo>
                    <a:pt x="851916" y="359663"/>
                  </a:lnTo>
                  <a:lnTo>
                    <a:pt x="0" y="359663"/>
                  </a:lnTo>
                  <a:lnTo>
                    <a:pt x="0" y="0"/>
                  </a:lnTo>
                  <a:close/>
                </a:path>
              </a:pathLst>
            </a:custGeom>
            <a:noFill/>
            <a:ln cap="flat" cmpd="sng" w="28950">
              <a:solidFill>
                <a:srgbClr val="4E3629"/>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grpSp>
      <p:grpSp>
        <p:nvGrpSpPr>
          <p:cNvPr id="293" name="Google Shape;293;p35"/>
          <p:cNvGrpSpPr/>
          <p:nvPr/>
        </p:nvGrpSpPr>
        <p:grpSpPr>
          <a:xfrm>
            <a:off x="6038849" y="3717798"/>
            <a:ext cx="873760" cy="360045"/>
            <a:chOff x="6038849" y="3717798"/>
            <a:chExt cx="873760" cy="360045"/>
          </a:xfrm>
        </p:grpSpPr>
        <p:sp>
          <p:nvSpPr>
            <p:cNvPr id="294" name="Google Shape;294;p35"/>
            <p:cNvSpPr/>
            <p:nvPr/>
          </p:nvSpPr>
          <p:spPr>
            <a:xfrm>
              <a:off x="6038849" y="3717798"/>
              <a:ext cx="873760" cy="360045"/>
            </a:xfrm>
            <a:custGeom>
              <a:rect b="b" l="l" r="r" t="t"/>
              <a:pathLst>
                <a:path extrusionOk="0" h="360045" w="873759">
                  <a:moveTo>
                    <a:pt x="873251" y="0"/>
                  </a:moveTo>
                  <a:lnTo>
                    <a:pt x="0" y="0"/>
                  </a:lnTo>
                  <a:lnTo>
                    <a:pt x="0" y="359663"/>
                  </a:lnTo>
                  <a:lnTo>
                    <a:pt x="873251" y="359663"/>
                  </a:lnTo>
                  <a:lnTo>
                    <a:pt x="873251" y="0"/>
                  </a:lnTo>
                  <a:close/>
                </a:path>
              </a:pathLst>
            </a:custGeom>
            <a:solidFill>
              <a:srgbClr val="FFC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295" name="Google Shape;295;p35"/>
            <p:cNvSpPr/>
            <p:nvPr/>
          </p:nvSpPr>
          <p:spPr>
            <a:xfrm>
              <a:off x="6038849" y="3717798"/>
              <a:ext cx="873760" cy="360045"/>
            </a:xfrm>
            <a:custGeom>
              <a:rect b="b" l="l" r="r" t="t"/>
              <a:pathLst>
                <a:path extrusionOk="0" h="360045" w="873759">
                  <a:moveTo>
                    <a:pt x="0" y="0"/>
                  </a:moveTo>
                  <a:lnTo>
                    <a:pt x="873251" y="0"/>
                  </a:lnTo>
                  <a:lnTo>
                    <a:pt x="873251" y="359663"/>
                  </a:lnTo>
                  <a:lnTo>
                    <a:pt x="0" y="359663"/>
                  </a:lnTo>
                  <a:lnTo>
                    <a:pt x="0" y="0"/>
                  </a:lnTo>
                  <a:close/>
                </a:path>
              </a:pathLst>
            </a:custGeom>
            <a:noFill/>
            <a:ln cap="flat" cmpd="sng" w="28950">
              <a:solidFill>
                <a:srgbClr val="4E3629"/>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grpSp>
      <p:sp>
        <p:nvSpPr>
          <p:cNvPr id="296" name="Google Shape;296;p35"/>
          <p:cNvSpPr txBox="1"/>
          <p:nvPr/>
        </p:nvSpPr>
        <p:spPr>
          <a:xfrm>
            <a:off x="6002742" y="4094548"/>
            <a:ext cx="915669" cy="1122680"/>
          </a:xfrm>
          <a:prstGeom prst="rect">
            <a:avLst/>
          </a:prstGeom>
          <a:noFill/>
          <a:ln>
            <a:noFill/>
          </a:ln>
        </p:spPr>
        <p:txBody>
          <a:bodyPr anchorCtr="0" anchor="t" bIns="0" lIns="0" spcFirstLastPara="1" rIns="0" wrap="square" tIns="12700">
            <a:spAutoFit/>
          </a:bodyPr>
          <a:lstStyle/>
          <a:p>
            <a:pPr indent="-635" lvl="0" marL="12700" marR="5080" rtl="0" algn="ctr">
              <a:lnSpc>
                <a:spcPct val="100000"/>
              </a:lnSpc>
              <a:spcBef>
                <a:spcPts val="0"/>
              </a:spcBef>
              <a:spcAft>
                <a:spcPts val="0"/>
              </a:spcAft>
              <a:buNone/>
            </a:pPr>
            <a:r>
              <a:rPr b="1" lang="en-US" sz="1800">
                <a:solidFill>
                  <a:srgbClr val="4E3629"/>
                </a:solidFill>
                <a:latin typeface="Calibri"/>
                <a:ea typeface="Calibri"/>
                <a:cs typeface="Calibri"/>
                <a:sym typeface="Calibri"/>
              </a:rPr>
              <a:t>Archivo  plano:  tabla  externa 1</a:t>
            </a:r>
            <a:endParaRPr sz="1800">
              <a:latin typeface="Calibri"/>
              <a:ea typeface="Calibri"/>
              <a:cs typeface="Calibri"/>
              <a:sym typeface="Calibri"/>
            </a:endParaRPr>
          </a:p>
        </p:txBody>
      </p:sp>
      <p:sp>
        <p:nvSpPr>
          <p:cNvPr id="297" name="Google Shape;297;p35"/>
          <p:cNvSpPr txBox="1"/>
          <p:nvPr/>
        </p:nvSpPr>
        <p:spPr>
          <a:xfrm>
            <a:off x="7655977" y="4102092"/>
            <a:ext cx="915669" cy="1122680"/>
          </a:xfrm>
          <a:prstGeom prst="rect">
            <a:avLst/>
          </a:prstGeom>
          <a:noFill/>
          <a:ln>
            <a:noFill/>
          </a:ln>
        </p:spPr>
        <p:txBody>
          <a:bodyPr anchorCtr="0" anchor="t" bIns="0" lIns="0" spcFirstLastPara="1" rIns="0" wrap="square" tIns="12700">
            <a:spAutoFit/>
          </a:bodyPr>
          <a:lstStyle/>
          <a:p>
            <a:pPr indent="-635" lvl="0" marL="12700" marR="5080" rtl="0" algn="ctr">
              <a:lnSpc>
                <a:spcPct val="100000"/>
              </a:lnSpc>
              <a:spcBef>
                <a:spcPts val="0"/>
              </a:spcBef>
              <a:spcAft>
                <a:spcPts val="0"/>
              </a:spcAft>
              <a:buNone/>
            </a:pPr>
            <a:r>
              <a:rPr b="1" lang="en-US" sz="1800">
                <a:solidFill>
                  <a:srgbClr val="4E3629"/>
                </a:solidFill>
                <a:latin typeface="Calibri"/>
                <a:ea typeface="Calibri"/>
                <a:cs typeface="Calibri"/>
                <a:sym typeface="Calibri"/>
              </a:rPr>
              <a:t>Archivo  plano:  tabla  externa 2</a:t>
            </a:r>
            <a:endParaRPr sz="1800">
              <a:latin typeface="Calibri"/>
              <a:ea typeface="Calibri"/>
              <a:cs typeface="Calibri"/>
              <a:sym typeface="Calibri"/>
            </a:endParaRPr>
          </a:p>
        </p:txBody>
      </p:sp>
      <p:grpSp>
        <p:nvGrpSpPr>
          <p:cNvPr id="298" name="Google Shape;298;p35"/>
          <p:cNvGrpSpPr/>
          <p:nvPr/>
        </p:nvGrpSpPr>
        <p:grpSpPr>
          <a:xfrm>
            <a:off x="7334250" y="4978141"/>
            <a:ext cx="243353" cy="526216"/>
            <a:chOff x="7334250" y="4978141"/>
            <a:chExt cx="243353" cy="526216"/>
          </a:xfrm>
        </p:grpSpPr>
        <p:sp>
          <p:nvSpPr>
            <p:cNvPr id="299" name="Google Shape;299;p35"/>
            <p:cNvSpPr/>
            <p:nvPr/>
          </p:nvSpPr>
          <p:spPr>
            <a:xfrm>
              <a:off x="7334250" y="5064937"/>
              <a:ext cx="198755" cy="439420"/>
            </a:xfrm>
            <a:custGeom>
              <a:rect b="b" l="l" r="r" t="t"/>
              <a:pathLst>
                <a:path extrusionOk="0" h="439420" w="198754">
                  <a:moveTo>
                    <a:pt x="0" y="438988"/>
                  </a:moveTo>
                  <a:lnTo>
                    <a:pt x="198501" y="0"/>
                  </a:lnTo>
                </a:path>
              </a:pathLst>
            </a:custGeom>
            <a:noFill/>
            <a:ln cap="flat" cmpd="sng" w="38100">
              <a:solidFill>
                <a:srgbClr val="FF33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300" name="Google Shape;300;p35"/>
            <p:cNvSpPr/>
            <p:nvPr/>
          </p:nvSpPr>
          <p:spPr>
            <a:xfrm>
              <a:off x="7472828" y="4978141"/>
              <a:ext cx="104775" cy="128270"/>
            </a:xfrm>
            <a:custGeom>
              <a:rect b="b" l="l" r="r" t="t"/>
              <a:pathLst>
                <a:path extrusionOk="0" h="128270" w="104775">
                  <a:moveTo>
                    <a:pt x="99161" y="0"/>
                  </a:moveTo>
                  <a:lnTo>
                    <a:pt x="0" y="80606"/>
                  </a:lnTo>
                  <a:lnTo>
                    <a:pt x="104152" y="127698"/>
                  </a:lnTo>
                  <a:lnTo>
                    <a:pt x="99161" y="0"/>
                  </a:lnTo>
                  <a:close/>
                </a:path>
              </a:pathLst>
            </a:custGeom>
            <a:solidFill>
              <a:srgbClr val="FF33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grpSp>
      <p:sp>
        <p:nvSpPr>
          <p:cNvPr id="301" name="Google Shape;301;p35"/>
          <p:cNvSpPr txBox="1"/>
          <p:nvPr>
            <p:ph idx="10" type="dt"/>
          </p:nvPr>
        </p:nvSpPr>
        <p:spPr>
          <a:xfrm>
            <a:off x="2874191" y="6516395"/>
            <a:ext cx="834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13-1</a:t>
            </a:r>
            <a:endParaRPr/>
          </a:p>
          <a:p>
            <a:pPr indent="0" lvl="0" marL="12700" rtl="0" algn="l">
              <a:lnSpc>
                <a:spcPct val="120624"/>
              </a:lnSpc>
              <a:spcBef>
                <a:spcPts val="0"/>
              </a:spcBef>
              <a:spcAft>
                <a:spcPts val="0"/>
              </a:spcAft>
              <a:buNone/>
            </a:pPr>
            <a:r>
              <a:rPr lang="en-US"/>
              <a:t>Creación de tablas</a:t>
            </a:r>
            <a:endParaRPr/>
          </a:p>
        </p:txBody>
      </p:sp>
      <p:sp>
        <p:nvSpPr>
          <p:cNvPr id="302" name="Google Shape;302;p35"/>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03" name="Google Shape;303;p35"/>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36"/>
          <p:cNvSpPr txBox="1"/>
          <p:nvPr>
            <p:ph type="title"/>
          </p:nvPr>
        </p:nvSpPr>
        <p:spPr>
          <a:xfrm>
            <a:off x="392112" y="748031"/>
            <a:ext cx="26364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Tablas Externas</a:t>
            </a:r>
            <a:endParaRPr/>
          </a:p>
        </p:txBody>
      </p:sp>
      <p:sp>
        <p:nvSpPr>
          <p:cNvPr id="309" name="Google Shape;309;p36"/>
          <p:cNvSpPr txBox="1"/>
          <p:nvPr/>
        </p:nvSpPr>
        <p:spPr>
          <a:xfrm>
            <a:off x="483552" y="1381889"/>
            <a:ext cx="5153660" cy="4308475"/>
          </a:xfrm>
          <a:prstGeom prst="rect">
            <a:avLst/>
          </a:prstGeom>
          <a:noFill/>
          <a:ln>
            <a:noFill/>
          </a:ln>
        </p:spPr>
        <p:txBody>
          <a:bodyPr anchorCtr="0" anchor="t" bIns="0" lIns="0" spcFirstLastPara="1" rIns="0" wrap="square" tIns="97150">
            <a:spAutoFit/>
          </a:bodyPr>
          <a:lstStyle/>
          <a:p>
            <a:pPr indent="-177800" lvl="0" marL="184785" marR="5080" rtl="0" algn="l">
              <a:lnSpc>
                <a:spcPct val="8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Una de las principales ventajas de  Oracle es que solo se tiene que  hacer una copia de seguridad una  vez de los datos alojados en tablas  externas y, a continuación, nunca  más a menos que el contenido</a:t>
            </a:r>
            <a:endParaRPr sz="2800">
              <a:latin typeface="Calibri"/>
              <a:ea typeface="Calibri"/>
              <a:cs typeface="Calibri"/>
              <a:sym typeface="Calibri"/>
            </a:endParaRPr>
          </a:p>
          <a:p>
            <a:pPr indent="0" lvl="0" marL="184785" marR="0" rtl="0" algn="l">
              <a:lnSpc>
                <a:spcPct val="95892"/>
              </a:lnSpc>
              <a:spcBef>
                <a:spcPts val="0"/>
              </a:spcBef>
              <a:spcAft>
                <a:spcPts val="0"/>
              </a:spcAft>
              <a:buNone/>
            </a:pPr>
            <a:r>
              <a:rPr lang="en-US" sz="2800">
                <a:solidFill>
                  <a:srgbClr val="4E3629"/>
                </a:solidFill>
                <a:latin typeface="Calibri"/>
                <a:ea typeface="Calibri"/>
                <a:cs typeface="Calibri"/>
                <a:sym typeface="Calibri"/>
              </a:rPr>
              <a:t>del archivo cambie</a:t>
            </a:r>
            <a:endParaRPr sz="2800">
              <a:latin typeface="Calibri"/>
              <a:ea typeface="Calibri"/>
              <a:cs typeface="Calibri"/>
              <a:sym typeface="Calibri"/>
            </a:endParaRPr>
          </a:p>
          <a:p>
            <a:pPr indent="-177800" lvl="0" marL="184785" marR="121285" rtl="0" algn="l">
              <a:lnSpc>
                <a:spcPct val="80000"/>
              </a:lnSpc>
              <a:spcBef>
                <a:spcPts val="81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sintaxis para crear una tabla  externa es muy similar a la de  crear una tabla estándar, excepto  por el hecho de que tiene sintaxis  adicional al final</a:t>
            </a:r>
            <a:endParaRPr sz="2800">
              <a:latin typeface="Calibri"/>
              <a:ea typeface="Calibri"/>
              <a:cs typeface="Calibri"/>
              <a:sym typeface="Calibri"/>
            </a:endParaRPr>
          </a:p>
        </p:txBody>
      </p:sp>
      <p:sp>
        <p:nvSpPr>
          <p:cNvPr id="310" name="Google Shape;310;p36"/>
          <p:cNvSpPr txBox="1"/>
          <p:nvPr/>
        </p:nvSpPr>
        <p:spPr>
          <a:xfrm>
            <a:off x="5890392" y="5151396"/>
            <a:ext cx="2752090" cy="574040"/>
          </a:xfrm>
          <a:prstGeom prst="rect">
            <a:avLst/>
          </a:prstGeom>
          <a:noFill/>
          <a:ln>
            <a:noFill/>
          </a:ln>
        </p:spPr>
        <p:txBody>
          <a:bodyPr anchorCtr="0" anchor="t" bIns="0" lIns="0" spcFirstLastPara="1" rIns="0" wrap="square" tIns="12700">
            <a:spAutoFit/>
          </a:bodyPr>
          <a:lstStyle/>
          <a:p>
            <a:pPr indent="-120650" lvl="0" marL="132715" marR="5080" rtl="0" algn="l">
              <a:lnSpc>
                <a:spcPct val="100000"/>
              </a:lnSpc>
              <a:spcBef>
                <a:spcPts val="0"/>
              </a:spcBef>
              <a:spcAft>
                <a:spcPts val="0"/>
              </a:spcAft>
              <a:buNone/>
            </a:pPr>
            <a:r>
              <a:rPr b="1" lang="en-US" sz="1800">
                <a:solidFill>
                  <a:srgbClr val="4E3629"/>
                </a:solidFill>
                <a:latin typeface="Calibri"/>
                <a:ea typeface="Calibri"/>
                <a:cs typeface="Calibri"/>
                <a:sym typeface="Calibri"/>
              </a:rPr>
              <a:t>Una copia de seguridad en el  nivel de sistema operativo</a:t>
            </a:r>
            <a:endParaRPr sz="1800">
              <a:latin typeface="Calibri"/>
              <a:ea typeface="Calibri"/>
              <a:cs typeface="Calibri"/>
              <a:sym typeface="Calibri"/>
            </a:endParaRPr>
          </a:p>
        </p:txBody>
      </p:sp>
      <p:grpSp>
        <p:nvGrpSpPr>
          <p:cNvPr id="311" name="Google Shape;311;p36"/>
          <p:cNvGrpSpPr/>
          <p:nvPr/>
        </p:nvGrpSpPr>
        <p:grpSpPr>
          <a:xfrm>
            <a:off x="6833654" y="4648960"/>
            <a:ext cx="257200" cy="546152"/>
            <a:chOff x="6833654" y="4648960"/>
            <a:chExt cx="257200" cy="546152"/>
          </a:xfrm>
        </p:grpSpPr>
        <p:sp>
          <p:nvSpPr>
            <p:cNvPr id="312" name="Google Shape;312;p36"/>
            <p:cNvSpPr/>
            <p:nvPr/>
          </p:nvSpPr>
          <p:spPr>
            <a:xfrm>
              <a:off x="6877494" y="4735372"/>
              <a:ext cx="213360" cy="459740"/>
            </a:xfrm>
            <a:custGeom>
              <a:rect b="b" l="l" r="r" t="t"/>
              <a:pathLst>
                <a:path extrusionOk="0" h="459739" w="213359">
                  <a:moveTo>
                    <a:pt x="212915" y="459181"/>
                  </a:moveTo>
                  <a:lnTo>
                    <a:pt x="0" y="0"/>
                  </a:lnTo>
                </a:path>
              </a:pathLst>
            </a:custGeom>
            <a:noFill/>
            <a:ln cap="flat" cmpd="sng" w="38100">
              <a:solidFill>
                <a:srgbClr val="FF33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313" name="Google Shape;313;p36"/>
            <p:cNvSpPr/>
            <p:nvPr/>
          </p:nvSpPr>
          <p:spPr>
            <a:xfrm>
              <a:off x="6833654" y="4648960"/>
              <a:ext cx="104139" cy="128270"/>
            </a:xfrm>
            <a:custGeom>
              <a:rect b="b" l="l" r="r" t="t"/>
              <a:pathLst>
                <a:path extrusionOk="0" h="128270" w="104140">
                  <a:moveTo>
                    <a:pt x="3771" y="0"/>
                  </a:moveTo>
                  <a:lnTo>
                    <a:pt x="0" y="127736"/>
                  </a:lnTo>
                  <a:lnTo>
                    <a:pt x="103695" y="79654"/>
                  </a:lnTo>
                  <a:lnTo>
                    <a:pt x="3771" y="0"/>
                  </a:lnTo>
                  <a:close/>
                </a:path>
              </a:pathLst>
            </a:custGeom>
            <a:solidFill>
              <a:srgbClr val="FF33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grpSp>
      <p:grpSp>
        <p:nvGrpSpPr>
          <p:cNvPr id="314" name="Google Shape;314;p36"/>
          <p:cNvGrpSpPr/>
          <p:nvPr/>
        </p:nvGrpSpPr>
        <p:grpSpPr>
          <a:xfrm>
            <a:off x="5955030" y="1399794"/>
            <a:ext cx="2569845" cy="2001520"/>
            <a:chOff x="5955030" y="1399794"/>
            <a:chExt cx="2569845" cy="2001520"/>
          </a:xfrm>
        </p:grpSpPr>
        <p:sp>
          <p:nvSpPr>
            <p:cNvPr id="315" name="Google Shape;315;p36"/>
            <p:cNvSpPr/>
            <p:nvPr/>
          </p:nvSpPr>
          <p:spPr>
            <a:xfrm>
              <a:off x="5955030" y="1649920"/>
              <a:ext cx="2569845" cy="1751330"/>
            </a:xfrm>
            <a:custGeom>
              <a:rect b="b" l="l" r="r" t="t"/>
              <a:pathLst>
                <a:path extrusionOk="0" h="1751329" w="2569845">
                  <a:moveTo>
                    <a:pt x="2569464" y="0"/>
                  </a:moveTo>
                  <a:lnTo>
                    <a:pt x="2550197" y="43395"/>
                  </a:lnTo>
                  <a:lnTo>
                    <a:pt x="2516949" y="71012"/>
                  </a:lnTo>
                  <a:lnTo>
                    <a:pt x="2468503" y="97359"/>
                  </a:lnTo>
                  <a:lnTo>
                    <a:pt x="2405822" y="122248"/>
                  </a:lnTo>
                  <a:lnTo>
                    <a:pt x="2369446" y="134088"/>
                  </a:lnTo>
                  <a:lnTo>
                    <a:pt x="2329872" y="145493"/>
                  </a:lnTo>
                  <a:lnTo>
                    <a:pt x="2287222" y="156440"/>
                  </a:lnTo>
                  <a:lnTo>
                    <a:pt x="2241615" y="166905"/>
                  </a:lnTo>
                  <a:lnTo>
                    <a:pt x="2193174" y="176864"/>
                  </a:lnTo>
                  <a:lnTo>
                    <a:pt x="2142017" y="186296"/>
                  </a:lnTo>
                  <a:lnTo>
                    <a:pt x="2088265" y="195175"/>
                  </a:lnTo>
                  <a:lnTo>
                    <a:pt x="2032040" y="203479"/>
                  </a:lnTo>
                  <a:lnTo>
                    <a:pt x="1973460" y="211184"/>
                  </a:lnTo>
                  <a:lnTo>
                    <a:pt x="1912648" y="218266"/>
                  </a:lnTo>
                  <a:lnTo>
                    <a:pt x="1849723" y="224702"/>
                  </a:lnTo>
                  <a:lnTo>
                    <a:pt x="1784807" y="230469"/>
                  </a:lnTo>
                  <a:lnTo>
                    <a:pt x="1718018" y="235544"/>
                  </a:lnTo>
                  <a:lnTo>
                    <a:pt x="1649478" y="239902"/>
                  </a:lnTo>
                  <a:lnTo>
                    <a:pt x="1579308" y="243520"/>
                  </a:lnTo>
                  <a:lnTo>
                    <a:pt x="1507628" y="246375"/>
                  </a:lnTo>
                  <a:lnTo>
                    <a:pt x="1434558" y="248443"/>
                  </a:lnTo>
                  <a:lnTo>
                    <a:pt x="1360219" y="249701"/>
                  </a:lnTo>
                  <a:lnTo>
                    <a:pt x="1284732" y="250126"/>
                  </a:lnTo>
                  <a:lnTo>
                    <a:pt x="1209244" y="249701"/>
                  </a:lnTo>
                  <a:lnTo>
                    <a:pt x="1134905" y="248443"/>
                  </a:lnTo>
                  <a:lnTo>
                    <a:pt x="1061835" y="246375"/>
                  </a:lnTo>
                  <a:lnTo>
                    <a:pt x="990155" y="243520"/>
                  </a:lnTo>
                  <a:lnTo>
                    <a:pt x="919985" y="239902"/>
                  </a:lnTo>
                  <a:lnTo>
                    <a:pt x="851445" y="235544"/>
                  </a:lnTo>
                  <a:lnTo>
                    <a:pt x="784656" y="230469"/>
                  </a:lnTo>
                  <a:lnTo>
                    <a:pt x="719740" y="224702"/>
                  </a:lnTo>
                  <a:lnTo>
                    <a:pt x="656815" y="218266"/>
                  </a:lnTo>
                  <a:lnTo>
                    <a:pt x="596003" y="211184"/>
                  </a:lnTo>
                  <a:lnTo>
                    <a:pt x="537423" y="203479"/>
                  </a:lnTo>
                  <a:lnTo>
                    <a:pt x="481198" y="195175"/>
                  </a:lnTo>
                  <a:lnTo>
                    <a:pt x="427446" y="186296"/>
                  </a:lnTo>
                  <a:lnTo>
                    <a:pt x="376289" y="176864"/>
                  </a:lnTo>
                  <a:lnTo>
                    <a:pt x="327848" y="166905"/>
                  </a:lnTo>
                  <a:lnTo>
                    <a:pt x="282241" y="156440"/>
                  </a:lnTo>
                  <a:lnTo>
                    <a:pt x="239591" y="145493"/>
                  </a:lnTo>
                  <a:lnTo>
                    <a:pt x="200017" y="134088"/>
                  </a:lnTo>
                  <a:lnTo>
                    <a:pt x="163641" y="122248"/>
                  </a:lnTo>
                  <a:lnTo>
                    <a:pt x="100960" y="97359"/>
                  </a:lnTo>
                  <a:lnTo>
                    <a:pt x="52514" y="71012"/>
                  </a:lnTo>
                  <a:lnTo>
                    <a:pt x="19266" y="43395"/>
                  </a:lnTo>
                  <a:lnTo>
                    <a:pt x="0" y="0"/>
                  </a:lnTo>
                  <a:lnTo>
                    <a:pt x="0" y="1500759"/>
                  </a:lnTo>
                  <a:lnTo>
                    <a:pt x="19266" y="1544154"/>
                  </a:lnTo>
                  <a:lnTo>
                    <a:pt x="52514" y="1571771"/>
                  </a:lnTo>
                  <a:lnTo>
                    <a:pt x="100960" y="1598118"/>
                  </a:lnTo>
                  <a:lnTo>
                    <a:pt x="163641" y="1623007"/>
                  </a:lnTo>
                  <a:lnTo>
                    <a:pt x="200017" y="1634847"/>
                  </a:lnTo>
                  <a:lnTo>
                    <a:pt x="239591" y="1646252"/>
                  </a:lnTo>
                  <a:lnTo>
                    <a:pt x="282241" y="1657199"/>
                  </a:lnTo>
                  <a:lnTo>
                    <a:pt x="327848" y="1667664"/>
                  </a:lnTo>
                  <a:lnTo>
                    <a:pt x="376289" y="1677623"/>
                  </a:lnTo>
                  <a:lnTo>
                    <a:pt x="427446" y="1687055"/>
                  </a:lnTo>
                  <a:lnTo>
                    <a:pt x="481198" y="1695934"/>
                  </a:lnTo>
                  <a:lnTo>
                    <a:pt x="537423" y="1704238"/>
                  </a:lnTo>
                  <a:lnTo>
                    <a:pt x="596003" y="1711943"/>
                  </a:lnTo>
                  <a:lnTo>
                    <a:pt x="656815" y="1719025"/>
                  </a:lnTo>
                  <a:lnTo>
                    <a:pt x="719740" y="1725461"/>
                  </a:lnTo>
                  <a:lnTo>
                    <a:pt x="784656" y="1731228"/>
                  </a:lnTo>
                  <a:lnTo>
                    <a:pt x="851445" y="1736303"/>
                  </a:lnTo>
                  <a:lnTo>
                    <a:pt x="919985" y="1740661"/>
                  </a:lnTo>
                  <a:lnTo>
                    <a:pt x="990155" y="1744279"/>
                  </a:lnTo>
                  <a:lnTo>
                    <a:pt x="1061835" y="1747134"/>
                  </a:lnTo>
                  <a:lnTo>
                    <a:pt x="1134905" y="1749202"/>
                  </a:lnTo>
                  <a:lnTo>
                    <a:pt x="1209244" y="1750460"/>
                  </a:lnTo>
                  <a:lnTo>
                    <a:pt x="1284732" y="1750885"/>
                  </a:lnTo>
                  <a:lnTo>
                    <a:pt x="1360219" y="1750460"/>
                  </a:lnTo>
                  <a:lnTo>
                    <a:pt x="1434558" y="1749202"/>
                  </a:lnTo>
                  <a:lnTo>
                    <a:pt x="1507628" y="1747134"/>
                  </a:lnTo>
                  <a:lnTo>
                    <a:pt x="1579308" y="1744279"/>
                  </a:lnTo>
                  <a:lnTo>
                    <a:pt x="1649478" y="1740661"/>
                  </a:lnTo>
                  <a:lnTo>
                    <a:pt x="1718018" y="1736303"/>
                  </a:lnTo>
                  <a:lnTo>
                    <a:pt x="1784807" y="1731228"/>
                  </a:lnTo>
                  <a:lnTo>
                    <a:pt x="1849723" y="1725461"/>
                  </a:lnTo>
                  <a:lnTo>
                    <a:pt x="1912648" y="1719025"/>
                  </a:lnTo>
                  <a:lnTo>
                    <a:pt x="1973460" y="1711943"/>
                  </a:lnTo>
                  <a:lnTo>
                    <a:pt x="2032040" y="1704238"/>
                  </a:lnTo>
                  <a:lnTo>
                    <a:pt x="2088265" y="1695934"/>
                  </a:lnTo>
                  <a:lnTo>
                    <a:pt x="2142017" y="1687055"/>
                  </a:lnTo>
                  <a:lnTo>
                    <a:pt x="2193174" y="1677623"/>
                  </a:lnTo>
                  <a:lnTo>
                    <a:pt x="2241615" y="1667664"/>
                  </a:lnTo>
                  <a:lnTo>
                    <a:pt x="2287222" y="1657199"/>
                  </a:lnTo>
                  <a:lnTo>
                    <a:pt x="2329872" y="1646252"/>
                  </a:lnTo>
                  <a:lnTo>
                    <a:pt x="2369446" y="1634847"/>
                  </a:lnTo>
                  <a:lnTo>
                    <a:pt x="2405822" y="1623007"/>
                  </a:lnTo>
                  <a:lnTo>
                    <a:pt x="2468503" y="1598118"/>
                  </a:lnTo>
                  <a:lnTo>
                    <a:pt x="2516949" y="1571771"/>
                  </a:lnTo>
                  <a:lnTo>
                    <a:pt x="2550197" y="1544154"/>
                  </a:lnTo>
                  <a:lnTo>
                    <a:pt x="2569464" y="1500759"/>
                  </a:lnTo>
                  <a:lnTo>
                    <a:pt x="2569464" y="0"/>
                  </a:lnTo>
                  <a:close/>
                </a:path>
              </a:pathLst>
            </a:custGeom>
            <a:solidFill>
              <a:srgbClr val="C0C0C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316" name="Google Shape;316;p36"/>
            <p:cNvSpPr/>
            <p:nvPr/>
          </p:nvSpPr>
          <p:spPr>
            <a:xfrm>
              <a:off x="5955030" y="1399794"/>
              <a:ext cx="2569845" cy="500380"/>
            </a:xfrm>
            <a:custGeom>
              <a:rect b="b" l="l" r="r" t="t"/>
              <a:pathLst>
                <a:path extrusionOk="0" h="500380" w="2569845">
                  <a:moveTo>
                    <a:pt x="1284732" y="0"/>
                  </a:moveTo>
                  <a:lnTo>
                    <a:pt x="1209244" y="424"/>
                  </a:lnTo>
                  <a:lnTo>
                    <a:pt x="1134905" y="1682"/>
                  </a:lnTo>
                  <a:lnTo>
                    <a:pt x="1061835" y="3751"/>
                  </a:lnTo>
                  <a:lnTo>
                    <a:pt x="990155" y="6606"/>
                  </a:lnTo>
                  <a:lnTo>
                    <a:pt x="919985" y="10224"/>
                  </a:lnTo>
                  <a:lnTo>
                    <a:pt x="851445" y="14582"/>
                  </a:lnTo>
                  <a:lnTo>
                    <a:pt x="784656" y="19656"/>
                  </a:lnTo>
                  <a:lnTo>
                    <a:pt x="719740" y="25423"/>
                  </a:lnTo>
                  <a:lnTo>
                    <a:pt x="656815" y="31860"/>
                  </a:lnTo>
                  <a:lnTo>
                    <a:pt x="596003" y="38942"/>
                  </a:lnTo>
                  <a:lnTo>
                    <a:pt x="537423" y="46647"/>
                  </a:lnTo>
                  <a:lnTo>
                    <a:pt x="481198" y="54950"/>
                  </a:lnTo>
                  <a:lnTo>
                    <a:pt x="427446" y="63830"/>
                  </a:lnTo>
                  <a:lnTo>
                    <a:pt x="376289" y="73261"/>
                  </a:lnTo>
                  <a:lnTo>
                    <a:pt x="327848" y="83221"/>
                  </a:lnTo>
                  <a:lnTo>
                    <a:pt x="282241" y="93686"/>
                  </a:lnTo>
                  <a:lnTo>
                    <a:pt x="239591" y="104633"/>
                  </a:lnTo>
                  <a:lnTo>
                    <a:pt x="200017" y="116038"/>
                  </a:lnTo>
                  <a:lnTo>
                    <a:pt x="163641" y="127877"/>
                  </a:lnTo>
                  <a:lnTo>
                    <a:pt x="100960" y="152767"/>
                  </a:lnTo>
                  <a:lnTo>
                    <a:pt x="52514" y="179114"/>
                  </a:lnTo>
                  <a:lnTo>
                    <a:pt x="19266" y="206731"/>
                  </a:lnTo>
                  <a:lnTo>
                    <a:pt x="0" y="250126"/>
                  </a:lnTo>
                  <a:lnTo>
                    <a:pt x="2180" y="264823"/>
                  </a:lnTo>
                  <a:lnTo>
                    <a:pt x="33930" y="307477"/>
                  </a:lnTo>
                  <a:lnTo>
                    <a:pt x="74898" y="334482"/>
                  </a:lnTo>
                  <a:lnTo>
                    <a:pt x="130581" y="360124"/>
                  </a:lnTo>
                  <a:lnTo>
                    <a:pt x="200017" y="384214"/>
                  </a:lnTo>
                  <a:lnTo>
                    <a:pt x="239591" y="395619"/>
                  </a:lnTo>
                  <a:lnTo>
                    <a:pt x="282241" y="406566"/>
                  </a:lnTo>
                  <a:lnTo>
                    <a:pt x="327848" y="417031"/>
                  </a:lnTo>
                  <a:lnTo>
                    <a:pt x="376289" y="426991"/>
                  </a:lnTo>
                  <a:lnTo>
                    <a:pt x="427446" y="436422"/>
                  </a:lnTo>
                  <a:lnTo>
                    <a:pt x="481198" y="445302"/>
                  </a:lnTo>
                  <a:lnTo>
                    <a:pt x="537423" y="453605"/>
                  </a:lnTo>
                  <a:lnTo>
                    <a:pt x="596003" y="461310"/>
                  </a:lnTo>
                  <a:lnTo>
                    <a:pt x="656815" y="468392"/>
                  </a:lnTo>
                  <a:lnTo>
                    <a:pt x="719740" y="474829"/>
                  </a:lnTo>
                  <a:lnTo>
                    <a:pt x="784656" y="480596"/>
                  </a:lnTo>
                  <a:lnTo>
                    <a:pt x="851445" y="485670"/>
                  </a:lnTo>
                  <a:lnTo>
                    <a:pt x="919985" y="490028"/>
                  </a:lnTo>
                  <a:lnTo>
                    <a:pt x="990155" y="493646"/>
                  </a:lnTo>
                  <a:lnTo>
                    <a:pt x="1061835" y="496501"/>
                  </a:lnTo>
                  <a:lnTo>
                    <a:pt x="1134905" y="498570"/>
                  </a:lnTo>
                  <a:lnTo>
                    <a:pt x="1209244" y="499828"/>
                  </a:lnTo>
                  <a:lnTo>
                    <a:pt x="1284732" y="500252"/>
                  </a:lnTo>
                  <a:lnTo>
                    <a:pt x="1360219" y="499828"/>
                  </a:lnTo>
                  <a:lnTo>
                    <a:pt x="1434558" y="498570"/>
                  </a:lnTo>
                  <a:lnTo>
                    <a:pt x="1507628" y="496501"/>
                  </a:lnTo>
                  <a:lnTo>
                    <a:pt x="1579308" y="493646"/>
                  </a:lnTo>
                  <a:lnTo>
                    <a:pt x="1649478" y="490028"/>
                  </a:lnTo>
                  <a:lnTo>
                    <a:pt x="1718018" y="485670"/>
                  </a:lnTo>
                  <a:lnTo>
                    <a:pt x="1784807" y="480596"/>
                  </a:lnTo>
                  <a:lnTo>
                    <a:pt x="1849723" y="474829"/>
                  </a:lnTo>
                  <a:lnTo>
                    <a:pt x="1912648" y="468392"/>
                  </a:lnTo>
                  <a:lnTo>
                    <a:pt x="1973460" y="461310"/>
                  </a:lnTo>
                  <a:lnTo>
                    <a:pt x="2032040" y="453605"/>
                  </a:lnTo>
                  <a:lnTo>
                    <a:pt x="2088265" y="445302"/>
                  </a:lnTo>
                  <a:lnTo>
                    <a:pt x="2142017" y="436422"/>
                  </a:lnTo>
                  <a:lnTo>
                    <a:pt x="2193174" y="426991"/>
                  </a:lnTo>
                  <a:lnTo>
                    <a:pt x="2241615" y="417031"/>
                  </a:lnTo>
                  <a:lnTo>
                    <a:pt x="2287222" y="406566"/>
                  </a:lnTo>
                  <a:lnTo>
                    <a:pt x="2329872" y="395619"/>
                  </a:lnTo>
                  <a:lnTo>
                    <a:pt x="2369446" y="384214"/>
                  </a:lnTo>
                  <a:lnTo>
                    <a:pt x="2405822" y="372375"/>
                  </a:lnTo>
                  <a:lnTo>
                    <a:pt x="2468503" y="347485"/>
                  </a:lnTo>
                  <a:lnTo>
                    <a:pt x="2516949" y="321138"/>
                  </a:lnTo>
                  <a:lnTo>
                    <a:pt x="2550197" y="293521"/>
                  </a:lnTo>
                  <a:lnTo>
                    <a:pt x="2569464" y="250126"/>
                  </a:lnTo>
                  <a:lnTo>
                    <a:pt x="2567283" y="235429"/>
                  </a:lnTo>
                  <a:lnTo>
                    <a:pt x="2535533" y="192775"/>
                  </a:lnTo>
                  <a:lnTo>
                    <a:pt x="2494565" y="165770"/>
                  </a:lnTo>
                  <a:lnTo>
                    <a:pt x="2438882" y="140128"/>
                  </a:lnTo>
                  <a:lnTo>
                    <a:pt x="2369446" y="116038"/>
                  </a:lnTo>
                  <a:lnTo>
                    <a:pt x="2329872" y="104633"/>
                  </a:lnTo>
                  <a:lnTo>
                    <a:pt x="2287222" y="93686"/>
                  </a:lnTo>
                  <a:lnTo>
                    <a:pt x="2241615" y="83221"/>
                  </a:lnTo>
                  <a:lnTo>
                    <a:pt x="2193174" y="73261"/>
                  </a:lnTo>
                  <a:lnTo>
                    <a:pt x="2142017" y="63830"/>
                  </a:lnTo>
                  <a:lnTo>
                    <a:pt x="2088265" y="54950"/>
                  </a:lnTo>
                  <a:lnTo>
                    <a:pt x="2032040" y="46647"/>
                  </a:lnTo>
                  <a:lnTo>
                    <a:pt x="1973460" y="38942"/>
                  </a:lnTo>
                  <a:lnTo>
                    <a:pt x="1912648" y="31860"/>
                  </a:lnTo>
                  <a:lnTo>
                    <a:pt x="1849723" y="25423"/>
                  </a:lnTo>
                  <a:lnTo>
                    <a:pt x="1784807" y="19656"/>
                  </a:lnTo>
                  <a:lnTo>
                    <a:pt x="1718018" y="14582"/>
                  </a:lnTo>
                  <a:lnTo>
                    <a:pt x="1649478" y="10224"/>
                  </a:lnTo>
                  <a:lnTo>
                    <a:pt x="1579308" y="6606"/>
                  </a:lnTo>
                  <a:lnTo>
                    <a:pt x="1507628" y="3751"/>
                  </a:lnTo>
                  <a:lnTo>
                    <a:pt x="1434558" y="1682"/>
                  </a:lnTo>
                  <a:lnTo>
                    <a:pt x="1360219" y="424"/>
                  </a:lnTo>
                  <a:lnTo>
                    <a:pt x="1284732" y="0"/>
                  </a:lnTo>
                  <a:close/>
                </a:path>
              </a:pathLst>
            </a:custGeom>
            <a:solidFill>
              <a:srgbClr val="DADADA"/>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317" name="Google Shape;317;p36"/>
            <p:cNvSpPr/>
            <p:nvPr/>
          </p:nvSpPr>
          <p:spPr>
            <a:xfrm>
              <a:off x="5955030" y="1399794"/>
              <a:ext cx="2569845" cy="2001520"/>
            </a:xfrm>
            <a:custGeom>
              <a:rect b="b" l="l" r="r" t="t"/>
              <a:pathLst>
                <a:path extrusionOk="0" h="2001520" w="2569845">
                  <a:moveTo>
                    <a:pt x="2569464" y="250126"/>
                  </a:moveTo>
                  <a:lnTo>
                    <a:pt x="2550197" y="293521"/>
                  </a:lnTo>
                  <a:lnTo>
                    <a:pt x="2516949" y="321138"/>
                  </a:lnTo>
                  <a:lnTo>
                    <a:pt x="2468503" y="347485"/>
                  </a:lnTo>
                  <a:lnTo>
                    <a:pt x="2405822" y="372375"/>
                  </a:lnTo>
                  <a:lnTo>
                    <a:pt x="2369446" y="384214"/>
                  </a:lnTo>
                  <a:lnTo>
                    <a:pt x="2329872" y="395619"/>
                  </a:lnTo>
                  <a:lnTo>
                    <a:pt x="2287222" y="406566"/>
                  </a:lnTo>
                  <a:lnTo>
                    <a:pt x="2241615" y="417031"/>
                  </a:lnTo>
                  <a:lnTo>
                    <a:pt x="2193174" y="426991"/>
                  </a:lnTo>
                  <a:lnTo>
                    <a:pt x="2142017" y="436422"/>
                  </a:lnTo>
                  <a:lnTo>
                    <a:pt x="2088265" y="445302"/>
                  </a:lnTo>
                  <a:lnTo>
                    <a:pt x="2032040" y="453605"/>
                  </a:lnTo>
                  <a:lnTo>
                    <a:pt x="1973460" y="461310"/>
                  </a:lnTo>
                  <a:lnTo>
                    <a:pt x="1912648" y="468392"/>
                  </a:lnTo>
                  <a:lnTo>
                    <a:pt x="1849723" y="474829"/>
                  </a:lnTo>
                  <a:lnTo>
                    <a:pt x="1784807" y="480596"/>
                  </a:lnTo>
                  <a:lnTo>
                    <a:pt x="1718018" y="485670"/>
                  </a:lnTo>
                  <a:lnTo>
                    <a:pt x="1649478" y="490028"/>
                  </a:lnTo>
                  <a:lnTo>
                    <a:pt x="1579308" y="493646"/>
                  </a:lnTo>
                  <a:lnTo>
                    <a:pt x="1507628" y="496501"/>
                  </a:lnTo>
                  <a:lnTo>
                    <a:pt x="1434558" y="498570"/>
                  </a:lnTo>
                  <a:lnTo>
                    <a:pt x="1360219" y="499828"/>
                  </a:lnTo>
                  <a:lnTo>
                    <a:pt x="1284732" y="500252"/>
                  </a:lnTo>
                  <a:lnTo>
                    <a:pt x="1209244" y="499828"/>
                  </a:lnTo>
                  <a:lnTo>
                    <a:pt x="1134905" y="498570"/>
                  </a:lnTo>
                  <a:lnTo>
                    <a:pt x="1061835" y="496501"/>
                  </a:lnTo>
                  <a:lnTo>
                    <a:pt x="990155" y="493646"/>
                  </a:lnTo>
                  <a:lnTo>
                    <a:pt x="919985" y="490028"/>
                  </a:lnTo>
                  <a:lnTo>
                    <a:pt x="851445" y="485670"/>
                  </a:lnTo>
                  <a:lnTo>
                    <a:pt x="784656" y="480596"/>
                  </a:lnTo>
                  <a:lnTo>
                    <a:pt x="719740" y="474829"/>
                  </a:lnTo>
                  <a:lnTo>
                    <a:pt x="656815" y="468392"/>
                  </a:lnTo>
                  <a:lnTo>
                    <a:pt x="596003" y="461310"/>
                  </a:lnTo>
                  <a:lnTo>
                    <a:pt x="537423" y="453605"/>
                  </a:lnTo>
                  <a:lnTo>
                    <a:pt x="481198" y="445302"/>
                  </a:lnTo>
                  <a:lnTo>
                    <a:pt x="427446" y="436422"/>
                  </a:lnTo>
                  <a:lnTo>
                    <a:pt x="376289" y="426991"/>
                  </a:lnTo>
                  <a:lnTo>
                    <a:pt x="327848" y="417031"/>
                  </a:lnTo>
                  <a:lnTo>
                    <a:pt x="282241" y="406566"/>
                  </a:lnTo>
                  <a:lnTo>
                    <a:pt x="239591" y="395619"/>
                  </a:lnTo>
                  <a:lnTo>
                    <a:pt x="200017" y="384214"/>
                  </a:lnTo>
                  <a:lnTo>
                    <a:pt x="163641" y="372375"/>
                  </a:lnTo>
                  <a:lnTo>
                    <a:pt x="100960" y="347485"/>
                  </a:lnTo>
                  <a:lnTo>
                    <a:pt x="52514" y="321138"/>
                  </a:lnTo>
                  <a:lnTo>
                    <a:pt x="19266" y="293521"/>
                  </a:lnTo>
                  <a:lnTo>
                    <a:pt x="0" y="250126"/>
                  </a:lnTo>
                  <a:lnTo>
                    <a:pt x="2180" y="235429"/>
                  </a:lnTo>
                  <a:lnTo>
                    <a:pt x="33930" y="192775"/>
                  </a:lnTo>
                  <a:lnTo>
                    <a:pt x="74898" y="165770"/>
                  </a:lnTo>
                  <a:lnTo>
                    <a:pt x="130581" y="140128"/>
                  </a:lnTo>
                  <a:lnTo>
                    <a:pt x="200017" y="116038"/>
                  </a:lnTo>
                  <a:lnTo>
                    <a:pt x="239591" y="104633"/>
                  </a:lnTo>
                  <a:lnTo>
                    <a:pt x="282241" y="93686"/>
                  </a:lnTo>
                  <a:lnTo>
                    <a:pt x="327848" y="83221"/>
                  </a:lnTo>
                  <a:lnTo>
                    <a:pt x="376289" y="73261"/>
                  </a:lnTo>
                  <a:lnTo>
                    <a:pt x="427446" y="63830"/>
                  </a:lnTo>
                  <a:lnTo>
                    <a:pt x="481198" y="54950"/>
                  </a:lnTo>
                  <a:lnTo>
                    <a:pt x="537423" y="46647"/>
                  </a:lnTo>
                  <a:lnTo>
                    <a:pt x="596003" y="38942"/>
                  </a:lnTo>
                  <a:lnTo>
                    <a:pt x="656815" y="31860"/>
                  </a:lnTo>
                  <a:lnTo>
                    <a:pt x="719740" y="25423"/>
                  </a:lnTo>
                  <a:lnTo>
                    <a:pt x="784656" y="19656"/>
                  </a:lnTo>
                  <a:lnTo>
                    <a:pt x="851445" y="14582"/>
                  </a:lnTo>
                  <a:lnTo>
                    <a:pt x="919985" y="10224"/>
                  </a:lnTo>
                  <a:lnTo>
                    <a:pt x="990155" y="6606"/>
                  </a:lnTo>
                  <a:lnTo>
                    <a:pt x="1061835" y="3751"/>
                  </a:lnTo>
                  <a:lnTo>
                    <a:pt x="1134905" y="1682"/>
                  </a:lnTo>
                  <a:lnTo>
                    <a:pt x="1209244" y="424"/>
                  </a:lnTo>
                  <a:lnTo>
                    <a:pt x="1284732" y="0"/>
                  </a:lnTo>
                  <a:lnTo>
                    <a:pt x="1360219" y="424"/>
                  </a:lnTo>
                  <a:lnTo>
                    <a:pt x="1434558" y="1682"/>
                  </a:lnTo>
                  <a:lnTo>
                    <a:pt x="1507628" y="3751"/>
                  </a:lnTo>
                  <a:lnTo>
                    <a:pt x="1579308" y="6606"/>
                  </a:lnTo>
                  <a:lnTo>
                    <a:pt x="1649478" y="10224"/>
                  </a:lnTo>
                  <a:lnTo>
                    <a:pt x="1718018" y="14582"/>
                  </a:lnTo>
                  <a:lnTo>
                    <a:pt x="1784807" y="19656"/>
                  </a:lnTo>
                  <a:lnTo>
                    <a:pt x="1849723" y="25423"/>
                  </a:lnTo>
                  <a:lnTo>
                    <a:pt x="1912648" y="31860"/>
                  </a:lnTo>
                  <a:lnTo>
                    <a:pt x="1973460" y="38942"/>
                  </a:lnTo>
                  <a:lnTo>
                    <a:pt x="2032040" y="46647"/>
                  </a:lnTo>
                  <a:lnTo>
                    <a:pt x="2088265" y="54950"/>
                  </a:lnTo>
                  <a:lnTo>
                    <a:pt x="2142017" y="63830"/>
                  </a:lnTo>
                  <a:lnTo>
                    <a:pt x="2193174" y="73261"/>
                  </a:lnTo>
                  <a:lnTo>
                    <a:pt x="2241615" y="83221"/>
                  </a:lnTo>
                  <a:lnTo>
                    <a:pt x="2287222" y="93686"/>
                  </a:lnTo>
                  <a:lnTo>
                    <a:pt x="2329872" y="104633"/>
                  </a:lnTo>
                  <a:lnTo>
                    <a:pt x="2369446" y="116038"/>
                  </a:lnTo>
                  <a:lnTo>
                    <a:pt x="2405822" y="127877"/>
                  </a:lnTo>
                  <a:lnTo>
                    <a:pt x="2468503" y="152767"/>
                  </a:lnTo>
                  <a:lnTo>
                    <a:pt x="2516949" y="179114"/>
                  </a:lnTo>
                  <a:lnTo>
                    <a:pt x="2550197" y="206731"/>
                  </a:lnTo>
                  <a:lnTo>
                    <a:pt x="2569464" y="250126"/>
                  </a:lnTo>
                  <a:close/>
                </a:path>
                <a:path extrusionOk="0" h="2001520" w="2569845">
                  <a:moveTo>
                    <a:pt x="2569464" y="250126"/>
                  </a:moveTo>
                  <a:lnTo>
                    <a:pt x="2569464" y="1750885"/>
                  </a:lnTo>
                  <a:lnTo>
                    <a:pt x="2567283" y="1765582"/>
                  </a:lnTo>
                  <a:lnTo>
                    <a:pt x="2535533" y="1808236"/>
                  </a:lnTo>
                  <a:lnTo>
                    <a:pt x="2494565" y="1835241"/>
                  </a:lnTo>
                  <a:lnTo>
                    <a:pt x="2438882" y="1860883"/>
                  </a:lnTo>
                  <a:lnTo>
                    <a:pt x="2369446" y="1884973"/>
                  </a:lnTo>
                  <a:lnTo>
                    <a:pt x="2329872" y="1896378"/>
                  </a:lnTo>
                  <a:lnTo>
                    <a:pt x="2287222" y="1907325"/>
                  </a:lnTo>
                  <a:lnTo>
                    <a:pt x="2241615" y="1917790"/>
                  </a:lnTo>
                  <a:lnTo>
                    <a:pt x="2193174" y="1927750"/>
                  </a:lnTo>
                  <a:lnTo>
                    <a:pt x="2142017" y="1937181"/>
                  </a:lnTo>
                  <a:lnTo>
                    <a:pt x="2088265" y="1946061"/>
                  </a:lnTo>
                  <a:lnTo>
                    <a:pt x="2032040" y="1954364"/>
                  </a:lnTo>
                  <a:lnTo>
                    <a:pt x="1973460" y="1962069"/>
                  </a:lnTo>
                  <a:lnTo>
                    <a:pt x="1912648" y="1969151"/>
                  </a:lnTo>
                  <a:lnTo>
                    <a:pt x="1849723" y="1975588"/>
                  </a:lnTo>
                  <a:lnTo>
                    <a:pt x="1784807" y="1981355"/>
                  </a:lnTo>
                  <a:lnTo>
                    <a:pt x="1718018" y="1986429"/>
                  </a:lnTo>
                  <a:lnTo>
                    <a:pt x="1649478" y="1990787"/>
                  </a:lnTo>
                  <a:lnTo>
                    <a:pt x="1579308" y="1994405"/>
                  </a:lnTo>
                  <a:lnTo>
                    <a:pt x="1507628" y="1997260"/>
                  </a:lnTo>
                  <a:lnTo>
                    <a:pt x="1434558" y="1999329"/>
                  </a:lnTo>
                  <a:lnTo>
                    <a:pt x="1360219" y="2000587"/>
                  </a:lnTo>
                  <a:lnTo>
                    <a:pt x="1284732" y="2001012"/>
                  </a:lnTo>
                  <a:lnTo>
                    <a:pt x="1209244" y="2000587"/>
                  </a:lnTo>
                  <a:lnTo>
                    <a:pt x="1134905" y="1999329"/>
                  </a:lnTo>
                  <a:lnTo>
                    <a:pt x="1061835" y="1997260"/>
                  </a:lnTo>
                  <a:lnTo>
                    <a:pt x="990155" y="1994405"/>
                  </a:lnTo>
                  <a:lnTo>
                    <a:pt x="919985" y="1990787"/>
                  </a:lnTo>
                  <a:lnTo>
                    <a:pt x="851445" y="1986429"/>
                  </a:lnTo>
                  <a:lnTo>
                    <a:pt x="784656" y="1981355"/>
                  </a:lnTo>
                  <a:lnTo>
                    <a:pt x="719740" y="1975588"/>
                  </a:lnTo>
                  <a:lnTo>
                    <a:pt x="656815" y="1969151"/>
                  </a:lnTo>
                  <a:lnTo>
                    <a:pt x="596003" y="1962069"/>
                  </a:lnTo>
                  <a:lnTo>
                    <a:pt x="537423" y="1954364"/>
                  </a:lnTo>
                  <a:lnTo>
                    <a:pt x="481198" y="1946061"/>
                  </a:lnTo>
                  <a:lnTo>
                    <a:pt x="427446" y="1937181"/>
                  </a:lnTo>
                  <a:lnTo>
                    <a:pt x="376289" y="1927750"/>
                  </a:lnTo>
                  <a:lnTo>
                    <a:pt x="327848" y="1917790"/>
                  </a:lnTo>
                  <a:lnTo>
                    <a:pt x="282241" y="1907325"/>
                  </a:lnTo>
                  <a:lnTo>
                    <a:pt x="239591" y="1896378"/>
                  </a:lnTo>
                  <a:lnTo>
                    <a:pt x="200017" y="1884973"/>
                  </a:lnTo>
                  <a:lnTo>
                    <a:pt x="163641" y="1873134"/>
                  </a:lnTo>
                  <a:lnTo>
                    <a:pt x="100960" y="1848244"/>
                  </a:lnTo>
                  <a:lnTo>
                    <a:pt x="52514" y="1821897"/>
                  </a:lnTo>
                  <a:lnTo>
                    <a:pt x="19266" y="1794280"/>
                  </a:lnTo>
                  <a:lnTo>
                    <a:pt x="0" y="1750885"/>
                  </a:lnTo>
                  <a:lnTo>
                    <a:pt x="0" y="250126"/>
                  </a:lnTo>
                </a:path>
              </a:pathLst>
            </a:custGeom>
            <a:noFill/>
            <a:ln cap="flat" cmpd="sng" w="28950">
              <a:solidFill>
                <a:srgbClr val="4E3629"/>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grpSp>
      <p:sp>
        <p:nvSpPr>
          <p:cNvPr id="318" name="Google Shape;318;p36"/>
          <p:cNvSpPr txBox="1"/>
          <p:nvPr/>
        </p:nvSpPr>
        <p:spPr>
          <a:xfrm>
            <a:off x="6573133" y="1516163"/>
            <a:ext cx="1403350" cy="26924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1" lang="en-US" sz="1600">
                <a:solidFill>
                  <a:srgbClr val="4E3629"/>
                </a:solidFill>
                <a:latin typeface="Calibri"/>
                <a:ea typeface="Calibri"/>
                <a:cs typeface="Calibri"/>
                <a:sym typeface="Calibri"/>
              </a:rPr>
              <a:t>Oracle Database</a:t>
            </a:r>
            <a:endParaRPr sz="1600">
              <a:latin typeface="Calibri"/>
              <a:ea typeface="Calibri"/>
              <a:cs typeface="Calibri"/>
              <a:sym typeface="Calibri"/>
            </a:endParaRPr>
          </a:p>
        </p:txBody>
      </p:sp>
      <p:grpSp>
        <p:nvGrpSpPr>
          <p:cNvPr id="319" name="Google Shape;319;p36"/>
          <p:cNvGrpSpPr/>
          <p:nvPr/>
        </p:nvGrpSpPr>
        <p:grpSpPr>
          <a:xfrm>
            <a:off x="7620761" y="3594354"/>
            <a:ext cx="904240" cy="375285"/>
            <a:chOff x="7620761" y="3594354"/>
            <a:chExt cx="904240" cy="375285"/>
          </a:xfrm>
        </p:grpSpPr>
        <p:sp>
          <p:nvSpPr>
            <p:cNvPr id="320" name="Google Shape;320;p36"/>
            <p:cNvSpPr/>
            <p:nvPr/>
          </p:nvSpPr>
          <p:spPr>
            <a:xfrm>
              <a:off x="7620761" y="3594354"/>
              <a:ext cx="904240" cy="375285"/>
            </a:xfrm>
            <a:custGeom>
              <a:rect b="b" l="l" r="r" t="t"/>
              <a:pathLst>
                <a:path extrusionOk="0" h="375285" w="904240">
                  <a:moveTo>
                    <a:pt x="903731" y="0"/>
                  </a:moveTo>
                  <a:lnTo>
                    <a:pt x="0" y="0"/>
                  </a:lnTo>
                  <a:lnTo>
                    <a:pt x="0" y="374904"/>
                  </a:lnTo>
                  <a:lnTo>
                    <a:pt x="903731" y="374904"/>
                  </a:lnTo>
                  <a:lnTo>
                    <a:pt x="903731" y="0"/>
                  </a:lnTo>
                  <a:close/>
                </a:path>
              </a:pathLst>
            </a:custGeom>
            <a:solidFill>
              <a:srgbClr val="4E3629"/>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321" name="Google Shape;321;p36"/>
            <p:cNvSpPr/>
            <p:nvPr/>
          </p:nvSpPr>
          <p:spPr>
            <a:xfrm>
              <a:off x="7620761" y="3594354"/>
              <a:ext cx="904240" cy="375285"/>
            </a:xfrm>
            <a:custGeom>
              <a:rect b="b" l="l" r="r" t="t"/>
              <a:pathLst>
                <a:path extrusionOk="0" h="375285" w="904240">
                  <a:moveTo>
                    <a:pt x="0" y="0"/>
                  </a:moveTo>
                  <a:lnTo>
                    <a:pt x="903731" y="0"/>
                  </a:lnTo>
                  <a:lnTo>
                    <a:pt x="903731" y="374904"/>
                  </a:lnTo>
                  <a:lnTo>
                    <a:pt x="0" y="374904"/>
                  </a:lnTo>
                  <a:lnTo>
                    <a:pt x="0" y="0"/>
                  </a:lnTo>
                  <a:close/>
                </a:path>
              </a:pathLst>
            </a:custGeom>
            <a:noFill/>
            <a:ln cap="flat" cmpd="sng" w="28950">
              <a:solidFill>
                <a:srgbClr val="4E3629"/>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grpSp>
      <p:grpSp>
        <p:nvGrpSpPr>
          <p:cNvPr id="322" name="Google Shape;322;p36"/>
          <p:cNvGrpSpPr/>
          <p:nvPr/>
        </p:nvGrpSpPr>
        <p:grpSpPr>
          <a:xfrm>
            <a:off x="5866637" y="3594354"/>
            <a:ext cx="927100" cy="375285"/>
            <a:chOff x="5866637" y="3594354"/>
            <a:chExt cx="927100" cy="375285"/>
          </a:xfrm>
        </p:grpSpPr>
        <p:sp>
          <p:nvSpPr>
            <p:cNvPr id="323" name="Google Shape;323;p36"/>
            <p:cNvSpPr/>
            <p:nvPr/>
          </p:nvSpPr>
          <p:spPr>
            <a:xfrm>
              <a:off x="5866637" y="3594354"/>
              <a:ext cx="927100" cy="375285"/>
            </a:xfrm>
            <a:custGeom>
              <a:rect b="b" l="l" r="r" t="t"/>
              <a:pathLst>
                <a:path extrusionOk="0" h="375285" w="927100">
                  <a:moveTo>
                    <a:pt x="926591" y="0"/>
                  </a:moveTo>
                  <a:lnTo>
                    <a:pt x="0" y="0"/>
                  </a:lnTo>
                  <a:lnTo>
                    <a:pt x="0" y="374904"/>
                  </a:lnTo>
                  <a:lnTo>
                    <a:pt x="926591" y="374904"/>
                  </a:lnTo>
                  <a:lnTo>
                    <a:pt x="926591" y="0"/>
                  </a:lnTo>
                  <a:close/>
                </a:path>
              </a:pathLst>
            </a:custGeom>
            <a:solidFill>
              <a:srgbClr val="FFC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324" name="Google Shape;324;p36"/>
            <p:cNvSpPr/>
            <p:nvPr/>
          </p:nvSpPr>
          <p:spPr>
            <a:xfrm>
              <a:off x="5866637" y="3594354"/>
              <a:ext cx="927100" cy="375285"/>
            </a:xfrm>
            <a:custGeom>
              <a:rect b="b" l="l" r="r" t="t"/>
              <a:pathLst>
                <a:path extrusionOk="0" h="375285" w="927100">
                  <a:moveTo>
                    <a:pt x="0" y="0"/>
                  </a:moveTo>
                  <a:lnTo>
                    <a:pt x="926591" y="0"/>
                  </a:lnTo>
                  <a:lnTo>
                    <a:pt x="926591" y="374904"/>
                  </a:lnTo>
                  <a:lnTo>
                    <a:pt x="0" y="374904"/>
                  </a:lnTo>
                  <a:lnTo>
                    <a:pt x="0" y="0"/>
                  </a:lnTo>
                  <a:close/>
                </a:path>
              </a:pathLst>
            </a:custGeom>
            <a:noFill/>
            <a:ln cap="flat" cmpd="sng" w="28950">
              <a:solidFill>
                <a:srgbClr val="4E3629"/>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grpSp>
      <p:sp>
        <p:nvSpPr>
          <p:cNvPr id="325" name="Google Shape;325;p36"/>
          <p:cNvSpPr txBox="1"/>
          <p:nvPr/>
        </p:nvSpPr>
        <p:spPr>
          <a:xfrm>
            <a:off x="5733343" y="3985614"/>
            <a:ext cx="1159510" cy="848360"/>
          </a:xfrm>
          <a:prstGeom prst="rect">
            <a:avLst/>
          </a:prstGeom>
          <a:noFill/>
          <a:ln>
            <a:noFill/>
          </a:ln>
        </p:spPr>
        <p:txBody>
          <a:bodyPr anchorCtr="0" anchor="t" bIns="0" lIns="0" spcFirstLastPara="1" rIns="0" wrap="square" tIns="12700">
            <a:spAutoFit/>
          </a:bodyPr>
          <a:lstStyle/>
          <a:p>
            <a:pPr indent="2540" lvl="0" marL="12700" marR="5080" rtl="0" algn="ctr">
              <a:lnSpc>
                <a:spcPct val="100000"/>
              </a:lnSpc>
              <a:spcBef>
                <a:spcPts val="0"/>
              </a:spcBef>
              <a:spcAft>
                <a:spcPts val="0"/>
              </a:spcAft>
              <a:buNone/>
            </a:pPr>
            <a:r>
              <a:rPr b="1" lang="en-US" sz="1800">
                <a:solidFill>
                  <a:srgbClr val="4E3629"/>
                </a:solidFill>
                <a:latin typeface="Calibri"/>
                <a:ea typeface="Calibri"/>
                <a:cs typeface="Calibri"/>
                <a:sym typeface="Calibri"/>
              </a:rPr>
              <a:t>Archivo  plano: tabla  externa 1</a:t>
            </a:r>
            <a:endParaRPr sz="1800">
              <a:latin typeface="Calibri"/>
              <a:ea typeface="Calibri"/>
              <a:cs typeface="Calibri"/>
              <a:sym typeface="Calibri"/>
            </a:endParaRPr>
          </a:p>
        </p:txBody>
      </p:sp>
      <p:sp>
        <p:nvSpPr>
          <p:cNvPr id="326" name="Google Shape;326;p36"/>
          <p:cNvSpPr txBox="1"/>
          <p:nvPr/>
        </p:nvSpPr>
        <p:spPr>
          <a:xfrm>
            <a:off x="7485791" y="3993615"/>
            <a:ext cx="1159510" cy="848360"/>
          </a:xfrm>
          <a:prstGeom prst="rect">
            <a:avLst/>
          </a:prstGeom>
          <a:noFill/>
          <a:ln>
            <a:noFill/>
          </a:ln>
        </p:spPr>
        <p:txBody>
          <a:bodyPr anchorCtr="0" anchor="t" bIns="0" lIns="0" spcFirstLastPara="1" rIns="0" wrap="square" tIns="12700">
            <a:spAutoFit/>
          </a:bodyPr>
          <a:lstStyle/>
          <a:p>
            <a:pPr indent="2540" lvl="0" marL="12700" marR="5080" rtl="0" algn="ctr">
              <a:lnSpc>
                <a:spcPct val="100000"/>
              </a:lnSpc>
              <a:spcBef>
                <a:spcPts val="0"/>
              </a:spcBef>
              <a:spcAft>
                <a:spcPts val="0"/>
              </a:spcAft>
              <a:buNone/>
            </a:pPr>
            <a:r>
              <a:rPr b="1" lang="en-US" sz="1800">
                <a:solidFill>
                  <a:srgbClr val="4E3629"/>
                </a:solidFill>
                <a:latin typeface="Calibri"/>
                <a:ea typeface="Calibri"/>
                <a:cs typeface="Calibri"/>
                <a:sym typeface="Calibri"/>
              </a:rPr>
              <a:t>Archivo  plano: tabla  externa 2</a:t>
            </a:r>
            <a:endParaRPr sz="1800">
              <a:latin typeface="Calibri"/>
              <a:ea typeface="Calibri"/>
              <a:cs typeface="Calibri"/>
              <a:sym typeface="Calibri"/>
            </a:endParaRPr>
          </a:p>
        </p:txBody>
      </p:sp>
      <p:grpSp>
        <p:nvGrpSpPr>
          <p:cNvPr id="327" name="Google Shape;327;p36"/>
          <p:cNvGrpSpPr/>
          <p:nvPr/>
        </p:nvGrpSpPr>
        <p:grpSpPr>
          <a:xfrm>
            <a:off x="7239761" y="4648960"/>
            <a:ext cx="257200" cy="546152"/>
            <a:chOff x="7239761" y="4648960"/>
            <a:chExt cx="257200" cy="546152"/>
          </a:xfrm>
        </p:grpSpPr>
        <p:sp>
          <p:nvSpPr>
            <p:cNvPr id="328" name="Google Shape;328;p36"/>
            <p:cNvSpPr/>
            <p:nvPr/>
          </p:nvSpPr>
          <p:spPr>
            <a:xfrm>
              <a:off x="7239761" y="4735372"/>
              <a:ext cx="213360" cy="459740"/>
            </a:xfrm>
            <a:custGeom>
              <a:rect b="b" l="l" r="r" t="t"/>
              <a:pathLst>
                <a:path extrusionOk="0" h="459739" w="213359">
                  <a:moveTo>
                    <a:pt x="0" y="459181"/>
                  </a:moveTo>
                  <a:lnTo>
                    <a:pt x="212915" y="0"/>
                  </a:lnTo>
                </a:path>
              </a:pathLst>
            </a:custGeom>
            <a:noFill/>
            <a:ln cap="flat" cmpd="sng" w="38100">
              <a:solidFill>
                <a:srgbClr val="FF33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329" name="Google Shape;329;p36"/>
            <p:cNvSpPr/>
            <p:nvPr/>
          </p:nvSpPr>
          <p:spPr>
            <a:xfrm>
              <a:off x="7392822" y="4648960"/>
              <a:ext cx="104139" cy="128270"/>
            </a:xfrm>
            <a:custGeom>
              <a:rect b="b" l="l" r="r" t="t"/>
              <a:pathLst>
                <a:path extrusionOk="0" h="128270" w="104140">
                  <a:moveTo>
                    <a:pt x="99923" y="0"/>
                  </a:moveTo>
                  <a:lnTo>
                    <a:pt x="0" y="79654"/>
                  </a:lnTo>
                  <a:lnTo>
                    <a:pt x="103695" y="127736"/>
                  </a:lnTo>
                  <a:lnTo>
                    <a:pt x="99923" y="0"/>
                  </a:lnTo>
                  <a:close/>
                </a:path>
              </a:pathLst>
            </a:custGeom>
            <a:solidFill>
              <a:srgbClr val="FF33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grpSp>
      <p:sp>
        <p:nvSpPr>
          <p:cNvPr id="330" name="Google Shape;330;p36"/>
          <p:cNvSpPr txBox="1"/>
          <p:nvPr>
            <p:ph idx="10" type="dt"/>
          </p:nvPr>
        </p:nvSpPr>
        <p:spPr>
          <a:xfrm>
            <a:off x="2874191" y="6516395"/>
            <a:ext cx="834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13-1</a:t>
            </a:r>
            <a:endParaRPr/>
          </a:p>
          <a:p>
            <a:pPr indent="0" lvl="0" marL="12700" rtl="0" algn="l">
              <a:lnSpc>
                <a:spcPct val="120624"/>
              </a:lnSpc>
              <a:spcBef>
                <a:spcPts val="0"/>
              </a:spcBef>
              <a:spcAft>
                <a:spcPts val="0"/>
              </a:spcAft>
              <a:buNone/>
            </a:pPr>
            <a:r>
              <a:rPr lang="en-US"/>
              <a:t>Creación de tablas</a:t>
            </a:r>
            <a:endParaRPr/>
          </a:p>
        </p:txBody>
      </p:sp>
      <p:sp>
        <p:nvSpPr>
          <p:cNvPr id="331" name="Google Shape;331;p36"/>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32" name="Google Shape;332;p36"/>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37"/>
          <p:cNvSpPr txBox="1"/>
          <p:nvPr>
            <p:ph type="title"/>
          </p:nvPr>
        </p:nvSpPr>
        <p:spPr>
          <a:xfrm>
            <a:off x="392112" y="748031"/>
            <a:ext cx="26364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Tablas Externas</a:t>
            </a:r>
            <a:endParaRPr/>
          </a:p>
        </p:txBody>
      </p:sp>
      <p:sp>
        <p:nvSpPr>
          <p:cNvPr id="338" name="Google Shape;338;p37"/>
          <p:cNvSpPr txBox="1"/>
          <p:nvPr>
            <p:ph idx="10" type="dt"/>
          </p:nvPr>
        </p:nvSpPr>
        <p:spPr>
          <a:xfrm>
            <a:off x="2874191" y="6516395"/>
            <a:ext cx="834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13-1</a:t>
            </a:r>
            <a:endParaRPr/>
          </a:p>
          <a:p>
            <a:pPr indent="0" lvl="0" marL="12700" rtl="0" algn="l">
              <a:lnSpc>
                <a:spcPct val="120624"/>
              </a:lnSpc>
              <a:spcBef>
                <a:spcPts val="0"/>
              </a:spcBef>
              <a:spcAft>
                <a:spcPts val="0"/>
              </a:spcAft>
              <a:buNone/>
            </a:pPr>
            <a:r>
              <a:rPr lang="en-US"/>
              <a:t>Creación de tablas</a:t>
            </a:r>
            <a:endParaRPr/>
          </a:p>
        </p:txBody>
      </p:sp>
      <p:sp>
        <p:nvSpPr>
          <p:cNvPr id="339" name="Google Shape;339;p37"/>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40" name="Google Shape;340;p37"/>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41" name="Google Shape;341;p37"/>
          <p:cNvSpPr txBox="1"/>
          <p:nvPr/>
        </p:nvSpPr>
        <p:spPr>
          <a:xfrm>
            <a:off x="483552" y="1415417"/>
            <a:ext cx="7885430" cy="3829050"/>
          </a:xfrm>
          <a:prstGeom prst="rect">
            <a:avLst/>
          </a:prstGeom>
          <a:noFill/>
          <a:ln>
            <a:noFill/>
          </a:ln>
        </p:spPr>
        <p:txBody>
          <a:bodyPr anchorCtr="0" anchor="t" bIns="0" lIns="0" spcFirstLastPara="1" rIns="0" wrap="square" tIns="59675">
            <a:spAutoFit/>
          </a:bodyPr>
          <a:lstStyle/>
          <a:p>
            <a:pPr indent="-177800" lvl="0" marL="184785"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nueva sintaxis (que aparece en rojo) de las  siguientes diapositivas no se utiliza en sentencias SQL  estándar para la creación de tablas</a:t>
            </a:r>
            <a:endParaRPr sz="2800">
              <a:latin typeface="Calibri"/>
              <a:ea typeface="Calibri"/>
              <a:cs typeface="Calibri"/>
              <a:sym typeface="Calibri"/>
            </a:endParaRPr>
          </a:p>
          <a:p>
            <a:pPr indent="-177800" lvl="0" marL="184785" marR="255270"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ORGANIZATION EXTERNAL: indica a Oracle que cree  una tabla externa</a:t>
            </a:r>
            <a:endParaRPr sz="2800">
              <a:latin typeface="Calibri"/>
              <a:ea typeface="Calibri"/>
              <a:cs typeface="Calibri"/>
              <a:sym typeface="Calibri"/>
            </a:endParaRPr>
          </a:p>
          <a:p>
            <a:pPr indent="-177800" lvl="0" marL="184785" marR="1141095"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TYPE ORACLE_LOADER: de tipo Oracle Loader  (producto de Oracle)</a:t>
            </a:r>
            <a:endParaRPr sz="2800">
              <a:latin typeface="Calibri"/>
              <a:ea typeface="Calibri"/>
              <a:cs typeface="Calibri"/>
              <a:sym typeface="Calibri"/>
            </a:endParaRPr>
          </a:p>
          <a:p>
            <a:pPr indent="-177800" lvl="0" marL="184785" marR="98425" rtl="0" algn="l">
              <a:lnSpc>
                <a:spcPct val="108214"/>
              </a:lnSpc>
              <a:spcBef>
                <a:spcPts val="78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DEFAULT DIRECTORY def_dir1: nombre del directorio  para el archivo</a:t>
            </a:r>
            <a:endParaRPr sz="2800">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38"/>
          <p:cNvSpPr txBox="1"/>
          <p:nvPr>
            <p:ph type="title"/>
          </p:nvPr>
        </p:nvSpPr>
        <p:spPr>
          <a:xfrm>
            <a:off x="392112" y="748031"/>
            <a:ext cx="26364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Tablas Externas</a:t>
            </a:r>
            <a:endParaRPr/>
          </a:p>
        </p:txBody>
      </p:sp>
      <p:sp>
        <p:nvSpPr>
          <p:cNvPr id="347" name="Google Shape;347;p38"/>
          <p:cNvSpPr txBox="1"/>
          <p:nvPr>
            <p:ph idx="10" type="dt"/>
          </p:nvPr>
        </p:nvSpPr>
        <p:spPr>
          <a:xfrm>
            <a:off x="2874191" y="6516395"/>
            <a:ext cx="834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13-1</a:t>
            </a:r>
            <a:endParaRPr/>
          </a:p>
          <a:p>
            <a:pPr indent="0" lvl="0" marL="12700" rtl="0" algn="l">
              <a:lnSpc>
                <a:spcPct val="120624"/>
              </a:lnSpc>
              <a:spcBef>
                <a:spcPts val="0"/>
              </a:spcBef>
              <a:spcAft>
                <a:spcPts val="0"/>
              </a:spcAft>
              <a:buNone/>
            </a:pPr>
            <a:r>
              <a:rPr lang="en-US"/>
              <a:t>Creación de tablas</a:t>
            </a:r>
            <a:endParaRPr/>
          </a:p>
        </p:txBody>
      </p:sp>
      <p:sp>
        <p:nvSpPr>
          <p:cNvPr id="348" name="Google Shape;348;p38"/>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49" name="Google Shape;349;p38"/>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50" name="Google Shape;350;p38"/>
          <p:cNvSpPr txBox="1"/>
          <p:nvPr>
            <p:ph idx="1" type="body"/>
          </p:nvPr>
        </p:nvSpPr>
        <p:spPr>
          <a:xfrm>
            <a:off x="480377" y="1355371"/>
            <a:ext cx="8183100" cy="4610700"/>
          </a:xfrm>
          <a:prstGeom prst="rect">
            <a:avLst/>
          </a:prstGeom>
          <a:noFill/>
          <a:ln>
            <a:noFill/>
          </a:ln>
        </p:spPr>
        <p:txBody>
          <a:bodyPr anchorCtr="0" anchor="t" bIns="0" lIns="0" spcFirstLastPara="1" rIns="0" wrap="square" tIns="71750">
            <a:spAutoFit/>
          </a:bodyPr>
          <a:lstStyle/>
          <a:p>
            <a:pPr indent="-177800" lvl="0" marL="187960" rtl="0" algn="l">
              <a:lnSpc>
                <a:spcPct val="100000"/>
              </a:lnSpc>
              <a:spcBef>
                <a:spcPts val="0"/>
              </a:spcBef>
              <a:spcAft>
                <a:spcPts val="0"/>
              </a:spcAft>
              <a:buClr>
                <a:srgbClr val="D1350F"/>
              </a:buClr>
              <a:buSzPts val="2800"/>
              <a:buFont typeface="Arial"/>
              <a:buChar char="•"/>
            </a:pPr>
            <a:r>
              <a:rPr lang="en-US"/>
              <a:t>ACCESS PARAMETERS: cómo leer el archivo</a:t>
            </a:r>
            <a:endParaRPr/>
          </a:p>
          <a:p>
            <a:pPr indent="-177800" lvl="0" marL="187960" marR="217804" rtl="0" algn="l">
              <a:lnSpc>
                <a:spcPct val="108214"/>
              </a:lnSpc>
              <a:spcBef>
                <a:spcPts val="844"/>
              </a:spcBef>
              <a:spcAft>
                <a:spcPts val="0"/>
              </a:spcAft>
              <a:buClr>
                <a:srgbClr val="D1350F"/>
              </a:buClr>
              <a:buSzPts val="2800"/>
              <a:buFont typeface="Arial"/>
              <a:buChar char="•"/>
            </a:pPr>
            <a:r>
              <a:rPr lang="en-US"/>
              <a:t>RECORDS DELIMITED BY NEWLINE: cómo identificar el  principio de una nueva fila</a:t>
            </a:r>
            <a:endParaRPr/>
          </a:p>
          <a:p>
            <a:pPr indent="-177800" lvl="0" marL="187960" marR="5080" rtl="0" algn="l">
              <a:lnSpc>
                <a:spcPct val="108214"/>
              </a:lnSpc>
              <a:spcBef>
                <a:spcPts val="795"/>
              </a:spcBef>
              <a:spcAft>
                <a:spcPts val="0"/>
              </a:spcAft>
              <a:buClr>
                <a:srgbClr val="D1350F"/>
              </a:buClr>
              <a:buSzPts val="2800"/>
              <a:buFont typeface="Arial"/>
              <a:buChar char="•"/>
            </a:pPr>
            <a:r>
              <a:rPr lang="en-US"/>
              <a:t>FIELDS: especificaciones de nombre de campo y tipo de  dato</a:t>
            </a:r>
            <a:endParaRPr/>
          </a:p>
          <a:p>
            <a:pPr indent="-177800" lvl="0" marL="187960" marR="454659" rtl="0" algn="l">
              <a:lnSpc>
                <a:spcPct val="108214"/>
              </a:lnSpc>
              <a:spcBef>
                <a:spcPts val="780"/>
              </a:spcBef>
              <a:spcAft>
                <a:spcPts val="0"/>
              </a:spcAft>
              <a:buClr>
                <a:srgbClr val="D1350F"/>
              </a:buClr>
              <a:buSzPts val="2800"/>
              <a:buFont typeface="Arial"/>
              <a:buChar char="•"/>
            </a:pPr>
            <a:r>
              <a:rPr lang="en-US"/>
              <a:t>LOCATION: nombre del archivo real que contiene los  datos</a:t>
            </a:r>
            <a:endParaRPr/>
          </a:p>
          <a:p>
            <a:pPr indent="-177800" lvl="0" marL="187960" marR="225425" rtl="0" algn="l">
              <a:lnSpc>
                <a:spcPct val="108214"/>
              </a:lnSpc>
              <a:spcBef>
                <a:spcPts val="790"/>
              </a:spcBef>
              <a:spcAft>
                <a:spcPts val="1200"/>
              </a:spcAft>
              <a:buClr>
                <a:srgbClr val="D1350F"/>
              </a:buClr>
              <a:buSzPts val="2800"/>
              <a:buFont typeface="Arial"/>
              <a:buChar char="•"/>
            </a:pPr>
            <a:r>
              <a:rPr lang="en-US"/>
              <a:t>Un ejemplo de la nueva sintaxis se muestra en rojo en  la siguiente diapositiva</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39"/>
          <p:cNvSpPr txBox="1"/>
          <p:nvPr>
            <p:ph type="title"/>
          </p:nvPr>
        </p:nvSpPr>
        <p:spPr>
          <a:xfrm>
            <a:off x="392112" y="748031"/>
            <a:ext cx="46419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Ejemplo de Tablas Externas</a:t>
            </a:r>
            <a:endParaRPr/>
          </a:p>
        </p:txBody>
      </p:sp>
      <p:sp>
        <p:nvSpPr>
          <p:cNvPr id="356" name="Google Shape;356;p39"/>
          <p:cNvSpPr/>
          <p:nvPr/>
        </p:nvSpPr>
        <p:spPr>
          <a:xfrm>
            <a:off x="393191" y="1251203"/>
            <a:ext cx="8345805" cy="4887595"/>
          </a:xfrm>
          <a:custGeom>
            <a:rect b="b" l="l" r="r" t="t"/>
            <a:pathLst>
              <a:path extrusionOk="0" h="4887595" w="8345805">
                <a:moveTo>
                  <a:pt x="8345424" y="0"/>
                </a:moveTo>
                <a:lnTo>
                  <a:pt x="0" y="0"/>
                </a:lnTo>
                <a:lnTo>
                  <a:pt x="0" y="4887468"/>
                </a:lnTo>
                <a:lnTo>
                  <a:pt x="8345424" y="4887468"/>
                </a:lnTo>
                <a:lnTo>
                  <a:pt x="8345424" y="0"/>
                </a:lnTo>
                <a:close/>
              </a:path>
            </a:pathLst>
          </a:custGeom>
          <a:solidFill>
            <a:srgbClr val="9DBEC4">
              <a:alpha val="49804"/>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357" name="Google Shape;357;p39"/>
          <p:cNvSpPr txBox="1"/>
          <p:nvPr/>
        </p:nvSpPr>
        <p:spPr>
          <a:xfrm>
            <a:off x="380289" y="1220862"/>
            <a:ext cx="8332470" cy="4901565"/>
          </a:xfrm>
          <a:prstGeom prst="rect">
            <a:avLst/>
          </a:prstGeom>
          <a:noFill/>
          <a:ln>
            <a:noFill/>
          </a:ln>
        </p:spPr>
        <p:txBody>
          <a:bodyPr anchorCtr="0" anchor="t" bIns="0" lIns="0" spcFirstLastPara="1" rIns="0" wrap="square" tIns="12050">
            <a:spAutoFit/>
          </a:bodyPr>
          <a:lstStyle/>
          <a:p>
            <a:pPr indent="-243840" lvl="0" marL="256540" marR="4281170"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CREATE TABLE emp_load  (employee_number CHAR(5),  employee_dob CHAR(20),  employee_last_name CHAR(20),  employee_first_name CHAR(15),  employee_middle_name CHAR(15),  employee_hire_date DATE)</a:t>
            </a:r>
            <a:endParaRPr sz="1600">
              <a:latin typeface="Courier New"/>
              <a:ea typeface="Courier New"/>
              <a:cs typeface="Courier New"/>
              <a:sym typeface="Courier New"/>
            </a:endParaRPr>
          </a:p>
          <a:p>
            <a:pPr indent="-366395" lvl="0" marL="378460" marR="5626100" rtl="0" algn="l">
              <a:lnSpc>
                <a:spcPct val="100000"/>
              </a:lnSpc>
              <a:spcBef>
                <a:spcPts val="0"/>
              </a:spcBef>
              <a:spcAft>
                <a:spcPts val="0"/>
              </a:spcAft>
              <a:buNone/>
            </a:pPr>
            <a:r>
              <a:rPr b="1" lang="en-US" sz="1600">
                <a:solidFill>
                  <a:srgbClr val="D1350F"/>
                </a:solidFill>
                <a:latin typeface="Courier New"/>
                <a:ea typeface="Courier New"/>
                <a:cs typeface="Courier New"/>
                <a:sym typeface="Courier New"/>
              </a:rPr>
              <a:t>ORGANIZATION EXTERNAL  (TYPE ORACLE_LOADER</a:t>
            </a:r>
            <a:endParaRPr sz="1600">
              <a:latin typeface="Courier New"/>
              <a:ea typeface="Courier New"/>
              <a:cs typeface="Courier New"/>
              <a:sym typeface="Courier New"/>
            </a:endParaRPr>
          </a:p>
          <a:p>
            <a:pPr indent="0" lvl="0" marL="500380" marR="4649470" rtl="0" algn="l">
              <a:lnSpc>
                <a:spcPct val="100000"/>
              </a:lnSpc>
              <a:spcBef>
                <a:spcPts val="0"/>
              </a:spcBef>
              <a:spcAft>
                <a:spcPts val="0"/>
              </a:spcAft>
              <a:buNone/>
            </a:pPr>
            <a:r>
              <a:rPr b="1" lang="en-US" sz="1600">
                <a:solidFill>
                  <a:srgbClr val="D1350F"/>
                </a:solidFill>
                <a:latin typeface="Courier New"/>
                <a:ea typeface="Courier New"/>
                <a:cs typeface="Courier New"/>
                <a:sym typeface="Courier New"/>
              </a:rPr>
              <a:t>DEFAULT DIRECTORY def_dir1  ACCESS PARAMETERS</a:t>
            </a:r>
            <a:endParaRPr sz="1600">
              <a:latin typeface="Courier New"/>
              <a:ea typeface="Courier New"/>
              <a:cs typeface="Courier New"/>
              <a:sym typeface="Courier New"/>
            </a:endParaRPr>
          </a:p>
          <a:p>
            <a:pPr indent="0" lvl="0" marL="378460" marR="0" rtl="0" algn="l">
              <a:lnSpc>
                <a:spcPct val="100000"/>
              </a:lnSpc>
              <a:spcBef>
                <a:spcPts val="0"/>
              </a:spcBef>
              <a:spcAft>
                <a:spcPts val="0"/>
              </a:spcAft>
              <a:buNone/>
            </a:pPr>
            <a:r>
              <a:rPr b="1" lang="en-US" sz="1600">
                <a:solidFill>
                  <a:srgbClr val="D1350F"/>
                </a:solidFill>
                <a:latin typeface="Courier New"/>
                <a:ea typeface="Courier New"/>
                <a:cs typeface="Courier New"/>
                <a:sym typeface="Courier New"/>
              </a:rPr>
              <a:t>(RECORDS DELIMITED BY NEWLINE</a:t>
            </a:r>
            <a:endParaRPr sz="1600">
              <a:latin typeface="Courier New"/>
              <a:ea typeface="Courier New"/>
              <a:cs typeface="Courier New"/>
              <a:sym typeface="Courier New"/>
            </a:endParaRPr>
          </a:p>
          <a:p>
            <a:pPr indent="0" lvl="0" marL="500380" marR="0" rtl="0" algn="l">
              <a:lnSpc>
                <a:spcPct val="100000"/>
              </a:lnSpc>
              <a:spcBef>
                <a:spcPts val="0"/>
              </a:spcBef>
              <a:spcAft>
                <a:spcPts val="0"/>
              </a:spcAft>
              <a:buNone/>
            </a:pPr>
            <a:r>
              <a:rPr b="1" lang="en-US" sz="1600">
                <a:solidFill>
                  <a:srgbClr val="D1350F"/>
                </a:solidFill>
                <a:latin typeface="Courier New"/>
                <a:ea typeface="Courier New"/>
                <a:cs typeface="Courier New"/>
                <a:sym typeface="Courier New"/>
              </a:rPr>
              <a:t>FIELDS </a:t>
            </a:r>
            <a:r>
              <a:rPr b="1" lang="en-US" sz="1600">
                <a:solidFill>
                  <a:srgbClr val="4E3629"/>
                </a:solidFill>
                <a:latin typeface="Courier New"/>
                <a:ea typeface="Courier New"/>
                <a:cs typeface="Courier New"/>
                <a:sym typeface="Courier New"/>
              </a:rPr>
              <a:t>(employee_number CHAR(2),</a:t>
            </a:r>
            <a:endParaRPr sz="1600">
              <a:latin typeface="Courier New"/>
              <a:ea typeface="Courier New"/>
              <a:cs typeface="Courier New"/>
              <a:sym typeface="Courier New"/>
            </a:endParaRPr>
          </a:p>
          <a:p>
            <a:pPr indent="0" lvl="0" marL="2333625" marR="2326005"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employee_dob CHAR(20),  employee_last_name CHAR(18),  employee_first_name CHAR(11),  employee_middle_name CHAR(11),</a:t>
            </a:r>
            <a:endParaRPr sz="1600">
              <a:latin typeface="Courier New"/>
              <a:ea typeface="Courier New"/>
              <a:cs typeface="Courier New"/>
              <a:sym typeface="Courier New"/>
            </a:endParaRPr>
          </a:p>
          <a:p>
            <a:pPr indent="0" lvl="0" marL="2333625" marR="0"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employee_hire_date CHAR(10) date_format DATE mask</a:t>
            </a:r>
            <a:endParaRPr sz="1600">
              <a:latin typeface="Courier New"/>
              <a:ea typeface="Courier New"/>
              <a:cs typeface="Courier New"/>
              <a:sym typeface="Courier New"/>
            </a:endParaRPr>
          </a:p>
          <a:p>
            <a:pPr indent="0" lvl="0" marL="12700" marR="0"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"mm/dd/yyyy"))</a:t>
            </a:r>
            <a:endParaRPr sz="1600">
              <a:latin typeface="Courier New"/>
              <a:ea typeface="Courier New"/>
              <a:cs typeface="Courier New"/>
              <a:sym typeface="Courier New"/>
            </a:endParaRPr>
          </a:p>
          <a:p>
            <a:pPr indent="0" lvl="0" marL="378460" marR="0" rtl="0" algn="l">
              <a:lnSpc>
                <a:spcPct val="100000"/>
              </a:lnSpc>
              <a:spcBef>
                <a:spcPts val="0"/>
              </a:spcBef>
              <a:spcAft>
                <a:spcPts val="0"/>
              </a:spcAft>
              <a:buNone/>
            </a:pPr>
            <a:r>
              <a:rPr b="1" lang="en-US" sz="1600">
                <a:solidFill>
                  <a:srgbClr val="D1350F"/>
                </a:solidFill>
                <a:latin typeface="Courier New"/>
                <a:ea typeface="Courier New"/>
                <a:cs typeface="Courier New"/>
                <a:sym typeface="Courier New"/>
              </a:rPr>
              <a:t>LOCATION ('info.dat'));</a:t>
            </a:r>
            <a:endParaRPr sz="1600">
              <a:latin typeface="Courier New"/>
              <a:ea typeface="Courier New"/>
              <a:cs typeface="Courier New"/>
              <a:sym typeface="Courier New"/>
            </a:endParaRPr>
          </a:p>
        </p:txBody>
      </p:sp>
      <p:sp>
        <p:nvSpPr>
          <p:cNvPr id="358" name="Google Shape;358;p39"/>
          <p:cNvSpPr txBox="1"/>
          <p:nvPr>
            <p:ph idx="10" type="dt"/>
          </p:nvPr>
        </p:nvSpPr>
        <p:spPr>
          <a:xfrm>
            <a:off x="2874191" y="6516395"/>
            <a:ext cx="834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13-1</a:t>
            </a:r>
            <a:endParaRPr/>
          </a:p>
          <a:p>
            <a:pPr indent="0" lvl="0" marL="12700" rtl="0" algn="l">
              <a:lnSpc>
                <a:spcPct val="120624"/>
              </a:lnSpc>
              <a:spcBef>
                <a:spcPts val="0"/>
              </a:spcBef>
              <a:spcAft>
                <a:spcPts val="0"/>
              </a:spcAft>
              <a:buNone/>
            </a:pPr>
            <a:r>
              <a:rPr lang="en-US"/>
              <a:t>Creación de tablas</a:t>
            </a:r>
            <a:endParaRPr/>
          </a:p>
        </p:txBody>
      </p:sp>
      <p:sp>
        <p:nvSpPr>
          <p:cNvPr id="359" name="Google Shape;359;p39"/>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60" name="Google Shape;360;p39"/>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40"/>
          <p:cNvSpPr txBox="1"/>
          <p:nvPr>
            <p:ph type="title"/>
          </p:nvPr>
        </p:nvSpPr>
        <p:spPr>
          <a:xfrm>
            <a:off x="392112" y="748031"/>
            <a:ext cx="2653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Data Dictionary</a:t>
            </a:r>
            <a:endParaRPr/>
          </a:p>
        </p:txBody>
      </p:sp>
      <p:grpSp>
        <p:nvGrpSpPr>
          <p:cNvPr id="366" name="Google Shape;366;p40"/>
          <p:cNvGrpSpPr/>
          <p:nvPr/>
        </p:nvGrpSpPr>
        <p:grpSpPr>
          <a:xfrm>
            <a:off x="3341370" y="4284727"/>
            <a:ext cx="2463165" cy="2237740"/>
            <a:chOff x="3341370" y="4284727"/>
            <a:chExt cx="2463165" cy="2237740"/>
          </a:xfrm>
        </p:grpSpPr>
        <p:sp>
          <p:nvSpPr>
            <p:cNvPr id="367" name="Google Shape;367;p40"/>
            <p:cNvSpPr/>
            <p:nvPr/>
          </p:nvSpPr>
          <p:spPr>
            <a:xfrm>
              <a:off x="3341370" y="4564380"/>
              <a:ext cx="2463165" cy="1957705"/>
            </a:xfrm>
            <a:custGeom>
              <a:rect b="b" l="l" r="r" t="t"/>
              <a:pathLst>
                <a:path extrusionOk="0" h="1957704" w="2463165">
                  <a:moveTo>
                    <a:pt x="2462784" y="0"/>
                  </a:moveTo>
                  <a:lnTo>
                    <a:pt x="2444317" y="48518"/>
                  </a:lnTo>
                  <a:lnTo>
                    <a:pt x="2412450" y="79394"/>
                  </a:lnTo>
                  <a:lnTo>
                    <a:pt x="2366015" y="108852"/>
                  </a:lnTo>
                  <a:lnTo>
                    <a:pt x="2305938" y="136680"/>
                  </a:lnTo>
                  <a:lnTo>
                    <a:pt x="2233142" y="162668"/>
                  </a:lnTo>
                  <a:lnTo>
                    <a:pt x="2192262" y="174907"/>
                  </a:lnTo>
                  <a:lnTo>
                    <a:pt x="2148550" y="186608"/>
                  </a:lnTo>
                  <a:lnTo>
                    <a:pt x="2102119" y="197743"/>
                  </a:lnTo>
                  <a:lnTo>
                    <a:pt x="2053087" y="208288"/>
                  </a:lnTo>
                  <a:lnTo>
                    <a:pt x="2001567" y="218215"/>
                  </a:lnTo>
                  <a:lnTo>
                    <a:pt x="1947676" y="227499"/>
                  </a:lnTo>
                  <a:lnTo>
                    <a:pt x="1891529" y="236114"/>
                  </a:lnTo>
                  <a:lnTo>
                    <a:pt x="1833241" y="244032"/>
                  </a:lnTo>
                  <a:lnTo>
                    <a:pt x="1772929" y="251228"/>
                  </a:lnTo>
                  <a:lnTo>
                    <a:pt x="1710707" y="257676"/>
                  </a:lnTo>
                  <a:lnTo>
                    <a:pt x="1646692" y="263350"/>
                  </a:lnTo>
                  <a:lnTo>
                    <a:pt x="1580997" y="268222"/>
                  </a:lnTo>
                  <a:lnTo>
                    <a:pt x="1513740" y="272267"/>
                  </a:lnTo>
                  <a:lnTo>
                    <a:pt x="1445036" y="275459"/>
                  </a:lnTo>
                  <a:lnTo>
                    <a:pt x="1374999" y="277772"/>
                  </a:lnTo>
                  <a:lnTo>
                    <a:pt x="1303746" y="279179"/>
                  </a:lnTo>
                  <a:lnTo>
                    <a:pt x="1231392" y="279654"/>
                  </a:lnTo>
                  <a:lnTo>
                    <a:pt x="1159037" y="279179"/>
                  </a:lnTo>
                  <a:lnTo>
                    <a:pt x="1087784" y="277772"/>
                  </a:lnTo>
                  <a:lnTo>
                    <a:pt x="1017747" y="275459"/>
                  </a:lnTo>
                  <a:lnTo>
                    <a:pt x="949043" y="272267"/>
                  </a:lnTo>
                  <a:lnTo>
                    <a:pt x="881786" y="268222"/>
                  </a:lnTo>
                  <a:lnTo>
                    <a:pt x="816091" y="263350"/>
                  </a:lnTo>
                  <a:lnTo>
                    <a:pt x="752076" y="257676"/>
                  </a:lnTo>
                  <a:lnTo>
                    <a:pt x="689854" y="251228"/>
                  </a:lnTo>
                  <a:lnTo>
                    <a:pt x="629542" y="244032"/>
                  </a:lnTo>
                  <a:lnTo>
                    <a:pt x="571254" y="236114"/>
                  </a:lnTo>
                  <a:lnTo>
                    <a:pt x="515107" y="227499"/>
                  </a:lnTo>
                  <a:lnTo>
                    <a:pt x="461216" y="218215"/>
                  </a:lnTo>
                  <a:lnTo>
                    <a:pt x="409696" y="208288"/>
                  </a:lnTo>
                  <a:lnTo>
                    <a:pt x="360664" y="197743"/>
                  </a:lnTo>
                  <a:lnTo>
                    <a:pt x="314233" y="186608"/>
                  </a:lnTo>
                  <a:lnTo>
                    <a:pt x="270521" y="174907"/>
                  </a:lnTo>
                  <a:lnTo>
                    <a:pt x="229641" y="162668"/>
                  </a:lnTo>
                  <a:lnTo>
                    <a:pt x="191711" y="149917"/>
                  </a:lnTo>
                  <a:lnTo>
                    <a:pt x="125159" y="122983"/>
                  </a:lnTo>
                  <a:lnTo>
                    <a:pt x="71787" y="94314"/>
                  </a:lnTo>
                  <a:lnTo>
                    <a:pt x="32521" y="64120"/>
                  </a:lnTo>
                  <a:lnTo>
                    <a:pt x="8284" y="32612"/>
                  </a:lnTo>
                  <a:lnTo>
                    <a:pt x="0" y="0"/>
                  </a:lnTo>
                  <a:lnTo>
                    <a:pt x="0" y="1677924"/>
                  </a:lnTo>
                  <a:lnTo>
                    <a:pt x="18466" y="1726442"/>
                  </a:lnTo>
                  <a:lnTo>
                    <a:pt x="50333" y="1757318"/>
                  </a:lnTo>
                  <a:lnTo>
                    <a:pt x="96768" y="1786776"/>
                  </a:lnTo>
                  <a:lnTo>
                    <a:pt x="156845" y="1814604"/>
                  </a:lnTo>
                  <a:lnTo>
                    <a:pt x="229641" y="1840592"/>
                  </a:lnTo>
                  <a:lnTo>
                    <a:pt x="270521" y="1852831"/>
                  </a:lnTo>
                  <a:lnTo>
                    <a:pt x="314233" y="1864532"/>
                  </a:lnTo>
                  <a:lnTo>
                    <a:pt x="360664" y="1875667"/>
                  </a:lnTo>
                  <a:lnTo>
                    <a:pt x="409696" y="1886212"/>
                  </a:lnTo>
                  <a:lnTo>
                    <a:pt x="461216" y="1896139"/>
                  </a:lnTo>
                  <a:lnTo>
                    <a:pt x="515107" y="1905423"/>
                  </a:lnTo>
                  <a:lnTo>
                    <a:pt x="571254" y="1914038"/>
                  </a:lnTo>
                  <a:lnTo>
                    <a:pt x="629542" y="1921956"/>
                  </a:lnTo>
                  <a:lnTo>
                    <a:pt x="689854" y="1929152"/>
                  </a:lnTo>
                  <a:lnTo>
                    <a:pt x="752076" y="1935600"/>
                  </a:lnTo>
                  <a:lnTo>
                    <a:pt x="816091" y="1941274"/>
                  </a:lnTo>
                  <a:lnTo>
                    <a:pt x="881786" y="1946146"/>
                  </a:lnTo>
                  <a:lnTo>
                    <a:pt x="949043" y="1950191"/>
                  </a:lnTo>
                  <a:lnTo>
                    <a:pt x="1017747" y="1953383"/>
                  </a:lnTo>
                  <a:lnTo>
                    <a:pt x="1087784" y="1955696"/>
                  </a:lnTo>
                  <a:lnTo>
                    <a:pt x="1159037" y="1957103"/>
                  </a:lnTo>
                  <a:lnTo>
                    <a:pt x="1231392" y="1957578"/>
                  </a:lnTo>
                  <a:lnTo>
                    <a:pt x="1303746" y="1957103"/>
                  </a:lnTo>
                  <a:lnTo>
                    <a:pt x="1374999" y="1955696"/>
                  </a:lnTo>
                  <a:lnTo>
                    <a:pt x="1445036" y="1953383"/>
                  </a:lnTo>
                  <a:lnTo>
                    <a:pt x="1513740" y="1950191"/>
                  </a:lnTo>
                  <a:lnTo>
                    <a:pt x="1580997" y="1946146"/>
                  </a:lnTo>
                  <a:lnTo>
                    <a:pt x="1646692" y="1941274"/>
                  </a:lnTo>
                  <a:lnTo>
                    <a:pt x="1710707" y="1935600"/>
                  </a:lnTo>
                  <a:lnTo>
                    <a:pt x="1772929" y="1929152"/>
                  </a:lnTo>
                  <a:lnTo>
                    <a:pt x="1833241" y="1921956"/>
                  </a:lnTo>
                  <a:lnTo>
                    <a:pt x="1891529" y="1914038"/>
                  </a:lnTo>
                  <a:lnTo>
                    <a:pt x="1947676" y="1905423"/>
                  </a:lnTo>
                  <a:lnTo>
                    <a:pt x="2001567" y="1896139"/>
                  </a:lnTo>
                  <a:lnTo>
                    <a:pt x="2053087" y="1886212"/>
                  </a:lnTo>
                  <a:lnTo>
                    <a:pt x="2102119" y="1875667"/>
                  </a:lnTo>
                  <a:lnTo>
                    <a:pt x="2148550" y="1864532"/>
                  </a:lnTo>
                  <a:lnTo>
                    <a:pt x="2192262" y="1852831"/>
                  </a:lnTo>
                  <a:lnTo>
                    <a:pt x="2233142" y="1840592"/>
                  </a:lnTo>
                  <a:lnTo>
                    <a:pt x="2271072" y="1827841"/>
                  </a:lnTo>
                  <a:lnTo>
                    <a:pt x="2337624" y="1800907"/>
                  </a:lnTo>
                  <a:lnTo>
                    <a:pt x="2390996" y="1772238"/>
                  </a:lnTo>
                  <a:lnTo>
                    <a:pt x="2430262" y="1742044"/>
                  </a:lnTo>
                  <a:lnTo>
                    <a:pt x="2454499" y="1710536"/>
                  </a:lnTo>
                  <a:lnTo>
                    <a:pt x="2462784" y="1677924"/>
                  </a:lnTo>
                  <a:lnTo>
                    <a:pt x="2462784" y="0"/>
                  </a:lnTo>
                  <a:close/>
                </a:path>
              </a:pathLst>
            </a:custGeom>
            <a:solidFill>
              <a:srgbClr val="C0C0C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368" name="Google Shape;368;p40"/>
            <p:cNvSpPr/>
            <p:nvPr/>
          </p:nvSpPr>
          <p:spPr>
            <a:xfrm>
              <a:off x="3341370" y="4284727"/>
              <a:ext cx="2463165" cy="559435"/>
            </a:xfrm>
            <a:custGeom>
              <a:rect b="b" l="l" r="r" t="t"/>
              <a:pathLst>
                <a:path extrusionOk="0" h="559435" w="2463165">
                  <a:moveTo>
                    <a:pt x="1231392" y="0"/>
                  </a:moveTo>
                  <a:lnTo>
                    <a:pt x="1159037" y="474"/>
                  </a:lnTo>
                  <a:lnTo>
                    <a:pt x="1087784" y="1881"/>
                  </a:lnTo>
                  <a:lnTo>
                    <a:pt x="1017747" y="4194"/>
                  </a:lnTo>
                  <a:lnTo>
                    <a:pt x="949043" y="7386"/>
                  </a:lnTo>
                  <a:lnTo>
                    <a:pt x="881786" y="11431"/>
                  </a:lnTo>
                  <a:lnTo>
                    <a:pt x="816091" y="16303"/>
                  </a:lnTo>
                  <a:lnTo>
                    <a:pt x="752076" y="21977"/>
                  </a:lnTo>
                  <a:lnTo>
                    <a:pt x="689854" y="28425"/>
                  </a:lnTo>
                  <a:lnTo>
                    <a:pt x="629542" y="35621"/>
                  </a:lnTo>
                  <a:lnTo>
                    <a:pt x="571254" y="43539"/>
                  </a:lnTo>
                  <a:lnTo>
                    <a:pt x="515107" y="52154"/>
                  </a:lnTo>
                  <a:lnTo>
                    <a:pt x="461216" y="61438"/>
                  </a:lnTo>
                  <a:lnTo>
                    <a:pt x="409696" y="71365"/>
                  </a:lnTo>
                  <a:lnTo>
                    <a:pt x="360664" y="81910"/>
                  </a:lnTo>
                  <a:lnTo>
                    <a:pt x="314233" y="93045"/>
                  </a:lnTo>
                  <a:lnTo>
                    <a:pt x="270521" y="104746"/>
                  </a:lnTo>
                  <a:lnTo>
                    <a:pt x="229641" y="116985"/>
                  </a:lnTo>
                  <a:lnTo>
                    <a:pt x="191711" y="129736"/>
                  </a:lnTo>
                  <a:lnTo>
                    <a:pt x="125159" y="156670"/>
                  </a:lnTo>
                  <a:lnTo>
                    <a:pt x="71787" y="185339"/>
                  </a:lnTo>
                  <a:lnTo>
                    <a:pt x="32521" y="215533"/>
                  </a:lnTo>
                  <a:lnTo>
                    <a:pt x="8284" y="247041"/>
                  </a:lnTo>
                  <a:lnTo>
                    <a:pt x="0" y="279654"/>
                  </a:lnTo>
                  <a:lnTo>
                    <a:pt x="2090" y="296085"/>
                  </a:lnTo>
                  <a:lnTo>
                    <a:pt x="32521" y="343774"/>
                  </a:lnTo>
                  <a:lnTo>
                    <a:pt x="71787" y="373968"/>
                  </a:lnTo>
                  <a:lnTo>
                    <a:pt x="125159" y="402637"/>
                  </a:lnTo>
                  <a:lnTo>
                    <a:pt x="191711" y="429571"/>
                  </a:lnTo>
                  <a:lnTo>
                    <a:pt x="229641" y="442322"/>
                  </a:lnTo>
                  <a:lnTo>
                    <a:pt x="270521" y="454561"/>
                  </a:lnTo>
                  <a:lnTo>
                    <a:pt x="314233" y="466262"/>
                  </a:lnTo>
                  <a:lnTo>
                    <a:pt x="360664" y="477397"/>
                  </a:lnTo>
                  <a:lnTo>
                    <a:pt x="409696" y="487942"/>
                  </a:lnTo>
                  <a:lnTo>
                    <a:pt x="461216" y="497869"/>
                  </a:lnTo>
                  <a:lnTo>
                    <a:pt x="515107" y="507153"/>
                  </a:lnTo>
                  <a:lnTo>
                    <a:pt x="571254" y="515768"/>
                  </a:lnTo>
                  <a:lnTo>
                    <a:pt x="629542" y="523686"/>
                  </a:lnTo>
                  <a:lnTo>
                    <a:pt x="689854" y="530882"/>
                  </a:lnTo>
                  <a:lnTo>
                    <a:pt x="752076" y="537330"/>
                  </a:lnTo>
                  <a:lnTo>
                    <a:pt x="816091" y="543004"/>
                  </a:lnTo>
                  <a:lnTo>
                    <a:pt x="881786" y="547876"/>
                  </a:lnTo>
                  <a:lnTo>
                    <a:pt x="949043" y="551921"/>
                  </a:lnTo>
                  <a:lnTo>
                    <a:pt x="1017747" y="555113"/>
                  </a:lnTo>
                  <a:lnTo>
                    <a:pt x="1087784" y="557426"/>
                  </a:lnTo>
                  <a:lnTo>
                    <a:pt x="1159037" y="558833"/>
                  </a:lnTo>
                  <a:lnTo>
                    <a:pt x="1231392" y="559308"/>
                  </a:lnTo>
                  <a:lnTo>
                    <a:pt x="1303746" y="558833"/>
                  </a:lnTo>
                  <a:lnTo>
                    <a:pt x="1374999" y="557426"/>
                  </a:lnTo>
                  <a:lnTo>
                    <a:pt x="1445036" y="555113"/>
                  </a:lnTo>
                  <a:lnTo>
                    <a:pt x="1513740" y="551921"/>
                  </a:lnTo>
                  <a:lnTo>
                    <a:pt x="1580997" y="547876"/>
                  </a:lnTo>
                  <a:lnTo>
                    <a:pt x="1646692" y="543004"/>
                  </a:lnTo>
                  <a:lnTo>
                    <a:pt x="1710707" y="537330"/>
                  </a:lnTo>
                  <a:lnTo>
                    <a:pt x="1772929" y="530882"/>
                  </a:lnTo>
                  <a:lnTo>
                    <a:pt x="1833241" y="523686"/>
                  </a:lnTo>
                  <a:lnTo>
                    <a:pt x="1891529" y="515768"/>
                  </a:lnTo>
                  <a:lnTo>
                    <a:pt x="1947676" y="507153"/>
                  </a:lnTo>
                  <a:lnTo>
                    <a:pt x="2001567" y="497869"/>
                  </a:lnTo>
                  <a:lnTo>
                    <a:pt x="2053087" y="487942"/>
                  </a:lnTo>
                  <a:lnTo>
                    <a:pt x="2102119" y="477397"/>
                  </a:lnTo>
                  <a:lnTo>
                    <a:pt x="2148550" y="466262"/>
                  </a:lnTo>
                  <a:lnTo>
                    <a:pt x="2192262" y="454561"/>
                  </a:lnTo>
                  <a:lnTo>
                    <a:pt x="2233142" y="442322"/>
                  </a:lnTo>
                  <a:lnTo>
                    <a:pt x="2271072" y="429571"/>
                  </a:lnTo>
                  <a:lnTo>
                    <a:pt x="2337624" y="402637"/>
                  </a:lnTo>
                  <a:lnTo>
                    <a:pt x="2390996" y="373968"/>
                  </a:lnTo>
                  <a:lnTo>
                    <a:pt x="2430262" y="343774"/>
                  </a:lnTo>
                  <a:lnTo>
                    <a:pt x="2454499" y="312266"/>
                  </a:lnTo>
                  <a:lnTo>
                    <a:pt x="2462784" y="279654"/>
                  </a:lnTo>
                  <a:lnTo>
                    <a:pt x="2460693" y="263222"/>
                  </a:lnTo>
                  <a:lnTo>
                    <a:pt x="2430262" y="215533"/>
                  </a:lnTo>
                  <a:lnTo>
                    <a:pt x="2390996" y="185339"/>
                  </a:lnTo>
                  <a:lnTo>
                    <a:pt x="2337624" y="156670"/>
                  </a:lnTo>
                  <a:lnTo>
                    <a:pt x="2271072" y="129736"/>
                  </a:lnTo>
                  <a:lnTo>
                    <a:pt x="2233142" y="116985"/>
                  </a:lnTo>
                  <a:lnTo>
                    <a:pt x="2192262" y="104746"/>
                  </a:lnTo>
                  <a:lnTo>
                    <a:pt x="2148550" y="93045"/>
                  </a:lnTo>
                  <a:lnTo>
                    <a:pt x="2102119" y="81910"/>
                  </a:lnTo>
                  <a:lnTo>
                    <a:pt x="2053087" y="71365"/>
                  </a:lnTo>
                  <a:lnTo>
                    <a:pt x="2001567" y="61438"/>
                  </a:lnTo>
                  <a:lnTo>
                    <a:pt x="1947676" y="52154"/>
                  </a:lnTo>
                  <a:lnTo>
                    <a:pt x="1891529" y="43539"/>
                  </a:lnTo>
                  <a:lnTo>
                    <a:pt x="1833241" y="35621"/>
                  </a:lnTo>
                  <a:lnTo>
                    <a:pt x="1772929" y="28425"/>
                  </a:lnTo>
                  <a:lnTo>
                    <a:pt x="1710707" y="21977"/>
                  </a:lnTo>
                  <a:lnTo>
                    <a:pt x="1646692" y="16303"/>
                  </a:lnTo>
                  <a:lnTo>
                    <a:pt x="1580997" y="11431"/>
                  </a:lnTo>
                  <a:lnTo>
                    <a:pt x="1513740" y="7386"/>
                  </a:lnTo>
                  <a:lnTo>
                    <a:pt x="1445036" y="4194"/>
                  </a:lnTo>
                  <a:lnTo>
                    <a:pt x="1374999" y="1881"/>
                  </a:lnTo>
                  <a:lnTo>
                    <a:pt x="1303746" y="474"/>
                  </a:lnTo>
                  <a:lnTo>
                    <a:pt x="1231392" y="0"/>
                  </a:lnTo>
                  <a:close/>
                </a:path>
              </a:pathLst>
            </a:custGeom>
            <a:solidFill>
              <a:srgbClr val="DADADA"/>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369" name="Google Shape;369;p40"/>
            <p:cNvSpPr/>
            <p:nvPr/>
          </p:nvSpPr>
          <p:spPr>
            <a:xfrm>
              <a:off x="3341370" y="4284727"/>
              <a:ext cx="2463165" cy="2237740"/>
            </a:xfrm>
            <a:custGeom>
              <a:rect b="b" l="l" r="r" t="t"/>
              <a:pathLst>
                <a:path extrusionOk="0" h="2237740" w="2463165">
                  <a:moveTo>
                    <a:pt x="2462783" y="279654"/>
                  </a:moveTo>
                  <a:lnTo>
                    <a:pt x="2444317" y="328172"/>
                  </a:lnTo>
                  <a:lnTo>
                    <a:pt x="2412450" y="359048"/>
                  </a:lnTo>
                  <a:lnTo>
                    <a:pt x="2366015" y="388506"/>
                  </a:lnTo>
                  <a:lnTo>
                    <a:pt x="2305938" y="416334"/>
                  </a:lnTo>
                  <a:lnTo>
                    <a:pt x="2233142" y="442322"/>
                  </a:lnTo>
                  <a:lnTo>
                    <a:pt x="2192262" y="454561"/>
                  </a:lnTo>
                  <a:lnTo>
                    <a:pt x="2148550" y="466262"/>
                  </a:lnTo>
                  <a:lnTo>
                    <a:pt x="2102119" y="477397"/>
                  </a:lnTo>
                  <a:lnTo>
                    <a:pt x="2053087" y="487942"/>
                  </a:lnTo>
                  <a:lnTo>
                    <a:pt x="2001567" y="497869"/>
                  </a:lnTo>
                  <a:lnTo>
                    <a:pt x="1947676" y="507153"/>
                  </a:lnTo>
                  <a:lnTo>
                    <a:pt x="1891529" y="515768"/>
                  </a:lnTo>
                  <a:lnTo>
                    <a:pt x="1833241" y="523686"/>
                  </a:lnTo>
                  <a:lnTo>
                    <a:pt x="1772929" y="530882"/>
                  </a:lnTo>
                  <a:lnTo>
                    <a:pt x="1710707" y="537330"/>
                  </a:lnTo>
                  <a:lnTo>
                    <a:pt x="1646692" y="543004"/>
                  </a:lnTo>
                  <a:lnTo>
                    <a:pt x="1580997" y="547876"/>
                  </a:lnTo>
                  <a:lnTo>
                    <a:pt x="1513740" y="551921"/>
                  </a:lnTo>
                  <a:lnTo>
                    <a:pt x="1445036" y="555113"/>
                  </a:lnTo>
                  <a:lnTo>
                    <a:pt x="1374999" y="557426"/>
                  </a:lnTo>
                  <a:lnTo>
                    <a:pt x="1303746" y="558833"/>
                  </a:lnTo>
                  <a:lnTo>
                    <a:pt x="1231391" y="559308"/>
                  </a:lnTo>
                  <a:lnTo>
                    <a:pt x="1159037" y="558833"/>
                  </a:lnTo>
                  <a:lnTo>
                    <a:pt x="1087784" y="557426"/>
                  </a:lnTo>
                  <a:lnTo>
                    <a:pt x="1017747" y="555113"/>
                  </a:lnTo>
                  <a:lnTo>
                    <a:pt x="949043" y="551921"/>
                  </a:lnTo>
                  <a:lnTo>
                    <a:pt x="881786" y="547876"/>
                  </a:lnTo>
                  <a:lnTo>
                    <a:pt x="816091" y="543004"/>
                  </a:lnTo>
                  <a:lnTo>
                    <a:pt x="752076" y="537330"/>
                  </a:lnTo>
                  <a:lnTo>
                    <a:pt x="689854" y="530882"/>
                  </a:lnTo>
                  <a:lnTo>
                    <a:pt x="629542" y="523686"/>
                  </a:lnTo>
                  <a:lnTo>
                    <a:pt x="571254" y="515768"/>
                  </a:lnTo>
                  <a:lnTo>
                    <a:pt x="515107" y="507153"/>
                  </a:lnTo>
                  <a:lnTo>
                    <a:pt x="461216" y="497869"/>
                  </a:lnTo>
                  <a:lnTo>
                    <a:pt x="409696" y="487942"/>
                  </a:lnTo>
                  <a:lnTo>
                    <a:pt x="360664" y="477397"/>
                  </a:lnTo>
                  <a:lnTo>
                    <a:pt x="314233" y="466262"/>
                  </a:lnTo>
                  <a:lnTo>
                    <a:pt x="270521" y="454561"/>
                  </a:lnTo>
                  <a:lnTo>
                    <a:pt x="229641" y="442322"/>
                  </a:lnTo>
                  <a:lnTo>
                    <a:pt x="191711" y="429571"/>
                  </a:lnTo>
                  <a:lnTo>
                    <a:pt x="125159" y="402637"/>
                  </a:lnTo>
                  <a:lnTo>
                    <a:pt x="71787" y="373968"/>
                  </a:lnTo>
                  <a:lnTo>
                    <a:pt x="32521" y="343774"/>
                  </a:lnTo>
                  <a:lnTo>
                    <a:pt x="8284" y="312266"/>
                  </a:lnTo>
                  <a:lnTo>
                    <a:pt x="0" y="279654"/>
                  </a:lnTo>
                  <a:lnTo>
                    <a:pt x="2090" y="263222"/>
                  </a:lnTo>
                  <a:lnTo>
                    <a:pt x="32521" y="215533"/>
                  </a:lnTo>
                  <a:lnTo>
                    <a:pt x="71787" y="185339"/>
                  </a:lnTo>
                  <a:lnTo>
                    <a:pt x="125159" y="156670"/>
                  </a:lnTo>
                  <a:lnTo>
                    <a:pt x="191711" y="129736"/>
                  </a:lnTo>
                  <a:lnTo>
                    <a:pt x="229641" y="116985"/>
                  </a:lnTo>
                  <a:lnTo>
                    <a:pt x="270521" y="104746"/>
                  </a:lnTo>
                  <a:lnTo>
                    <a:pt x="314233" y="93045"/>
                  </a:lnTo>
                  <a:lnTo>
                    <a:pt x="360664" y="81910"/>
                  </a:lnTo>
                  <a:lnTo>
                    <a:pt x="409696" y="71365"/>
                  </a:lnTo>
                  <a:lnTo>
                    <a:pt x="461216" y="61438"/>
                  </a:lnTo>
                  <a:lnTo>
                    <a:pt x="515107" y="52154"/>
                  </a:lnTo>
                  <a:lnTo>
                    <a:pt x="571254" y="43539"/>
                  </a:lnTo>
                  <a:lnTo>
                    <a:pt x="629542" y="35621"/>
                  </a:lnTo>
                  <a:lnTo>
                    <a:pt x="689854" y="28425"/>
                  </a:lnTo>
                  <a:lnTo>
                    <a:pt x="752076" y="21977"/>
                  </a:lnTo>
                  <a:lnTo>
                    <a:pt x="816091" y="16303"/>
                  </a:lnTo>
                  <a:lnTo>
                    <a:pt x="881786" y="11431"/>
                  </a:lnTo>
                  <a:lnTo>
                    <a:pt x="949043" y="7386"/>
                  </a:lnTo>
                  <a:lnTo>
                    <a:pt x="1017747" y="4194"/>
                  </a:lnTo>
                  <a:lnTo>
                    <a:pt x="1087784" y="1881"/>
                  </a:lnTo>
                  <a:lnTo>
                    <a:pt x="1159037" y="474"/>
                  </a:lnTo>
                  <a:lnTo>
                    <a:pt x="1231391" y="0"/>
                  </a:lnTo>
                  <a:lnTo>
                    <a:pt x="1303746" y="474"/>
                  </a:lnTo>
                  <a:lnTo>
                    <a:pt x="1374999" y="1881"/>
                  </a:lnTo>
                  <a:lnTo>
                    <a:pt x="1445036" y="4194"/>
                  </a:lnTo>
                  <a:lnTo>
                    <a:pt x="1513740" y="7386"/>
                  </a:lnTo>
                  <a:lnTo>
                    <a:pt x="1580997" y="11431"/>
                  </a:lnTo>
                  <a:lnTo>
                    <a:pt x="1646692" y="16303"/>
                  </a:lnTo>
                  <a:lnTo>
                    <a:pt x="1710707" y="21977"/>
                  </a:lnTo>
                  <a:lnTo>
                    <a:pt x="1772929" y="28425"/>
                  </a:lnTo>
                  <a:lnTo>
                    <a:pt x="1833241" y="35621"/>
                  </a:lnTo>
                  <a:lnTo>
                    <a:pt x="1891529" y="43539"/>
                  </a:lnTo>
                  <a:lnTo>
                    <a:pt x="1947676" y="52154"/>
                  </a:lnTo>
                  <a:lnTo>
                    <a:pt x="2001567" y="61438"/>
                  </a:lnTo>
                  <a:lnTo>
                    <a:pt x="2053087" y="71365"/>
                  </a:lnTo>
                  <a:lnTo>
                    <a:pt x="2102119" y="81910"/>
                  </a:lnTo>
                  <a:lnTo>
                    <a:pt x="2148550" y="93045"/>
                  </a:lnTo>
                  <a:lnTo>
                    <a:pt x="2192262" y="104746"/>
                  </a:lnTo>
                  <a:lnTo>
                    <a:pt x="2233142" y="116985"/>
                  </a:lnTo>
                  <a:lnTo>
                    <a:pt x="2271072" y="129736"/>
                  </a:lnTo>
                  <a:lnTo>
                    <a:pt x="2337624" y="156670"/>
                  </a:lnTo>
                  <a:lnTo>
                    <a:pt x="2390996" y="185339"/>
                  </a:lnTo>
                  <a:lnTo>
                    <a:pt x="2430262" y="215533"/>
                  </a:lnTo>
                  <a:lnTo>
                    <a:pt x="2454499" y="247041"/>
                  </a:lnTo>
                  <a:lnTo>
                    <a:pt x="2462783" y="279654"/>
                  </a:lnTo>
                  <a:close/>
                </a:path>
                <a:path extrusionOk="0" h="2237740" w="2463165">
                  <a:moveTo>
                    <a:pt x="2462783" y="279654"/>
                  </a:moveTo>
                  <a:lnTo>
                    <a:pt x="2462783" y="1957578"/>
                  </a:lnTo>
                  <a:lnTo>
                    <a:pt x="2460693" y="1974009"/>
                  </a:lnTo>
                  <a:lnTo>
                    <a:pt x="2430262" y="2021698"/>
                  </a:lnTo>
                  <a:lnTo>
                    <a:pt x="2390996" y="2051892"/>
                  </a:lnTo>
                  <a:lnTo>
                    <a:pt x="2337624" y="2080561"/>
                  </a:lnTo>
                  <a:lnTo>
                    <a:pt x="2271072" y="2107495"/>
                  </a:lnTo>
                  <a:lnTo>
                    <a:pt x="2233142" y="2120246"/>
                  </a:lnTo>
                  <a:lnTo>
                    <a:pt x="2192262" y="2132485"/>
                  </a:lnTo>
                  <a:lnTo>
                    <a:pt x="2148550" y="2144186"/>
                  </a:lnTo>
                  <a:lnTo>
                    <a:pt x="2102119" y="2155321"/>
                  </a:lnTo>
                  <a:lnTo>
                    <a:pt x="2053087" y="2165866"/>
                  </a:lnTo>
                  <a:lnTo>
                    <a:pt x="2001567" y="2175793"/>
                  </a:lnTo>
                  <a:lnTo>
                    <a:pt x="1947676" y="2185077"/>
                  </a:lnTo>
                  <a:lnTo>
                    <a:pt x="1891529" y="2193692"/>
                  </a:lnTo>
                  <a:lnTo>
                    <a:pt x="1833241" y="2201610"/>
                  </a:lnTo>
                  <a:lnTo>
                    <a:pt x="1772929" y="2208806"/>
                  </a:lnTo>
                  <a:lnTo>
                    <a:pt x="1710707" y="2215254"/>
                  </a:lnTo>
                  <a:lnTo>
                    <a:pt x="1646692" y="2220928"/>
                  </a:lnTo>
                  <a:lnTo>
                    <a:pt x="1580997" y="2225800"/>
                  </a:lnTo>
                  <a:lnTo>
                    <a:pt x="1513740" y="2229845"/>
                  </a:lnTo>
                  <a:lnTo>
                    <a:pt x="1445036" y="2233037"/>
                  </a:lnTo>
                  <a:lnTo>
                    <a:pt x="1374999" y="2235350"/>
                  </a:lnTo>
                  <a:lnTo>
                    <a:pt x="1303746" y="2236757"/>
                  </a:lnTo>
                  <a:lnTo>
                    <a:pt x="1231391" y="2237232"/>
                  </a:lnTo>
                  <a:lnTo>
                    <a:pt x="1159037" y="2236757"/>
                  </a:lnTo>
                  <a:lnTo>
                    <a:pt x="1087784" y="2235350"/>
                  </a:lnTo>
                  <a:lnTo>
                    <a:pt x="1017747" y="2233037"/>
                  </a:lnTo>
                  <a:lnTo>
                    <a:pt x="949043" y="2229845"/>
                  </a:lnTo>
                  <a:lnTo>
                    <a:pt x="881786" y="2225800"/>
                  </a:lnTo>
                  <a:lnTo>
                    <a:pt x="816091" y="2220928"/>
                  </a:lnTo>
                  <a:lnTo>
                    <a:pt x="752076" y="2215254"/>
                  </a:lnTo>
                  <a:lnTo>
                    <a:pt x="689854" y="2208806"/>
                  </a:lnTo>
                  <a:lnTo>
                    <a:pt x="629542" y="2201610"/>
                  </a:lnTo>
                  <a:lnTo>
                    <a:pt x="571254" y="2193692"/>
                  </a:lnTo>
                  <a:lnTo>
                    <a:pt x="515107" y="2185077"/>
                  </a:lnTo>
                  <a:lnTo>
                    <a:pt x="461216" y="2175793"/>
                  </a:lnTo>
                  <a:lnTo>
                    <a:pt x="409696" y="2165866"/>
                  </a:lnTo>
                  <a:lnTo>
                    <a:pt x="360664" y="2155321"/>
                  </a:lnTo>
                  <a:lnTo>
                    <a:pt x="314233" y="2144186"/>
                  </a:lnTo>
                  <a:lnTo>
                    <a:pt x="270521" y="2132485"/>
                  </a:lnTo>
                  <a:lnTo>
                    <a:pt x="229641" y="2120246"/>
                  </a:lnTo>
                  <a:lnTo>
                    <a:pt x="191711" y="2107495"/>
                  </a:lnTo>
                  <a:lnTo>
                    <a:pt x="125159" y="2080561"/>
                  </a:lnTo>
                  <a:lnTo>
                    <a:pt x="71787" y="2051892"/>
                  </a:lnTo>
                  <a:lnTo>
                    <a:pt x="32521" y="2021698"/>
                  </a:lnTo>
                  <a:lnTo>
                    <a:pt x="8284" y="1990190"/>
                  </a:lnTo>
                  <a:lnTo>
                    <a:pt x="0" y="1957578"/>
                  </a:lnTo>
                  <a:lnTo>
                    <a:pt x="0" y="279654"/>
                  </a:lnTo>
                </a:path>
              </a:pathLst>
            </a:custGeom>
            <a:noFill/>
            <a:ln cap="flat" cmpd="sng" w="28950">
              <a:solidFill>
                <a:srgbClr val="4E3629"/>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grpSp>
      <p:sp>
        <p:nvSpPr>
          <p:cNvPr id="370" name="Google Shape;370;p40"/>
          <p:cNvSpPr txBox="1"/>
          <p:nvPr/>
        </p:nvSpPr>
        <p:spPr>
          <a:xfrm>
            <a:off x="483552" y="1415417"/>
            <a:ext cx="8141334" cy="3292475"/>
          </a:xfrm>
          <a:prstGeom prst="rect">
            <a:avLst/>
          </a:prstGeom>
          <a:noFill/>
          <a:ln>
            <a:noFill/>
          </a:ln>
        </p:spPr>
        <p:txBody>
          <a:bodyPr anchorCtr="0" anchor="t" bIns="0" lIns="0" spcFirstLastPara="1" rIns="0" wrap="square" tIns="59675">
            <a:spAutoFit/>
          </a:bodyPr>
          <a:lstStyle/>
          <a:p>
            <a:pPr indent="-177800" lvl="0" marL="184785" marR="639445"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Existen dos tipos de tablas en una base de datos  Oracle: tablas de usuario y tablas de diccionario de  datos</a:t>
            </a:r>
            <a:endParaRPr sz="2800">
              <a:latin typeface="Calibri"/>
              <a:ea typeface="Calibri"/>
              <a:cs typeface="Calibri"/>
              <a:sym typeface="Calibri"/>
            </a:endParaRPr>
          </a:p>
          <a:p>
            <a:pPr indent="-177800" lvl="0" marL="184785" marR="5080"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Se pueden emitir sentencias SQL para acceder a ambos  tipos de tablas: puede seleccionar, insertar, actualizar y  suprimir datos de las tablas de usuario y puede  seleccionar datos de la tabla de diccionario de datos</a:t>
            </a:r>
            <a:endParaRPr sz="2800">
              <a:latin typeface="Calibri"/>
              <a:ea typeface="Calibri"/>
              <a:cs typeface="Calibri"/>
              <a:sym typeface="Calibri"/>
            </a:endParaRPr>
          </a:p>
          <a:p>
            <a:pPr indent="0" lvl="0" marL="194945" marR="0" rtl="0" algn="ctr">
              <a:lnSpc>
                <a:spcPct val="100000"/>
              </a:lnSpc>
              <a:spcBef>
                <a:spcPts val="1435"/>
              </a:spcBef>
              <a:spcAft>
                <a:spcPts val="0"/>
              </a:spcAft>
              <a:buNone/>
            </a:pPr>
            <a:r>
              <a:rPr b="1" lang="en-US" sz="1600">
                <a:solidFill>
                  <a:srgbClr val="4E3629"/>
                </a:solidFill>
                <a:latin typeface="Calibri"/>
                <a:ea typeface="Calibri"/>
                <a:cs typeface="Calibri"/>
                <a:sym typeface="Calibri"/>
              </a:rPr>
              <a:t>Oracle Database</a:t>
            </a:r>
            <a:endParaRPr sz="1600">
              <a:latin typeface="Calibri"/>
              <a:ea typeface="Calibri"/>
              <a:cs typeface="Calibri"/>
              <a:sym typeface="Calibri"/>
            </a:endParaRPr>
          </a:p>
        </p:txBody>
      </p:sp>
      <p:grpSp>
        <p:nvGrpSpPr>
          <p:cNvPr id="371" name="Google Shape;371;p40"/>
          <p:cNvGrpSpPr/>
          <p:nvPr/>
        </p:nvGrpSpPr>
        <p:grpSpPr>
          <a:xfrm>
            <a:off x="3801618" y="5037581"/>
            <a:ext cx="1582420" cy="1156843"/>
            <a:chOff x="3801618" y="5037581"/>
            <a:chExt cx="1582420" cy="1156843"/>
          </a:xfrm>
        </p:grpSpPr>
        <p:sp>
          <p:nvSpPr>
            <p:cNvPr id="372" name="Google Shape;372;p40"/>
            <p:cNvSpPr/>
            <p:nvPr/>
          </p:nvSpPr>
          <p:spPr>
            <a:xfrm>
              <a:off x="3801618" y="5037581"/>
              <a:ext cx="462280" cy="285115"/>
            </a:xfrm>
            <a:custGeom>
              <a:rect b="b" l="l" r="r" t="t"/>
              <a:pathLst>
                <a:path extrusionOk="0" h="285114" w="462279">
                  <a:moveTo>
                    <a:pt x="461772" y="0"/>
                  </a:moveTo>
                  <a:lnTo>
                    <a:pt x="0" y="0"/>
                  </a:lnTo>
                  <a:lnTo>
                    <a:pt x="0" y="284988"/>
                  </a:lnTo>
                  <a:lnTo>
                    <a:pt x="461772" y="284988"/>
                  </a:lnTo>
                  <a:lnTo>
                    <a:pt x="461772" y="0"/>
                  </a:lnTo>
                  <a:close/>
                </a:path>
              </a:pathLst>
            </a:custGeom>
            <a:solidFill>
              <a:srgbClr val="FFC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373" name="Google Shape;373;p40"/>
            <p:cNvSpPr/>
            <p:nvPr/>
          </p:nvSpPr>
          <p:spPr>
            <a:xfrm>
              <a:off x="3801618" y="5037581"/>
              <a:ext cx="462280" cy="285115"/>
            </a:xfrm>
            <a:custGeom>
              <a:rect b="b" l="l" r="r" t="t"/>
              <a:pathLst>
                <a:path extrusionOk="0" h="285114" w="462279">
                  <a:moveTo>
                    <a:pt x="0" y="0"/>
                  </a:moveTo>
                  <a:lnTo>
                    <a:pt x="461772" y="0"/>
                  </a:lnTo>
                  <a:lnTo>
                    <a:pt x="461772" y="284988"/>
                  </a:lnTo>
                  <a:lnTo>
                    <a:pt x="0" y="284988"/>
                  </a:lnTo>
                  <a:lnTo>
                    <a:pt x="0" y="0"/>
                  </a:lnTo>
                  <a:close/>
                </a:path>
              </a:pathLst>
            </a:custGeom>
            <a:noFill/>
            <a:ln cap="flat" cmpd="sng" w="28950">
              <a:solidFill>
                <a:srgbClr val="4E3629"/>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374" name="Google Shape;374;p40"/>
            <p:cNvSpPr/>
            <p:nvPr/>
          </p:nvSpPr>
          <p:spPr>
            <a:xfrm>
              <a:off x="3801618" y="5909309"/>
              <a:ext cx="462280" cy="285115"/>
            </a:xfrm>
            <a:custGeom>
              <a:rect b="b" l="l" r="r" t="t"/>
              <a:pathLst>
                <a:path extrusionOk="0" h="285114" w="462279">
                  <a:moveTo>
                    <a:pt x="461772" y="0"/>
                  </a:moveTo>
                  <a:lnTo>
                    <a:pt x="0" y="0"/>
                  </a:lnTo>
                  <a:lnTo>
                    <a:pt x="0" y="284987"/>
                  </a:lnTo>
                  <a:lnTo>
                    <a:pt x="461772" y="284987"/>
                  </a:lnTo>
                  <a:lnTo>
                    <a:pt x="461772" y="0"/>
                  </a:lnTo>
                  <a:close/>
                </a:path>
              </a:pathLst>
            </a:custGeom>
            <a:solidFill>
              <a:srgbClr val="FFC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375" name="Google Shape;375;p40"/>
            <p:cNvSpPr/>
            <p:nvPr/>
          </p:nvSpPr>
          <p:spPr>
            <a:xfrm>
              <a:off x="3801618" y="5909309"/>
              <a:ext cx="462280" cy="285115"/>
            </a:xfrm>
            <a:custGeom>
              <a:rect b="b" l="l" r="r" t="t"/>
              <a:pathLst>
                <a:path extrusionOk="0" h="285114" w="462279">
                  <a:moveTo>
                    <a:pt x="0" y="0"/>
                  </a:moveTo>
                  <a:lnTo>
                    <a:pt x="461772" y="0"/>
                  </a:lnTo>
                  <a:lnTo>
                    <a:pt x="461772" y="284987"/>
                  </a:lnTo>
                  <a:lnTo>
                    <a:pt x="0" y="284987"/>
                  </a:lnTo>
                  <a:lnTo>
                    <a:pt x="0" y="0"/>
                  </a:lnTo>
                  <a:close/>
                </a:path>
              </a:pathLst>
            </a:custGeom>
            <a:noFill/>
            <a:ln cap="flat" cmpd="sng" w="28950">
              <a:solidFill>
                <a:srgbClr val="4E3629"/>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376" name="Google Shape;376;p40"/>
            <p:cNvSpPr/>
            <p:nvPr/>
          </p:nvSpPr>
          <p:spPr>
            <a:xfrm>
              <a:off x="3801618" y="5478017"/>
              <a:ext cx="462280" cy="285115"/>
            </a:xfrm>
            <a:custGeom>
              <a:rect b="b" l="l" r="r" t="t"/>
              <a:pathLst>
                <a:path extrusionOk="0" h="285114" w="462279">
                  <a:moveTo>
                    <a:pt x="461772" y="0"/>
                  </a:moveTo>
                  <a:lnTo>
                    <a:pt x="0" y="0"/>
                  </a:lnTo>
                  <a:lnTo>
                    <a:pt x="0" y="284987"/>
                  </a:lnTo>
                  <a:lnTo>
                    <a:pt x="461772" y="284987"/>
                  </a:lnTo>
                  <a:lnTo>
                    <a:pt x="461772" y="0"/>
                  </a:lnTo>
                  <a:close/>
                </a:path>
              </a:pathLst>
            </a:custGeom>
            <a:solidFill>
              <a:srgbClr val="FFC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377" name="Google Shape;377;p40"/>
            <p:cNvSpPr/>
            <p:nvPr/>
          </p:nvSpPr>
          <p:spPr>
            <a:xfrm>
              <a:off x="3801618" y="5478017"/>
              <a:ext cx="462280" cy="285115"/>
            </a:xfrm>
            <a:custGeom>
              <a:rect b="b" l="l" r="r" t="t"/>
              <a:pathLst>
                <a:path extrusionOk="0" h="285114" w="462279">
                  <a:moveTo>
                    <a:pt x="0" y="0"/>
                  </a:moveTo>
                  <a:lnTo>
                    <a:pt x="461772" y="0"/>
                  </a:lnTo>
                  <a:lnTo>
                    <a:pt x="461772" y="284987"/>
                  </a:lnTo>
                  <a:lnTo>
                    <a:pt x="0" y="284987"/>
                  </a:lnTo>
                  <a:lnTo>
                    <a:pt x="0" y="0"/>
                  </a:lnTo>
                  <a:close/>
                </a:path>
              </a:pathLst>
            </a:custGeom>
            <a:noFill/>
            <a:ln cap="flat" cmpd="sng" w="28950">
              <a:solidFill>
                <a:srgbClr val="4E3629"/>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378" name="Google Shape;378;p40"/>
            <p:cNvSpPr/>
            <p:nvPr/>
          </p:nvSpPr>
          <p:spPr>
            <a:xfrm>
              <a:off x="4921758" y="5037581"/>
              <a:ext cx="462280" cy="285115"/>
            </a:xfrm>
            <a:custGeom>
              <a:rect b="b" l="l" r="r" t="t"/>
              <a:pathLst>
                <a:path extrusionOk="0" h="285114" w="462279">
                  <a:moveTo>
                    <a:pt x="461772" y="0"/>
                  </a:moveTo>
                  <a:lnTo>
                    <a:pt x="0" y="0"/>
                  </a:lnTo>
                  <a:lnTo>
                    <a:pt x="0" y="284988"/>
                  </a:lnTo>
                  <a:lnTo>
                    <a:pt x="461772" y="284988"/>
                  </a:lnTo>
                  <a:lnTo>
                    <a:pt x="461772" y="0"/>
                  </a:lnTo>
                  <a:close/>
                </a:path>
              </a:pathLst>
            </a:custGeom>
            <a:solidFill>
              <a:srgbClr val="4E3629"/>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379" name="Google Shape;379;p40"/>
            <p:cNvSpPr/>
            <p:nvPr/>
          </p:nvSpPr>
          <p:spPr>
            <a:xfrm>
              <a:off x="4921758" y="5037581"/>
              <a:ext cx="462280" cy="285115"/>
            </a:xfrm>
            <a:custGeom>
              <a:rect b="b" l="l" r="r" t="t"/>
              <a:pathLst>
                <a:path extrusionOk="0" h="285114" w="462279">
                  <a:moveTo>
                    <a:pt x="0" y="0"/>
                  </a:moveTo>
                  <a:lnTo>
                    <a:pt x="461772" y="0"/>
                  </a:lnTo>
                  <a:lnTo>
                    <a:pt x="461772" y="284988"/>
                  </a:lnTo>
                  <a:lnTo>
                    <a:pt x="0" y="284988"/>
                  </a:lnTo>
                  <a:lnTo>
                    <a:pt x="0" y="0"/>
                  </a:lnTo>
                  <a:close/>
                </a:path>
              </a:pathLst>
            </a:custGeom>
            <a:noFill/>
            <a:ln cap="flat" cmpd="sng" w="28950">
              <a:solidFill>
                <a:srgbClr val="4E3629"/>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380" name="Google Shape;380;p40"/>
            <p:cNvSpPr/>
            <p:nvPr/>
          </p:nvSpPr>
          <p:spPr>
            <a:xfrm>
              <a:off x="4921758" y="5468873"/>
              <a:ext cx="462280" cy="285115"/>
            </a:xfrm>
            <a:custGeom>
              <a:rect b="b" l="l" r="r" t="t"/>
              <a:pathLst>
                <a:path extrusionOk="0" h="285114" w="462279">
                  <a:moveTo>
                    <a:pt x="461772" y="0"/>
                  </a:moveTo>
                  <a:lnTo>
                    <a:pt x="0" y="0"/>
                  </a:lnTo>
                  <a:lnTo>
                    <a:pt x="0" y="284988"/>
                  </a:lnTo>
                  <a:lnTo>
                    <a:pt x="461772" y="284988"/>
                  </a:lnTo>
                  <a:lnTo>
                    <a:pt x="461772" y="0"/>
                  </a:lnTo>
                  <a:close/>
                </a:path>
              </a:pathLst>
            </a:custGeom>
            <a:solidFill>
              <a:srgbClr val="4E3629"/>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381" name="Google Shape;381;p40"/>
            <p:cNvSpPr/>
            <p:nvPr/>
          </p:nvSpPr>
          <p:spPr>
            <a:xfrm>
              <a:off x="4921758" y="5468873"/>
              <a:ext cx="462280" cy="285115"/>
            </a:xfrm>
            <a:custGeom>
              <a:rect b="b" l="l" r="r" t="t"/>
              <a:pathLst>
                <a:path extrusionOk="0" h="285114" w="462279">
                  <a:moveTo>
                    <a:pt x="0" y="0"/>
                  </a:moveTo>
                  <a:lnTo>
                    <a:pt x="461772" y="0"/>
                  </a:lnTo>
                  <a:lnTo>
                    <a:pt x="461772" y="284988"/>
                  </a:lnTo>
                  <a:lnTo>
                    <a:pt x="0" y="284988"/>
                  </a:lnTo>
                  <a:lnTo>
                    <a:pt x="0" y="0"/>
                  </a:lnTo>
                  <a:close/>
                </a:path>
              </a:pathLst>
            </a:custGeom>
            <a:noFill/>
            <a:ln cap="flat" cmpd="sng" w="28950">
              <a:solidFill>
                <a:srgbClr val="4E3629"/>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382" name="Google Shape;382;p40"/>
            <p:cNvSpPr/>
            <p:nvPr/>
          </p:nvSpPr>
          <p:spPr>
            <a:xfrm>
              <a:off x="4921758" y="5889497"/>
              <a:ext cx="462280" cy="287020"/>
            </a:xfrm>
            <a:custGeom>
              <a:rect b="b" l="l" r="r" t="t"/>
              <a:pathLst>
                <a:path extrusionOk="0" h="287020" w="462279">
                  <a:moveTo>
                    <a:pt x="461772" y="0"/>
                  </a:moveTo>
                  <a:lnTo>
                    <a:pt x="0" y="0"/>
                  </a:lnTo>
                  <a:lnTo>
                    <a:pt x="0" y="286511"/>
                  </a:lnTo>
                  <a:lnTo>
                    <a:pt x="461772" y="286511"/>
                  </a:lnTo>
                  <a:lnTo>
                    <a:pt x="461772" y="0"/>
                  </a:lnTo>
                  <a:close/>
                </a:path>
              </a:pathLst>
            </a:custGeom>
            <a:solidFill>
              <a:srgbClr val="4E3629"/>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383" name="Google Shape;383;p40"/>
            <p:cNvSpPr/>
            <p:nvPr/>
          </p:nvSpPr>
          <p:spPr>
            <a:xfrm>
              <a:off x="4921758" y="5889497"/>
              <a:ext cx="462280" cy="287020"/>
            </a:xfrm>
            <a:custGeom>
              <a:rect b="b" l="l" r="r" t="t"/>
              <a:pathLst>
                <a:path extrusionOk="0" h="287020" w="462279">
                  <a:moveTo>
                    <a:pt x="0" y="0"/>
                  </a:moveTo>
                  <a:lnTo>
                    <a:pt x="461772" y="0"/>
                  </a:lnTo>
                  <a:lnTo>
                    <a:pt x="461772" y="286511"/>
                  </a:lnTo>
                  <a:lnTo>
                    <a:pt x="0" y="286511"/>
                  </a:lnTo>
                  <a:lnTo>
                    <a:pt x="0" y="0"/>
                  </a:lnTo>
                  <a:close/>
                </a:path>
              </a:pathLst>
            </a:custGeom>
            <a:noFill/>
            <a:ln cap="flat" cmpd="sng" w="28950">
              <a:solidFill>
                <a:srgbClr val="4E3629"/>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grpSp>
      <p:sp>
        <p:nvSpPr>
          <p:cNvPr id="384" name="Google Shape;384;p40"/>
          <p:cNvSpPr txBox="1"/>
          <p:nvPr>
            <p:ph idx="10" type="dt"/>
          </p:nvPr>
        </p:nvSpPr>
        <p:spPr>
          <a:xfrm>
            <a:off x="2874191" y="6516395"/>
            <a:ext cx="834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13-1</a:t>
            </a:r>
            <a:endParaRPr/>
          </a:p>
          <a:p>
            <a:pPr indent="0" lvl="0" marL="12700" rtl="0" algn="l">
              <a:lnSpc>
                <a:spcPct val="120624"/>
              </a:lnSpc>
              <a:spcBef>
                <a:spcPts val="0"/>
              </a:spcBef>
              <a:spcAft>
                <a:spcPts val="0"/>
              </a:spcAft>
              <a:buNone/>
            </a:pPr>
            <a:r>
              <a:rPr lang="en-US"/>
              <a:t>Creación de tablas</a:t>
            </a:r>
            <a:endParaRPr/>
          </a:p>
        </p:txBody>
      </p:sp>
      <p:sp>
        <p:nvSpPr>
          <p:cNvPr id="385" name="Google Shape;385;p40"/>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86" name="Google Shape;386;p40"/>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41"/>
          <p:cNvSpPr txBox="1"/>
          <p:nvPr>
            <p:ph type="title"/>
          </p:nvPr>
        </p:nvSpPr>
        <p:spPr>
          <a:xfrm>
            <a:off x="392112" y="748031"/>
            <a:ext cx="2653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Data Dictionary</a:t>
            </a:r>
            <a:endParaRPr/>
          </a:p>
        </p:txBody>
      </p:sp>
      <p:sp>
        <p:nvSpPr>
          <p:cNvPr id="392" name="Google Shape;392;p41"/>
          <p:cNvSpPr txBox="1"/>
          <p:nvPr/>
        </p:nvSpPr>
        <p:spPr>
          <a:xfrm>
            <a:off x="483552" y="1415417"/>
            <a:ext cx="7099300" cy="2415540"/>
          </a:xfrm>
          <a:prstGeom prst="rect">
            <a:avLst/>
          </a:prstGeom>
          <a:noFill/>
          <a:ln>
            <a:noFill/>
          </a:ln>
        </p:spPr>
        <p:txBody>
          <a:bodyPr anchorCtr="0" anchor="t" bIns="0" lIns="0" spcFirstLastPara="1" rIns="0" wrap="square" tIns="59675">
            <a:spAutoFit/>
          </a:bodyPr>
          <a:lstStyle/>
          <a:p>
            <a:pPr indent="-177800" lvl="0" marL="184785"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Las tablas de usuario creadas por el usuario que  contiene sus datos:</a:t>
            </a:r>
            <a:endParaRPr sz="2800">
              <a:latin typeface="Calibri"/>
              <a:ea typeface="Calibri"/>
              <a:cs typeface="Calibri"/>
              <a:sym typeface="Calibri"/>
            </a:endParaRPr>
          </a:p>
          <a:p>
            <a:pPr indent="0" lvl="0" marL="355600" marR="0" rtl="0" algn="l">
              <a:lnSpc>
                <a:spcPct val="100000"/>
              </a:lnSpc>
              <a:spcBef>
                <a:spcPts val="9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empleados, departamentos, cargos, etc.</a:t>
            </a:r>
            <a:endParaRPr sz="2400">
              <a:latin typeface="Calibri"/>
              <a:ea typeface="Calibri"/>
              <a:cs typeface="Calibri"/>
              <a:sym typeface="Calibri"/>
            </a:endParaRPr>
          </a:p>
          <a:p>
            <a:pPr indent="-177800" lvl="0" marL="184785" marR="0" rtl="0" algn="l">
              <a:lnSpc>
                <a:spcPct val="100000"/>
              </a:lnSpc>
              <a:spcBef>
                <a:spcPts val="43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Tablas de diccionario de datos:</a:t>
            </a:r>
            <a:endParaRPr sz="2800">
              <a:latin typeface="Calibri"/>
              <a:ea typeface="Calibri"/>
              <a:cs typeface="Calibri"/>
              <a:sym typeface="Calibri"/>
            </a:endParaRPr>
          </a:p>
          <a:p>
            <a:pPr indent="-175260" lvl="0" marL="530860" marR="1149985" rtl="0" algn="l">
              <a:lnSpc>
                <a:spcPct val="107916"/>
              </a:lnSpc>
              <a:spcBef>
                <a:spcPts val="47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DICTIONARY, USER_OBJECTS, USER_TABLES,  USER_SEGMENTS, USER_INDEXES, etc.</a:t>
            </a:r>
            <a:endParaRPr sz="2400">
              <a:latin typeface="Calibri"/>
              <a:ea typeface="Calibri"/>
              <a:cs typeface="Calibri"/>
              <a:sym typeface="Calibri"/>
            </a:endParaRPr>
          </a:p>
        </p:txBody>
      </p:sp>
      <p:grpSp>
        <p:nvGrpSpPr>
          <p:cNvPr id="393" name="Google Shape;393;p41"/>
          <p:cNvGrpSpPr/>
          <p:nvPr/>
        </p:nvGrpSpPr>
        <p:grpSpPr>
          <a:xfrm>
            <a:off x="3466338" y="4040884"/>
            <a:ext cx="2560320" cy="2280285"/>
            <a:chOff x="3466338" y="4040884"/>
            <a:chExt cx="2560320" cy="2280285"/>
          </a:xfrm>
        </p:grpSpPr>
        <p:sp>
          <p:nvSpPr>
            <p:cNvPr id="394" name="Google Shape;394;p41"/>
            <p:cNvSpPr/>
            <p:nvPr/>
          </p:nvSpPr>
          <p:spPr>
            <a:xfrm>
              <a:off x="3466338" y="4325872"/>
              <a:ext cx="2560320" cy="1995170"/>
            </a:xfrm>
            <a:custGeom>
              <a:rect b="b" l="l" r="r" t="t"/>
              <a:pathLst>
                <a:path extrusionOk="0" h="1995170" w="2560320">
                  <a:moveTo>
                    <a:pt x="2560320" y="0"/>
                  </a:moveTo>
                  <a:lnTo>
                    <a:pt x="2542405" y="47780"/>
                  </a:lnTo>
                  <a:lnTo>
                    <a:pt x="2511458" y="78250"/>
                  </a:lnTo>
                  <a:lnTo>
                    <a:pt x="2466315" y="107389"/>
                  </a:lnTo>
                  <a:lnTo>
                    <a:pt x="2407843" y="135004"/>
                  </a:lnTo>
                  <a:lnTo>
                    <a:pt x="2336905" y="160902"/>
                  </a:lnTo>
                  <a:lnTo>
                    <a:pt x="2297031" y="173148"/>
                  </a:lnTo>
                  <a:lnTo>
                    <a:pt x="2254365" y="184892"/>
                  </a:lnTo>
                  <a:lnTo>
                    <a:pt x="2209016" y="196110"/>
                  </a:lnTo>
                  <a:lnTo>
                    <a:pt x="2161090" y="206780"/>
                  </a:lnTo>
                  <a:lnTo>
                    <a:pt x="2110696" y="216875"/>
                  </a:lnTo>
                  <a:lnTo>
                    <a:pt x="2057942" y="226374"/>
                  </a:lnTo>
                  <a:lnTo>
                    <a:pt x="2002936" y="235250"/>
                  </a:lnTo>
                  <a:lnTo>
                    <a:pt x="1945787" y="243481"/>
                  </a:lnTo>
                  <a:lnTo>
                    <a:pt x="1886601" y="251043"/>
                  </a:lnTo>
                  <a:lnTo>
                    <a:pt x="1825489" y="257910"/>
                  </a:lnTo>
                  <a:lnTo>
                    <a:pt x="1762556" y="264060"/>
                  </a:lnTo>
                  <a:lnTo>
                    <a:pt x="1697912" y="269468"/>
                  </a:lnTo>
                  <a:lnTo>
                    <a:pt x="1631665" y="274110"/>
                  </a:lnTo>
                  <a:lnTo>
                    <a:pt x="1563922" y="277962"/>
                  </a:lnTo>
                  <a:lnTo>
                    <a:pt x="1494792" y="280999"/>
                  </a:lnTo>
                  <a:lnTo>
                    <a:pt x="1424383" y="283199"/>
                  </a:lnTo>
                  <a:lnTo>
                    <a:pt x="1352803" y="284536"/>
                  </a:lnTo>
                  <a:lnTo>
                    <a:pt x="1280160" y="284987"/>
                  </a:lnTo>
                  <a:lnTo>
                    <a:pt x="1207516" y="284536"/>
                  </a:lnTo>
                  <a:lnTo>
                    <a:pt x="1135936" y="283199"/>
                  </a:lnTo>
                  <a:lnTo>
                    <a:pt x="1065527" y="280999"/>
                  </a:lnTo>
                  <a:lnTo>
                    <a:pt x="996397" y="277962"/>
                  </a:lnTo>
                  <a:lnTo>
                    <a:pt x="928654" y="274110"/>
                  </a:lnTo>
                  <a:lnTo>
                    <a:pt x="862407" y="269468"/>
                  </a:lnTo>
                  <a:lnTo>
                    <a:pt x="797763" y="264060"/>
                  </a:lnTo>
                  <a:lnTo>
                    <a:pt x="734830" y="257910"/>
                  </a:lnTo>
                  <a:lnTo>
                    <a:pt x="673718" y="251043"/>
                  </a:lnTo>
                  <a:lnTo>
                    <a:pt x="614532" y="243481"/>
                  </a:lnTo>
                  <a:lnTo>
                    <a:pt x="557383" y="235250"/>
                  </a:lnTo>
                  <a:lnTo>
                    <a:pt x="502377" y="226374"/>
                  </a:lnTo>
                  <a:lnTo>
                    <a:pt x="449623" y="216875"/>
                  </a:lnTo>
                  <a:lnTo>
                    <a:pt x="399229" y="206780"/>
                  </a:lnTo>
                  <a:lnTo>
                    <a:pt x="351303" y="196110"/>
                  </a:lnTo>
                  <a:lnTo>
                    <a:pt x="305954" y="184892"/>
                  </a:lnTo>
                  <a:lnTo>
                    <a:pt x="263288" y="173148"/>
                  </a:lnTo>
                  <a:lnTo>
                    <a:pt x="223414" y="160902"/>
                  </a:lnTo>
                  <a:lnTo>
                    <a:pt x="186441" y="148180"/>
                  </a:lnTo>
                  <a:lnTo>
                    <a:pt x="121628" y="121399"/>
                  </a:lnTo>
                  <a:lnTo>
                    <a:pt x="69712" y="92998"/>
                  </a:lnTo>
                  <a:lnTo>
                    <a:pt x="31559" y="63170"/>
                  </a:lnTo>
                  <a:lnTo>
                    <a:pt x="8034" y="32106"/>
                  </a:lnTo>
                  <a:lnTo>
                    <a:pt x="0" y="0"/>
                  </a:lnTo>
                  <a:lnTo>
                    <a:pt x="0" y="1709927"/>
                  </a:lnTo>
                  <a:lnTo>
                    <a:pt x="17914" y="1757708"/>
                  </a:lnTo>
                  <a:lnTo>
                    <a:pt x="48861" y="1788178"/>
                  </a:lnTo>
                  <a:lnTo>
                    <a:pt x="94004" y="1817317"/>
                  </a:lnTo>
                  <a:lnTo>
                    <a:pt x="152476" y="1844932"/>
                  </a:lnTo>
                  <a:lnTo>
                    <a:pt x="223414" y="1870830"/>
                  </a:lnTo>
                  <a:lnTo>
                    <a:pt x="263288" y="1883076"/>
                  </a:lnTo>
                  <a:lnTo>
                    <a:pt x="305954" y="1894820"/>
                  </a:lnTo>
                  <a:lnTo>
                    <a:pt x="351303" y="1906038"/>
                  </a:lnTo>
                  <a:lnTo>
                    <a:pt x="399229" y="1916708"/>
                  </a:lnTo>
                  <a:lnTo>
                    <a:pt x="449623" y="1926803"/>
                  </a:lnTo>
                  <a:lnTo>
                    <a:pt x="502377" y="1936302"/>
                  </a:lnTo>
                  <a:lnTo>
                    <a:pt x="557383" y="1945178"/>
                  </a:lnTo>
                  <a:lnTo>
                    <a:pt x="614532" y="1953409"/>
                  </a:lnTo>
                  <a:lnTo>
                    <a:pt x="673718" y="1960971"/>
                  </a:lnTo>
                  <a:lnTo>
                    <a:pt x="734830" y="1967838"/>
                  </a:lnTo>
                  <a:lnTo>
                    <a:pt x="797763" y="1973988"/>
                  </a:lnTo>
                  <a:lnTo>
                    <a:pt x="862407" y="1979396"/>
                  </a:lnTo>
                  <a:lnTo>
                    <a:pt x="928654" y="1984038"/>
                  </a:lnTo>
                  <a:lnTo>
                    <a:pt x="996397" y="1987890"/>
                  </a:lnTo>
                  <a:lnTo>
                    <a:pt x="1065527" y="1990927"/>
                  </a:lnTo>
                  <a:lnTo>
                    <a:pt x="1135936" y="1993127"/>
                  </a:lnTo>
                  <a:lnTo>
                    <a:pt x="1207516" y="1994464"/>
                  </a:lnTo>
                  <a:lnTo>
                    <a:pt x="1280160" y="1994915"/>
                  </a:lnTo>
                  <a:lnTo>
                    <a:pt x="1352803" y="1994464"/>
                  </a:lnTo>
                  <a:lnTo>
                    <a:pt x="1424383" y="1993127"/>
                  </a:lnTo>
                  <a:lnTo>
                    <a:pt x="1494792" y="1990927"/>
                  </a:lnTo>
                  <a:lnTo>
                    <a:pt x="1563922" y="1987890"/>
                  </a:lnTo>
                  <a:lnTo>
                    <a:pt x="1631665" y="1984038"/>
                  </a:lnTo>
                  <a:lnTo>
                    <a:pt x="1697912" y="1979396"/>
                  </a:lnTo>
                  <a:lnTo>
                    <a:pt x="1762556" y="1973988"/>
                  </a:lnTo>
                  <a:lnTo>
                    <a:pt x="1825489" y="1967838"/>
                  </a:lnTo>
                  <a:lnTo>
                    <a:pt x="1886601" y="1960971"/>
                  </a:lnTo>
                  <a:lnTo>
                    <a:pt x="1945787" y="1953409"/>
                  </a:lnTo>
                  <a:lnTo>
                    <a:pt x="2002936" y="1945178"/>
                  </a:lnTo>
                  <a:lnTo>
                    <a:pt x="2057942" y="1936302"/>
                  </a:lnTo>
                  <a:lnTo>
                    <a:pt x="2110696" y="1926803"/>
                  </a:lnTo>
                  <a:lnTo>
                    <a:pt x="2161090" y="1916708"/>
                  </a:lnTo>
                  <a:lnTo>
                    <a:pt x="2209016" y="1906038"/>
                  </a:lnTo>
                  <a:lnTo>
                    <a:pt x="2254365" y="1894820"/>
                  </a:lnTo>
                  <a:lnTo>
                    <a:pt x="2297031" y="1883076"/>
                  </a:lnTo>
                  <a:lnTo>
                    <a:pt x="2336905" y="1870830"/>
                  </a:lnTo>
                  <a:lnTo>
                    <a:pt x="2373878" y="1858108"/>
                  </a:lnTo>
                  <a:lnTo>
                    <a:pt x="2438691" y="1831327"/>
                  </a:lnTo>
                  <a:lnTo>
                    <a:pt x="2490607" y="1802926"/>
                  </a:lnTo>
                  <a:lnTo>
                    <a:pt x="2528760" y="1773098"/>
                  </a:lnTo>
                  <a:lnTo>
                    <a:pt x="2552285" y="1742034"/>
                  </a:lnTo>
                  <a:lnTo>
                    <a:pt x="2560320" y="1709927"/>
                  </a:lnTo>
                  <a:lnTo>
                    <a:pt x="2560320" y="0"/>
                  </a:lnTo>
                  <a:close/>
                </a:path>
              </a:pathLst>
            </a:custGeom>
            <a:solidFill>
              <a:srgbClr val="C0C0C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395" name="Google Shape;395;p41"/>
            <p:cNvSpPr/>
            <p:nvPr/>
          </p:nvSpPr>
          <p:spPr>
            <a:xfrm>
              <a:off x="3466338" y="4040884"/>
              <a:ext cx="2560320" cy="570230"/>
            </a:xfrm>
            <a:custGeom>
              <a:rect b="b" l="l" r="r" t="t"/>
              <a:pathLst>
                <a:path extrusionOk="0" h="570229" w="2560320">
                  <a:moveTo>
                    <a:pt x="1280160" y="0"/>
                  </a:moveTo>
                  <a:lnTo>
                    <a:pt x="1207516" y="451"/>
                  </a:lnTo>
                  <a:lnTo>
                    <a:pt x="1135936" y="1788"/>
                  </a:lnTo>
                  <a:lnTo>
                    <a:pt x="1065527" y="3988"/>
                  </a:lnTo>
                  <a:lnTo>
                    <a:pt x="996397" y="7025"/>
                  </a:lnTo>
                  <a:lnTo>
                    <a:pt x="928654" y="10877"/>
                  </a:lnTo>
                  <a:lnTo>
                    <a:pt x="862407" y="15519"/>
                  </a:lnTo>
                  <a:lnTo>
                    <a:pt x="797763" y="20927"/>
                  </a:lnTo>
                  <a:lnTo>
                    <a:pt x="734830" y="27077"/>
                  </a:lnTo>
                  <a:lnTo>
                    <a:pt x="673718" y="33944"/>
                  </a:lnTo>
                  <a:lnTo>
                    <a:pt x="614532" y="41506"/>
                  </a:lnTo>
                  <a:lnTo>
                    <a:pt x="557383" y="49737"/>
                  </a:lnTo>
                  <a:lnTo>
                    <a:pt x="502377" y="58613"/>
                  </a:lnTo>
                  <a:lnTo>
                    <a:pt x="449623" y="68112"/>
                  </a:lnTo>
                  <a:lnTo>
                    <a:pt x="399229" y="78207"/>
                  </a:lnTo>
                  <a:lnTo>
                    <a:pt x="351303" y="88877"/>
                  </a:lnTo>
                  <a:lnTo>
                    <a:pt x="305954" y="100095"/>
                  </a:lnTo>
                  <a:lnTo>
                    <a:pt x="263288" y="111839"/>
                  </a:lnTo>
                  <a:lnTo>
                    <a:pt x="223414" y="124085"/>
                  </a:lnTo>
                  <a:lnTo>
                    <a:pt x="186441" y="136807"/>
                  </a:lnTo>
                  <a:lnTo>
                    <a:pt x="121628" y="163588"/>
                  </a:lnTo>
                  <a:lnTo>
                    <a:pt x="69712" y="191989"/>
                  </a:lnTo>
                  <a:lnTo>
                    <a:pt x="31559" y="221817"/>
                  </a:lnTo>
                  <a:lnTo>
                    <a:pt x="8034" y="252881"/>
                  </a:lnTo>
                  <a:lnTo>
                    <a:pt x="0" y="284988"/>
                  </a:lnTo>
                  <a:lnTo>
                    <a:pt x="2026" y="301159"/>
                  </a:lnTo>
                  <a:lnTo>
                    <a:pt x="31559" y="348158"/>
                  </a:lnTo>
                  <a:lnTo>
                    <a:pt x="69712" y="377986"/>
                  </a:lnTo>
                  <a:lnTo>
                    <a:pt x="121628" y="406387"/>
                  </a:lnTo>
                  <a:lnTo>
                    <a:pt x="186441" y="433168"/>
                  </a:lnTo>
                  <a:lnTo>
                    <a:pt x="223414" y="445890"/>
                  </a:lnTo>
                  <a:lnTo>
                    <a:pt x="263288" y="458136"/>
                  </a:lnTo>
                  <a:lnTo>
                    <a:pt x="305954" y="469880"/>
                  </a:lnTo>
                  <a:lnTo>
                    <a:pt x="351303" y="481098"/>
                  </a:lnTo>
                  <a:lnTo>
                    <a:pt x="399229" y="491768"/>
                  </a:lnTo>
                  <a:lnTo>
                    <a:pt x="449623" y="501863"/>
                  </a:lnTo>
                  <a:lnTo>
                    <a:pt x="502377" y="511362"/>
                  </a:lnTo>
                  <a:lnTo>
                    <a:pt x="557383" y="520238"/>
                  </a:lnTo>
                  <a:lnTo>
                    <a:pt x="614532" y="528469"/>
                  </a:lnTo>
                  <a:lnTo>
                    <a:pt x="673718" y="536031"/>
                  </a:lnTo>
                  <a:lnTo>
                    <a:pt x="734830" y="542898"/>
                  </a:lnTo>
                  <a:lnTo>
                    <a:pt x="797763" y="549048"/>
                  </a:lnTo>
                  <a:lnTo>
                    <a:pt x="862407" y="554456"/>
                  </a:lnTo>
                  <a:lnTo>
                    <a:pt x="928654" y="559098"/>
                  </a:lnTo>
                  <a:lnTo>
                    <a:pt x="996397" y="562950"/>
                  </a:lnTo>
                  <a:lnTo>
                    <a:pt x="1065527" y="565987"/>
                  </a:lnTo>
                  <a:lnTo>
                    <a:pt x="1135936" y="568187"/>
                  </a:lnTo>
                  <a:lnTo>
                    <a:pt x="1207516" y="569524"/>
                  </a:lnTo>
                  <a:lnTo>
                    <a:pt x="1280160" y="569976"/>
                  </a:lnTo>
                  <a:lnTo>
                    <a:pt x="1352803" y="569524"/>
                  </a:lnTo>
                  <a:lnTo>
                    <a:pt x="1424383" y="568187"/>
                  </a:lnTo>
                  <a:lnTo>
                    <a:pt x="1494792" y="565987"/>
                  </a:lnTo>
                  <a:lnTo>
                    <a:pt x="1563922" y="562950"/>
                  </a:lnTo>
                  <a:lnTo>
                    <a:pt x="1631665" y="559098"/>
                  </a:lnTo>
                  <a:lnTo>
                    <a:pt x="1697912" y="554456"/>
                  </a:lnTo>
                  <a:lnTo>
                    <a:pt x="1762556" y="549048"/>
                  </a:lnTo>
                  <a:lnTo>
                    <a:pt x="1825489" y="542898"/>
                  </a:lnTo>
                  <a:lnTo>
                    <a:pt x="1886601" y="536031"/>
                  </a:lnTo>
                  <a:lnTo>
                    <a:pt x="1945787" y="528469"/>
                  </a:lnTo>
                  <a:lnTo>
                    <a:pt x="2002936" y="520238"/>
                  </a:lnTo>
                  <a:lnTo>
                    <a:pt x="2057942" y="511362"/>
                  </a:lnTo>
                  <a:lnTo>
                    <a:pt x="2110696" y="501863"/>
                  </a:lnTo>
                  <a:lnTo>
                    <a:pt x="2161090" y="491768"/>
                  </a:lnTo>
                  <a:lnTo>
                    <a:pt x="2209016" y="481098"/>
                  </a:lnTo>
                  <a:lnTo>
                    <a:pt x="2254365" y="469880"/>
                  </a:lnTo>
                  <a:lnTo>
                    <a:pt x="2297031" y="458136"/>
                  </a:lnTo>
                  <a:lnTo>
                    <a:pt x="2336905" y="445890"/>
                  </a:lnTo>
                  <a:lnTo>
                    <a:pt x="2373878" y="433168"/>
                  </a:lnTo>
                  <a:lnTo>
                    <a:pt x="2438691" y="406387"/>
                  </a:lnTo>
                  <a:lnTo>
                    <a:pt x="2490607" y="377986"/>
                  </a:lnTo>
                  <a:lnTo>
                    <a:pt x="2528760" y="348158"/>
                  </a:lnTo>
                  <a:lnTo>
                    <a:pt x="2552285" y="317094"/>
                  </a:lnTo>
                  <a:lnTo>
                    <a:pt x="2560320" y="284988"/>
                  </a:lnTo>
                  <a:lnTo>
                    <a:pt x="2558293" y="268816"/>
                  </a:lnTo>
                  <a:lnTo>
                    <a:pt x="2528760" y="221817"/>
                  </a:lnTo>
                  <a:lnTo>
                    <a:pt x="2490607" y="191989"/>
                  </a:lnTo>
                  <a:lnTo>
                    <a:pt x="2438691" y="163588"/>
                  </a:lnTo>
                  <a:lnTo>
                    <a:pt x="2373878" y="136807"/>
                  </a:lnTo>
                  <a:lnTo>
                    <a:pt x="2336905" y="124085"/>
                  </a:lnTo>
                  <a:lnTo>
                    <a:pt x="2297031" y="111839"/>
                  </a:lnTo>
                  <a:lnTo>
                    <a:pt x="2254365" y="100095"/>
                  </a:lnTo>
                  <a:lnTo>
                    <a:pt x="2209016" y="88877"/>
                  </a:lnTo>
                  <a:lnTo>
                    <a:pt x="2161090" y="78207"/>
                  </a:lnTo>
                  <a:lnTo>
                    <a:pt x="2110696" y="68112"/>
                  </a:lnTo>
                  <a:lnTo>
                    <a:pt x="2057942" y="58613"/>
                  </a:lnTo>
                  <a:lnTo>
                    <a:pt x="2002936" y="49737"/>
                  </a:lnTo>
                  <a:lnTo>
                    <a:pt x="1945787" y="41506"/>
                  </a:lnTo>
                  <a:lnTo>
                    <a:pt x="1886601" y="33944"/>
                  </a:lnTo>
                  <a:lnTo>
                    <a:pt x="1825489" y="27077"/>
                  </a:lnTo>
                  <a:lnTo>
                    <a:pt x="1762556" y="20927"/>
                  </a:lnTo>
                  <a:lnTo>
                    <a:pt x="1697912" y="15519"/>
                  </a:lnTo>
                  <a:lnTo>
                    <a:pt x="1631665" y="10877"/>
                  </a:lnTo>
                  <a:lnTo>
                    <a:pt x="1563922" y="7025"/>
                  </a:lnTo>
                  <a:lnTo>
                    <a:pt x="1494792" y="3988"/>
                  </a:lnTo>
                  <a:lnTo>
                    <a:pt x="1424383" y="1788"/>
                  </a:lnTo>
                  <a:lnTo>
                    <a:pt x="1352803" y="451"/>
                  </a:lnTo>
                  <a:lnTo>
                    <a:pt x="1280160" y="0"/>
                  </a:lnTo>
                  <a:close/>
                </a:path>
              </a:pathLst>
            </a:custGeom>
            <a:solidFill>
              <a:srgbClr val="DADADA"/>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396" name="Google Shape;396;p41"/>
            <p:cNvSpPr/>
            <p:nvPr/>
          </p:nvSpPr>
          <p:spPr>
            <a:xfrm>
              <a:off x="3466338" y="4040884"/>
              <a:ext cx="2560320" cy="2280285"/>
            </a:xfrm>
            <a:custGeom>
              <a:rect b="b" l="l" r="r" t="t"/>
              <a:pathLst>
                <a:path extrusionOk="0" h="2280285" w="2560320">
                  <a:moveTo>
                    <a:pt x="2560319" y="284988"/>
                  </a:moveTo>
                  <a:lnTo>
                    <a:pt x="2542405" y="332768"/>
                  </a:lnTo>
                  <a:lnTo>
                    <a:pt x="2511458" y="363238"/>
                  </a:lnTo>
                  <a:lnTo>
                    <a:pt x="2466315" y="392377"/>
                  </a:lnTo>
                  <a:lnTo>
                    <a:pt x="2407843" y="419992"/>
                  </a:lnTo>
                  <a:lnTo>
                    <a:pt x="2336905" y="445890"/>
                  </a:lnTo>
                  <a:lnTo>
                    <a:pt x="2297031" y="458136"/>
                  </a:lnTo>
                  <a:lnTo>
                    <a:pt x="2254365" y="469880"/>
                  </a:lnTo>
                  <a:lnTo>
                    <a:pt x="2209016" y="481098"/>
                  </a:lnTo>
                  <a:lnTo>
                    <a:pt x="2161090" y="491768"/>
                  </a:lnTo>
                  <a:lnTo>
                    <a:pt x="2110696" y="501863"/>
                  </a:lnTo>
                  <a:lnTo>
                    <a:pt x="2057942" y="511362"/>
                  </a:lnTo>
                  <a:lnTo>
                    <a:pt x="2002936" y="520238"/>
                  </a:lnTo>
                  <a:lnTo>
                    <a:pt x="1945787" y="528469"/>
                  </a:lnTo>
                  <a:lnTo>
                    <a:pt x="1886601" y="536031"/>
                  </a:lnTo>
                  <a:lnTo>
                    <a:pt x="1825489" y="542898"/>
                  </a:lnTo>
                  <a:lnTo>
                    <a:pt x="1762556" y="549048"/>
                  </a:lnTo>
                  <a:lnTo>
                    <a:pt x="1697912" y="554456"/>
                  </a:lnTo>
                  <a:lnTo>
                    <a:pt x="1631665" y="559098"/>
                  </a:lnTo>
                  <a:lnTo>
                    <a:pt x="1563922" y="562950"/>
                  </a:lnTo>
                  <a:lnTo>
                    <a:pt x="1494792" y="565987"/>
                  </a:lnTo>
                  <a:lnTo>
                    <a:pt x="1424383" y="568187"/>
                  </a:lnTo>
                  <a:lnTo>
                    <a:pt x="1352803" y="569524"/>
                  </a:lnTo>
                  <a:lnTo>
                    <a:pt x="1280159" y="569976"/>
                  </a:lnTo>
                  <a:lnTo>
                    <a:pt x="1207516" y="569524"/>
                  </a:lnTo>
                  <a:lnTo>
                    <a:pt x="1135936" y="568187"/>
                  </a:lnTo>
                  <a:lnTo>
                    <a:pt x="1065527" y="565987"/>
                  </a:lnTo>
                  <a:lnTo>
                    <a:pt x="996397" y="562950"/>
                  </a:lnTo>
                  <a:lnTo>
                    <a:pt x="928654" y="559098"/>
                  </a:lnTo>
                  <a:lnTo>
                    <a:pt x="862407" y="554456"/>
                  </a:lnTo>
                  <a:lnTo>
                    <a:pt x="797763" y="549048"/>
                  </a:lnTo>
                  <a:lnTo>
                    <a:pt x="734830" y="542898"/>
                  </a:lnTo>
                  <a:lnTo>
                    <a:pt x="673718" y="536031"/>
                  </a:lnTo>
                  <a:lnTo>
                    <a:pt x="614532" y="528469"/>
                  </a:lnTo>
                  <a:lnTo>
                    <a:pt x="557383" y="520238"/>
                  </a:lnTo>
                  <a:lnTo>
                    <a:pt x="502377" y="511362"/>
                  </a:lnTo>
                  <a:lnTo>
                    <a:pt x="449623" y="501863"/>
                  </a:lnTo>
                  <a:lnTo>
                    <a:pt x="399229" y="491768"/>
                  </a:lnTo>
                  <a:lnTo>
                    <a:pt x="351303" y="481098"/>
                  </a:lnTo>
                  <a:lnTo>
                    <a:pt x="305954" y="469880"/>
                  </a:lnTo>
                  <a:lnTo>
                    <a:pt x="263288" y="458136"/>
                  </a:lnTo>
                  <a:lnTo>
                    <a:pt x="223414" y="445890"/>
                  </a:lnTo>
                  <a:lnTo>
                    <a:pt x="186441" y="433168"/>
                  </a:lnTo>
                  <a:lnTo>
                    <a:pt x="121628" y="406387"/>
                  </a:lnTo>
                  <a:lnTo>
                    <a:pt x="69712" y="377986"/>
                  </a:lnTo>
                  <a:lnTo>
                    <a:pt x="31559" y="348158"/>
                  </a:lnTo>
                  <a:lnTo>
                    <a:pt x="8034" y="317094"/>
                  </a:lnTo>
                  <a:lnTo>
                    <a:pt x="0" y="284988"/>
                  </a:lnTo>
                  <a:lnTo>
                    <a:pt x="2026" y="268816"/>
                  </a:lnTo>
                  <a:lnTo>
                    <a:pt x="31559" y="221817"/>
                  </a:lnTo>
                  <a:lnTo>
                    <a:pt x="69712" y="191989"/>
                  </a:lnTo>
                  <a:lnTo>
                    <a:pt x="121628" y="163588"/>
                  </a:lnTo>
                  <a:lnTo>
                    <a:pt x="186441" y="136807"/>
                  </a:lnTo>
                  <a:lnTo>
                    <a:pt x="223414" y="124085"/>
                  </a:lnTo>
                  <a:lnTo>
                    <a:pt x="263288" y="111839"/>
                  </a:lnTo>
                  <a:lnTo>
                    <a:pt x="305954" y="100095"/>
                  </a:lnTo>
                  <a:lnTo>
                    <a:pt x="351303" y="88877"/>
                  </a:lnTo>
                  <a:lnTo>
                    <a:pt x="399229" y="78207"/>
                  </a:lnTo>
                  <a:lnTo>
                    <a:pt x="449623" y="68112"/>
                  </a:lnTo>
                  <a:lnTo>
                    <a:pt x="502377" y="58613"/>
                  </a:lnTo>
                  <a:lnTo>
                    <a:pt x="557383" y="49737"/>
                  </a:lnTo>
                  <a:lnTo>
                    <a:pt x="614532" y="41506"/>
                  </a:lnTo>
                  <a:lnTo>
                    <a:pt x="673718" y="33944"/>
                  </a:lnTo>
                  <a:lnTo>
                    <a:pt x="734830" y="27077"/>
                  </a:lnTo>
                  <a:lnTo>
                    <a:pt x="797763" y="20927"/>
                  </a:lnTo>
                  <a:lnTo>
                    <a:pt x="862407" y="15519"/>
                  </a:lnTo>
                  <a:lnTo>
                    <a:pt x="928654" y="10877"/>
                  </a:lnTo>
                  <a:lnTo>
                    <a:pt x="996397" y="7025"/>
                  </a:lnTo>
                  <a:lnTo>
                    <a:pt x="1065527" y="3988"/>
                  </a:lnTo>
                  <a:lnTo>
                    <a:pt x="1135936" y="1788"/>
                  </a:lnTo>
                  <a:lnTo>
                    <a:pt x="1207516" y="451"/>
                  </a:lnTo>
                  <a:lnTo>
                    <a:pt x="1280159" y="0"/>
                  </a:lnTo>
                  <a:lnTo>
                    <a:pt x="1352803" y="451"/>
                  </a:lnTo>
                  <a:lnTo>
                    <a:pt x="1424383" y="1788"/>
                  </a:lnTo>
                  <a:lnTo>
                    <a:pt x="1494792" y="3988"/>
                  </a:lnTo>
                  <a:lnTo>
                    <a:pt x="1563922" y="7025"/>
                  </a:lnTo>
                  <a:lnTo>
                    <a:pt x="1631665" y="10877"/>
                  </a:lnTo>
                  <a:lnTo>
                    <a:pt x="1697912" y="15519"/>
                  </a:lnTo>
                  <a:lnTo>
                    <a:pt x="1762556" y="20927"/>
                  </a:lnTo>
                  <a:lnTo>
                    <a:pt x="1825489" y="27077"/>
                  </a:lnTo>
                  <a:lnTo>
                    <a:pt x="1886601" y="33944"/>
                  </a:lnTo>
                  <a:lnTo>
                    <a:pt x="1945787" y="41506"/>
                  </a:lnTo>
                  <a:lnTo>
                    <a:pt x="2002936" y="49737"/>
                  </a:lnTo>
                  <a:lnTo>
                    <a:pt x="2057942" y="58613"/>
                  </a:lnTo>
                  <a:lnTo>
                    <a:pt x="2110696" y="68112"/>
                  </a:lnTo>
                  <a:lnTo>
                    <a:pt x="2161090" y="78207"/>
                  </a:lnTo>
                  <a:lnTo>
                    <a:pt x="2209016" y="88877"/>
                  </a:lnTo>
                  <a:lnTo>
                    <a:pt x="2254365" y="100095"/>
                  </a:lnTo>
                  <a:lnTo>
                    <a:pt x="2297031" y="111839"/>
                  </a:lnTo>
                  <a:lnTo>
                    <a:pt x="2336905" y="124085"/>
                  </a:lnTo>
                  <a:lnTo>
                    <a:pt x="2373878" y="136807"/>
                  </a:lnTo>
                  <a:lnTo>
                    <a:pt x="2438691" y="163588"/>
                  </a:lnTo>
                  <a:lnTo>
                    <a:pt x="2490607" y="191989"/>
                  </a:lnTo>
                  <a:lnTo>
                    <a:pt x="2528760" y="221817"/>
                  </a:lnTo>
                  <a:lnTo>
                    <a:pt x="2552285" y="252881"/>
                  </a:lnTo>
                  <a:lnTo>
                    <a:pt x="2560319" y="284988"/>
                  </a:lnTo>
                  <a:close/>
                </a:path>
                <a:path extrusionOk="0" h="2280285" w="2560320">
                  <a:moveTo>
                    <a:pt x="2560319" y="284988"/>
                  </a:moveTo>
                  <a:lnTo>
                    <a:pt x="2560319" y="1994916"/>
                  </a:lnTo>
                  <a:lnTo>
                    <a:pt x="2558293" y="2011087"/>
                  </a:lnTo>
                  <a:lnTo>
                    <a:pt x="2528760" y="2058086"/>
                  </a:lnTo>
                  <a:lnTo>
                    <a:pt x="2490607" y="2087914"/>
                  </a:lnTo>
                  <a:lnTo>
                    <a:pt x="2438691" y="2116315"/>
                  </a:lnTo>
                  <a:lnTo>
                    <a:pt x="2373878" y="2143096"/>
                  </a:lnTo>
                  <a:lnTo>
                    <a:pt x="2336905" y="2155818"/>
                  </a:lnTo>
                  <a:lnTo>
                    <a:pt x="2297031" y="2168064"/>
                  </a:lnTo>
                  <a:lnTo>
                    <a:pt x="2254365" y="2179808"/>
                  </a:lnTo>
                  <a:lnTo>
                    <a:pt x="2209016" y="2191026"/>
                  </a:lnTo>
                  <a:lnTo>
                    <a:pt x="2161090" y="2201696"/>
                  </a:lnTo>
                  <a:lnTo>
                    <a:pt x="2110696" y="2211791"/>
                  </a:lnTo>
                  <a:lnTo>
                    <a:pt x="2057942" y="2221290"/>
                  </a:lnTo>
                  <a:lnTo>
                    <a:pt x="2002936" y="2230166"/>
                  </a:lnTo>
                  <a:lnTo>
                    <a:pt x="1945787" y="2238397"/>
                  </a:lnTo>
                  <a:lnTo>
                    <a:pt x="1886601" y="2245959"/>
                  </a:lnTo>
                  <a:lnTo>
                    <a:pt x="1825489" y="2252826"/>
                  </a:lnTo>
                  <a:lnTo>
                    <a:pt x="1762556" y="2258976"/>
                  </a:lnTo>
                  <a:lnTo>
                    <a:pt x="1697912" y="2264384"/>
                  </a:lnTo>
                  <a:lnTo>
                    <a:pt x="1631665" y="2269026"/>
                  </a:lnTo>
                  <a:lnTo>
                    <a:pt x="1563922" y="2272878"/>
                  </a:lnTo>
                  <a:lnTo>
                    <a:pt x="1494792" y="2275915"/>
                  </a:lnTo>
                  <a:lnTo>
                    <a:pt x="1424383" y="2278115"/>
                  </a:lnTo>
                  <a:lnTo>
                    <a:pt x="1352803" y="2279452"/>
                  </a:lnTo>
                  <a:lnTo>
                    <a:pt x="1280159" y="2279904"/>
                  </a:lnTo>
                  <a:lnTo>
                    <a:pt x="1207516" y="2279452"/>
                  </a:lnTo>
                  <a:lnTo>
                    <a:pt x="1135936" y="2278115"/>
                  </a:lnTo>
                  <a:lnTo>
                    <a:pt x="1065527" y="2275915"/>
                  </a:lnTo>
                  <a:lnTo>
                    <a:pt x="996397" y="2272878"/>
                  </a:lnTo>
                  <a:lnTo>
                    <a:pt x="928654" y="2269026"/>
                  </a:lnTo>
                  <a:lnTo>
                    <a:pt x="862407" y="2264384"/>
                  </a:lnTo>
                  <a:lnTo>
                    <a:pt x="797763" y="2258976"/>
                  </a:lnTo>
                  <a:lnTo>
                    <a:pt x="734830" y="2252826"/>
                  </a:lnTo>
                  <a:lnTo>
                    <a:pt x="673718" y="2245959"/>
                  </a:lnTo>
                  <a:lnTo>
                    <a:pt x="614532" y="2238397"/>
                  </a:lnTo>
                  <a:lnTo>
                    <a:pt x="557383" y="2230166"/>
                  </a:lnTo>
                  <a:lnTo>
                    <a:pt x="502377" y="2221290"/>
                  </a:lnTo>
                  <a:lnTo>
                    <a:pt x="449623" y="2211791"/>
                  </a:lnTo>
                  <a:lnTo>
                    <a:pt x="399229" y="2201696"/>
                  </a:lnTo>
                  <a:lnTo>
                    <a:pt x="351303" y="2191026"/>
                  </a:lnTo>
                  <a:lnTo>
                    <a:pt x="305954" y="2179808"/>
                  </a:lnTo>
                  <a:lnTo>
                    <a:pt x="263288" y="2168064"/>
                  </a:lnTo>
                  <a:lnTo>
                    <a:pt x="223414" y="2155818"/>
                  </a:lnTo>
                  <a:lnTo>
                    <a:pt x="186441" y="2143096"/>
                  </a:lnTo>
                  <a:lnTo>
                    <a:pt x="121628" y="2116315"/>
                  </a:lnTo>
                  <a:lnTo>
                    <a:pt x="69712" y="2087914"/>
                  </a:lnTo>
                  <a:lnTo>
                    <a:pt x="31559" y="2058086"/>
                  </a:lnTo>
                  <a:lnTo>
                    <a:pt x="8034" y="2027022"/>
                  </a:lnTo>
                  <a:lnTo>
                    <a:pt x="0" y="1994916"/>
                  </a:lnTo>
                  <a:lnTo>
                    <a:pt x="0" y="284988"/>
                  </a:lnTo>
                </a:path>
              </a:pathLst>
            </a:custGeom>
            <a:noFill/>
            <a:ln cap="flat" cmpd="sng" w="28950">
              <a:solidFill>
                <a:srgbClr val="4E3629"/>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grpSp>
      <p:sp>
        <p:nvSpPr>
          <p:cNvPr id="397" name="Google Shape;397;p41"/>
          <p:cNvSpPr txBox="1"/>
          <p:nvPr/>
        </p:nvSpPr>
        <p:spPr>
          <a:xfrm>
            <a:off x="4096606" y="4196694"/>
            <a:ext cx="1372870" cy="26924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1600">
                <a:solidFill>
                  <a:srgbClr val="4E3629"/>
                </a:solidFill>
                <a:latin typeface="Calibri"/>
                <a:ea typeface="Calibri"/>
                <a:cs typeface="Calibri"/>
                <a:sym typeface="Calibri"/>
              </a:rPr>
              <a:t>Oracle Database</a:t>
            </a:r>
            <a:endParaRPr sz="1600">
              <a:latin typeface="Calibri"/>
              <a:ea typeface="Calibri"/>
              <a:cs typeface="Calibri"/>
              <a:sym typeface="Calibri"/>
            </a:endParaRPr>
          </a:p>
        </p:txBody>
      </p:sp>
      <p:grpSp>
        <p:nvGrpSpPr>
          <p:cNvPr id="398" name="Google Shape;398;p41"/>
          <p:cNvGrpSpPr/>
          <p:nvPr/>
        </p:nvGrpSpPr>
        <p:grpSpPr>
          <a:xfrm>
            <a:off x="3944874" y="4807457"/>
            <a:ext cx="1644395" cy="1179957"/>
            <a:chOff x="3944874" y="4807457"/>
            <a:chExt cx="1644395" cy="1179957"/>
          </a:xfrm>
        </p:grpSpPr>
        <p:sp>
          <p:nvSpPr>
            <p:cNvPr id="399" name="Google Shape;399;p41"/>
            <p:cNvSpPr/>
            <p:nvPr/>
          </p:nvSpPr>
          <p:spPr>
            <a:xfrm>
              <a:off x="3944874" y="4807457"/>
              <a:ext cx="480059" cy="291465"/>
            </a:xfrm>
            <a:custGeom>
              <a:rect b="b" l="l" r="r" t="t"/>
              <a:pathLst>
                <a:path extrusionOk="0" h="291464" w="480060">
                  <a:moveTo>
                    <a:pt x="480060" y="0"/>
                  </a:moveTo>
                  <a:lnTo>
                    <a:pt x="0" y="0"/>
                  </a:lnTo>
                  <a:lnTo>
                    <a:pt x="0" y="291084"/>
                  </a:lnTo>
                  <a:lnTo>
                    <a:pt x="480060" y="291084"/>
                  </a:lnTo>
                  <a:lnTo>
                    <a:pt x="480060" y="0"/>
                  </a:lnTo>
                  <a:close/>
                </a:path>
              </a:pathLst>
            </a:custGeom>
            <a:solidFill>
              <a:srgbClr val="FFC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400" name="Google Shape;400;p41"/>
            <p:cNvSpPr/>
            <p:nvPr/>
          </p:nvSpPr>
          <p:spPr>
            <a:xfrm>
              <a:off x="3944874" y="4807457"/>
              <a:ext cx="480059" cy="291465"/>
            </a:xfrm>
            <a:custGeom>
              <a:rect b="b" l="l" r="r" t="t"/>
              <a:pathLst>
                <a:path extrusionOk="0" h="291464" w="480060">
                  <a:moveTo>
                    <a:pt x="0" y="0"/>
                  </a:moveTo>
                  <a:lnTo>
                    <a:pt x="480060" y="0"/>
                  </a:lnTo>
                  <a:lnTo>
                    <a:pt x="480060" y="291084"/>
                  </a:lnTo>
                  <a:lnTo>
                    <a:pt x="0" y="291084"/>
                  </a:lnTo>
                  <a:lnTo>
                    <a:pt x="0" y="0"/>
                  </a:lnTo>
                  <a:close/>
                </a:path>
              </a:pathLst>
            </a:custGeom>
            <a:noFill/>
            <a:ln cap="flat" cmpd="sng" w="28950">
              <a:solidFill>
                <a:srgbClr val="4E3629"/>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401" name="Google Shape;401;p41"/>
            <p:cNvSpPr/>
            <p:nvPr/>
          </p:nvSpPr>
          <p:spPr>
            <a:xfrm>
              <a:off x="3944874" y="5695949"/>
              <a:ext cx="480059" cy="291465"/>
            </a:xfrm>
            <a:custGeom>
              <a:rect b="b" l="l" r="r" t="t"/>
              <a:pathLst>
                <a:path extrusionOk="0" h="291464" w="480060">
                  <a:moveTo>
                    <a:pt x="480060" y="0"/>
                  </a:moveTo>
                  <a:lnTo>
                    <a:pt x="0" y="0"/>
                  </a:lnTo>
                  <a:lnTo>
                    <a:pt x="0" y="291084"/>
                  </a:lnTo>
                  <a:lnTo>
                    <a:pt x="480060" y="291084"/>
                  </a:lnTo>
                  <a:lnTo>
                    <a:pt x="480060" y="0"/>
                  </a:lnTo>
                  <a:close/>
                </a:path>
              </a:pathLst>
            </a:custGeom>
            <a:solidFill>
              <a:srgbClr val="FFC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402" name="Google Shape;402;p41"/>
            <p:cNvSpPr/>
            <p:nvPr/>
          </p:nvSpPr>
          <p:spPr>
            <a:xfrm>
              <a:off x="3944874" y="5695949"/>
              <a:ext cx="480059" cy="291465"/>
            </a:xfrm>
            <a:custGeom>
              <a:rect b="b" l="l" r="r" t="t"/>
              <a:pathLst>
                <a:path extrusionOk="0" h="291464" w="480060">
                  <a:moveTo>
                    <a:pt x="0" y="0"/>
                  </a:moveTo>
                  <a:lnTo>
                    <a:pt x="480060" y="0"/>
                  </a:lnTo>
                  <a:lnTo>
                    <a:pt x="480060" y="291084"/>
                  </a:lnTo>
                  <a:lnTo>
                    <a:pt x="0" y="291084"/>
                  </a:lnTo>
                  <a:lnTo>
                    <a:pt x="0" y="0"/>
                  </a:lnTo>
                  <a:close/>
                </a:path>
              </a:pathLst>
            </a:custGeom>
            <a:noFill/>
            <a:ln cap="flat" cmpd="sng" w="28950">
              <a:solidFill>
                <a:srgbClr val="4E3629"/>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403" name="Google Shape;403;p41"/>
            <p:cNvSpPr/>
            <p:nvPr/>
          </p:nvSpPr>
          <p:spPr>
            <a:xfrm>
              <a:off x="3944874" y="5257037"/>
              <a:ext cx="480059" cy="291465"/>
            </a:xfrm>
            <a:custGeom>
              <a:rect b="b" l="l" r="r" t="t"/>
              <a:pathLst>
                <a:path extrusionOk="0" h="291464" w="480060">
                  <a:moveTo>
                    <a:pt x="480060" y="0"/>
                  </a:moveTo>
                  <a:lnTo>
                    <a:pt x="0" y="0"/>
                  </a:lnTo>
                  <a:lnTo>
                    <a:pt x="0" y="291084"/>
                  </a:lnTo>
                  <a:lnTo>
                    <a:pt x="480060" y="291084"/>
                  </a:lnTo>
                  <a:lnTo>
                    <a:pt x="480060" y="0"/>
                  </a:lnTo>
                  <a:close/>
                </a:path>
              </a:pathLst>
            </a:custGeom>
            <a:solidFill>
              <a:srgbClr val="FFC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404" name="Google Shape;404;p41"/>
            <p:cNvSpPr/>
            <p:nvPr/>
          </p:nvSpPr>
          <p:spPr>
            <a:xfrm>
              <a:off x="3944874" y="5257037"/>
              <a:ext cx="480059" cy="291465"/>
            </a:xfrm>
            <a:custGeom>
              <a:rect b="b" l="l" r="r" t="t"/>
              <a:pathLst>
                <a:path extrusionOk="0" h="291464" w="480060">
                  <a:moveTo>
                    <a:pt x="0" y="0"/>
                  </a:moveTo>
                  <a:lnTo>
                    <a:pt x="480060" y="0"/>
                  </a:lnTo>
                  <a:lnTo>
                    <a:pt x="480060" y="291084"/>
                  </a:lnTo>
                  <a:lnTo>
                    <a:pt x="0" y="291084"/>
                  </a:lnTo>
                  <a:lnTo>
                    <a:pt x="0" y="0"/>
                  </a:lnTo>
                  <a:close/>
                </a:path>
              </a:pathLst>
            </a:custGeom>
            <a:noFill/>
            <a:ln cap="flat" cmpd="sng" w="28950">
              <a:solidFill>
                <a:srgbClr val="4E3629"/>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405" name="Google Shape;405;p41"/>
            <p:cNvSpPr/>
            <p:nvPr/>
          </p:nvSpPr>
          <p:spPr>
            <a:xfrm>
              <a:off x="5109210" y="4807457"/>
              <a:ext cx="480059" cy="291465"/>
            </a:xfrm>
            <a:custGeom>
              <a:rect b="b" l="l" r="r" t="t"/>
              <a:pathLst>
                <a:path extrusionOk="0" h="291464" w="480060">
                  <a:moveTo>
                    <a:pt x="480060" y="0"/>
                  </a:moveTo>
                  <a:lnTo>
                    <a:pt x="0" y="0"/>
                  </a:lnTo>
                  <a:lnTo>
                    <a:pt x="0" y="291084"/>
                  </a:lnTo>
                  <a:lnTo>
                    <a:pt x="480060" y="291084"/>
                  </a:lnTo>
                  <a:lnTo>
                    <a:pt x="480060" y="0"/>
                  </a:lnTo>
                  <a:close/>
                </a:path>
              </a:pathLst>
            </a:custGeom>
            <a:solidFill>
              <a:srgbClr val="4E3629"/>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406" name="Google Shape;406;p41"/>
            <p:cNvSpPr/>
            <p:nvPr/>
          </p:nvSpPr>
          <p:spPr>
            <a:xfrm>
              <a:off x="5109210" y="4807457"/>
              <a:ext cx="480059" cy="291465"/>
            </a:xfrm>
            <a:custGeom>
              <a:rect b="b" l="l" r="r" t="t"/>
              <a:pathLst>
                <a:path extrusionOk="0" h="291464" w="480060">
                  <a:moveTo>
                    <a:pt x="0" y="0"/>
                  </a:moveTo>
                  <a:lnTo>
                    <a:pt x="480060" y="0"/>
                  </a:lnTo>
                  <a:lnTo>
                    <a:pt x="480060" y="291084"/>
                  </a:lnTo>
                  <a:lnTo>
                    <a:pt x="0" y="291084"/>
                  </a:lnTo>
                  <a:lnTo>
                    <a:pt x="0" y="0"/>
                  </a:lnTo>
                  <a:close/>
                </a:path>
              </a:pathLst>
            </a:custGeom>
            <a:noFill/>
            <a:ln cap="flat" cmpd="sng" w="28950">
              <a:solidFill>
                <a:srgbClr val="4E3629"/>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407" name="Google Shape;407;p41"/>
            <p:cNvSpPr/>
            <p:nvPr/>
          </p:nvSpPr>
          <p:spPr>
            <a:xfrm>
              <a:off x="5109210" y="5247893"/>
              <a:ext cx="480059" cy="291465"/>
            </a:xfrm>
            <a:custGeom>
              <a:rect b="b" l="l" r="r" t="t"/>
              <a:pathLst>
                <a:path extrusionOk="0" h="291464" w="480060">
                  <a:moveTo>
                    <a:pt x="480060" y="0"/>
                  </a:moveTo>
                  <a:lnTo>
                    <a:pt x="0" y="0"/>
                  </a:lnTo>
                  <a:lnTo>
                    <a:pt x="0" y="291083"/>
                  </a:lnTo>
                  <a:lnTo>
                    <a:pt x="480060" y="291083"/>
                  </a:lnTo>
                  <a:lnTo>
                    <a:pt x="480060" y="0"/>
                  </a:lnTo>
                  <a:close/>
                </a:path>
              </a:pathLst>
            </a:custGeom>
            <a:solidFill>
              <a:srgbClr val="4E3629"/>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408" name="Google Shape;408;p41"/>
            <p:cNvSpPr/>
            <p:nvPr/>
          </p:nvSpPr>
          <p:spPr>
            <a:xfrm>
              <a:off x="5109210" y="5247893"/>
              <a:ext cx="480059" cy="291465"/>
            </a:xfrm>
            <a:custGeom>
              <a:rect b="b" l="l" r="r" t="t"/>
              <a:pathLst>
                <a:path extrusionOk="0" h="291464" w="480060">
                  <a:moveTo>
                    <a:pt x="0" y="0"/>
                  </a:moveTo>
                  <a:lnTo>
                    <a:pt x="480060" y="0"/>
                  </a:lnTo>
                  <a:lnTo>
                    <a:pt x="480060" y="291083"/>
                  </a:lnTo>
                  <a:lnTo>
                    <a:pt x="0" y="291083"/>
                  </a:lnTo>
                  <a:lnTo>
                    <a:pt x="0" y="0"/>
                  </a:lnTo>
                  <a:close/>
                </a:path>
              </a:pathLst>
            </a:custGeom>
            <a:noFill/>
            <a:ln cap="flat" cmpd="sng" w="28950">
              <a:solidFill>
                <a:srgbClr val="4E3629"/>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409" name="Google Shape;409;p41"/>
            <p:cNvSpPr/>
            <p:nvPr/>
          </p:nvSpPr>
          <p:spPr>
            <a:xfrm>
              <a:off x="5109210" y="5677661"/>
              <a:ext cx="480059" cy="291465"/>
            </a:xfrm>
            <a:custGeom>
              <a:rect b="b" l="l" r="r" t="t"/>
              <a:pathLst>
                <a:path extrusionOk="0" h="291464" w="480060">
                  <a:moveTo>
                    <a:pt x="480060" y="0"/>
                  </a:moveTo>
                  <a:lnTo>
                    <a:pt x="0" y="0"/>
                  </a:lnTo>
                  <a:lnTo>
                    <a:pt x="0" y="291084"/>
                  </a:lnTo>
                  <a:lnTo>
                    <a:pt x="480060" y="291084"/>
                  </a:lnTo>
                  <a:lnTo>
                    <a:pt x="480060" y="0"/>
                  </a:lnTo>
                  <a:close/>
                </a:path>
              </a:pathLst>
            </a:custGeom>
            <a:solidFill>
              <a:srgbClr val="4E3629"/>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410" name="Google Shape;410;p41"/>
            <p:cNvSpPr/>
            <p:nvPr/>
          </p:nvSpPr>
          <p:spPr>
            <a:xfrm>
              <a:off x="5109210" y="5677661"/>
              <a:ext cx="480059" cy="291465"/>
            </a:xfrm>
            <a:custGeom>
              <a:rect b="b" l="l" r="r" t="t"/>
              <a:pathLst>
                <a:path extrusionOk="0" h="291464" w="480060">
                  <a:moveTo>
                    <a:pt x="0" y="0"/>
                  </a:moveTo>
                  <a:lnTo>
                    <a:pt x="480060" y="0"/>
                  </a:lnTo>
                  <a:lnTo>
                    <a:pt x="480060" y="291084"/>
                  </a:lnTo>
                  <a:lnTo>
                    <a:pt x="0" y="291084"/>
                  </a:lnTo>
                  <a:lnTo>
                    <a:pt x="0" y="0"/>
                  </a:lnTo>
                  <a:close/>
                </a:path>
              </a:pathLst>
            </a:custGeom>
            <a:noFill/>
            <a:ln cap="flat" cmpd="sng" w="28950">
              <a:solidFill>
                <a:srgbClr val="4E3629"/>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grpSp>
      <p:sp>
        <p:nvSpPr>
          <p:cNvPr id="411" name="Google Shape;411;p41"/>
          <p:cNvSpPr txBox="1"/>
          <p:nvPr>
            <p:ph idx="10" type="dt"/>
          </p:nvPr>
        </p:nvSpPr>
        <p:spPr>
          <a:xfrm>
            <a:off x="2874191" y="6516395"/>
            <a:ext cx="834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13-1</a:t>
            </a:r>
            <a:endParaRPr/>
          </a:p>
          <a:p>
            <a:pPr indent="0" lvl="0" marL="12700" rtl="0" algn="l">
              <a:lnSpc>
                <a:spcPct val="120624"/>
              </a:lnSpc>
              <a:spcBef>
                <a:spcPts val="0"/>
              </a:spcBef>
              <a:spcAft>
                <a:spcPts val="0"/>
              </a:spcAft>
              <a:buNone/>
            </a:pPr>
            <a:r>
              <a:rPr lang="en-US"/>
              <a:t>Creación de tablas</a:t>
            </a:r>
            <a:endParaRPr/>
          </a:p>
        </p:txBody>
      </p:sp>
      <p:sp>
        <p:nvSpPr>
          <p:cNvPr id="412" name="Google Shape;412;p41"/>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413" name="Google Shape;413;p41"/>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42"/>
          <p:cNvSpPr txBox="1"/>
          <p:nvPr>
            <p:ph type="title"/>
          </p:nvPr>
        </p:nvSpPr>
        <p:spPr>
          <a:xfrm>
            <a:off x="392112" y="748031"/>
            <a:ext cx="2653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Data Dictionary</a:t>
            </a:r>
            <a:endParaRPr/>
          </a:p>
        </p:txBody>
      </p:sp>
      <p:grpSp>
        <p:nvGrpSpPr>
          <p:cNvPr id="419" name="Google Shape;419;p42"/>
          <p:cNvGrpSpPr/>
          <p:nvPr/>
        </p:nvGrpSpPr>
        <p:grpSpPr>
          <a:xfrm>
            <a:off x="3783329" y="4427983"/>
            <a:ext cx="2243455" cy="1893315"/>
            <a:chOff x="3783329" y="4427983"/>
            <a:chExt cx="2243455" cy="1893315"/>
          </a:xfrm>
        </p:grpSpPr>
        <p:sp>
          <p:nvSpPr>
            <p:cNvPr id="420" name="Google Shape;420;p42"/>
            <p:cNvSpPr/>
            <p:nvPr/>
          </p:nvSpPr>
          <p:spPr>
            <a:xfrm>
              <a:off x="3783329" y="4664584"/>
              <a:ext cx="2243455" cy="1656714"/>
            </a:xfrm>
            <a:custGeom>
              <a:rect b="b" l="l" r="r" t="t"/>
              <a:pathLst>
                <a:path extrusionOk="0" h="1656714" w="2243454">
                  <a:moveTo>
                    <a:pt x="2243328" y="0"/>
                  </a:moveTo>
                  <a:lnTo>
                    <a:pt x="2222298" y="45832"/>
                  </a:lnTo>
                  <a:lnTo>
                    <a:pt x="2186145" y="74783"/>
                  </a:lnTo>
                  <a:lnTo>
                    <a:pt x="2133663" y="102161"/>
                  </a:lnTo>
                  <a:lnTo>
                    <a:pt x="2066036" y="127717"/>
                  </a:lnTo>
                  <a:lnTo>
                    <a:pt x="2026912" y="139733"/>
                  </a:lnTo>
                  <a:lnTo>
                    <a:pt x="1984446" y="151199"/>
                  </a:lnTo>
                  <a:lnTo>
                    <a:pt x="1938784" y="162086"/>
                  </a:lnTo>
                  <a:lnTo>
                    <a:pt x="1890074" y="172360"/>
                  </a:lnTo>
                  <a:lnTo>
                    <a:pt x="1838466" y="181992"/>
                  </a:lnTo>
                  <a:lnTo>
                    <a:pt x="1784105" y="190950"/>
                  </a:lnTo>
                  <a:lnTo>
                    <a:pt x="1727140" y="199203"/>
                  </a:lnTo>
                  <a:lnTo>
                    <a:pt x="1667719" y="206719"/>
                  </a:lnTo>
                  <a:lnTo>
                    <a:pt x="1605990" y="213468"/>
                  </a:lnTo>
                  <a:lnTo>
                    <a:pt x="1542100" y="219418"/>
                  </a:lnTo>
                  <a:lnTo>
                    <a:pt x="1476197" y="224538"/>
                  </a:lnTo>
                  <a:lnTo>
                    <a:pt x="1408429" y="228798"/>
                  </a:lnTo>
                  <a:lnTo>
                    <a:pt x="1338944" y="232165"/>
                  </a:lnTo>
                  <a:lnTo>
                    <a:pt x="1267890" y="234608"/>
                  </a:lnTo>
                  <a:lnTo>
                    <a:pt x="1195414" y="236097"/>
                  </a:lnTo>
                  <a:lnTo>
                    <a:pt x="1121664" y="236601"/>
                  </a:lnTo>
                  <a:lnTo>
                    <a:pt x="1047913" y="236097"/>
                  </a:lnTo>
                  <a:lnTo>
                    <a:pt x="975437" y="234608"/>
                  </a:lnTo>
                  <a:lnTo>
                    <a:pt x="904383" y="232165"/>
                  </a:lnTo>
                  <a:lnTo>
                    <a:pt x="834898" y="228798"/>
                  </a:lnTo>
                  <a:lnTo>
                    <a:pt x="767130" y="224538"/>
                  </a:lnTo>
                  <a:lnTo>
                    <a:pt x="701227" y="219418"/>
                  </a:lnTo>
                  <a:lnTo>
                    <a:pt x="637337" y="213468"/>
                  </a:lnTo>
                  <a:lnTo>
                    <a:pt x="575608" y="206719"/>
                  </a:lnTo>
                  <a:lnTo>
                    <a:pt x="516187" y="199203"/>
                  </a:lnTo>
                  <a:lnTo>
                    <a:pt x="459222" y="190950"/>
                  </a:lnTo>
                  <a:lnTo>
                    <a:pt x="404861" y="181992"/>
                  </a:lnTo>
                  <a:lnTo>
                    <a:pt x="353253" y="172360"/>
                  </a:lnTo>
                  <a:lnTo>
                    <a:pt x="304543" y="162086"/>
                  </a:lnTo>
                  <a:lnTo>
                    <a:pt x="258881" y="151199"/>
                  </a:lnTo>
                  <a:lnTo>
                    <a:pt x="216415" y="139733"/>
                  </a:lnTo>
                  <a:lnTo>
                    <a:pt x="177291" y="127717"/>
                  </a:lnTo>
                  <a:lnTo>
                    <a:pt x="109664" y="102161"/>
                  </a:lnTo>
                  <a:lnTo>
                    <a:pt x="57182" y="74783"/>
                  </a:lnTo>
                  <a:lnTo>
                    <a:pt x="21029" y="45832"/>
                  </a:lnTo>
                  <a:lnTo>
                    <a:pt x="0" y="0"/>
                  </a:lnTo>
                  <a:lnTo>
                    <a:pt x="0" y="1419606"/>
                  </a:lnTo>
                  <a:lnTo>
                    <a:pt x="21029" y="1465438"/>
                  </a:lnTo>
                  <a:lnTo>
                    <a:pt x="57182" y="1494389"/>
                  </a:lnTo>
                  <a:lnTo>
                    <a:pt x="109664" y="1521767"/>
                  </a:lnTo>
                  <a:lnTo>
                    <a:pt x="177291" y="1547323"/>
                  </a:lnTo>
                  <a:lnTo>
                    <a:pt x="216415" y="1559339"/>
                  </a:lnTo>
                  <a:lnTo>
                    <a:pt x="258881" y="1570805"/>
                  </a:lnTo>
                  <a:lnTo>
                    <a:pt x="304543" y="1581692"/>
                  </a:lnTo>
                  <a:lnTo>
                    <a:pt x="353253" y="1591966"/>
                  </a:lnTo>
                  <a:lnTo>
                    <a:pt x="404861" y="1601598"/>
                  </a:lnTo>
                  <a:lnTo>
                    <a:pt x="459222" y="1610556"/>
                  </a:lnTo>
                  <a:lnTo>
                    <a:pt x="516187" y="1618809"/>
                  </a:lnTo>
                  <a:lnTo>
                    <a:pt x="575608" y="1626325"/>
                  </a:lnTo>
                  <a:lnTo>
                    <a:pt x="637337" y="1633074"/>
                  </a:lnTo>
                  <a:lnTo>
                    <a:pt x="701227" y="1639024"/>
                  </a:lnTo>
                  <a:lnTo>
                    <a:pt x="767130" y="1644144"/>
                  </a:lnTo>
                  <a:lnTo>
                    <a:pt x="834898" y="1648404"/>
                  </a:lnTo>
                  <a:lnTo>
                    <a:pt x="904383" y="1651771"/>
                  </a:lnTo>
                  <a:lnTo>
                    <a:pt x="975437" y="1654214"/>
                  </a:lnTo>
                  <a:lnTo>
                    <a:pt x="1047913" y="1655703"/>
                  </a:lnTo>
                  <a:lnTo>
                    <a:pt x="1121664" y="1656207"/>
                  </a:lnTo>
                  <a:lnTo>
                    <a:pt x="1195414" y="1655703"/>
                  </a:lnTo>
                  <a:lnTo>
                    <a:pt x="1267890" y="1654214"/>
                  </a:lnTo>
                  <a:lnTo>
                    <a:pt x="1338944" y="1651771"/>
                  </a:lnTo>
                  <a:lnTo>
                    <a:pt x="1408429" y="1648404"/>
                  </a:lnTo>
                  <a:lnTo>
                    <a:pt x="1476197" y="1644144"/>
                  </a:lnTo>
                  <a:lnTo>
                    <a:pt x="1542100" y="1639024"/>
                  </a:lnTo>
                  <a:lnTo>
                    <a:pt x="1605990" y="1633074"/>
                  </a:lnTo>
                  <a:lnTo>
                    <a:pt x="1667719" y="1626325"/>
                  </a:lnTo>
                  <a:lnTo>
                    <a:pt x="1727140" y="1618809"/>
                  </a:lnTo>
                  <a:lnTo>
                    <a:pt x="1784105" y="1610556"/>
                  </a:lnTo>
                  <a:lnTo>
                    <a:pt x="1838466" y="1601598"/>
                  </a:lnTo>
                  <a:lnTo>
                    <a:pt x="1890074" y="1591966"/>
                  </a:lnTo>
                  <a:lnTo>
                    <a:pt x="1938784" y="1581692"/>
                  </a:lnTo>
                  <a:lnTo>
                    <a:pt x="1984446" y="1570805"/>
                  </a:lnTo>
                  <a:lnTo>
                    <a:pt x="2026912" y="1559339"/>
                  </a:lnTo>
                  <a:lnTo>
                    <a:pt x="2066036" y="1547323"/>
                  </a:lnTo>
                  <a:lnTo>
                    <a:pt x="2133663" y="1521767"/>
                  </a:lnTo>
                  <a:lnTo>
                    <a:pt x="2186145" y="1494389"/>
                  </a:lnTo>
                  <a:lnTo>
                    <a:pt x="2222298" y="1465438"/>
                  </a:lnTo>
                  <a:lnTo>
                    <a:pt x="2243328" y="1419606"/>
                  </a:lnTo>
                  <a:lnTo>
                    <a:pt x="2243328" y="0"/>
                  </a:lnTo>
                  <a:close/>
                </a:path>
              </a:pathLst>
            </a:custGeom>
            <a:solidFill>
              <a:srgbClr val="C0C0C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421" name="Google Shape;421;p42"/>
            <p:cNvSpPr/>
            <p:nvPr/>
          </p:nvSpPr>
          <p:spPr>
            <a:xfrm>
              <a:off x="3783329" y="4427983"/>
              <a:ext cx="2243455" cy="473709"/>
            </a:xfrm>
            <a:custGeom>
              <a:rect b="b" l="l" r="r" t="t"/>
              <a:pathLst>
                <a:path extrusionOk="0" h="473710" w="2243454">
                  <a:moveTo>
                    <a:pt x="1121664" y="0"/>
                  </a:moveTo>
                  <a:lnTo>
                    <a:pt x="1047913" y="503"/>
                  </a:lnTo>
                  <a:lnTo>
                    <a:pt x="975437" y="1992"/>
                  </a:lnTo>
                  <a:lnTo>
                    <a:pt x="904383" y="4435"/>
                  </a:lnTo>
                  <a:lnTo>
                    <a:pt x="834898" y="7802"/>
                  </a:lnTo>
                  <a:lnTo>
                    <a:pt x="767130" y="12062"/>
                  </a:lnTo>
                  <a:lnTo>
                    <a:pt x="701227" y="17182"/>
                  </a:lnTo>
                  <a:lnTo>
                    <a:pt x="637337" y="23132"/>
                  </a:lnTo>
                  <a:lnTo>
                    <a:pt x="575608" y="29881"/>
                  </a:lnTo>
                  <a:lnTo>
                    <a:pt x="516187" y="37397"/>
                  </a:lnTo>
                  <a:lnTo>
                    <a:pt x="459222" y="45650"/>
                  </a:lnTo>
                  <a:lnTo>
                    <a:pt x="404861" y="54608"/>
                  </a:lnTo>
                  <a:lnTo>
                    <a:pt x="353253" y="64240"/>
                  </a:lnTo>
                  <a:lnTo>
                    <a:pt x="304543" y="74514"/>
                  </a:lnTo>
                  <a:lnTo>
                    <a:pt x="258881" y="85401"/>
                  </a:lnTo>
                  <a:lnTo>
                    <a:pt x="216415" y="96867"/>
                  </a:lnTo>
                  <a:lnTo>
                    <a:pt x="177291" y="108883"/>
                  </a:lnTo>
                  <a:lnTo>
                    <a:pt x="109664" y="134439"/>
                  </a:lnTo>
                  <a:lnTo>
                    <a:pt x="57182" y="161817"/>
                  </a:lnTo>
                  <a:lnTo>
                    <a:pt x="21029" y="190768"/>
                  </a:lnTo>
                  <a:lnTo>
                    <a:pt x="0" y="236600"/>
                  </a:lnTo>
                  <a:lnTo>
                    <a:pt x="2385" y="252157"/>
                  </a:lnTo>
                  <a:lnTo>
                    <a:pt x="36991" y="297090"/>
                  </a:lnTo>
                  <a:lnTo>
                    <a:pt x="81456" y="325286"/>
                  </a:lnTo>
                  <a:lnTo>
                    <a:pt x="141658" y="351784"/>
                  </a:lnTo>
                  <a:lnTo>
                    <a:pt x="216415" y="376334"/>
                  </a:lnTo>
                  <a:lnTo>
                    <a:pt x="258881" y="387800"/>
                  </a:lnTo>
                  <a:lnTo>
                    <a:pt x="304543" y="398687"/>
                  </a:lnTo>
                  <a:lnTo>
                    <a:pt x="353253" y="408961"/>
                  </a:lnTo>
                  <a:lnTo>
                    <a:pt x="404861" y="418593"/>
                  </a:lnTo>
                  <a:lnTo>
                    <a:pt x="459222" y="427551"/>
                  </a:lnTo>
                  <a:lnTo>
                    <a:pt x="516187" y="435804"/>
                  </a:lnTo>
                  <a:lnTo>
                    <a:pt x="575608" y="443320"/>
                  </a:lnTo>
                  <a:lnTo>
                    <a:pt x="637337" y="450069"/>
                  </a:lnTo>
                  <a:lnTo>
                    <a:pt x="701227" y="456019"/>
                  </a:lnTo>
                  <a:lnTo>
                    <a:pt x="767130" y="461139"/>
                  </a:lnTo>
                  <a:lnTo>
                    <a:pt x="834898" y="465399"/>
                  </a:lnTo>
                  <a:lnTo>
                    <a:pt x="904383" y="468766"/>
                  </a:lnTo>
                  <a:lnTo>
                    <a:pt x="975437" y="471209"/>
                  </a:lnTo>
                  <a:lnTo>
                    <a:pt x="1047913" y="472698"/>
                  </a:lnTo>
                  <a:lnTo>
                    <a:pt x="1121664" y="473201"/>
                  </a:lnTo>
                  <a:lnTo>
                    <a:pt x="1195414" y="472698"/>
                  </a:lnTo>
                  <a:lnTo>
                    <a:pt x="1267890" y="471209"/>
                  </a:lnTo>
                  <a:lnTo>
                    <a:pt x="1338944" y="468766"/>
                  </a:lnTo>
                  <a:lnTo>
                    <a:pt x="1408429" y="465399"/>
                  </a:lnTo>
                  <a:lnTo>
                    <a:pt x="1476197" y="461139"/>
                  </a:lnTo>
                  <a:lnTo>
                    <a:pt x="1542100" y="456019"/>
                  </a:lnTo>
                  <a:lnTo>
                    <a:pt x="1605990" y="450069"/>
                  </a:lnTo>
                  <a:lnTo>
                    <a:pt x="1667719" y="443320"/>
                  </a:lnTo>
                  <a:lnTo>
                    <a:pt x="1727140" y="435804"/>
                  </a:lnTo>
                  <a:lnTo>
                    <a:pt x="1784105" y="427551"/>
                  </a:lnTo>
                  <a:lnTo>
                    <a:pt x="1838466" y="418593"/>
                  </a:lnTo>
                  <a:lnTo>
                    <a:pt x="1890074" y="408961"/>
                  </a:lnTo>
                  <a:lnTo>
                    <a:pt x="1938784" y="398687"/>
                  </a:lnTo>
                  <a:lnTo>
                    <a:pt x="1984446" y="387800"/>
                  </a:lnTo>
                  <a:lnTo>
                    <a:pt x="2026912" y="376334"/>
                  </a:lnTo>
                  <a:lnTo>
                    <a:pt x="2066036" y="364318"/>
                  </a:lnTo>
                  <a:lnTo>
                    <a:pt x="2133663" y="338762"/>
                  </a:lnTo>
                  <a:lnTo>
                    <a:pt x="2186145" y="311384"/>
                  </a:lnTo>
                  <a:lnTo>
                    <a:pt x="2222298" y="282433"/>
                  </a:lnTo>
                  <a:lnTo>
                    <a:pt x="2243328" y="236600"/>
                  </a:lnTo>
                  <a:lnTo>
                    <a:pt x="2240942" y="221044"/>
                  </a:lnTo>
                  <a:lnTo>
                    <a:pt x="2206336" y="176111"/>
                  </a:lnTo>
                  <a:lnTo>
                    <a:pt x="2161871" y="147915"/>
                  </a:lnTo>
                  <a:lnTo>
                    <a:pt x="2101669" y="121417"/>
                  </a:lnTo>
                  <a:lnTo>
                    <a:pt x="2026912" y="96867"/>
                  </a:lnTo>
                  <a:lnTo>
                    <a:pt x="1984446" y="85401"/>
                  </a:lnTo>
                  <a:lnTo>
                    <a:pt x="1938784" y="74514"/>
                  </a:lnTo>
                  <a:lnTo>
                    <a:pt x="1890074" y="64240"/>
                  </a:lnTo>
                  <a:lnTo>
                    <a:pt x="1838466" y="54608"/>
                  </a:lnTo>
                  <a:lnTo>
                    <a:pt x="1784105" y="45650"/>
                  </a:lnTo>
                  <a:lnTo>
                    <a:pt x="1727140" y="37397"/>
                  </a:lnTo>
                  <a:lnTo>
                    <a:pt x="1667719" y="29881"/>
                  </a:lnTo>
                  <a:lnTo>
                    <a:pt x="1605990" y="23132"/>
                  </a:lnTo>
                  <a:lnTo>
                    <a:pt x="1542100" y="17182"/>
                  </a:lnTo>
                  <a:lnTo>
                    <a:pt x="1476197" y="12062"/>
                  </a:lnTo>
                  <a:lnTo>
                    <a:pt x="1408429" y="7802"/>
                  </a:lnTo>
                  <a:lnTo>
                    <a:pt x="1338944" y="4435"/>
                  </a:lnTo>
                  <a:lnTo>
                    <a:pt x="1267890" y="1992"/>
                  </a:lnTo>
                  <a:lnTo>
                    <a:pt x="1195414" y="503"/>
                  </a:lnTo>
                  <a:lnTo>
                    <a:pt x="1121664" y="0"/>
                  </a:lnTo>
                  <a:close/>
                </a:path>
              </a:pathLst>
            </a:custGeom>
            <a:solidFill>
              <a:srgbClr val="DADADA"/>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422" name="Google Shape;422;p42"/>
            <p:cNvSpPr/>
            <p:nvPr/>
          </p:nvSpPr>
          <p:spPr>
            <a:xfrm>
              <a:off x="3783329" y="4427983"/>
              <a:ext cx="2243455" cy="1892935"/>
            </a:xfrm>
            <a:custGeom>
              <a:rect b="b" l="l" r="r" t="t"/>
              <a:pathLst>
                <a:path extrusionOk="0" h="1892935" w="2243454">
                  <a:moveTo>
                    <a:pt x="2243328" y="236600"/>
                  </a:moveTo>
                  <a:lnTo>
                    <a:pt x="2222298" y="282433"/>
                  </a:lnTo>
                  <a:lnTo>
                    <a:pt x="2186145" y="311384"/>
                  </a:lnTo>
                  <a:lnTo>
                    <a:pt x="2133663" y="338762"/>
                  </a:lnTo>
                  <a:lnTo>
                    <a:pt x="2066036" y="364318"/>
                  </a:lnTo>
                  <a:lnTo>
                    <a:pt x="2026912" y="376334"/>
                  </a:lnTo>
                  <a:lnTo>
                    <a:pt x="1984446" y="387800"/>
                  </a:lnTo>
                  <a:lnTo>
                    <a:pt x="1938784" y="398687"/>
                  </a:lnTo>
                  <a:lnTo>
                    <a:pt x="1890074" y="408961"/>
                  </a:lnTo>
                  <a:lnTo>
                    <a:pt x="1838466" y="418593"/>
                  </a:lnTo>
                  <a:lnTo>
                    <a:pt x="1784105" y="427551"/>
                  </a:lnTo>
                  <a:lnTo>
                    <a:pt x="1727140" y="435804"/>
                  </a:lnTo>
                  <a:lnTo>
                    <a:pt x="1667719" y="443320"/>
                  </a:lnTo>
                  <a:lnTo>
                    <a:pt x="1605990" y="450069"/>
                  </a:lnTo>
                  <a:lnTo>
                    <a:pt x="1542100" y="456019"/>
                  </a:lnTo>
                  <a:lnTo>
                    <a:pt x="1476197" y="461139"/>
                  </a:lnTo>
                  <a:lnTo>
                    <a:pt x="1408429" y="465399"/>
                  </a:lnTo>
                  <a:lnTo>
                    <a:pt x="1338944" y="468766"/>
                  </a:lnTo>
                  <a:lnTo>
                    <a:pt x="1267890" y="471209"/>
                  </a:lnTo>
                  <a:lnTo>
                    <a:pt x="1195414" y="472698"/>
                  </a:lnTo>
                  <a:lnTo>
                    <a:pt x="1121664" y="473201"/>
                  </a:lnTo>
                  <a:lnTo>
                    <a:pt x="1047913" y="472698"/>
                  </a:lnTo>
                  <a:lnTo>
                    <a:pt x="975437" y="471209"/>
                  </a:lnTo>
                  <a:lnTo>
                    <a:pt x="904383" y="468766"/>
                  </a:lnTo>
                  <a:lnTo>
                    <a:pt x="834898" y="465399"/>
                  </a:lnTo>
                  <a:lnTo>
                    <a:pt x="767130" y="461139"/>
                  </a:lnTo>
                  <a:lnTo>
                    <a:pt x="701227" y="456019"/>
                  </a:lnTo>
                  <a:lnTo>
                    <a:pt x="637337" y="450069"/>
                  </a:lnTo>
                  <a:lnTo>
                    <a:pt x="575608" y="443320"/>
                  </a:lnTo>
                  <a:lnTo>
                    <a:pt x="516187" y="435804"/>
                  </a:lnTo>
                  <a:lnTo>
                    <a:pt x="459222" y="427551"/>
                  </a:lnTo>
                  <a:lnTo>
                    <a:pt x="404861" y="418593"/>
                  </a:lnTo>
                  <a:lnTo>
                    <a:pt x="353253" y="408961"/>
                  </a:lnTo>
                  <a:lnTo>
                    <a:pt x="304543" y="398687"/>
                  </a:lnTo>
                  <a:lnTo>
                    <a:pt x="258881" y="387800"/>
                  </a:lnTo>
                  <a:lnTo>
                    <a:pt x="216415" y="376334"/>
                  </a:lnTo>
                  <a:lnTo>
                    <a:pt x="177291" y="364318"/>
                  </a:lnTo>
                  <a:lnTo>
                    <a:pt x="109664" y="338762"/>
                  </a:lnTo>
                  <a:lnTo>
                    <a:pt x="57182" y="311384"/>
                  </a:lnTo>
                  <a:lnTo>
                    <a:pt x="21029" y="282433"/>
                  </a:lnTo>
                  <a:lnTo>
                    <a:pt x="0" y="236600"/>
                  </a:lnTo>
                  <a:lnTo>
                    <a:pt x="2385" y="221044"/>
                  </a:lnTo>
                  <a:lnTo>
                    <a:pt x="36991" y="176111"/>
                  </a:lnTo>
                  <a:lnTo>
                    <a:pt x="81456" y="147915"/>
                  </a:lnTo>
                  <a:lnTo>
                    <a:pt x="141658" y="121417"/>
                  </a:lnTo>
                  <a:lnTo>
                    <a:pt x="216415" y="96867"/>
                  </a:lnTo>
                  <a:lnTo>
                    <a:pt x="258881" y="85401"/>
                  </a:lnTo>
                  <a:lnTo>
                    <a:pt x="304543" y="74514"/>
                  </a:lnTo>
                  <a:lnTo>
                    <a:pt x="353253" y="64240"/>
                  </a:lnTo>
                  <a:lnTo>
                    <a:pt x="404861" y="54608"/>
                  </a:lnTo>
                  <a:lnTo>
                    <a:pt x="459222" y="45650"/>
                  </a:lnTo>
                  <a:lnTo>
                    <a:pt x="516187" y="37397"/>
                  </a:lnTo>
                  <a:lnTo>
                    <a:pt x="575608" y="29881"/>
                  </a:lnTo>
                  <a:lnTo>
                    <a:pt x="637337" y="23132"/>
                  </a:lnTo>
                  <a:lnTo>
                    <a:pt x="701227" y="17182"/>
                  </a:lnTo>
                  <a:lnTo>
                    <a:pt x="767130" y="12062"/>
                  </a:lnTo>
                  <a:lnTo>
                    <a:pt x="834898" y="7802"/>
                  </a:lnTo>
                  <a:lnTo>
                    <a:pt x="904383" y="4435"/>
                  </a:lnTo>
                  <a:lnTo>
                    <a:pt x="975437" y="1992"/>
                  </a:lnTo>
                  <a:lnTo>
                    <a:pt x="1047913" y="503"/>
                  </a:lnTo>
                  <a:lnTo>
                    <a:pt x="1121664" y="0"/>
                  </a:lnTo>
                  <a:lnTo>
                    <a:pt x="1195414" y="503"/>
                  </a:lnTo>
                  <a:lnTo>
                    <a:pt x="1267890" y="1992"/>
                  </a:lnTo>
                  <a:lnTo>
                    <a:pt x="1338944" y="4435"/>
                  </a:lnTo>
                  <a:lnTo>
                    <a:pt x="1408429" y="7802"/>
                  </a:lnTo>
                  <a:lnTo>
                    <a:pt x="1476197" y="12062"/>
                  </a:lnTo>
                  <a:lnTo>
                    <a:pt x="1542100" y="17182"/>
                  </a:lnTo>
                  <a:lnTo>
                    <a:pt x="1605990" y="23132"/>
                  </a:lnTo>
                  <a:lnTo>
                    <a:pt x="1667719" y="29881"/>
                  </a:lnTo>
                  <a:lnTo>
                    <a:pt x="1727140" y="37397"/>
                  </a:lnTo>
                  <a:lnTo>
                    <a:pt x="1784105" y="45650"/>
                  </a:lnTo>
                  <a:lnTo>
                    <a:pt x="1838466" y="54608"/>
                  </a:lnTo>
                  <a:lnTo>
                    <a:pt x="1890074" y="64240"/>
                  </a:lnTo>
                  <a:lnTo>
                    <a:pt x="1938784" y="74514"/>
                  </a:lnTo>
                  <a:lnTo>
                    <a:pt x="1984446" y="85401"/>
                  </a:lnTo>
                  <a:lnTo>
                    <a:pt x="2026912" y="96867"/>
                  </a:lnTo>
                  <a:lnTo>
                    <a:pt x="2066036" y="108883"/>
                  </a:lnTo>
                  <a:lnTo>
                    <a:pt x="2133663" y="134439"/>
                  </a:lnTo>
                  <a:lnTo>
                    <a:pt x="2186145" y="161817"/>
                  </a:lnTo>
                  <a:lnTo>
                    <a:pt x="2222298" y="190768"/>
                  </a:lnTo>
                  <a:lnTo>
                    <a:pt x="2243328" y="236600"/>
                  </a:lnTo>
                  <a:close/>
                </a:path>
                <a:path extrusionOk="0" h="1892935" w="2243454">
                  <a:moveTo>
                    <a:pt x="2243328" y="236600"/>
                  </a:moveTo>
                  <a:lnTo>
                    <a:pt x="2243328" y="1656207"/>
                  </a:lnTo>
                  <a:lnTo>
                    <a:pt x="2240942" y="1671763"/>
                  </a:lnTo>
                  <a:lnTo>
                    <a:pt x="2206336" y="1716696"/>
                  </a:lnTo>
                  <a:lnTo>
                    <a:pt x="2161871" y="1744892"/>
                  </a:lnTo>
                  <a:lnTo>
                    <a:pt x="2101669" y="1771390"/>
                  </a:lnTo>
                  <a:lnTo>
                    <a:pt x="2026912" y="1795940"/>
                  </a:lnTo>
                  <a:lnTo>
                    <a:pt x="1984446" y="1807406"/>
                  </a:lnTo>
                  <a:lnTo>
                    <a:pt x="1938784" y="1818293"/>
                  </a:lnTo>
                  <a:lnTo>
                    <a:pt x="1890074" y="1828567"/>
                  </a:lnTo>
                  <a:lnTo>
                    <a:pt x="1838466" y="1838199"/>
                  </a:lnTo>
                  <a:lnTo>
                    <a:pt x="1784105" y="1847157"/>
                  </a:lnTo>
                  <a:lnTo>
                    <a:pt x="1727140" y="1855410"/>
                  </a:lnTo>
                  <a:lnTo>
                    <a:pt x="1667719" y="1862926"/>
                  </a:lnTo>
                  <a:lnTo>
                    <a:pt x="1605990" y="1869675"/>
                  </a:lnTo>
                  <a:lnTo>
                    <a:pt x="1542100" y="1875625"/>
                  </a:lnTo>
                  <a:lnTo>
                    <a:pt x="1476197" y="1880745"/>
                  </a:lnTo>
                  <a:lnTo>
                    <a:pt x="1408429" y="1885005"/>
                  </a:lnTo>
                  <a:lnTo>
                    <a:pt x="1338944" y="1888372"/>
                  </a:lnTo>
                  <a:lnTo>
                    <a:pt x="1267890" y="1890815"/>
                  </a:lnTo>
                  <a:lnTo>
                    <a:pt x="1195414" y="1892304"/>
                  </a:lnTo>
                  <a:lnTo>
                    <a:pt x="1121664" y="1892808"/>
                  </a:lnTo>
                  <a:lnTo>
                    <a:pt x="1047913" y="1892304"/>
                  </a:lnTo>
                  <a:lnTo>
                    <a:pt x="975437" y="1890815"/>
                  </a:lnTo>
                  <a:lnTo>
                    <a:pt x="904383" y="1888372"/>
                  </a:lnTo>
                  <a:lnTo>
                    <a:pt x="834898" y="1885005"/>
                  </a:lnTo>
                  <a:lnTo>
                    <a:pt x="767130" y="1880745"/>
                  </a:lnTo>
                  <a:lnTo>
                    <a:pt x="701227" y="1875625"/>
                  </a:lnTo>
                  <a:lnTo>
                    <a:pt x="637337" y="1869675"/>
                  </a:lnTo>
                  <a:lnTo>
                    <a:pt x="575608" y="1862926"/>
                  </a:lnTo>
                  <a:lnTo>
                    <a:pt x="516187" y="1855410"/>
                  </a:lnTo>
                  <a:lnTo>
                    <a:pt x="459222" y="1847157"/>
                  </a:lnTo>
                  <a:lnTo>
                    <a:pt x="404861" y="1838199"/>
                  </a:lnTo>
                  <a:lnTo>
                    <a:pt x="353253" y="1828567"/>
                  </a:lnTo>
                  <a:lnTo>
                    <a:pt x="304543" y="1818293"/>
                  </a:lnTo>
                  <a:lnTo>
                    <a:pt x="258881" y="1807406"/>
                  </a:lnTo>
                  <a:lnTo>
                    <a:pt x="216415" y="1795940"/>
                  </a:lnTo>
                  <a:lnTo>
                    <a:pt x="177291" y="1783924"/>
                  </a:lnTo>
                  <a:lnTo>
                    <a:pt x="109664" y="1758368"/>
                  </a:lnTo>
                  <a:lnTo>
                    <a:pt x="57182" y="1730990"/>
                  </a:lnTo>
                  <a:lnTo>
                    <a:pt x="21029" y="1702039"/>
                  </a:lnTo>
                  <a:lnTo>
                    <a:pt x="0" y="1656207"/>
                  </a:lnTo>
                  <a:lnTo>
                    <a:pt x="0" y="236600"/>
                  </a:lnTo>
                </a:path>
              </a:pathLst>
            </a:custGeom>
            <a:noFill/>
            <a:ln cap="flat" cmpd="sng" w="28950">
              <a:solidFill>
                <a:srgbClr val="4E3629"/>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grpSp>
      <p:sp>
        <p:nvSpPr>
          <p:cNvPr id="423" name="Google Shape;423;p42"/>
          <p:cNvSpPr txBox="1"/>
          <p:nvPr/>
        </p:nvSpPr>
        <p:spPr>
          <a:xfrm>
            <a:off x="483552" y="1415417"/>
            <a:ext cx="8093075" cy="3394075"/>
          </a:xfrm>
          <a:prstGeom prst="rect">
            <a:avLst/>
          </a:prstGeom>
          <a:noFill/>
          <a:ln>
            <a:noFill/>
          </a:ln>
        </p:spPr>
        <p:txBody>
          <a:bodyPr anchorCtr="0" anchor="t" bIns="0" lIns="0" spcFirstLastPara="1" rIns="0" wrap="square" tIns="59675">
            <a:spAutoFit/>
          </a:bodyPr>
          <a:lstStyle/>
          <a:p>
            <a:pPr indent="-177800" lvl="0" marL="184785" marR="5080" rtl="0" algn="just">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Las tablas de diccionario de datos son propiedad de un  usuario de Oracle especial llamado SYS y solo se deben  utilizar sentencias SELECT al trabajar con cualquiera de  estas tablas</a:t>
            </a:r>
            <a:endParaRPr sz="2800">
              <a:latin typeface="Calibri"/>
              <a:ea typeface="Calibri"/>
              <a:cs typeface="Calibri"/>
              <a:sym typeface="Calibri"/>
            </a:endParaRPr>
          </a:p>
          <a:p>
            <a:pPr indent="-177800" lvl="0" marL="184785" marR="29209" rtl="0" algn="l">
              <a:lnSpc>
                <a:spcPct val="108214"/>
              </a:lnSpc>
              <a:spcBef>
                <a:spcPts val="78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Para proteger a estas tablas del acceso accidental de  usuario, todas tienen vistas creadas a través de las que  los usuarios de la base de datos acceden al diccionario  de datos</a:t>
            </a:r>
            <a:endParaRPr sz="2800">
              <a:latin typeface="Calibri"/>
              <a:ea typeface="Calibri"/>
              <a:cs typeface="Calibri"/>
              <a:sym typeface="Calibri"/>
            </a:endParaRPr>
          </a:p>
          <a:p>
            <a:pPr indent="0" lvl="0" marL="902969" marR="0" rtl="0" algn="ctr">
              <a:lnSpc>
                <a:spcPct val="70937"/>
              </a:lnSpc>
              <a:spcBef>
                <a:spcPts val="0"/>
              </a:spcBef>
              <a:spcAft>
                <a:spcPts val="0"/>
              </a:spcAft>
              <a:buNone/>
            </a:pPr>
            <a:r>
              <a:rPr b="1" lang="en-US" sz="1600">
                <a:solidFill>
                  <a:srgbClr val="4E3629"/>
                </a:solidFill>
                <a:latin typeface="Calibri"/>
                <a:ea typeface="Calibri"/>
                <a:cs typeface="Calibri"/>
                <a:sym typeface="Calibri"/>
              </a:rPr>
              <a:t>Oracle Database</a:t>
            </a:r>
            <a:endParaRPr sz="1600">
              <a:latin typeface="Calibri"/>
              <a:ea typeface="Calibri"/>
              <a:cs typeface="Calibri"/>
              <a:sym typeface="Calibri"/>
            </a:endParaRPr>
          </a:p>
        </p:txBody>
      </p:sp>
      <p:grpSp>
        <p:nvGrpSpPr>
          <p:cNvPr id="424" name="Google Shape;424;p42"/>
          <p:cNvGrpSpPr/>
          <p:nvPr/>
        </p:nvGrpSpPr>
        <p:grpSpPr>
          <a:xfrm>
            <a:off x="4202430" y="5065013"/>
            <a:ext cx="1440561" cy="978916"/>
            <a:chOff x="4202430" y="5065013"/>
            <a:chExt cx="1440561" cy="978916"/>
          </a:xfrm>
        </p:grpSpPr>
        <p:sp>
          <p:nvSpPr>
            <p:cNvPr id="425" name="Google Shape;425;p42"/>
            <p:cNvSpPr/>
            <p:nvPr/>
          </p:nvSpPr>
          <p:spPr>
            <a:xfrm>
              <a:off x="4202430" y="5065013"/>
              <a:ext cx="421005" cy="242570"/>
            </a:xfrm>
            <a:custGeom>
              <a:rect b="b" l="l" r="r" t="t"/>
              <a:pathLst>
                <a:path extrusionOk="0" h="242570" w="421004">
                  <a:moveTo>
                    <a:pt x="420624" y="0"/>
                  </a:moveTo>
                  <a:lnTo>
                    <a:pt x="0" y="0"/>
                  </a:lnTo>
                  <a:lnTo>
                    <a:pt x="0" y="242315"/>
                  </a:lnTo>
                  <a:lnTo>
                    <a:pt x="420624" y="242315"/>
                  </a:lnTo>
                  <a:lnTo>
                    <a:pt x="420624" y="0"/>
                  </a:lnTo>
                  <a:close/>
                </a:path>
              </a:pathLst>
            </a:custGeom>
            <a:solidFill>
              <a:srgbClr val="FFC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426" name="Google Shape;426;p42"/>
            <p:cNvSpPr/>
            <p:nvPr/>
          </p:nvSpPr>
          <p:spPr>
            <a:xfrm>
              <a:off x="4202430" y="5065013"/>
              <a:ext cx="421005" cy="242570"/>
            </a:xfrm>
            <a:custGeom>
              <a:rect b="b" l="l" r="r" t="t"/>
              <a:pathLst>
                <a:path extrusionOk="0" h="242570" w="421004">
                  <a:moveTo>
                    <a:pt x="0" y="0"/>
                  </a:moveTo>
                  <a:lnTo>
                    <a:pt x="420624" y="0"/>
                  </a:lnTo>
                  <a:lnTo>
                    <a:pt x="420624" y="242315"/>
                  </a:lnTo>
                  <a:lnTo>
                    <a:pt x="0" y="242315"/>
                  </a:lnTo>
                  <a:lnTo>
                    <a:pt x="0" y="0"/>
                  </a:lnTo>
                  <a:close/>
                </a:path>
              </a:pathLst>
            </a:custGeom>
            <a:noFill/>
            <a:ln cap="flat" cmpd="sng" w="28950">
              <a:solidFill>
                <a:srgbClr val="4E3629"/>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427" name="Google Shape;427;p42"/>
            <p:cNvSpPr/>
            <p:nvPr/>
          </p:nvSpPr>
          <p:spPr>
            <a:xfrm>
              <a:off x="4202430" y="5802629"/>
              <a:ext cx="421005" cy="241300"/>
            </a:xfrm>
            <a:custGeom>
              <a:rect b="b" l="l" r="r" t="t"/>
              <a:pathLst>
                <a:path extrusionOk="0" h="241300" w="421004">
                  <a:moveTo>
                    <a:pt x="420624" y="0"/>
                  </a:moveTo>
                  <a:lnTo>
                    <a:pt x="0" y="0"/>
                  </a:lnTo>
                  <a:lnTo>
                    <a:pt x="0" y="240792"/>
                  </a:lnTo>
                  <a:lnTo>
                    <a:pt x="420624" y="240792"/>
                  </a:lnTo>
                  <a:lnTo>
                    <a:pt x="420624" y="0"/>
                  </a:lnTo>
                  <a:close/>
                </a:path>
              </a:pathLst>
            </a:custGeom>
            <a:solidFill>
              <a:srgbClr val="FFC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428" name="Google Shape;428;p42"/>
            <p:cNvSpPr/>
            <p:nvPr/>
          </p:nvSpPr>
          <p:spPr>
            <a:xfrm>
              <a:off x="4202430" y="5802629"/>
              <a:ext cx="421005" cy="241300"/>
            </a:xfrm>
            <a:custGeom>
              <a:rect b="b" l="l" r="r" t="t"/>
              <a:pathLst>
                <a:path extrusionOk="0" h="241300" w="421004">
                  <a:moveTo>
                    <a:pt x="0" y="0"/>
                  </a:moveTo>
                  <a:lnTo>
                    <a:pt x="420624" y="0"/>
                  </a:lnTo>
                  <a:lnTo>
                    <a:pt x="420624" y="240792"/>
                  </a:lnTo>
                  <a:lnTo>
                    <a:pt x="0" y="240792"/>
                  </a:lnTo>
                  <a:lnTo>
                    <a:pt x="0" y="0"/>
                  </a:lnTo>
                  <a:close/>
                </a:path>
              </a:pathLst>
            </a:custGeom>
            <a:noFill/>
            <a:ln cap="flat" cmpd="sng" w="28950">
              <a:solidFill>
                <a:srgbClr val="4E3629"/>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429" name="Google Shape;429;p42"/>
            <p:cNvSpPr/>
            <p:nvPr/>
          </p:nvSpPr>
          <p:spPr>
            <a:xfrm>
              <a:off x="4202430" y="5438393"/>
              <a:ext cx="421005" cy="241300"/>
            </a:xfrm>
            <a:custGeom>
              <a:rect b="b" l="l" r="r" t="t"/>
              <a:pathLst>
                <a:path extrusionOk="0" h="241300" w="421004">
                  <a:moveTo>
                    <a:pt x="420624" y="0"/>
                  </a:moveTo>
                  <a:lnTo>
                    <a:pt x="0" y="0"/>
                  </a:lnTo>
                  <a:lnTo>
                    <a:pt x="0" y="240791"/>
                  </a:lnTo>
                  <a:lnTo>
                    <a:pt x="420624" y="240791"/>
                  </a:lnTo>
                  <a:lnTo>
                    <a:pt x="420624" y="0"/>
                  </a:lnTo>
                  <a:close/>
                </a:path>
              </a:pathLst>
            </a:custGeom>
            <a:solidFill>
              <a:srgbClr val="FFC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430" name="Google Shape;430;p42"/>
            <p:cNvSpPr/>
            <p:nvPr/>
          </p:nvSpPr>
          <p:spPr>
            <a:xfrm>
              <a:off x="4202430" y="5438393"/>
              <a:ext cx="421005" cy="241300"/>
            </a:xfrm>
            <a:custGeom>
              <a:rect b="b" l="l" r="r" t="t"/>
              <a:pathLst>
                <a:path extrusionOk="0" h="241300" w="421004">
                  <a:moveTo>
                    <a:pt x="0" y="0"/>
                  </a:moveTo>
                  <a:lnTo>
                    <a:pt x="420624" y="0"/>
                  </a:lnTo>
                  <a:lnTo>
                    <a:pt x="420624" y="240791"/>
                  </a:lnTo>
                  <a:lnTo>
                    <a:pt x="0" y="240791"/>
                  </a:lnTo>
                  <a:lnTo>
                    <a:pt x="0" y="0"/>
                  </a:lnTo>
                  <a:close/>
                </a:path>
              </a:pathLst>
            </a:custGeom>
            <a:noFill/>
            <a:ln cap="flat" cmpd="sng" w="28950">
              <a:solidFill>
                <a:srgbClr val="4E3629"/>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431" name="Google Shape;431;p42"/>
            <p:cNvSpPr/>
            <p:nvPr/>
          </p:nvSpPr>
          <p:spPr>
            <a:xfrm>
              <a:off x="5221986" y="5065013"/>
              <a:ext cx="421005" cy="242570"/>
            </a:xfrm>
            <a:custGeom>
              <a:rect b="b" l="l" r="r" t="t"/>
              <a:pathLst>
                <a:path extrusionOk="0" h="242570" w="421004">
                  <a:moveTo>
                    <a:pt x="420624" y="0"/>
                  </a:moveTo>
                  <a:lnTo>
                    <a:pt x="0" y="0"/>
                  </a:lnTo>
                  <a:lnTo>
                    <a:pt x="0" y="242315"/>
                  </a:lnTo>
                  <a:lnTo>
                    <a:pt x="420624" y="242315"/>
                  </a:lnTo>
                  <a:lnTo>
                    <a:pt x="420624" y="0"/>
                  </a:lnTo>
                  <a:close/>
                </a:path>
              </a:pathLst>
            </a:custGeom>
            <a:solidFill>
              <a:srgbClr val="4E3629"/>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432" name="Google Shape;432;p42"/>
            <p:cNvSpPr/>
            <p:nvPr/>
          </p:nvSpPr>
          <p:spPr>
            <a:xfrm>
              <a:off x="5221986" y="5065013"/>
              <a:ext cx="421005" cy="242570"/>
            </a:xfrm>
            <a:custGeom>
              <a:rect b="b" l="l" r="r" t="t"/>
              <a:pathLst>
                <a:path extrusionOk="0" h="242570" w="421004">
                  <a:moveTo>
                    <a:pt x="0" y="0"/>
                  </a:moveTo>
                  <a:lnTo>
                    <a:pt x="420624" y="0"/>
                  </a:lnTo>
                  <a:lnTo>
                    <a:pt x="420624" y="242315"/>
                  </a:lnTo>
                  <a:lnTo>
                    <a:pt x="0" y="242315"/>
                  </a:lnTo>
                  <a:lnTo>
                    <a:pt x="0" y="0"/>
                  </a:lnTo>
                  <a:close/>
                </a:path>
              </a:pathLst>
            </a:custGeom>
            <a:noFill/>
            <a:ln cap="flat" cmpd="sng" w="28950">
              <a:solidFill>
                <a:srgbClr val="4E3629"/>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433" name="Google Shape;433;p42"/>
            <p:cNvSpPr/>
            <p:nvPr/>
          </p:nvSpPr>
          <p:spPr>
            <a:xfrm>
              <a:off x="5221986" y="5430773"/>
              <a:ext cx="421005" cy="241300"/>
            </a:xfrm>
            <a:custGeom>
              <a:rect b="b" l="l" r="r" t="t"/>
              <a:pathLst>
                <a:path extrusionOk="0" h="241300" w="421004">
                  <a:moveTo>
                    <a:pt x="420624" y="0"/>
                  </a:moveTo>
                  <a:lnTo>
                    <a:pt x="0" y="0"/>
                  </a:lnTo>
                  <a:lnTo>
                    <a:pt x="0" y="240792"/>
                  </a:lnTo>
                  <a:lnTo>
                    <a:pt x="420624" y="240792"/>
                  </a:lnTo>
                  <a:lnTo>
                    <a:pt x="420624" y="0"/>
                  </a:lnTo>
                  <a:close/>
                </a:path>
              </a:pathLst>
            </a:custGeom>
            <a:solidFill>
              <a:srgbClr val="4E3629"/>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434" name="Google Shape;434;p42"/>
            <p:cNvSpPr/>
            <p:nvPr/>
          </p:nvSpPr>
          <p:spPr>
            <a:xfrm>
              <a:off x="5221986" y="5430773"/>
              <a:ext cx="421005" cy="241300"/>
            </a:xfrm>
            <a:custGeom>
              <a:rect b="b" l="l" r="r" t="t"/>
              <a:pathLst>
                <a:path extrusionOk="0" h="241300" w="421004">
                  <a:moveTo>
                    <a:pt x="0" y="0"/>
                  </a:moveTo>
                  <a:lnTo>
                    <a:pt x="420624" y="0"/>
                  </a:lnTo>
                  <a:lnTo>
                    <a:pt x="420624" y="240792"/>
                  </a:lnTo>
                  <a:lnTo>
                    <a:pt x="0" y="240792"/>
                  </a:lnTo>
                  <a:lnTo>
                    <a:pt x="0" y="0"/>
                  </a:lnTo>
                  <a:close/>
                </a:path>
              </a:pathLst>
            </a:custGeom>
            <a:noFill/>
            <a:ln cap="flat" cmpd="sng" w="28950">
              <a:solidFill>
                <a:srgbClr val="4E3629"/>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435" name="Google Shape;435;p42"/>
            <p:cNvSpPr/>
            <p:nvPr/>
          </p:nvSpPr>
          <p:spPr>
            <a:xfrm>
              <a:off x="5221986" y="5787389"/>
              <a:ext cx="421005" cy="241300"/>
            </a:xfrm>
            <a:custGeom>
              <a:rect b="b" l="l" r="r" t="t"/>
              <a:pathLst>
                <a:path extrusionOk="0" h="241300" w="421004">
                  <a:moveTo>
                    <a:pt x="420624" y="0"/>
                  </a:moveTo>
                  <a:lnTo>
                    <a:pt x="0" y="0"/>
                  </a:lnTo>
                  <a:lnTo>
                    <a:pt x="0" y="240792"/>
                  </a:lnTo>
                  <a:lnTo>
                    <a:pt x="420624" y="240792"/>
                  </a:lnTo>
                  <a:lnTo>
                    <a:pt x="420624" y="0"/>
                  </a:lnTo>
                  <a:close/>
                </a:path>
              </a:pathLst>
            </a:custGeom>
            <a:solidFill>
              <a:srgbClr val="4E3629"/>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436" name="Google Shape;436;p42"/>
            <p:cNvSpPr/>
            <p:nvPr/>
          </p:nvSpPr>
          <p:spPr>
            <a:xfrm>
              <a:off x="5221986" y="5787389"/>
              <a:ext cx="421005" cy="241300"/>
            </a:xfrm>
            <a:custGeom>
              <a:rect b="b" l="l" r="r" t="t"/>
              <a:pathLst>
                <a:path extrusionOk="0" h="241300" w="421004">
                  <a:moveTo>
                    <a:pt x="0" y="0"/>
                  </a:moveTo>
                  <a:lnTo>
                    <a:pt x="420624" y="0"/>
                  </a:lnTo>
                  <a:lnTo>
                    <a:pt x="420624" y="240792"/>
                  </a:lnTo>
                  <a:lnTo>
                    <a:pt x="0" y="240792"/>
                  </a:lnTo>
                  <a:lnTo>
                    <a:pt x="0" y="0"/>
                  </a:lnTo>
                  <a:close/>
                </a:path>
              </a:pathLst>
            </a:custGeom>
            <a:noFill/>
            <a:ln cap="flat" cmpd="sng" w="28950">
              <a:solidFill>
                <a:srgbClr val="4E3629"/>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grpSp>
      <p:sp>
        <p:nvSpPr>
          <p:cNvPr id="437" name="Google Shape;437;p42"/>
          <p:cNvSpPr txBox="1"/>
          <p:nvPr>
            <p:ph idx="10" type="dt"/>
          </p:nvPr>
        </p:nvSpPr>
        <p:spPr>
          <a:xfrm>
            <a:off x="2874191" y="6516395"/>
            <a:ext cx="834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13-1</a:t>
            </a:r>
            <a:endParaRPr/>
          </a:p>
          <a:p>
            <a:pPr indent="0" lvl="0" marL="12700" rtl="0" algn="l">
              <a:lnSpc>
                <a:spcPct val="120624"/>
              </a:lnSpc>
              <a:spcBef>
                <a:spcPts val="0"/>
              </a:spcBef>
              <a:spcAft>
                <a:spcPts val="0"/>
              </a:spcAft>
              <a:buNone/>
            </a:pPr>
            <a:r>
              <a:rPr lang="en-US"/>
              <a:t>Creación de tablas</a:t>
            </a:r>
            <a:endParaRPr/>
          </a:p>
        </p:txBody>
      </p:sp>
      <p:sp>
        <p:nvSpPr>
          <p:cNvPr id="438" name="Google Shape;438;p42"/>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439" name="Google Shape;439;p42"/>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43"/>
          <p:cNvSpPr txBox="1"/>
          <p:nvPr>
            <p:ph type="title"/>
          </p:nvPr>
        </p:nvSpPr>
        <p:spPr>
          <a:xfrm>
            <a:off x="392112" y="748031"/>
            <a:ext cx="2653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Data Dictionary</a:t>
            </a:r>
            <a:endParaRPr/>
          </a:p>
        </p:txBody>
      </p:sp>
      <p:sp>
        <p:nvSpPr>
          <p:cNvPr id="445" name="Google Shape;445;p43"/>
          <p:cNvSpPr txBox="1"/>
          <p:nvPr/>
        </p:nvSpPr>
        <p:spPr>
          <a:xfrm>
            <a:off x="483552" y="1415417"/>
            <a:ext cx="8023225" cy="1988820"/>
          </a:xfrm>
          <a:prstGeom prst="rect">
            <a:avLst/>
          </a:prstGeom>
          <a:noFill/>
          <a:ln>
            <a:noFill/>
          </a:ln>
        </p:spPr>
        <p:txBody>
          <a:bodyPr anchorCtr="0" anchor="t" bIns="0" lIns="0" spcFirstLastPara="1" rIns="0" wrap="square" tIns="59675">
            <a:spAutoFit/>
          </a:bodyPr>
          <a:lstStyle/>
          <a:p>
            <a:pPr indent="-177800" lvl="0" marL="184785"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 cualquier usuario de Oracle intenta realizar  inserciones, actualizaciones o supresiones en una de  las tablas de diccionario de datos, no se permite la  operación ya que puede poner en peligro la integridad  de toda la base de datos</a:t>
            </a:r>
            <a:endParaRPr sz="2800">
              <a:latin typeface="Calibri"/>
              <a:ea typeface="Calibri"/>
              <a:cs typeface="Calibri"/>
              <a:sym typeface="Calibri"/>
            </a:endParaRPr>
          </a:p>
        </p:txBody>
      </p:sp>
      <p:grpSp>
        <p:nvGrpSpPr>
          <p:cNvPr id="446" name="Google Shape;446;p43"/>
          <p:cNvGrpSpPr/>
          <p:nvPr/>
        </p:nvGrpSpPr>
        <p:grpSpPr>
          <a:xfrm>
            <a:off x="3292601" y="3662932"/>
            <a:ext cx="2560320" cy="2281618"/>
            <a:chOff x="3292601" y="3662932"/>
            <a:chExt cx="2560320" cy="2281618"/>
          </a:xfrm>
        </p:grpSpPr>
        <p:sp>
          <p:nvSpPr>
            <p:cNvPr id="447" name="Google Shape;447;p43"/>
            <p:cNvSpPr/>
            <p:nvPr/>
          </p:nvSpPr>
          <p:spPr>
            <a:xfrm>
              <a:off x="3292601" y="3948111"/>
              <a:ext cx="2560320" cy="1996439"/>
            </a:xfrm>
            <a:custGeom>
              <a:rect b="b" l="l" r="r" t="t"/>
              <a:pathLst>
                <a:path extrusionOk="0" h="1996439" w="2560320">
                  <a:moveTo>
                    <a:pt x="2560320" y="0"/>
                  </a:moveTo>
                  <a:lnTo>
                    <a:pt x="2542405" y="47814"/>
                  </a:lnTo>
                  <a:lnTo>
                    <a:pt x="2511458" y="78306"/>
                  </a:lnTo>
                  <a:lnTo>
                    <a:pt x="2466315" y="107465"/>
                  </a:lnTo>
                  <a:lnTo>
                    <a:pt x="2407843" y="135098"/>
                  </a:lnTo>
                  <a:lnTo>
                    <a:pt x="2336905" y="161014"/>
                  </a:lnTo>
                  <a:lnTo>
                    <a:pt x="2297031" y="173267"/>
                  </a:lnTo>
                  <a:lnTo>
                    <a:pt x="2254365" y="185019"/>
                  </a:lnTo>
                  <a:lnTo>
                    <a:pt x="2209016" y="196245"/>
                  </a:lnTo>
                  <a:lnTo>
                    <a:pt x="2161090" y="206921"/>
                  </a:lnTo>
                  <a:lnTo>
                    <a:pt x="2110696" y="217023"/>
                  </a:lnTo>
                  <a:lnTo>
                    <a:pt x="2057942" y="226528"/>
                  </a:lnTo>
                  <a:lnTo>
                    <a:pt x="2002936" y="235410"/>
                  </a:lnTo>
                  <a:lnTo>
                    <a:pt x="1945787" y="243646"/>
                  </a:lnTo>
                  <a:lnTo>
                    <a:pt x="1886601" y="251212"/>
                  </a:lnTo>
                  <a:lnTo>
                    <a:pt x="1825489" y="258084"/>
                  </a:lnTo>
                  <a:lnTo>
                    <a:pt x="1762556" y="264238"/>
                  </a:lnTo>
                  <a:lnTo>
                    <a:pt x="1697912" y="269649"/>
                  </a:lnTo>
                  <a:lnTo>
                    <a:pt x="1631665" y="274294"/>
                  </a:lnTo>
                  <a:lnTo>
                    <a:pt x="1563922" y="278148"/>
                  </a:lnTo>
                  <a:lnTo>
                    <a:pt x="1494792" y="281187"/>
                  </a:lnTo>
                  <a:lnTo>
                    <a:pt x="1424383" y="283388"/>
                  </a:lnTo>
                  <a:lnTo>
                    <a:pt x="1352803" y="284727"/>
                  </a:lnTo>
                  <a:lnTo>
                    <a:pt x="1280160" y="285178"/>
                  </a:lnTo>
                  <a:lnTo>
                    <a:pt x="1207516" y="284727"/>
                  </a:lnTo>
                  <a:lnTo>
                    <a:pt x="1135936" y="283388"/>
                  </a:lnTo>
                  <a:lnTo>
                    <a:pt x="1065527" y="281187"/>
                  </a:lnTo>
                  <a:lnTo>
                    <a:pt x="996397" y="278148"/>
                  </a:lnTo>
                  <a:lnTo>
                    <a:pt x="928654" y="274294"/>
                  </a:lnTo>
                  <a:lnTo>
                    <a:pt x="862407" y="269649"/>
                  </a:lnTo>
                  <a:lnTo>
                    <a:pt x="797763" y="264238"/>
                  </a:lnTo>
                  <a:lnTo>
                    <a:pt x="734830" y="258084"/>
                  </a:lnTo>
                  <a:lnTo>
                    <a:pt x="673718" y="251212"/>
                  </a:lnTo>
                  <a:lnTo>
                    <a:pt x="614532" y="243646"/>
                  </a:lnTo>
                  <a:lnTo>
                    <a:pt x="557383" y="235410"/>
                  </a:lnTo>
                  <a:lnTo>
                    <a:pt x="502377" y="226528"/>
                  </a:lnTo>
                  <a:lnTo>
                    <a:pt x="449623" y="217023"/>
                  </a:lnTo>
                  <a:lnTo>
                    <a:pt x="399229" y="206921"/>
                  </a:lnTo>
                  <a:lnTo>
                    <a:pt x="351303" y="196245"/>
                  </a:lnTo>
                  <a:lnTo>
                    <a:pt x="305954" y="185019"/>
                  </a:lnTo>
                  <a:lnTo>
                    <a:pt x="263288" y="173267"/>
                  </a:lnTo>
                  <a:lnTo>
                    <a:pt x="223414" y="161014"/>
                  </a:lnTo>
                  <a:lnTo>
                    <a:pt x="186441" y="148283"/>
                  </a:lnTo>
                  <a:lnTo>
                    <a:pt x="121628" y="121484"/>
                  </a:lnTo>
                  <a:lnTo>
                    <a:pt x="69712" y="93064"/>
                  </a:lnTo>
                  <a:lnTo>
                    <a:pt x="31559" y="63215"/>
                  </a:lnTo>
                  <a:lnTo>
                    <a:pt x="8034" y="32129"/>
                  </a:lnTo>
                  <a:lnTo>
                    <a:pt x="0" y="0"/>
                  </a:lnTo>
                  <a:lnTo>
                    <a:pt x="0" y="1711070"/>
                  </a:lnTo>
                  <a:lnTo>
                    <a:pt x="17914" y="1758885"/>
                  </a:lnTo>
                  <a:lnTo>
                    <a:pt x="48861" y="1789377"/>
                  </a:lnTo>
                  <a:lnTo>
                    <a:pt x="94004" y="1818536"/>
                  </a:lnTo>
                  <a:lnTo>
                    <a:pt x="152476" y="1846169"/>
                  </a:lnTo>
                  <a:lnTo>
                    <a:pt x="223414" y="1872085"/>
                  </a:lnTo>
                  <a:lnTo>
                    <a:pt x="263288" y="1884338"/>
                  </a:lnTo>
                  <a:lnTo>
                    <a:pt x="305954" y="1896090"/>
                  </a:lnTo>
                  <a:lnTo>
                    <a:pt x="351303" y="1907316"/>
                  </a:lnTo>
                  <a:lnTo>
                    <a:pt x="399229" y="1917992"/>
                  </a:lnTo>
                  <a:lnTo>
                    <a:pt x="449623" y="1928094"/>
                  </a:lnTo>
                  <a:lnTo>
                    <a:pt x="502377" y="1937599"/>
                  </a:lnTo>
                  <a:lnTo>
                    <a:pt x="557383" y="1946481"/>
                  </a:lnTo>
                  <a:lnTo>
                    <a:pt x="614532" y="1954717"/>
                  </a:lnTo>
                  <a:lnTo>
                    <a:pt x="673718" y="1962283"/>
                  </a:lnTo>
                  <a:lnTo>
                    <a:pt x="734830" y="1969155"/>
                  </a:lnTo>
                  <a:lnTo>
                    <a:pt x="797763" y="1975309"/>
                  </a:lnTo>
                  <a:lnTo>
                    <a:pt x="862407" y="1980720"/>
                  </a:lnTo>
                  <a:lnTo>
                    <a:pt x="928654" y="1985365"/>
                  </a:lnTo>
                  <a:lnTo>
                    <a:pt x="996397" y="1989219"/>
                  </a:lnTo>
                  <a:lnTo>
                    <a:pt x="1065527" y="1992258"/>
                  </a:lnTo>
                  <a:lnTo>
                    <a:pt x="1135936" y="1994459"/>
                  </a:lnTo>
                  <a:lnTo>
                    <a:pt x="1207516" y="1995798"/>
                  </a:lnTo>
                  <a:lnTo>
                    <a:pt x="1280160" y="1996249"/>
                  </a:lnTo>
                  <a:lnTo>
                    <a:pt x="1352803" y="1995798"/>
                  </a:lnTo>
                  <a:lnTo>
                    <a:pt x="1424383" y="1994459"/>
                  </a:lnTo>
                  <a:lnTo>
                    <a:pt x="1494792" y="1992258"/>
                  </a:lnTo>
                  <a:lnTo>
                    <a:pt x="1563922" y="1989219"/>
                  </a:lnTo>
                  <a:lnTo>
                    <a:pt x="1631665" y="1985365"/>
                  </a:lnTo>
                  <a:lnTo>
                    <a:pt x="1697912" y="1980720"/>
                  </a:lnTo>
                  <a:lnTo>
                    <a:pt x="1762556" y="1975309"/>
                  </a:lnTo>
                  <a:lnTo>
                    <a:pt x="1825489" y="1969155"/>
                  </a:lnTo>
                  <a:lnTo>
                    <a:pt x="1886601" y="1962283"/>
                  </a:lnTo>
                  <a:lnTo>
                    <a:pt x="1945787" y="1954717"/>
                  </a:lnTo>
                  <a:lnTo>
                    <a:pt x="2002936" y="1946481"/>
                  </a:lnTo>
                  <a:lnTo>
                    <a:pt x="2057942" y="1937599"/>
                  </a:lnTo>
                  <a:lnTo>
                    <a:pt x="2110696" y="1928094"/>
                  </a:lnTo>
                  <a:lnTo>
                    <a:pt x="2161090" y="1917992"/>
                  </a:lnTo>
                  <a:lnTo>
                    <a:pt x="2209016" y="1907316"/>
                  </a:lnTo>
                  <a:lnTo>
                    <a:pt x="2254365" y="1896090"/>
                  </a:lnTo>
                  <a:lnTo>
                    <a:pt x="2297031" y="1884338"/>
                  </a:lnTo>
                  <a:lnTo>
                    <a:pt x="2336905" y="1872085"/>
                  </a:lnTo>
                  <a:lnTo>
                    <a:pt x="2373878" y="1859354"/>
                  </a:lnTo>
                  <a:lnTo>
                    <a:pt x="2438691" y="1832555"/>
                  </a:lnTo>
                  <a:lnTo>
                    <a:pt x="2490607" y="1804135"/>
                  </a:lnTo>
                  <a:lnTo>
                    <a:pt x="2528760" y="1774286"/>
                  </a:lnTo>
                  <a:lnTo>
                    <a:pt x="2552285" y="1743200"/>
                  </a:lnTo>
                  <a:lnTo>
                    <a:pt x="2560320" y="1711070"/>
                  </a:lnTo>
                  <a:lnTo>
                    <a:pt x="2560320" y="0"/>
                  </a:lnTo>
                  <a:close/>
                </a:path>
              </a:pathLst>
            </a:custGeom>
            <a:solidFill>
              <a:srgbClr val="C0C0C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448" name="Google Shape;448;p43"/>
            <p:cNvSpPr/>
            <p:nvPr/>
          </p:nvSpPr>
          <p:spPr>
            <a:xfrm>
              <a:off x="3292601" y="3662932"/>
              <a:ext cx="2560320" cy="570865"/>
            </a:xfrm>
            <a:custGeom>
              <a:rect b="b" l="l" r="r" t="t"/>
              <a:pathLst>
                <a:path extrusionOk="0" h="570864" w="2560320">
                  <a:moveTo>
                    <a:pt x="1280160" y="0"/>
                  </a:moveTo>
                  <a:lnTo>
                    <a:pt x="1207516" y="451"/>
                  </a:lnTo>
                  <a:lnTo>
                    <a:pt x="1135936" y="1789"/>
                  </a:lnTo>
                  <a:lnTo>
                    <a:pt x="1065527" y="3990"/>
                  </a:lnTo>
                  <a:lnTo>
                    <a:pt x="996397" y="7030"/>
                  </a:lnTo>
                  <a:lnTo>
                    <a:pt x="928654" y="10884"/>
                  </a:lnTo>
                  <a:lnTo>
                    <a:pt x="862407" y="15529"/>
                  </a:lnTo>
                  <a:lnTo>
                    <a:pt x="797763" y="20940"/>
                  </a:lnTo>
                  <a:lnTo>
                    <a:pt x="734830" y="27093"/>
                  </a:lnTo>
                  <a:lnTo>
                    <a:pt x="673718" y="33965"/>
                  </a:lnTo>
                  <a:lnTo>
                    <a:pt x="614532" y="41531"/>
                  </a:lnTo>
                  <a:lnTo>
                    <a:pt x="557383" y="49767"/>
                  </a:lnTo>
                  <a:lnTo>
                    <a:pt x="502377" y="58650"/>
                  </a:lnTo>
                  <a:lnTo>
                    <a:pt x="449623" y="68154"/>
                  </a:lnTo>
                  <a:lnTo>
                    <a:pt x="399229" y="78256"/>
                  </a:lnTo>
                  <a:lnTo>
                    <a:pt x="351303" y="88933"/>
                  </a:lnTo>
                  <a:lnTo>
                    <a:pt x="305954" y="100159"/>
                  </a:lnTo>
                  <a:lnTo>
                    <a:pt x="263288" y="111910"/>
                  </a:lnTo>
                  <a:lnTo>
                    <a:pt x="223414" y="124164"/>
                  </a:lnTo>
                  <a:lnTo>
                    <a:pt x="186441" y="136895"/>
                  </a:lnTo>
                  <a:lnTo>
                    <a:pt x="121628" y="163693"/>
                  </a:lnTo>
                  <a:lnTo>
                    <a:pt x="69712" y="192114"/>
                  </a:lnTo>
                  <a:lnTo>
                    <a:pt x="31559" y="221963"/>
                  </a:lnTo>
                  <a:lnTo>
                    <a:pt x="8034" y="253048"/>
                  </a:lnTo>
                  <a:lnTo>
                    <a:pt x="0" y="285178"/>
                  </a:lnTo>
                  <a:lnTo>
                    <a:pt x="2026" y="301361"/>
                  </a:lnTo>
                  <a:lnTo>
                    <a:pt x="31559" y="348393"/>
                  </a:lnTo>
                  <a:lnTo>
                    <a:pt x="69712" y="378242"/>
                  </a:lnTo>
                  <a:lnTo>
                    <a:pt x="121628" y="406663"/>
                  </a:lnTo>
                  <a:lnTo>
                    <a:pt x="186441" y="433461"/>
                  </a:lnTo>
                  <a:lnTo>
                    <a:pt x="223414" y="446192"/>
                  </a:lnTo>
                  <a:lnTo>
                    <a:pt x="263288" y="458446"/>
                  </a:lnTo>
                  <a:lnTo>
                    <a:pt x="305954" y="470197"/>
                  </a:lnTo>
                  <a:lnTo>
                    <a:pt x="351303" y="481423"/>
                  </a:lnTo>
                  <a:lnTo>
                    <a:pt x="399229" y="492100"/>
                  </a:lnTo>
                  <a:lnTo>
                    <a:pt x="449623" y="502202"/>
                  </a:lnTo>
                  <a:lnTo>
                    <a:pt x="502377" y="511706"/>
                  </a:lnTo>
                  <a:lnTo>
                    <a:pt x="557383" y="520589"/>
                  </a:lnTo>
                  <a:lnTo>
                    <a:pt x="614532" y="528825"/>
                  </a:lnTo>
                  <a:lnTo>
                    <a:pt x="673718" y="536391"/>
                  </a:lnTo>
                  <a:lnTo>
                    <a:pt x="734830" y="543263"/>
                  </a:lnTo>
                  <a:lnTo>
                    <a:pt x="797763" y="549416"/>
                  </a:lnTo>
                  <a:lnTo>
                    <a:pt x="862407" y="554827"/>
                  </a:lnTo>
                  <a:lnTo>
                    <a:pt x="928654" y="559472"/>
                  </a:lnTo>
                  <a:lnTo>
                    <a:pt x="996397" y="563326"/>
                  </a:lnTo>
                  <a:lnTo>
                    <a:pt x="1065527" y="566366"/>
                  </a:lnTo>
                  <a:lnTo>
                    <a:pt x="1135936" y="568567"/>
                  </a:lnTo>
                  <a:lnTo>
                    <a:pt x="1207516" y="569905"/>
                  </a:lnTo>
                  <a:lnTo>
                    <a:pt x="1280160" y="570357"/>
                  </a:lnTo>
                  <a:lnTo>
                    <a:pt x="1352803" y="569905"/>
                  </a:lnTo>
                  <a:lnTo>
                    <a:pt x="1424383" y="568567"/>
                  </a:lnTo>
                  <a:lnTo>
                    <a:pt x="1494792" y="566366"/>
                  </a:lnTo>
                  <a:lnTo>
                    <a:pt x="1563922" y="563326"/>
                  </a:lnTo>
                  <a:lnTo>
                    <a:pt x="1631665" y="559472"/>
                  </a:lnTo>
                  <a:lnTo>
                    <a:pt x="1697912" y="554827"/>
                  </a:lnTo>
                  <a:lnTo>
                    <a:pt x="1762556" y="549416"/>
                  </a:lnTo>
                  <a:lnTo>
                    <a:pt x="1825489" y="543263"/>
                  </a:lnTo>
                  <a:lnTo>
                    <a:pt x="1886601" y="536391"/>
                  </a:lnTo>
                  <a:lnTo>
                    <a:pt x="1945787" y="528825"/>
                  </a:lnTo>
                  <a:lnTo>
                    <a:pt x="2002936" y="520589"/>
                  </a:lnTo>
                  <a:lnTo>
                    <a:pt x="2057942" y="511706"/>
                  </a:lnTo>
                  <a:lnTo>
                    <a:pt x="2110696" y="502202"/>
                  </a:lnTo>
                  <a:lnTo>
                    <a:pt x="2161090" y="492100"/>
                  </a:lnTo>
                  <a:lnTo>
                    <a:pt x="2209016" y="481423"/>
                  </a:lnTo>
                  <a:lnTo>
                    <a:pt x="2254365" y="470197"/>
                  </a:lnTo>
                  <a:lnTo>
                    <a:pt x="2297031" y="458446"/>
                  </a:lnTo>
                  <a:lnTo>
                    <a:pt x="2336905" y="446192"/>
                  </a:lnTo>
                  <a:lnTo>
                    <a:pt x="2373878" y="433461"/>
                  </a:lnTo>
                  <a:lnTo>
                    <a:pt x="2438691" y="406663"/>
                  </a:lnTo>
                  <a:lnTo>
                    <a:pt x="2490607" y="378242"/>
                  </a:lnTo>
                  <a:lnTo>
                    <a:pt x="2528760" y="348393"/>
                  </a:lnTo>
                  <a:lnTo>
                    <a:pt x="2552285" y="317308"/>
                  </a:lnTo>
                  <a:lnTo>
                    <a:pt x="2560320" y="285178"/>
                  </a:lnTo>
                  <a:lnTo>
                    <a:pt x="2558293" y="268995"/>
                  </a:lnTo>
                  <a:lnTo>
                    <a:pt x="2528760" y="221963"/>
                  </a:lnTo>
                  <a:lnTo>
                    <a:pt x="2490607" y="192114"/>
                  </a:lnTo>
                  <a:lnTo>
                    <a:pt x="2438691" y="163693"/>
                  </a:lnTo>
                  <a:lnTo>
                    <a:pt x="2373878" y="136895"/>
                  </a:lnTo>
                  <a:lnTo>
                    <a:pt x="2336905" y="124164"/>
                  </a:lnTo>
                  <a:lnTo>
                    <a:pt x="2297031" y="111910"/>
                  </a:lnTo>
                  <a:lnTo>
                    <a:pt x="2254365" y="100159"/>
                  </a:lnTo>
                  <a:lnTo>
                    <a:pt x="2209016" y="88933"/>
                  </a:lnTo>
                  <a:lnTo>
                    <a:pt x="2161090" y="78256"/>
                  </a:lnTo>
                  <a:lnTo>
                    <a:pt x="2110696" y="68154"/>
                  </a:lnTo>
                  <a:lnTo>
                    <a:pt x="2057942" y="58650"/>
                  </a:lnTo>
                  <a:lnTo>
                    <a:pt x="2002936" y="49767"/>
                  </a:lnTo>
                  <a:lnTo>
                    <a:pt x="1945787" y="41531"/>
                  </a:lnTo>
                  <a:lnTo>
                    <a:pt x="1886601" y="33965"/>
                  </a:lnTo>
                  <a:lnTo>
                    <a:pt x="1825489" y="27093"/>
                  </a:lnTo>
                  <a:lnTo>
                    <a:pt x="1762556" y="20940"/>
                  </a:lnTo>
                  <a:lnTo>
                    <a:pt x="1697912" y="15529"/>
                  </a:lnTo>
                  <a:lnTo>
                    <a:pt x="1631665" y="10884"/>
                  </a:lnTo>
                  <a:lnTo>
                    <a:pt x="1563922" y="7030"/>
                  </a:lnTo>
                  <a:lnTo>
                    <a:pt x="1494792" y="3990"/>
                  </a:lnTo>
                  <a:lnTo>
                    <a:pt x="1424383" y="1789"/>
                  </a:lnTo>
                  <a:lnTo>
                    <a:pt x="1352803" y="451"/>
                  </a:lnTo>
                  <a:lnTo>
                    <a:pt x="1280160" y="0"/>
                  </a:lnTo>
                  <a:close/>
                </a:path>
              </a:pathLst>
            </a:custGeom>
            <a:solidFill>
              <a:srgbClr val="DADADA"/>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449" name="Google Shape;449;p43"/>
            <p:cNvSpPr/>
            <p:nvPr/>
          </p:nvSpPr>
          <p:spPr>
            <a:xfrm>
              <a:off x="3292601" y="3662932"/>
              <a:ext cx="2560320" cy="2281555"/>
            </a:xfrm>
            <a:custGeom>
              <a:rect b="b" l="l" r="r" t="t"/>
              <a:pathLst>
                <a:path extrusionOk="0" h="2281554" w="2560320">
                  <a:moveTo>
                    <a:pt x="2560320" y="285178"/>
                  </a:moveTo>
                  <a:lnTo>
                    <a:pt x="2542405" y="332993"/>
                  </a:lnTo>
                  <a:lnTo>
                    <a:pt x="2511458" y="363484"/>
                  </a:lnTo>
                  <a:lnTo>
                    <a:pt x="2466315" y="392643"/>
                  </a:lnTo>
                  <a:lnTo>
                    <a:pt x="2407843" y="420277"/>
                  </a:lnTo>
                  <a:lnTo>
                    <a:pt x="2336905" y="446192"/>
                  </a:lnTo>
                  <a:lnTo>
                    <a:pt x="2297031" y="458446"/>
                  </a:lnTo>
                  <a:lnTo>
                    <a:pt x="2254365" y="470197"/>
                  </a:lnTo>
                  <a:lnTo>
                    <a:pt x="2209016" y="481423"/>
                  </a:lnTo>
                  <a:lnTo>
                    <a:pt x="2161090" y="492100"/>
                  </a:lnTo>
                  <a:lnTo>
                    <a:pt x="2110696" y="502202"/>
                  </a:lnTo>
                  <a:lnTo>
                    <a:pt x="2057942" y="511706"/>
                  </a:lnTo>
                  <a:lnTo>
                    <a:pt x="2002936" y="520589"/>
                  </a:lnTo>
                  <a:lnTo>
                    <a:pt x="1945787" y="528825"/>
                  </a:lnTo>
                  <a:lnTo>
                    <a:pt x="1886601" y="536391"/>
                  </a:lnTo>
                  <a:lnTo>
                    <a:pt x="1825489" y="543263"/>
                  </a:lnTo>
                  <a:lnTo>
                    <a:pt x="1762556" y="549416"/>
                  </a:lnTo>
                  <a:lnTo>
                    <a:pt x="1697912" y="554827"/>
                  </a:lnTo>
                  <a:lnTo>
                    <a:pt x="1631665" y="559472"/>
                  </a:lnTo>
                  <a:lnTo>
                    <a:pt x="1563922" y="563326"/>
                  </a:lnTo>
                  <a:lnTo>
                    <a:pt x="1494792" y="566366"/>
                  </a:lnTo>
                  <a:lnTo>
                    <a:pt x="1424383" y="568567"/>
                  </a:lnTo>
                  <a:lnTo>
                    <a:pt x="1352803" y="569905"/>
                  </a:lnTo>
                  <a:lnTo>
                    <a:pt x="1280160" y="570357"/>
                  </a:lnTo>
                  <a:lnTo>
                    <a:pt x="1207516" y="569905"/>
                  </a:lnTo>
                  <a:lnTo>
                    <a:pt x="1135936" y="568567"/>
                  </a:lnTo>
                  <a:lnTo>
                    <a:pt x="1065527" y="566366"/>
                  </a:lnTo>
                  <a:lnTo>
                    <a:pt x="996397" y="563326"/>
                  </a:lnTo>
                  <a:lnTo>
                    <a:pt x="928654" y="559472"/>
                  </a:lnTo>
                  <a:lnTo>
                    <a:pt x="862407" y="554827"/>
                  </a:lnTo>
                  <a:lnTo>
                    <a:pt x="797763" y="549416"/>
                  </a:lnTo>
                  <a:lnTo>
                    <a:pt x="734830" y="543263"/>
                  </a:lnTo>
                  <a:lnTo>
                    <a:pt x="673718" y="536391"/>
                  </a:lnTo>
                  <a:lnTo>
                    <a:pt x="614532" y="528825"/>
                  </a:lnTo>
                  <a:lnTo>
                    <a:pt x="557383" y="520589"/>
                  </a:lnTo>
                  <a:lnTo>
                    <a:pt x="502377" y="511706"/>
                  </a:lnTo>
                  <a:lnTo>
                    <a:pt x="449623" y="502202"/>
                  </a:lnTo>
                  <a:lnTo>
                    <a:pt x="399229" y="492100"/>
                  </a:lnTo>
                  <a:lnTo>
                    <a:pt x="351303" y="481423"/>
                  </a:lnTo>
                  <a:lnTo>
                    <a:pt x="305954" y="470197"/>
                  </a:lnTo>
                  <a:lnTo>
                    <a:pt x="263288" y="458446"/>
                  </a:lnTo>
                  <a:lnTo>
                    <a:pt x="223414" y="446192"/>
                  </a:lnTo>
                  <a:lnTo>
                    <a:pt x="186441" y="433461"/>
                  </a:lnTo>
                  <a:lnTo>
                    <a:pt x="121628" y="406663"/>
                  </a:lnTo>
                  <a:lnTo>
                    <a:pt x="69712" y="378242"/>
                  </a:lnTo>
                  <a:lnTo>
                    <a:pt x="31559" y="348393"/>
                  </a:lnTo>
                  <a:lnTo>
                    <a:pt x="8034" y="317308"/>
                  </a:lnTo>
                  <a:lnTo>
                    <a:pt x="0" y="285178"/>
                  </a:lnTo>
                  <a:lnTo>
                    <a:pt x="2026" y="268995"/>
                  </a:lnTo>
                  <a:lnTo>
                    <a:pt x="31559" y="221963"/>
                  </a:lnTo>
                  <a:lnTo>
                    <a:pt x="69712" y="192114"/>
                  </a:lnTo>
                  <a:lnTo>
                    <a:pt x="121628" y="163693"/>
                  </a:lnTo>
                  <a:lnTo>
                    <a:pt x="186441" y="136895"/>
                  </a:lnTo>
                  <a:lnTo>
                    <a:pt x="223414" y="124164"/>
                  </a:lnTo>
                  <a:lnTo>
                    <a:pt x="263288" y="111910"/>
                  </a:lnTo>
                  <a:lnTo>
                    <a:pt x="305954" y="100159"/>
                  </a:lnTo>
                  <a:lnTo>
                    <a:pt x="351303" y="88933"/>
                  </a:lnTo>
                  <a:lnTo>
                    <a:pt x="399229" y="78256"/>
                  </a:lnTo>
                  <a:lnTo>
                    <a:pt x="449623" y="68154"/>
                  </a:lnTo>
                  <a:lnTo>
                    <a:pt x="502377" y="58650"/>
                  </a:lnTo>
                  <a:lnTo>
                    <a:pt x="557383" y="49767"/>
                  </a:lnTo>
                  <a:lnTo>
                    <a:pt x="614532" y="41531"/>
                  </a:lnTo>
                  <a:lnTo>
                    <a:pt x="673718" y="33965"/>
                  </a:lnTo>
                  <a:lnTo>
                    <a:pt x="734830" y="27093"/>
                  </a:lnTo>
                  <a:lnTo>
                    <a:pt x="797763" y="20940"/>
                  </a:lnTo>
                  <a:lnTo>
                    <a:pt x="862407" y="15529"/>
                  </a:lnTo>
                  <a:lnTo>
                    <a:pt x="928654" y="10884"/>
                  </a:lnTo>
                  <a:lnTo>
                    <a:pt x="996397" y="7030"/>
                  </a:lnTo>
                  <a:lnTo>
                    <a:pt x="1065527" y="3990"/>
                  </a:lnTo>
                  <a:lnTo>
                    <a:pt x="1135936" y="1789"/>
                  </a:lnTo>
                  <a:lnTo>
                    <a:pt x="1207516" y="451"/>
                  </a:lnTo>
                  <a:lnTo>
                    <a:pt x="1280160" y="0"/>
                  </a:lnTo>
                  <a:lnTo>
                    <a:pt x="1352803" y="451"/>
                  </a:lnTo>
                  <a:lnTo>
                    <a:pt x="1424383" y="1789"/>
                  </a:lnTo>
                  <a:lnTo>
                    <a:pt x="1494792" y="3990"/>
                  </a:lnTo>
                  <a:lnTo>
                    <a:pt x="1563922" y="7030"/>
                  </a:lnTo>
                  <a:lnTo>
                    <a:pt x="1631665" y="10884"/>
                  </a:lnTo>
                  <a:lnTo>
                    <a:pt x="1697912" y="15529"/>
                  </a:lnTo>
                  <a:lnTo>
                    <a:pt x="1762556" y="20940"/>
                  </a:lnTo>
                  <a:lnTo>
                    <a:pt x="1825489" y="27093"/>
                  </a:lnTo>
                  <a:lnTo>
                    <a:pt x="1886601" y="33965"/>
                  </a:lnTo>
                  <a:lnTo>
                    <a:pt x="1945787" y="41531"/>
                  </a:lnTo>
                  <a:lnTo>
                    <a:pt x="2002936" y="49767"/>
                  </a:lnTo>
                  <a:lnTo>
                    <a:pt x="2057942" y="58650"/>
                  </a:lnTo>
                  <a:lnTo>
                    <a:pt x="2110696" y="68154"/>
                  </a:lnTo>
                  <a:lnTo>
                    <a:pt x="2161090" y="78256"/>
                  </a:lnTo>
                  <a:lnTo>
                    <a:pt x="2209016" y="88933"/>
                  </a:lnTo>
                  <a:lnTo>
                    <a:pt x="2254365" y="100159"/>
                  </a:lnTo>
                  <a:lnTo>
                    <a:pt x="2297031" y="111910"/>
                  </a:lnTo>
                  <a:lnTo>
                    <a:pt x="2336905" y="124164"/>
                  </a:lnTo>
                  <a:lnTo>
                    <a:pt x="2373878" y="136895"/>
                  </a:lnTo>
                  <a:lnTo>
                    <a:pt x="2438691" y="163693"/>
                  </a:lnTo>
                  <a:lnTo>
                    <a:pt x="2490607" y="192114"/>
                  </a:lnTo>
                  <a:lnTo>
                    <a:pt x="2528760" y="221963"/>
                  </a:lnTo>
                  <a:lnTo>
                    <a:pt x="2552285" y="253048"/>
                  </a:lnTo>
                  <a:lnTo>
                    <a:pt x="2560320" y="285178"/>
                  </a:lnTo>
                  <a:close/>
                </a:path>
                <a:path extrusionOk="0" h="2281554" w="2560320">
                  <a:moveTo>
                    <a:pt x="2560320" y="285178"/>
                  </a:moveTo>
                  <a:lnTo>
                    <a:pt x="2560320" y="1996249"/>
                  </a:lnTo>
                  <a:lnTo>
                    <a:pt x="2558293" y="2012432"/>
                  </a:lnTo>
                  <a:lnTo>
                    <a:pt x="2528760" y="2059464"/>
                  </a:lnTo>
                  <a:lnTo>
                    <a:pt x="2490607" y="2089313"/>
                  </a:lnTo>
                  <a:lnTo>
                    <a:pt x="2438691" y="2117734"/>
                  </a:lnTo>
                  <a:lnTo>
                    <a:pt x="2373878" y="2144532"/>
                  </a:lnTo>
                  <a:lnTo>
                    <a:pt x="2336905" y="2157263"/>
                  </a:lnTo>
                  <a:lnTo>
                    <a:pt x="2297031" y="2169517"/>
                  </a:lnTo>
                  <a:lnTo>
                    <a:pt x="2254365" y="2181268"/>
                  </a:lnTo>
                  <a:lnTo>
                    <a:pt x="2209016" y="2192494"/>
                  </a:lnTo>
                  <a:lnTo>
                    <a:pt x="2161090" y="2203171"/>
                  </a:lnTo>
                  <a:lnTo>
                    <a:pt x="2110696" y="2213273"/>
                  </a:lnTo>
                  <a:lnTo>
                    <a:pt x="2057942" y="2222777"/>
                  </a:lnTo>
                  <a:lnTo>
                    <a:pt x="2002936" y="2231660"/>
                  </a:lnTo>
                  <a:lnTo>
                    <a:pt x="1945787" y="2239896"/>
                  </a:lnTo>
                  <a:lnTo>
                    <a:pt x="1886601" y="2247462"/>
                  </a:lnTo>
                  <a:lnTo>
                    <a:pt x="1825489" y="2254334"/>
                  </a:lnTo>
                  <a:lnTo>
                    <a:pt x="1762556" y="2260487"/>
                  </a:lnTo>
                  <a:lnTo>
                    <a:pt x="1697912" y="2265898"/>
                  </a:lnTo>
                  <a:lnTo>
                    <a:pt x="1631665" y="2270543"/>
                  </a:lnTo>
                  <a:lnTo>
                    <a:pt x="1563922" y="2274397"/>
                  </a:lnTo>
                  <a:lnTo>
                    <a:pt x="1494792" y="2277437"/>
                  </a:lnTo>
                  <a:lnTo>
                    <a:pt x="1424383" y="2279638"/>
                  </a:lnTo>
                  <a:lnTo>
                    <a:pt x="1352803" y="2280976"/>
                  </a:lnTo>
                  <a:lnTo>
                    <a:pt x="1280160" y="2281428"/>
                  </a:lnTo>
                  <a:lnTo>
                    <a:pt x="1207516" y="2280976"/>
                  </a:lnTo>
                  <a:lnTo>
                    <a:pt x="1135936" y="2279638"/>
                  </a:lnTo>
                  <a:lnTo>
                    <a:pt x="1065527" y="2277437"/>
                  </a:lnTo>
                  <a:lnTo>
                    <a:pt x="996397" y="2274397"/>
                  </a:lnTo>
                  <a:lnTo>
                    <a:pt x="928654" y="2270543"/>
                  </a:lnTo>
                  <a:lnTo>
                    <a:pt x="862407" y="2265898"/>
                  </a:lnTo>
                  <a:lnTo>
                    <a:pt x="797763" y="2260487"/>
                  </a:lnTo>
                  <a:lnTo>
                    <a:pt x="734830" y="2254334"/>
                  </a:lnTo>
                  <a:lnTo>
                    <a:pt x="673718" y="2247462"/>
                  </a:lnTo>
                  <a:lnTo>
                    <a:pt x="614532" y="2239896"/>
                  </a:lnTo>
                  <a:lnTo>
                    <a:pt x="557383" y="2231660"/>
                  </a:lnTo>
                  <a:lnTo>
                    <a:pt x="502377" y="2222777"/>
                  </a:lnTo>
                  <a:lnTo>
                    <a:pt x="449623" y="2213273"/>
                  </a:lnTo>
                  <a:lnTo>
                    <a:pt x="399229" y="2203171"/>
                  </a:lnTo>
                  <a:lnTo>
                    <a:pt x="351303" y="2192494"/>
                  </a:lnTo>
                  <a:lnTo>
                    <a:pt x="305954" y="2181268"/>
                  </a:lnTo>
                  <a:lnTo>
                    <a:pt x="263288" y="2169517"/>
                  </a:lnTo>
                  <a:lnTo>
                    <a:pt x="223414" y="2157263"/>
                  </a:lnTo>
                  <a:lnTo>
                    <a:pt x="186441" y="2144532"/>
                  </a:lnTo>
                  <a:lnTo>
                    <a:pt x="121628" y="2117734"/>
                  </a:lnTo>
                  <a:lnTo>
                    <a:pt x="69712" y="2089313"/>
                  </a:lnTo>
                  <a:lnTo>
                    <a:pt x="31559" y="2059464"/>
                  </a:lnTo>
                  <a:lnTo>
                    <a:pt x="8034" y="2028379"/>
                  </a:lnTo>
                  <a:lnTo>
                    <a:pt x="0" y="1996249"/>
                  </a:lnTo>
                  <a:lnTo>
                    <a:pt x="0" y="285178"/>
                  </a:lnTo>
                </a:path>
              </a:pathLst>
            </a:custGeom>
            <a:noFill/>
            <a:ln cap="flat" cmpd="sng" w="28950">
              <a:solidFill>
                <a:srgbClr val="4E3629"/>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grpSp>
      <p:sp>
        <p:nvSpPr>
          <p:cNvPr id="450" name="Google Shape;450;p43"/>
          <p:cNvSpPr txBox="1"/>
          <p:nvPr/>
        </p:nvSpPr>
        <p:spPr>
          <a:xfrm>
            <a:off x="3922871" y="3819768"/>
            <a:ext cx="1403350" cy="26924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1" lang="en-US" sz="1600">
                <a:solidFill>
                  <a:srgbClr val="4E3629"/>
                </a:solidFill>
                <a:latin typeface="Calibri"/>
                <a:ea typeface="Calibri"/>
                <a:cs typeface="Calibri"/>
                <a:sym typeface="Calibri"/>
              </a:rPr>
              <a:t>Oracle Database</a:t>
            </a:r>
            <a:endParaRPr sz="1600">
              <a:latin typeface="Calibri"/>
              <a:ea typeface="Calibri"/>
              <a:cs typeface="Calibri"/>
              <a:sym typeface="Calibri"/>
            </a:endParaRPr>
          </a:p>
        </p:txBody>
      </p:sp>
      <p:grpSp>
        <p:nvGrpSpPr>
          <p:cNvPr id="451" name="Google Shape;451;p43"/>
          <p:cNvGrpSpPr/>
          <p:nvPr/>
        </p:nvGrpSpPr>
        <p:grpSpPr>
          <a:xfrm>
            <a:off x="3771137" y="4431030"/>
            <a:ext cx="1644395" cy="1179957"/>
            <a:chOff x="3771137" y="4431030"/>
            <a:chExt cx="1644395" cy="1179957"/>
          </a:xfrm>
        </p:grpSpPr>
        <p:sp>
          <p:nvSpPr>
            <p:cNvPr id="452" name="Google Shape;452;p43"/>
            <p:cNvSpPr/>
            <p:nvPr/>
          </p:nvSpPr>
          <p:spPr>
            <a:xfrm>
              <a:off x="3771137" y="4431030"/>
              <a:ext cx="480059" cy="291465"/>
            </a:xfrm>
            <a:custGeom>
              <a:rect b="b" l="l" r="r" t="t"/>
              <a:pathLst>
                <a:path extrusionOk="0" h="291464" w="480060">
                  <a:moveTo>
                    <a:pt x="480060" y="0"/>
                  </a:moveTo>
                  <a:lnTo>
                    <a:pt x="0" y="0"/>
                  </a:lnTo>
                  <a:lnTo>
                    <a:pt x="0" y="291084"/>
                  </a:lnTo>
                  <a:lnTo>
                    <a:pt x="480060" y="291084"/>
                  </a:lnTo>
                  <a:lnTo>
                    <a:pt x="480060" y="0"/>
                  </a:lnTo>
                  <a:close/>
                </a:path>
              </a:pathLst>
            </a:custGeom>
            <a:solidFill>
              <a:srgbClr val="FFC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453" name="Google Shape;453;p43"/>
            <p:cNvSpPr/>
            <p:nvPr/>
          </p:nvSpPr>
          <p:spPr>
            <a:xfrm>
              <a:off x="3771137" y="4431030"/>
              <a:ext cx="480059" cy="291465"/>
            </a:xfrm>
            <a:custGeom>
              <a:rect b="b" l="l" r="r" t="t"/>
              <a:pathLst>
                <a:path extrusionOk="0" h="291464" w="480060">
                  <a:moveTo>
                    <a:pt x="0" y="0"/>
                  </a:moveTo>
                  <a:lnTo>
                    <a:pt x="480060" y="0"/>
                  </a:lnTo>
                  <a:lnTo>
                    <a:pt x="480060" y="291084"/>
                  </a:lnTo>
                  <a:lnTo>
                    <a:pt x="0" y="291084"/>
                  </a:lnTo>
                  <a:lnTo>
                    <a:pt x="0" y="0"/>
                  </a:lnTo>
                  <a:close/>
                </a:path>
              </a:pathLst>
            </a:custGeom>
            <a:noFill/>
            <a:ln cap="flat" cmpd="sng" w="28950">
              <a:solidFill>
                <a:srgbClr val="4E3629"/>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454" name="Google Shape;454;p43"/>
            <p:cNvSpPr/>
            <p:nvPr/>
          </p:nvSpPr>
          <p:spPr>
            <a:xfrm>
              <a:off x="3771137" y="5319522"/>
              <a:ext cx="480059" cy="291465"/>
            </a:xfrm>
            <a:custGeom>
              <a:rect b="b" l="l" r="r" t="t"/>
              <a:pathLst>
                <a:path extrusionOk="0" h="291464" w="480060">
                  <a:moveTo>
                    <a:pt x="480060" y="0"/>
                  </a:moveTo>
                  <a:lnTo>
                    <a:pt x="0" y="0"/>
                  </a:lnTo>
                  <a:lnTo>
                    <a:pt x="0" y="291083"/>
                  </a:lnTo>
                  <a:lnTo>
                    <a:pt x="480060" y="291083"/>
                  </a:lnTo>
                  <a:lnTo>
                    <a:pt x="480060" y="0"/>
                  </a:lnTo>
                  <a:close/>
                </a:path>
              </a:pathLst>
            </a:custGeom>
            <a:solidFill>
              <a:srgbClr val="FFC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455" name="Google Shape;455;p43"/>
            <p:cNvSpPr/>
            <p:nvPr/>
          </p:nvSpPr>
          <p:spPr>
            <a:xfrm>
              <a:off x="3771137" y="5319522"/>
              <a:ext cx="480059" cy="291465"/>
            </a:xfrm>
            <a:custGeom>
              <a:rect b="b" l="l" r="r" t="t"/>
              <a:pathLst>
                <a:path extrusionOk="0" h="291464" w="480060">
                  <a:moveTo>
                    <a:pt x="0" y="0"/>
                  </a:moveTo>
                  <a:lnTo>
                    <a:pt x="480060" y="0"/>
                  </a:lnTo>
                  <a:lnTo>
                    <a:pt x="480060" y="291083"/>
                  </a:lnTo>
                  <a:lnTo>
                    <a:pt x="0" y="291083"/>
                  </a:lnTo>
                  <a:lnTo>
                    <a:pt x="0" y="0"/>
                  </a:lnTo>
                  <a:close/>
                </a:path>
              </a:pathLst>
            </a:custGeom>
            <a:noFill/>
            <a:ln cap="flat" cmpd="sng" w="28950">
              <a:solidFill>
                <a:srgbClr val="4E3629"/>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456" name="Google Shape;456;p43"/>
            <p:cNvSpPr/>
            <p:nvPr/>
          </p:nvSpPr>
          <p:spPr>
            <a:xfrm>
              <a:off x="3771137" y="4880610"/>
              <a:ext cx="480059" cy="291465"/>
            </a:xfrm>
            <a:custGeom>
              <a:rect b="b" l="l" r="r" t="t"/>
              <a:pathLst>
                <a:path extrusionOk="0" h="291464" w="480060">
                  <a:moveTo>
                    <a:pt x="480060" y="0"/>
                  </a:moveTo>
                  <a:lnTo>
                    <a:pt x="0" y="0"/>
                  </a:lnTo>
                  <a:lnTo>
                    <a:pt x="0" y="291084"/>
                  </a:lnTo>
                  <a:lnTo>
                    <a:pt x="480060" y="291084"/>
                  </a:lnTo>
                  <a:lnTo>
                    <a:pt x="480060" y="0"/>
                  </a:lnTo>
                  <a:close/>
                </a:path>
              </a:pathLst>
            </a:custGeom>
            <a:solidFill>
              <a:srgbClr val="FFC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457" name="Google Shape;457;p43"/>
            <p:cNvSpPr/>
            <p:nvPr/>
          </p:nvSpPr>
          <p:spPr>
            <a:xfrm>
              <a:off x="3771137" y="4880610"/>
              <a:ext cx="480059" cy="291465"/>
            </a:xfrm>
            <a:custGeom>
              <a:rect b="b" l="l" r="r" t="t"/>
              <a:pathLst>
                <a:path extrusionOk="0" h="291464" w="480060">
                  <a:moveTo>
                    <a:pt x="0" y="0"/>
                  </a:moveTo>
                  <a:lnTo>
                    <a:pt x="480060" y="0"/>
                  </a:lnTo>
                  <a:lnTo>
                    <a:pt x="480060" y="291084"/>
                  </a:lnTo>
                  <a:lnTo>
                    <a:pt x="0" y="291084"/>
                  </a:lnTo>
                  <a:lnTo>
                    <a:pt x="0" y="0"/>
                  </a:lnTo>
                  <a:close/>
                </a:path>
              </a:pathLst>
            </a:custGeom>
            <a:noFill/>
            <a:ln cap="flat" cmpd="sng" w="28950">
              <a:solidFill>
                <a:srgbClr val="4E3629"/>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458" name="Google Shape;458;p43"/>
            <p:cNvSpPr/>
            <p:nvPr/>
          </p:nvSpPr>
          <p:spPr>
            <a:xfrm>
              <a:off x="4935473" y="4431030"/>
              <a:ext cx="480059" cy="291465"/>
            </a:xfrm>
            <a:custGeom>
              <a:rect b="b" l="l" r="r" t="t"/>
              <a:pathLst>
                <a:path extrusionOk="0" h="291464" w="480060">
                  <a:moveTo>
                    <a:pt x="480060" y="0"/>
                  </a:moveTo>
                  <a:lnTo>
                    <a:pt x="0" y="0"/>
                  </a:lnTo>
                  <a:lnTo>
                    <a:pt x="0" y="291084"/>
                  </a:lnTo>
                  <a:lnTo>
                    <a:pt x="480060" y="291084"/>
                  </a:lnTo>
                  <a:lnTo>
                    <a:pt x="480060" y="0"/>
                  </a:lnTo>
                  <a:close/>
                </a:path>
              </a:pathLst>
            </a:custGeom>
            <a:solidFill>
              <a:srgbClr val="4E3629"/>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459" name="Google Shape;459;p43"/>
            <p:cNvSpPr/>
            <p:nvPr/>
          </p:nvSpPr>
          <p:spPr>
            <a:xfrm>
              <a:off x="4935473" y="4431030"/>
              <a:ext cx="480059" cy="291465"/>
            </a:xfrm>
            <a:custGeom>
              <a:rect b="b" l="l" r="r" t="t"/>
              <a:pathLst>
                <a:path extrusionOk="0" h="291464" w="480060">
                  <a:moveTo>
                    <a:pt x="0" y="0"/>
                  </a:moveTo>
                  <a:lnTo>
                    <a:pt x="480060" y="0"/>
                  </a:lnTo>
                  <a:lnTo>
                    <a:pt x="480060" y="291084"/>
                  </a:lnTo>
                  <a:lnTo>
                    <a:pt x="0" y="291084"/>
                  </a:lnTo>
                  <a:lnTo>
                    <a:pt x="0" y="0"/>
                  </a:lnTo>
                  <a:close/>
                </a:path>
              </a:pathLst>
            </a:custGeom>
            <a:noFill/>
            <a:ln cap="flat" cmpd="sng" w="28950">
              <a:solidFill>
                <a:srgbClr val="4E3629"/>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460" name="Google Shape;460;p43"/>
            <p:cNvSpPr/>
            <p:nvPr/>
          </p:nvSpPr>
          <p:spPr>
            <a:xfrm>
              <a:off x="4935473" y="4869942"/>
              <a:ext cx="480059" cy="292735"/>
            </a:xfrm>
            <a:custGeom>
              <a:rect b="b" l="l" r="r" t="t"/>
              <a:pathLst>
                <a:path extrusionOk="0" h="292735" w="480060">
                  <a:moveTo>
                    <a:pt x="480060" y="0"/>
                  </a:moveTo>
                  <a:lnTo>
                    <a:pt x="0" y="0"/>
                  </a:lnTo>
                  <a:lnTo>
                    <a:pt x="0" y="292607"/>
                  </a:lnTo>
                  <a:lnTo>
                    <a:pt x="480060" y="292607"/>
                  </a:lnTo>
                  <a:lnTo>
                    <a:pt x="480060" y="0"/>
                  </a:lnTo>
                  <a:close/>
                </a:path>
              </a:pathLst>
            </a:custGeom>
            <a:solidFill>
              <a:srgbClr val="4E3629"/>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461" name="Google Shape;461;p43"/>
            <p:cNvSpPr/>
            <p:nvPr/>
          </p:nvSpPr>
          <p:spPr>
            <a:xfrm>
              <a:off x="4935473" y="4869942"/>
              <a:ext cx="480059" cy="292735"/>
            </a:xfrm>
            <a:custGeom>
              <a:rect b="b" l="l" r="r" t="t"/>
              <a:pathLst>
                <a:path extrusionOk="0" h="292735" w="480060">
                  <a:moveTo>
                    <a:pt x="0" y="0"/>
                  </a:moveTo>
                  <a:lnTo>
                    <a:pt x="480060" y="0"/>
                  </a:lnTo>
                  <a:lnTo>
                    <a:pt x="480060" y="292607"/>
                  </a:lnTo>
                  <a:lnTo>
                    <a:pt x="0" y="292607"/>
                  </a:lnTo>
                  <a:lnTo>
                    <a:pt x="0" y="0"/>
                  </a:lnTo>
                  <a:close/>
                </a:path>
              </a:pathLst>
            </a:custGeom>
            <a:noFill/>
            <a:ln cap="flat" cmpd="sng" w="28950">
              <a:solidFill>
                <a:srgbClr val="4E3629"/>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462" name="Google Shape;462;p43"/>
            <p:cNvSpPr/>
            <p:nvPr/>
          </p:nvSpPr>
          <p:spPr>
            <a:xfrm>
              <a:off x="4935473" y="5299710"/>
              <a:ext cx="480059" cy="292735"/>
            </a:xfrm>
            <a:custGeom>
              <a:rect b="b" l="l" r="r" t="t"/>
              <a:pathLst>
                <a:path extrusionOk="0" h="292735" w="480060">
                  <a:moveTo>
                    <a:pt x="480060" y="0"/>
                  </a:moveTo>
                  <a:lnTo>
                    <a:pt x="0" y="0"/>
                  </a:lnTo>
                  <a:lnTo>
                    <a:pt x="0" y="292607"/>
                  </a:lnTo>
                  <a:lnTo>
                    <a:pt x="480060" y="292607"/>
                  </a:lnTo>
                  <a:lnTo>
                    <a:pt x="480060" y="0"/>
                  </a:lnTo>
                  <a:close/>
                </a:path>
              </a:pathLst>
            </a:custGeom>
            <a:solidFill>
              <a:srgbClr val="4E3629"/>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463" name="Google Shape;463;p43"/>
            <p:cNvSpPr/>
            <p:nvPr/>
          </p:nvSpPr>
          <p:spPr>
            <a:xfrm>
              <a:off x="4935473" y="5299710"/>
              <a:ext cx="480059" cy="292735"/>
            </a:xfrm>
            <a:custGeom>
              <a:rect b="b" l="l" r="r" t="t"/>
              <a:pathLst>
                <a:path extrusionOk="0" h="292735" w="480060">
                  <a:moveTo>
                    <a:pt x="0" y="0"/>
                  </a:moveTo>
                  <a:lnTo>
                    <a:pt x="480060" y="0"/>
                  </a:lnTo>
                  <a:lnTo>
                    <a:pt x="480060" y="292607"/>
                  </a:lnTo>
                  <a:lnTo>
                    <a:pt x="0" y="292607"/>
                  </a:lnTo>
                  <a:lnTo>
                    <a:pt x="0" y="0"/>
                  </a:lnTo>
                  <a:close/>
                </a:path>
              </a:pathLst>
            </a:custGeom>
            <a:noFill/>
            <a:ln cap="flat" cmpd="sng" w="28950">
              <a:solidFill>
                <a:srgbClr val="4E3629"/>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grpSp>
      <p:sp>
        <p:nvSpPr>
          <p:cNvPr id="464" name="Google Shape;464;p43"/>
          <p:cNvSpPr txBox="1"/>
          <p:nvPr>
            <p:ph idx="10" type="dt"/>
          </p:nvPr>
        </p:nvSpPr>
        <p:spPr>
          <a:xfrm>
            <a:off x="2874191" y="6516395"/>
            <a:ext cx="834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13-1</a:t>
            </a:r>
            <a:endParaRPr/>
          </a:p>
          <a:p>
            <a:pPr indent="0" lvl="0" marL="12700" rtl="0" algn="l">
              <a:lnSpc>
                <a:spcPct val="120624"/>
              </a:lnSpc>
              <a:spcBef>
                <a:spcPts val="0"/>
              </a:spcBef>
              <a:spcAft>
                <a:spcPts val="0"/>
              </a:spcAft>
              <a:buNone/>
            </a:pPr>
            <a:r>
              <a:rPr lang="en-US"/>
              <a:t>Creación de tablas</a:t>
            </a:r>
            <a:endParaRPr/>
          </a:p>
        </p:txBody>
      </p:sp>
      <p:sp>
        <p:nvSpPr>
          <p:cNvPr id="465" name="Google Shape;465;p43"/>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466" name="Google Shape;466;p43"/>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44"/>
          <p:cNvSpPr txBox="1"/>
          <p:nvPr>
            <p:ph type="title"/>
          </p:nvPr>
        </p:nvSpPr>
        <p:spPr>
          <a:xfrm>
            <a:off x="392112" y="748031"/>
            <a:ext cx="2653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Data Dictionary</a:t>
            </a:r>
            <a:endParaRPr/>
          </a:p>
        </p:txBody>
      </p:sp>
      <p:sp>
        <p:nvSpPr>
          <p:cNvPr id="472" name="Google Shape;472;p44"/>
          <p:cNvSpPr txBox="1"/>
          <p:nvPr>
            <p:ph idx="10" type="dt"/>
          </p:nvPr>
        </p:nvSpPr>
        <p:spPr>
          <a:xfrm>
            <a:off x="2874191" y="6516395"/>
            <a:ext cx="834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13-1</a:t>
            </a:r>
            <a:endParaRPr/>
          </a:p>
          <a:p>
            <a:pPr indent="0" lvl="0" marL="12700" rtl="0" algn="l">
              <a:lnSpc>
                <a:spcPct val="120624"/>
              </a:lnSpc>
              <a:spcBef>
                <a:spcPts val="0"/>
              </a:spcBef>
              <a:spcAft>
                <a:spcPts val="0"/>
              </a:spcAft>
              <a:buNone/>
            </a:pPr>
            <a:r>
              <a:rPr lang="en-US"/>
              <a:t>Creación de tablas</a:t>
            </a:r>
            <a:endParaRPr/>
          </a:p>
        </p:txBody>
      </p:sp>
      <p:sp>
        <p:nvSpPr>
          <p:cNvPr id="473" name="Google Shape;473;p44"/>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474" name="Google Shape;474;p44"/>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475" name="Google Shape;475;p44"/>
          <p:cNvSpPr txBox="1"/>
          <p:nvPr/>
        </p:nvSpPr>
        <p:spPr>
          <a:xfrm>
            <a:off x="483552" y="1415417"/>
            <a:ext cx="8173084" cy="2858770"/>
          </a:xfrm>
          <a:prstGeom prst="rect">
            <a:avLst/>
          </a:prstGeom>
          <a:noFill/>
          <a:ln>
            <a:noFill/>
          </a:ln>
        </p:spPr>
        <p:txBody>
          <a:bodyPr anchorCtr="0" anchor="t" bIns="0" lIns="0" spcFirstLastPara="1" rIns="0" wrap="square" tIns="59675">
            <a:spAutoFit/>
          </a:bodyPr>
          <a:lstStyle/>
          <a:p>
            <a:pPr indent="-177800" lvl="0" marL="184785"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Al utilizar las vistas del diccionario de datos en la  interfaz SQL Commands, debe saber los nombres de las  vistas del diccionario con las que está trabajando</a:t>
            </a:r>
            <a:endParaRPr sz="2800">
              <a:latin typeface="Calibri"/>
              <a:ea typeface="Calibri"/>
              <a:cs typeface="Calibri"/>
              <a:sym typeface="Calibri"/>
            </a:endParaRPr>
          </a:p>
          <a:p>
            <a:pPr indent="-177800" lvl="0" marL="184150" marR="55244"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Oracle, esto es bastante sencillo: ponga como  prefijo al tipo de objeto que está buscando USER_xxx o  ALL_xxx,</a:t>
            </a:r>
            <a:endParaRPr sz="2800">
              <a:latin typeface="Calibri"/>
              <a:ea typeface="Calibri"/>
              <a:cs typeface="Calibri"/>
              <a:sym typeface="Calibri"/>
            </a:endParaRPr>
          </a:p>
          <a:p>
            <a:pPr indent="0" lvl="0" marL="184150" marR="0" rtl="0" algn="l">
              <a:lnSpc>
                <a:spcPct val="106071"/>
              </a:lnSpc>
              <a:spcBef>
                <a:spcPts val="0"/>
              </a:spcBef>
              <a:spcAft>
                <a:spcPts val="0"/>
              </a:spcAft>
              <a:buNone/>
            </a:pPr>
            <a:r>
              <a:rPr lang="en-US" sz="2800">
                <a:solidFill>
                  <a:srgbClr val="4E3629"/>
                </a:solidFill>
                <a:latin typeface="Calibri"/>
                <a:ea typeface="Calibri"/>
                <a:cs typeface="Calibri"/>
                <a:sym typeface="Calibri"/>
              </a:rPr>
              <a:t>donde xxx es el tipo de objeto</a:t>
            </a:r>
            <a:endParaRPr sz="2800">
              <a:latin typeface="Calibri"/>
              <a:ea typeface="Calibri"/>
              <a:cs typeface="Calibri"/>
              <a:sym typeface="Calibri"/>
            </a:endParaRPr>
          </a:p>
        </p:txBody>
      </p:sp>
      <p:sp>
        <p:nvSpPr>
          <p:cNvPr id="476" name="Google Shape;476;p44"/>
          <p:cNvSpPr txBox="1"/>
          <p:nvPr/>
        </p:nvSpPr>
        <p:spPr>
          <a:xfrm>
            <a:off x="405384" y="4325111"/>
            <a:ext cx="8347075" cy="597535"/>
          </a:xfrm>
          <a:prstGeom prst="rect">
            <a:avLst/>
          </a:prstGeom>
          <a:solidFill>
            <a:srgbClr val="9DBEC4">
              <a:alpha val="49804"/>
            </a:srgbClr>
          </a:solidFill>
          <a:ln>
            <a:noFill/>
          </a:ln>
        </p:spPr>
        <p:txBody>
          <a:bodyPr anchorCtr="0" anchor="t" bIns="0" lIns="0" spcFirstLastPara="1" rIns="0" wrap="square" tIns="5075">
            <a:spAutoFit/>
          </a:bodyPr>
          <a:lstStyle/>
          <a:p>
            <a:pPr indent="0" lvl="0" marL="0" marR="4925060" rtl="0" algn="l">
              <a:lnSpc>
                <a:spcPct val="120000"/>
              </a:lnSpc>
              <a:spcBef>
                <a:spcPts val="0"/>
              </a:spcBef>
              <a:spcAft>
                <a:spcPts val="0"/>
              </a:spcAft>
              <a:buNone/>
            </a:pPr>
            <a:r>
              <a:rPr b="1" lang="en-US" sz="1800">
                <a:solidFill>
                  <a:srgbClr val="4E3629"/>
                </a:solidFill>
                <a:latin typeface="Courier New"/>
                <a:ea typeface="Courier New"/>
                <a:cs typeface="Courier New"/>
                <a:sym typeface="Courier New"/>
              </a:rPr>
              <a:t>SELECT table_name, status  FROM USER_TABLES;</a:t>
            </a:r>
            <a:endParaRPr sz="1800">
              <a:latin typeface="Courier New"/>
              <a:ea typeface="Courier New"/>
              <a:cs typeface="Courier New"/>
              <a:sym typeface="Courier New"/>
            </a:endParaRPr>
          </a:p>
        </p:txBody>
      </p:sp>
      <p:sp>
        <p:nvSpPr>
          <p:cNvPr id="477" name="Google Shape;477;p44"/>
          <p:cNvSpPr txBox="1"/>
          <p:nvPr/>
        </p:nvSpPr>
        <p:spPr>
          <a:xfrm>
            <a:off x="417576" y="5276088"/>
            <a:ext cx="8345805" cy="597535"/>
          </a:xfrm>
          <a:prstGeom prst="rect">
            <a:avLst/>
          </a:prstGeom>
          <a:solidFill>
            <a:srgbClr val="9DBEC4">
              <a:alpha val="49804"/>
            </a:srgbClr>
          </a:solidFill>
          <a:ln>
            <a:noFill/>
          </a:ln>
        </p:spPr>
        <p:txBody>
          <a:bodyPr anchorCtr="0" anchor="t" bIns="0" lIns="0" spcFirstLastPara="1" rIns="0" wrap="square" tIns="5700">
            <a:spAutoFit/>
          </a:bodyPr>
          <a:lstStyle/>
          <a:p>
            <a:pPr indent="0" lvl="0" marL="0" marR="4924425" rtl="0" algn="l">
              <a:lnSpc>
                <a:spcPct val="120000"/>
              </a:lnSpc>
              <a:spcBef>
                <a:spcPts val="0"/>
              </a:spcBef>
              <a:spcAft>
                <a:spcPts val="0"/>
              </a:spcAft>
              <a:buNone/>
            </a:pPr>
            <a:r>
              <a:rPr b="1" lang="en-US" sz="1800">
                <a:solidFill>
                  <a:srgbClr val="4E3629"/>
                </a:solidFill>
                <a:latin typeface="Courier New"/>
                <a:ea typeface="Courier New"/>
                <a:cs typeface="Courier New"/>
                <a:sym typeface="Courier New"/>
              </a:rPr>
              <a:t>SELECT table_name, status  FROM ALL_TABLES;</a:t>
            </a:r>
            <a:endParaRPr sz="1800">
              <a:latin typeface="Courier New"/>
              <a:ea typeface="Courier New"/>
              <a:cs typeface="Courier New"/>
              <a:sym typeface="Courier New"/>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45"/>
          <p:cNvSpPr txBox="1"/>
          <p:nvPr>
            <p:ph type="title"/>
          </p:nvPr>
        </p:nvSpPr>
        <p:spPr>
          <a:xfrm>
            <a:off x="392112" y="748031"/>
            <a:ext cx="2653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Data Dictionary</a:t>
            </a:r>
            <a:endParaRPr/>
          </a:p>
        </p:txBody>
      </p:sp>
      <p:sp>
        <p:nvSpPr>
          <p:cNvPr id="483" name="Google Shape;483;p45"/>
          <p:cNvSpPr txBox="1"/>
          <p:nvPr>
            <p:ph idx="10" type="dt"/>
          </p:nvPr>
        </p:nvSpPr>
        <p:spPr>
          <a:xfrm>
            <a:off x="2874191" y="6516395"/>
            <a:ext cx="834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13-1</a:t>
            </a:r>
            <a:endParaRPr/>
          </a:p>
          <a:p>
            <a:pPr indent="0" lvl="0" marL="12700" rtl="0" algn="l">
              <a:lnSpc>
                <a:spcPct val="120624"/>
              </a:lnSpc>
              <a:spcBef>
                <a:spcPts val="0"/>
              </a:spcBef>
              <a:spcAft>
                <a:spcPts val="0"/>
              </a:spcAft>
              <a:buNone/>
            </a:pPr>
            <a:r>
              <a:rPr lang="en-US"/>
              <a:t>Creación de tablas</a:t>
            </a:r>
            <a:endParaRPr/>
          </a:p>
        </p:txBody>
      </p:sp>
      <p:sp>
        <p:nvSpPr>
          <p:cNvPr id="484" name="Google Shape;484;p45"/>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485" name="Google Shape;485;p45"/>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486" name="Google Shape;486;p45"/>
          <p:cNvSpPr txBox="1"/>
          <p:nvPr/>
        </p:nvSpPr>
        <p:spPr>
          <a:xfrm>
            <a:off x="483552" y="1415417"/>
            <a:ext cx="7244715" cy="1604645"/>
          </a:xfrm>
          <a:prstGeom prst="rect">
            <a:avLst/>
          </a:prstGeom>
          <a:noFill/>
          <a:ln>
            <a:noFill/>
          </a:ln>
        </p:spPr>
        <p:txBody>
          <a:bodyPr anchorCtr="0" anchor="t" bIns="0" lIns="0" spcFirstLastPara="1" rIns="0" wrap="square" tIns="59675">
            <a:spAutoFit/>
          </a:bodyPr>
          <a:lstStyle/>
          <a:p>
            <a:pPr indent="-177800" lvl="0" marL="184785"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Por lo tanto, si desea investigar los índices,  simplemente seleccione USER_INDEXES; si desea  información acerca de las secuencias, la tabla es  USER_SEQUENCES, etc.</a:t>
            </a:r>
            <a:endParaRPr sz="2800">
              <a:latin typeface="Calibri"/>
              <a:ea typeface="Calibri"/>
              <a:cs typeface="Calibri"/>
              <a:sym typeface="Calibri"/>
            </a:endParaRPr>
          </a:p>
        </p:txBody>
      </p:sp>
      <p:sp>
        <p:nvSpPr>
          <p:cNvPr id="487" name="Google Shape;487;p45"/>
          <p:cNvSpPr txBox="1"/>
          <p:nvPr/>
        </p:nvSpPr>
        <p:spPr>
          <a:xfrm>
            <a:off x="393191" y="3160776"/>
            <a:ext cx="8345805" cy="597535"/>
          </a:xfrm>
          <a:prstGeom prst="rect">
            <a:avLst/>
          </a:prstGeom>
          <a:solidFill>
            <a:srgbClr val="9DBEC4">
              <a:alpha val="49804"/>
            </a:srgbClr>
          </a:solidFill>
          <a:ln>
            <a:noFill/>
          </a:ln>
        </p:spPr>
        <p:txBody>
          <a:bodyPr anchorCtr="0" anchor="t" bIns="0" lIns="0" spcFirstLastPara="1" rIns="0" wrap="square" tIns="0">
            <a:spAutoFit/>
          </a:bodyPr>
          <a:lstStyle/>
          <a:p>
            <a:pPr indent="0" lvl="0" marL="0" marR="0" rtl="0" algn="l">
              <a:lnSpc>
                <a:spcPct val="118333"/>
              </a:lnSpc>
              <a:spcBef>
                <a:spcPts val="0"/>
              </a:spcBef>
              <a:spcAft>
                <a:spcPts val="0"/>
              </a:spcAft>
              <a:buNone/>
            </a:pPr>
            <a:r>
              <a:rPr b="1" lang="en-US" sz="1800">
                <a:solidFill>
                  <a:srgbClr val="4E3629"/>
                </a:solidFill>
                <a:latin typeface="Courier New"/>
                <a:ea typeface="Courier New"/>
                <a:cs typeface="Courier New"/>
                <a:sym typeface="Courier New"/>
              </a:rPr>
              <a:t>SELECT *</a:t>
            </a:r>
            <a:endParaRPr sz="1800">
              <a:latin typeface="Courier New"/>
              <a:ea typeface="Courier New"/>
              <a:cs typeface="Courier New"/>
              <a:sym typeface="Courier New"/>
            </a:endParaRPr>
          </a:p>
          <a:p>
            <a:pPr indent="0" lvl="0" marL="0" marR="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user_indexes;</a:t>
            </a:r>
            <a:endParaRPr sz="1800">
              <a:latin typeface="Courier New"/>
              <a:ea typeface="Courier New"/>
              <a:cs typeface="Courier New"/>
              <a:sym typeface="Courier New"/>
            </a:endParaRPr>
          </a:p>
        </p:txBody>
      </p:sp>
      <p:sp>
        <p:nvSpPr>
          <p:cNvPr id="488" name="Google Shape;488;p45"/>
          <p:cNvSpPr txBox="1"/>
          <p:nvPr/>
        </p:nvSpPr>
        <p:spPr>
          <a:xfrm>
            <a:off x="405384" y="3931920"/>
            <a:ext cx="8345805" cy="873760"/>
          </a:xfrm>
          <a:prstGeom prst="rect">
            <a:avLst/>
          </a:prstGeom>
          <a:solidFill>
            <a:srgbClr val="9DBEC4">
              <a:alpha val="49804"/>
            </a:srgbClr>
          </a:solidFill>
          <a:ln>
            <a:noFill/>
          </a:ln>
        </p:spPr>
        <p:txBody>
          <a:bodyPr anchorCtr="0" anchor="t" bIns="0" lIns="0" spcFirstLastPara="1" rIns="0" wrap="square" tIns="0">
            <a:spAutoFit/>
          </a:bodyPr>
          <a:lstStyle/>
          <a:p>
            <a:pPr indent="0" lvl="0" marL="0" marR="0" rtl="0" algn="l">
              <a:lnSpc>
                <a:spcPct val="119166"/>
              </a:lnSpc>
              <a:spcBef>
                <a:spcPts val="0"/>
              </a:spcBef>
              <a:spcAft>
                <a:spcPts val="0"/>
              </a:spcAft>
              <a:buNone/>
            </a:pPr>
            <a:r>
              <a:rPr b="1" lang="en-US" sz="1800">
                <a:solidFill>
                  <a:srgbClr val="4E3629"/>
                </a:solidFill>
                <a:latin typeface="Courier New"/>
                <a:ea typeface="Courier New"/>
                <a:cs typeface="Courier New"/>
                <a:sym typeface="Courier New"/>
              </a:rPr>
              <a:t>SELECT *</a:t>
            </a:r>
            <a:endParaRPr sz="1800">
              <a:latin typeface="Courier New"/>
              <a:ea typeface="Courier New"/>
              <a:cs typeface="Courier New"/>
              <a:sym typeface="Courier New"/>
            </a:endParaRPr>
          </a:p>
          <a:p>
            <a:pPr indent="0" lvl="0" marL="0" marR="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user_objects</a:t>
            </a:r>
            <a:endParaRPr sz="1800">
              <a:latin typeface="Courier New"/>
              <a:ea typeface="Courier New"/>
              <a:cs typeface="Courier New"/>
              <a:sym typeface="Courier New"/>
            </a:endParaRPr>
          </a:p>
          <a:p>
            <a:pPr indent="0" lvl="0" marL="0" marR="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WHERE object_type = 'SEQUENCE';</a:t>
            </a:r>
            <a:endParaRPr sz="1800">
              <a:latin typeface="Courier New"/>
              <a:ea typeface="Courier New"/>
              <a:cs typeface="Courier New"/>
              <a:sym typeface="Courier New"/>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46"/>
          <p:cNvSpPr txBox="1"/>
          <p:nvPr>
            <p:ph type="title"/>
          </p:nvPr>
        </p:nvSpPr>
        <p:spPr>
          <a:xfrm>
            <a:off x="392112" y="748031"/>
            <a:ext cx="2229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Terminología</a:t>
            </a:r>
            <a:endParaRPr/>
          </a:p>
        </p:txBody>
      </p:sp>
      <p:sp>
        <p:nvSpPr>
          <p:cNvPr id="494" name="Google Shape;494;p46"/>
          <p:cNvSpPr txBox="1"/>
          <p:nvPr>
            <p:ph idx="10" type="dt"/>
          </p:nvPr>
        </p:nvSpPr>
        <p:spPr>
          <a:xfrm>
            <a:off x="2874191" y="6516395"/>
            <a:ext cx="834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13-1</a:t>
            </a:r>
            <a:endParaRPr/>
          </a:p>
          <a:p>
            <a:pPr indent="0" lvl="0" marL="12700" rtl="0" algn="l">
              <a:lnSpc>
                <a:spcPct val="120624"/>
              </a:lnSpc>
              <a:spcBef>
                <a:spcPts val="0"/>
              </a:spcBef>
              <a:spcAft>
                <a:spcPts val="0"/>
              </a:spcAft>
              <a:buNone/>
            </a:pPr>
            <a:r>
              <a:rPr lang="en-US"/>
              <a:t>Creación de tablas</a:t>
            </a:r>
            <a:endParaRPr/>
          </a:p>
        </p:txBody>
      </p:sp>
      <p:sp>
        <p:nvSpPr>
          <p:cNvPr id="495" name="Google Shape;495;p46"/>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496" name="Google Shape;496;p46"/>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497" name="Google Shape;497;p46"/>
          <p:cNvSpPr txBox="1"/>
          <p:nvPr/>
        </p:nvSpPr>
        <p:spPr>
          <a:xfrm>
            <a:off x="483552" y="1415417"/>
            <a:ext cx="7702550" cy="3119120"/>
          </a:xfrm>
          <a:prstGeom prst="rect">
            <a:avLst/>
          </a:prstGeom>
          <a:noFill/>
          <a:ln>
            <a:noFill/>
          </a:ln>
        </p:spPr>
        <p:txBody>
          <a:bodyPr anchorCtr="0" anchor="t" bIns="0" lIns="0" spcFirstLastPara="1" rIns="0" wrap="square" tIns="59675">
            <a:spAutoFit/>
          </a:bodyPr>
          <a:lstStyle/>
          <a:p>
            <a:pPr indent="-177800" lvl="0" marL="184785"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Entre los términos clave utilizados en esta lección se  incluyen:</a:t>
            </a:r>
            <a:endParaRPr sz="2800">
              <a:latin typeface="Calibri"/>
              <a:ea typeface="Calibri"/>
              <a:cs typeface="Calibri"/>
              <a:sym typeface="Calibri"/>
            </a:endParaRPr>
          </a:p>
          <a:p>
            <a:pPr indent="0" lvl="0" marL="355600" marR="0" rtl="0" algn="l">
              <a:lnSpc>
                <a:spcPct val="100000"/>
              </a:lnSpc>
              <a:spcBef>
                <a:spcPts val="9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CREATE TABLE</a:t>
            </a:r>
            <a:endParaRPr sz="2400">
              <a:latin typeface="Calibri"/>
              <a:ea typeface="Calibri"/>
              <a:cs typeface="Calibri"/>
              <a:sym typeface="Calibri"/>
            </a:endParaRPr>
          </a:p>
          <a:p>
            <a:pPr indent="0" lvl="0" marL="355600" marR="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Diccionario de datos</a:t>
            </a:r>
            <a:endParaRPr sz="2400">
              <a:latin typeface="Calibri"/>
              <a:ea typeface="Calibri"/>
              <a:cs typeface="Calibri"/>
              <a:sym typeface="Calibri"/>
            </a:endParaRPr>
          </a:p>
          <a:p>
            <a:pPr indent="0" lvl="0" marL="355600" marR="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Tabla</a:t>
            </a:r>
            <a:endParaRPr sz="2400">
              <a:latin typeface="Calibri"/>
              <a:ea typeface="Calibri"/>
              <a:cs typeface="Calibri"/>
              <a:sym typeface="Calibri"/>
            </a:endParaRPr>
          </a:p>
          <a:p>
            <a:pPr indent="0" lvl="0" marL="355600" marR="0" rtl="0" algn="l">
              <a:lnSpc>
                <a:spcPct val="100000"/>
              </a:lnSpc>
              <a:spcBef>
                <a:spcPts val="12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Tabla externa</a:t>
            </a:r>
            <a:endParaRPr sz="2400">
              <a:latin typeface="Calibri"/>
              <a:ea typeface="Calibri"/>
              <a:cs typeface="Calibri"/>
              <a:sym typeface="Calibri"/>
            </a:endParaRPr>
          </a:p>
          <a:p>
            <a:pPr indent="0" lvl="0" marL="355600" marR="0" rtl="0" algn="l">
              <a:lnSpc>
                <a:spcPct val="100000"/>
              </a:lnSpc>
              <a:spcBef>
                <a:spcPts val="10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Esquema</a:t>
            </a:r>
            <a:endParaRPr sz="2400">
              <a:latin typeface="Calibri"/>
              <a:ea typeface="Calibri"/>
              <a:cs typeface="Calibri"/>
              <a:sym typeface="Calibri"/>
            </a:endParaRPr>
          </a:p>
          <a:p>
            <a:pPr indent="0" lvl="0" marL="355600" marR="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DEFAULT</a:t>
            </a:r>
            <a:endParaRPr sz="2400">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47"/>
          <p:cNvSpPr txBox="1"/>
          <p:nvPr>
            <p:ph type="title"/>
          </p:nvPr>
        </p:nvSpPr>
        <p:spPr>
          <a:xfrm>
            <a:off x="392112" y="748031"/>
            <a:ext cx="16020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Resumen</a:t>
            </a:r>
            <a:endParaRPr/>
          </a:p>
        </p:txBody>
      </p:sp>
      <p:sp>
        <p:nvSpPr>
          <p:cNvPr id="503" name="Google Shape;503;p47"/>
          <p:cNvSpPr txBox="1"/>
          <p:nvPr>
            <p:ph idx="10" type="dt"/>
          </p:nvPr>
        </p:nvSpPr>
        <p:spPr>
          <a:xfrm>
            <a:off x="2874191" y="6516395"/>
            <a:ext cx="834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13-1</a:t>
            </a:r>
            <a:endParaRPr/>
          </a:p>
          <a:p>
            <a:pPr indent="0" lvl="0" marL="12700" rtl="0" algn="l">
              <a:lnSpc>
                <a:spcPct val="120624"/>
              </a:lnSpc>
              <a:spcBef>
                <a:spcPts val="0"/>
              </a:spcBef>
              <a:spcAft>
                <a:spcPts val="0"/>
              </a:spcAft>
              <a:buNone/>
            </a:pPr>
            <a:r>
              <a:rPr lang="en-US"/>
              <a:t>Creación de tablas</a:t>
            </a:r>
            <a:endParaRPr/>
          </a:p>
        </p:txBody>
      </p:sp>
      <p:sp>
        <p:nvSpPr>
          <p:cNvPr id="504" name="Google Shape;504;p47"/>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505" name="Google Shape;505;p47"/>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506" name="Google Shape;506;p47"/>
          <p:cNvSpPr txBox="1"/>
          <p:nvPr/>
        </p:nvSpPr>
        <p:spPr>
          <a:xfrm>
            <a:off x="483552" y="1393401"/>
            <a:ext cx="7736205" cy="3415665"/>
          </a:xfrm>
          <a:prstGeom prst="rect">
            <a:avLst/>
          </a:prstGeom>
          <a:noFill/>
          <a:ln>
            <a:noFill/>
          </a:ln>
        </p:spPr>
        <p:txBody>
          <a:bodyPr anchorCtr="0" anchor="t" bIns="0" lIns="0" spcFirstLastPara="1" rIns="0" wrap="square" tIns="34275">
            <a:spAutoFit/>
          </a:bodyPr>
          <a:lstStyle/>
          <a:p>
            <a:pPr indent="-177800" lvl="0" marL="184785" marR="0"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esta lección, debe haber aprendido lo siguiente:</a:t>
            </a:r>
            <a:endParaRPr sz="2800">
              <a:latin typeface="Calibri"/>
              <a:ea typeface="Calibri"/>
              <a:cs typeface="Calibri"/>
              <a:sym typeface="Calibri"/>
            </a:endParaRPr>
          </a:p>
          <a:p>
            <a:pPr indent="0" lvl="0" marL="355600" marR="0" rtl="0" algn="l">
              <a:lnSpc>
                <a:spcPct val="100000"/>
              </a:lnSpc>
              <a:spcBef>
                <a:spcPts val="14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Clasificación de los Principales Objetos de Base de Datos</a:t>
            </a:r>
            <a:endParaRPr sz="2400">
              <a:latin typeface="Calibri"/>
              <a:ea typeface="Calibri"/>
              <a:cs typeface="Calibri"/>
              <a:sym typeface="Calibri"/>
            </a:endParaRPr>
          </a:p>
          <a:p>
            <a:pPr indent="0" lvl="0" marL="355600" marR="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Revisar la estructura de una tabla</a:t>
            </a:r>
            <a:endParaRPr sz="2400">
              <a:latin typeface="Calibri"/>
              <a:ea typeface="Calibri"/>
              <a:cs typeface="Calibri"/>
              <a:sym typeface="Calibri"/>
            </a:endParaRPr>
          </a:p>
          <a:p>
            <a:pPr indent="0" lvl="0" marL="355600" marR="0" rtl="0" algn="l">
              <a:lnSpc>
                <a:spcPct val="100000"/>
              </a:lnSpc>
              <a:spcBef>
                <a:spcPts val="10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Describir cómo se utilizan los objetos de esquema</a:t>
            </a:r>
            <a:endParaRPr sz="2400">
              <a:latin typeface="Calibri"/>
              <a:ea typeface="Calibri"/>
              <a:cs typeface="Calibri"/>
              <a:sym typeface="Calibri"/>
            </a:endParaRPr>
          </a:p>
          <a:p>
            <a:pPr indent="-175260" lvl="0" marL="530860" marR="291465" rtl="0" algn="l">
              <a:lnSpc>
                <a:spcPct val="107916"/>
              </a:lnSpc>
              <a:spcBef>
                <a:spcPts val="45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Crear una tabla mediante el tipo de dato adecuado para  cada columna</a:t>
            </a:r>
            <a:endParaRPr sz="2400">
              <a:latin typeface="Calibri"/>
              <a:ea typeface="Calibri"/>
              <a:cs typeface="Calibri"/>
              <a:sym typeface="Calibri"/>
            </a:endParaRPr>
          </a:p>
          <a:p>
            <a:pPr indent="0" lvl="0" marL="355600" marR="0" rtl="0" algn="l">
              <a:lnSpc>
                <a:spcPct val="100000"/>
              </a:lnSpc>
              <a:spcBef>
                <a:spcPts val="7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Explicar el uso de tablas externas</a:t>
            </a:r>
            <a:endParaRPr sz="2400">
              <a:latin typeface="Calibri"/>
              <a:ea typeface="Calibri"/>
              <a:cs typeface="Calibri"/>
              <a:sym typeface="Calibri"/>
            </a:endParaRPr>
          </a:p>
          <a:p>
            <a:pPr indent="-175260" lvl="0" marL="530860" marR="5080" rtl="0" algn="l">
              <a:lnSpc>
                <a:spcPct val="107916"/>
              </a:lnSpc>
              <a:spcBef>
                <a:spcPts val="439"/>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Utilizar el diccionario de datos para obtener los nombres y  otros atributos de objetos de la base de datos</a:t>
            </a:r>
            <a:endParaRPr sz="2400">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