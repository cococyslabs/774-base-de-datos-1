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8EB22B-DD3A-453A-BCB6-5743BB26F174}">
  <a:tblStyle styleId="{918EB22B-DD3A-453A-BCB6-5743BB26F17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07:59:32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expresiones regulares son un tema muy detallado y profundo. El único objetivo de esta lección es proporcionar una breve visión general de su finalidad y su uso.</a:t>
            </a:r>
            <a:endParaRPr/>
          </a:p>
        </p:txBody>
      </p:sp>
      <p:sp>
        <p:nvSpPr>
          <p:cNvPr id="88" name="Google Shape;8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07:59:33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lista completa de metacaracteres con ejemplos de su uso se puede encontrar en http://docs.oracle.com</a:t>
            </a:r>
            <a:endParaRPr/>
          </a:p>
        </p:txBody>
      </p:sp>
      <p:sp>
        <p:nvSpPr>
          <p:cNvPr id="106" name="Google Shape;10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2020-12-17 07:59:34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Subexpresión: expresión que forma parte de una expresión mayor.</a:t>
            </a:r>
            <a:endParaRPr/>
          </a:p>
        </p:txBody>
      </p:sp>
      <p:sp>
        <p:nvSpPr>
          <p:cNvPr id="204" name="Google Shape;204;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385319"/>
            <a:ext cx="4032900" cy="894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93401"/>
            <a:ext cx="7958400" cy="2275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9837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E0E2E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DF0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55591"/>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277876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17-3</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Expresiones regulares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698747" y="3485388"/>
            <a:ext cx="5058155"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385319"/>
            <a:ext cx="40329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74" name="Google Shape;74;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5" name="Google Shape;75;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76" name="Google Shape;76;p15"/>
          <p:cNvSpPr txBox="1"/>
          <p:nvPr>
            <p:ph idx="1" type="body"/>
          </p:nvPr>
        </p:nvSpPr>
        <p:spPr>
          <a:xfrm>
            <a:off x="483552" y="1393401"/>
            <a:ext cx="7958400" cy="25260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se abordan los siguientes objetivos:</a:t>
            </a:r>
            <a:endParaRPr/>
          </a:p>
          <a:p>
            <a:pPr indent="0" lvl="0" marL="355600" rtl="0" algn="l">
              <a:lnSpc>
                <a:spcPct val="100000"/>
              </a:lnSpc>
              <a:spcBef>
                <a:spcPts val="145"/>
              </a:spcBef>
              <a:spcAft>
                <a:spcPts val="0"/>
              </a:spcAft>
              <a:buNone/>
            </a:pPr>
            <a:r>
              <a:rPr lang="en-US" sz="2400">
                <a:solidFill>
                  <a:srgbClr val="D1350F"/>
                </a:solidFill>
              </a:rPr>
              <a:t>−</a:t>
            </a:r>
            <a:r>
              <a:rPr lang="en-US" sz="2400"/>
              <a:t>Describir las expresiones regulares</a:t>
            </a:r>
            <a:endParaRPr sz="2400"/>
          </a:p>
          <a:p>
            <a:pPr indent="-175260" lvl="0" marL="530860" marR="138430" rtl="0" algn="l">
              <a:lnSpc>
                <a:spcPct val="107916"/>
              </a:lnSpc>
              <a:spcBef>
                <a:spcPts val="434"/>
              </a:spcBef>
              <a:spcAft>
                <a:spcPts val="0"/>
              </a:spcAft>
              <a:buNone/>
            </a:pPr>
            <a:r>
              <a:rPr lang="en-US" sz="2400">
                <a:solidFill>
                  <a:srgbClr val="D1350F"/>
                </a:solidFill>
              </a:rPr>
              <a:t>−</a:t>
            </a:r>
            <a:r>
              <a:rPr lang="en-US" sz="2400"/>
              <a:t>Utilizar expresiones regulares para buscar, hacer coincidir y sustituir cadenas en sentencias SQL</a:t>
            </a:r>
            <a:endParaRPr sz="2400"/>
          </a:p>
          <a:p>
            <a:pPr indent="-175260" lvl="0" marL="530860" marR="5080" rtl="0" algn="l">
              <a:lnSpc>
                <a:spcPct val="107916"/>
              </a:lnSpc>
              <a:spcBef>
                <a:spcPts val="400"/>
              </a:spcBef>
              <a:spcAft>
                <a:spcPts val="1200"/>
              </a:spcAft>
              <a:buNone/>
            </a:pPr>
            <a:r>
              <a:rPr lang="en-US" sz="2400">
                <a:solidFill>
                  <a:srgbClr val="D1350F"/>
                </a:solidFill>
              </a:rPr>
              <a:t>−</a:t>
            </a:r>
            <a:r>
              <a:rPr lang="en-US" sz="2400"/>
              <a:t>Construir y ejecutar expresiones regulares y restricciones de control</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92112" y="385319"/>
            <a:ext cx="40329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a:t>
            </a:r>
            <a:endParaRPr/>
          </a:p>
        </p:txBody>
      </p:sp>
      <p:sp>
        <p:nvSpPr>
          <p:cNvPr id="82" name="Google Shape;82;p16"/>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83" name="Google Shape;83;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4" name="Google Shape;84;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5" name="Google Shape;85;p16"/>
          <p:cNvSpPr txBox="1"/>
          <p:nvPr/>
        </p:nvSpPr>
        <p:spPr>
          <a:xfrm>
            <a:off x="483552" y="1381889"/>
            <a:ext cx="8051165" cy="4170045"/>
          </a:xfrm>
          <a:prstGeom prst="rect">
            <a:avLst/>
          </a:prstGeom>
          <a:noFill/>
          <a:ln>
            <a:noFill/>
          </a:ln>
        </p:spPr>
        <p:txBody>
          <a:bodyPr anchorCtr="0" anchor="t" bIns="0" lIns="0" spcFirstLastPara="1" rIns="0" wrap="square" tIns="97150">
            <a:spAutoFit/>
          </a:bodyPr>
          <a:lstStyle/>
          <a:p>
            <a:pPr indent="-177800" lvl="0" marL="182880" marR="208915" rtl="0" algn="just">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ocasiones, puede que tenga que buscar o sustituir 	una parte concreta de texto en una columna, cadena 	de texto o documento</a:t>
            </a:r>
            <a:endParaRPr sz="2800">
              <a:latin typeface="Calibri"/>
              <a:ea typeface="Calibri"/>
              <a:cs typeface="Calibri"/>
              <a:sym typeface="Calibri"/>
            </a:endParaRPr>
          </a:p>
          <a:p>
            <a:pPr indent="-177800" lvl="0" marL="182880" marR="77724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Ya sabe cómo realizar una coincidencia de patrón 	simple mediante LIKE y comodines</a:t>
            </a:r>
            <a:endParaRPr sz="2800">
              <a:latin typeface="Calibri"/>
              <a:ea typeface="Calibri"/>
              <a:cs typeface="Calibri"/>
              <a:sym typeface="Calibri"/>
            </a:endParaRPr>
          </a:p>
          <a:p>
            <a:pPr indent="-177800" lvl="0" marL="182880" marR="5080" rtl="0" algn="l">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ocasiones puede que deba buscar cadenas de texto 	muy complejas como, por ejemplo, la extracción de 	todas URL de un fragmento de texto</a:t>
            </a:r>
            <a:endParaRPr sz="2800">
              <a:latin typeface="Calibri"/>
              <a:ea typeface="Calibri"/>
              <a:cs typeface="Calibri"/>
              <a:sym typeface="Calibri"/>
            </a:endParaRPr>
          </a:p>
          <a:p>
            <a:pPr indent="-177800" lvl="0" marL="182880" marR="458470" rtl="0" algn="just">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Otras veces, es posible que se le solicite que realice 	una búsqueda más compleja como buscar todas las 	palabras cuyo segundo carácter es una vocal</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92112" y="385319"/>
            <a:ext cx="40329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a:t>
            </a:r>
            <a:endParaRPr/>
          </a:p>
        </p:txBody>
      </p:sp>
      <p:sp>
        <p:nvSpPr>
          <p:cNvPr id="91" name="Google Shape;91;p17"/>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92" name="Google Shape;92;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3" name="Google Shape;93;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4" name="Google Shape;94;p17"/>
          <p:cNvSpPr txBox="1"/>
          <p:nvPr/>
        </p:nvSpPr>
        <p:spPr>
          <a:xfrm>
            <a:off x="483552" y="1415417"/>
            <a:ext cx="8166734" cy="4112895"/>
          </a:xfrm>
          <a:prstGeom prst="rect">
            <a:avLst/>
          </a:prstGeom>
          <a:noFill/>
          <a:ln>
            <a:noFill/>
          </a:ln>
        </p:spPr>
        <p:txBody>
          <a:bodyPr anchorCtr="0" anchor="t" bIns="0" lIns="0" spcFirstLastPara="1" rIns="0" wrap="square" tIns="59675">
            <a:spAutoFit/>
          </a:bodyPr>
          <a:lstStyle/>
          <a:p>
            <a:pPr indent="-177800" lvl="0" marL="182880" marR="482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expresiones regulares son un método de 	descripción de patrones tanto simples como complejos 	para la búsqueda y la manipulación</a:t>
            </a:r>
            <a:endParaRPr sz="2800">
              <a:latin typeface="Calibri"/>
              <a:ea typeface="Calibri"/>
              <a:cs typeface="Calibri"/>
              <a:sym typeface="Calibri"/>
            </a:endParaRPr>
          </a:p>
          <a:p>
            <a:pPr indent="-177800" lvl="0" marL="182880" marR="32575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utilizan ampliamente en el sector informático y no 	están limitadas a Oracle</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implantación de expresiones regulares de Oracle es 	una extensión de POSIX (Portable Operating System for 	UNIX) y, como tal, es completamente compatible con el 	estándar POSIX, controlado por Institute of Electrical 	and Electronics Engineers (IEEE)</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92112" y="385319"/>
            <a:ext cx="40329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Expresiones regulares</a:t>
            </a:r>
            <a:endParaRPr/>
          </a:p>
        </p:txBody>
      </p:sp>
      <p:sp>
        <p:nvSpPr>
          <p:cNvPr id="100" name="Google Shape;100;p18"/>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01" name="Google Shape;101;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2" name="Google Shape;102;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3" name="Google Shape;103;p18"/>
          <p:cNvSpPr txBox="1"/>
          <p:nvPr/>
        </p:nvSpPr>
        <p:spPr>
          <a:xfrm>
            <a:off x="483552" y="1415417"/>
            <a:ext cx="7866380" cy="3625215"/>
          </a:xfrm>
          <a:prstGeom prst="rect">
            <a:avLst/>
          </a:prstGeom>
          <a:noFill/>
          <a:ln>
            <a:noFill/>
          </a:ln>
        </p:spPr>
        <p:txBody>
          <a:bodyPr anchorCtr="0" anchor="t" bIns="0" lIns="0" spcFirstLastPara="1" rIns="0" wrap="square" tIns="59675">
            <a:spAutoFit/>
          </a:bodyPr>
          <a:lstStyle/>
          <a:p>
            <a:pPr indent="-177800" lvl="0" marL="182880" marR="1835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uso de expresiones normales se basa en el uso de 	metacaracteres</a:t>
            </a:r>
            <a:endParaRPr sz="2800">
              <a:latin typeface="Calibri"/>
              <a:ea typeface="Calibri"/>
              <a:cs typeface="Calibri"/>
              <a:sym typeface="Calibri"/>
            </a:endParaRPr>
          </a:p>
          <a:p>
            <a:pPr indent="-175260" lvl="0" marL="530225" marR="5080"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Los metacaracteres son caracteres con un significado especial, como un carácter comodín, un carácter repetitivo, un carácter no coincidente o un rango de caracteres</a:t>
            </a:r>
            <a:endParaRPr sz="2400">
              <a:latin typeface="Calibri"/>
              <a:ea typeface="Calibri"/>
              <a:cs typeface="Calibri"/>
              <a:sym typeface="Calibri"/>
            </a:endParaRPr>
          </a:p>
          <a:p>
            <a:pPr indent="-175260" lvl="0" marL="530860" marR="13004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Puede utilizar varios símbolos de metacaracteres predefinidos en la coincidencia de patrones</a:t>
            </a:r>
            <a:endParaRPr sz="2400">
              <a:latin typeface="Calibri"/>
              <a:ea typeface="Calibri"/>
              <a:cs typeface="Calibri"/>
              <a:sym typeface="Calibri"/>
            </a:endParaRPr>
          </a:p>
          <a:p>
            <a:pPr indent="-175260" lvl="0" marL="530860" marR="16192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 las siguientes diapositivas se muestran algunos de los metacaracteres y se proporcione una breve explicación de cada uno de ellos</a:t>
            </a:r>
            <a:endParaRPr sz="24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92112" y="748031"/>
            <a:ext cx="267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Metacaracteres</a:t>
            </a:r>
            <a:endParaRPr/>
          </a:p>
        </p:txBody>
      </p:sp>
      <p:sp>
        <p:nvSpPr>
          <p:cNvPr id="109" name="Google Shape;109;p19"/>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10" name="Google Shape;110;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1" name="Google Shape;111;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12" name="Google Shape;112;p19"/>
          <p:cNvGraphicFramePr/>
          <p:nvPr/>
        </p:nvGraphicFramePr>
        <p:xfrm>
          <a:off x="627702" y="1500826"/>
          <a:ext cx="3000000" cy="3000000"/>
        </p:xfrm>
        <a:graphic>
          <a:graphicData uri="http://schemas.openxmlformats.org/drawingml/2006/table">
            <a:tbl>
              <a:tblPr bandRow="1" firstRow="1">
                <a:noFill/>
                <a:tableStyleId>{918EB22B-DD3A-453A-BCB6-5743BB26F174}</a:tableStyleId>
              </a:tblPr>
              <a:tblGrid>
                <a:gridCol w="1173475"/>
                <a:gridCol w="6708150"/>
              </a:tblGrid>
              <a:tr h="334650">
                <a:tc>
                  <a:txBody>
                    <a:bodyPr/>
                    <a:lstStyle/>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Símbolo</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Description</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94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 (punto)</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Coincide con cualquier carácter en el juego de caracteres soportados, excepto NULL</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2575">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a:t>
                      </a:r>
                      <a:endParaRPr sz="1500" u="none" cap="none" strike="noStrike">
                        <a:latin typeface="Calibri"/>
                        <a:ea typeface="Calibri"/>
                        <a:cs typeface="Calibri"/>
                        <a:sym typeface="Calibri"/>
                      </a:endParaRPr>
                    </a:p>
                  </a:txBody>
                  <a:tcPr marT="56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Coincide con ninguna o una incidencia</a:t>
                      </a:r>
                      <a:endParaRPr sz="1500" u="none" cap="none" strike="noStrike">
                        <a:latin typeface="Calibri"/>
                        <a:ea typeface="Calibri"/>
                        <a:cs typeface="Calibri"/>
                        <a:sym typeface="Calibri"/>
                      </a:endParaRPr>
                    </a:p>
                  </a:txBody>
                  <a:tcPr marT="56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94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Coincide con cero o más incidencias</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94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Coincide con una o más incidencias</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64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a:t>
                      </a:r>
                      <a:endParaRPr sz="1500" u="none" cap="none" strike="noStrike">
                        <a:latin typeface="Calibri"/>
                        <a:ea typeface="Calibri"/>
                        <a:cs typeface="Calibri"/>
                        <a:sym typeface="Calibri"/>
                      </a:endParaRPr>
                    </a:p>
                  </a:txBody>
                  <a:tcPr marT="7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Expresión de agrupación, que se trata como una sola subexpresión</a:t>
                      </a:r>
                      <a:endParaRPr sz="1500" u="none" cap="none" strike="noStrike">
                        <a:latin typeface="Calibri"/>
                        <a:ea typeface="Calibri"/>
                        <a:cs typeface="Calibri"/>
                        <a:sym typeface="Calibri"/>
                      </a:endParaRPr>
                    </a:p>
                  </a:txBody>
                  <a:tcPr marT="7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02275">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a:t>
                      </a:r>
                      <a:endParaRPr sz="1500" u="none" cap="none" strike="noStrike">
                        <a:latin typeface="Calibri"/>
                        <a:ea typeface="Calibri"/>
                        <a:cs typeface="Calibri"/>
                        <a:sym typeface="Calibri"/>
                      </a:endParaRPr>
                    </a:p>
                  </a:txBody>
                  <a:tcPr marT="126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Carácter de escape</a:t>
                      </a:r>
                      <a:endParaRPr sz="1500" u="none" cap="none" strike="noStrike">
                        <a:latin typeface="Calibri"/>
                        <a:ea typeface="Calibri"/>
                        <a:cs typeface="Calibri"/>
                        <a:sym typeface="Calibri"/>
                      </a:endParaRPr>
                    </a:p>
                  </a:txBody>
                  <a:tcPr marT="126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a:t>
                      </a:r>
                      <a:endParaRPr sz="1500" u="none" cap="none" strike="noStrike">
                        <a:latin typeface="Calibri"/>
                        <a:ea typeface="Calibri"/>
                        <a:cs typeface="Calibri"/>
                        <a:sym typeface="Calibri"/>
                      </a:endParaRPr>
                    </a:p>
                  </a:txBody>
                  <a:tcPr marT="88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Operador de alternancia para especificar coincidencias alternativas</a:t>
                      </a:r>
                      <a:endParaRPr sz="1500" u="none" cap="none" strike="noStrike">
                        <a:latin typeface="Calibri"/>
                        <a:ea typeface="Calibri"/>
                        <a:cs typeface="Calibri"/>
                        <a:sym typeface="Calibri"/>
                      </a:endParaRPr>
                    </a:p>
                  </a:txBody>
                  <a:tcPr marT="88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895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a:t>
                      </a:r>
                      <a:endParaRPr sz="1500" u="none" cap="none" strike="noStrike">
                        <a:latin typeface="Calibri"/>
                        <a:ea typeface="Calibri"/>
                        <a:cs typeface="Calibri"/>
                        <a:sym typeface="Calibri"/>
                      </a:endParaRPr>
                    </a:p>
                  </a:txBody>
                  <a:tcPr marT="7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Coincide con el principio de línea/final de línea</a:t>
                      </a:r>
                      <a:endParaRPr sz="1500" u="none" cap="none" strike="noStrike">
                        <a:latin typeface="Calibri"/>
                        <a:ea typeface="Calibri"/>
                        <a:cs typeface="Calibri"/>
                        <a:sym typeface="Calibri"/>
                      </a:endParaRPr>
                    </a:p>
                  </a:txBody>
                  <a:tcPr marT="7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480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 ]</a:t>
                      </a:r>
                      <a:endParaRPr sz="1500" u="none" cap="none" strike="noStrike">
                        <a:latin typeface="Calibri"/>
                        <a:ea typeface="Calibri"/>
                        <a:cs typeface="Calibri"/>
                        <a:sym typeface="Calibri"/>
                      </a:endParaRPr>
                    </a:p>
                  </a:txBody>
                  <a:tcPr marT="14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688975" rtl="0" algn="l">
                        <a:lnSpc>
                          <a:spcPct val="100699"/>
                        </a:lnSpc>
                        <a:spcBef>
                          <a:spcPts val="0"/>
                        </a:spcBef>
                        <a:spcAft>
                          <a:spcPts val="0"/>
                        </a:spcAft>
                        <a:buNone/>
                      </a:pPr>
                      <a:r>
                        <a:rPr lang="en-US" sz="1500" u="none" cap="none" strike="noStrike">
                          <a:solidFill>
                            <a:srgbClr val="4E3629"/>
                          </a:solidFill>
                          <a:latin typeface="Calibri"/>
                          <a:ea typeface="Calibri"/>
                          <a:cs typeface="Calibri"/>
                          <a:sym typeface="Calibri"/>
                        </a:rPr>
                        <a:t>Expresión de corchetes para una lista coincidente que coincide con cualquier expresión representada en la lista</a:t>
                      </a:r>
                      <a:endParaRPr sz="15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92112" y="748031"/>
            <a:ext cx="5959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Ejemplos de Expresiones Normales</a:t>
            </a:r>
            <a:endParaRPr/>
          </a:p>
        </p:txBody>
      </p:sp>
      <p:sp>
        <p:nvSpPr>
          <p:cNvPr id="118" name="Google Shape;118;p20"/>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19" name="Google Shape;119;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0" name="Google Shape;120;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1" name="Google Shape;121;p20"/>
          <p:cNvSpPr txBox="1"/>
          <p:nvPr/>
        </p:nvSpPr>
        <p:spPr>
          <a:xfrm>
            <a:off x="483552" y="1415417"/>
            <a:ext cx="7689850" cy="3829050"/>
          </a:xfrm>
          <a:prstGeom prst="rect">
            <a:avLst/>
          </a:prstGeom>
          <a:noFill/>
          <a:ln>
            <a:noFill/>
          </a:ln>
        </p:spPr>
        <p:txBody>
          <a:bodyPr anchorCtr="0" anchor="t" bIns="0" lIns="0" spcFirstLastPara="1" rIns="0" wrap="square" tIns="59675">
            <a:spAutoFit/>
          </a:bodyPr>
          <a:lstStyle/>
          <a:p>
            <a:pPr indent="-177800" lvl="0" marL="182880" marR="5594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expresión regular simple es muy similar a la 	búsqueda con comodines con la que ya está 	familiarizado</a:t>
            </a:r>
            <a:endParaRPr sz="2800">
              <a:latin typeface="Calibri"/>
              <a:ea typeface="Calibri"/>
              <a:cs typeface="Calibri"/>
              <a:sym typeface="Calibri"/>
            </a:endParaRPr>
          </a:p>
          <a:p>
            <a:pPr indent="-177800" lvl="0" marL="182880" marR="2159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Veamos un ejemplo: vamos a utilizar el operador de 	punto para buscar la letra "a" seguida de cualquier 	carácter seguido de la letra "c"</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expresión regular, esto se haría como: 'a.c'</a:t>
            </a:r>
            <a:endParaRPr sz="2800">
              <a:latin typeface="Calibri"/>
              <a:ea typeface="Calibri"/>
              <a:cs typeface="Calibri"/>
              <a:sym typeface="Calibri"/>
            </a:endParaRPr>
          </a:p>
          <a:p>
            <a:pPr indent="-177800" lvl="0" marL="182880" marR="5080" rtl="0" algn="l">
              <a:lnSpc>
                <a:spcPct val="108214"/>
              </a:lnSpc>
              <a:spcBef>
                <a:spcPts val="8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misma expresión como búsqueda con comodines 	SQL estándar sería: WHERE column LIKE 'a_c'</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92112" y="748031"/>
            <a:ext cx="5959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Ejemplos de Expresiones Normales</a:t>
            </a:r>
            <a:endParaRPr/>
          </a:p>
        </p:txBody>
      </p:sp>
      <p:sp>
        <p:nvSpPr>
          <p:cNvPr id="127" name="Google Shape;127;p21"/>
          <p:cNvSpPr txBox="1"/>
          <p:nvPr/>
        </p:nvSpPr>
        <p:spPr>
          <a:xfrm>
            <a:off x="483552" y="1393401"/>
            <a:ext cx="7894955" cy="35179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¿Cuáles de las siguientes cadenas coincidirá con 'a.c'?</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'ABC',</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'abc',</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'aqx',</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'axc',</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'aBc',</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'abC'</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'Amc'</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'amrc'</a:t>
            </a:r>
            <a:endParaRPr sz="2400">
              <a:latin typeface="Calibri"/>
              <a:ea typeface="Calibri"/>
              <a:cs typeface="Calibri"/>
              <a:sym typeface="Calibri"/>
            </a:endParaRPr>
          </a:p>
        </p:txBody>
      </p:sp>
      <p:pic>
        <p:nvPicPr>
          <p:cNvPr id="128" name="Google Shape;128;p21"/>
          <p:cNvPicPr preferRelativeResize="0"/>
          <p:nvPr/>
        </p:nvPicPr>
        <p:blipFill rotWithShape="1">
          <a:blip r:embed="rId3">
            <a:alphaModFix/>
          </a:blip>
          <a:srcRect b="0" l="0" r="0" t="0"/>
          <a:stretch/>
        </p:blipFill>
        <p:spPr>
          <a:xfrm>
            <a:off x="5902452" y="2641092"/>
            <a:ext cx="2366771" cy="3169919"/>
          </a:xfrm>
          <a:prstGeom prst="rect">
            <a:avLst/>
          </a:prstGeom>
          <a:noFill/>
          <a:ln>
            <a:noFill/>
          </a:ln>
        </p:spPr>
      </p:pic>
      <p:sp>
        <p:nvSpPr>
          <p:cNvPr id="129" name="Google Shape;129;p21"/>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30" name="Google Shape;130;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1" name="Google Shape;131;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392112" y="748031"/>
            <a:ext cx="5959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Ejemplos de Expresiones Normales</a:t>
            </a:r>
            <a:endParaRPr/>
          </a:p>
        </p:txBody>
      </p:sp>
      <p:sp>
        <p:nvSpPr>
          <p:cNvPr id="137" name="Google Shape;137;p22"/>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38" name="Google Shape;138;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9" name="Google Shape;139;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0" name="Google Shape;140;p22"/>
          <p:cNvSpPr txBox="1"/>
          <p:nvPr/>
        </p:nvSpPr>
        <p:spPr>
          <a:xfrm>
            <a:off x="483552" y="1415417"/>
            <a:ext cx="7609840" cy="3345179"/>
          </a:xfrm>
          <a:prstGeom prst="rect">
            <a:avLst/>
          </a:prstGeom>
          <a:noFill/>
          <a:ln>
            <a:noFill/>
          </a:ln>
        </p:spPr>
        <p:txBody>
          <a:bodyPr anchorCtr="0" anchor="t" bIns="0" lIns="0" spcFirstLastPara="1" rIns="0" wrap="square" tIns="59675">
            <a:spAutoFit/>
          </a:bodyPr>
          <a:lstStyle/>
          <a:p>
            <a:pPr indent="-177800" lvl="0" marL="182880" marR="62865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cadenas en rojo coinciden con la cadena de 	búsqueda 'a.c.'</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'ABC', </a:t>
            </a:r>
            <a:r>
              <a:rPr lang="en-US" sz="2800">
                <a:solidFill>
                  <a:srgbClr val="FF0000"/>
                </a:solidFill>
                <a:latin typeface="Calibri"/>
                <a:ea typeface="Calibri"/>
                <a:cs typeface="Calibri"/>
                <a:sym typeface="Calibri"/>
              </a:rPr>
              <a:t>'abc</a:t>
            </a:r>
            <a:r>
              <a:rPr lang="en-US" sz="2800">
                <a:solidFill>
                  <a:srgbClr val="4E3629"/>
                </a:solidFill>
                <a:latin typeface="Calibri"/>
                <a:ea typeface="Calibri"/>
                <a:cs typeface="Calibri"/>
                <a:sym typeface="Calibri"/>
              </a:rPr>
              <a:t>', 'aqx', </a:t>
            </a:r>
            <a:r>
              <a:rPr lang="en-US" sz="2800">
                <a:solidFill>
                  <a:srgbClr val="FF0000"/>
                </a:solidFill>
                <a:latin typeface="Calibri"/>
                <a:ea typeface="Calibri"/>
                <a:cs typeface="Calibri"/>
                <a:sym typeface="Calibri"/>
              </a:rPr>
              <a:t>'axc</a:t>
            </a:r>
            <a:r>
              <a:rPr lang="en-US" sz="2800">
                <a:solidFill>
                  <a:srgbClr val="4E3629"/>
                </a:solidFill>
                <a:latin typeface="Calibri"/>
                <a:ea typeface="Calibri"/>
                <a:cs typeface="Calibri"/>
                <a:sym typeface="Calibri"/>
              </a:rPr>
              <a:t>', </a:t>
            </a:r>
            <a:r>
              <a:rPr lang="en-US" sz="2800">
                <a:solidFill>
                  <a:srgbClr val="FF0000"/>
                </a:solidFill>
                <a:latin typeface="Calibri"/>
                <a:ea typeface="Calibri"/>
                <a:cs typeface="Calibri"/>
                <a:sym typeface="Calibri"/>
              </a:rPr>
              <a:t>'aBc</a:t>
            </a:r>
            <a:r>
              <a:rPr lang="en-US" sz="2800">
                <a:solidFill>
                  <a:srgbClr val="4E3629"/>
                </a:solidFill>
                <a:latin typeface="Calibri"/>
                <a:ea typeface="Calibri"/>
                <a:cs typeface="Calibri"/>
                <a:sym typeface="Calibri"/>
              </a:rPr>
              <a:t>', 'abC', 'Amc', 'amrc'</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resto de ejemplos falla debido a que tienen el 	carácter en la posición incorrecta o con las 	mayúsculas/minúsculas incorrectos (mayúsculas no 	minúsculas según lo especificado en la cadena de 	búsqueda)</a:t>
            </a:r>
            <a:endParaRPr sz="28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392112" y="748031"/>
            <a:ext cx="6143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Expresiones Regulares</a:t>
            </a:r>
            <a:endParaRPr/>
          </a:p>
        </p:txBody>
      </p:sp>
      <p:sp>
        <p:nvSpPr>
          <p:cNvPr id="146" name="Google Shape;146;p23"/>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47" name="Google Shape;147;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8" name="Google Shape;148;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9" name="Google Shape;149;p23"/>
          <p:cNvSpPr txBox="1"/>
          <p:nvPr/>
        </p:nvSpPr>
        <p:spPr>
          <a:xfrm>
            <a:off x="483552" y="1415417"/>
            <a:ext cx="8177530" cy="2960370"/>
          </a:xfrm>
          <a:prstGeom prst="rect">
            <a:avLst/>
          </a:prstGeom>
          <a:noFill/>
          <a:ln>
            <a:noFill/>
          </a:ln>
        </p:spPr>
        <p:txBody>
          <a:bodyPr anchorCtr="0" anchor="t" bIns="0" lIns="0" spcFirstLastPara="1" rIns="0" wrap="square" tIns="59675">
            <a:spAutoFit/>
          </a:bodyPr>
          <a:lstStyle/>
          <a:p>
            <a:pPr indent="-177800" lvl="0" marL="182880" marR="6813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Oracle proporciona un juego de funciones SQL que 	puede utilizar para buscar y manipular cadenas 	mediante expresiones regulares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utilizar estas funciones en cualquier tipo de dato 	que contenga datos de caracteres como CHAR, CLOB y 	VARCHAR2</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expresión regular debe ir entre comillas simples</a:t>
            </a:r>
            <a:endParaRPr sz="28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392112" y="748031"/>
            <a:ext cx="6143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Expresiones Regulares</a:t>
            </a:r>
            <a:endParaRPr/>
          </a:p>
        </p:txBody>
      </p:sp>
      <p:sp>
        <p:nvSpPr>
          <p:cNvPr id="155" name="Google Shape;155;p24"/>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56" name="Google Shape;156;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7" name="Google Shape;157;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58" name="Google Shape;158;p24"/>
          <p:cNvGraphicFramePr/>
          <p:nvPr/>
        </p:nvGraphicFramePr>
        <p:xfrm>
          <a:off x="718418" y="1559434"/>
          <a:ext cx="3000000" cy="3000000"/>
        </p:xfrm>
        <a:graphic>
          <a:graphicData uri="http://schemas.openxmlformats.org/drawingml/2006/table">
            <a:tbl>
              <a:tblPr bandRow="1" firstRow="1">
                <a:noFill/>
                <a:tableStyleId>{918EB22B-DD3A-453A-BCB6-5743BB26F174}</a:tableStyleId>
              </a:tblPr>
              <a:tblGrid>
                <a:gridCol w="1963425"/>
                <a:gridCol w="5737225"/>
              </a:tblGrid>
              <a:tr h="379100">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Name</a:t>
                      </a:r>
                      <a:endParaRPr sz="18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Description</a:t>
                      </a:r>
                      <a:endParaRPr sz="18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45150">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REGEXP_LIKE</a:t>
                      </a:r>
                      <a:endParaRPr sz="1800" u="none" cap="none" strike="noStrike">
                        <a:latin typeface="Calibri"/>
                        <a:ea typeface="Calibri"/>
                        <a:cs typeface="Calibri"/>
                        <a:sym typeface="Calibri"/>
                      </a:endParaRPr>
                    </a:p>
                  </a:txBody>
                  <a:tcPr marT="172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440690" rtl="0" algn="l">
                        <a:lnSpc>
                          <a:spcPct val="101099"/>
                        </a:lnSpc>
                        <a:spcBef>
                          <a:spcPts val="0"/>
                        </a:spcBef>
                        <a:spcAft>
                          <a:spcPts val="0"/>
                        </a:spcAft>
                        <a:buNone/>
                      </a:pPr>
                      <a:r>
                        <a:rPr lang="en-US" sz="1800" u="none" cap="none" strike="noStrike">
                          <a:solidFill>
                            <a:srgbClr val="4E3629"/>
                          </a:solidFill>
                          <a:latin typeface="Calibri"/>
                          <a:ea typeface="Calibri"/>
                          <a:cs typeface="Calibri"/>
                          <a:sym typeface="Calibri"/>
                        </a:rPr>
                        <a:t>Similar to the LIKE operator, but performs regular expression matching instead of simple pattern matching</a:t>
                      </a:r>
                      <a:endParaRPr sz="1800" u="none" cap="none" strike="noStrike">
                        <a:latin typeface="Calibri"/>
                        <a:ea typeface="Calibri"/>
                        <a:cs typeface="Calibri"/>
                        <a:sym typeface="Calibri"/>
                      </a:endParaRPr>
                    </a:p>
                  </a:txBody>
                  <a:tcPr marT="2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45150">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REGEXP_REPLACE</a:t>
                      </a:r>
                      <a:endParaRPr sz="1800" u="none" cap="none" strike="noStrike">
                        <a:latin typeface="Calibri"/>
                        <a:ea typeface="Calibri"/>
                        <a:cs typeface="Calibri"/>
                        <a:sym typeface="Calibri"/>
                      </a:endParaRPr>
                    </a:p>
                  </a:txBody>
                  <a:tcPr marT="17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422909" rtl="0" algn="l">
                        <a:lnSpc>
                          <a:spcPct val="101099"/>
                        </a:lnSpc>
                        <a:spcBef>
                          <a:spcPts val="0"/>
                        </a:spcBef>
                        <a:spcAft>
                          <a:spcPts val="0"/>
                        </a:spcAft>
                        <a:buNone/>
                      </a:pPr>
                      <a:r>
                        <a:rPr lang="en-US" sz="1800" u="none" cap="none" strike="noStrike">
                          <a:solidFill>
                            <a:srgbClr val="4E3629"/>
                          </a:solidFill>
                          <a:latin typeface="Calibri"/>
                          <a:ea typeface="Calibri"/>
                          <a:cs typeface="Calibri"/>
                          <a:sym typeface="Calibri"/>
                        </a:rPr>
                        <a:t>Searches for a regular expression pattern and replaces it with a replacement string</a:t>
                      </a:r>
                      <a:endParaRPr sz="1800" u="none" cap="none" strike="noStrike">
                        <a:latin typeface="Calibri"/>
                        <a:ea typeface="Calibri"/>
                        <a:cs typeface="Calibri"/>
                        <a:sym typeface="Calibri"/>
                      </a:endParaRPr>
                    </a:p>
                  </a:txBody>
                  <a:tcPr marT="2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45150">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REGEXP_INSTR</a:t>
                      </a:r>
                      <a:endParaRPr sz="1800" u="none" cap="none" strike="noStrike">
                        <a:latin typeface="Calibri"/>
                        <a:ea typeface="Calibri"/>
                        <a:cs typeface="Calibri"/>
                        <a:sym typeface="Calibri"/>
                      </a:endParaRPr>
                    </a:p>
                  </a:txBody>
                  <a:tcPr marT="17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29870" rtl="0" algn="l">
                        <a:lnSpc>
                          <a:spcPct val="101099"/>
                        </a:lnSpc>
                        <a:spcBef>
                          <a:spcPts val="0"/>
                        </a:spcBef>
                        <a:spcAft>
                          <a:spcPts val="0"/>
                        </a:spcAft>
                        <a:buNone/>
                      </a:pPr>
                      <a:r>
                        <a:rPr lang="en-US" sz="1800" u="none" cap="none" strike="noStrike">
                          <a:solidFill>
                            <a:srgbClr val="4E3629"/>
                          </a:solidFill>
                          <a:latin typeface="Calibri"/>
                          <a:ea typeface="Calibri"/>
                          <a:cs typeface="Calibri"/>
                          <a:sym typeface="Calibri"/>
                        </a:rPr>
                        <a:t>Searches for a given string for a regular expression pattern and returns the position where the match is found</a:t>
                      </a:r>
                      <a:endParaRPr sz="1800" u="none" cap="none" strike="noStrike">
                        <a:latin typeface="Calibri"/>
                        <a:ea typeface="Calibri"/>
                        <a:cs typeface="Calibri"/>
                        <a:sym typeface="Calibri"/>
                      </a:endParaRPr>
                    </a:p>
                  </a:txBody>
                  <a:tcPr marT="2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45150">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REGEXP_SUBSTR</a:t>
                      </a:r>
                      <a:endParaRPr sz="1800" u="none" cap="none" strike="noStrike">
                        <a:latin typeface="Calibri"/>
                        <a:ea typeface="Calibri"/>
                        <a:cs typeface="Calibri"/>
                        <a:sym typeface="Calibri"/>
                      </a:endParaRPr>
                    </a:p>
                  </a:txBody>
                  <a:tcPr marT="17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484505" rtl="0" algn="l">
                        <a:lnSpc>
                          <a:spcPct val="101099"/>
                        </a:lnSpc>
                        <a:spcBef>
                          <a:spcPts val="0"/>
                        </a:spcBef>
                        <a:spcAft>
                          <a:spcPts val="0"/>
                        </a:spcAft>
                        <a:buNone/>
                      </a:pPr>
                      <a:r>
                        <a:rPr lang="en-US" sz="1800" u="none" cap="none" strike="noStrike">
                          <a:solidFill>
                            <a:srgbClr val="4E3629"/>
                          </a:solidFill>
                          <a:latin typeface="Calibri"/>
                          <a:ea typeface="Calibri"/>
                          <a:cs typeface="Calibri"/>
                          <a:sym typeface="Calibri"/>
                        </a:rPr>
                        <a:t>Searches for a regular expression pattern within a given string and returns the matched substring</a:t>
                      </a:r>
                      <a:endParaRPr sz="1800" u="none" cap="none" strike="noStrike">
                        <a:latin typeface="Calibri"/>
                        <a:ea typeface="Calibri"/>
                        <a:cs typeface="Calibri"/>
                        <a:sym typeface="Calibri"/>
                      </a:endParaRPr>
                    </a:p>
                  </a:txBody>
                  <a:tcPr marT="29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18807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REGEXP_COUNT</a:t>
                      </a:r>
                      <a:endParaRPr sz="1800" u="none" cap="none" strike="noStrike">
                        <a:latin typeface="Calibri"/>
                        <a:ea typeface="Calibri"/>
                        <a:cs typeface="Calibri"/>
                        <a:sym typeface="Calibri"/>
                      </a:endParaRPr>
                    </a:p>
                  </a:txBody>
                  <a:tcPr marT="182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08915" rtl="0" algn="just">
                        <a:lnSpc>
                          <a:spcPct val="100400"/>
                        </a:lnSpc>
                        <a:spcBef>
                          <a:spcPts val="0"/>
                        </a:spcBef>
                        <a:spcAft>
                          <a:spcPts val="0"/>
                        </a:spcAft>
                        <a:buNone/>
                      </a:pPr>
                      <a:r>
                        <a:rPr lang="en-US" sz="1800" u="none" cap="none" strike="noStrike">
                          <a:solidFill>
                            <a:srgbClr val="4E3629"/>
                          </a:solidFill>
                          <a:latin typeface="Calibri"/>
                          <a:ea typeface="Calibri"/>
                          <a:cs typeface="Calibri"/>
                          <a:sym typeface="Calibri"/>
                        </a:rPr>
                        <a:t>Returns the number of times a pattern appears in a string. You specify the string and the pattern. You can also specify the start position and matching options (for example, c for case sensitivity).</a:t>
                      </a:r>
                      <a:endParaRPr sz="18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Ejemplos de Funciones de Expresiones Regulares</a:t>
            </a:r>
            <a:endParaRPr sz="3000"/>
          </a:p>
        </p:txBody>
      </p:sp>
      <p:sp>
        <p:nvSpPr>
          <p:cNvPr id="164" name="Google Shape;164;p25"/>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65" name="Google Shape;165;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6" name="Google Shape;166;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7" name="Google Shape;167;p25"/>
          <p:cNvSpPr txBox="1"/>
          <p:nvPr/>
        </p:nvSpPr>
        <p:spPr>
          <a:xfrm>
            <a:off x="483552" y="1415417"/>
            <a:ext cx="786130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Supongamos que se le ha pedido que enumere todos 	los empleados con el nombre Stephen o Steven</a:t>
            </a:r>
            <a:endParaRPr sz="2800">
              <a:latin typeface="Calibri"/>
              <a:ea typeface="Calibri"/>
              <a:cs typeface="Calibri"/>
              <a:sym typeface="Calibri"/>
            </a:endParaRPr>
          </a:p>
        </p:txBody>
      </p:sp>
      <p:sp>
        <p:nvSpPr>
          <p:cNvPr id="168" name="Google Shape;168;p25"/>
          <p:cNvSpPr txBox="1"/>
          <p:nvPr/>
        </p:nvSpPr>
        <p:spPr>
          <a:xfrm>
            <a:off x="483552" y="3256409"/>
            <a:ext cx="7592059" cy="2744470"/>
          </a:xfrm>
          <a:prstGeom prst="rect">
            <a:avLst/>
          </a:prstGeom>
          <a:noFill/>
          <a:ln>
            <a:noFill/>
          </a:ln>
        </p:spPr>
        <p:txBody>
          <a:bodyPr anchorCtr="0" anchor="t" bIns="0" lIns="0" spcFirstLastPara="1" rIns="0" wrap="square" tIns="59675">
            <a:spAutoFit/>
          </a:bodyPr>
          <a:lstStyle/>
          <a:p>
            <a:pPr indent="-177800" lvl="0" marL="182880" marR="127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 expresiones regulares, solo tiene que utilizar la 	función REGEXP_LIKE y la cadena de búsqueda: 	'^Ste(v|ph)en$'</a:t>
            </a:r>
            <a:endParaRPr sz="2800">
              <a:latin typeface="Calibri"/>
              <a:ea typeface="Calibri"/>
              <a:cs typeface="Calibri"/>
              <a:sym typeface="Calibri"/>
            </a:endParaRPr>
          </a:p>
          <a:p>
            <a:pPr indent="0" lvl="0" marL="355600" rtl="0" algn="l">
              <a:lnSpc>
                <a:spcPct val="100000"/>
              </a:lnSpc>
              <a:spcBef>
                <a:spcPts val="9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 especifica el inicio de la cadena que se está buscando</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 mayúscula, seguida de</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 minúscula, seguida de</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 minúscula, seguida de</a:t>
            </a:r>
            <a:endParaRPr sz="2400">
              <a:latin typeface="Calibri"/>
              <a:ea typeface="Calibri"/>
              <a:cs typeface="Calibri"/>
              <a:sym typeface="Calibri"/>
            </a:endParaRPr>
          </a:p>
        </p:txBody>
      </p:sp>
      <p:sp>
        <p:nvSpPr>
          <p:cNvPr id="169" name="Google Shape;169;p25"/>
          <p:cNvSpPr txBox="1"/>
          <p:nvPr/>
        </p:nvSpPr>
        <p:spPr>
          <a:xfrm>
            <a:off x="405384" y="2299716"/>
            <a:ext cx="8345805" cy="844550"/>
          </a:xfrm>
          <a:prstGeom prst="rect">
            <a:avLst/>
          </a:prstGeom>
          <a:solidFill>
            <a:srgbClr val="9DBEC4">
              <a:alpha val="49804"/>
            </a:srgbClr>
          </a:solidFill>
          <a:ln>
            <a:noFill/>
          </a:ln>
        </p:spPr>
        <p:txBody>
          <a:bodyPr anchorCtr="0" anchor="t" bIns="0" lIns="0" spcFirstLastPara="1" rIns="0" wrap="square" tIns="0">
            <a:spAutoFit/>
          </a:bodyPr>
          <a:lstStyle/>
          <a:p>
            <a:pPr indent="0" lvl="0" marL="0" rtl="0" algn="l">
              <a:lnSpc>
                <a:spcPct val="1125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REGEXP_LIKE(first_name, '^Ste(v|ph)en$');</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Ejemplos de Funciones de Expresiones Regulares</a:t>
            </a:r>
            <a:endParaRPr sz="3000"/>
          </a:p>
        </p:txBody>
      </p:sp>
      <p:sp>
        <p:nvSpPr>
          <p:cNvPr id="175" name="Google Shape;175;p26"/>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76" name="Google Shape;176;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7" name="Google Shape;177;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8" name="Google Shape;178;p26"/>
          <p:cNvSpPr txBox="1"/>
          <p:nvPr/>
        </p:nvSpPr>
        <p:spPr>
          <a:xfrm>
            <a:off x="483552" y="1415417"/>
            <a:ext cx="7583805" cy="426402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 expresiones regulares, solo tiene que utilizar la 	función REGEXP_LIKE y la cadena de búsqueda: 	'^Ste(v|ph)en$'</a:t>
            </a:r>
            <a:endParaRPr sz="2800">
              <a:latin typeface="Calibri"/>
              <a:ea typeface="Calibri"/>
              <a:cs typeface="Calibri"/>
              <a:sym typeface="Calibri"/>
            </a:endParaRPr>
          </a:p>
          <a:p>
            <a:pPr indent="0" lvl="0" marL="355600" rtl="0" algn="l">
              <a:lnSpc>
                <a:spcPct val="100000"/>
              </a:lnSpc>
              <a:spcBef>
                <a:spcPts val="9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 inicia una subexpresión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 minúscula</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 especifica un O</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 minúscula seguida de "h" mayúscula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 termina con el grupo de opciones,</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 minúscula</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 minúscula</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 especifica el final de la cadena que se está buscando</a:t>
            </a:r>
            <a:endParaRPr sz="24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Ejemplos de Funciones de Expresiones Regulares</a:t>
            </a:r>
            <a:endParaRPr sz="3000"/>
          </a:p>
        </p:txBody>
      </p:sp>
      <p:sp>
        <p:nvSpPr>
          <p:cNvPr id="184" name="Google Shape;184;p27"/>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85" name="Google Shape;185;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6" name="Google Shape;186;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7" name="Google Shape;187;p27"/>
          <p:cNvSpPr txBox="1"/>
          <p:nvPr/>
        </p:nvSpPr>
        <p:spPr>
          <a:xfrm>
            <a:off x="483552" y="1415417"/>
            <a:ext cx="146748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a:t>
            </a:r>
            <a:endParaRPr sz="2800">
              <a:latin typeface="Calibri"/>
              <a:ea typeface="Calibri"/>
              <a:cs typeface="Calibri"/>
              <a:sym typeface="Calibri"/>
            </a:endParaRPr>
          </a:p>
        </p:txBody>
      </p:sp>
      <p:sp>
        <p:nvSpPr>
          <p:cNvPr id="188" name="Google Shape;188;p27"/>
          <p:cNvSpPr txBox="1"/>
          <p:nvPr/>
        </p:nvSpPr>
        <p:spPr>
          <a:xfrm>
            <a:off x="483552" y="2872361"/>
            <a:ext cx="172085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Resultado:</a:t>
            </a:r>
            <a:endParaRPr sz="2800">
              <a:latin typeface="Calibri"/>
              <a:ea typeface="Calibri"/>
              <a:cs typeface="Calibri"/>
              <a:sym typeface="Calibri"/>
            </a:endParaRPr>
          </a:p>
        </p:txBody>
      </p:sp>
      <p:graphicFrame>
        <p:nvGraphicFramePr>
          <p:cNvPr id="189" name="Google Shape;189;p27"/>
          <p:cNvGraphicFramePr/>
          <p:nvPr/>
        </p:nvGraphicFramePr>
        <p:xfrm>
          <a:off x="2318824" y="3706699"/>
          <a:ext cx="3000000" cy="3000000"/>
        </p:xfrm>
        <a:graphic>
          <a:graphicData uri="http://schemas.openxmlformats.org/drawingml/2006/table">
            <a:tbl>
              <a:tblPr bandRow="1" firstRow="1">
                <a:noFill/>
                <a:tableStyleId>{918EB22B-DD3A-453A-BCB6-5743BB26F174}</a:tableStyleId>
              </a:tblPr>
              <a:tblGrid>
                <a:gridCol w="2246625"/>
                <a:gridCol w="2246625"/>
              </a:tblGrid>
              <a:tr h="3003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003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0" name="Google Shape;190;p27"/>
          <p:cNvSpPr txBox="1"/>
          <p:nvPr/>
        </p:nvSpPr>
        <p:spPr>
          <a:xfrm>
            <a:off x="405384" y="2001011"/>
            <a:ext cx="8345805" cy="843280"/>
          </a:xfrm>
          <a:prstGeom prst="rect">
            <a:avLst/>
          </a:prstGeom>
          <a:solidFill>
            <a:srgbClr val="9DBEC4">
              <a:alpha val="49804"/>
            </a:srgbClr>
          </a:solidFill>
          <a:ln>
            <a:noFill/>
          </a:ln>
        </p:spPr>
        <p:txBody>
          <a:bodyPr anchorCtr="0" anchor="t" bIns="0" lIns="0" spcFirstLastPara="1" rIns="0" wrap="square" tIns="0">
            <a:spAutoFit/>
          </a:bodyPr>
          <a:lstStyle/>
          <a:p>
            <a:pPr indent="0" lvl="0" marL="0" rtl="0" algn="l">
              <a:lnSpc>
                <a:spcPct val="1125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REGEXP_LIKE(first_name, '^Ste(v|ph)en$');</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Ejemplos de Funciones de Expresiones Regulares</a:t>
            </a:r>
            <a:endParaRPr sz="3000"/>
          </a:p>
        </p:txBody>
      </p:sp>
      <p:sp>
        <p:nvSpPr>
          <p:cNvPr id="196" name="Google Shape;196;p28"/>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197" name="Google Shape;197;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8" name="Google Shape;198;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9" name="Google Shape;199;p28"/>
          <p:cNvSpPr txBox="1"/>
          <p:nvPr/>
        </p:nvSpPr>
        <p:spPr>
          <a:xfrm>
            <a:off x="483552" y="1415417"/>
            <a:ext cx="8081645" cy="1706245"/>
          </a:xfrm>
          <a:prstGeom prst="rect">
            <a:avLst/>
          </a:prstGeom>
          <a:noFill/>
          <a:ln>
            <a:noFill/>
          </a:ln>
        </p:spPr>
        <p:txBody>
          <a:bodyPr anchorCtr="0" anchor="t" bIns="0" lIns="0" spcFirstLastPara="1" rIns="0" wrap="square" tIns="59675">
            <a:spAutoFit/>
          </a:bodyPr>
          <a:lstStyle/>
          <a:p>
            <a:pPr indent="-177800" lvl="0" marL="182880" marR="1492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REPLACE de expresión regular sustituirá un 	patrón de cadena por otro</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busca una "H" seguida de cualquier 	vocal y se sustituyen por dos símbolos "*"</a:t>
            </a:r>
            <a:endParaRPr sz="2800">
              <a:latin typeface="Calibri"/>
              <a:ea typeface="Calibri"/>
              <a:cs typeface="Calibri"/>
              <a:sym typeface="Calibri"/>
            </a:endParaRPr>
          </a:p>
        </p:txBody>
      </p:sp>
      <p:sp>
        <p:nvSpPr>
          <p:cNvPr id="200" name="Google Shape;200;p28"/>
          <p:cNvSpPr txBox="1"/>
          <p:nvPr/>
        </p:nvSpPr>
        <p:spPr>
          <a:xfrm>
            <a:off x="405384" y="3230879"/>
            <a:ext cx="8345805" cy="1018540"/>
          </a:xfrm>
          <a:prstGeom prst="rect">
            <a:avLst/>
          </a:prstGeom>
          <a:solidFill>
            <a:srgbClr val="9DBEC4">
              <a:alpha val="49804"/>
            </a:srgbClr>
          </a:solidFill>
          <a:ln>
            <a:noFill/>
          </a:ln>
        </p:spPr>
        <p:txBody>
          <a:bodyPr anchorCtr="0" anchor="t" bIns="0" lIns="0" spcFirstLastPara="1" rIns="0" wrap="square" tIns="0">
            <a:spAutoFit/>
          </a:bodyPr>
          <a:lstStyle/>
          <a:p>
            <a:pPr indent="0" lvl="0" marL="0" rtl="0" algn="l">
              <a:lnSpc>
                <a:spcPct val="90833"/>
              </a:lnSpc>
              <a:spcBef>
                <a:spcPts val="0"/>
              </a:spcBef>
              <a:spcAft>
                <a:spcPts val="0"/>
              </a:spcAft>
              <a:buNone/>
            </a:pPr>
            <a:r>
              <a:rPr b="1" lang="en-US" sz="1800">
                <a:solidFill>
                  <a:srgbClr val="4E3629"/>
                </a:solidFill>
                <a:latin typeface="Courier New"/>
                <a:ea typeface="Courier New"/>
                <a:cs typeface="Courier New"/>
                <a:sym typeface="Courier New"/>
              </a:rPr>
              <a:t>SELECT last_name, REGEXP_REPLACE(last_name, '^H(a|e|i|o|u)',</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a:p>
            <a:pPr indent="274320" lvl="0" marL="0" marR="57423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"Name changed" FROM employees;</a:t>
            </a:r>
            <a:endParaRPr sz="1800">
              <a:latin typeface="Courier New"/>
              <a:ea typeface="Courier New"/>
              <a:cs typeface="Courier New"/>
              <a:sym typeface="Courier New"/>
            </a:endParaRPr>
          </a:p>
        </p:txBody>
      </p:sp>
      <p:graphicFrame>
        <p:nvGraphicFramePr>
          <p:cNvPr id="201" name="Google Shape;201;p28"/>
          <p:cNvGraphicFramePr/>
          <p:nvPr/>
        </p:nvGraphicFramePr>
        <p:xfrm>
          <a:off x="1350725" y="4354196"/>
          <a:ext cx="3000000" cy="3000000"/>
        </p:xfrm>
        <a:graphic>
          <a:graphicData uri="http://schemas.openxmlformats.org/drawingml/2006/table">
            <a:tbl>
              <a:tblPr bandRow="1" firstRow="1">
                <a:noFill/>
                <a:tableStyleId>{918EB22B-DD3A-453A-BCB6-5743BB26F174}</a:tableStyleId>
              </a:tblPr>
              <a:tblGrid>
                <a:gridCol w="2957825"/>
                <a:gridCol w="29578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"Name changed"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11747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747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**rtstein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11747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747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Ejemplos de Funciones de Expresiones Regulares</a:t>
            </a:r>
            <a:endParaRPr sz="3000"/>
          </a:p>
        </p:txBody>
      </p:sp>
      <p:sp>
        <p:nvSpPr>
          <p:cNvPr id="207" name="Google Shape;207;p29"/>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208" name="Google Shape;208;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9" name="Google Shape;209;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0" name="Google Shape;210;p29"/>
          <p:cNvSpPr txBox="1"/>
          <p:nvPr/>
        </p:nvSpPr>
        <p:spPr>
          <a:xfrm>
            <a:off x="483552" y="1415417"/>
            <a:ext cx="7573009"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COUNT de expresión regular devuelve el 	número de veces que aparece un patrón en una 	cadena</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busca la subexpresión "ab"</a:t>
            </a:r>
            <a:endParaRPr sz="2800">
              <a:latin typeface="Calibri"/>
              <a:ea typeface="Calibri"/>
              <a:cs typeface="Calibri"/>
              <a:sym typeface="Calibri"/>
            </a:endParaRPr>
          </a:p>
        </p:txBody>
      </p:sp>
      <p:graphicFrame>
        <p:nvGraphicFramePr>
          <p:cNvPr id="211" name="Google Shape;211;p29"/>
          <p:cNvGraphicFramePr/>
          <p:nvPr/>
        </p:nvGraphicFramePr>
        <p:xfrm>
          <a:off x="2850757" y="4428360"/>
          <a:ext cx="3000000" cy="3000000"/>
        </p:xfrm>
        <a:graphic>
          <a:graphicData uri="http://schemas.openxmlformats.org/drawingml/2006/table">
            <a:tbl>
              <a:tblPr bandRow="1" firstRow="1">
                <a:noFill/>
                <a:tableStyleId>{918EB22B-DD3A-453A-BCB6-5743BB26F174}</a:tableStyleId>
              </a:tblPr>
              <a:tblGrid>
                <a:gridCol w="4439275"/>
                <a:gridCol w="1443350"/>
              </a:tblGrid>
              <a:tr h="24385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COUNTRY_NAME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Count of 'ab'</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Republic of Zimbabwe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Arab Republic of Egypt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Great Socialist Peoples Libyan Arab Jamahiriya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Kingdom of Saudi Arabia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Syrian Arab Republic</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Gabonese Republic</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United Arab Emirates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12" name="Google Shape;212;p29"/>
          <p:cNvSpPr txBox="1"/>
          <p:nvPr/>
        </p:nvSpPr>
        <p:spPr>
          <a:xfrm>
            <a:off x="405384" y="3171444"/>
            <a:ext cx="8345805" cy="1071880"/>
          </a:xfrm>
          <a:prstGeom prst="rect">
            <a:avLst/>
          </a:prstGeom>
          <a:solidFill>
            <a:srgbClr val="9DBEC4">
              <a:alpha val="49804"/>
            </a:srgbClr>
          </a:solidFill>
          <a:ln>
            <a:noFill/>
          </a:ln>
        </p:spPr>
        <p:txBody>
          <a:bodyPr anchorCtr="0" anchor="t" bIns="0" lIns="0" spcFirstLastPara="1" rIns="0" wrap="square" tIns="0">
            <a:spAutoFit/>
          </a:bodyPr>
          <a:lstStyle/>
          <a:p>
            <a:pPr indent="0" lvl="0" marL="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SELECT country_name, REGEXP_COUNT(country_name, '(ab)') AS</a:t>
            </a:r>
            <a:endParaRPr sz="1800">
              <a:latin typeface="Courier New"/>
              <a:ea typeface="Courier New"/>
              <a:cs typeface="Courier New"/>
              <a:sym typeface="Courier New"/>
            </a:endParaRPr>
          </a:p>
          <a:p>
            <a:pPr indent="0" lvl="0" marL="0" marR="60166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"Count of 'ab'" FROM wf_countries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REGEXP_COUNT(country_name, '(ab)')&gt;0;</a:t>
            </a:r>
            <a:endParaRPr sz="1800">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Expresiones Regulares en Restricciones de Control</a:t>
            </a:r>
            <a:endParaRPr sz="3000"/>
          </a:p>
        </p:txBody>
      </p:sp>
      <p:sp>
        <p:nvSpPr>
          <p:cNvPr id="218" name="Google Shape;218;p30"/>
          <p:cNvSpPr txBox="1"/>
          <p:nvPr/>
        </p:nvSpPr>
        <p:spPr>
          <a:xfrm>
            <a:off x="483552" y="1415417"/>
            <a:ext cx="7954645"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expresiones regulares también se pueden utilizar 	como parte del código de la aplicación para garantizar 	que solo se almacenan los datos en la base de datos</a:t>
            </a:r>
            <a:endParaRPr sz="2800">
              <a:latin typeface="Calibri"/>
              <a:ea typeface="Calibri"/>
              <a:cs typeface="Calibri"/>
              <a:sym typeface="Calibri"/>
            </a:endParaRPr>
          </a:p>
          <a:p>
            <a:pPr indent="-177800" lvl="0" marL="182880" marR="2286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pueden incluir una llamada a una función de 	expresión regular, por ejemplo, una restricción CHECK</a:t>
            </a:r>
            <a:endParaRPr sz="2800">
              <a:latin typeface="Calibri"/>
              <a:ea typeface="Calibri"/>
              <a:cs typeface="Calibri"/>
              <a:sym typeface="Calibri"/>
            </a:endParaRPr>
          </a:p>
        </p:txBody>
      </p:sp>
      <p:grpSp>
        <p:nvGrpSpPr>
          <p:cNvPr id="219" name="Google Shape;219;p30"/>
          <p:cNvGrpSpPr/>
          <p:nvPr/>
        </p:nvGrpSpPr>
        <p:grpSpPr>
          <a:xfrm>
            <a:off x="4710684" y="3944112"/>
            <a:ext cx="3843526" cy="2200655"/>
            <a:chOff x="4710684" y="3944112"/>
            <a:chExt cx="3843526" cy="2200655"/>
          </a:xfrm>
        </p:grpSpPr>
        <p:pic>
          <p:nvPicPr>
            <p:cNvPr id="220" name="Google Shape;220;p30"/>
            <p:cNvPicPr preferRelativeResize="0"/>
            <p:nvPr/>
          </p:nvPicPr>
          <p:blipFill rotWithShape="1">
            <a:blip r:embed="rId3">
              <a:alphaModFix/>
            </a:blip>
            <a:srcRect b="0" l="0" r="0" t="0"/>
            <a:stretch/>
          </p:blipFill>
          <p:spPr>
            <a:xfrm>
              <a:off x="4710684" y="5501640"/>
              <a:ext cx="3843526" cy="643127"/>
            </a:xfrm>
            <a:prstGeom prst="rect">
              <a:avLst/>
            </a:prstGeom>
            <a:noFill/>
            <a:ln>
              <a:noFill/>
            </a:ln>
          </p:spPr>
        </p:pic>
        <p:pic>
          <p:nvPicPr>
            <p:cNvPr id="221" name="Google Shape;221;p30"/>
            <p:cNvPicPr preferRelativeResize="0"/>
            <p:nvPr/>
          </p:nvPicPr>
          <p:blipFill rotWithShape="1">
            <a:blip r:embed="rId4">
              <a:alphaModFix/>
            </a:blip>
            <a:srcRect b="0" l="0" r="0" t="0"/>
            <a:stretch/>
          </p:blipFill>
          <p:spPr>
            <a:xfrm>
              <a:off x="5561076" y="3944112"/>
              <a:ext cx="2915411" cy="2122931"/>
            </a:xfrm>
            <a:prstGeom prst="rect">
              <a:avLst/>
            </a:prstGeom>
            <a:noFill/>
            <a:ln>
              <a:noFill/>
            </a:ln>
          </p:spPr>
        </p:pic>
      </p:grpSp>
      <p:sp>
        <p:nvSpPr>
          <p:cNvPr id="222" name="Google Shape;222;p30"/>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223" name="Google Shape;223;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4" name="Google Shape;224;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Expresiones Regulares en Restricciones de Control</a:t>
            </a:r>
            <a:endParaRPr sz="3000"/>
          </a:p>
        </p:txBody>
      </p:sp>
      <p:sp>
        <p:nvSpPr>
          <p:cNvPr id="230" name="Google Shape;230;p31"/>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231" name="Google Shape;231;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2" name="Google Shape;232;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3" name="Google Shape;233;p31"/>
          <p:cNvSpPr txBox="1"/>
          <p:nvPr/>
        </p:nvSpPr>
        <p:spPr>
          <a:xfrm>
            <a:off x="483552" y="1415417"/>
            <a:ext cx="8167370" cy="16046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tanto, si desea asegurarse de que no se captura 	ninguna dirección de correo electrónico sin "@" en una 	tabla en la base de datos, solo tiene que agregar las 	siguientes restricciones de control:</a:t>
            </a:r>
            <a:endParaRPr sz="2800">
              <a:latin typeface="Calibri"/>
              <a:ea typeface="Calibri"/>
              <a:cs typeface="Calibri"/>
              <a:sym typeface="Calibri"/>
            </a:endParaRPr>
          </a:p>
        </p:txBody>
      </p:sp>
      <p:sp>
        <p:nvSpPr>
          <p:cNvPr id="234" name="Google Shape;234;p31"/>
          <p:cNvSpPr txBox="1"/>
          <p:nvPr/>
        </p:nvSpPr>
        <p:spPr>
          <a:xfrm>
            <a:off x="483552" y="4024505"/>
            <a:ext cx="764984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garantizará que todas las direcciones de correo 	electrónico incluyan un signo "@"</a:t>
            </a:r>
            <a:endParaRPr sz="2800">
              <a:latin typeface="Calibri"/>
              <a:ea typeface="Calibri"/>
              <a:cs typeface="Calibri"/>
              <a:sym typeface="Calibri"/>
            </a:endParaRPr>
          </a:p>
        </p:txBody>
      </p:sp>
      <p:sp>
        <p:nvSpPr>
          <p:cNvPr id="235" name="Google Shape;235;p31"/>
          <p:cNvSpPr txBox="1"/>
          <p:nvPr/>
        </p:nvSpPr>
        <p:spPr>
          <a:xfrm>
            <a:off x="405384" y="3113532"/>
            <a:ext cx="8345805" cy="882650"/>
          </a:xfrm>
          <a:prstGeom prst="rect">
            <a:avLst/>
          </a:prstGeom>
          <a:solidFill>
            <a:srgbClr val="9DBEC4">
              <a:alpha val="49804"/>
            </a:srgbClr>
          </a:solidFill>
          <a:ln>
            <a:noFill/>
          </a:ln>
        </p:spPr>
        <p:txBody>
          <a:bodyPr anchorCtr="0" anchor="t" bIns="0" lIns="0" spcFirstLastPara="1" rIns="0" wrap="square" tIns="19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ALTER TABLE employees</a:t>
            </a:r>
            <a:endParaRPr sz="1800">
              <a:latin typeface="Courier New"/>
              <a:ea typeface="Courier New"/>
              <a:cs typeface="Courier New"/>
              <a:sym typeface="Courier New"/>
            </a:endParaRPr>
          </a:p>
          <a:p>
            <a:pPr indent="0" lvl="0" marL="0" marR="42411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ADD CONSTRAINT email_addr_chk CHECK(REGEXP_LIKE(email,'@'));</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Expresiones Regulares en Restricciones de Control</a:t>
            </a:r>
            <a:endParaRPr sz="3000"/>
          </a:p>
        </p:txBody>
      </p:sp>
      <p:sp>
        <p:nvSpPr>
          <p:cNvPr id="241" name="Google Shape;241;p32"/>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242" name="Google Shape;242;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3" name="Google Shape;243;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4" name="Google Shape;244;p32"/>
          <p:cNvSpPr txBox="1"/>
          <p:nvPr/>
        </p:nvSpPr>
        <p:spPr>
          <a:xfrm>
            <a:off x="483552" y="1415417"/>
            <a:ext cx="8082280" cy="28587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Mediante expresiones regulares, puede comprobar el 	formato de las direcciones de correo electrónico más a 	fondo para comprobar que son válidas</a:t>
            </a:r>
            <a:endParaRPr sz="2800">
              <a:latin typeface="Calibri"/>
              <a:ea typeface="Calibri"/>
              <a:cs typeface="Calibri"/>
              <a:sym typeface="Calibri"/>
            </a:endParaRPr>
          </a:p>
          <a:p>
            <a:pPr indent="-177800" lvl="0" marL="182880" rtl="0" algn="l">
              <a:lnSpc>
                <a:spcPct val="114107"/>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dirección de correo electrónico válida tendrá uno</a:t>
            </a:r>
            <a:endParaRPr sz="2800">
              <a:latin typeface="Calibri"/>
              <a:ea typeface="Calibri"/>
              <a:cs typeface="Calibri"/>
              <a:sym typeface="Calibri"/>
            </a:endParaRPr>
          </a:p>
          <a:p>
            <a:pPr indent="0" lvl="0" marL="184785" rtl="0" algn="l">
              <a:lnSpc>
                <a:spcPct val="108035"/>
              </a:lnSpc>
              <a:spcBef>
                <a:spcPts val="0"/>
              </a:spcBef>
              <a:spcAft>
                <a:spcPts val="0"/>
              </a:spcAft>
              <a:buNone/>
            </a:pPr>
            <a:r>
              <a:rPr lang="en-US" sz="2800">
                <a:solidFill>
                  <a:srgbClr val="4E3629"/>
                </a:solidFill>
                <a:latin typeface="Calibri"/>
                <a:ea typeface="Calibri"/>
                <a:cs typeface="Calibri"/>
                <a:sym typeface="Calibri"/>
              </a:rPr>
              <a:t>o más caracteres y, a continuación, @, seguido de uno</a:t>
            </a:r>
            <a:endParaRPr sz="2800">
              <a:latin typeface="Calibri"/>
              <a:ea typeface="Calibri"/>
              <a:cs typeface="Calibri"/>
              <a:sym typeface="Calibri"/>
            </a:endParaRPr>
          </a:p>
          <a:p>
            <a:pPr indent="0" lvl="0" marL="184785" marR="996950" rtl="0" algn="l">
              <a:lnSpc>
                <a:spcPct val="108214"/>
              </a:lnSpc>
              <a:spcBef>
                <a:spcPts val="210"/>
              </a:spcBef>
              <a:spcAft>
                <a:spcPts val="0"/>
              </a:spcAft>
              <a:buNone/>
            </a:pPr>
            <a:r>
              <a:rPr lang="en-US" sz="2800">
                <a:solidFill>
                  <a:srgbClr val="4E3629"/>
                </a:solidFill>
                <a:latin typeface="Calibri"/>
                <a:ea typeface="Calibri"/>
                <a:cs typeface="Calibri"/>
                <a:sym typeface="Calibri"/>
              </a:rPr>
              <a:t>o más caracteres y, a continuación, un . (punto), seguido de uno o más caracteres</a:t>
            </a:r>
            <a:endParaRPr sz="2800">
              <a:latin typeface="Calibri"/>
              <a:ea typeface="Calibri"/>
              <a:cs typeface="Calibri"/>
              <a:sym typeface="Calibri"/>
            </a:endParaRPr>
          </a:p>
        </p:txBody>
      </p:sp>
      <p:sp>
        <p:nvSpPr>
          <p:cNvPr id="245" name="Google Shape;245;p32"/>
          <p:cNvSpPr txBox="1"/>
          <p:nvPr/>
        </p:nvSpPr>
        <p:spPr>
          <a:xfrm>
            <a:off x="405384" y="4437888"/>
            <a:ext cx="8345805" cy="1143000"/>
          </a:xfrm>
          <a:prstGeom prst="rect">
            <a:avLst/>
          </a:prstGeom>
          <a:solidFill>
            <a:srgbClr val="9DBEC4">
              <a:alpha val="49804"/>
            </a:srgbClr>
          </a:solidFill>
          <a:ln>
            <a:noFill/>
          </a:ln>
        </p:spPr>
        <p:txBody>
          <a:bodyPr anchorCtr="0" anchor="t" bIns="0" lIns="0" spcFirstLastPara="1" rIns="0" wrap="square" tIns="4425">
            <a:spAutoFit/>
          </a:bodyPr>
          <a:lstStyle/>
          <a:p>
            <a:pPr indent="0" lvl="0" marL="0" marR="4923790"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CREATE TABLE my_contacts (first_name VARCHAR2(15),</a:t>
            </a:r>
            <a:endParaRPr sz="1800">
              <a:latin typeface="Courier New"/>
              <a:ea typeface="Courier New"/>
              <a:cs typeface="Courier New"/>
              <a:sym typeface="Courier New"/>
            </a:endParaRPr>
          </a:p>
          <a:p>
            <a:pPr indent="0" lvl="0" marL="136525" rtl="0" algn="l">
              <a:lnSpc>
                <a:spcPct val="116111"/>
              </a:lnSpc>
              <a:spcBef>
                <a:spcPts val="0"/>
              </a:spcBef>
              <a:spcAft>
                <a:spcPts val="0"/>
              </a:spcAft>
              <a:buNone/>
            </a:pPr>
            <a:r>
              <a:rPr b="1" lang="en-US" sz="1800">
                <a:solidFill>
                  <a:srgbClr val="4E3629"/>
                </a:solidFill>
                <a:latin typeface="Courier New"/>
                <a:ea typeface="Courier New"/>
                <a:cs typeface="Courier New"/>
                <a:sym typeface="Courier New"/>
              </a:rPr>
              <a:t>last_name VARCHAR2(15),</a:t>
            </a:r>
            <a:endParaRPr sz="1800">
              <a:latin typeface="Courier New"/>
              <a:ea typeface="Courier New"/>
              <a:cs typeface="Courier New"/>
              <a:sym typeface="Courier New"/>
            </a:endParaRPr>
          </a:p>
          <a:p>
            <a:pPr indent="0" lvl="0" marL="1365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email VARCHAR2(30) </a:t>
            </a:r>
            <a:r>
              <a:rPr b="1" lang="en-US" sz="1800">
                <a:solidFill>
                  <a:srgbClr val="D1350F"/>
                </a:solidFill>
                <a:latin typeface="Courier New"/>
                <a:ea typeface="Courier New"/>
                <a:cs typeface="Courier New"/>
                <a:sym typeface="Courier New"/>
              </a:rPr>
              <a:t>CHECK(REGEXP_LIKE(email, '.+@.+\..+'))</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392112" y="385319"/>
            <a:ext cx="4032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Expresiones Regulares en Restricciones de Control</a:t>
            </a:r>
            <a:endParaRPr sz="3000"/>
          </a:p>
        </p:txBody>
      </p:sp>
      <p:sp>
        <p:nvSpPr>
          <p:cNvPr id="251" name="Google Shape;251;p33"/>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252" name="Google Shape;252;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3" name="Google Shape;253;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4" name="Google Shape;254;p33"/>
          <p:cNvSpPr txBox="1"/>
          <p:nvPr/>
        </p:nvSpPr>
        <p:spPr>
          <a:xfrm>
            <a:off x="483552" y="1415417"/>
            <a:ext cx="3646804"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Definiciones de sintaxis:</a:t>
            </a:r>
            <a:endParaRPr sz="2800">
              <a:latin typeface="Calibri"/>
              <a:ea typeface="Calibri"/>
              <a:cs typeface="Calibri"/>
              <a:sym typeface="Calibri"/>
            </a:endParaRPr>
          </a:p>
        </p:txBody>
      </p:sp>
      <p:sp>
        <p:nvSpPr>
          <p:cNvPr id="255" name="Google Shape;255;p33"/>
          <p:cNvSpPr txBox="1"/>
          <p:nvPr/>
        </p:nvSpPr>
        <p:spPr>
          <a:xfrm>
            <a:off x="826452" y="1860425"/>
            <a:ext cx="473709" cy="11506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t>
            </a:r>
            <a:endParaRPr sz="2400">
              <a:latin typeface="Calibri"/>
              <a:ea typeface="Calibri"/>
              <a:cs typeface="Calibri"/>
              <a:sym typeface="Calibri"/>
            </a:endParaRPr>
          </a:p>
          <a:p>
            <a:pPr indent="0" lvl="0" marL="127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t>
            </a:r>
            <a:endParaRPr sz="2400">
              <a:latin typeface="Calibri"/>
              <a:ea typeface="Calibri"/>
              <a:cs typeface="Calibri"/>
              <a:sym typeface="Calibri"/>
            </a:endParaRPr>
          </a:p>
          <a:p>
            <a:pPr indent="0" lvl="0" marL="127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t>
            </a:r>
            <a:endParaRPr sz="2400">
              <a:latin typeface="Calibri"/>
              <a:ea typeface="Calibri"/>
              <a:cs typeface="Calibri"/>
              <a:sym typeface="Calibri"/>
            </a:endParaRPr>
          </a:p>
        </p:txBody>
      </p:sp>
      <p:sp>
        <p:nvSpPr>
          <p:cNvPr id="256" name="Google Shape;256;p33"/>
          <p:cNvSpPr txBox="1"/>
          <p:nvPr/>
        </p:nvSpPr>
        <p:spPr>
          <a:xfrm>
            <a:off x="1855152" y="1860425"/>
            <a:ext cx="6748780" cy="1150620"/>
          </a:xfrm>
          <a:prstGeom prst="rect">
            <a:avLst/>
          </a:prstGeom>
          <a:noFill/>
          <a:ln>
            <a:noFill/>
          </a:ln>
        </p:spPr>
        <p:txBody>
          <a:bodyPr anchorCtr="0" anchor="t" bIns="0" lIns="0" spcFirstLastPara="1" rIns="0" wrap="square" tIns="13325">
            <a:spAutoFit/>
          </a:bodyPr>
          <a:lstStyle/>
          <a:p>
            <a:pPr indent="0" lvl="0" marL="12700" marR="3032760" rtl="0" algn="l">
              <a:lnSpc>
                <a:spcPct val="124583"/>
              </a:lnSpc>
              <a:spcBef>
                <a:spcPts val="0"/>
              </a:spcBef>
              <a:spcAft>
                <a:spcPts val="0"/>
              </a:spcAft>
              <a:buNone/>
            </a:pPr>
            <a:r>
              <a:rPr lang="en-US" sz="2400">
                <a:solidFill>
                  <a:srgbClr val="4E3629"/>
                </a:solidFill>
                <a:latin typeface="Calibri"/>
                <a:ea typeface="Calibri"/>
                <a:cs typeface="Calibri"/>
                <a:sym typeface="Calibri"/>
              </a:rPr>
              <a:t>significa uno o más caracteres un símbolo @</a:t>
            </a:r>
            <a:endParaRPr sz="2400">
              <a:latin typeface="Calibri"/>
              <a:ea typeface="Calibri"/>
              <a:cs typeface="Calibri"/>
              <a:sym typeface="Calibri"/>
            </a:endParaRPr>
          </a:p>
          <a:p>
            <a:pPr indent="0" lvl="0" marL="12700" rtl="0" algn="l">
              <a:lnSpc>
                <a:spcPct val="119583"/>
              </a:lnSpc>
              <a:spcBef>
                <a:spcPts val="0"/>
              </a:spcBef>
              <a:spcAft>
                <a:spcPts val="0"/>
              </a:spcAft>
              <a:buNone/>
            </a:pPr>
            <a:r>
              <a:rPr lang="en-US" sz="2400">
                <a:solidFill>
                  <a:srgbClr val="4E3629"/>
                </a:solidFill>
                <a:latin typeface="Calibri"/>
                <a:ea typeface="Calibri"/>
                <a:cs typeface="Calibri"/>
                <a:sym typeface="Calibri"/>
              </a:rPr>
              <a:t>a . (un punto) (aquí la barra invertida es un carácter de</a:t>
            </a:r>
            <a:endParaRPr sz="2400">
              <a:latin typeface="Calibri"/>
              <a:ea typeface="Calibri"/>
              <a:cs typeface="Calibri"/>
              <a:sym typeface="Calibri"/>
            </a:endParaRPr>
          </a:p>
        </p:txBody>
      </p:sp>
      <p:sp>
        <p:nvSpPr>
          <p:cNvPr id="257" name="Google Shape;257;p33"/>
          <p:cNvSpPr txBox="1"/>
          <p:nvPr/>
        </p:nvSpPr>
        <p:spPr>
          <a:xfrm>
            <a:off x="1001712" y="2948561"/>
            <a:ext cx="974725"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4E3629"/>
                </a:solidFill>
                <a:latin typeface="Calibri"/>
                <a:ea typeface="Calibri"/>
                <a:cs typeface="Calibri"/>
                <a:sym typeface="Calibri"/>
              </a:rPr>
              <a:t>escape)</a:t>
            </a:r>
            <a:endParaRPr sz="2400">
              <a:latin typeface="Calibri"/>
              <a:ea typeface="Calibri"/>
              <a:cs typeface="Calibri"/>
              <a:sym typeface="Calibri"/>
            </a:endParaRPr>
          </a:p>
        </p:txBody>
      </p:sp>
      <p:sp>
        <p:nvSpPr>
          <p:cNvPr id="258" name="Google Shape;258;p33"/>
          <p:cNvSpPr txBox="1"/>
          <p:nvPr/>
        </p:nvSpPr>
        <p:spPr>
          <a:xfrm>
            <a:off x="405384" y="3480815"/>
            <a:ext cx="8345805" cy="1144905"/>
          </a:xfrm>
          <a:prstGeom prst="rect">
            <a:avLst/>
          </a:prstGeom>
          <a:solidFill>
            <a:srgbClr val="9DBEC4">
              <a:alpha val="49804"/>
            </a:srgbClr>
          </a:solidFill>
          <a:ln>
            <a:noFill/>
          </a:ln>
        </p:spPr>
        <p:txBody>
          <a:bodyPr anchorCtr="0" anchor="t" bIns="0" lIns="0" spcFirstLastPara="1" rIns="0" wrap="square" tIns="5075">
            <a:spAutoFit/>
          </a:bodyPr>
          <a:lstStyle/>
          <a:p>
            <a:pPr indent="0" lvl="0" marL="0" marR="4923790"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CREATE TABLE my_contacts (first_name VARCHAR2(15),</a:t>
            </a:r>
            <a:endParaRPr sz="1800">
              <a:latin typeface="Courier New"/>
              <a:ea typeface="Courier New"/>
              <a:cs typeface="Courier New"/>
              <a:sym typeface="Courier New"/>
            </a:endParaRPr>
          </a:p>
          <a:p>
            <a:pPr indent="0" lvl="0" marL="136525" rtl="0" algn="l">
              <a:lnSpc>
                <a:spcPct val="116111"/>
              </a:lnSpc>
              <a:spcBef>
                <a:spcPts val="0"/>
              </a:spcBef>
              <a:spcAft>
                <a:spcPts val="0"/>
              </a:spcAft>
              <a:buNone/>
            </a:pPr>
            <a:r>
              <a:rPr b="1" lang="en-US" sz="1800">
                <a:solidFill>
                  <a:srgbClr val="4E3629"/>
                </a:solidFill>
                <a:latin typeface="Courier New"/>
                <a:ea typeface="Courier New"/>
                <a:cs typeface="Courier New"/>
                <a:sym typeface="Courier New"/>
              </a:rPr>
              <a:t>last_name VARCHAR2(15),</a:t>
            </a:r>
            <a:endParaRPr sz="1800">
              <a:latin typeface="Courier New"/>
              <a:ea typeface="Courier New"/>
              <a:cs typeface="Courier New"/>
              <a:sym typeface="Courier New"/>
            </a:endParaRPr>
          </a:p>
          <a:p>
            <a:pPr indent="0" lvl="0" marL="1365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email VARCHAR2(30) </a:t>
            </a:r>
            <a:r>
              <a:rPr b="1" lang="en-US" sz="1800">
                <a:solidFill>
                  <a:srgbClr val="D1350F"/>
                </a:solidFill>
                <a:latin typeface="Courier New"/>
                <a:ea typeface="Courier New"/>
                <a:cs typeface="Courier New"/>
                <a:sym typeface="Courier New"/>
              </a:rPr>
              <a:t>CHECK(REGEXP_LIKE(email, '.+@.+\..+'))</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392112" y="385319"/>
            <a:ext cx="40329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Terminología</a:t>
            </a:r>
            <a:endParaRPr/>
          </a:p>
        </p:txBody>
      </p:sp>
      <p:sp>
        <p:nvSpPr>
          <p:cNvPr id="264" name="Google Shape;264;p34"/>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265" name="Google Shape;265;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6" name="Google Shape;266;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7" name="Google Shape;267;p34"/>
          <p:cNvSpPr txBox="1"/>
          <p:nvPr/>
        </p:nvSpPr>
        <p:spPr>
          <a:xfrm>
            <a:off x="483552" y="1415417"/>
            <a:ext cx="7704455" cy="1979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EXPRESIONES REGULARES</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Metacaracteres</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Subexpresiones</a:t>
            </a:r>
            <a:endParaRPr sz="24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392112" y="385319"/>
            <a:ext cx="40329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Resumen</a:t>
            </a:r>
            <a:endParaRPr/>
          </a:p>
        </p:txBody>
      </p:sp>
      <p:sp>
        <p:nvSpPr>
          <p:cNvPr id="273" name="Google Shape;273;p35"/>
          <p:cNvSpPr txBox="1"/>
          <p:nvPr>
            <p:ph idx="10" type="dt"/>
          </p:nvPr>
        </p:nvSpPr>
        <p:spPr>
          <a:xfrm>
            <a:off x="2874191" y="6516395"/>
            <a:ext cx="9837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17-3</a:t>
            </a:r>
            <a:endParaRPr/>
          </a:p>
          <a:p>
            <a:pPr indent="0" lvl="0" marL="12700" rtl="0" algn="l">
              <a:lnSpc>
                <a:spcPct val="120624"/>
              </a:lnSpc>
              <a:spcBef>
                <a:spcPts val="0"/>
              </a:spcBef>
              <a:spcAft>
                <a:spcPts val="0"/>
              </a:spcAft>
              <a:buNone/>
            </a:pPr>
            <a:r>
              <a:rPr lang="en-US"/>
              <a:t>Expresiones regulares</a:t>
            </a:r>
            <a:endParaRPr/>
          </a:p>
        </p:txBody>
      </p:sp>
      <p:sp>
        <p:nvSpPr>
          <p:cNvPr id="274" name="Google Shape;274;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5" name="Google Shape;275;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6" name="Google Shape;276;p35"/>
          <p:cNvSpPr txBox="1"/>
          <p:nvPr>
            <p:ph idx="1" type="body"/>
          </p:nvPr>
        </p:nvSpPr>
        <p:spPr>
          <a:xfrm>
            <a:off x="483552" y="1393401"/>
            <a:ext cx="7958400" cy="25260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debe haber aprendido lo siguiente:</a:t>
            </a:r>
            <a:endParaRPr/>
          </a:p>
          <a:p>
            <a:pPr indent="0" lvl="0" marL="355600" rtl="0" algn="l">
              <a:lnSpc>
                <a:spcPct val="100000"/>
              </a:lnSpc>
              <a:spcBef>
                <a:spcPts val="145"/>
              </a:spcBef>
              <a:spcAft>
                <a:spcPts val="0"/>
              </a:spcAft>
              <a:buNone/>
            </a:pPr>
            <a:r>
              <a:rPr lang="en-US" sz="2400">
                <a:solidFill>
                  <a:srgbClr val="D1350F"/>
                </a:solidFill>
              </a:rPr>
              <a:t>−</a:t>
            </a:r>
            <a:r>
              <a:rPr lang="en-US" sz="2400"/>
              <a:t>Describir las expresiones regulares</a:t>
            </a:r>
            <a:endParaRPr sz="2400"/>
          </a:p>
          <a:p>
            <a:pPr indent="-175260" lvl="0" marL="530860" marR="138430" rtl="0" algn="l">
              <a:lnSpc>
                <a:spcPct val="107916"/>
              </a:lnSpc>
              <a:spcBef>
                <a:spcPts val="434"/>
              </a:spcBef>
              <a:spcAft>
                <a:spcPts val="0"/>
              </a:spcAft>
              <a:buNone/>
            </a:pPr>
            <a:r>
              <a:rPr lang="en-US" sz="2400">
                <a:solidFill>
                  <a:srgbClr val="D1350F"/>
                </a:solidFill>
              </a:rPr>
              <a:t>−</a:t>
            </a:r>
            <a:r>
              <a:rPr lang="en-US" sz="2400"/>
              <a:t>Utilizar expresiones regulares para buscar, hacer coincidir y sustituir cadenas en sentencias SQL</a:t>
            </a:r>
            <a:endParaRPr sz="2400"/>
          </a:p>
          <a:p>
            <a:pPr indent="-175260" lvl="0" marL="530860" marR="5080" rtl="0" algn="l">
              <a:lnSpc>
                <a:spcPct val="107916"/>
              </a:lnSpc>
              <a:spcBef>
                <a:spcPts val="400"/>
              </a:spcBef>
              <a:spcAft>
                <a:spcPts val="1200"/>
              </a:spcAft>
              <a:buNone/>
            </a:pPr>
            <a:r>
              <a:rPr lang="en-US" sz="2400">
                <a:solidFill>
                  <a:srgbClr val="D1350F"/>
                </a:solidFill>
              </a:rPr>
              <a:t>−</a:t>
            </a:r>
            <a:r>
              <a:rPr lang="en-US" sz="2400"/>
              <a:t>Construir y ejecutar expresiones regulares y restricciones de control</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