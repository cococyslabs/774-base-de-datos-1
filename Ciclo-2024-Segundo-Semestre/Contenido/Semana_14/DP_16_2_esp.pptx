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0F5F9F-884D-4591-B9C8-8E1AC946C623}">
  <a:tblStyle styleId="{F80F5F9F-884D-4591-B9C8-8E1AC946C623}"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14:12:35</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 creación de funciones definidas por el usuario se trata en el curso Programación de Bases de Datos con PL/SQL.</a:t>
            </a:r>
            <a:endParaRPr/>
          </a:p>
        </p:txBody>
      </p:sp>
      <p:sp>
        <p:nvSpPr>
          <p:cNvPr id="233" name="Google Shape;233;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14:12:40</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Nota: se produce un error de privilegios insuficientes al utilizar CREATE PUBLIC SYNONYM en APEX.  Se permite CREATE SYNONYM.</a:t>
            </a:r>
            <a:endParaRPr/>
          </a:p>
          <a:p>
            <a:pPr indent="0" lvl="0" marL="0" rtl="0" algn="l">
              <a:spcBef>
                <a:spcPts val="0"/>
              </a:spcBef>
              <a:spcAft>
                <a:spcPts val="0"/>
              </a:spcAft>
              <a:buNone/>
            </a:pPr>
            <a:r>
              <a:rPr lang="en-US"/>
              <a:t>Para crear un SINÓNIMO para una tabla que no esté en el esquema, puede poner como prefijo de la tabla el nombre de esquema y un punto, por ejemplo: CREATE SYNONYM amy_emps</a:t>
            </a:r>
            <a:endParaRPr/>
          </a:p>
          <a:p>
            <a:pPr indent="0" lvl="0" marL="0" rtl="0" algn="l">
              <a:spcBef>
                <a:spcPts val="0"/>
              </a:spcBef>
              <a:spcAft>
                <a:spcPts val="0"/>
              </a:spcAft>
              <a:buNone/>
            </a:pPr>
            <a:r>
              <a:rPr lang="en-US"/>
              <a:t>FOR USMA_SBHS_SQL01_S04.amy_copy_employees;</a:t>
            </a:r>
            <a:endParaRPr/>
          </a:p>
        </p:txBody>
      </p:sp>
      <p:sp>
        <p:nvSpPr>
          <p:cNvPr id="364" name="Google Shape;364;p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3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3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3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3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748031"/>
            <a:ext cx="50484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83552" y="1393401"/>
            <a:ext cx="8112900" cy="43020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0" type="dt"/>
          </p:nvPr>
        </p:nvSpPr>
        <p:spPr>
          <a:xfrm>
            <a:off x="2874191" y="6516395"/>
            <a:ext cx="8865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lvl1pPr indent="0" lvl="0" marL="38100">
              <a:lnSpc>
                <a:spcPct val="104500"/>
              </a:lnSpc>
              <a:spcBef>
                <a:spcPts val="0"/>
              </a:spcBef>
              <a:buNone/>
              <a:defRPr b="1" i="0" sz="1000">
                <a:solidFill>
                  <a:srgbClr val="4E3629"/>
                </a:solidFill>
                <a:latin typeface="Calibri"/>
                <a:ea typeface="Calibri"/>
                <a:cs typeface="Calibri"/>
                <a:sym typeface="Calibri"/>
              </a:defRPr>
            </a:lvl1pPr>
            <a:lvl2pPr indent="0" lvl="1" marL="38100">
              <a:lnSpc>
                <a:spcPct val="104500"/>
              </a:lnSpc>
              <a:spcBef>
                <a:spcPts val="0"/>
              </a:spcBef>
              <a:buNone/>
              <a:defRPr b="1" i="0" sz="1000">
                <a:solidFill>
                  <a:srgbClr val="4E3629"/>
                </a:solidFill>
                <a:latin typeface="Calibri"/>
                <a:ea typeface="Calibri"/>
                <a:cs typeface="Calibri"/>
                <a:sym typeface="Calibri"/>
              </a:defRPr>
            </a:lvl2pPr>
            <a:lvl3pPr indent="0" lvl="2" marL="38100">
              <a:lnSpc>
                <a:spcPct val="104500"/>
              </a:lnSpc>
              <a:spcBef>
                <a:spcPts val="0"/>
              </a:spcBef>
              <a:buNone/>
              <a:defRPr b="1" i="0" sz="1000">
                <a:solidFill>
                  <a:srgbClr val="4E3629"/>
                </a:solidFill>
                <a:latin typeface="Calibri"/>
                <a:ea typeface="Calibri"/>
                <a:cs typeface="Calibri"/>
                <a:sym typeface="Calibri"/>
              </a:defRPr>
            </a:lvl3pPr>
            <a:lvl4pPr indent="0" lvl="3" marL="38100">
              <a:lnSpc>
                <a:spcPct val="104500"/>
              </a:lnSpc>
              <a:spcBef>
                <a:spcPts val="0"/>
              </a:spcBef>
              <a:buNone/>
              <a:defRPr b="1" i="0" sz="1000">
                <a:solidFill>
                  <a:srgbClr val="4E3629"/>
                </a:solidFill>
                <a:latin typeface="Calibri"/>
                <a:ea typeface="Calibri"/>
                <a:cs typeface="Calibri"/>
                <a:sym typeface="Calibri"/>
              </a:defRPr>
            </a:lvl4pPr>
            <a:lvl5pPr indent="0" lvl="4" marL="38100">
              <a:lnSpc>
                <a:spcPct val="104500"/>
              </a:lnSpc>
              <a:spcBef>
                <a:spcPts val="0"/>
              </a:spcBef>
              <a:buNone/>
              <a:defRPr b="1" i="0" sz="1000">
                <a:solidFill>
                  <a:srgbClr val="4E3629"/>
                </a:solidFill>
                <a:latin typeface="Calibri"/>
                <a:ea typeface="Calibri"/>
                <a:cs typeface="Calibri"/>
                <a:sym typeface="Calibri"/>
              </a:defRPr>
            </a:lvl5pPr>
            <a:lvl6pPr indent="0" lvl="5" marL="38100">
              <a:lnSpc>
                <a:spcPct val="104500"/>
              </a:lnSpc>
              <a:spcBef>
                <a:spcPts val="0"/>
              </a:spcBef>
              <a:buNone/>
              <a:defRPr b="1" i="0" sz="1000">
                <a:solidFill>
                  <a:srgbClr val="4E3629"/>
                </a:solidFill>
                <a:latin typeface="Calibri"/>
                <a:ea typeface="Calibri"/>
                <a:cs typeface="Calibri"/>
                <a:sym typeface="Calibri"/>
              </a:defRPr>
            </a:lvl6pPr>
            <a:lvl7pPr indent="0" lvl="6" marL="38100">
              <a:lnSpc>
                <a:spcPct val="104500"/>
              </a:lnSpc>
              <a:spcBef>
                <a:spcPts val="0"/>
              </a:spcBef>
              <a:buNone/>
              <a:defRPr b="1" i="0" sz="1000">
                <a:solidFill>
                  <a:srgbClr val="4E3629"/>
                </a:solidFill>
                <a:latin typeface="Calibri"/>
                <a:ea typeface="Calibri"/>
                <a:cs typeface="Calibri"/>
                <a:sym typeface="Calibri"/>
              </a:defRPr>
            </a:lvl7pPr>
            <a:lvl8pPr indent="0" lvl="7" marL="38100">
              <a:lnSpc>
                <a:spcPct val="104500"/>
              </a:lnSpc>
              <a:spcBef>
                <a:spcPts val="0"/>
              </a:spcBef>
              <a:buNone/>
              <a:defRPr b="1" i="0" sz="1000">
                <a:solidFill>
                  <a:srgbClr val="4E3629"/>
                </a:solidFill>
                <a:latin typeface="Calibri"/>
                <a:ea typeface="Calibri"/>
                <a:cs typeface="Calibri"/>
                <a:sym typeface="Calibri"/>
              </a:defRPr>
            </a:lvl8pPr>
            <a:lvl9pPr indent="0" lvl="8" marL="38100">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4.png"/><Relationship Id="rId4"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14"/>
          <p:cNvGrpSpPr/>
          <p:nvPr/>
        </p:nvGrpSpPr>
        <p:grpSpPr>
          <a:xfrm>
            <a:off x="0" y="0"/>
            <a:ext cx="9144000" cy="6858000"/>
            <a:chOff x="0" y="0"/>
            <a:chExt cx="9144000" cy="6858000"/>
          </a:xfrm>
        </p:grpSpPr>
        <p:pic>
          <p:nvPicPr>
            <p:cNvPr id="61" name="Google Shape;6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14"/>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3" name="Google Shape;63;p14"/>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14"/>
          <p:cNvSpPr txBox="1"/>
          <p:nvPr/>
        </p:nvSpPr>
        <p:spPr>
          <a:xfrm>
            <a:off x="50578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14"/>
          <p:cNvSpPr txBox="1"/>
          <p:nvPr>
            <p:ph type="title"/>
          </p:nvPr>
        </p:nvSpPr>
        <p:spPr>
          <a:xfrm>
            <a:off x="958315" y="862895"/>
            <a:ext cx="70479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66" name="Google Shape;66;p14"/>
          <p:cNvSpPr txBox="1"/>
          <p:nvPr/>
        </p:nvSpPr>
        <p:spPr>
          <a:xfrm>
            <a:off x="962879" y="2400950"/>
            <a:ext cx="2513330" cy="88836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16-2</a:t>
            </a:r>
            <a:endParaRPr sz="2400">
              <a:latin typeface="Calibri"/>
              <a:ea typeface="Calibri"/>
              <a:cs typeface="Calibri"/>
              <a:sym typeface="Calibri"/>
            </a:endParaRPr>
          </a:p>
          <a:p>
            <a:pPr indent="0" lvl="0" marL="12700" rtl="0" algn="l">
              <a:lnSpc>
                <a:spcPct val="100000"/>
              </a:lnSpc>
              <a:spcBef>
                <a:spcPts val="515"/>
              </a:spcBef>
              <a:spcAft>
                <a:spcPts val="0"/>
              </a:spcAft>
              <a:buNone/>
            </a:pPr>
            <a:r>
              <a:rPr b="1" lang="en-US" sz="2400">
                <a:solidFill>
                  <a:srgbClr val="4E3629"/>
                </a:solidFill>
                <a:latin typeface="Calibri"/>
                <a:ea typeface="Calibri"/>
                <a:cs typeface="Calibri"/>
                <a:sym typeface="Calibri"/>
              </a:rPr>
              <a:t>Índices y Sinónimos</a:t>
            </a:r>
            <a:endParaRPr sz="2400">
              <a:latin typeface="Calibri"/>
              <a:ea typeface="Calibri"/>
              <a:cs typeface="Calibri"/>
              <a:sym typeface="Calibri"/>
            </a:endParaRPr>
          </a:p>
        </p:txBody>
      </p:sp>
      <p:pic>
        <p:nvPicPr>
          <p:cNvPr id="67" name="Google Shape;67;p14"/>
          <p:cNvPicPr preferRelativeResize="0"/>
          <p:nvPr/>
        </p:nvPicPr>
        <p:blipFill rotWithShape="1">
          <a:blip r:embed="rId5">
            <a:alphaModFix/>
          </a:blip>
          <a:srcRect b="0" l="0" r="0" t="0"/>
          <a:stretch/>
        </p:blipFill>
        <p:spPr>
          <a:xfrm>
            <a:off x="-339853" y="3485388"/>
            <a:ext cx="5058157" cy="2965703"/>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73" name="Google Shape;73;p15"/>
          <p:cNvSpPr txBox="1"/>
          <p:nvPr>
            <p:ph idx="1" type="body"/>
          </p:nvPr>
        </p:nvSpPr>
        <p:spPr>
          <a:xfrm>
            <a:off x="483552" y="1393401"/>
            <a:ext cx="8112900" cy="2853300"/>
          </a:xfrm>
          <a:prstGeom prst="rect">
            <a:avLst/>
          </a:prstGeom>
          <a:noFill/>
          <a:ln>
            <a:noFill/>
          </a:ln>
        </p:spPr>
        <p:txBody>
          <a:bodyPr anchorCtr="0" anchor="t" bIns="0" lIns="0" spcFirstLastPara="1" rIns="0" wrap="square" tIns="34275">
            <a:spAutoFit/>
          </a:bodyPr>
          <a:lstStyle/>
          <a:p>
            <a:pPr indent="0" lvl="0" marL="12700" rtl="0" algn="l">
              <a:lnSpc>
                <a:spcPct val="100000"/>
              </a:lnSpc>
              <a:spcBef>
                <a:spcPts val="0"/>
              </a:spcBef>
              <a:spcAft>
                <a:spcPts val="0"/>
              </a:spcAft>
              <a:buNone/>
            </a:pPr>
            <a:r>
              <a:rPr lang="en-US"/>
              <a:t>En esta lección se abordan los siguientes objetivos:</a:t>
            </a:r>
            <a:endParaRPr/>
          </a:p>
          <a:p>
            <a:pPr indent="0" lvl="0" marL="355600" rtl="0" algn="l">
              <a:lnSpc>
                <a:spcPct val="100000"/>
              </a:lnSpc>
              <a:spcBef>
                <a:spcPts val="145"/>
              </a:spcBef>
              <a:spcAft>
                <a:spcPts val="0"/>
              </a:spcAft>
              <a:buNone/>
            </a:pPr>
            <a:r>
              <a:rPr lang="en-US" sz="2400">
                <a:solidFill>
                  <a:srgbClr val="D1350F"/>
                </a:solidFill>
              </a:rPr>
              <a:t>−</a:t>
            </a:r>
            <a:r>
              <a:rPr lang="en-US" sz="2400"/>
              <a:t>Definir un índice y su uso como un objeto de esquema</a:t>
            </a:r>
            <a:endParaRPr sz="2400"/>
          </a:p>
          <a:p>
            <a:pPr indent="-175260" lvl="0" marL="530860" marR="194945" rtl="0" algn="l">
              <a:lnSpc>
                <a:spcPct val="107916"/>
              </a:lnSpc>
              <a:spcBef>
                <a:spcPts val="434"/>
              </a:spcBef>
              <a:spcAft>
                <a:spcPts val="0"/>
              </a:spcAft>
              <a:buNone/>
            </a:pPr>
            <a:r>
              <a:rPr lang="en-US" sz="2400">
                <a:solidFill>
                  <a:srgbClr val="D1350F"/>
                </a:solidFill>
              </a:rPr>
              <a:t>−</a:t>
            </a:r>
            <a:r>
              <a:rPr lang="en-US" sz="2400"/>
              <a:t>Nombrar las condiciones que causan que se cree un índice automáticamente</a:t>
            </a:r>
            <a:endParaRPr sz="2400"/>
          </a:p>
          <a:p>
            <a:pPr indent="0" lvl="0" marL="355600" rtl="0" algn="l">
              <a:lnSpc>
                <a:spcPct val="100000"/>
              </a:lnSpc>
              <a:spcBef>
                <a:spcPts val="75"/>
              </a:spcBef>
              <a:spcAft>
                <a:spcPts val="0"/>
              </a:spcAft>
              <a:buNone/>
            </a:pPr>
            <a:r>
              <a:rPr lang="en-US" sz="2400">
                <a:solidFill>
                  <a:srgbClr val="D1350F"/>
                </a:solidFill>
              </a:rPr>
              <a:t>−</a:t>
            </a:r>
            <a:r>
              <a:rPr lang="en-US" sz="2400"/>
              <a:t>Crear y ejecutar una sentencia CREATE INDEX y DROP INDEX</a:t>
            </a:r>
            <a:endParaRPr sz="2400"/>
          </a:p>
          <a:p>
            <a:pPr indent="0" lvl="0" marL="355600" rtl="0" algn="l">
              <a:lnSpc>
                <a:spcPct val="100000"/>
              </a:lnSpc>
              <a:spcBef>
                <a:spcPts val="120"/>
              </a:spcBef>
              <a:spcAft>
                <a:spcPts val="0"/>
              </a:spcAft>
              <a:buNone/>
            </a:pPr>
            <a:r>
              <a:rPr lang="en-US" sz="2400">
                <a:solidFill>
                  <a:srgbClr val="D1350F"/>
                </a:solidFill>
              </a:rPr>
              <a:t>−</a:t>
            </a:r>
            <a:r>
              <a:rPr lang="en-US" sz="2400"/>
              <a:t>Crear y ejecutar un índice basado en funciones</a:t>
            </a:r>
            <a:endParaRPr sz="2400"/>
          </a:p>
          <a:p>
            <a:pPr indent="0" lvl="0" marL="355600" rtl="0" algn="l">
              <a:lnSpc>
                <a:spcPct val="100000"/>
              </a:lnSpc>
              <a:spcBef>
                <a:spcPts val="105"/>
              </a:spcBef>
              <a:spcAft>
                <a:spcPts val="1200"/>
              </a:spcAft>
              <a:buNone/>
            </a:pPr>
            <a:r>
              <a:rPr lang="en-US" sz="2400">
                <a:solidFill>
                  <a:srgbClr val="D1350F"/>
                </a:solidFill>
              </a:rPr>
              <a:t>−</a:t>
            </a:r>
            <a:r>
              <a:rPr lang="en-US" sz="2400"/>
              <a:t>Creación de Sinónimos Privados y Públicos</a:t>
            </a:r>
            <a:endParaRPr sz="2400"/>
          </a:p>
        </p:txBody>
      </p:sp>
      <p:grpSp>
        <p:nvGrpSpPr>
          <p:cNvPr id="74" name="Google Shape;74;p15"/>
          <p:cNvGrpSpPr/>
          <p:nvPr/>
        </p:nvGrpSpPr>
        <p:grpSpPr>
          <a:xfrm>
            <a:off x="5644896" y="4029455"/>
            <a:ext cx="2948939" cy="2340863"/>
            <a:chOff x="5644896" y="4029455"/>
            <a:chExt cx="2948939" cy="2340863"/>
          </a:xfrm>
        </p:grpSpPr>
        <p:pic>
          <p:nvPicPr>
            <p:cNvPr id="75" name="Google Shape;75;p15"/>
            <p:cNvPicPr preferRelativeResize="0"/>
            <p:nvPr/>
          </p:nvPicPr>
          <p:blipFill rotWithShape="1">
            <a:blip r:embed="rId3">
              <a:alphaModFix/>
            </a:blip>
            <a:srcRect b="0" l="0" r="0" t="0"/>
            <a:stretch/>
          </p:blipFill>
          <p:spPr>
            <a:xfrm>
              <a:off x="5644896" y="4029455"/>
              <a:ext cx="2948939" cy="2340863"/>
            </a:xfrm>
            <a:prstGeom prst="rect">
              <a:avLst/>
            </a:prstGeom>
            <a:noFill/>
            <a:ln>
              <a:noFill/>
            </a:ln>
          </p:spPr>
        </p:pic>
        <p:pic>
          <p:nvPicPr>
            <p:cNvPr id="76" name="Google Shape;76;p15"/>
            <p:cNvPicPr preferRelativeResize="0"/>
            <p:nvPr/>
          </p:nvPicPr>
          <p:blipFill rotWithShape="1">
            <a:blip r:embed="rId4">
              <a:alphaModFix/>
            </a:blip>
            <a:srcRect b="0" l="0" r="0" t="0"/>
            <a:stretch/>
          </p:blipFill>
          <p:spPr>
            <a:xfrm>
              <a:off x="5836920" y="4221479"/>
              <a:ext cx="2564891" cy="1956815"/>
            </a:xfrm>
            <a:prstGeom prst="rect">
              <a:avLst/>
            </a:prstGeom>
            <a:noFill/>
            <a:ln>
              <a:noFill/>
            </a:ln>
          </p:spPr>
        </p:pic>
      </p:grpSp>
      <p:sp>
        <p:nvSpPr>
          <p:cNvPr id="77" name="Google Shape;77;p15"/>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78" name="Google Shape;78;p1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79" name="Google Shape;79;p1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85" name="Google Shape;85;p16"/>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86" name="Google Shape;86;p1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87" name="Google Shape;87;p1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88" name="Google Shape;88;p16"/>
          <p:cNvSpPr txBox="1"/>
          <p:nvPr/>
        </p:nvSpPr>
        <p:spPr>
          <a:xfrm>
            <a:off x="483552" y="1381889"/>
            <a:ext cx="8174355" cy="4170045"/>
          </a:xfrm>
          <a:prstGeom prst="rect">
            <a:avLst/>
          </a:prstGeom>
          <a:noFill/>
          <a:ln>
            <a:noFill/>
          </a:ln>
        </p:spPr>
        <p:txBody>
          <a:bodyPr anchorCtr="0" anchor="t" bIns="0" lIns="0" spcFirstLastPara="1" rIns="0" wrap="square" tIns="97150">
            <a:spAutoFit/>
          </a:bodyPr>
          <a:lstStyle/>
          <a:p>
            <a:pPr indent="-177800" lvl="0" marL="182880" marR="244475"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puede imaginar ir a una librería o una biblioteca y 	encontrar todos los libros apilados en estanterías fila 	tras fila sin ningún orden real?</a:t>
            </a:r>
            <a:endParaRPr sz="2800">
              <a:latin typeface="Calibri"/>
              <a:ea typeface="Calibri"/>
              <a:cs typeface="Calibri"/>
              <a:sym typeface="Calibri"/>
            </a:endParaRPr>
          </a:p>
          <a:p>
            <a:pPr indent="-177800" lvl="0" marL="182880" marR="257810" rtl="0" algn="l">
              <a:lnSpc>
                <a:spcPct val="80000"/>
              </a:lnSpc>
              <a:spcBef>
                <a:spcPts val="6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única forma de localizar lo que está buscando sería 	examinar todos los libros de todas las filas</a:t>
            </a:r>
            <a:endParaRPr sz="2800">
              <a:latin typeface="Calibri"/>
              <a:ea typeface="Calibri"/>
              <a:cs typeface="Calibri"/>
              <a:sym typeface="Calibri"/>
            </a:endParaRPr>
          </a:p>
          <a:p>
            <a:pPr indent="-177800" lvl="0" marL="183515" rtl="0" algn="l">
              <a:lnSpc>
                <a:spcPct val="116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es muy eficaz, ¿no está de acuerdo?</a:t>
            </a:r>
            <a:endParaRPr sz="2800">
              <a:latin typeface="Calibri"/>
              <a:ea typeface="Calibri"/>
              <a:cs typeface="Calibri"/>
              <a:sym typeface="Calibri"/>
            </a:endParaRPr>
          </a:p>
          <a:p>
            <a:pPr indent="-177800" lvl="0" marL="182880" marR="5080" rtl="0" algn="just">
              <a:lnSpc>
                <a:spcPct val="80000"/>
              </a:lnSpc>
              <a:spcBef>
                <a:spcPts val="63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Tal vez le sorprenda saber que la recuperación de datos 	de una base de datos es exactamente igual que las filas 	de libros</a:t>
            </a:r>
            <a:endParaRPr sz="2800">
              <a:latin typeface="Calibri"/>
              <a:ea typeface="Calibri"/>
              <a:cs typeface="Calibri"/>
              <a:sym typeface="Calibri"/>
            </a:endParaRPr>
          </a:p>
          <a:p>
            <a:pPr indent="-177800" lvl="0" marL="182880" marR="379730" rtl="0" algn="just">
              <a:lnSpc>
                <a:spcPct val="80000"/>
              </a:lnSpc>
              <a:spcBef>
                <a:spcPts val="60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cada consulta, se produce una exploración de la 	tabla completa</a:t>
            </a:r>
            <a:endParaRPr sz="2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94" name="Google Shape;94;p17"/>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95" name="Google Shape;95;p1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96" name="Google Shape;96;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7" name="Google Shape;97;p17"/>
          <p:cNvSpPr txBox="1"/>
          <p:nvPr/>
        </p:nvSpPr>
        <p:spPr>
          <a:xfrm>
            <a:off x="477206" y="1496061"/>
            <a:ext cx="8349615" cy="4293235"/>
          </a:xfrm>
          <a:prstGeom prst="rect">
            <a:avLst/>
          </a:prstGeom>
          <a:noFill/>
          <a:ln>
            <a:noFill/>
          </a:ln>
        </p:spPr>
        <p:txBody>
          <a:bodyPr anchorCtr="0" anchor="t" bIns="0" lIns="0" spcFirstLastPara="1" rIns="0" wrap="square" tIns="57775">
            <a:spAutoFit/>
          </a:bodyPr>
          <a:lstStyle/>
          <a:p>
            <a:pPr indent="-172720" lvl="0" marL="184785" marR="73025" rtl="0" algn="l">
              <a:lnSpc>
                <a:spcPct val="108076"/>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Afortunadamente no existe una forma para que la búsqueda de datos en una base de datos sea más eficaz</a:t>
            </a:r>
            <a:endParaRPr sz="2600">
              <a:latin typeface="Calibri"/>
              <a:ea typeface="Calibri"/>
              <a:cs typeface="Calibri"/>
              <a:sym typeface="Calibri"/>
            </a:endParaRPr>
          </a:p>
          <a:p>
            <a:pPr indent="-172085" lvl="0" marL="184785" rtl="0" algn="l">
              <a:lnSpc>
                <a:spcPct val="100000"/>
              </a:lnSpc>
              <a:spcBef>
                <a:spcPts val="24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Oracle utiliza un índice para acelerar la recuperación de filas</a:t>
            </a:r>
            <a:endParaRPr sz="2600">
              <a:latin typeface="Calibri"/>
              <a:ea typeface="Calibri"/>
              <a:cs typeface="Calibri"/>
              <a:sym typeface="Calibri"/>
            </a:endParaRPr>
          </a:p>
          <a:p>
            <a:pPr indent="-172720" lvl="0" marL="184785" marR="371475" rtl="0" algn="l">
              <a:lnSpc>
                <a:spcPct val="108076"/>
              </a:lnSpc>
              <a:spcBef>
                <a:spcPts val="64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En esta lección, aprenderá cómo y cuándo crear un índice, además de cómo suprimir un índice</a:t>
            </a:r>
            <a:endParaRPr sz="2600">
              <a:latin typeface="Calibri"/>
              <a:ea typeface="Calibri"/>
              <a:cs typeface="Calibri"/>
              <a:sym typeface="Calibri"/>
            </a:endParaRPr>
          </a:p>
          <a:p>
            <a:pPr indent="-172720" lvl="0" marL="184785" marR="5080" rtl="0" algn="l">
              <a:lnSpc>
                <a:spcPct val="108076"/>
              </a:lnSpc>
              <a:spcBef>
                <a:spcPts val="59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Asimismo, en esta lección, aprenderá a crear nombres fáciles de recordar para los objetos de base de datos</a:t>
            </a:r>
            <a:endParaRPr sz="2600">
              <a:latin typeface="Calibri"/>
              <a:ea typeface="Calibri"/>
              <a:cs typeface="Calibri"/>
              <a:sym typeface="Calibri"/>
            </a:endParaRPr>
          </a:p>
          <a:p>
            <a:pPr indent="-172720" lvl="0" marL="184785" marR="125730" rtl="0" algn="l">
              <a:lnSpc>
                <a:spcPct val="108076"/>
              </a:lnSpc>
              <a:spcBef>
                <a:spcPts val="59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Al igual que las direcciones web de Internet que eliminan tener que conocer la dirección de protocolo de Internet, los sinónimos proporcionan una forma para asignar a un objeto un nombre más sencillo (Suena como alias, ¿no?)</a:t>
            </a:r>
            <a:endParaRPr sz="26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Índices</a:t>
            </a:r>
            <a:endParaRPr/>
          </a:p>
        </p:txBody>
      </p:sp>
      <p:sp>
        <p:nvSpPr>
          <p:cNvPr id="103" name="Google Shape;103;p18"/>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104" name="Google Shape;104;p1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05" name="Google Shape;105;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6" name="Google Shape;106;p18"/>
          <p:cNvSpPr txBox="1"/>
          <p:nvPr/>
        </p:nvSpPr>
        <p:spPr>
          <a:xfrm>
            <a:off x="483552" y="1415417"/>
            <a:ext cx="8023225" cy="4521200"/>
          </a:xfrm>
          <a:prstGeom prst="rect">
            <a:avLst/>
          </a:prstGeom>
          <a:noFill/>
          <a:ln>
            <a:noFill/>
          </a:ln>
        </p:spPr>
        <p:txBody>
          <a:bodyPr anchorCtr="0" anchor="t" bIns="0" lIns="0" spcFirstLastPara="1" rIns="0" wrap="square" tIns="59675">
            <a:spAutoFit/>
          </a:bodyPr>
          <a:lstStyle/>
          <a:p>
            <a:pPr indent="-177800" lvl="0" marL="182880" marR="17716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índice de Oracle Server es un objeto de esquema 	que puede acelerar la recuperación de filas mediante 	un puntero. Los índices se pueden crear explícita o 	automáticamente</a:t>
            </a:r>
            <a:endParaRPr sz="2800">
              <a:latin typeface="Calibri"/>
              <a:ea typeface="Calibri"/>
              <a:cs typeface="Calibri"/>
              <a:sym typeface="Calibri"/>
            </a:endParaRPr>
          </a:p>
          <a:p>
            <a:pPr indent="-177800" lvl="0" marL="182880" marR="613410" rtl="0" algn="l">
              <a:lnSpc>
                <a:spcPct val="108214"/>
              </a:lnSpc>
              <a:spcBef>
                <a:spcPts val="5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no hay un índice en la columna seleccionada, se 	produce una exploración de tabla completa</a:t>
            </a:r>
            <a:endParaRPr sz="2800">
              <a:latin typeface="Calibri"/>
              <a:ea typeface="Calibri"/>
              <a:cs typeface="Calibri"/>
              <a:sym typeface="Calibri"/>
            </a:endParaRPr>
          </a:p>
          <a:p>
            <a:pPr indent="-177800" lvl="0" marL="182880" marR="499745" rtl="0" algn="l">
              <a:lnSpc>
                <a:spcPct val="108214"/>
              </a:lnSpc>
              <a:spcBef>
                <a:spcPts val="5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índice proporciona acceso directo y rápido a las 	filas de una tabla</a:t>
            </a:r>
            <a:endParaRPr sz="2800">
              <a:latin typeface="Calibri"/>
              <a:ea typeface="Calibri"/>
              <a:cs typeface="Calibri"/>
              <a:sym typeface="Calibri"/>
            </a:endParaRPr>
          </a:p>
          <a:p>
            <a:pPr indent="-177800" lvl="0" marL="182880" marR="5080" rtl="0" algn="l">
              <a:lnSpc>
                <a:spcPct val="108214"/>
              </a:lnSpc>
              <a:spcBef>
                <a:spcPts val="5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Su finalidad es reducir la necesidad de E/S 	(entrada/salida) de disco mediante una ruta de acceso 	indexada para buscar datos de forma rápida</a:t>
            </a:r>
            <a:endParaRPr sz="28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Índices</a:t>
            </a:r>
            <a:endParaRPr/>
          </a:p>
        </p:txBody>
      </p:sp>
      <p:sp>
        <p:nvSpPr>
          <p:cNvPr id="112" name="Google Shape;112;p19"/>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113" name="Google Shape;113;p1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4" name="Google Shape;114;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5" name="Google Shape;115;p19"/>
          <p:cNvSpPr txBox="1"/>
          <p:nvPr/>
        </p:nvSpPr>
        <p:spPr>
          <a:xfrm>
            <a:off x="483552" y="1415417"/>
            <a:ext cx="8168005" cy="3728720"/>
          </a:xfrm>
          <a:prstGeom prst="rect">
            <a:avLst/>
          </a:prstGeom>
          <a:noFill/>
          <a:ln>
            <a:noFill/>
          </a:ln>
        </p:spPr>
        <p:txBody>
          <a:bodyPr anchorCtr="0" anchor="t" bIns="0" lIns="0" spcFirstLastPara="1" rIns="0" wrap="square" tIns="59675">
            <a:spAutoFit/>
          </a:bodyPr>
          <a:lstStyle/>
          <a:p>
            <a:pPr indent="-177800" lvl="0" marL="182880" marR="13843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índice lo utiliza y mantiene automáticamente Oracle 	Server. Una vez creado un índice, no será necesaria 	ninguna intervención directa por parte del usuario</a:t>
            </a:r>
            <a:endParaRPr sz="2800">
              <a:latin typeface="Calibri"/>
              <a:ea typeface="Calibri"/>
              <a:cs typeface="Calibri"/>
              <a:sym typeface="Calibri"/>
            </a:endParaRPr>
          </a:p>
          <a:p>
            <a:pPr indent="-177800" lvl="0" marL="182880" marR="24828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ROWID es una representación de cadena en base 	64 de la dirección de fila que contiene el identificador 	de bloque, la ubicación de la fila en el bloque y el 	identificador de archivo de la base de datos</a:t>
            </a:r>
            <a:endParaRPr sz="2800">
              <a:latin typeface="Calibri"/>
              <a:ea typeface="Calibri"/>
              <a:cs typeface="Calibri"/>
              <a:sym typeface="Calibri"/>
            </a:endParaRPr>
          </a:p>
          <a:p>
            <a:pPr indent="-177800" lvl="0" marL="182880" marR="508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índices utilizan los ROWID porque son la forma más 	rápida para acceder a cualquier fila concreta</a:t>
            </a:r>
            <a:endParaRPr sz="28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Índices</a:t>
            </a:r>
            <a:endParaRPr/>
          </a:p>
        </p:txBody>
      </p:sp>
      <p:sp>
        <p:nvSpPr>
          <p:cNvPr id="121" name="Google Shape;121;p20"/>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122" name="Google Shape;122;p2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23" name="Google Shape;123;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4" name="Google Shape;124;p20"/>
          <p:cNvSpPr txBox="1"/>
          <p:nvPr/>
        </p:nvSpPr>
        <p:spPr>
          <a:xfrm>
            <a:off x="477206" y="1491489"/>
            <a:ext cx="8209280" cy="2064385"/>
          </a:xfrm>
          <a:prstGeom prst="rect">
            <a:avLst/>
          </a:prstGeom>
          <a:noFill/>
          <a:ln>
            <a:noFill/>
          </a:ln>
        </p:spPr>
        <p:txBody>
          <a:bodyPr anchorCtr="0" anchor="t" bIns="0" lIns="0" spcFirstLastPara="1" rIns="0" wrap="square" tIns="59675">
            <a:spAutoFit/>
          </a:bodyPr>
          <a:lstStyle/>
          <a:p>
            <a:pPr indent="-177800" lvl="0" marL="182880" marR="19367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índices son lógica y físicamente independientes de 	la tabla que indexan</a:t>
            </a:r>
            <a:endParaRPr sz="2800">
              <a:latin typeface="Calibri"/>
              <a:ea typeface="Calibri"/>
              <a:cs typeface="Calibri"/>
              <a:sym typeface="Calibri"/>
            </a:endParaRPr>
          </a:p>
          <a:p>
            <a:pPr indent="-177800" lvl="0" marL="182880" marR="5080" rtl="0" algn="l">
              <a:lnSpc>
                <a:spcPct val="108214"/>
              </a:lnSpc>
              <a:spcBef>
                <a:spcPts val="5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Esto significa que se pueden crear o borrar en cualquier 	momento sin que afecten a las tablas base o a otros 	índices</a:t>
            </a:r>
            <a:endParaRPr sz="2800">
              <a:latin typeface="Calibri"/>
              <a:ea typeface="Calibri"/>
              <a:cs typeface="Calibri"/>
              <a:sym typeface="Calibri"/>
            </a:endParaRPr>
          </a:p>
        </p:txBody>
      </p:sp>
      <p:graphicFrame>
        <p:nvGraphicFramePr>
          <p:cNvPr id="125" name="Google Shape;125;p20"/>
          <p:cNvGraphicFramePr/>
          <p:nvPr/>
        </p:nvGraphicFramePr>
        <p:xfrm>
          <a:off x="1135669" y="3525020"/>
          <a:ext cx="3000000" cy="3000000"/>
        </p:xfrm>
        <a:graphic>
          <a:graphicData uri="http://schemas.openxmlformats.org/drawingml/2006/table">
            <a:tbl>
              <a:tblPr bandRow="1" firstRow="1">
                <a:noFill/>
                <a:tableStyleId>{F80F5F9F-884D-4591-B9C8-8E1AC946C623}</a:tableStyleId>
              </a:tblPr>
              <a:tblGrid>
                <a:gridCol w="1410325"/>
                <a:gridCol w="2454900"/>
                <a:gridCol w="1670675"/>
                <a:gridCol w="1323975"/>
              </a:tblGrid>
              <a:tr h="264800">
                <a:tc>
                  <a:txBody>
                    <a:bodyPr/>
                    <a:lstStyle/>
                    <a:p>
                      <a:pPr indent="0" lvl="0" marL="71755" marR="0" rtl="0" algn="l">
                        <a:lnSpc>
                          <a:spcPct val="119062"/>
                        </a:lnSpc>
                        <a:spcBef>
                          <a:spcPts val="0"/>
                        </a:spcBef>
                        <a:spcAft>
                          <a:spcPts val="0"/>
                        </a:spcAft>
                        <a:buNone/>
                      </a:pPr>
                      <a:r>
                        <a:rPr b="1" lang="en-US" sz="1600" u="none" cap="none" strike="noStrike">
                          <a:solidFill>
                            <a:srgbClr val="4E3629"/>
                          </a:solidFill>
                          <a:latin typeface="Calibri"/>
                          <a:ea typeface="Calibri"/>
                          <a:cs typeface="Calibri"/>
                          <a:sym typeface="Calibri"/>
                        </a:rPr>
                        <a:t>COUNTRY_ID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9062"/>
                        </a:lnSpc>
                        <a:spcBef>
                          <a:spcPts val="0"/>
                        </a:spcBef>
                        <a:spcAft>
                          <a:spcPts val="0"/>
                        </a:spcAft>
                        <a:buNone/>
                      </a:pPr>
                      <a:r>
                        <a:rPr b="1" lang="en-US" sz="1600" u="none" cap="none" strike="noStrike">
                          <a:solidFill>
                            <a:srgbClr val="4E3629"/>
                          </a:solidFill>
                          <a:latin typeface="Calibri"/>
                          <a:ea typeface="Calibri"/>
                          <a:cs typeface="Calibri"/>
                          <a:sym typeface="Calibri"/>
                        </a:rPr>
                        <a:t>COUNTRY_NAME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9062"/>
                        </a:lnSpc>
                        <a:spcBef>
                          <a:spcPts val="0"/>
                        </a:spcBef>
                        <a:spcAft>
                          <a:spcPts val="0"/>
                        </a:spcAft>
                        <a:buNone/>
                      </a:pPr>
                      <a:r>
                        <a:rPr b="1" lang="en-US" sz="1600" u="none" cap="none" strike="noStrike">
                          <a:solidFill>
                            <a:srgbClr val="4E3629"/>
                          </a:solidFill>
                          <a:latin typeface="Calibri"/>
                          <a:ea typeface="Calibri"/>
                          <a:cs typeface="Calibri"/>
                          <a:sym typeface="Calibri"/>
                        </a:rPr>
                        <a:t>CAPITOL</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9062"/>
                        </a:lnSpc>
                        <a:spcBef>
                          <a:spcPts val="0"/>
                        </a:spcBef>
                        <a:spcAft>
                          <a:spcPts val="0"/>
                        </a:spcAft>
                        <a:buNone/>
                      </a:pPr>
                      <a:r>
                        <a:rPr b="1" lang="en-US" sz="1600" u="none" cap="none" strike="noStrike">
                          <a:solidFill>
                            <a:srgbClr val="4E3629"/>
                          </a:solidFill>
                          <a:latin typeface="Calibri"/>
                          <a:ea typeface="Calibri"/>
                          <a:cs typeface="Calibri"/>
                          <a:sym typeface="Calibri"/>
                        </a:rPr>
                        <a:t>REGION_ID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United States of America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Washington, DC</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Canada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Ottawa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Republic of Kazakhstan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Astana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143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7</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Russian Federation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Moscow</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151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20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Coral Sea Islands Territory</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Cook Islands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Avarua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Europa Island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18</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Arab Republic of Egypt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Cairo</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Índices</a:t>
            </a:r>
            <a:endParaRPr/>
          </a:p>
        </p:txBody>
      </p:sp>
      <p:sp>
        <p:nvSpPr>
          <p:cNvPr id="131" name="Google Shape;131;p21"/>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132" name="Google Shape;132;p2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33" name="Google Shape;133;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4" name="Google Shape;134;p21"/>
          <p:cNvSpPr txBox="1"/>
          <p:nvPr/>
        </p:nvSpPr>
        <p:spPr>
          <a:xfrm>
            <a:off x="483552" y="1415417"/>
            <a:ext cx="8136890"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Nota: al borrar una tabla, se borran también los índices 	correspondientes</a:t>
            </a:r>
            <a:endParaRPr sz="2800">
              <a:latin typeface="Calibri"/>
              <a:ea typeface="Calibri"/>
              <a:cs typeface="Calibri"/>
              <a:sym typeface="Calibri"/>
            </a:endParaRPr>
          </a:p>
        </p:txBody>
      </p:sp>
      <p:graphicFrame>
        <p:nvGraphicFramePr>
          <p:cNvPr id="135" name="Google Shape;135;p21"/>
          <p:cNvGraphicFramePr/>
          <p:nvPr/>
        </p:nvGraphicFramePr>
        <p:xfrm>
          <a:off x="618898" y="2550152"/>
          <a:ext cx="3000000" cy="3000000"/>
        </p:xfrm>
        <a:graphic>
          <a:graphicData uri="http://schemas.openxmlformats.org/drawingml/2006/table">
            <a:tbl>
              <a:tblPr bandRow="1" firstRow="1">
                <a:noFill/>
                <a:tableStyleId>{F80F5F9F-884D-4591-B9C8-8E1AC946C623}</a:tableStyleId>
              </a:tblPr>
              <a:tblGrid>
                <a:gridCol w="1547500"/>
                <a:gridCol w="2693025"/>
                <a:gridCol w="1833250"/>
                <a:gridCol w="1452875"/>
              </a:tblGrid>
              <a:tr h="3041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COUNTRY_ID</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COUNTRY_NAME</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CAPITOL</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REGION_ID</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59075">
                <a:tc>
                  <a:txBody>
                    <a:bodyPr/>
                    <a:lstStyle/>
                    <a:p>
                      <a:pPr indent="0" lvl="0" marL="71755"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United States of America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Washington, DC</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21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9075">
                <a:tc>
                  <a:txBody>
                    <a:bodyPr/>
                    <a:lstStyle/>
                    <a:p>
                      <a:pPr indent="0" lvl="0" marL="7112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Canada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Ottawa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21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9075">
                <a:tc>
                  <a:txBody>
                    <a:bodyPr/>
                    <a:lstStyle/>
                    <a:p>
                      <a:pPr indent="0" lvl="0" marL="7112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Republic of Kazakhstan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Astana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143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9075">
                <a:tc>
                  <a:txBody>
                    <a:bodyPr/>
                    <a:lstStyle/>
                    <a:p>
                      <a:pPr indent="0" lvl="0" marL="7112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7</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Russian Federation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Moscow</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151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9075">
                <a:tc>
                  <a:txBody>
                    <a:bodyPr/>
                    <a:lstStyle/>
                    <a:p>
                      <a:pPr indent="0" lvl="0" marL="70485"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12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Coral Sea Islands Territory</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9</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9075">
                <a:tc>
                  <a:txBody>
                    <a:bodyPr/>
                    <a:lstStyle/>
                    <a:p>
                      <a:pPr indent="0" lvl="0" marL="70485"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13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Cook Islands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Avarua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9</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9075">
                <a:tc>
                  <a:txBody>
                    <a:bodyPr/>
                    <a:lstStyle/>
                    <a:p>
                      <a:pPr indent="0" lvl="0" marL="70485"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15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Europa Island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18</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9075">
                <a:tc>
                  <a:txBody>
                    <a:bodyPr/>
                    <a:lstStyle/>
                    <a:p>
                      <a:pPr indent="0" lvl="0" marL="6985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Arab Republic of Egypt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Cairo</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15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59075">
                <a:tc>
                  <a:txBody>
                    <a:bodyPr/>
                    <a:lstStyle/>
                    <a:p>
                      <a:pPr indent="0" lvl="0" marL="6985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69850" marR="0" rtl="0" algn="l">
                        <a:lnSpc>
                          <a:spcPct val="117499"/>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Tipos de Índices</a:t>
            </a:r>
            <a:endParaRPr/>
          </a:p>
        </p:txBody>
      </p:sp>
      <p:sp>
        <p:nvSpPr>
          <p:cNvPr id="141" name="Google Shape;141;p22"/>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142" name="Google Shape;142;p2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43" name="Google Shape;143;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4" name="Google Shape;144;p22"/>
          <p:cNvSpPr txBox="1"/>
          <p:nvPr>
            <p:ph idx="1" type="body"/>
          </p:nvPr>
        </p:nvSpPr>
        <p:spPr>
          <a:xfrm>
            <a:off x="483552" y="1393401"/>
            <a:ext cx="8112900" cy="497550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a:t>Se pueden crear dos tipos de índices:</a:t>
            </a:r>
            <a:endParaRPr/>
          </a:p>
          <a:p>
            <a:pPr indent="-175260" lvl="0" marL="530860" marR="7620" rtl="0" algn="just">
              <a:lnSpc>
                <a:spcPct val="107916"/>
              </a:lnSpc>
              <a:spcBef>
                <a:spcPts val="475"/>
              </a:spcBef>
              <a:spcAft>
                <a:spcPts val="0"/>
              </a:spcAft>
              <a:buNone/>
            </a:pPr>
            <a:r>
              <a:rPr lang="en-US" sz="2400">
                <a:solidFill>
                  <a:srgbClr val="D1350F"/>
                </a:solidFill>
              </a:rPr>
              <a:t>−</a:t>
            </a:r>
            <a:r>
              <a:rPr lang="en-US" sz="2400"/>
              <a:t>Índice único: Oracle Server crea automáticamente este índice al definir una restricción de clave PRIMARY KEY o UNIQUE en una columna de la tabla</a:t>
            </a:r>
            <a:endParaRPr sz="2400"/>
          </a:p>
          <a:p>
            <a:pPr indent="-175260" lvl="1" marL="873760" rtl="0" algn="l">
              <a:lnSpc>
                <a:spcPct val="100000"/>
              </a:lnSpc>
              <a:spcBef>
                <a:spcPts val="150"/>
              </a:spcBef>
              <a:spcAft>
                <a:spcPts val="0"/>
              </a:spcAft>
              <a:buClr>
                <a:srgbClr val="D1350F"/>
              </a:buClr>
              <a:buSzPts val="2000"/>
              <a:buFont typeface="Arial"/>
              <a:buChar char="•"/>
            </a:pPr>
            <a:r>
              <a:rPr lang="en-US" sz="2000">
                <a:solidFill>
                  <a:srgbClr val="4E3629"/>
                </a:solidFill>
                <a:latin typeface="Calibri"/>
                <a:ea typeface="Calibri"/>
                <a:cs typeface="Calibri"/>
                <a:sym typeface="Calibri"/>
              </a:rPr>
              <a:t>El nombre del índice es el nombre proporcionado a la restricción</a:t>
            </a:r>
            <a:endParaRPr sz="2000">
              <a:latin typeface="Calibri"/>
              <a:ea typeface="Calibri"/>
              <a:cs typeface="Calibri"/>
              <a:sym typeface="Calibri"/>
            </a:endParaRPr>
          </a:p>
          <a:p>
            <a:pPr indent="-175260" lvl="1" marL="873125" marR="365760" rtl="0" algn="l">
              <a:lnSpc>
                <a:spcPct val="108000"/>
              </a:lnSpc>
              <a:spcBef>
                <a:spcPts val="425"/>
              </a:spcBef>
              <a:spcAft>
                <a:spcPts val="0"/>
              </a:spcAft>
              <a:buClr>
                <a:srgbClr val="D1350F"/>
              </a:buClr>
              <a:buSzPts val="2000"/>
              <a:buFont typeface="Arial"/>
              <a:buChar char="•"/>
            </a:pPr>
            <a:r>
              <a:rPr lang="en-US" sz="2000">
                <a:solidFill>
                  <a:srgbClr val="4E3629"/>
                </a:solidFill>
                <a:latin typeface="Calibri"/>
                <a:ea typeface="Calibri"/>
                <a:cs typeface="Calibri"/>
                <a:sym typeface="Calibri"/>
              </a:rPr>
              <a:t>Aunque puede crear manualmente un índice único, se recomienda 	crear una restricción única en la tabla, que implícitamente crea el 	índice único</a:t>
            </a:r>
            <a:endParaRPr sz="2000">
              <a:latin typeface="Calibri"/>
              <a:ea typeface="Calibri"/>
              <a:cs typeface="Calibri"/>
              <a:sym typeface="Calibri"/>
            </a:endParaRPr>
          </a:p>
          <a:p>
            <a:pPr indent="-175260" lvl="0" marL="530860" marR="5080" rtl="0" algn="l">
              <a:lnSpc>
                <a:spcPct val="107916"/>
              </a:lnSpc>
              <a:spcBef>
                <a:spcPts val="390"/>
              </a:spcBef>
              <a:spcAft>
                <a:spcPts val="0"/>
              </a:spcAft>
              <a:buNone/>
            </a:pPr>
            <a:r>
              <a:rPr lang="en-US" sz="2400">
                <a:solidFill>
                  <a:srgbClr val="D1350F"/>
                </a:solidFill>
              </a:rPr>
              <a:t>−</a:t>
            </a:r>
            <a:r>
              <a:rPr lang="en-US" sz="2400"/>
              <a:t>Índice no único: este es un índice que un usuario puede crear para acelerar el acceso a las filas</a:t>
            </a:r>
            <a:endParaRPr sz="2400"/>
          </a:p>
          <a:p>
            <a:pPr indent="-175260" lvl="1" marL="873125" marR="233045" rtl="0" algn="l">
              <a:lnSpc>
                <a:spcPct val="108000"/>
              </a:lnSpc>
              <a:spcBef>
                <a:spcPts val="420"/>
              </a:spcBef>
              <a:spcAft>
                <a:spcPts val="1200"/>
              </a:spcAft>
              <a:buClr>
                <a:srgbClr val="D1350F"/>
              </a:buClr>
              <a:buSzPts val="2000"/>
              <a:buFont typeface="Arial"/>
              <a:buChar char="•"/>
            </a:pPr>
            <a:r>
              <a:rPr lang="en-US" sz="2000">
                <a:solidFill>
                  <a:srgbClr val="4E3629"/>
                </a:solidFill>
                <a:latin typeface="Calibri"/>
                <a:ea typeface="Calibri"/>
                <a:cs typeface="Calibri"/>
                <a:sym typeface="Calibri"/>
              </a:rPr>
              <a:t>Por ejemplo, para optimizar las uniones, puede crear un índice en la 	columna FOREIGN KEY, que acelera la búsqueda de las filas 	coincidentes en la columna PRIMARY KEY</a:t>
            </a:r>
            <a:endParaRPr sz="20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Creación de Índices</a:t>
            </a:r>
            <a:endParaRPr/>
          </a:p>
        </p:txBody>
      </p:sp>
      <p:sp>
        <p:nvSpPr>
          <p:cNvPr id="150" name="Google Shape;150;p23"/>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151" name="Google Shape;151;p2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52" name="Google Shape;152;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53" name="Google Shape;153;p23"/>
          <p:cNvSpPr txBox="1"/>
          <p:nvPr/>
        </p:nvSpPr>
        <p:spPr>
          <a:xfrm>
            <a:off x="483552" y="1415417"/>
            <a:ext cx="7856855"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crear un índice en una o más columnas, emita la 	sentencia CREATE INDEX:</a:t>
            </a:r>
            <a:endParaRPr sz="2800">
              <a:latin typeface="Calibri"/>
              <a:ea typeface="Calibri"/>
              <a:cs typeface="Calibri"/>
              <a:sym typeface="Calibri"/>
            </a:endParaRPr>
          </a:p>
        </p:txBody>
      </p:sp>
      <p:sp>
        <p:nvSpPr>
          <p:cNvPr id="154" name="Google Shape;154;p23"/>
          <p:cNvSpPr txBox="1"/>
          <p:nvPr/>
        </p:nvSpPr>
        <p:spPr>
          <a:xfrm>
            <a:off x="483552" y="3256409"/>
            <a:ext cx="8028305" cy="2474595"/>
          </a:xfrm>
          <a:prstGeom prst="rect">
            <a:avLst/>
          </a:prstGeom>
          <a:noFill/>
          <a:ln>
            <a:noFill/>
          </a:ln>
        </p:spPr>
        <p:txBody>
          <a:bodyPr anchorCtr="0" anchor="t" bIns="0" lIns="0" spcFirstLastPara="1" rIns="0" wrap="square" tIns="59675">
            <a:spAutoFit/>
          </a:bodyPr>
          <a:lstStyle/>
          <a:p>
            <a:pPr indent="-177800" lvl="0" marL="182880" marR="1010919"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crear un índice en su propio, debe tener el 	privilegio CREATE TABLE</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crear un índice en cualquier esquema, necesita el 	privilegio CREATE ANY INDEX o el privilegio CREATE 	TABLE en la tabla en la que va a crear el índice. Los 	valores nulos no se incluyen en el índice</a:t>
            </a:r>
            <a:endParaRPr sz="2800">
              <a:latin typeface="Calibri"/>
              <a:ea typeface="Calibri"/>
              <a:cs typeface="Calibri"/>
              <a:sym typeface="Calibri"/>
            </a:endParaRPr>
          </a:p>
        </p:txBody>
      </p:sp>
      <p:sp>
        <p:nvSpPr>
          <p:cNvPr id="155" name="Google Shape;155;p23"/>
          <p:cNvSpPr txBox="1"/>
          <p:nvPr/>
        </p:nvSpPr>
        <p:spPr>
          <a:xfrm>
            <a:off x="393191" y="2474976"/>
            <a:ext cx="8345805" cy="49403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95833"/>
              </a:lnSpc>
              <a:spcBef>
                <a:spcPts val="0"/>
              </a:spcBef>
              <a:spcAft>
                <a:spcPts val="0"/>
              </a:spcAft>
              <a:buNone/>
            </a:pPr>
            <a:r>
              <a:rPr b="1" lang="en-US" sz="1800">
                <a:solidFill>
                  <a:srgbClr val="4E3629"/>
                </a:solidFill>
                <a:latin typeface="Courier New"/>
                <a:ea typeface="Courier New"/>
                <a:cs typeface="Courier New"/>
                <a:sym typeface="Courier New"/>
              </a:rPr>
              <a:t>CREATE INDEX index_name</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ON	table_name( column...,column)</a:t>
            </a:r>
            <a:endParaRPr sz="1800">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4"/>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Creación de Índices</a:t>
            </a:r>
            <a:endParaRPr/>
          </a:p>
        </p:txBody>
      </p:sp>
      <p:sp>
        <p:nvSpPr>
          <p:cNvPr id="161" name="Google Shape;161;p24"/>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162" name="Google Shape;162;p2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63" name="Google Shape;163;p2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64" name="Google Shape;164;p24"/>
          <p:cNvSpPr txBox="1"/>
          <p:nvPr/>
        </p:nvSpPr>
        <p:spPr>
          <a:xfrm>
            <a:off x="483552" y="1415417"/>
            <a:ext cx="7710805"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para mejorar la velocidad de acceso de 	consulta a la columna REGION_ID de la tabla 	WF_COUNTRIES:</a:t>
            </a:r>
            <a:endParaRPr sz="2800">
              <a:latin typeface="Calibri"/>
              <a:ea typeface="Calibri"/>
              <a:cs typeface="Calibri"/>
              <a:sym typeface="Calibri"/>
            </a:endParaRPr>
          </a:p>
        </p:txBody>
      </p:sp>
      <p:sp>
        <p:nvSpPr>
          <p:cNvPr id="165" name="Google Shape;165;p24"/>
          <p:cNvSpPr txBox="1"/>
          <p:nvPr/>
        </p:nvSpPr>
        <p:spPr>
          <a:xfrm>
            <a:off x="405384" y="2863595"/>
            <a:ext cx="8345805" cy="56578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1666"/>
              </a:lnSpc>
              <a:spcBef>
                <a:spcPts val="0"/>
              </a:spcBef>
              <a:spcAft>
                <a:spcPts val="0"/>
              </a:spcAft>
              <a:buNone/>
            </a:pPr>
            <a:r>
              <a:rPr b="1" lang="en-US" sz="1800">
                <a:solidFill>
                  <a:srgbClr val="4E3629"/>
                </a:solidFill>
                <a:latin typeface="Courier New"/>
                <a:ea typeface="Courier New"/>
                <a:cs typeface="Courier New"/>
                <a:sym typeface="Courier New"/>
              </a:rPr>
              <a:t>CREATE INDEX wf_cont_reg_id_idx</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ON wf_countries(region_id);</a:t>
            </a:r>
            <a:endParaRPr sz="1800">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Cuándo Crear un Índice</a:t>
            </a:r>
            <a:endParaRPr/>
          </a:p>
        </p:txBody>
      </p:sp>
      <p:sp>
        <p:nvSpPr>
          <p:cNvPr id="171" name="Google Shape;171;p25"/>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172" name="Google Shape;172;p2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73" name="Google Shape;173;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74" name="Google Shape;174;p25"/>
          <p:cNvSpPr txBox="1"/>
          <p:nvPr>
            <p:ph idx="1" type="body"/>
          </p:nvPr>
        </p:nvSpPr>
        <p:spPr>
          <a:xfrm>
            <a:off x="483552" y="1393401"/>
            <a:ext cx="8112900" cy="291060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a:t>Se debe crear un índice solo si:</a:t>
            </a:r>
            <a:endParaRPr/>
          </a:p>
          <a:p>
            <a:pPr indent="0" lvl="0" marL="355600" rtl="0" algn="l">
              <a:lnSpc>
                <a:spcPct val="100000"/>
              </a:lnSpc>
              <a:spcBef>
                <a:spcPts val="145"/>
              </a:spcBef>
              <a:spcAft>
                <a:spcPts val="0"/>
              </a:spcAft>
              <a:buNone/>
            </a:pPr>
            <a:r>
              <a:rPr lang="en-US" sz="2400">
                <a:solidFill>
                  <a:srgbClr val="D1350F"/>
                </a:solidFill>
              </a:rPr>
              <a:t>−</a:t>
            </a:r>
            <a:r>
              <a:rPr lang="en-US" sz="2400"/>
              <a:t>La columna contiene una amplia variedad de valores</a:t>
            </a:r>
            <a:endParaRPr sz="2400"/>
          </a:p>
          <a:p>
            <a:pPr indent="0" lvl="0" marL="355600" rtl="0" algn="l">
              <a:lnSpc>
                <a:spcPct val="100000"/>
              </a:lnSpc>
              <a:spcBef>
                <a:spcPts val="110"/>
              </a:spcBef>
              <a:spcAft>
                <a:spcPts val="0"/>
              </a:spcAft>
              <a:buNone/>
            </a:pPr>
            <a:r>
              <a:rPr lang="en-US" sz="2400">
                <a:solidFill>
                  <a:srgbClr val="D1350F"/>
                </a:solidFill>
              </a:rPr>
              <a:t>−</a:t>
            </a:r>
            <a:r>
              <a:rPr lang="en-US" sz="2400"/>
              <a:t>Una columna contiene un gran número de valores nulos</a:t>
            </a:r>
            <a:endParaRPr sz="2400"/>
          </a:p>
          <a:p>
            <a:pPr indent="-175260" lvl="0" marL="530860" marR="304165" rtl="0" algn="l">
              <a:lnSpc>
                <a:spcPct val="107916"/>
              </a:lnSpc>
              <a:spcBef>
                <a:spcPts val="434"/>
              </a:spcBef>
              <a:spcAft>
                <a:spcPts val="0"/>
              </a:spcAft>
              <a:buNone/>
            </a:pPr>
            <a:r>
              <a:rPr lang="en-US" sz="2400">
                <a:solidFill>
                  <a:srgbClr val="D1350F"/>
                </a:solidFill>
              </a:rPr>
              <a:t>−</a:t>
            </a:r>
            <a:r>
              <a:rPr lang="en-US" sz="2400"/>
              <a:t>Una o más columnas se utilizan con frecuencia en conjunto en una cláusula WHERE o una condición de unión</a:t>
            </a:r>
            <a:endParaRPr sz="2400"/>
          </a:p>
          <a:p>
            <a:pPr indent="-175260" lvl="0" marL="530860" marR="5080" rtl="0" algn="l">
              <a:lnSpc>
                <a:spcPct val="107916"/>
              </a:lnSpc>
              <a:spcBef>
                <a:spcPts val="409"/>
              </a:spcBef>
              <a:spcAft>
                <a:spcPts val="1200"/>
              </a:spcAft>
              <a:buNone/>
            </a:pPr>
            <a:r>
              <a:rPr lang="en-US" sz="2400">
                <a:solidFill>
                  <a:srgbClr val="D1350F"/>
                </a:solidFill>
              </a:rPr>
              <a:t>−</a:t>
            </a:r>
            <a:r>
              <a:rPr lang="en-US" sz="2400"/>
              <a:t>La tabla es grande y se espera que la mayoría de las consultas recuperen menos del 2 al 4% de las filas</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6"/>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Cuándo no Crear un Índice</a:t>
            </a:r>
            <a:endParaRPr/>
          </a:p>
        </p:txBody>
      </p:sp>
      <p:sp>
        <p:nvSpPr>
          <p:cNvPr id="180" name="Google Shape;180;p26"/>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181" name="Google Shape;181;p2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2" name="Google Shape;182;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83" name="Google Shape;183;p26"/>
          <p:cNvSpPr txBox="1"/>
          <p:nvPr/>
        </p:nvSpPr>
        <p:spPr>
          <a:xfrm>
            <a:off x="483552" y="1415417"/>
            <a:ext cx="8085455" cy="3344545"/>
          </a:xfrm>
          <a:prstGeom prst="rect">
            <a:avLst/>
          </a:prstGeom>
          <a:noFill/>
          <a:ln>
            <a:noFill/>
          </a:ln>
        </p:spPr>
        <p:txBody>
          <a:bodyPr anchorCtr="0" anchor="t" bIns="0" lIns="0" spcFirstLastPara="1" rIns="0" wrap="square" tIns="59675">
            <a:spAutoFit/>
          </a:bodyPr>
          <a:lstStyle/>
          <a:p>
            <a:pPr indent="-177800" lvl="0" marL="182880" marR="108013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Cuando decida si desea crear un índice, más no 	siempre es mejor</a:t>
            </a:r>
            <a:endParaRPr sz="2800">
              <a:latin typeface="Calibri"/>
              <a:ea typeface="Calibri"/>
              <a:cs typeface="Calibri"/>
              <a:sym typeface="Calibri"/>
            </a:endParaRPr>
          </a:p>
          <a:p>
            <a:pPr indent="-177800" lvl="0" marL="182880" marR="5080" rtl="0" algn="just">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Cada operación DML (INSERT, UPDATE, DELETE) que se 	realiza en una tabla con índices implica la actualización 	de los índices</a:t>
            </a:r>
            <a:endParaRPr sz="2800">
              <a:latin typeface="Calibri"/>
              <a:ea typeface="Calibri"/>
              <a:cs typeface="Calibri"/>
              <a:sym typeface="Calibri"/>
            </a:endParaRPr>
          </a:p>
          <a:p>
            <a:pPr indent="-177800" lvl="0" marL="182880" marR="431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Cuanto mayor sea el número de índices asociados a 	una tabla, mayor será el esfuerzo para actualizar todos 	los índices después de la operación DML</a:t>
            </a:r>
            <a:endParaRPr sz="28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7"/>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Cuándo no Crear un Índice</a:t>
            </a:r>
            <a:endParaRPr/>
          </a:p>
        </p:txBody>
      </p:sp>
      <p:sp>
        <p:nvSpPr>
          <p:cNvPr id="189" name="Google Shape;189;p27"/>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190" name="Google Shape;190;p2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91" name="Google Shape;191;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92" name="Google Shape;192;p27"/>
          <p:cNvSpPr txBox="1"/>
          <p:nvPr/>
        </p:nvSpPr>
        <p:spPr>
          <a:xfrm>
            <a:off x="483552" y="1393401"/>
            <a:ext cx="8007350" cy="336550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lo general, no merece la pena crear un índice si:</a:t>
            </a:r>
            <a:endParaRPr sz="2800">
              <a:latin typeface="Calibri"/>
              <a:ea typeface="Calibri"/>
              <a:cs typeface="Calibri"/>
              <a:sym typeface="Calibri"/>
            </a:endParaRPr>
          </a:p>
          <a:p>
            <a:pPr indent="0" lvl="0" marL="35560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 tabla es pequeña</a:t>
            </a:r>
            <a:endParaRPr sz="2400">
              <a:latin typeface="Calibri"/>
              <a:ea typeface="Calibri"/>
              <a:cs typeface="Calibri"/>
              <a:sym typeface="Calibri"/>
            </a:endParaRPr>
          </a:p>
          <a:p>
            <a:pPr indent="-175260" lvl="0" marL="530860" marR="635000"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No se suelen utilizar las columnas como condición en la consulta</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 espera que la mayoría de las consultas recuperen más del 2 al 4% en la tabla</a:t>
            </a:r>
            <a:endParaRPr sz="2400">
              <a:latin typeface="Calibri"/>
              <a:ea typeface="Calibri"/>
              <a:cs typeface="Calibri"/>
              <a:sym typeface="Calibri"/>
            </a:endParaRPr>
          </a:p>
          <a:p>
            <a:pPr indent="0" lvl="0" marL="355600" rtl="0" algn="l">
              <a:lnSpc>
                <a:spcPct val="100000"/>
              </a:lnSpc>
              <a:spcBef>
                <a:spcPts val="8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 tabla se actualiza con frecuencia</a:t>
            </a:r>
            <a:endParaRPr sz="2400">
              <a:latin typeface="Calibri"/>
              <a:ea typeface="Calibri"/>
              <a:cs typeface="Calibri"/>
              <a:sym typeface="Calibri"/>
            </a:endParaRPr>
          </a:p>
          <a:p>
            <a:pPr indent="-175260" lvl="0" marL="530860" marR="156845"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 hace referencia a las columnas indexadas como parte de una expresión</a:t>
            </a:r>
            <a:endParaRPr sz="24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8"/>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Índices Compuestos</a:t>
            </a:r>
            <a:endParaRPr/>
          </a:p>
        </p:txBody>
      </p:sp>
      <p:sp>
        <p:nvSpPr>
          <p:cNvPr id="198" name="Google Shape;198;p28"/>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199" name="Google Shape;199;p2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00" name="Google Shape;200;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1" name="Google Shape;201;p28"/>
          <p:cNvSpPr txBox="1"/>
          <p:nvPr/>
        </p:nvSpPr>
        <p:spPr>
          <a:xfrm>
            <a:off x="483552" y="1415417"/>
            <a:ext cx="8147050" cy="406082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índice compuesto (también denominado índice 	"concatenado") es un índice creado en varias columnas 	de una tabla</a:t>
            </a:r>
            <a:endParaRPr sz="2800">
              <a:latin typeface="Calibri"/>
              <a:ea typeface="Calibri"/>
              <a:cs typeface="Calibri"/>
              <a:sym typeface="Calibri"/>
            </a:endParaRPr>
          </a:p>
          <a:p>
            <a:pPr indent="-177800" lvl="0" marL="182880" marR="332740" rtl="0" algn="l">
              <a:lnSpc>
                <a:spcPct val="108214"/>
              </a:lnSpc>
              <a:spcBef>
                <a:spcPts val="5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columnas del índice compuesto pueden aparecer 	en cualquier orden y no es necesario que sean 	adyacentes en la tabla</a:t>
            </a:r>
            <a:endParaRPr sz="2800">
              <a:latin typeface="Calibri"/>
              <a:ea typeface="Calibri"/>
              <a:cs typeface="Calibri"/>
              <a:sym typeface="Calibri"/>
            </a:endParaRPr>
          </a:p>
          <a:p>
            <a:pPr indent="-177800" lvl="0" marL="182880" marR="245110" rtl="0" algn="l">
              <a:lnSpc>
                <a:spcPct val="108214"/>
              </a:lnSpc>
              <a:spcBef>
                <a:spcPts val="5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índices compuestos pueden acelerar la 	recuperación de datos para las sentencias SELECT en 	las que la cláusula WHERE hace referencia a todas o a 	la parte inicial de las columnas del índice compuesto</a:t>
            </a:r>
            <a:endParaRPr sz="2800">
              <a:latin typeface="Calibri"/>
              <a:ea typeface="Calibri"/>
              <a:cs typeface="Calibri"/>
              <a:sym typeface="Calibri"/>
            </a:endParaRPr>
          </a:p>
        </p:txBody>
      </p:sp>
      <p:sp>
        <p:nvSpPr>
          <p:cNvPr id="202" name="Google Shape;202;p28"/>
          <p:cNvSpPr txBox="1"/>
          <p:nvPr/>
        </p:nvSpPr>
        <p:spPr>
          <a:xfrm>
            <a:off x="405384" y="5503164"/>
            <a:ext cx="8345805" cy="56388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1388"/>
              </a:lnSpc>
              <a:spcBef>
                <a:spcPts val="0"/>
              </a:spcBef>
              <a:spcAft>
                <a:spcPts val="0"/>
              </a:spcAft>
              <a:buNone/>
            </a:pPr>
            <a:r>
              <a:rPr b="1" lang="en-US" sz="1800">
                <a:solidFill>
                  <a:srgbClr val="4E3629"/>
                </a:solidFill>
                <a:latin typeface="Courier New"/>
                <a:ea typeface="Courier New"/>
                <a:cs typeface="Courier New"/>
                <a:sym typeface="Courier New"/>
              </a:rPr>
              <a:t>CREATE INDEX emps_name_idx</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ON employees(first_name, last_name);</a:t>
            </a:r>
            <a:endParaRPr sz="1800">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9"/>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Índices Compuestos</a:t>
            </a:r>
            <a:endParaRPr/>
          </a:p>
        </p:txBody>
      </p:sp>
      <p:sp>
        <p:nvSpPr>
          <p:cNvPr id="208" name="Google Shape;208;p29"/>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209" name="Google Shape;209;p2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10" name="Google Shape;210;p2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11" name="Google Shape;211;p29"/>
          <p:cNvSpPr txBox="1"/>
          <p:nvPr/>
        </p:nvSpPr>
        <p:spPr>
          <a:xfrm>
            <a:off x="483552" y="1415417"/>
            <a:ext cx="8102600" cy="2960370"/>
          </a:xfrm>
          <a:prstGeom prst="rect">
            <a:avLst/>
          </a:prstGeom>
          <a:noFill/>
          <a:ln>
            <a:noFill/>
          </a:ln>
        </p:spPr>
        <p:txBody>
          <a:bodyPr anchorCtr="0" anchor="t" bIns="0" lIns="0" spcFirstLastPara="1" rIns="0" wrap="square" tIns="59675">
            <a:spAutoFit/>
          </a:bodyPr>
          <a:lstStyle/>
          <a:p>
            <a:pPr indent="-177800" lvl="0" marL="182880" marR="159639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valores nulos no se incluyen en el índice 	compuesto</a:t>
            </a:r>
            <a:endParaRPr sz="2800">
              <a:latin typeface="Calibri"/>
              <a:ea typeface="Calibri"/>
              <a:cs typeface="Calibri"/>
              <a:sym typeface="Calibri"/>
            </a:endParaRPr>
          </a:p>
          <a:p>
            <a:pPr indent="-177800" lvl="0" marL="182880" marR="49530" rtl="0" algn="just">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optimizar las uniones, puede crear un índice en la 	columna FOREIGN KEY, que acelera la búsqueda de las 	filas coincidentes en la columna PRIMARY KEY</a:t>
            </a:r>
            <a:endParaRPr sz="2800">
              <a:latin typeface="Calibri"/>
              <a:ea typeface="Calibri"/>
              <a:cs typeface="Calibri"/>
              <a:sym typeface="Calibri"/>
            </a:endParaRPr>
          </a:p>
          <a:p>
            <a:pPr indent="-177800" lvl="0" marL="182880" marR="5080" rtl="0" algn="just">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optimizador no utiliza un índice si la cláusula WHERE 	contiene la expresión IS NULL</a:t>
            </a:r>
            <a:endParaRPr sz="28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0"/>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Confirmación de Índices</a:t>
            </a:r>
            <a:endParaRPr/>
          </a:p>
        </p:txBody>
      </p:sp>
      <p:sp>
        <p:nvSpPr>
          <p:cNvPr id="217" name="Google Shape;217;p30"/>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218" name="Google Shape;218;p3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19" name="Google Shape;219;p3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0" name="Google Shape;220;p30"/>
          <p:cNvSpPr txBox="1"/>
          <p:nvPr/>
        </p:nvSpPr>
        <p:spPr>
          <a:xfrm>
            <a:off x="483552" y="1415417"/>
            <a:ext cx="8099425" cy="4112895"/>
          </a:xfrm>
          <a:prstGeom prst="rect">
            <a:avLst/>
          </a:prstGeom>
          <a:noFill/>
          <a:ln>
            <a:noFill/>
          </a:ln>
        </p:spPr>
        <p:txBody>
          <a:bodyPr anchorCtr="0" anchor="t" bIns="0" lIns="0" spcFirstLastPara="1" rIns="0" wrap="square" tIns="59675">
            <a:spAutoFit/>
          </a:bodyPr>
          <a:lstStyle/>
          <a:p>
            <a:pPr indent="-177800" lvl="0" marL="182880" marR="67691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Confirme la existencia de los índices de la vista del 	diccionario de datos USER_INDEXES</a:t>
            </a:r>
            <a:endParaRPr sz="2800">
              <a:latin typeface="Calibri"/>
              <a:ea typeface="Calibri"/>
              <a:cs typeface="Calibri"/>
              <a:sym typeface="Calibri"/>
            </a:endParaRPr>
          </a:p>
          <a:p>
            <a:pPr indent="-177800" lvl="0" marL="182880" marR="1397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También puede comprobar las columnas implicadas en 	un índice mediante la consulta de la vista 	USER_IND_COLUMNS</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consulta que se muestran en la siguiente diapositiva 	es una unión entre la tabla USER_INDEXES (nombres 	de los índices y su unicidad) y la tabla 	USER_IND_COLUMNS (nombres de los índices, 	nombres de tabla y nombres de columna)</a:t>
            </a:r>
            <a:endParaRPr sz="280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1"/>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Confirmación de Índices</a:t>
            </a:r>
            <a:endParaRPr/>
          </a:p>
        </p:txBody>
      </p:sp>
      <p:sp>
        <p:nvSpPr>
          <p:cNvPr id="226" name="Google Shape;226;p31"/>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227" name="Google Shape;227;p3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28" name="Google Shape;228;p3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229" name="Google Shape;229;p31"/>
          <p:cNvGraphicFramePr/>
          <p:nvPr/>
        </p:nvGraphicFramePr>
        <p:xfrm>
          <a:off x="398462" y="3360926"/>
          <a:ext cx="3000000" cy="3000000"/>
        </p:xfrm>
        <a:graphic>
          <a:graphicData uri="http://schemas.openxmlformats.org/drawingml/2006/table">
            <a:tbl>
              <a:tblPr bandRow="1" firstRow="1">
                <a:noFill/>
                <a:tableStyleId>{F80F5F9F-884D-4591-B9C8-8E1AC946C623}</a:tableStyleId>
              </a:tblPr>
              <a:tblGrid>
                <a:gridCol w="2861300"/>
                <a:gridCol w="2430150"/>
                <a:gridCol w="1227450"/>
                <a:gridCol w="1828800"/>
              </a:tblGrid>
              <a:tr h="268600">
                <a:tc>
                  <a:txBody>
                    <a:bodyPr/>
                    <a:lstStyle/>
                    <a:p>
                      <a:pPr indent="0" lvl="0" marL="1397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INDEX NAME</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397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COLUMN NAME</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397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COL POS</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UNIQUENESS</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68600">
                <a:tc>
                  <a:txBody>
                    <a:bodyPr/>
                    <a:lstStyle/>
                    <a:p>
                      <a:pPr indent="0" lvl="0" marL="1333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EMP_EMAIL_UK</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EMAIL</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UNIQUE</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1333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EMP_EMP_ID_PK</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UNIQUE</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333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EMP_DEPARTMENT_IX</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333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NONUNIQUE</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EMP_JOB_IX</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JOB_ID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NONUNIQUE</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EMP_MANAGER_IX</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MANAGER_ID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NONUNIQUE</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EMP_NAME_IX</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NONUNIQUE</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EMP_NAME_IX</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NONUNIQUE</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230" name="Google Shape;230;p31"/>
          <p:cNvSpPr txBox="1"/>
          <p:nvPr/>
        </p:nvSpPr>
        <p:spPr>
          <a:xfrm>
            <a:off x="405384" y="1336547"/>
            <a:ext cx="8347075" cy="1466215"/>
          </a:xfrm>
          <a:prstGeom prst="rect">
            <a:avLst/>
          </a:prstGeom>
          <a:solidFill>
            <a:srgbClr val="9DBDC4">
              <a:alpha val="49804"/>
            </a:srgbClr>
          </a:solidFill>
          <a:ln>
            <a:noFill/>
          </a:ln>
        </p:spPr>
        <p:txBody>
          <a:bodyPr anchorCtr="0" anchor="t" bIns="0" lIns="0" spcFirstLastPara="1" rIns="0" wrap="square" tIns="19675">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DISTINCT ic.index_name, ic.column_name,</a:t>
            </a:r>
            <a:endParaRPr sz="1800">
              <a:latin typeface="Courier New"/>
              <a:ea typeface="Courier New"/>
              <a:cs typeface="Courier New"/>
              <a:sym typeface="Courier New"/>
            </a:endParaRPr>
          </a:p>
          <a:p>
            <a:pPr indent="2183765" lvl="0" marL="0" marR="164973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ic.column_position, id.uniqueness FROM user_indexes id, user_ind_columns ic</a:t>
            </a:r>
            <a:endParaRPr sz="1800">
              <a:latin typeface="Courier New"/>
              <a:ea typeface="Courier New"/>
              <a:cs typeface="Courier New"/>
              <a:sym typeface="Courier New"/>
            </a:endParaRPr>
          </a:p>
          <a:p>
            <a:pPr indent="0" lvl="0" marL="0" marR="3561079"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id.table_name = ic.table_name AND ic.table_name = 'EMPLOYEES';</a:t>
            </a:r>
            <a:endParaRPr sz="1800">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2"/>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Índices Basados en Funciones</a:t>
            </a:r>
            <a:endParaRPr/>
          </a:p>
        </p:txBody>
      </p:sp>
      <p:sp>
        <p:nvSpPr>
          <p:cNvPr id="236" name="Google Shape;236;p32"/>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237" name="Google Shape;237;p3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8" name="Google Shape;238;p3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9" name="Google Shape;239;p32"/>
          <p:cNvSpPr txBox="1"/>
          <p:nvPr/>
        </p:nvSpPr>
        <p:spPr>
          <a:xfrm>
            <a:off x="483552" y="1415417"/>
            <a:ext cx="7974965" cy="3344545"/>
          </a:xfrm>
          <a:prstGeom prst="rect">
            <a:avLst/>
          </a:prstGeom>
          <a:noFill/>
          <a:ln>
            <a:noFill/>
          </a:ln>
        </p:spPr>
        <p:txBody>
          <a:bodyPr anchorCtr="0" anchor="t" bIns="0" lIns="0" spcFirstLastPara="1" rIns="0" wrap="square" tIns="59675">
            <a:spAutoFit/>
          </a:bodyPr>
          <a:lstStyle/>
          <a:p>
            <a:pPr indent="-177800" lvl="0" marL="182880" marR="215265"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índice basado en funciones almacena los valores 	indexados y utiliza el índice basado en una sentencia 	SELECT para recuperar los datos</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índice basado en funciones es un índice basado en 	expresiones</a:t>
            </a:r>
            <a:endParaRPr sz="2800">
              <a:latin typeface="Calibri"/>
              <a:ea typeface="Calibri"/>
              <a:cs typeface="Calibri"/>
              <a:sym typeface="Calibri"/>
            </a:endParaRPr>
          </a:p>
          <a:p>
            <a:pPr indent="-177800" lvl="0" marL="182880" marR="8953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expresión de índice se genera a partir de las 	columnas de las tablas, restricciones, funciones SQL y 	funciones definidas por el usuario</a:t>
            </a:r>
            <a:endParaRPr sz="280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3"/>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Índices Basados en Funciones</a:t>
            </a:r>
            <a:endParaRPr/>
          </a:p>
        </p:txBody>
      </p:sp>
      <p:sp>
        <p:nvSpPr>
          <p:cNvPr id="245" name="Google Shape;245;p33"/>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246" name="Google Shape;246;p3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7" name="Google Shape;247;p3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8" name="Google Shape;248;p33"/>
          <p:cNvSpPr txBox="1"/>
          <p:nvPr/>
        </p:nvSpPr>
        <p:spPr>
          <a:xfrm>
            <a:off x="477206" y="1491489"/>
            <a:ext cx="8291830" cy="2908300"/>
          </a:xfrm>
          <a:prstGeom prst="rect">
            <a:avLst/>
          </a:prstGeom>
          <a:noFill/>
          <a:ln>
            <a:noFill/>
          </a:ln>
        </p:spPr>
        <p:txBody>
          <a:bodyPr anchorCtr="0" anchor="t" bIns="0" lIns="0" spcFirstLastPara="1" rIns="0" wrap="square" tIns="59675">
            <a:spAutoFit/>
          </a:bodyPr>
          <a:lstStyle/>
          <a:p>
            <a:pPr indent="-177800" lvl="0" marL="182880" marR="28067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índices basados en funciones son útiles cuando no 	sabe en qué caso los datos se han almacenado en la 	base de datos</a:t>
            </a:r>
            <a:endParaRPr sz="2800">
              <a:latin typeface="Calibri"/>
              <a:ea typeface="Calibri"/>
              <a:cs typeface="Calibri"/>
              <a:sym typeface="Calibri"/>
            </a:endParaRPr>
          </a:p>
          <a:p>
            <a:pPr indent="-177800" lvl="0" marL="182880" marR="5080" rtl="0" algn="l">
              <a:lnSpc>
                <a:spcPct val="108214"/>
              </a:lnSpc>
              <a:spcBef>
                <a:spcPts val="5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puede crear un índice basado en funciones 	que se pueda utilizar con una sentencia SELECT 	utilizando UPPER en la cláusula WHERE</a:t>
            </a:r>
            <a:endParaRPr sz="2800">
              <a:latin typeface="Calibri"/>
              <a:ea typeface="Calibri"/>
              <a:cs typeface="Calibri"/>
              <a:sym typeface="Calibri"/>
            </a:endParaRPr>
          </a:p>
          <a:p>
            <a:pPr indent="-177800" lvl="0" marL="183515" rtl="0" algn="l">
              <a:lnSpc>
                <a:spcPct val="100000"/>
              </a:lnSpc>
              <a:spcBef>
                <a:spcPts val="20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índice se utilizará en esta búsqueda</a:t>
            </a:r>
            <a:endParaRPr sz="2800">
              <a:latin typeface="Calibri"/>
              <a:ea typeface="Calibri"/>
              <a:cs typeface="Calibri"/>
              <a:sym typeface="Calibri"/>
            </a:endParaRPr>
          </a:p>
        </p:txBody>
      </p:sp>
      <p:sp>
        <p:nvSpPr>
          <p:cNvPr id="249" name="Google Shape;249;p33"/>
          <p:cNvSpPr txBox="1"/>
          <p:nvPr/>
        </p:nvSpPr>
        <p:spPr>
          <a:xfrm>
            <a:off x="397763" y="4354067"/>
            <a:ext cx="8347075" cy="577850"/>
          </a:xfrm>
          <a:prstGeom prst="rect">
            <a:avLst/>
          </a:prstGeom>
          <a:solidFill>
            <a:srgbClr val="9DBDC4">
              <a:alpha val="49804"/>
            </a:srgbClr>
          </a:solidFill>
          <a:ln>
            <a:noFill/>
          </a:ln>
        </p:spPr>
        <p:txBody>
          <a:bodyPr anchorCtr="0" anchor="t" bIns="0" lIns="0" spcFirstLastPara="1" rIns="0" wrap="square" tIns="0">
            <a:spAutoFit/>
          </a:bodyPr>
          <a:lstStyle/>
          <a:p>
            <a:pPr indent="0" lvl="0" marL="635" rtl="0" algn="l">
              <a:lnSpc>
                <a:spcPct val="114444"/>
              </a:lnSpc>
              <a:spcBef>
                <a:spcPts val="0"/>
              </a:spcBef>
              <a:spcAft>
                <a:spcPts val="0"/>
              </a:spcAft>
              <a:buNone/>
            </a:pPr>
            <a:r>
              <a:rPr b="1" lang="en-US" sz="1800">
                <a:solidFill>
                  <a:srgbClr val="4E3629"/>
                </a:solidFill>
                <a:latin typeface="Courier New"/>
                <a:ea typeface="Courier New"/>
                <a:cs typeface="Courier New"/>
                <a:sym typeface="Courier New"/>
              </a:rPr>
              <a:t>CREATE INDEX upper_last_name_idx</a:t>
            </a:r>
            <a:endParaRPr sz="1800">
              <a:latin typeface="Courier New"/>
              <a:ea typeface="Courier New"/>
              <a:cs typeface="Courier New"/>
              <a:sym typeface="Courier New"/>
            </a:endParaRPr>
          </a:p>
          <a:p>
            <a:pPr indent="0" lvl="0" marL="63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ON employees (UPPER(last_name));</a:t>
            </a:r>
            <a:endParaRPr sz="1800">
              <a:latin typeface="Courier New"/>
              <a:ea typeface="Courier New"/>
              <a:cs typeface="Courier New"/>
              <a:sym typeface="Courier New"/>
            </a:endParaRPr>
          </a:p>
        </p:txBody>
      </p:sp>
      <p:sp>
        <p:nvSpPr>
          <p:cNvPr id="250" name="Google Shape;250;p33"/>
          <p:cNvSpPr txBox="1"/>
          <p:nvPr/>
        </p:nvSpPr>
        <p:spPr>
          <a:xfrm>
            <a:off x="405384" y="5024628"/>
            <a:ext cx="8345805" cy="1016635"/>
          </a:xfrm>
          <a:prstGeom prst="rect">
            <a:avLst/>
          </a:prstGeom>
          <a:solidFill>
            <a:srgbClr val="9DBDC4">
              <a:alpha val="49804"/>
            </a:srgbClr>
          </a:solidFill>
          <a:ln>
            <a:noFill/>
          </a:ln>
        </p:spPr>
        <p:txBody>
          <a:bodyPr anchorCtr="0" anchor="t" bIns="0" lIns="0" spcFirstLastPara="1" rIns="0" wrap="square" tIns="6920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UPPER(last_name) = 'KING';</a:t>
            </a:r>
            <a:endParaRPr sz="1800">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4"/>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Índices Basados en Funciones</a:t>
            </a:r>
            <a:endParaRPr/>
          </a:p>
        </p:txBody>
      </p:sp>
      <p:sp>
        <p:nvSpPr>
          <p:cNvPr id="256" name="Google Shape;256;p34"/>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257" name="Google Shape;257;p3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58" name="Google Shape;258;p3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9" name="Google Shape;259;p34"/>
          <p:cNvSpPr txBox="1"/>
          <p:nvPr/>
        </p:nvSpPr>
        <p:spPr>
          <a:xfrm>
            <a:off x="419150" y="1370877"/>
            <a:ext cx="8477250" cy="4359275"/>
          </a:xfrm>
          <a:prstGeom prst="rect">
            <a:avLst/>
          </a:prstGeom>
          <a:noFill/>
          <a:ln>
            <a:noFill/>
          </a:ln>
        </p:spPr>
        <p:txBody>
          <a:bodyPr anchorCtr="0" anchor="t" bIns="0" lIns="0" spcFirstLastPara="1" rIns="0" wrap="square" tIns="97150">
            <a:spAutoFit/>
          </a:bodyPr>
          <a:lstStyle/>
          <a:p>
            <a:pPr indent="-177800" lvl="0" marL="182880" marR="297815"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índices basados en funciones definidos con las 	palabras clave UPPER(column_name) o 	LOWER(column_name) permiten realizar búsquedas no 	sensibles a mayúsculas y minúsculas</a:t>
            </a:r>
            <a:endParaRPr sz="2800">
              <a:latin typeface="Calibri"/>
              <a:ea typeface="Calibri"/>
              <a:cs typeface="Calibri"/>
              <a:sym typeface="Calibri"/>
            </a:endParaRPr>
          </a:p>
          <a:p>
            <a:pPr indent="-177800" lvl="0" marL="182880" marR="163195" rtl="0" algn="l">
              <a:lnSpc>
                <a:spcPct val="80000"/>
              </a:lnSpc>
              <a:spcBef>
                <a:spcPts val="6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no sabe la forma en que los apellidos del empleado se 	han introducido en la base de datos, puede seguir 	utilizando el índice introduciendo las mayúsculas en la 	sentencia SELECT</a:t>
            </a:r>
            <a:endParaRPr sz="2800">
              <a:latin typeface="Calibri"/>
              <a:ea typeface="Calibri"/>
              <a:cs typeface="Calibri"/>
              <a:sym typeface="Calibri"/>
            </a:endParaRPr>
          </a:p>
          <a:p>
            <a:pPr indent="-177800" lvl="0" marL="182880" marR="5080" rtl="0" algn="l">
              <a:lnSpc>
                <a:spcPct val="80000"/>
              </a:lnSpc>
              <a:spcBef>
                <a:spcPts val="6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Cuando se modifica una consulta mediante una 	expresión en la cláusula WHERE, el índice no se utilizará a 	menos que cree un índice basado en funciones para que 	coincida con la expresión</a:t>
            </a:r>
            <a:endParaRPr sz="280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5"/>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Índices Basados en Funciones</a:t>
            </a:r>
            <a:endParaRPr/>
          </a:p>
        </p:txBody>
      </p:sp>
      <p:sp>
        <p:nvSpPr>
          <p:cNvPr id="265" name="Google Shape;265;p35"/>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266" name="Google Shape;266;p3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67" name="Google Shape;267;p3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68" name="Google Shape;268;p35"/>
          <p:cNvSpPr txBox="1"/>
          <p:nvPr/>
        </p:nvSpPr>
        <p:spPr>
          <a:xfrm>
            <a:off x="483552" y="1415417"/>
            <a:ext cx="7571740" cy="1220470"/>
          </a:xfrm>
          <a:prstGeom prst="rect">
            <a:avLst/>
          </a:prstGeom>
          <a:noFill/>
          <a:ln>
            <a:noFill/>
          </a:ln>
        </p:spPr>
        <p:txBody>
          <a:bodyPr anchorCtr="0" anchor="t" bIns="0" lIns="0" spcFirstLastPara="1" rIns="0" wrap="square" tIns="59675">
            <a:spAutoFit/>
          </a:bodyPr>
          <a:lstStyle/>
          <a:p>
            <a:pPr indent="-177800" lvl="0" marL="182880"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la siguiente sentencia permite realizar 	búsquedas no sensibles a mayúsculas y minúsculas 	mediante el índice:</a:t>
            </a:r>
            <a:endParaRPr sz="2800">
              <a:latin typeface="Calibri"/>
              <a:ea typeface="Calibri"/>
              <a:cs typeface="Calibri"/>
              <a:sym typeface="Calibri"/>
            </a:endParaRPr>
          </a:p>
        </p:txBody>
      </p:sp>
      <p:sp>
        <p:nvSpPr>
          <p:cNvPr id="269" name="Google Shape;269;p35"/>
          <p:cNvSpPr txBox="1"/>
          <p:nvPr/>
        </p:nvSpPr>
        <p:spPr>
          <a:xfrm>
            <a:off x="393191" y="2851404"/>
            <a:ext cx="8345805" cy="57785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4444"/>
              </a:lnSpc>
              <a:spcBef>
                <a:spcPts val="0"/>
              </a:spcBef>
              <a:spcAft>
                <a:spcPts val="0"/>
              </a:spcAft>
              <a:buNone/>
            </a:pPr>
            <a:r>
              <a:rPr b="1" lang="en-US" sz="1800">
                <a:solidFill>
                  <a:srgbClr val="4E3629"/>
                </a:solidFill>
                <a:latin typeface="Courier New"/>
                <a:ea typeface="Courier New"/>
                <a:cs typeface="Courier New"/>
                <a:sym typeface="Courier New"/>
              </a:rPr>
              <a:t>CREATE INDEX upper_last_name_idx</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ON employees (UPPER(last_name));</a:t>
            </a:r>
            <a:endParaRPr sz="1800">
              <a:latin typeface="Courier New"/>
              <a:ea typeface="Courier New"/>
              <a:cs typeface="Courier New"/>
              <a:sym typeface="Courier New"/>
            </a:endParaRPr>
          </a:p>
        </p:txBody>
      </p:sp>
      <p:sp>
        <p:nvSpPr>
          <p:cNvPr id="270" name="Google Shape;270;p35"/>
          <p:cNvSpPr txBox="1"/>
          <p:nvPr/>
        </p:nvSpPr>
        <p:spPr>
          <a:xfrm>
            <a:off x="393191" y="3782567"/>
            <a:ext cx="8345805" cy="970915"/>
          </a:xfrm>
          <a:prstGeom prst="rect">
            <a:avLst/>
          </a:prstGeom>
          <a:solidFill>
            <a:srgbClr val="9DBDC4">
              <a:alpha val="49804"/>
            </a:srgbClr>
          </a:solidFill>
          <a:ln>
            <a:noFill/>
          </a:ln>
        </p:spPr>
        <p:txBody>
          <a:bodyPr anchorCtr="0" anchor="t" bIns="0" lIns="0" spcFirstLastPara="1" rIns="0" wrap="square" tIns="4635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UPPER(last_name) LIKE 'KIN%';</a:t>
            </a:r>
            <a:endParaRPr sz="1800">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6"/>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Índices Basados en Funciones</a:t>
            </a:r>
            <a:endParaRPr/>
          </a:p>
        </p:txBody>
      </p:sp>
      <p:sp>
        <p:nvSpPr>
          <p:cNvPr id="276" name="Google Shape;276;p36"/>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277" name="Google Shape;277;p3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78" name="Google Shape;278;p3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79" name="Google Shape;279;p36"/>
          <p:cNvSpPr txBox="1"/>
          <p:nvPr/>
        </p:nvSpPr>
        <p:spPr>
          <a:xfrm>
            <a:off x="483552" y="1419989"/>
            <a:ext cx="7985125" cy="2638425"/>
          </a:xfrm>
          <a:prstGeom prst="rect">
            <a:avLst/>
          </a:prstGeom>
          <a:noFill/>
          <a:ln>
            <a:noFill/>
          </a:ln>
        </p:spPr>
        <p:txBody>
          <a:bodyPr anchorCtr="0" anchor="t" bIns="0" lIns="0" spcFirstLastPara="1" rIns="0" wrap="square" tIns="57775">
            <a:spAutoFit/>
          </a:bodyPr>
          <a:lstStyle/>
          <a:p>
            <a:pPr indent="-172720" lvl="0" marL="184785" marR="114300" rtl="0" algn="l">
              <a:lnSpc>
                <a:spcPct val="108076"/>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Para garantizar que Oracle Server utiliza el índice en lugar de realizar una exploración de tabla completa, asegúrese de que el valor de la función no sea nulo en consultas posteriores</a:t>
            </a:r>
            <a:endParaRPr sz="2600">
              <a:latin typeface="Calibri"/>
              <a:ea typeface="Calibri"/>
              <a:cs typeface="Calibri"/>
              <a:sym typeface="Calibri"/>
            </a:endParaRPr>
          </a:p>
          <a:p>
            <a:pPr indent="-172720" lvl="0" marL="184785" marR="5080" rtl="0" algn="just">
              <a:lnSpc>
                <a:spcPct val="108076"/>
              </a:lnSpc>
              <a:spcBef>
                <a:spcPts val="59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Por ejemplo, se garantiza que la siguiente sentencia utilice el índice, pero sin la cláusula WHERE, Oracle Server puede realizar una exploración de tabla completa:</a:t>
            </a:r>
            <a:endParaRPr sz="2600">
              <a:latin typeface="Calibri"/>
              <a:ea typeface="Calibri"/>
              <a:cs typeface="Calibri"/>
              <a:sym typeface="Calibri"/>
            </a:endParaRPr>
          </a:p>
        </p:txBody>
      </p:sp>
      <p:sp>
        <p:nvSpPr>
          <p:cNvPr id="280" name="Google Shape;280;p36"/>
          <p:cNvSpPr txBox="1"/>
          <p:nvPr/>
        </p:nvSpPr>
        <p:spPr>
          <a:xfrm>
            <a:off x="483552" y="5086733"/>
            <a:ext cx="7866380" cy="779145"/>
          </a:xfrm>
          <a:prstGeom prst="rect">
            <a:avLst/>
          </a:prstGeom>
          <a:noFill/>
          <a:ln>
            <a:noFill/>
          </a:ln>
        </p:spPr>
        <p:txBody>
          <a:bodyPr anchorCtr="0" anchor="t" bIns="0" lIns="0" spcFirstLastPara="1" rIns="0" wrap="square" tIns="57775">
            <a:spAutoFit/>
          </a:bodyPr>
          <a:lstStyle/>
          <a:p>
            <a:pPr indent="-172720" lvl="0" marL="184785" marR="5080" rtl="0" algn="l">
              <a:lnSpc>
                <a:spcPct val="108076"/>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El servidor de Oracle trata los índices con columnas marcadas como DESC como índices basados en funciones</a:t>
            </a:r>
            <a:endParaRPr sz="2600">
              <a:latin typeface="Calibri"/>
              <a:ea typeface="Calibri"/>
              <a:cs typeface="Calibri"/>
              <a:sym typeface="Calibri"/>
            </a:endParaRPr>
          </a:p>
        </p:txBody>
      </p:sp>
      <p:sp>
        <p:nvSpPr>
          <p:cNvPr id="281" name="Google Shape;281;p36"/>
          <p:cNvSpPr txBox="1"/>
          <p:nvPr/>
        </p:nvSpPr>
        <p:spPr>
          <a:xfrm>
            <a:off x="405384" y="4087367"/>
            <a:ext cx="8345805" cy="972819"/>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7812"/>
              </a:lnSpc>
              <a:spcBef>
                <a:spcPts val="0"/>
              </a:spcBef>
              <a:spcAft>
                <a:spcPts val="0"/>
              </a:spcAft>
              <a:buNone/>
            </a:pPr>
            <a:r>
              <a:rPr b="1" lang="en-US" sz="1600">
                <a:solidFill>
                  <a:srgbClr val="4E3629"/>
                </a:solidFill>
                <a:latin typeface="Courier New"/>
                <a:ea typeface="Courier New"/>
                <a:cs typeface="Courier New"/>
                <a:sym typeface="Courier New"/>
              </a:rPr>
              <a:t>SELECT *</a:t>
            </a:r>
            <a:endParaRPr sz="16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FROM employees</a:t>
            </a:r>
            <a:endParaRPr sz="1600">
              <a:latin typeface="Courier New"/>
              <a:ea typeface="Courier New"/>
              <a:cs typeface="Courier New"/>
              <a:sym typeface="Courier New"/>
            </a:endParaRPr>
          </a:p>
          <a:p>
            <a:pPr indent="0" lvl="0" marL="0" marR="406654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WHERE UPPER (last_name) IS NOT NULL ORDER BY UPPER (last_name);</a:t>
            </a:r>
            <a:endParaRPr sz="1600">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7"/>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Índices Basados en Funciones</a:t>
            </a:r>
            <a:endParaRPr/>
          </a:p>
        </p:txBody>
      </p:sp>
      <p:sp>
        <p:nvSpPr>
          <p:cNvPr id="287" name="Google Shape;287;p37"/>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288" name="Google Shape;288;p3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89" name="Google Shape;289;p3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90" name="Google Shape;290;p37"/>
          <p:cNvSpPr txBox="1"/>
          <p:nvPr/>
        </p:nvSpPr>
        <p:spPr>
          <a:xfrm>
            <a:off x="483552" y="1415417"/>
            <a:ext cx="7766050" cy="3728720"/>
          </a:xfrm>
          <a:prstGeom prst="rect">
            <a:avLst/>
          </a:prstGeom>
          <a:noFill/>
          <a:ln>
            <a:noFill/>
          </a:ln>
        </p:spPr>
        <p:txBody>
          <a:bodyPr anchorCtr="0" anchor="t" bIns="0" lIns="0" spcFirstLastPara="1" rIns="0" wrap="square" tIns="59675">
            <a:spAutoFit/>
          </a:bodyPr>
          <a:lstStyle/>
          <a:p>
            <a:pPr indent="-177800" lvl="0" marL="182880" marR="33591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columnas marcadas como DESC se ordenan en 	orden descendente</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Todos estos ejemplos usan las funciones UPPER y 	LOWER, pero cabe señalar que, aunque estas dos se 	utilizan con mucha frecuencia en los índices basados 	en funciones, la base de datos Oracle no se limita a 	ellos</a:t>
            </a:r>
            <a:endParaRPr sz="2800">
              <a:latin typeface="Calibri"/>
              <a:ea typeface="Calibri"/>
              <a:cs typeface="Calibri"/>
              <a:sym typeface="Calibri"/>
            </a:endParaRPr>
          </a:p>
          <a:p>
            <a:pPr indent="-177800" lvl="0" marL="182880" marR="314960" rtl="0" algn="l">
              <a:lnSpc>
                <a:spcPct val="108214"/>
              </a:lnSpc>
              <a:spcBef>
                <a:spcPts val="77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puede utilizar cualquier función incorporada de 	Oracle, por ejemplo, TO_CHAR</a:t>
            </a:r>
            <a:endParaRPr sz="280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8"/>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Índices Basados en Funciones</a:t>
            </a:r>
            <a:endParaRPr/>
          </a:p>
        </p:txBody>
      </p:sp>
      <p:sp>
        <p:nvSpPr>
          <p:cNvPr id="296" name="Google Shape;296;p38"/>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297" name="Google Shape;297;p3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98" name="Google Shape;298;p3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99" name="Google Shape;299;p38"/>
          <p:cNvSpPr txBox="1"/>
          <p:nvPr/>
        </p:nvSpPr>
        <p:spPr>
          <a:xfrm>
            <a:off x="483552" y="1381889"/>
            <a:ext cx="7888605" cy="1551940"/>
          </a:xfrm>
          <a:prstGeom prst="rect">
            <a:avLst/>
          </a:prstGeom>
          <a:noFill/>
          <a:ln>
            <a:noFill/>
          </a:ln>
        </p:spPr>
        <p:txBody>
          <a:bodyPr anchorCtr="0" anchor="t" bIns="0" lIns="0" spcFirstLastPara="1" rIns="0" wrap="square" tIns="97150">
            <a:spAutoFit/>
          </a:bodyPr>
          <a:lstStyle/>
          <a:p>
            <a:pPr indent="-177800" lvl="0" marL="182880" marR="18034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Aquí se muestra otro ejemplo de índices basados en 	funciones</a:t>
            </a:r>
            <a:endParaRPr sz="2800">
              <a:latin typeface="Calibri"/>
              <a:ea typeface="Calibri"/>
              <a:cs typeface="Calibri"/>
              <a:sym typeface="Calibri"/>
            </a:endParaRPr>
          </a:p>
          <a:p>
            <a:pPr indent="-177800" lvl="0" marL="182880" marR="5080" rtl="0" algn="l">
              <a:lnSpc>
                <a:spcPct val="80000"/>
              </a:lnSpc>
              <a:spcBef>
                <a:spcPts val="6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realiza una consulta de la tabla de empleados para 	buscar cualquier empleado contratado en 1987</a:t>
            </a:r>
            <a:endParaRPr sz="2800">
              <a:latin typeface="Calibri"/>
              <a:ea typeface="Calibri"/>
              <a:cs typeface="Calibri"/>
              <a:sym typeface="Calibri"/>
            </a:endParaRPr>
          </a:p>
        </p:txBody>
      </p:sp>
      <p:sp>
        <p:nvSpPr>
          <p:cNvPr id="300" name="Google Shape;300;p38"/>
          <p:cNvSpPr txBox="1"/>
          <p:nvPr/>
        </p:nvSpPr>
        <p:spPr>
          <a:xfrm>
            <a:off x="483552" y="3734945"/>
            <a:ext cx="8133080" cy="1893570"/>
          </a:xfrm>
          <a:prstGeom prst="rect">
            <a:avLst/>
          </a:prstGeom>
          <a:noFill/>
          <a:ln>
            <a:noFill/>
          </a:ln>
        </p:spPr>
        <p:txBody>
          <a:bodyPr anchorCtr="0" anchor="t" bIns="0" lIns="0" spcFirstLastPara="1" rIns="0" wrap="square" tIns="97150">
            <a:spAutoFit/>
          </a:bodyPr>
          <a:lstStyle/>
          <a:p>
            <a:pPr indent="-177800" lvl="0" marL="182880"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 consulta da como resultado una exploración de 	tabla completa, que puede ser una operación muy cara 	si la tabla es grande</a:t>
            </a:r>
            <a:endParaRPr sz="2800">
              <a:latin typeface="Calibri"/>
              <a:ea typeface="Calibri"/>
              <a:cs typeface="Calibri"/>
              <a:sym typeface="Calibri"/>
            </a:endParaRPr>
          </a:p>
          <a:p>
            <a:pPr indent="-177800" lvl="0" marL="182880" marR="6985" rtl="0" algn="l">
              <a:lnSpc>
                <a:spcPct val="80000"/>
              </a:lnSpc>
              <a:spcBef>
                <a:spcPts val="6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Incluso aunque la columna hire_date esté indexada, no 	se utiliza el índice debido a la expresión TO_CHAR</a:t>
            </a:r>
            <a:endParaRPr sz="2800">
              <a:latin typeface="Calibri"/>
              <a:ea typeface="Calibri"/>
              <a:cs typeface="Calibri"/>
              <a:sym typeface="Calibri"/>
            </a:endParaRPr>
          </a:p>
        </p:txBody>
      </p:sp>
      <p:sp>
        <p:nvSpPr>
          <p:cNvPr id="301" name="Google Shape;301;p38"/>
          <p:cNvSpPr txBox="1"/>
          <p:nvPr/>
        </p:nvSpPr>
        <p:spPr>
          <a:xfrm>
            <a:off x="417576" y="2994660"/>
            <a:ext cx="8345805" cy="76390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95000"/>
              </a:lnSpc>
              <a:spcBef>
                <a:spcPts val="0"/>
              </a:spcBef>
              <a:spcAft>
                <a:spcPts val="0"/>
              </a:spcAft>
              <a:buNone/>
            </a:pPr>
            <a:r>
              <a:rPr b="1" lang="en-US" sz="1800">
                <a:solidFill>
                  <a:srgbClr val="4E3629"/>
                </a:solidFill>
                <a:latin typeface="Courier New"/>
                <a:ea typeface="Courier New"/>
                <a:cs typeface="Courier New"/>
                <a:sym typeface="Courier New"/>
              </a:rPr>
              <a:t>SELECT first_name, last_name, hire_date</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0" rtl="0" algn="l">
              <a:lnSpc>
                <a:spcPct val="119166"/>
              </a:lnSpc>
              <a:spcBef>
                <a:spcPts val="0"/>
              </a:spcBef>
              <a:spcAft>
                <a:spcPts val="0"/>
              </a:spcAft>
              <a:buNone/>
            </a:pPr>
            <a:r>
              <a:rPr b="1" lang="en-US" sz="1800">
                <a:solidFill>
                  <a:srgbClr val="4E3629"/>
                </a:solidFill>
                <a:latin typeface="Courier New"/>
                <a:ea typeface="Courier New"/>
                <a:cs typeface="Courier New"/>
                <a:sym typeface="Courier New"/>
              </a:rPr>
              <a:t>WHERE TO_CHAR(hire_date, 'yyyy') = '1987'</a:t>
            </a:r>
            <a:endParaRPr sz="1800">
              <a:latin typeface="Courier New"/>
              <a:ea typeface="Courier New"/>
              <a:cs typeface="Courier New"/>
              <a:sym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9"/>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Índices Basados en Funciones</a:t>
            </a:r>
            <a:endParaRPr/>
          </a:p>
        </p:txBody>
      </p:sp>
      <p:sp>
        <p:nvSpPr>
          <p:cNvPr id="307" name="Google Shape;307;p39"/>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308" name="Google Shape;308;p3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09" name="Google Shape;309;p3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10" name="Google Shape;310;p39"/>
          <p:cNvSpPr txBox="1"/>
          <p:nvPr/>
        </p:nvSpPr>
        <p:spPr>
          <a:xfrm>
            <a:off x="390123" y="1496061"/>
            <a:ext cx="8444230" cy="1135380"/>
          </a:xfrm>
          <a:prstGeom prst="rect">
            <a:avLst/>
          </a:prstGeom>
          <a:noFill/>
          <a:ln>
            <a:noFill/>
          </a:ln>
        </p:spPr>
        <p:txBody>
          <a:bodyPr anchorCtr="0" anchor="t" bIns="0" lIns="0" spcFirstLastPara="1" rIns="0" wrap="square" tIns="57775">
            <a:spAutoFit/>
          </a:bodyPr>
          <a:lstStyle/>
          <a:p>
            <a:pPr indent="-172720" lvl="0" marL="184785" marR="5080" rtl="0" algn="l">
              <a:lnSpc>
                <a:spcPct val="108076"/>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Una vez que creamos el siguiente índice basado en funciones, podemos ejecutar la misma consulta, pero esta vez evitando la costosa exploración de tabla completa</a:t>
            </a:r>
            <a:endParaRPr sz="2600">
              <a:latin typeface="Calibri"/>
              <a:ea typeface="Calibri"/>
              <a:cs typeface="Calibri"/>
              <a:sym typeface="Calibri"/>
            </a:endParaRPr>
          </a:p>
        </p:txBody>
      </p:sp>
      <p:sp>
        <p:nvSpPr>
          <p:cNvPr id="311" name="Google Shape;311;p39"/>
          <p:cNvSpPr txBox="1"/>
          <p:nvPr/>
        </p:nvSpPr>
        <p:spPr>
          <a:xfrm>
            <a:off x="390123" y="5034789"/>
            <a:ext cx="8444230" cy="422275"/>
          </a:xfrm>
          <a:prstGeom prst="rect">
            <a:avLst/>
          </a:prstGeom>
          <a:noFill/>
          <a:ln>
            <a:noFill/>
          </a:ln>
        </p:spPr>
        <p:txBody>
          <a:bodyPr anchorCtr="0" anchor="t" bIns="0" lIns="0" spcFirstLastPara="1" rIns="0" wrap="square" tIns="12700">
            <a:spAutoFit/>
          </a:bodyPr>
          <a:lstStyle/>
          <a:p>
            <a:pPr indent="-172085" lvl="0" marL="184785" rtl="0" algn="l">
              <a:lnSpc>
                <a:spcPct val="100000"/>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Ahora, Oracle puede utilizar el índice en la columna hire_date</a:t>
            </a:r>
            <a:endParaRPr sz="2600">
              <a:latin typeface="Calibri"/>
              <a:ea typeface="Calibri"/>
              <a:cs typeface="Calibri"/>
              <a:sym typeface="Calibri"/>
            </a:endParaRPr>
          </a:p>
        </p:txBody>
      </p:sp>
      <p:graphicFrame>
        <p:nvGraphicFramePr>
          <p:cNvPr id="312" name="Google Shape;312;p39"/>
          <p:cNvGraphicFramePr/>
          <p:nvPr/>
        </p:nvGraphicFramePr>
        <p:xfrm>
          <a:off x="831832" y="4194248"/>
          <a:ext cx="3000000" cy="3000000"/>
        </p:xfrm>
        <a:graphic>
          <a:graphicData uri="http://schemas.openxmlformats.org/drawingml/2006/table">
            <a:tbl>
              <a:tblPr bandRow="1" firstRow="1">
                <a:noFill/>
                <a:tableStyleId>{F80F5F9F-884D-4591-B9C8-8E1AC946C623}</a:tableStyleId>
              </a:tblPr>
              <a:tblGrid>
                <a:gridCol w="2525400"/>
                <a:gridCol w="2525400"/>
                <a:gridCol w="2525400"/>
              </a:tblGrid>
              <a:tr h="260350">
                <a:tc>
                  <a:txBody>
                    <a:bodyPr/>
                    <a:lstStyle/>
                    <a:p>
                      <a:pPr indent="0" lvl="0" marL="71755" marR="0" rtl="0" algn="l">
                        <a:lnSpc>
                          <a:spcPct val="117812"/>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7812"/>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7812"/>
                        </a:lnSpc>
                        <a:spcBef>
                          <a:spcPts val="0"/>
                        </a:spcBef>
                        <a:spcAft>
                          <a:spcPts val="0"/>
                        </a:spcAft>
                        <a:buNone/>
                      </a:pPr>
                      <a:r>
                        <a:rPr b="1" lang="en-US" sz="1600" u="none" cap="none" strike="noStrike">
                          <a:solidFill>
                            <a:srgbClr val="4E3629"/>
                          </a:solidFill>
                          <a:latin typeface="Calibri"/>
                          <a:ea typeface="Calibri"/>
                          <a:cs typeface="Calibri"/>
                          <a:sym typeface="Calibri"/>
                        </a:rPr>
                        <a:t>HIRE_DATE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60350">
                <a:tc>
                  <a:txBody>
                    <a:bodyPr/>
                    <a:lstStyle/>
                    <a:p>
                      <a:pPr indent="0" lvl="0" marL="71755" marR="0" rtl="0" algn="l">
                        <a:lnSpc>
                          <a:spcPct val="117812"/>
                        </a:lnSpc>
                        <a:spcBef>
                          <a:spcPts val="0"/>
                        </a:spcBef>
                        <a:spcAft>
                          <a:spcPts val="0"/>
                        </a:spcAft>
                        <a:buNone/>
                      </a:pPr>
                      <a:r>
                        <a:rPr lang="en-US" sz="1600" u="none" cap="none" strike="noStrike">
                          <a:solidFill>
                            <a:srgbClr val="4E3629"/>
                          </a:solidFill>
                          <a:latin typeface="Calibri"/>
                          <a:ea typeface="Calibri"/>
                          <a:cs typeface="Calibri"/>
                          <a:sym typeface="Calibri"/>
                        </a:rPr>
                        <a:t>Steven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7812"/>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7812"/>
                        </a:lnSpc>
                        <a:spcBef>
                          <a:spcPts val="0"/>
                        </a:spcBef>
                        <a:spcAft>
                          <a:spcPts val="0"/>
                        </a:spcAft>
                        <a:buNone/>
                      </a:pPr>
                      <a:r>
                        <a:rPr lang="en-US" sz="1600" u="none" cap="none" strike="noStrike">
                          <a:solidFill>
                            <a:srgbClr val="4E3629"/>
                          </a:solidFill>
                          <a:latin typeface="Calibri"/>
                          <a:ea typeface="Calibri"/>
                          <a:cs typeface="Calibri"/>
                          <a:sym typeface="Calibri"/>
                        </a:rPr>
                        <a:t>17-Jun-1987</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0350">
                <a:tc>
                  <a:txBody>
                    <a:bodyPr/>
                    <a:lstStyle/>
                    <a:p>
                      <a:pPr indent="0" lvl="0" marL="71755" marR="0" rtl="0" algn="l">
                        <a:lnSpc>
                          <a:spcPct val="117812"/>
                        </a:lnSpc>
                        <a:spcBef>
                          <a:spcPts val="0"/>
                        </a:spcBef>
                        <a:spcAft>
                          <a:spcPts val="0"/>
                        </a:spcAft>
                        <a:buNone/>
                      </a:pPr>
                      <a:r>
                        <a:rPr lang="en-US" sz="1600" u="none" cap="none" strike="noStrike">
                          <a:solidFill>
                            <a:srgbClr val="4E3629"/>
                          </a:solidFill>
                          <a:latin typeface="Calibri"/>
                          <a:ea typeface="Calibri"/>
                          <a:cs typeface="Calibri"/>
                          <a:sym typeface="Calibri"/>
                        </a:rPr>
                        <a:t>Jennifer</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7812"/>
                        </a:lnSpc>
                        <a:spcBef>
                          <a:spcPts val="0"/>
                        </a:spcBef>
                        <a:spcAft>
                          <a:spcPts val="0"/>
                        </a:spcAft>
                        <a:buNone/>
                      </a:pPr>
                      <a:r>
                        <a:rPr lang="en-US" sz="1600" u="none" cap="none" strike="noStrike">
                          <a:solidFill>
                            <a:srgbClr val="4E3629"/>
                          </a:solidFill>
                          <a:latin typeface="Calibri"/>
                          <a:ea typeface="Calibri"/>
                          <a:cs typeface="Calibri"/>
                          <a:sym typeface="Calibri"/>
                        </a:rPr>
                        <a:t>Whalen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7812"/>
                        </a:lnSpc>
                        <a:spcBef>
                          <a:spcPts val="0"/>
                        </a:spcBef>
                        <a:spcAft>
                          <a:spcPts val="0"/>
                        </a:spcAft>
                        <a:buNone/>
                      </a:pPr>
                      <a:r>
                        <a:rPr lang="en-US" sz="1600" u="none" cap="none" strike="noStrike">
                          <a:solidFill>
                            <a:srgbClr val="4E3629"/>
                          </a:solidFill>
                          <a:latin typeface="Calibri"/>
                          <a:ea typeface="Calibri"/>
                          <a:cs typeface="Calibri"/>
                          <a:sym typeface="Calibri"/>
                        </a:rPr>
                        <a:t>17-Sep-1987</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313" name="Google Shape;313;p39"/>
          <p:cNvSpPr txBox="1"/>
          <p:nvPr/>
        </p:nvSpPr>
        <p:spPr>
          <a:xfrm>
            <a:off x="405384" y="2665476"/>
            <a:ext cx="8345805" cy="56896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2222"/>
              </a:lnSpc>
              <a:spcBef>
                <a:spcPts val="0"/>
              </a:spcBef>
              <a:spcAft>
                <a:spcPts val="0"/>
              </a:spcAft>
              <a:buNone/>
            </a:pPr>
            <a:r>
              <a:rPr b="1" lang="en-US" sz="1800">
                <a:solidFill>
                  <a:srgbClr val="4E3629"/>
                </a:solidFill>
                <a:latin typeface="Courier New"/>
                <a:ea typeface="Courier New"/>
                <a:cs typeface="Courier New"/>
                <a:sym typeface="Courier New"/>
              </a:rPr>
              <a:t>CREATE INDEX emp_hire_year_idx</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ON employees (TO_CHAR(hire_date, 'yyyy'));</a:t>
            </a:r>
            <a:endParaRPr sz="1800">
              <a:latin typeface="Courier New"/>
              <a:ea typeface="Courier New"/>
              <a:cs typeface="Courier New"/>
              <a:sym typeface="Courier New"/>
            </a:endParaRPr>
          </a:p>
        </p:txBody>
      </p:sp>
      <p:sp>
        <p:nvSpPr>
          <p:cNvPr id="314" name="Google Shape;314;p39"/>
          <p:cNvSpPr txBox="1"/>
          <p:nvPr/>
        </p:nvSpPr>
        <p:spPr>
          <a:xfrm>
            <a:off x="393191" y="3348228"/>
            <a:ext cx="8345805" cy="78232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98611"/>
              </a:lnSpc>
              <a:spcBef>
                <a:spcPts val="0"/>
              </a:spcBef>
              <a:spcAft>
                <a:spcPts val="0"/>
              </a:spcAft>
              <a:buNone/>
            </a:pPr>
            <a:r>
              <a:rPr b="1" lang="en-US" sz="1800">
                <a:solidFill>
                  <a:srgbClr val="4E3629"/>
                </a:solidFill>
                <a:latin typeface="Courier New"/>
                <a:ea typeface="Courier New"/>
                <a:cs typeface="Courier New"/>
                <a:sym typeface="Courier New"/>
              </a:rPr>
              <a:t>SELECT first_name, last_name, hire_date</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TO_CHAR(hire_date, 'yyyy') = '1987'</a:t>
            </a:r>
            <a:endParaRPr sz="1800">
              <a:latin typeface="Courier New"/>
              <a:ea typeface="Courier New"/>
              <a:cs typeface="Courier New"/>
              <a:sym typeface="Courier New"/>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0"/>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Eliminación de Índices</a:t>
            </a:r>
            <a:endParaRPr/>
          </a:p>
        </p:txBody>
      </p:sp>
      <p:sp>
        <p:nvSpPr>
          <p:cNvPr id="320" name="Google Shape;320;p40"/>
          <p:cNvSpPr txBox="1"/>
          <p:nvPr/>
        </p:nvSpPr>
        <p:spPr>
          <a:xfrm>
            <a:off x="483552" y="1355371"/>
            <a:ext cx="8174355" cy="1868170"/>
          </a:xfrm>
          <a:prstGeom prst="rect">
            <a:avLst/>
          </a:prstGeom>
          <a:noFill/>
          <a:ln>
            <a:noFill/>
          </a:ln>
        </p:spPr>
        <p:txBody>
          <a:bodyPr anchorCtr="0" anchor="t" bIns="0" lIns="0" spcFirstLastPara="1" rIns="0" wrap="square" tIns="717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puede modificar los índices</a:t>
            </a:r>
            <a:endParaRPr sz="2800">
              <a:latin typeface="Calibri"/>
              <a:ea typeface="Calibri"/>
              <a:cs typeface="Calibri"/>
              <a:sym typeface="Calibri"/>
            </a:endParaRPr>
          </a:p>
          <a:p>
            <a:pPr indent="-177800" lvl="0" marL="183515" rtl="0" algn="l">
              <a:lnSpc>
                <a:spcPct val="100000"/>
              </a:lnSpc>
              <a:spcBef>
                <a:spcPts val="47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cambiar un índice, debe borrarlo y volver a crearlo</a:t>
            </a:r>
            <a:endParaRPr sz="2800">
              <a:latin typeface="Calibri"/>
              <a:ea typeface="Calibri"/>
              <a:cs typeface="Calibri"/>
              <a:sym typeface="Calibri"/>
            </a:endParaRPr>
          </a:p>
          <a:p>
            <a:pPr indent="-177800" lvl="0" marL="182880" marR="76073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Elimine una definición de índice del diccionario de 	datos mediante la sentencia DROP INDEX</a:t>
            </a:r>
            <a:endParaRPr sz="2800">
              <a:latin typeface="Calibri"/>
              <a:ea typeface="Calibri"/>
              <a:cs typeface="Calibri"/>
              <a:sym typeface="Calibri"/>
            </a:endParaRPr>
          </a:p>
        </p:txBody>
      </p:sp>
      <p:pic>
        <p:nvPicPr>
          <p:cNvPr id="321" name="Google Shape;321;p40"/>
          <p:cNvPicPr preferRelativeResize="0"/>
          <p:nvPr/>
        </p:nvPicPr>
        <p:blipFill rotWithShape="1">
          <a:blip r:embed="rId3">
            <a:alphaModFix/>
          </a:blip>
          <a:srcRect b="0" l="0" r="0" t="0"/>
          <a:stretch/>
        </p:blipFill>
        <p:spPr>
          <a:xfrm>
            <a:off x="3105911" y="3441192"/>
            <a:ext cx="2033015" cy="2625851"/>
          </a:xfrm>
          <a:prstGeom prst="rect">
            <a:avLst/>
          </a:prstGeom>
          <a:noFill/>
          <a:ln>
            <a:noFill/>
          </a:ln>
        </p:spPr>
      </p:pic>
      <p:sp>
        <p:nvSpPr>
          <p:cNvPr id="322" name="Google Shape;322;p40"/>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323" name="Google Shape;323;p4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24" name="Google Shape;324;p4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1"/>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Eliminación de Índices</a:t>
            </a:r>
            <a:endParaRPr/>
          </a:p>
        </p:txBody>
      </p:sp>
      <p:sp>
        <p:nvSpPr>
          <p:cNvPr id="330" name="Google Shape;330;p41"/>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331" name="Google Shape;331;p4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32" name="Google Shape;332;p4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33" name="Google Shape;333;p41"/>
          <p:cNvSpPr txBox="1"/>
          <p:nvPr/>
        </p:nvSpPr>
        <p:spPr>
          <a:xfrm>
            <a:off x="483552" y="1415417"/>
            <a:ext cx="8149590" cy="2090420"/>
          </a:xfrm>
          <a:prstGeom prst="rect">
            <a:avLst/>
          </a:prstGeom>
          <a:noFill/>
          <a:ln>
            <a:noFill/>
          </a:ln>
        </p:spPr>
        <p:txBody>
          <a:bodyPr anchorCtr="0" anchor="t" bIns="0" lIns="0" spcFirstLastPara="1" rIns="0" wrap="square" tIns="59675">
            <a:spAutoFit/>
          </a:bodyPr>
          <a:lstStyle/>
          <a:p>
            <a:pPr indent="-177800" lvl="0" marL="182880" marR="96075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borrar un índice, debe ser el propietario del 	mismo o tener el privilegio DROP ANY INDEX</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borra una tabla, los índices y las restricciones se 	borran automáticamente, pero permanecen las vistas y 	las secuencias</a:t>
            </a:r>
            <a:endParaRPr sz="2800">
              <a:latin typeface="Calibri"/>
              <a:ea typeface="Calibri"/>
              <a:cs typeface="Calibri"/>
              <a:sym typeface="Calibri"/>
            </a:endParaRPr>
          </a:p>
        </p:txBody>
      </p:sp>
      <p:graphicFrame>
        <p:nvGraphicFramePr>
          <p:cNvPr id="334" name="Google Shape;334;p41"/>
          <p:cNvGraphicFramePr/>
          <p:nvPr/>
        </p:nvGraphicFramePr>
        <p:xfrm>
          <a:off x="390724" y="3595115"/>
          <a:ext cx="3000000" cy="3000000"/>
        </p:xfrm>
        <a:graphic>
          <a:graphicData uri="http://schemas.openxmlformats.org/drawingml/2006/table">
            <a:tbl>
              <a:tblPr bandRow="1" firstRow="1">
                <a:noFill/>
                <a:tableStyleId>{F80F5F9F-884D-4591-B9C8-8E1AC946C623}</a:tableStyleId>
              </a:tblPr>
              <a:tblGrid>
                <a:gridCol w="611500"/>
                <a:gridCol w="819150"/>
                <a:gridCol w="6915150"/>
              </a:tblGrid>
              <a:tr h="313700">
                <a:tc>
                  <a:txBody>
                    <a:bodyPr/>
                    <a:lstStyle/>
                    <a:p>
                      <a:pPr indent="0" lvl="0" marL="11430" marR="0" rtl="0" algn="l">
                        <a:lnSpc>
                          <a:spcPct val="11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DROP</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12065" marR="0" rtl="0" algn="ctr">
                        <a:lnSpc>
                          <a:spcPct val="11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INDEX</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72390" marR="0" rtl="0" algn="l">
                        <a:lnSpc>
                          <a:spcPct val="11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upper_last_name_idx;</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r>
              <a:tr h="174625">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txBody>
                  <a:tcPr marT="0" marB="0" marR="0" marL="0"/>
                </a:tc>
              </a:tr>
              <a:tr h="313700">
                <a:tc>
                  <a:txBody>
                    <a:bodyPr/>
                    <a:lstStyle/>
                    <a:p>
                      <a:pPr indent="0" lvl="0" marL="0" marR="0" rtl="0" algn="l">
                        <a:lnSpc>
                          <a:spcPct val="116388"/>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DROP</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0" marR="3175" rtl="0" algn="ctr">
                        <a:lnSpc>
                          <a:spcPct val="116388"/>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INDEX</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60960" marR="0" rtl="0" algn="l">
                        <a:lnSpc>
                          <a:spcPct val="116388"/>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emps_name_idx;</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r>
              <a:tr h="173350">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txBody>
                  <a:tcPr marT="0" marB="0" marR="0" marL="0"/>
                </a:tc>
              </a:tr>
              <a:tr h="314950">
                <a:tc>
                  <a:txBody>
                    <a:bodyPr/>
                    <a:lstStyle/>
                    <a:p>
                      <a:pPr indent="0" lvl="0" marL="0" marR="0" rtl="0" algn="l">
                        <a:lnSpc>
                          <a:spcPct val="116944"/>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DROP</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12065" marR="0" rtl="0" algn="ctr">
                        <a:lnSpc>
                          <a:spcPct val="116944"/>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INDEX</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72390" marR="0" rtl="0" algn="l">
                        <a:lnSpc>
                          <a:spcPct val="116944"/>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emp_hire_year_idx;</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2"/>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SYNONYM</a:t>
            </a:r>
            <a:endParaRPr/>
          </a:p>
        </p:txBody>
      </p:sp>
      <p:sp>
        <p:nvSpPr>
          <p:cNvPr id="340" name="Google Shape;340;p42"/>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341" name="Google Shape;341;p4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42" name="Google Shape;342;p4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43" name="Google Shape;343;p42"/>
          <p:cNvSpPr txBox="1"/>
          <p:nvPr/>
        </p:nvSpPr>
        <p:spPr>
          <a:xfrm>
            <a:off x="483552" y="1415417"/>
            <a:ext cx="7735570" cy="33445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SQL, como en el lenguaje, un sinónimo es una 	palabra o expresión que es un sustituto aceptado de 	otra palabra</a:t>
            </a:r>
            <a:endParaRPr sz="2800">
              <a:latin typeface="Calibri"/>
              <a:ea typeface="Calibri"/>
              <a:cs typeface="Calibri"/>
              <a:sym typeface="Calibri"/>
            </a:endParaRPr>
          </a:p>
          <a:p>
            <a:pPr indent="-177800" lvl="0" marL="182880" marR="5778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sinónimos se utilizan para simplificar el acceso a 	objetos creando otro nombre para el objeto</a:t>
            </a:r>
            <a:endParaRPr sz="2800">
              <a:latin typeface="Calibri"/>
              <a:ea typeface="Calibri"/>
              <a:cs typeface="Calibri"/>
              <a:sym typeface="Calibri"/>
            </a:endParaRPr>
          </a:p>
          <a:p>
            <a:pPr indent="-177800" lvl="0" marL="182880" marR="227329" rtl="0" algn="just">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sinónimos pueden hacer referencia a una tabla 	propiedad de otro usuario de forma más sencilla y 	reducir los nombres de objetos</a:t>
            </a:r>
            <a:endParaRPr sz="2800">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3"/>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SYNONYM</a:t>
            </a:r>
            <a:endParaRPr/>
          </a:p>
        </p:txBody>
      </p:sp>
      <p:sp>
        <p:nvSpPr>
          <p:cNvPr id="349" name="Google Shape;349;p43"/>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350" name="Google Shape;350;p4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51" name="Google Shape;351;p4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52" name="Google Shape;352;p43"/>
          <p:cNvSpPr txBox="1"/>
          <p:nvPr>
            <p:ph idx="1" type="body"/>
          </p:nvPr>
        </p:nvSpPr>
        <p:spPr>
          <a:xfrm>
            <a:off x="483552" y="1393401"/>
            <a:ext cx="8112900" cy="5720400"/>
          </a:xfrm>
          <a:prstGeom prst="rect">
            <a:avLst/>
          </a:prstGeom>
          <a:noFill/>
          <a:ln>
            <a:noFill/>
          </a:ln>
        </p:spPr>
        <p:txBody>
          <a:bodyPr anchorCtr="0" anchor="t" bIns="0" lIns="0" spcFirstLastPara="1" rIns="0" wrap="square" tIns="59675">
            <a:spAutoFit/>
          </a:bodyPr>
          <a:lstStyle/>
          <a:p>
            <a:pPr indent="-177800" lvl="0" marL="182880" marR="92710" rtl="0" algn="l">
              <a:lnSpc>
                <a:spcPct val="108214"/>
              </a:lnSpc>
              <a:spcBef>
                <a:spcPts val="0"/>
              </a:spcBef>
              <a:spcAft>
                <a:spcPts val="0"/>
              </a:spcAft>
              <a:buClr>
                <a:srgbClr val="D1350F"/>
              </a:buClr>
              <a:buSzPts val="2800"/>
              <a:buFont typeface="Arial"/>
              <a:buChar char="•"/>
            </a:pPr>
            <a:r>
              <a:rPr lang="en-US"/>
              <a:t>Por ejemplo, para hacer referencia a la tabla 	amy_copy_employees del esquema del compañero de 	clase, puede poner como prefijo el nombre de la tabla 	con el nombre del usuario que la creó seguido de un 	punto y, a continuación, el nombre de la tabla, como 	en USMA_SBHS_SQL01_S04. amy_copy_employees</a:t>
            </a:r>
            <a:endParaRPr/>
          </a:p>
          <a:p>
            <a:pPr indent="-177800" lvl="0" marL="182880" marR="5080" rtl="0" algn="l">
              <a:lnSpc>
                <a:spcPct val="108214"/>
              </a:lnSpc>
              <a:spcBef>
                <a:spcPts val="770"/>
              </a:spcBef>
              <a:spcAft>
                <a:spcPts val="1200"/>
              </a:spcAft>
              <a:buClr>
                <a:srgbClr val="D1350F"/>
              </a:buClr>
              <a:buSzPts val="2800"/>
              <a:buFont typeface="Arial"/>
              <a:buChar char="•"/>
            </a:pPr>
            <a:r>
              <a:rPr lang="en-US"/>
              <a:t>Con la creación de un sinónimo se elimina la necesidad 	de cualificar el nombre del objeto con el esquema y se 	ofrecen nombres alternativos para tablas, vistas, 	secuencias, procedimientos u otros objetos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4"/>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SYNONYM</a:t>
            </a:r>
            <a:endParaRPr/>
          </a:p>
        </p:txBody>
      </p:sp>
      <p:sp>
        <p:nvSpPr>
          <p:cNvPr id="358" name="Google Shape;358;p44"/>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359" name="Google Shape;359;p4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60" name="Google Shape;360;p4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61" name="Google Shape;361;p44"/>
          <p:cNvSpPr txBox="1"/>
          <p:nvPr/>
        </p:nvSpPr>
        <p:spPr>
          <a:xfrm>
            <a:off x="483552" y="1415417"/>
            <a:ext cx="8004175" cy="2858770"/>
          </a:xfrm>
          <a:prstGeom prst="rect">
            <a:avLst/>
          </a:prstGeom>
          <a:noFill/>
          <a:ln>
            <a:noFill/>
          </a:ln>
        </p:spPr>
        <p:txBody>
          <a:bodyPr anchorCtr="0" anchor="t" bIns="0" lIns="0" spcFirstLastPara="1" rIns="0" wrap="square" tIns="59675">
            <a:spAutoFit/>
          </a:bodyPr>
          <a:lstStyle/>
          <a:p>
            <a:pPr indent="-177800" lvl="0" marL="182880" marR="46863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Este método es especialmente útil son nombres de 	objetos largos, como las vistas</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administrador de la base de datos puede crear un 	sinónimo público accesible para todos los usuarios y 	puede otorgar específicamente el privilegio CREATE 	PUBLIC SYNONYM a cualquier usuario, y dicho usuario 	puede crear sinónimos públicos</a:t>
            </a:r>
            <a:endParaRPr sz="2800">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5"/>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SYNONYM</a:t>
            </a:r>
            <a:endParaRPr/>
          </a:p>
        </p:txBody>
      </p:sp>
      <p:sp>
        <p:nvSpPr>
          <p:cNvPr id="367" name="Google Shape;367;p45"/>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368" name="Google Shape;368;p4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69" name="Google Shape;369;p4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70" name="Google Shape;370;p45"/>
          <p:cNvSpPr txBox="1"/>
          <p:nvPr/>
        </p:nvSpPr>
        <p:spPr>
          <a:xfrm>
            <a:off x="483552" y="1415417"/>
            <a:ext cx="1374775"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Sintaxis:</a:t>
            </a:r>
            <a:endParaRPr sz="2800">
              <a:latin typeface="Calibri"/>
              <a:ea typeface="Calibri"/>
              <a:cs typeface="Calibri"/>
              <a:sym typeface="Calibri"/>
            </a:endParaRPr>
          </a:p>
        </p:txBody>
      </p:sp>
      <p:sp>
        <p:nvSpPr>
          <p:cNvPr id="371" name="Google Shape;371;p45"/>
          <p:cNvSpPr txBox="1"/>
          <p:nvPr/>
        </p:nvSpPr>
        <p:spPr>
          <a:xfrm>
            <a:off x="483552" y="2872361"/>
            <a:ext cx="8152765" cy="219265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PUBLIC: crea un sinónimo al que pueden acceder todos 	los usuarios</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synonym: es el nombre del sinónimo que se va a crear</a:t>
            </a:r>
            <a:endParaRPr sz="2800">
              <a:latin typeface="Calibri"/>
              <a:ea typeface="Calibri"/>
              <a:cs typeface="Calibri"/>
              <a:sym typeface="Calibri"/>
            </a:endParaRPr>
          </a:p>
          <a:p>
            <a:pPr indent="-177800" lvl="0" marL="182880" marR="1058545"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object: identifica el objeto para el que se crea el 	sinónimo</a:t>
            </a:r>
            <a:endParaRPr sz="2800">
              <a:latin typeface="Calibri"/>
              <a:ea typeface="Calibri"/>
              <a:cs typeface="Calibri"/>
              <a:sym typeface="Calibri"/>
            </a:endParaRPr>
          </a:p>
        </p:txBody>
      </p:sp>
      <p:sp>
        <p:nvSpPr>
          <p:cNvPr id="372" name="Google Shape;372;p45"/>
          <p:cNvSpPr txBox="1"/>
          <p:nvPr/>
        </p:nvSpPr>
        <p:spPr>
          <a:xfrm>
            <a:off x="393191" y="2040635"/>
            <a:ext cx="8345805" cy="56261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0833"/>
              </a:lnSpc>
              <a:spcBef>
                <a:spcPts val="0"/>
              </a:spcBef>
              <a:spcAft>
                <a:spcPts val="0"/>
              </a:spcAft>
              <a:buNone/>
            </a:pPr>
            <a:r>
              <a:rPr b="1" lang="en-US" sz="1800">
                <a:solidFill>
                  <a:srgbClr val="4E3629"/>
                </a:solidFill>
                <a:latin typeface="Courier New"/>
                <a:ea typeface="Courier New"/>
                <a:cs typeface="Courier New"/>
                <a:sym typeface="Courier New"/>
              </a:rPr>
              <a:t>CREATE [PUBLIC] SYNONYM synonym</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FOR object;</a:t>
            </a:r>
            <a:endParaRPr sz="1800">
              <a:latin typeface="Courier New"/>
              <a:ea typeface="Courier New"/>
              <a:cs typeface="Courier New"/>
              <a:sym typeface="Courier New"/>
            </a:endParaRPr>
          </a:p>
        </p:txBody>
      </p:sp>
      <p:sp>
        <p:nvSpPr>
          <p:cNvPr id="373" name="Google Shape;373;p45"/>
          <p:cNvSpPr txBox="1"/>
          <p:nvPr/>
        </p:nvSpPr>
        <p:spPr>
          <a:xfrm>
            <a:off x="393191" y="5248655"/>
            <a:ext cx="8345805" cy="56134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0833"/>
              </a:lnSpc>
              <a:spcBef>
                <a:spcPts val="0"/>
              </a:spcBef>
              <a:spcAft>
                <a:spcPts val="0"/>
              </a:spcAft>
              <a:buNone/>
            </a:pPr>
            <a:r>
              <a:rPr b="1" lang="en-US" sz="1800">
                <a:solidFill>
                  <a:srgbClr val="4E3629"/>
                </a:solidFill>
                <a:latin typeface="Courier New"/>
                <a:ea typeface="Courier New"/>
                <a:cs typeface="Courier New"/>
                <a:sym typeface="Courier New"/>
              </a:rPr>
              <a:t>CREATE SYNONYM amy_emps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FOR amy_copy_employees;</a:t>
            </a:r>
            <a:endParaRPr sz="1800">
              <a:latin typeface="Courier New"/>
              <a:ea typeface="Courier New"/>
              <a:cs typeface="Courier New"/>
              <a:sym typeface="Courier New"/>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6"/>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Directrices de SYNONYM</a:t>
            </a:r>
            <a:endParaRPr/>
          </a:p>
        </p:txBody>
      </p:sp>
      <p:sp>
        <p:nvSpPr>
          <p:cNvPr id="379" name="Google Shape;379;p46"/>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380" name="Google Shape;380;p4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81" name="Google Shape;381;p4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82" name="Google Shape;382;p46"/>
          <p:cNvSpPr txBox="1"/>
          <p:nvPr/>
        </p:nvSpPr>
        <p:spPr>
          <a:xfrm>
            <a:off x="483552" y="1393401"/>
            <a:ext cx="7834630" cy="204978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Instrucciones:</a:t>
            </a:r>
            <a:endParaRPr sz="2800">
              <a:latin typeface="Calibri"/>
              <a:ea typeface="Calibri"/>
              <a:cs typeface="Calibri"/>
              <a:sym typeface="Calibri"/>
            </a:endParaRPr>
          </a:p>
          <a:p>
            <a:pPr indent="0" lvl="0" marL="35560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El objeto no puede estar en un paquete</a:t>
            </a:r>
            <a:endParaRPr sz="2400">
              <a:latin typeface="Calibri"/>
              <a:ea typeface="Calibri"/>
              <a:cs typeface="Calibri"/>
              <a:sym typeface="Calibri"/>
            </a:endParaRPr>
          </a:p>
          <a:p>
            <a:pPr indent="-175260" lvl="0" marL="530860" marR="5080"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 nombre de sinónimo privado debe ser distinto de todos los demás objetos propiedad del mismo usuario</a:t>
            </a:r>
            <a:endParaRPr sz="2400">
              <a:latin typeface="Calibri"/>
              <a:ea typeface="Calibri"/>
              <a:cs typeface="Calibri"/>
              <a:sym typeface="Calibri"/>
            </a:endParaRPr>
          </a:p>
          <a:p>
            <a:pPr indent="-177800" lvl="0" marL="183515" rtl="0" algn="l">
              <a:lnSpc>
                <a:spcPct val="100000"/>
              </a:lnSpc>
              <a:spcBef>
                <a:spcPts val="4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eliminar un sinónimo:</a:t>
            </a:r>
            <a:endParaRPr sz="2800">
              <a:latin typeface="Calibri"/>
              <a:ea typeface="Calibri"/>
              <a:cs typeface="Calibri"/>
              <a:sym typeface="Calibri"/>
            </a:endParaRPr>
          </a:p>
        </p:txBody>
      </p:sp>
      <p:sp>
        <p:nvSpPr>
          <p:cNvPr id="383" name="Google Shape;383;p46"/>
          <p:cNvSpPr txBox="1"/>
          <p:nvPr/>
        </p:nvSpPr>
        <p:spPr>
          <a:xfrm>
            <a:off x="405384" y="3634740"/>
            <a:ext cx="8345805" cy="31559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6944"/>
              </a:lnSpc>
              <a:spcBef>
                <a:spcPts val="0"/>
              </a:spcBef>
              <a:spcAft>
                <a:spcPts val="0"/>
              </a:spcAft>
              <a:buNone/>
            </a:pPr>
            <a:r>
              <a:rPr b="1" lang="en-US" sz="1800">
                <a:solidFill>
                  <a:srgbClr val="4E3629"/>
                </a:solidFill>
                <a:latin typeface="Courier New"/>
                <a:ea typeface="Courier New"/>
                <a:cs typeface="Courier New"/>
                <a:sym typeface="Courier New"/>
              </a:rPr>
              <a:t>DROP [PUBLIC] SYNONYM name_of_synonym</a:t>
            </a:r>
            <a:endParaRPr sz="1800">
              <a:latin typeface="Courier New"/>
              <a:ea typeface="Courier New"/>
              <a:cs typeface="Courier New"/>
              <a:sym typeface="Courier New"/>
            </a:endParaRPr>
          </a:p>
        </p:txBody>
      </p:sp>
      <p:sp>
        <p:nvSpPr>
          <p:cNvPr id="384" name="Google Shape;384;p46"/>
          <p:cNvSpPr txBox="1"/>
          <p:nvPr/>
        </p:nvSpPr>
        <p:spPr>
          <a:xfrm>
            <a:off x="405384" y="4123944"/>
            <a:ext cx="8345805" cy="31559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6666"/>
              </a:lnSpc>
              <a:spcBef>
                <a:spcPts val="0"/>
              </a:spcBef>
              <a:spcAft>
                <a:spcPts val="0"/>
              </a:spcAft>
              <a:buNone/>
            </a:pPr>
            <a:r>
              <a:rPr b="1" lang="en-US" sz="1800">
                <a:solidFill>
                  <a:srgbClr val="4E3629"/>
                </a:solidFill>
                <a:latin typeface="Courier New"/>
                <a:ea typeface="Courier New"/>
                <a:cs typeface="Courier New"/>
                <a:sym typeface="Courier New"/>
              </a:rPr>
              <a:t>DROP SYNONYM amy_emps;</a:t>
            </a:r>
            <a:endParaRPr sz="1800">
              <a:latin typeface="Courier New"/>
              <a:ea typeface="Courier New"/>
              <a:cs typeface="Courier New"/>
              <a:sym typeface="Courier New"/>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7"/>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Confirmación de SYNONYM</a:t>
            </a:r>
            <a:endParaRPr/>
          </a:p>
        </p:txBody>
      </p:sp>
      <p:sp>
        <p:nvSpPr>
          <p:cNvPr id="390" name="Google Shape;390;p47"/>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391" name="Google Shape;391;p4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92" name="Google Shape;392;p4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93" name="Google Shape;393;p47"/>
          <p:cNvSpPr txBox="1"/>
          <p:nvPr/>
        </p:nvSpPr>
        <p:spPr>
          <a:xfrm>
            <a:off x="483552" y="1415417"/>
            <a:ext cx="6903720"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existencia de sinónimos se puede confirmar 	consultado la vista del diccionario de datos 	USER_SYNONYMS</a:t>
            </a:r>
            <a:endParaRPr sz="2800">
              <a:latin typeface="Calibri"/>
              <a:ea typeface="Calibri"/>
              <a:cs typeface="Calibri"/>
              <a:sym typeface="Calibri"/>
            </a:endParaRPr>
          </a:p>
        </p:txBody>
      </p:sp>
      <p:graphicFrame>
        <p:nvGraphicFramePr>
          <p:cNvPr id="394" name="Google Shape;394;p47"/>
          <p:cNvGraphicFramePr/>
          <p:nvPr/>
        </p:nvGraphicFramePr>
        <p:xfrm>
          <a:off x="876300" y="2791517"/>
          <a:ext cx="3000000" cy="3000000"/>
        </p:xfrm>
        <a:graphic>
          <a:graphicData uri="http://schemas.openxmlformats.org/drawingml/2006/table">
            <a:tbl>
              <a:tblPr bandRow="1" firstRow="1">
                <a:noFill/>
                <a:tableStyleId>{F80F5F9F-884D-4591-B9C8-8E1AC946C623}</a:tableStyleId>
              </a:tblPr>
              <a:tblGrid>
                <a:gridCol w="3265175"/>
                <a:gridCol w="4113525"/>
              </a:tblGrid>
              <a:tr h="380375">
                <a:tc>
                  <a:txBody>
                    <a:bodyPr/>
                    <a:lstStyle/>
                    <a:p>
                      <a:pPr indent="0" lvl="0" marL="91440" marR="0" rtl="0" algn="l">
                        <a:lnSpc>
                          <a:spcPct val="100000"/>
                        </a:lnSpc>
                        <a:spcBef>
                          <a:spcPts val="0"/>
                        </a:spcBef>
                        <a:spcAft>
                          <a:spcPts val="0"/>
                        </a:spcAft>
                        <a:buNone/>
                      </a:pPr>
                      <a:r>
                        <a:rPr b="1" lang="en-US" sz="1900" u="none" cap="none" strike="noStrike">
                          <a:solidFill>
                            <a:srgbClr val="4E3629"/>
                          </a:solidFill>
                          <a:latin typeface="Calibri"/>
                          <a:ea typeface="Calibri"/>
                          <a:cs typeface="Calibri"/>
                          <a:sym typeface="Calibri"/>
                        </a:rPr>
                        <a:t>Nombre de la Columna</a:t>
                      </a:r>
                      <a:endParaRPr sz="19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b="1" lang="en-US" sz="1900" u="none" cap="none" strike="noStrike">
                          <a:solidFill>
                            <a:srgbClr val="4E3629"/>
                          </a:solidFill>
                          <a:latin typeface="Calibri"/>
                          <a:ea typeface="Calibri"/>
                          <a:cs typeface="Calibri"/>
                          <a:sym typeface="Calibri"/>
                        </a:rPr>
                        <a:t>Contenido</a:t>
                      </a:r>
                      <a:endParaRPr sz="19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540375">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Synonym_name</a:t>
                      </a:r>
                      <a:endParaRPr sz="1600" u="none" cap="none" strike="noStrike">
                        <a:latin typeface="Calibri"/>
                        <a:ea typeface="Calibri"/>
                        <a:cs typeface="Calibri"/>
                        <a:sym typeface="Calibri"/>
                      </a:endParaRPr>
                    </a:p>
                  </a:txBody>
                  <a:tcPr marT="13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Nombre del sinónimo.</a:t>
                      </a:r>
                      <a:endParaRPr sz="1600" u="none" cap="none" strike="noStrike">
                        <a:latin typeface="Calibri"/>
                        <a:ea typeface="Calibri"/>
                        <a:cs typeface="Calibri"/>
                        <a:sym typeface="Calibri"/>
                      </a:endParaRPr>
                    </a:p>
                  </a:txBody>
                  <a:tcPr marT="1384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578475">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Table_name</a:t>
                      </a:r>
                      <a:endParaRPr sz="1600" u="none" cap="none" strike="noStrike">
                        <a:latin typeface="Calibri"/>
                        <a:ea typeface="Calibri"/>
                        <a:cs typeface="Calibri"/>
                        <a:sym typeface="Calibri"/>
                      </a:endParaRPr>
                    </a:p>
                  </a:txBody>
                  <a:tcPr marT="15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150495"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Propietario del objeto al que hace referencia el sinónimo.</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578475">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Table_owner</a:t>
                      </a:r>
                      <a:endParaRPr sz="1600" u="none" cap="none" strike="noStrike">
                        <a:latin typeface="Calibri"/>
                        <a:ea typeface="Calibri"/>
                        <a:cs typeface="Calibri"/>
                        <a:sym typeface="Calibri"/>
                      </a:endParaRPr>
                    </a:p>
                  </a:txBody>
                  <a:tcPr marT="15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39370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Nombre del objeto al que hace referencia el sinónimo.</a:t>
                      </a:r>
                      <a:endParaRPr sz="1600" u="none" cap="none" strike="noStrike">
                        <a:latin typeface="Calibri"/>
                        <a:ea typeface="Calibri"/>
                        <a:cs typeface="Calibri"/>
                        <a:sym typeface="Calibri"/>
                      </a:endParaRPr>
                    </a:p>
                  </a:txBody>
                  <a:tcPr marT="35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578475">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Db_link</a:t>
                      </a:r>
                      <a:endParaRPr sz="1600" u="none" cap="none" strike="noStrike">
                        <a:latin typeface="Calibri"/>
                        <a:ea typeface="Calibri"/>
                        <a:cs typeface="Calibri"/>
                        <a:sym typeface="Calibri"/>
                      </a:endParaRPr>
                    </a:p>
                  </a:txBody>
                  <a:tcPr marT="15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82550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Enlace de base de datos al que se hace referencia en un sinónimo remoto.</a:t>
                      </a:r>
                      <a:endParaRPr sz="1600" u="none" cap="none" strike="noStrike">
                        <a:latin typeface="Calibri"/>
                        <a:ea typeface="Calibri"/>
                        <a:cs typeface="Calibri"/>
                        <a:sym typeface="Calibri"/>
                      </a:endParaRPr>
                    </a:p>
                  </a:txBody>
                  <a:tcPr marT="3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8"/>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400" name="Google Shape;400;p48"/>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401" name="Google Shape;401;p4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02" name="Google Shape;402;p4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03" name="Google Shape;403;p48"/>
          <p:cNvSpPr txBox="1"/>
          <p:nvPr>
            <p:ph idx="1" type="body"/>
          </p:nvPr>
        </p:nvSpPr>
        <p:spPr>
          <a:xfrm>
            <a:off x="483552" y="1393401"/>
            <a:ext cx="8112900" cy="4266000"/>
          </a:xfrm>
          <a:prstGeom prst="rect">
            <a:avLst/>
          </a:prstGeom>
          <a:noFill/>
          <a:ln>
            <a:noFill/>
          </a:ln>
        </p:spPr>
        <p:txBody>
          <a:bodyPr anchorCtr="0" anchor="t" bIns="0" lIns="0" spcFirstLastPara="1" rIns="0" wrap="square" tIns="59675">
            <a:spAutoFit/>
          </a:bodyPr>
          <a:lstStyle/>
          <a:p>
            <a:pPr indent="0" lvl="0" marL="12700" marR="5080" rtl="0" algn="l">
              <a:lnSpc>
                <a:spcPct val="108214"/>
              </a:lnSpc>
              <a:spcBef>
                <a:spcPts val="0"/>
              </a:spcBef>
              <a:spcAft>
                <a:spcPts val="0"/>
              </a:spcAft>
              <a:buNone/>
            </a:pPr>
            <a:r>
              <a:rPr lang="en-US"/>
              <a:t>Entre los términos clave utilizados en esta lección se incluyen:</a:t>
            </a:r>
            <a:endParaRPr/>
          </a:p>
          <a:p>
            <a:pPr indent="0" lvl="0" marL="355600" rtl="0" algn="l">
              <a:lnSpc>
                <a:spcPct val="100000"/>
              </a:lnSpc>
              <a:spcBef>
                <a:spcPts val="290"/>
              </a:spcBef>
              <a:spcAft>
                <a:spcPts val="0"/>
              </a:spcAft>
              <a:buNone/>
            </a:pPr>
            <a:r>
              <a:rPr lang="en-US" sz="2400">
                <a:solidFill>
                  <a:srgbClr val="D1350F"/>
                </a:solidFill>
              </a:rPr>
              <a:t>−</a:t>
            </a:r>
            <a:r>
              <a:rPr lang="en-US" sz="2400"/>
              <a:t>Índice compuesto</a:t>
            </a:r>
            <a:endParaRPr sz="2400"/>
          </a:p>
          <a:p>
            <a:pPr indent="0" lvl="0" marL="355600" rtl="0" algn="l">
              <a:lnSpc>
                <a:spcPct val="100000"/>
              </a:lnSpc>
              <a:spcBef>
                <a:spcPts val="310"/>
              </a:spcBef>
              <a:spcAft>
                <a:spcPts val="0"/>
              </a:spcAft>
              <a:buNone/>
            </a:pPr>
            <a:r>
              <a:rPr lang="en-US" sz="2400">
                <a:solidFill>
                  <a:srgbClr val="D1350F"/>
                </a:solidFill>
              </a:rPr>
              <a:t>−</a:t>
            </a:r>
            <a:r>
              <a:rPr lang="en-US" sz="2400"/>
              <a:t>Confirmación de índice</a:t>
            </a:r>
            <a:endParaRPr sz="2400"/>
          </a:p>
          <a:p>
            <a:pPr indent="0" lvl="0" marL="355600" rtl="0" algn="l">
              <a:lnSpc>
                <a:spcPct val="100000"/>
              </a:lnSpc>
              <a:spcBef>
                <a:spcPts val="315"/>
              </a:spcBef>
              <a:spcAft>
                <a:spcPts val="0"/>
              </a:spcAft>
              <a:buNone/>
            </a:pPr>
            <a:r>
              <a:rPr lang="en-US" sz="2400">
                <a:solidFill>
                  <a:srgbClr val="D1350F"/>
                </a:solidFill>
              </a:rPr>
              <a:t>−</a:t>
            </a:r>
            <a:r>
              <a:rPr lang="en-US" sz="2400"/>
              <a:t>CREATE PUBLIC SYNONYM</a:t>
            </a:r>
            <a:endParaRPr sz="2400"/>
          </a:p>
          <a:p>
            <a:pPr indent="0" lvl="0" marL="355600" rtl="0" algn="l">
              <a:lnSpc>
                <a:spcPct val="100000"/>
              </a:lnSpc>
              <a:spcBef>
                <a:spcPts val="310"/>
              </a:spcBef>
              <a:spcAft>
                <a:spcPts val="0"/>
              </a:spcAft>
              <a:buNone/>
            </a:pPr>
            <a:r>
              <a:rPr lang="en-US" sz="2400">
                <a:solidFill>
                  <a:srgbClr val="D1350F"/>
                </a:solidFill>
              </a:rPr>
              <a:t>−</a:t>
            </a:r>
            <a:r>
              <a:rPr lang="en-US" sz="2400"/>
              <a:t>DROP INDEX</a:t>
            </a:r>
            <a:endParaRPr sz="2400"/>
          </a:p>
          <a:p>
            <a:pPr indent="0" lvl="0" marL="355600" rtl="0" algn="l">
              <a:lnSpc>
                <a:spcPct val="100000"/>
              </a:lnSpc>
              <a:spcBef>
                <a:spcPts val="310"/>
              </a:spcBef>
              <a:spcAft>
                <a:spcPts val="0"/>
              </a:spcAft>
              <a:buNone/>
            </a:pPr>
            <a:r>
              <a:rPr lang="en-US" sz="2400">
                <a:solidFill>
                  <a:srgbClr val="D1350F"/>
                </a:solidFill>
              </a:rPr>
              <a:t>−</a:t>
            </a:r>
            <a:r>
              <a:rPr lang="en-US" sz="2400"/>
              <a:t>Índice basado en funciones</a:t>
            </a:r>
            <a:endParaRPr sz="2400"/>
          </a:p>
          <a:p>
            <a:pPr indent="0" lvl="0" marL="355600" rtl="0" algn="l">
              <a:lnSpc>
                <a:spcPct val="100000"/>
              </a:lnSpc>
              <a:spcBef>
                <a:spcPts val="315"/>
              </a:spcBef>
              <a:spcAft>
                <a:spcPts val="0"/>
              </a:spcAft>
              <a:buNone/>
            </a:pPr>
            <a:r>
              <a:rPr lang="en-US" sz="2400">
                <a:solidFill>
                  <a:srgbClr val="D1350F"/>
                </a:solidFill>
              </a:rPr>
              <a:t>−</a:t>
            </a:r>
            <a:r>
              <a:rPr lang="en-US" sz="2400"/>
              <a:t>Índice no único</a:t>
            </a:r>
            <a:endParaRPr sz="2400"/>
          </a:p>
          <a:p>
            <a:pPr indent="0" lvl="0" marL="355600" rtl="0" algn="l">
              <a:lnSpc>
                <a:spcPct val="100000"/>
              </a:lnSpc>
              <a:spcBef>
                <a:spcPts val="310"/>
              </a:spcBef>
              <a:spcAft>
                <a:spcPts val="0"/>
              </a:spcAft>
              <a:buNone/>
            </a:pPr>
            <a:r>
              <a:rPr lang="en-US" sz="2400">
                <a:solidFill>
                  <a:srgbClr val="D1350F"/>
                </a:solidFill>
              </a:rPr>
              <a:t>−</a:t>
            </a:r>
            <a:r>
              <a:rPr lang="en-US" sz="2400"/>
              <a:t>Sinónimo</a:t>
            </a:r>
            <a:endParaRPr sz="2400"/>
          </a:p>
          <a:p>
            <a:pPr indent="0" lvl="0" marL="355600" rtl="0" algn="l">
              <a:lnSpc>
                <a:spcPct val="100000"/>
              </a:lnSpc>
              <a:spcBef>
                <a:spcPts val="315"/>
              </a:spcBef>
              <a:spcAft>
                <a:spcPts val="1200"/>
              </a:spcAft>
              <a:buNone/>
            </a:pPr>
            <a:r>
              <a:rPr lang="en-US" sz="2400">
                <a:solidFill>
                  <a:srgbClr val="D1350F"/>
                </a:solidFill>
              </a:rPr>
              <a:t>−</a:t>
            </a:r>
            <a:r>
              <a:rPr lang="en-US" sz="2400"/>
              <a:t>Índice único</a:t>
            </a:r>
            <a:endParaRPr sz="24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9"/>
          <p:cNvSpPr txBox="1"/>
          <p:nvPr>
            <p:ph type="title"/>
          </p:nvPr>
        </p:nvSpPr>
        <p:spPr>
          <a:xfrm>
            <a:off x="392112" y="748031"/>
            <a:ext cx="5048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409" name="Google Shape;409;p49"/>
          <p:cNvSpPr txBox="1"/>
          <p:nvPr>
            <p:ph idx="1" type="body"/>
          </p:nvPr>
        </p:nvSpPr>
        <p:spPr>
          <a:xfrm>
            <a:off x="483552" y="1393401"/>
            <a:ext cx="8112900" cy="2853300"/>
          </a:xfrm>
          <a:prstGeom prst="rect">
            <a:avLst/>
          </a:prstGeom>
          <a:noFill/>
          <a:ln>
            <a:noFill/>
          </a:ln>
        </p:spPr>
        <p:txBody>
          <a:bodyPr anchorCtr="0" anchor="t" bIns="0" lIns="0" spcFirstLastPara="1" rIns="0" wrap="square" tIns="34275">
            <a:spAutoFit/>
          </a:bodyPr>
          <a:lstStyle/>
          <a:p>
            <a:pPr indent="0" lvl="0" marL="12700" rtl="0" algn="l">
              <a:lnSpc>
                <a:spcPct val="100000"/>
              </a:lnSpc>
              <a:spcBef>
                <a:spcPts val="0"/>
              </a:spcBef>
              <a:spcAft>
                <a:spcPts val="0"/>
              </a:spcAft>
              <a:buNone/>
            </a:pPr>
            <a:r>
              <a:rPr lang="en-US"/>
              <a:t>En esta lección, debe haber aprendido lo siguiente:</a:t>
            </a:r>
            <a:endParaRPr/>
          </a:p>
          <a:p>
            <a:pPr indent="0" lvl="0" marL="355600" rtl="0" algn="l">
              <a:lnSpc>
                <a:spcPct val="100000"/>
              </a:lnSpc>
              <a:spcBef>
                <a:spcPts val="145"/>
              </a:spcBef>
              <a:spcAft>
                <a:spcPts val="0"/>
              </a:spcAft>
              <a:buNone/>
            </a:pPr>
            <a:r>
              <a:rPr lang="en-US" sz="2400">
                <a:solidFill>
                  <a:srgbClr val="D1350F"/>
                </a:solidFill>
              </a:rPr>
              <a:t>−</a:t>
            </a:r>
            <a:r>
              <a:rPr lang="en-US" sz="2400"/>
              <a:t>Definir un índice y su uso como un objeto de esquema</a:t>
            </a:r>
            <a:endParaRPr sz="2400"/>
          </a:p>
          <a:p>
            <a:pPr indent="-175260" lvl="0" marL="530860" marR="194945" rtl="0" algn="l">
              <a:lnSpc>
                <a:spcPct val="107916"/>
              </a:lnSpc>
              <a:spcBef>
                <a:spcPts val="434"/>
              </a:spcBef>
              <a:spcAft>
                <a:spcPts val="0"/>
              </a:spcAft>
              <a:buNone/>
            </a:pPr>
            <a:r>
              <a:rPr lang="en-US" sz="2400">
                <a:solidFill>
                  <a:srgbClr val="D1350F"/>
                </a:solidFill>
              </a:rPr>
              <a:t>−</a:t>
            </a:r>
            <a:r>
              <a:rPr lang="en-US" sz="2400"/>
              <a:t>Nombrar las condiciones que causan que se cree un índice automáticamente</a:t>
            </a:r>
            <a:endParaRPr sz="2400"/>
          </a:p>
          <a:p>
            <a:pPr indent="0" lvl="0" marL="355600" rtl="0" algn="l">
              <a:lnSpc>
                <a:spcPct val="100000"/>
              </a:lnSpc>
              <a:spcBef>
                <a:spcPts val="75"/>
              </a:spcBef>
              <a:spcAft>
                <a:spcPts val="0"/>
              </a:spcAft>
              <a:buNone/>
            </a:pPr>
            <a:r>
              <a:rPr lang="en-US" sz="2400">
                <a:solidFill>
                  <a:srgbClr val="D1350F"/>
                </a:solidFill>
              </a:rPr>
              <a:t>−</a:t>
            </a:r>
            <a:r>
              <a:rPr lang="en-US" sz="2400"/>
              <a:t>Crear y ejecutar una sentencia CREATE INDEX y DROP INDEX</a:t>
            </a:r>
            <a:endParaRPr sz="2400"/>
          </a:p>
          <a:p>
            <a:pPr indent="0" lvl="0" marL="355600" rtl="0" algn="l">
              <a:lnSpc>
                <a:spcPct val="100000"/>
              </a:lnSpc>
              <a:spcBef>
                <a:spcPts val="120"/>
              </a:spcBef>
              <a:spcAft>
                <a:spcPts val="0"/>
              </a:spcAft>
              <a:buNone/>
            </a:pPr>
            <a:r>
              <a:rPr lang="en-US" sz="2400">
                <a:solidFill>
                  <a:srgbClr val="D1350F"/>
                </a:solidFill>
              </a:rPr>
              <a:t>−</a:t>
            </a:r>
            <a:r>
              <a:rPr lang="en-US" sz="2400"/>
              <a:t>Creación de Índices Basados en Funciones</a:t>
            </a:r>
            <a:endParaRPr sz="2400"/>
          </a:p>
          <a:p>
            <a:pPr indent="0" lvl="0" marL="355600" rtl="0" algn="l">
              <a:lnSpc>
                <a:spcPct val="100000"/>
              </a:lnSpc>
              <a:spcBef>
                <a:spcPts val="105"/>
              </a:spcBef>
              <a:spcAft>
                <a:spcPts val="1200"/>
              </a:spcAft>
              <a:buNone/>
            </a:pPr>
            <a:r>
              <a:rPr lang="en-US" sz="2400">
                <a:solidFill>
                  <a:srgbClr val="D1350F"/>
                </a:solidFill>
              </a:rPr>
              <a:t>−</a:t>
            </a:r>
            <a:r>
              <a:rPr lang="en-US" sz="2400"/>
              <a:t>Creación de Sinónimos Privados y Públicos</a:t>
            </a:r>
            <a:endParaRPr sz="2400"/>
          </a:p>
        </p:txBody>
      </p:sp>
      <p:grpSp>
        <p:nvGrpSpPr>
          <p:cNvPr id="410" name="Google Shape;410;p49"/>
          <p:cNvGrpSpPr/>
          <p:nvPr/>
        </p:nvGrpSpPr>
        <p:grpSpPr>
          <a:xfrm>
            <a:off x="4541520" y="4108703"/>
            <a:ext cx="4139183" cy="2261603"/>
            <a:chOff x="4541520" y="4108703"/>
            <a:chExt cx="4139183" cy="2261603"/>
          </a:xfrm>
        </p:grpSpPr>
        <p:pic>
          <p:nvPicPr>
            <p:cNvPr id="411" name="Google Shape;411;p49"/>
            <p:cNvPicPr preferRelativeResize="0"/>
            <p:nvPr/>
          </p:nvPicPr>
          <p:blipFill rotWithShape="1">
            <a:blip r:embed="rId3">
              <a:alphaModFix/>
            </a:blip>
            <a:srcRect b="0" l="0" r="0" t="0"/>
            <a:stretch/>
          </p:blipFill>
          <p:spPr>
            <a:xfrm>
              <a:off x="4541520" y="4108703"/>
              <a:ext cx="4139183" cy="2261603"/>
            </a:xfrm>
            <a:prstGeom prst="rect">
              <a:avLst/>
            </a:prstGeom>
            <a:noFill/>
            <a:ln>
              <a:noFill/>
            </a:ln>
          </p:spPr>
        </p:pic>
        <p:pic>
          <p:nvPicPr>
            <p:cNvPr id="412" name="Google Shape;412;p49"/>
            <p:cNvPicPr preferRelativeResize="0"/>
            <p:nvPr/>
          </p:nvPicPr>
          <p:blipFill rotWithShape="1">
            <a:blip r:embed="rId4">
              <a:alphaModFix/>
            </a:blip>
            <a:srcRect b="0" l="0" r="0" t="0"/>
            <a:stretch/>
          </p:blipFill>
          <p:spPr>
            <a:xfrm>
              <a:off x="4733544" y="4300740"/>
              <a:ext cx="3755135" cy="1877554"/>
            </a:xfrm>
            <a:prstGeom prst="rect">
              <a:avLst/>
            </a:prstGeom>
            <a:noFill/>
            <a:ln>
              <a:noFill/>
            </a:ln>
          </p:spPr>
        </p:pic>
      </p:grpSp>
      <p:sp>
        <p:nvSpPr>
          <p:cNvPr id="413" name="Google Shape;413;p49"/>
          <p:cNvSpPr txBox="1"/>
          <p:nvPr>
            <p:ph idx="10" type="dt"/>
          </p:nvPr>
        </p:nvSpPr>
        <p:spPr>
          <a:xfrm>
            <a:off x="2874191" y="6516395"/>
            <a:ext cx="886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16-2</a:t>
            </a:r>
            <a:endParaRPr/>
          </a:p>
          <a:p>
            <a:pPr indent="0" lvl="0" marL="12700" rtl="0" algn="l">
              <a:lnSpc>
                <a:spcPct val="120624"/>
              </a:lnSpc>
              <a:spcBef>
                <a:spcPts val="0"/>
              </a:spcBef>
              <a:spcAft>
                <a:spcPts val="0"/>
              </a:spcAft>
              <a:buNone/>
            </a:pPr>
            <a:r>
              <a:rPr lang="en-US"/>
              <a:t>Índices y Sinónimos</a:t>
            </a:r>
            <a:endParaRPr/>
          </a:p>
        </p:txBody>
      </p:sp>
      <p:sp>
        <p:nvSpPr>
          <p:cNvPr id="414" name="Google Shape;414;p4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15" name="Google Shape;415;p4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