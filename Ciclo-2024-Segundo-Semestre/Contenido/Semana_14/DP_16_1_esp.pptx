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8AF7D7D-C925-4D9A-8C3B-01900BC00306}">
  <a:tblStyle styleId="{C8AF7D7D-C925-4D9A-8C3B-01900BC00306}"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14:11:41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Aunque una secuencia se puede utilizar para varias tablas, no se recomienda, ya que cada número de la secuencia se utiliza solo una vez, a cada tabla le faltarán valores (los utilizados por las demás tablas).</a:t>
            </a:r>
            <a:endParaRPr/>
          </a:p>
        </p:txBody>
      </p:sp>
      <p:sp>
        <p:nvSpPr>
          <p:cNvPr id="119" name="Google Shape;119;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14:11:42</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El nombre de la secuencia debe estar incluido en la sentencia CREATE SEQUENCE, todas las demás cláusulas son opcionales, pero se recomienda incluir todas las cláusulas.</a:t>
            </a:r>
            <a:endParaRPr/>
          </a:p>
        </p:txBody>
      </p:sp>
      <p:sp>
        <p:nvSpPr>
          <p:cNvPr id="129" name="Google Shape;129;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14:11:42</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MINVAUE se utilizará para una secuencia descendente.</a:t>
            </a:r>
            <a:endParaRPr/>
          </a:p>
        </p:txBody>
      </p:sp>
      <p:sp>
        <p:nvSpPr>
          <p:cNvPr id="139" name="Google Shape;139;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9" name="Google Shape;149;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9" name="Google Shape;169;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14:11:44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El uso de la opción CACHE proporciona una ligera ventaja de rendimiento ya que los números se asignan previamente y almacenan en la memoria caché. Es más rápido de acceder que con NOCACHE, que llama al siguiente valor de la secuencia cuando se solicita.</a:t>
            </a:r>
            <a:endParaRPr/>
          </a:p>
        </p:txBody>
      </p:sp>
      <p:sp>
        <p:nvSpPr>
          <p:cNvPr id="189" name="Google Shape;189;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8" name="Google Shape;248;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8" name="Google Shape;268;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6" name="Google Shape;296;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6" name="Google Shape;316;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14:11:50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Una vez que recupere NEXTVAL de la secuencia, ya no tiene ninguna "sesión" y APEX ya no sabe lo que está incluido en CURRVAL. Si una sentencia intenta recuperar CURRVAL, se generará un error de informe: ORA-08002: sequence SEQ_D_SONGS_SQ.CURRVAL is not yet defined in this session. </a:t>
            </a:r>
            <a:endParaRPr/>
          </a:p>
        </p:txBody>
      </p:sp>
      <p:sp>
        <p:nvSpPr>
          <p:cNvPr id="338" name="Google Shape;338;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3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14:11:51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COMMIT y ROLLBACK se tratarán más detalladamente más adelante en el curso.</a:t>
            </a:r>
            <a:endParaRPr/>
          </a:p>
        </p:txBody>
      </p:sp>
      <p:sp>
        <p:nvSpPr>
          <p:cNvPr id="357" name="Google Shape;357;p3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3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3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7" name="Google Shape;387;p3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3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3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3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6" name="Google Shape;426;p3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4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392112" y="748031"/>
            <a:ext cx="64866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483552" y="1381889"/>
            <a:ext cx="8176200" cy="4562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3"/>
          <p:cNvSpPr txBox="1"/>
          <p:nvPr>
            <p:ph idx="10" type="dt"/>
          </p:nvPr>
        </p:nvSpPr>
        <p:spPr>
          <a:xfrm>
            <a:off x="2874191" y="6516395"/>
            <a:ext cx="10815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13"/>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lvl1pPr indent="0" lvl="0" marL="38100">
              <a:lnSpc>
                <a:spcPct val="104500"/>
              </a:lnSpc>
              <a:spcBef>
                <a:spcPts val="0"/>
              </a:spcBef>
              <a:buNone/>
              <a:defRPr b="1" i="0" sz="1000">
                <a:solidFill>
                  <a:srgbClr val="4E3629"/>
                </a:solidFill>
                <a:latin typeface="Calibri"/>
                <a:ea typeface="Calibri"/>
                <a:cs typeface="Calibri"/>
                <a:sym typeface="Calibri"/>
              </a:defRPr>
            </a:lvl1pPr>
            <a:lvl2pPr indent="0" lvl="1" marL="38100">
              <a:lnSpc>
                <a:spcPct val="104500"/>
              </a:lnSpc>
              <a:spcBef>
                <a:spcPts val="0"/>
              </a:spcBef>
              <a:buNone/>
              <a:defRPr b="1" i="0" sz="1000">
                <a:solidFill>
                  <a:srgbClr val="4E3629"/>
                </a:solidFill>
                <a:latin typeface="Calibri"/>
                <a:ea typeface="Calibri"/>
                <a:cs typeface="Calibri"/>
                <a:sym typeface="Calibri"/>
              </a:defRPr>
            </a:lvl2pPr>
            <a:lvl3pPr indent="0" lvl="2" marL="38100">
              <a:lnSpc>
                <a:spcPct val="104500"/>
              </a:lnSpc>
              <a:spcBef>
                <a:spcPts val="0"/>
              </a:spcBef>
              <a:buNone/>
              <a:defRPr b="1" i="0" sz="1000">
                <a:solidFill>
                  <a:srgbClr val="4E3629"/>
                </a:solidFill>
                <a:latin typeface="Calibri"/>
                <a:ea typeface="Calibri"/>
                <a:cs typeface="Calibri"/>
                <a:sym typeface="Calibri"/>
              </a:defRPr>
            </a:lvl3pPr>
            <a:lvl4pPr indent="0" lvl="3" marL="38100">
              <a:lnSpc>
                <a:spcPct val="104500"/>
              </a:lnSpc>
              <a:spcBef>
                <a:spcPts val="0"/>
              </a:spcBef>
              <a:buNone/>
              <a:defRPr b="1" i="0" sz="1000">
                <a:solidFill>
                  <a:srgbClr val="4E3629"/>
                </a:solidFill>
                <a:latin typeface="Calibri"/>
                <a:ea typeface="Calibri"/>
                <a:cs typeface="Calibri"/>
                <a:sym typeface="Calibri"/>
              </a:defRPr>
            </a:lvl4pPr>
            <a:lvl5pPr indent="0" lvl="4" marL="38100">
              <a:lnSpc>
                <a:spcPct val="104500"/>
              </a:lnSpc>
              <a:spcBef>
                <a:spcPts val="0"/>
              </a:spcBef>
              <a:buNone/>
              <a:defRPr b="1" i="0" sz="1000">
                <a:solidFill>
                  <a:srgbClr val="4E3629"/>
                </a:solidFill>
                <a:latin typeface="Calibri"/>
                <a:ea typeface="Calibri"/>
                <a:cs typeface="Calibri"/>
                <a:sym typeface="Calibri"/>
              </a:defRPr>
            </a:lvl5pPr>
            <a:lvl6pPr indent="0" lvl="5" marL="38100">
              <a:lnSpc>
                <a:spcPct val="104500"/>
              </a:lnSpc>
              <a:spcBef>
                <a:spcPts val="0"/>
              </a:spcBef>
              <a:buNone/>
              <a:defRPr b="1" i="0" sz="1000">
                <a:solidFill>
                  <a:srgbClr val="4E3629"/>
                </a:solidFill>
                <a:latin typeface="Calibri"/>
                <a:ea typeface="Calibri"/>
                <a:cs typeface="Calibri"/>
                <a:sym typeface="Calibri"/>
              </a:defRPr>
            </a:lvl6pPr>
            <a:lvl7pPr indent="0" lvl="6" marL="38100">
              <a:lnSpc>
                <a:spcPct val="104500"/>
              </a:lnSpc>
              <a:spcBef>
                <a:spcPts val="0"/>
              </a:spcBef>
              <a:buNone/>
              <a:defRPr b="1" i="0" sz="1000">
                <a:solidFill>
                  <a:srgbClr val="4E3629"/>
                </a:solidFill>
                <a:latin typeface="Calibri"/>
                <a:ea typeface="Calibri"/>
                <a:cs typeface="Calibri"/>
                <a:sym typeface="Calibri"/>
              </a:defRPr>
            </a:lvl7pPr>
            <a:lvl8pPr indent="0" lvl="7" marL="38100">
              <a:lnSpc>
                <a:spcPct val="104500"/>
              </a:lnSpc>
              <a:spcBef>
                <a:spcPts val="0"/>
              </a:spcBef>
              <a:buNone/>
              <a:defRPr b="1" i="0" sz="1000">
                <a:solidFill>
                  <a:srgbClr val="4E3629"/>
                </a:solidFill>
                <a:latin typeface="Calibri"/>
                <a:ea typeface="Calibri"/>
                <a:cs typeface="Calibri"/>
                <a:sym typeface="Calibri"/>
              </a:defRPr>
            </a:lvl8pPr>
            <a:lvl9pPr indent="0" lvl="8" marL="38100">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7.png"/><Relationship Id="rId4"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0479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Database Programming with SQL</a:t>
            </a:r>
            <a:endParaRPr sz="4800"/>
          </a:p>
        </p:txBody>
      </p:sp>
      <p:sp>
        <p:nvSpPr>
          <p:cNvPr id="66" name="Google Shape;66;p14"/>
          <p:cNvSpPr txBox="1"/>
          <p:nvPr/>
        </p:nvSpPr>
        <p:spPr>
          <a:xfrm>
            <a:off x="962879" y="2400950"/>
            <a:ext cx="303657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16-1</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Trabajar con Secuencias</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339853" y="3485388"/>
            <a:ext cx="5079491" cy="2965703"/>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73" name="Google Shape;73;p15"/>
          <p:cNvSpPr txBox="1"/>
          <p:nvPr>
            <p:ph idx="1" type="body"/>
          </p:nvPr>
        </p:nvSpPr>
        <p:spPr>
          <a:xfrm>
            <a:off x="483552" y="1381889"/>
            <a:ext cx="8176200" cy="5487600"/>
          </a:xfrm>
          <a:prstGeom prst="rect">
            <a:avLst/>
          </a:prstGeom>
          <a:noFill/>
          <a:ln>
            <a:noFill/>
          </a:ln>
        </p:spPr>
        <p:txBody>
          <a:bodyPr anchorCtr="0" anchor="t" bIns="0" lIns="0" spcFirstLastPara="1" rIns="0" wrap="square" tIns="12050">
            <a:spAutoFit/>
          </a:bodyPr>
          <a:lstStyle/>
          <a:p>
            <a:pPr indent="-177800" lvl="0" marL="183515" rtl="0" algn="l">
              <a:lnSpc>
                <a:spcPct val="117107"/>
              </a:lnSpc>
              <a:spcBef>
                <a:spcPts val="0"/>
              </a:spcBef>
              <a:spcAft>
                <a:spcPts val="0"/>
              </a:spcAft>
              <a:buClr>
                <a:srgbClr val="D1350F"/>
              </a:buClr>
              <a:buSzPts val="2800"/>
              <a:buFont typeface="Arial"/>
              <a:buChar char="•"/>
            </a:pPr>
            <a:r>
              <a:rPr lang="en-US"/>
              <a:t>En esta lección se abordan los siguientes objetivos:</a:t>
            </a:r>
            <a:endParaRPr/>
          </a:p>
          <a:p>
            <a:pPr indent="-175260" lvl="0" marL="530860" marR="1209675" rtl="0" algn="l">
              <a:lnSpc>
                <a:spcPct val="95833"/>
              </a:lnSpc>
              <a:spcBef>
                <a:spcPts val="475"/>
              </a:spcBef>
              <a:spcAft>
                <a:spcPts val="0"/>
              </a:spcAft>
              <a:buNone/>
            </a:pPr>
            <a:r>
              <a:rPr lang="en-US" sz="2400">
                <a:solidFill>
                  <a:srgbClr val="D1350F"/>
                </a:solidFill>
              </a:rPr>
              <a:t>−</a:t>
            </a:r>
            <a:r>
              <a:rPr lang="en-US" sz="2400"/>
              <a:t>Enumerar al menos tres características útiles de una secuencia</a:t>
            </a:r>
            <a:endParaRPr sz="2400"/>
          </a:p>
          <a:p>
            <a:pPr indent="0" lvl="0" marL="355600" rtl="0" algn="l">
              <a:lnSpc>
                <a:spcPct val="110208"/>
              </a:lnSpc>
              <a:spcBef>
                <a:spcPts val="1200"/>
              </a:spcBef>
              <a:spcAft>
                <a:spcPts val="0"/>
              </a:spcAft>
              <a:buNone/>
            </a:pPr>
            <a:r>
              <a:rPr lang="en-US" sz="2400">
                <a:solidFill>
                  <a:srgbClr val="D1350F"/>
                </a:solidFill>
              </a:rPr>
              <a:t>−</a:t>
            </a:r>
            <a:r>
              <a:rPr lang="en-US" sz="2400"/>
              <a:t>Escribir y ejecutar una sentencia SQL que crea una secuencia</a:t>
            </a:r>
            <a:endParaRPr sz="2400"/>
          </a:p>
          <a:p>
            <a:pPr indent="-175260" lvl="0" marL="530860" marR="5080" rtl="0" algn="l">
              <a:lnSpc>
                <a:spcPct val="95833"/>
              </a:lnSpc>
              <a:spcBef>
                <a:spcPts val="470"/>
              </a:spcBef>
              <a:spcAft>
                <a:spcPts val="0"/>
              </a:spcAft>
              <a:buNone/>
            </a:pPr>
            <a:r>
              <a:rPr lang="en-US" sz="2400">
                <a:solidFill>
                  <a:srgbClr val="D1350F"/>
                </a:solidFill>
              </a:rPr>
              <a:t>−</a:t>
            </a:r>
            <a:r>
              <a:rPr lang="en-US" sz="2400"/>
              <a:t>Consultar el diccionario de datos mediante USER_SEQUENCES para confirmar una definición de secuencia</a:t>
            </a:r>
            <a:endParaRPr sz="2400"/>
          </a:p>
          <a:p>
            <a:pPr indent="-175260" lvl="0" marL="530860" marR="848360" rtl="0" algn="l">
              <a:lnSpc>
                <a:spcPct val="80000"/>
              </a:lnSpc>
              <a:spcBef>
                <a:spcPts val="425"/>
              </a:spcBef>
              <a:spcAft>
                <a:spcPts val="0"/>
              </a:spcAft>
              <a:buNone/>
            </a:pPr>
            <a:r>
              <a:rPr lang="en-US" sz="2400">
                <a:solidFill>
                  <a:srgbClr val="D1350F"/>
                </a:solidFill>
              </a:rPr>
              <a:t>−</a:t>
            </a:r>
            <a:r>
              <a:rPr lang="en-US" sz="2400"/>
              <a:t>Aplicar las reglas para utilizar NEXTVAL a fin de generar números únicos secuenciales en una tabla</a:t>
            </a:r>
            <a:endParaRPr sz="2400"/>
          </a:p>
          <a:p>
            <a:pPr indent="-175260" lvl="0" marL="530860" marR="2651125" rtl="0" algn="just">
              <a:lnSpc>
                <a:spcPct val="95833"/>
              </a:lnSpc>
              <a:spcBef>
                <a:spcPts val="390"/>
              </a:spcBef>
              <a:spcAft>
                <a:spcPts val="0"/>
              </a:spcAft>
              <a:buNone/>
            </a:pPr>
            <a:r>
              <a:rPr lang="en-US" sz="2400">
                <a:solidFill>
                  <a:srgbClr val="D1350F"/>
                </a:solidFill>
              </a:rPr>
              <a:t>−</a:t>
            </a:r>
            <a:r>
              <a:rPr lang="en-US" sz="2400"/>
              <a:t>Enumerar las ventajas y desventajas del almacenamiento en caché de los valores de secuencia</a:t>
            </a:r>
            <a:endParaRPr sz="2400"/>
          </a:p>
          <a:p>
            <a:pPr indent="-175260" lvl="0" marL="530860" marR="3129280" rtl="0" algn="l">
              <a:lnSpc>
                <a:spcPct val="95833"/>
              </a:lnSpc>
              <a:spcBef>
                <a:spcPts val="409"/>
              </a:spcBef>
              <a:spcAft>
                <a:spcPts val="1200"/>
              </a:spcAft>
              <a:buNone/>
            </a:pPr>
            <a:r>
              <a:rPr lang="en-US" sz="2400">
                <a:solidFill>
                  <a:srgbClr val="D1350F"/>
                </a:solidFill>
              </a:rPr>
              <a:t>−</a:t>
            </a:r>
            <a:r>
              <a:rPr lang="en-US" sz="2400"/>
              <a:t>Nombrar tres motivos por los que se pueden producir intervalos en una secuencia</a:t>
            </a:r>
            <a:endParaRPr sz="2400"/>
          </a:p>
        </p:txBody>
      </p:sp>
      <p:grpSp>
        <p:nvGrpSpPr>
          <p:cNvPr id="74" name="Google Shape;74;p15"/>
          <p:cNvGrpSpPr/>
          <p:nvPr/>
        </p:nvGrpSpPr>
        <p:grpSpPr>
          <a:xfrm>
            <a:off x="5937504" y="4130040"/>
            <a:ext cx="2816351" cy="2240267"/>
            <a:chOff x="5937504" y="4130040"/>
            <a:chExt cx="2816351" cy="2240267"/>
          </a:xfrm>
        </p:grpSpPr>
        <p:pic>
          <p:nvPicPr>
            <p:cNvPr id="75" name="Google Shape;75;p15"/>
            <p:cNvPicPr preferRelativeResize="0"/>
            <p:nvPr/>
          </p:nvPicPr>
          <p:blipFill rotWithShape="1">
            <a:blip r:embed="rId3">
              <a:alphaModFix/>
            </a:blip>
            <a:srcRect b="0" l="0" r="0" t="0"/>
            <a:stretch/>
          </p:blipFill>
          <p:spPr>
            <a:xfrm>
              <a:off x="5937504" y="4130040"/>
              <a:ext cx="2816351" cy="2240267"/>
            </a:xfrm>
            <a:prstGeom prst="rect">
              <a:avLst/>
            </a:prstGeom>
            <a:noFill/>
            <a:ln>
              <a:noFill/>
            </a:ln>
          </p:spPr>
        </p:pic>
        <p:pic>
          <p:nvPicPr>
            <p:cNvPr id="76" name="Google Shape;76;p15"/>
            <p:cNvPicPr preferRelativeResize="0"/>
            <p:nvPr/>
          </p:nvPicPr>
          <p:blipFill rotWithShape="1">
            <a:blip r:embed="rId4">
              <a:alphaModFix/>
            </a:blip>
            <a:srcRect b="0" l="0" r="0" t="0"/>
            <a:stretch/>
          </p:blipFill>
          <p:spPr>
            <a:xfrm>
              <a:off x="6129528" y="4322064"/>
              <a:ext cx="2432303" cy="1856231"/>
            </a:xfrm>
            <a:prstGeom prst="rect">
              <a:avLst/>
            </a:prstGeom>
            <a:noFill/>
            <a:ln>
              <a:noFill/>
            </a:ln>
          </p:spPr>
        </p:pic>
      </p:grpSp>
      <p:sp>
        <p:nvSpPr>
          <p:cNvPr id="77" name="Google Shape;77;p15"/>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78" name="Google Shape;78;p15"/>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9" name="Google Shape;79;p1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85" name="Google Shape;85;p16"/>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86" name="Google Shape;86;p16"/>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7" name="Google Shape;87;p1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8" name="Google Shape;88;p16"/>
          <p:cNvSpPr txBox="1"/>
          <p:nvPr/>
        </p:nvSpPr>
        <p:spPr>
          <a:xfrm>
            <a:off x="483552" y="1415417"/>
            <a:ext cx="8007350" cy="3728720"/>
          </a:xfrm>
          <a:prstGeom prst="rect">
            <a:avLst/>
          </a:prstGeom>
          <a:noFill/>
          <a:ln>
            <a:noFill/>
          </a:ln>
        </p:spPr>
        <p:txBody>
          <a:bodyPr anchorCtr="0" anchor="t" bIns="0" lIns="0" spcFirstLastPara="1" rIns="0" wrap="square" tIns="59675">
            <a:spAutoFit/>
          </a:bodyPr>
          <a:lstStyle/>
          <a:p>
            <a:pPr indent="-177800" lvl="0" marL="182880" marR="7112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imaginar lo tedioso que puede ser tener que 	introducir los nombres de las 30.000 personas que 	participan en el Maratón de Londres en una base de 	datos, asegurándose al mismo tiempo de que no se le 	ha dado el mismo número de identificación a nadie?</a:t>
            </a:r>
            <a:endParaRPr sz="2800">
              <a:latin typeface="Calibri"/>
              <a:ea typeface="Calibri"/>
              <a:cs typeface="Calibri"/>
              <a:sym typeface="Calibri"/>
            </a:endParaRPr>
          </a:p>
          <a:p>
            <a:pPr indent="-177800" lvl="0" marL="182880" marR="508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sucedería si se fuera a almorzar y al volver, otra 	persona hubiera introducido algunas de las solicitudes 	de los corredores?</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¿Cómo sabría dónde volver a empezar?</a:t>
            </a:r>
            <a:endParaRPr sz="28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a:t>
            </a:r>
            <a:endParaRPr/>
          </a:p>
        </p:txBody>
      </p:sp>
      <p:sp>
        <p:nvSpPr>
          <p:cNvPr id="94" name="Google Shape;94;p17"/>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95" name="Google Shape;95;p17"/>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6" name="Google Shape;96;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7" name="Google Shape;97;p17"/>
          <p:cNvSpPr txBox="1"/>
          <p:nvPr/>
        </p:nvSpPr>
        <p:spPr>
          <a:xfrm>
            <a:off x="483552" y="1415417"/>
            <a:ext cx="7917180" cy="20904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Afortunadamente, SQL tiene un proceso para generar 	automáticamente números únicos que elimina la 	preocupación por los detalles de números duplicados</a:t>
            </a:r>
            <a:endParaRPr sz="2800">
              <a:latin typeface="Calibri"/>
              <a:ea typeface="Calibri"/>
              <a:cs typeface="Calibri"/>
              <a:sym typeface="Calibri"/>
            </a:endParaRPr>
          </a:p>
          <a:p>
            <a:pPr indent="-177800" lvl="0" marL="182880" marR="33655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proceso de numeración se maneja a través de un 	objeto de base de datos denominado SEQUENCE</a:t>
            </a:r>
            <a:endParaRPr sz="2800">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8"/>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Objeto Sequence</a:t>
            </a:r>
            <a:endParaRPr/>
          </a:p>
        </p:txBody>
      </p:sp>
      <p:sp>
        <p:nvSpPr>
          <p:cNvPr id="103" name="Google Shape;103;p18"/>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104" name="Google Shape;104;p18"/>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05" name="Google Shape;105;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6" name="Google Shape;106;p18"/>
          <p:cNvSpPr txBox="1"/>
          <p:nvPr/>
        </p:nvSpPr>
        <p:spPr>
          <a:xfrm>
            <a:off x="483552" y="1415417"/>
            <a:ext cx="8029575" cy="4315460"/>
          </a:xfrm>
          <a:prstGeom prst="rect">
            <a:avLst/>
          </a:prstGeom>
          <a:noFill/>
          <a:ln>
            <a:noFill/>
          </a:ln>
        </p:spPr>
        <p:txBody>
          <a:bodyPr anchorCtr="0" anchor="t" bIns="0" lIns="0" spcFirstLastPara="1" rIns="0" wrap="square" tIns="59675">
            <a:spAutoFit/>
          </a:bodyPr>
          <a:lstStyle/>
          <a:p>
            <a:pPr indent="-177800" lvl="0" marL="182880" marR="41846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Ya sabe cómo crear dos tipos de objetos de base de 	datos, TABLE y VIEW</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tercer objeto de base de datos es SEQUENCE</a:t>
            </a:r>
            <a:endParaRPr sz="2800">
              <a:latin typeface="Calibri"/>
              <a:ea typeface="Calibri"/>
              <a:cs typeface="Calibri"/>
              <a:sym typeface="Calibri"/>
            </a:endParaRPr>
          </a:p>
          <a:p>
            <a:pPr indent="-177800" lvl="0" marL="182880" marR="687705"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SEQUENCE es un objeto que se puede compartir 	utilizado para generar automáticamente números 	únicos</a:t>
            </a:r>
            <a:endParaRPr sz="2800">
              <a:latin typeface="Calibri"/>
              <a:ea typeface="Calibri"/>
              <a:cs typeface="Calibri"/>
              <a:sym typeface="Calibri"/>
            </a:endParaRPr>
          </a:p>
          <a:p>
            <a:pPr indent="-177800" lvl="0" marL="182880" marR="5080" rtl="0" algn="l">
              <a:lnSpc>
                <a:spcPct val="108214"/>
              </a:lnSpc>
              <a:spcBef>
                <a:spcPts val="77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Puesto que es un objeto que se puede, varios usuarios 	pueden acceder a él</a:t>
            </a:r>
            <a:endParaRPr sz="2800">
              <a:latin typeface="Calibri"/>
              <a:ea typeface="Calibri"/>
              <a:cs typeface="Calibri"/>
              <a:sym typeface="Calibri"/>
            </a:endParaRPr>
          </a:p>
          <a:p>
            <a:pPr indent="-177800" lvl="0" marL="182880" marR="57912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Normalmente, se utilizan secuencias para crear un 	valor de clave primaria</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Objeto Sequence</a:t>
            </a:r>
            <a:endParaRPr/>
          </a:p>
        </p:txBody>
      </p:sp>
      <p:sp>
        <p:nvSpPr>
          <p:cNvPr id="112" name="Google Shape;112;p19"/>
          <p:cNvSpPr txBox="1"/>
          <p:nvPr/>
        </p:nvSpPr>
        <p:spPr>
          <a:xfrm>
            <a:off x="483552" y="1415417"/>
            <a:ext cx="7828915" cy="2090420"/>
          </a:xfrm>
          <a:prstGeom prst="rect">
            <a:avLst/>
          </a:prstGeom>
          <a:noFill/>
          <a:ln>
            <a:noFill/>
          </a:ln>
        </p:spPr>
        <p:txBody>
          <a:bodyPr anchorCtr="0" anchor="t" bIns="0" lIns="0" spcFirstLastPara="1" rIns="0" wrap="square" tIns="59675">
            <a:spAutoFit/>
          </a:bodyPr>
          <a:lstStyle/>
          <a:p>
            <a:pPr indent="-177800" lvl="0" marL="182880" marR="271145"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Como recordará, claves primarias deben ser únicas 	para cada fila. La secuencia se genera y aumenta (o 	disminuye) mediante una rutina interna de Oracle</a:t>
            </a:r>
            <a:endParaRPr sz="2800">
              <a:latin typeface="Calibri"/>
              <a:ea typeface="Calibri"/>
              <a:cs typeface="Calibri"/>
              <a:sym typeface="Calibri"/>
            </a:endParaRPr>
          </a:p>
          <a:p>
            <a:pPr indent="-177800" lvl="0" marL="182880" marR="5080" rtl="0" algn="just">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Este objeto ahorra tiempo porque reduce la cantidad 	de código que tiene que escribir</a:t>
            </a:r>
            <a:endParaRPr sz="2800">
              <a:latin typeface="Calibri"/>
              <a:ea typeface="Calibri"/>
              <a:cs typeface="Calibri"/>
              <a:sym typeface="Calibri"/>
            </a:endParaRPr>
          </a:p>
        </p:txBody>
      </p:sp>
      <p:pic>
        <p:nvPicPr>
          <p:cNvPr id="113" name="Google Shape;113;p19"/>
          <p:cNvPicPr preferRelativeResize="0"/>
          <p:nvPr/>
        </p:nvPicPr>
        <p:blipFill rotWithShape="1">
          <a:blip r:embed="rId3">
            <a:alphaModFix/>
          </a:blip>
          <a:srcRect b="0" l="0" r="0" t="0"/>
          <a:stretch/>
        </p:blipFill>
        <p:spPr>
          <a:xfrm>
            <a:off x="3345179" y="3880104"/>
            <a:ext cx="2453639" cy="2397251"/>
          </a:xfrm>
          <a:prstGeom prst="rect">
            <a:avLst/>
          </a:prstGeom>
          <a:noFill/>
          <a:ln>
            <a:noFill/>
          </a:ln>
        </p:spPr>
      </p:pic>
      <p:sp>
        <p:nvSpPr>
          <p:cNvPr id="114" name="Google Shape;114;p19"/>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115" name="Google Shape;115;p19"/>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6" name="Google Shape;116;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0"/>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Objeto Sequence</a:t>
            </a:r>
            <a:endParaRPr/>
          </a:p>
        </p:txBody>
      </p:sp>
      <p:sp>
        <p:nvSpPr>
          <p:cNvPr id="122" name="Google Shape;122;p20"/>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123" name="Google Shape;123;p20"/>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24" name="Google Shape;124;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5" name="Google Shape;125;p20"/>
          <p:cNvSpPr txBox="1"/>
          <p:nvPr/>
        </p:nvSpPr>
        <p:spPr>
          <a:xfrm>
            <a:off x="483552" y="1415417"/>
            <a:ext cx="8015605" cy="2192020"/>
          </a:xfrm>
          <a:prstGeom prst="rect">
            <a:avLst/>
          </a:prstGeom>
          <a:noFill/>
          <a:ln>
            <a:noFill/>
          </a:ln>
        </p:spPr>
        <p:txBody>
          <a:bodyPr anchorCtr="0" anchor="t" bIns="0" lIns="0" spcFirstLastPara="1" rIns="0" wrap="square" tIns="59675">
            <a:spAutoFit/>
          </a:bodyPr>
          <a:lstStyle/>
          <a:p>
            <a:pPr indent="-177800" lvl="0" marL="182880" marR="48704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números de secuencia se almacenan y generan 	independientemente de las tablas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lo tanto, la misma secuencia se puede utilizar para 	varias tablas</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crear SEQUENCE:</a:t>
            </a:r>
            <a:endParaRPr sz="2800">
              <a:latin typeface="Calibri"/>
              <a:ea typeface="Calibri"/>
              <a:cs typeface="Calibri"/>
              <a:sym typeface="Calibri"/>
            </a:endParaRPr>
          </a:p>
        </p:txBody>
      </p:sp>
      <p:sp>
        <p:nvSpPr>
          <p:cNvPr id="126" name="Google Shape;126;p20"/>
          <p:cNvSpPr txBox="1"/>
          <p:nvPr/>
        </p:nvSpPr>
        <p:spPr>
          <a:xfrm>
            <a:off x="405384" y="3758184"/>
            <a:ext cx="8345805" cy="195389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just">
              <a:lnSpc>
                <a:spcPct val="115000"/>
              </a:lnSpc>
              <a:spcBef>
                <a:spcPts val="0"/>
              </a:spcBef>
              <a:spcAft>
                <a:spcPts val="0"/>
              </a:spcAft>
              <a:buNone/>
            </a:pPr>
            <a:r>
              <a:rPr b="1" lang="en-US" sz="1800">
                <a:solidFill>
                  <a:srgbClr val="4E3629"/>
                </a:solidFill>
                <a:latin typeface="Courier New"/>
                <a:ea typeface="Courier New"/>
                <a:cs typeface="Courier New"/>
                <a:sym typeface="Courier New"/>
              </a:rPr>
              <a:t>CREATE SEQUENCE sequence</a:t>
            </a:r>
            <a:endParaRPr sz="1800">
              <a:latin typeface="Courier New"/>
              <a:ea typeface="Courier New"/>
              <a:cs typeface="Courier New"/>
              <a:sym typeface="Courier New"/>
            </a:endParaRPr>
          </a:p>
          <a:p>
            <a:pPr indent="0" lvl="0" marL="956310" marR="5201285"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[INCREMENT BY n] [START WITH n]</a:t>
            </a:r>
            <a:endParaRPr sz="1800">
              <a:latin typeface="Courier New"/>
              <a:ea typeface="Courier New"/>
              <a:cs typeface="Courier New"/>
              <a:sym typeface="Courier New"/>
            </a:endParaRPr>
          </a:p>
          <a:p>
            <a:pPr indent="0" lvl="0" marL="956310" marR="3700145"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[{MAXVALUE n | NOMAXVALUE}] [{MINVALUE n | NOMINVALUE}] [{CYCLE | NOCYCLE}]</a:t>
            </a:r>
            <a:endParaRPr sz="1800">
              <a:latin typeface="Courier New"/>
              <a:ea typeface="Courier New"/>
              <a:cs typeface="Courier New"/>
              <a:sym typeface="Courier New"/>
            </a:endParaRPr>
          </a:p>
          <a:p>
            <a:pPr indent="0" lvl="0" marL="956310"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[{CACHE n | NOCACHE}];</a:t>
            </a:r>
            <a:endParaRPr sz="18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1"/>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Sintaxis de Sequence</a:t>
            </a:r>
            <a:endParaRPr/>
          </a:p>
        </p:txBody>
      </p:sp>
      <p:sp>
        <p:nvSpPr>
          <p:cNvPr id="132" name="Google Shape;132;p21"/>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133" name="Google Shape;133;p21"/>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4" name="Google Shape;134;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135" name="Google Shape;135;p21"/>
          <p:cNvGraphicFramePr/>
          <p:nvPr/>
        </p:nvGraphicFramePr>
        <p:xfrm>
          <a:off x="650420" y="3510002"/>
          <a:ext cx="3000000" cy="3000000"/>
        </p:xfrm>
        <a:graphic>
          <a:graphicData uri="http://schemas.openxmlformats.org/drawingml/2006/table">
            <a:tbl>
              <a:tblPr bandRow="1" firstRow="1">
                <a:noFill/>
                <a:tableStyleId>{C8AF7D7D-C925-4D9A-8C3B-01900BC00306}</a:tableStyleId>
              </a:tblPr>
              <a:tblGrid>
                <a:gridCol w="2533650"/>
                <a:gridCol w="4911100"/>
              </a:tblGrid>
              <a:tr h="607050">
                <a:tc>
                  <a:txBody>
                    <a:bodyPr/>
                    <a:lstStyle/>
                    <a:p>
                      <a:pPr indent="0" lvl="0" marL="914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secuencia</a:t>
                      </a:r>
                      <a:endParaRPr sz="1600" u="none" cap="none" strike="noStrike">
                        <a:latin typeface="Calibri"/>
                        <a:ea typeface="Calibri"/>
                        <a:cs typeface="Calibri"/>
                        <a:sym typeface="Calibri"/>
                      </a:endParaRPr>
                    </a:p>
                  </a:txBody>
                  <a:tcPr marT="170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es el nombre del generador de secuencias (objeto).</a:t>
                      </a:r>
                      <a:endParaRPr sz="1600" u="none" cap="none" strike="noStrike">
                        <a:latin typeface="Calibri"/>
                        <a:ea typeface="Calibri"/>
                        <a:cs typeface="Calibri"/>
                        <a:sym typeface="Calibri"/>
                      </a:endParaRPr>
                    </a:p>
                  </a:txBody>
                  <a:tcPr marT="170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822325">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p>
                      <a:pPr indent="0" lvl="0" marL="9080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INCREMENT BY n</a:t>
                      </a:r>
                      <a:endParaRPr sz="1600" u="none" cap="none" strike="noStrike">
                        <a:latin typeface="Calibri"/>
                        <a:ea typeface="Calibri"/>
                        <a:cs typeface="Calibri"/>
                        <a:sym typeface="Calibri"/>
                      </a:endParaRPr>
                    </a:p>
                  </a:txBody>
                  <a:tcPr marT="4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213360" rtl="0" algn="l">
                        <a:lnSpc>
                          <a:spcPct val="100299"/>
                        </a:lnSpc>
                        <a:spcBef>
                          <a:spcPts val="0"/>
                        </a:spcBef>
                        <a:spcAft>
                          <a:spcPts val="0"/>
                        </a:spcAft>
                        <a:buNone/>
                      </a:pPr>
                      <a:r>
                        <a:rPr lang="en-US" sz="1600" u="none" cap="none" strike="noStrike">
                          <a:solidFill>
                            <a:srgbClr val="4E3629"/>
                          </a:solidFill>
                          <a:latin typeface="Calibri"/>
                          <a:ea typeface="Calibri"/>
                          <a:cs typeface="Calibri"/>
                          <a:sym typeface="Calibri"/>
                        </a:rPr>
                        <a:t>especifica el intervalo entre los números de secuencia, donde n es un número entero (si esta cláusula se omite, la secuencia se va incrementando en 1).</a:t>
                      </a:r>
                      <a:endParaRPr sz="1600" u="none" cap="none" strike="noStrike">
                        <a:latin typeface="Calibri"/>
                        <a:ea typeface="Calibri"/>
                        <a:cs typeface="Calibri"/>
                        <a:sym typeface="Calibri"/>
                      </a:endParaRPr>
                    </a:p>
                  </a:txBody>
                  <a:tcPr marT="31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822325">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p>
                      <a:pPr indent="0" lvl="0" marL="9080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START WITH n</a:t>
                      </a:r>
                      <a:endParaRPr sz="1600" u="none" cap="none" strike="noStrike">
                        <a:latin typeface="Calibri"/>
                        <a:ea typeface="Calibri"/>
                        <a:cs typeface="Calibri"/>
                        <a:sym typeface="Calibri"/>
                      </a:endParaRPr>
                    </a:p>
                  </a:txBody>
                  <a:tcPr marT="4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255270" rtl="0" algn="l">
                        <a:lnSpc>
                          <a:spcPct val="100299"/>
                        </a:lnSpc>
                        <a:spcBef>
                          <a:spcPts val="0"/>
                        </a:spcBef>
                        <a:spcAft>
                          <a:spcPts val="0"/>
                        </a:spcAft>
                        <a:buNone/>
                      </a:pPr>
                      <a:r>
                        <a:rPr lang="en-US" sz="1600" u="none" cap="none" strike="noStrike">
                          <a:solidFill>
                            <a:srgbClr val="4E3629"/>
                          </a:solidFill>
                          <a:latin typeface="Calibri"/>
                          <a:ea typeface="Calibri"/>
                          <a:cs typeface="Calibri"/>
                          <a:sym typeface="Calibri"/>
                        </a:rPr>
                        <a:t>especifica el primer número de secuencia que se va a generar (si se omite esta cláusula, la secuencia empieza con 1).</a:t>
                      </a:r>
                      <a:endParaRPr sz="1600" u="none" cap="none" strike="noStrike">
                        <a:latin typeface="Calibri"/>
                        <a:ea typeface="Calibri"/>
                        <a:cs typeface="Calibri"/>
                        <a:sym typeface="Calibri"/>
                      </a:endParaRPr>
                    </a:p>
                  </a:txBody>
                  <a:tcPr marT="31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36" name="Google Shape;136;p21"/>
          <p:cNvSpPr txBox="1"/>
          <p:nvPr/>
        </p:nvSpPr>
        <p:spPr>
          <a:xfrm>
            <a:off x="405384" y="1447800"/>
            <a:ext cx="8345805" cy="1981200"/>
          </a:xfrm>
          <a:prstGeom prst="rect">
            <a:avLst/>
          </a:prstGeom>
          <a:solidFill>
            <a:srgbClr val="9DBDC4">
              <a:alpha val="49804"/>
            </a:srgbClr>
          </a:solidFill>
          <a:ln>
            <a:noFill/>
          </a:ln>
        </p:spPr>
        <p:txBody>
          <a:bodyPr anchorCtr="0" anchor="t" bIns="0" lIns="0" spcFirstLastPara="1" rIns="0" wrap="square" tIns="3175">
            <a:spAutoFit/>
          </a:bodyPr>
          <a:lstStyle/>
          <a:p>
            <a:pPr indent="-956310" lvl="0" marL="956310" marR="50615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SEQUENCE sequence [INCREMENT BY n] [START WITH n]</a:t>
            </a:r>
            <a:endParaRPr sz="1800">
              <a:latin typeface="Courier New"/>
              <a:ea typeface="Courier New"/>
              <a:cs typeface="Courier New"/>
              <a:sym typeface="Courier New"/>
            </a:endParaRPr>
          </a:p>
          <a:p>
            <a:pPr indent="0" lvl="0" marL="956310" marR="3700145"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[{MAXVALUE n | NOMAXVALUE}] [{MINVALUE n | NOMINVALUE}] [{CYCLE | NOCYCLE}]</a:t>
            </a:r>
            <a:endParaRPr sz="1800">
              <a:latin typeface="Courier New"/>
              <a:ea typeface="Courier New"/>
              <a:cs typeface="Courier New"/>
              <a:sym typeface="Courier New"/>
            </a:endParaRPr>
          </a:p>
          <a:p>
            <a:pPr indent="0" lvl="0" marL="956310"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[{CACHE n | NOCACHE}];</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2"/>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Sintaxis de Sequence</a:t>
            </a:r>
            <a:endParaRPr/>
          </a:p>
        </p:txBody>
      </p:sp>
      <p:sp>
        <p:nvSpPr>
          <p:cNvPr id="142" name="Google Shape;142;p22"/>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143" name="Google Shape;143;p22"/>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44" name="Google Shape;144;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145" name="Google Shape;145;p22"/>
          <p:cNvGraphicFramePr/>
          <p:nvPr/>
        </p:nvGraphicFramePr>
        <p:xfrm>
          <a:off x="798512" y="3466458"/>
          <a:ext cx="3000000" cy="3000000"/>
        </p:xfrm>
        <a:graphic>
          <a:graphicData uri="http://schemas.openxmlformats.org/drawingml/2006/table">
            <a:tbl>
              <a:tblPr bandRow="1" firstRow="1">
                <a:noFill/>
                <a:tableStyleId>{C8AF7D7D-C925-4D9A-8C3B-01900BC00306}</a:tableStyleId>
              </a:tblPr>
              <a:tblGrid>
                <a:gridCol w="3299450"/>
                <a:gridCol w="4156700"/>
              </a:tblGrid>
              <a:tr h="607050">
                <a:tc>
                  <a:txBody>
                    <a:bodyPr/>
                    <a:lstStyle/>
                    <a:p>
                      <a:pPr indent="0" lvl="0" marL="914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MAXVALUE n</a:t>
                      </a:r>
                      <a:endParaRPr sz="1600" u="none" cap="none" strike="noStrike">
                        <a:latin typeface="Calibri"/>
                        <a:ea typeface="Calibri"/>
                        <a:cs typeface="Calibri"/>
                        <a:sym typeface="Calibri"/>
                      </a:endParaRPr>
                    </a:p>
                  </a:txBody>
                  <a:tcPr marT="170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146050" rtl="0" algn="l">
                        <a:lnSpc>
                          <a:spcPct val="100699"/>
                        </a:lnSpc>
                        <a:spcBef>
                          <a:spcPts val="0"/>
                        </a:spcBef>
                        <a:spcAft>
                          <a:spcPts val="0"/>
                        </a:spcAft>
                        <a:buNone/>
                      </a:pPr>
                      <a:r>
                        <a:rPr lang="en-US" sz="1600" u="none" cap="none" strike="noStrike">
                          <a:solidFill>
                            <a:srgbClr val="4E3629"/>
                          </a:solidFill>
                          <a:latin typeface="Calibri"/>
                          <a:ea typeface="Calibri"/>
                          <a:cs typeface="Calibri"/>
                          <a:sym typeface="Calibri"/>
                        </a:rPr>
                        <a:t>especifique el valor máximo que puede generar la secuencia.</a:t>
                      </a:r>
                      <a:endParaRPr sz="1600" u="none" cap="none" strike="noStrike">
                        <a:latin typeface="Calibri"/>
                        <a:ea typeface="Calibri"/>
                        <a:cs typeface="Calibri"/>
                        <a:sym typeface="Calibri"/>
                      </a:endParaRPr>
                    </a:p>
                  </a:txBody>
                  <a:tcPr marT="450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822325">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p>
                      <a:pPr indent="0" lvl="0" marL="9080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NOMAXVALUE</a:t>
                      </a:r>
                      <a:endParaRPr sz="1600" u="none" cap="none" strike="noStrike">
                        <a:latin typeface="Calibri"/>
                        <a:ea typeface="Calibri"/>
                        <a:cs typeface="Calibri"/>
                        <a:sym typeface="Calibri"/>
                      </a:endParaRPr>
                    </a:p>
                  </a:txBody>
                  <a:tcPr marT="4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238125" rtl="0" algn="just">
                        <a:lnSpc>
                          <a:spcPct val="100299"/>
                        </a:lnSpc>
                        <a:spcBef>
                          <a:spcPts val="0"/>
                        </a:spcBef>
                        <a:spcAft>
                          <a:spcPts val="0"/>
                        </a:spcAft>
                        <a:buNone/>
                      </a:pPr>
                      <a:r>
                        <a:rPr lang="en-US" sz="1600" u="none" cap="none" strike="noStrike">
                          <a:solidFill>
                            <a:srgbClr val="4E3629"/>
                          </a:solidFill>
                          <a:latin typeface="Calibri"/>
                          <a:ea typeface="Calibri"/>
                          <a:cs typeface="Calibri"/>
                          <a:sym typeface="Calibri"/>
                        </a:rPr>
                        <a:t>especifica un valor máximo de 10^27 para una secuencia ascendente y –1 para una secuencia descendente (valor por defecto).</a:t>
                      </a:r>
                      <a:endParaRPr sz="1600" u="none" cap="none" strike="noStrike">
                        <a:latin typeface="Calibri"/>
                        <a:ea typeface="Calibri"/>
                        <a:cs typeface="Calibri"/>
                        <a:sym typeface="Calibri"/>
                      </a:endParaRPr>
                    </a:p>
                  </a:txBody>
                  <a:tcPr marT="31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607050">
                <a:tc>
                  <a:txBody>
                    <a:bodyPr/>
                    <a:lstStyle/>
                    <a:p>
                      <a:pPr indent="0" lvl="0" marL="9080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MINVALUE n</a:t>
                      </a:r>
                      <a:endParaRPr sz="1600" u="none" cap="none" strike="noStrike">
                        <a:latin typeface="Calibri"/>
                        <a:ea typeface="Calibri"/>
                        <a:cs typeface="Calibri"/>
                        <a:sym typeface="Calibri"/>
                      </a:endParaRPr>
                    </a:p>
                  </a:txBody>
                  <a:tcPr marT="170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especifica el valor mínimo de secuencia.</a:t>
                      </a:r>
                      <a:endParaRPr sz="1600" u="none" cap="none" strike="noStrike">
                        <a:latin typeface="Calibri"/>
                        <a:ea typeface="Calibri"/>
                        <a:cs typeface="Calibri"/>
                        <a:sym typeface="Calibri"/>
                      </a:endParaRPr>
                    </a:p>
                  </a:txBody>
                  <a:tcPr marT="170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46" name="Google Shape;146;p22"/>
          <p:cNvSpPr txBox="1"/>
          <p:nvPr/>
        </p:nvSpPr>
        <p:spPr>
          <a:xfrm>
            <a:off x="393191" y="1488947"/>
            <a:ext cx="8345805" cy="1888489"/>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just">
              <a:lnSpc>
                <a:spcPct val="100777"/>
              </a:lnSpc>
              <a:spcBef>
                <a:spcPts val="0"/>
              </a:spcBef>
              <a:spcAft>
                <a:spcPts val="0"/>
              </a:spcAft>
              <a:buNone/>
            </a:pPr>
            <a:r>
              <a:rPr b="1" lang="en-US" sz="1800">
                <a:solidFill>
                  <a:srgbClr val="4E3629"/>
                </a:solidFill>
                <a:latin typeface="Courier New"/>
                <a:ea typeface="Courier New"/>
                <a:cs typeface="Courier New"/>
                <a:sym typeface="Courier New"/>
              </a:rPr>
              <a:t>CREATE SEQUENCE sequence</a:t>
            </a:r>
            <a:endParaRPr sz="1800">
              <a:latin typeface="Courier New"/>
              <a:ea typeface="Courier New"/>
              <a:cs typeface="Courier New"/>
              <a:sym typeface="Courier New"/>
            </a:endParaRPr>
          </a:p>
          <a:p>
            <a:pPr indent="0" lvl="0" marL="956310" marR="5200650"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[INCREMENT BY n] [START WITH n]</a:t>
            </a:r>
            <a:endParaRPr sz="1800">
              <a:latin typeface="Courier New"/>
              <a:ea typeface="Courier New"/>
              <a:cs typeface="Courier New"/>
              <a:sym typeface="Courier New"/>
            </a:endParaRPr>
          </a:p>
          <a:p>
            <a:pPr indent="0" lvl="0" marL="956310" marR="3699510"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[{MAXVALUE n | NOMAXVALUE}] [{MINVALUE n | NOMINVALUE}] [{CYCLE | NOCYCLE}]</a:t>
            </a:r>
            <a:endParaRPr sz="1800">
              <a:latin typeface="Courier New"/>
              <a:ea typeface="Courier New"/>
              <a:cs typeface="Courier New"/>
              <a:sym typeface="Courier New"/>
            </a:endParaRPr>
          </a:p>
          <a:p>
            <a:pPr indent="0" lvl="0" marL="956310"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[{CACHE n | NOCACHE}];</a:t>
            </a:r>
            <a:endParaRPr sz="18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3"/>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Sintaxis de Sequence</a:t>
            </a:r>
            <a:endParaRPr/>
          </a:p>
        </p:txBody>
      </p:sp>
      <p:sp>
        <p:nvSpPr>
          <p:cNvPr id="152" name="Google Shape;152;p23"/>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153" name="Google Shape;153;p23"/>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4" name="Google Shape;154;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155" name="Google Shape;155;p23"/>
          <p:cNvGraphicFramePr/>
          <p:nvPr/>
        </p:nvGraphicFramePr>
        <p:xfrm>
          <a:off x="798512" y="3858345"/>
          <a:ext cx="3000000" cy="3000000"/>
        </p:xfrm>
        <a:graphic>
          <a:graphicData uri="http://schemas.openxmlformats.org/drawingml/2006/table">
            <a:tbl>
              <a:tblPr bandRow="1" firstRow="1">
                <a:noFill/>
                <a:tableStyleId>{C8AF7D7D-C925-4D9A-8C3B-01900BC00306}</a:tableStyleId>
              </a:tblPr>
              <a:tblGrid>
                <a:gridCol w="3299450"/>
                <a:gridCol w="4156700"/>
              </a:tblGrid>
              <a:tr h="822325">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p>
                      <a:pPr indent="0" lvl="0" marL="914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NOMINVALUE</a:t>
                      </a:r>
                      <a:endParaRPr sz="1600" u="none" cap="none" strike="noStrike">
                        <a:latin typeface="Calibri"/>
                        <a:ea typeface="Calibri"/>
                        <a:cs typeface="Calibri"/>
                        <a:sym typeface="Calibri"/>
                      </a:endParaRPr>
                    </a:p>
                  </a:txBody>
                  <a:tcPr marT="4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258445" rtl="0" algn="l">
                        <a:lnSpc>
                          <a:spcPct val="100299"/>
                        </a:lnSpc>
                        <a:spcBef>
                          <a:spcPts val="0"/>
                        </a:spcBef>
                        <a:spcAft>
                          <a:spcPts val="0"/>
                        </a:spcAft>
                        <a:buNone/>
                      </a:pPr>
                      <a:r>
                        <a:rPr lang="en-US" sz="1600" u="none" cap="none" strike="noStrike">
                          <a:solidFill>
                            <a:srgbClr val="4E3629"/>
                          </a:solidFill>
                          <a:latin typeface="Calibri"/>
                          <a:ea typeface="Calibri"/>
                          <a:cs typeface="Calibri"/>
                          <a:sym typeface="Calibri"/>
                        </a:rPr>
                        <a:t>especifica un valor máximo de 1 para una secuencia ascendente y de – (10^26) para una secuencia descendente (por defecto).</a:t>
                      </a:r>
                      <a:endParaRPr sz="1600" u="none" cap="none" strike="noStrike">
                        <a:latin typeface="Calibri"/>
                        <a:ea typeface="Calibri"/>
                        <a:cs typeface="Calibri"/>
                        <a:sym typeface="Calibri"/>
                      </a:endParaRPr>
                    </a:p>
                  </a:txBody>
                  <a:tcPr marT="31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822325">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p>
                      <a:pPr indent="0" lvl="0" marL="9080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CYCLE | NOCYCLE</a:t>
                      </a:r>
                      <a:endParaRPr sz="1600" u="none" cap="none" strike="noStrike">
                        <a:latin typeface="Calibri"/>
                        <a:ea typeface="Calibri"/>
                        <a:cs typeface="Calibri"/>
                        <a:sym typeface="Calibri"/>
                      </a:endParaRPr>
                    </a:p>
                  </a:txBody>
                  <a:tcPr marT="444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216535" rtl="0" algn="l">
                        <a:lnSpc>
                          <a:spcPct val="100299"/>
                        </a:lnSpc>
                        <a:spcBef>
                          <a:spcPts val="0"/>
                        </a:spcBef>
                        <a:spcAft>
                          <a:spcPts val="0"/>
                        </a:spcAft>
                        <a:buNone/>
                      </a:pPr>
                      <a:r>
                        <a:rPr lang="en-US" sz="1600" u="none" cap="none" strike="noStrike">
                          <a:solidFill>
                            <a:srgbClr val="4E3629"/>
                          </a:solidFill>
                          <a:latin typeface="Calibri"/>
                          <a:ea typeface="Calibri"/>
                          <a:cs typeface="Calibri"/>
                          <a:sym typeface="Calibri"/>
                        </a:rPr>
                        <a:t>especifica si la secuencia sigue generando valores después de alcanzar su valor máximo o mínimo (NOCYCLE es la opción por defecto).</a:t>
                      </a:r>
                      <a:endParaRPr sz="1600" u="none" cap="none" strike="noStrike">
                        <a:latin typeface="Calibri"/>
                        <a:ea typeface="Calibri"/>
                        <a:cs typeface="Calibri"/>
                        <a:sym typeface="Calibri"/>
                      </a:endParaRPr>
                    </a:p>
                  </a:txBody>
                  <a:tcPr marT="317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56" name="Google Shape;156;p23"/>
          <p:cNvSpPr txBox="1"/>
          <p:nvPr/>
        </p:nvSpPr>
        <p:spPr>
          <a:xfrm>
            <a:off x="393191" y="1493519"/>
            <a:ext cx="8345805" cy="1978660"/>
          </a:xfrm>
          <a:prstGeom prst="rect">
            <a:avLst/>
          </a:prstGeom>
          <a:solidFill>
            <a:srgbClr val="9DBDC4">
              <a:alpha val="49804"/>
            </a:srgbClr>
          </a:solidFill>
          <a:ln>
            <a:noFill/>
          </a:ln>
        </p:spPr>
        <p:txBody>
          <a:bodyPr anchorCtr="0" anchor="t" bIns="0" lIns="0" spcFirstLastPara="1" rIns="0" wrap="square" tIns="1900">
            <a:spAutoFit/>
          </a:bodyPr>
          <a:lstStyle/>
          <a:p>
            <a:pPr indent="-956310" lvl="0" marL="956310" marR="50609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SEQUENCE sequence [INCREMENT BY n] [START WITH n]</a:t>
            </a:r>
            <a:endParaRPr sz="1800">
              <a:latin typeface="Courier New"/>
              <a:ea typeface="Courier New"/>
              <a:cs typeface="Courier New"/>
              <a:sym typeface="Courier New"/>
            </a:endParaRPr>
          </a:p>
          <a:p>
            <a:pPr indent="0" lvl="0" marL="956310" marR="3699510"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[{MAXVALUE n | NOMAXVALUE}] [{MINVALUE n | NOMINVALUE}] [{CYCLE | NOCYCLE}]</a:t>
            </a:r>
            <a:endParaRPr sz="1800">
              <a:latin typeface="Courier New"/>
              <a:ea typeface="Courier New"/>
              <a:cs typeface="Courier New"/>
              <a:sym typeface="Courier New"/>
            </a:endParaRPr>
          </a:p>
          <a:p>
            <a:pPr indent="0" lvl="0" marL="956310"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[{CACHE n | NOCACHE}];</a:t>
            </a:r>
            <a:endParaRPr sz="180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4"/>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Sintaxis de Sequence</a:t>
            </a:r>
            <a:endParaRPr/>
          </a:p>
        </p:txBody>
      </p:sp>
      <p:sp>
        <p:nvSpPr>
          <p:cNvPr id="162" name="Google Shape;162;p24"/>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163" name="Google Shape;163;p24"/>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64" name="Google Shape;164;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165" name="Google Shape;165;p24"/>
          <p:cNvGraphicFramePr/>
          <p:nvPr/>
        </p:nvGraphicFramePr>
        <p:xfrm>
          <a:off x="798512" y="3858345"/>
          <a:ext cx="3000000" cy="3000000"/>
        </p:xfrm>
        <a:graphic>
          <a:graphicData uri="http://schemas.openxmlformats.org/drawingml/2006/table">
            <a:tbl>
              <a:tblPr bandRow="1" firstRow="1">
                <a:noFill/>
                <a:tableStyleId>{C8AF7D7D-C925-4D9A-8C3B-01900BC00306}</a:tableStyleId>
              </a:tblPr>
              <a:tblGrid>
                <a:gridCol w="3060700"/>
                <a:gridCol w="4396100"/>
              </a:tblGrid>
              <a:tr h="1066175">
                <a:tc>
                  <a:txBody>
                    <a:bodyPr/>
                    <a:lstStyle/>
                    <a:p>
                      <a:pPr indent="0" lvl="0" marL="0" marR="0" rtl="0" algn="l">
                        <a:lnSpc>
                          <a:spcPct val="100000"/>
                        </a:lnSpc>
                        <a:spcBef>
                          <a:spcPts val="0"/>
                        </a:spcBef>
                        <a:spcAft>
                          <a:spcPts val="0"/>
                        </a:spcAft>
                        <a:buNone/>
                      </a:pPr>
                      <a:r>
                        <a:t/>
                      </a:r>
                      <a:endParaRPr sz="1600" u="none" cap="none" strike="noStrike">
                        <a:latin typeface="Times New Roman"/>
                        <a:ea typeface="Times New Roman"/>
                        <a:cs typeface="Times New Roman"/>
                        <a:sym typeface="Times New Roman"/>
                      </a:endParaRPr>
                    </a:p>
                    <a:p>
                      <a:pPr indent="0" lvl="0" marL="9144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CACHE n | NOCACHE</a:t>
                      </a:r>
                      <a:endParaRPr sz="1600" u="none" cap="none" strike="noStrike">
                        <a:latin typeface="Calibri"/>
                        <a:ea typeface="Calibri"/>
                        <a:cs typeface="Calibri"/>
                        <a:sym typeface="Calibri"/>
                      </a:endParaRPr>
                    </a:p>
                  </a:txBody>
                  <a:tcPr marT="166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91440" marR="224790" rtl="0" algn="l">
                        <a:lnSpc>
                          <a:spcPct val="100200"/>
                        </a:lnSpc>
                        <a:spcBef>
                          <a:spcPts val="0"/>
                        </a:spcBef>
                        <a:spcAft>
                          <a:spcPts val="0"/>
                        </a:spcAft>
                        <a:buNone/>
                      </a:pPr>
                      <a:r>
                        <a:rPr lang="en-US" sz="1600" u="none" cap="none" strike="noStrike">
                          <a:solidFill>
                            <a:srgbClr val="4E3629"/>
                          </a:solidFill>
                          <a:latin typeface="Calibri"/>
                          <a:ea typeface="Calibri"/>
                          <a:cs typeface="Calibri"/>
                          <a:sym typeface="Calibri"/>
                        </a:rPr>
                        <a:t>especifica cuántos valores asigna previamente y mantiene Oracle Server en la memoria. (Por defecto, Oracle Server almacena en caché 20 valores). Si el sistema falla, los valores se pierden.</a:t>
                      </a:r>
                      <a:endParaRPr sz="1600" u="none" cap="none" strike="noStrike">
                        <a:latin typeface="Calibri"/>
                        <a:ea typeface="Calibri"/>
                        <a:cs typeface="Calibri"/>
                        <a:sym typeface="Calibri"/>
                      </a:endParaRPr>
                    </a:p>
                  </a:txBody>
                  <a:tcPr marT="323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66" name="Google Shape;166;p24"/>
          <p:cNvSpPr txBox="1"/>
          <p:nvPr/>
        </p:nvSpPr>
        <p:spPr>
          <a:xfrm>
            <a:off x="405384" y="1441703"/>
            <a:ext cx="8345805" cy="1987550"/>
          </a:xfrm>
          <a:prstGeom prst="rect">
            <a:avLst/>
          </a:prstGeom>
          <a:solidFill>
            <a:srgbClr val="9DBDC4">
              <a:alpha val="49804"/>
            </a:srgbClr>
          </a:solidFill>
          <a:ln>
            <a:noFill/>
          </a:ln>
        </p:spPr>
        <p:txBody>
          <a:bodyPr anchorCtr="0" anchor="t" bIns="0" lIns="0" spcFirstLastPara="1" rIns="0" wrap="square" tIns="5700">
            <a:spAutoFit/>
          </a:bodyPr>
          <a:lstStyle/>
          <a:p>
            <a:pPr indent="-956310" lvl="0" marL="956310" marR="50615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SEQUENCE sequence [INCREMENT BY n] [START WITH n]</a:t>
            </a:r>
            <a:endParaRPr sz="1800">
              <a:latin typeface="Courier New"/>
              <a:ea typeface="Courier New"/>
              <a:cs typeface="Courier New"/>
              <a:sym typeface="Courier New"/>
            </a:endParaRPr>
          </a:p>
          <a:p>
            <a:pPr indent="0" lvl="0" marL="956310" marR="3700145"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[{MAXVALUE n | NOMAXVALUE}] [{MINVALUE n | NOMINVALUE}] [{CYCLE | NOCYCLE}]</a:t>
            </a:r>
            <a:endParaRPr sz="1800">
              <a:latin typeface="Courier New"/>
              <a:ea typeface="Courier New"/>
              <a:cs typeface="Courier New"/>
              <a:sym typeface="Courier New"/>
            </a:endParaRPr>
          </a:p>
          <a:p>
            <a:pPr indent="0" lvl="0" marL="956310" rtl="0" algn="just">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[{CACHE n | NOCACHE}];</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5"/>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Creación de Secuencias</a:t>
            </a:r>
            <a:endParaRPr/>
          </a:p>
        </p:txBody>
      </p:sp>
      <p:sp>
        <p:nvSpPr>
          <p:cNvPr id="172" name="Google Shape;172;p25"/>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173" name="Google Shape;173;p25"/>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74" name="Google Shape;174;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5" name="Google Shape;175;p25"/>
          <p:cNvSpPr txBox="1"/>
          <p:nvPr/>
        </p:nvSpPr>
        <p:spPr>
          <a:xfrm>
            <a:off x="483552" y="1415417"/>
            <a:ext cx="7978140" cy="2960370"/>
          </a:xfrm>
          <a:prstGeom prst="rect">
            <a:avLst/>
          </a:prstGeom>
          <a:noFill/>
          <a:ln>
            <a:noFill/>
          </a:ln>
        </p:spPr>
        <p:txBody>
          <a:bodyPr anchorCtr="0" anchor="t" bIns="0" lIns="0" spcFirstLastPara="1" rIns="0" wrap="square" tIns="59675">
            <a:spAutoFit/>
          </a:bodyPr>
          <a:lstStyle/>
          <a:p>
            <a:pPr indent="-177800" lvl="0" marL="182880" marR="61785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 SEQUENCE creada para los corredores del 	Maratón de Londres, los números se irán 	incrementando en 1, empezando por el número 1</a:t>
            </a:r>
            <a:endParaRPr sz="2800">
              <a:latin typeface="Calibri"/>
              <a:ea typeface="Calibri"/>
              <a:cs typeface="Calibri"/>
              <a:sym typeface="Calibri"/>
            </a:endParaRPr>
          </a:p>
          <a:p>
            <a:pPr indent="-177800" lvl="0" marL="182880" marR="151003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este caso, empezar la secuencia con 1 es 	probablemente el mejor punto de partida</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tradicional que el mejor corredor del grupo de élite 	lleve el número 1</a:t>
            </a:r>
            <a:endParaRPr sz="2800">
              <a:latin typeface="Calibri"/>
              <a:ea typeface="Calibri"/>
              <a:cs typeface="Calibri"/>
              <a:sym typeface="Calibri"/>
            </a:endParaRPr>
          </a:p>
        </p:txBody>
      </p:sp>
      <p:sp>
        <p:nvSpPr>
          <p:cNvPr id="176" name="Google Shape;176;p25"/>
          <p:cNvSpPr txBox="1"/>
          <p:nvPr/>
        </p:nvSpPr>
        <p:spPr>
          <a:xfrm>
            <a:off x="405384" y="4471415"/>
            <a:ext cx="8345805" cy="159575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7222"/>
              </a:lnSpc>
              <a:spcBef>
                <a:spcPts val="0"/>
              </a:spcBef>
              <a:spcAft>
                <a:spcPts val="0"/>
              </a:spcAft>
              <a:buNone/>
            </a:pPr>
            <a:r>
              <a:rPr b="1" lang="en-US" sz="1800">
                <a:solidFill>
                  <a:srgbClr val="4E3629"/>
                </a:solidFill>
                <a:latin typeface="Courier New"/>
                <a:ea typeface="Courier New"/>
                <a:cs typeface="Courier New"/>
                <a:sym typeface="Courier New"/>
              </a:rPr>
              <a:t>CREATE SEQUENCE runner_id_seq</a:t>
            </a:r>
            <a:endParaRPr sz="1800">
              <a:latin typeface="Courier New"/>
              <a:ea typeface="Courier New"/>
              <a:cs typeface="Courier New"/>
              <a:sym typeface="Courier New"/>
            </a:endParaRPr>
          </a:p>
          <a:p>
            <a:pPr indent="0" lvl="0" marL="2736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INCREMENT BY 1</a:t>
            </a:r>
            <a:endParaRPr sz="1800">
              <a:latin typeface="Courier New"/>
              <a:ea typeface="Courier New"/>
              <a:cs typeface="Courier New"/>
              <a:sym typeface="Courier New"/>
            </a:endParaRPr>
          </a:p>
          <a:p>
            <a:pPr indent="0" lvl="0" marL="2736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START WITH 1</a:t>
            </a:r>
            <a:endParaRPr sz="1800">
              <a:latin typeface="Courier New"/>
              <a:ea typeface="Courier New"/>
              <a:cs typeface="Courier New"/>
              <a:sym typeface="Courier New"/>
            </a:endParaRPr>
          </a:p>
          <a:p>
            <a:pPr indent="0" lvl="0" marL="273685" marR="61525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MAXVALUE 50000 NOCACHE NOCYCLE;</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6"/>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Creación de Secuencias</a:t>
            </a:r>
            <a:endParaRPr/>
          </a:p>
        </p:txBody>
      </p:sp>
      <p:sp>
        <p:nvSpPr>
          <p:cNvPr id="182" name="Google Shape;182;p26"/>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183" name="Google Shape;183;p26"/>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4" name="Google Shape;184;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5" name="Google Shape;185;p26"/>
          <p:cNvSpPr txBox="1"/>
          <p:nvPr/>
        </p:nvSpPr>
        <p:spPr>
          <a:xfrm>
            <a:off x="483552" y="1415417"/>
            <a:ext cx="8176259" cy="24745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otras situaciones, como, por ejemplo, 	identificadores de departamentos y de empleados se le 	puede asignar el número de inicio de forma diferente</a:t>
            </a:r>
            <a:endParaRPr sz="2800">
              <a:latin typeface="Calibri"/>
              <a:ea typeface="Calibri"/>
              <a:cs typeface="Calibri"/>
              <a:sym typeface="Calibri"/>
            </a:endParaRPr>
          </a:p>
          <a:p>
            <a:pPr indent="-177800" lvl="0" marL="182880" marR="14604"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Puesto no será habrá por lo menos 30.000 corredores, 	el valor máximo de la secuencia se ha definido muy por 	encima del número esperado de corredores</a:t>
            </a:r>
            <a:endParaRPr sz="2800">
              <a:latin typeface="Calibri"/>
              <a:ea typeface="Calibri"/>
              <a:cs typeface="Calibri"/>
              <a:sym typeface="Calibri"/>
            </a:endParaRPr>
          </a:p>
        </p:txBody>
      </p:sp>
      <p:sp>
        <p:nvSpPr>
          <p:cNvPr id="186" name="Google Shape;186;p26"/>
          <p:cNvSpPr txBox="1"/>
          <p:nvPr/>
        </p:nvSpPr>
        <p:spPr>
          <a:xfrm>
            <a:off x="405384" y="4197096"/>
            <a:ext cx="8333740" cy="159575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6944"/>
              </a:lnSpc>
              <a:spcBef>
                <a:spcPts val="0"/>
              </a:spcBef>
              <a:spcAft>
                <a:spcPts val="0"/>
              </a:spcAft>
              <a:buNone/>
            </a:pPr>
            <a:r>
              <a:rPr b="1" lang="en-US" sz="1800">
                <a:solidFill>
                  <a:srgbClr val="4E3629"/>
                </a:solidFill>
                <a:latin typeface="Courier New"/>
                <a:ea typeface="Courier New"/>
                <a:cs typeface="Courier New"/>
                <a:sym typeface="Courier New"/>
              </a:rPr>
              <a:t>CREATE SEQUENCE runner_id_seq</a:t>
            </a:r>
            <a:endParaRPr sz="1800">
              <a:latin typeface="Courier New"/>
              <a:ea typeface="Courier New"/>
              <a:cs typeface="Courier New"/>
              <a:sym typeface="Courier New"/>
            </a:endParaRPr>
          </a:p>
          <a:p>
            <a:pPr indent="0" lvl="0" marL="2736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INCREMENT BY 1</a:t>
            </a:r>
            <a:endParaRPr sz="1800">
              <a:latin typeface="Courier New"/>
              <a:ea typeface="Courier New"/>
              <a:cs typeface="Courier New"/>
              <a:sym typeface="Courier New"/>
            </a:endParaRPr>
          </a:p>
          <a:p>
            <a:pPr indent="0" lvl="0" marL="2736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START WITH 1</a:t>
            </a:r>
            <a:endParaRPr sz="1800">
              <a:latin typeface="Courier New"/>
              <a:ea typeface="Courier New"/>
              <a:cs typeface="Courier New"/>
              <a:sym typeface="Courier New"/>
            </a:endParaRPr>
          </a:p>
          <a:p>
            <a:pPr indent="0" lvl="0" marL="273685" marR="61404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MAXVALUE 50000 NOCACHE NOCYCLE;</a:t>
            </a:r>
            <a:endParaRPr sz="1800">
              <a:latin typeface="Courier New"/>
              <a:ea typeface="Courier New"/>
              <a:cs typeface="Courier New"/>
              <a:sym typeface="Courier New"/>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27"/>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Creación de Secuencias</a:t>
            </a:r>
            <a:endParaRPr/>
          </a:p>
        </p:txBody>
      </p:sp>
      <p:sp>
        <p:nvSpPr>
          <p:cNvPr id="192" name="Google Shape;192;p27"/>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193" name="Google Shape;193;p27"/>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94" name="Google Shape;194;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5" name="Google Shape;195;p27"/>
          <p:cNvSpPr txBox="1"/>
          <p:nvPr/>
        </p:nvSpPr>
        <p:spPr>
          <a:xfrm>
            <a:off x="483552" y="1415417"/>
            <a:ext cx="8085455" cy="19888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opción NOCACHE evita que los valores de 	SEQUENCE se almacenan en la caché de la memoria, 	con lo que, en caso de fallo del sistema, se evitaría que 	se perdieran los números asignados previamente y 	retenidos en la memoria</a:t>
            </a:r>
            <a:endParaRPr sz="2800">
              <a:latin typeface="Calibri"/>
              <a:ea typeface="Calibri"/>
              <a:cs typeface="Calibri"/>
              <a:sym typeface="Calibri"/>
            </a:endParaRPr>
          </a:p>
        </p:txBody>
      </p:sp>
      <p:sp>
        <p:nvSpPr>
          <p:cNvPr id="196" name="Google Shape;196;p27"/>
          <p:cNvSpPr txBox="1"/>
          <p:nvPr/>
        </p:nvSpPr>
        <p:spPr>
          <a:xfrm>
            <a:off x="405384" y="3614928"/>
            <a:ext cx="8345805" cy="159575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6944"/>
              </a:lnSpc>
              <a:spcBef>
                <a:spcPts val="0"/>
              </a:spcBef>
              <a:spcAft>
                <a:spcPts val="0"/>
              </a:spcAft>
              <a:buNone/>
            </a:pPr>
            <a:r>
              <a:rPr b="1" lang="en-US" sz="1800">
                <a:solidFill>
                  <a:srgbClr val="4E3629"/>
                </a:solidFill>
                <a:latin typeface="Courier New"/>
                <a:ea typeface="Courier New"/>
                <a:cs typeface="Courier New"/>
                <a:sym typeface="Courier New"/>
              </a:rPr>
              <a:t>CREATE SEQUENCE runner_id_seq</a:t>
            </a:r>
            <a:endParaRPr sz="1800">
              <a:latin typeface="Courier New"/>
              <a:ea typeface="Courier New"/>
              <a:cs typeface="Courier New"/>
              <a:sym typeface="Courier New"/>
            </a:endParaRPr>
          </a:p>
          <a:p>
            <a:pPr indent="0" lvl="0" marL="2736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INCREMENT BY 1</a:t>
            </a:r>
            <a:endParaRPr sz="1800">
              <a:latin typeface="Courier New"/>
              <a:ea typeface="Courier New"/>
              <a:cs typeface="Courier New"/>
              <a:sym typeface="Courier New"/>
            </a:endParaRPr>
          </a:p>
          <a:p>
            <a:pPr indent="0" lvl="0" marL="2736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START WITH 1</a:t>
            </a:r>
            <a:endParaRPr sz="1800">
              <a:latin typeface="Courier New"/>
              <a:ea typeface="Courier New"/>
              <a:cs typeface="Courier New"/>
              <a:sym typeface="Courier New"/>
            </a:endParaRPr>
          </a:p>
          <a:p>
            <a:pPr indent="0" lvl="0" marL="273685" marR="615251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MAXVALUE 50000 NOCACHE NOCYCLE;</a:t>
            </a:r>
            <a:endParaRPr sz="1800">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Creación de Secuencias</a:t>
            </a:r>
            <a:endParaRPr/>
          </a:p>
        </p:txBody>
      </p:sp>
      <p:sp>
        <p:nvSpPr>
          <p:cNvPr id="202" name="Google Shape;202;p28"/>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203" name="Google Shape;203;p28"/>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4" name="Google Shape;204;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5" name="Google Shape;205;p28"/>
          <p:cNvSpPr txBox="1"/>
          <p:nvPr/>
        </p:nvSpPr>
        <p:spPr>
          <a:xfrm>
            <a:off x="483552" y="1415417"/>
            <a:ext cx="8096250" cy="2474595"/>
          </a:xfrm>
          <a:prstGeom prst="rect">
            <a:avLst/>
          </a:prstGeom>
          <a:noFill/>
          <a:ln>
            <a:noFill/>
          </a:ln>
        </p:spPr>
        <p:txBody>
          <a:bodyPr anchorCtr="0" anchor="t" bIns="0" lIns="0" spcFirstLastPara="1" rIns="0" wrap="square" tIns="59675">
            <a:spAutoFit/>
          </a:bodyPr>
          <a:lstStyle/>
          <a:p>
            <a:pPr indent="-177800" lvl="0" marL="182880" marR="29972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opción NOCYCLE evita que la numeración vuelva a 	empezar en 1 si se excede el valor 50.000</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utilice la opción CYCLE si la secuencia se utiliza para 	generar valores de clave primaria, a menos que 	disponga de un mecanismo fiable que suprima las filas 	antiguas más rápido que lo que se agregan las nuevas</a:t>
            </a:r>
            <a:endParaRPr sz="2800">
              <a:latin typeface="Calibri"/>
              <a:ea typeface="Calibri"/>
              <a:cs typeface="Calibri"/>
              <a:sym typeface="Calibri"/>
            </a:endParaRPr>
          </a:p>
        </p:txBody>
      </p:sp>
      <p:sp>
        <p:nvSpPr>
          <p:cNvPr id="206" name="Google Shape;206;p28"/>
          <p:cNvSpPr txBox="1"/>
          <p:nvPr/>
        </p:nvSpPr>
        <p:spPr>
          <a:xfrm>
            <a:off x="393191" y="4047744"/>
            <a:ext cx="8345805" cy="159575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96611"/>
              </a:lnSpc>
              <a:spcBef>
                <a:spcPts val="0"/>
              </a:spcBef>
              <a:spcAft>
                <a:spcPts val="0"/>
              </a:spcAft>
              <a:buNone/>
            </a:pPr>
            <a:r>
              <a:rPr b="1" lang="en-US" sz="1800">
                <a:solidFill>
                  <a:srgbClr val="4E3629"/>
                </a:solidFill>
                <a:latin typeface="Courier New"/>
                <a:ea typeface="Courier New"/>
                <a:cs typeface="Courier New"/>
                <a:sym typeface="Courier New"/>
              </a:rPr>
              <a:t>CREATE SEQUENCE runner_id_seq</a:t>
            </a:r>
            <a:endParaRPr sz="1800">
              <a:latin typeface="Courier New"/>
              <a:ea typeface="Courier New"/>
              <a:cs typeface="Courier New"/>
              <a:sym typeface="Courier New"/>
            </a:endParaRPr>
          </a:p>
          <a:p>
            <a:pPr indent="0" lvl="0" marL="2743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INCREMENT BY 1</a:t>
            </a:r>
            <a:endParaRPr sz="1800">
              <a:latin typeface="Courier New"/>
              <a:ea typeface="Courier New"/>
              <a:cs typeface="Courier New"/>
              <a:sym typeface="Courier New"/>
            </a:endParaRPr>
          </a:p>
          <a:p>
            <a:pPr indent="0" lvl="0" marL="2743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START WITH 1</a:t>
            </a:r>
            <a:endParaRPr sz="1800">
              <a:latin typeface="Courier New"/>
              <a:ea typeface="Courier New"/>
              <a:cs typeface="Courier New"/>
              <a:sym typeface="Courier New"/>
            </a:endParaRPr>
          </a:p>
          <a:p>
            <a:pPr indent="0" lvl="0" marL="274320" marR="61518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MAXVALUE 50000 NOCACHE NOCYCLE;</a:t>
            </a:r>
            <a:endParaRPr sz="1800">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9"/>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Confirmación de Secuencias</a:t>
            </a:r>
            <a:endParaRPr/>
          </a:p>
        </p:txBody>
      </p:sp>
      <p:sp>
        <p:nvSpPr>
          <p:cNvPr id="212" name="Google Shape;212;p29"/>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213" name="Google Shape;213;p29"/>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4" name="Google Shape;214;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5" name="Google Shape;215;p29"/>
          <p:cNvSpPr txBox="1"/>
          <p:nvPr/>
        </p:nvSpPr>
        <p:spPr>
          <a:xfrm>
            <a:off x="483552" y="1415417"/>
            <a:ext cx="8174355" cy="29603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verificar que la secuencia se ha creado, consulte el 	diccionario de datos USER_OBJECTS</a:t>
            </a:r>
            <a:endParaRPr sz="2800">
              <a:latin typeface="Calibri"/>
              <a:ea typeface="Calibri"/>
              <a:cs typeface="Calibri"/>
              <a:sym typeface="Calibri"/>
            </a:endParaRPr>
          </a:p>
          <a:p>
            <a:pPr indent="-177800" lvl="0" marL="182880" marR="220979"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ver toda la configuración de SEQUENCE, consulte 	el diccionario de datos USER_SEQUENCES como se 	muestra a continuación</a:t>
            </a:r>
            <a:endParaRPr sz="2800">
              <a:latin typeface="Calibri"/>
              <a:ea typeface="Calibri"/>
              <a:cs typeface="Calibri"/>
              <a:sym typeface="Calibri"/>
            </a:endParaRPr>
          </a:p>
          <a:p>
            <a:pPr indent="-177800" lvl="0" marL="182880" marR="22860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Visualice los nombres de valor en la sentencia SELECT, 	como se muestra a continuación</a:t>
            </a:r>
            <a:endParaRPr sz="2800">
              <a:latin typeface="Calibri"/>
              <a:ea typeface="Calibri"/>
              <a:cs typeface="Calibri"/>
              <a:sym typeface="Calibri"/>
            </a:endParaRPr>
          </a:p>
        </p:txBody>
      </p:sp>
      <p:sp>
        <p:nvSpPr>
          <p:cNvPr id="216" name="Google Shape;216;p29"/>
          <p:cNvSpPr txBox="1"/>
          <p:nvPr/>
        </p:nvSpPr>
        <p:spPr>
          <a:xfrm>
            <a:off x="405384" y="4447032"/>
            <a:ext cx="8345805" cy="963294"/>
          </a:xfrm>
          <a:prstGeom prst="rect">
            <a:avLst/>
          </a:prstGeom>
          <a:solidFill>
            <a:srgbClr val="9DBDC4">
              <a:alpha val="49804"/>
            </a:srgbClr>
          </a:solidFill>
          <a:ln>
            <a:noFill/>
          </a:ln>
        </p:spPr>
        <p:txBody>
          <a:bodyPr anchorCtr="0" anchor="t" bIns="0" lIns="0" spcFirstLastPara="1" rIns="0" wrap="square" tIns="41900">
            <a:spAutoFit/>
          </a:bodyPr>
          <a:lstStyle/>
          <a:p>
            <a:pPr indent="0" lvl="0" marL="0" marR="55753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sequence_name, min_value, max_value, increment_by, last_number</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user_sequences;</a:t>
            </a:r>
            <a:endParaRPr sz="1800">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Confirmación de Secuencias</a:t>
            </a:r>
            <a:endParaRPr/>
          </a:p>
        </p:txBody>
      </p:sp>
      <p:sp>
        <p:nvSpPr>
          <p:cNvPr id="222" name="Google Shape;222;p30"/>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223" name="Google Shape;223;p30"/>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4" name="Google Shape;224;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5" name="Google Shape;225;p30"/>
          <p:cNvSpPr txBox="1"/>
          <p:nvPr/>
        </p:nvSpPr>
        <p:spPr>
          <a:xfrm>
            <a:off x="483552" y="1415417"/>
            <a:ext cx="8183880" cy="2474595"/>
          </a:xfrm>
          <a:prstGeom prst="rect">
            <a:avLst/>
          </a:prstGeom>
          <a:noFill/>
          <a:ln>
            <a:noFill/>
          </a:ln>
        </p:spPr>
        <p:txBody>
          <a:bodyPr anchorCtr="0" anchor="t" bIns="0" lIns="0" spcFirstLastPara="1" rIns="0" wrap="square" tIns="59675">
            <a:spAutoFit/>
          </a:bodyPr>
          <a:lstStyle/>
          <a:p>
            <a:pPr indent="-177800" lvl="0" marL="182880" marR="227329"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se especifica NOCACHE, la columna last_number de 	la consulta muestra el siguiente número de secuencia 	disponible</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se especifica CACHE, la columna last_number 	muestra el siguiente número disponible de la secuencia 	que no se ha almacenado en caché en la memoria</a:t>
            </a:r>
            <a:endParaRPr sz="2800">
              <a:latin typeface="Calibri"/>
              <a:ea typeface="Calibri"/>
              <a:cs typeface="Calibri"/>
              <a:sym typeface="Calibri"/>
            </a:endParaRPr>
          </a:p>
        </p:txBody>
      </p:sp>
      <p:sp>
        <p:nvSpPr>
          <p:cNvPr id="226" name="Google Shape;226;p30"/>
          <p:cNvSpPr txBox="1"/>
          <p:nvPr/>
        </p:nvSpPr>
        <p:spPr>
          <a:xfrm>
            <a:off x="405384" y="4072128"/>
            <a:ext cx="8345805" cy="963294"/>
          </a:xfrm>
          <a:prstGeom prst="rect">
            <a:avLst/>
          </a:prstGeom>
          <a:solidFill>
            <a:srgbClr val="9DBDC4">
              <a:alpha val="49804"/>
            </a:srgbClr>
          </a:solidFill>
          <a:ln>
            <a:noFill/>
          </a:ln>
        </p:spPr>
        <p:txBody>
          <a:bodyPr anchorCtr="0" anchor="t" bIns="0" lIns="0" spcFirstLastPara="1" rIns="0" wrap="square" tIns="42525">
            <a:spAutoFit/>
          </a:bodyPr>
          <a:lstStyle/>
          <a:p>
            <a:pPr indent="0" lvl="0" marL="0" marR="55753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sequence_name, min_value, max_value, increment_by, last_number</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user_sequences;</a:t>
            </a:r>
            <a:endParaRPr sz="1800">
              <a:latin typeface="Courier New"/>
              <a:ea typeface="Courier New"/>
              <a:cs typeface="Courier New"/>
              <a:sym typeface="Courier New"/>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1"/>
          <p:cNvSpPr txBox="1"/>
          <p:nvPr>
            <p:ph type="title"/>
          </p:nvPr>
        </p:nvSpPr>
        <p:spPr>
          <a:xfrm>
            <a:off x="392112" y="748031"/>
            <a:ext cx="6486600" cy="523800"/>
          </a:xfrm>
          <a:prstGeom prst="rect">
            <a:avLst/>
          </a:prstGeom>
          <a:noFill/>
          <a:ln>
            <a:noFill/>
          </a:ln>
        </p:spPr>
        <p:txBody>
          <a:bodyPr anchorCtr="0" anchor="t" bIns="0" lIns="0" spcFirstLastPara="1" rIns="0" wrap="square" tIns="61450">
            <a:spAutoFit/>
          </a:bodyPr>
          <a:lstStyle/>
          <a:p>
            <a:pPr indent="0" lvl="0" marL="12700" rtl="0" algn="l">
              <a:lnSpc>
                <a:spcPct val="100000"/>
              </a:lnSpc>
              <a:spcBef>
                <a:spcPts val="0"/>
              </a:spcBef>
              <a:spcAft>
                <a:spcPts val="0"/>
              </a:spcAft>
              <a:buNone/>
            </a:pPr>
            <a:r>
              <a:rPr lang="en-US" sz="3000"/>
              <a:t>Pseudocolumnas NEXTVAL y CURRVAL</a:t>
            </a:r>
            <a:endParaRPr sz="3000"/>
          </a:p>
        </p:txBody>
      </p:sp>
      <p:sp>
        <p:nvSpPr>
          <p:cNvPr id="232" name="Google Shape;232;p31"/>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233" name="Google Shape;233;p31"/>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4" name="Google Shape;234;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5" name="Google Shape;235;p31"/>
          <p:cNvSpPr txBox="1"/>
          <p:nvPr/>
        </p:nvSpPr>
        <p:spPr>
          <a:xfrm>
            <a:off x="483552" y="1415417"/>
            <a:ext cx="8023859" cy="2960370"/>
          </a:xfrm>
          <a:prstGeom prst="rect">
            <a:avLst/>
          </a:prstGeom>
          <a:noFill/>
          <a:ln>
            <a:noFill/>
          </a:ln>
        </p:spPr>
        <p:txBody>
          <a:bodyPr anchorCtr="0" anchor="t" bIns="0" lIns="0" spcFirstLastPara="1" rIns="0" wrap="square" tIns="59675">
            <a:spAutoFit/>
          </a:bodyPr>
          <a:lstStyle/>
          <a:p>
            <a:pPr indent="-177800" lvl="0" marL="182880" marR="571500" rtl="0" algn="just">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pseudocolumna NEXTVAL se utiliza para extraer 	números de secuencia sucesivos de una secuencia 	especificada</a:t>
            </a:r>
            <a:endParaRPr sz="2800">
              <a:latin typeface="Calibri"/>
              <a:ea typeface="Calibri"/>
              <a:cs typeface="Calibri"/>
              <a:sym typeface="Calibri"/>
            </a:endParaRPr>
          </a:p>
          <a:p>
            <a:pPr indent="-177800" lvl="0" marL="183515" rtl="0" algn="just">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Debe cualificar a NEXTVAL con el nombre de columna</a:t>
            </a:r>
            <a:endParaRPr sz="2800">
              <a:latin typeface="Calibri"/>
              <a:ea typeface="Calibri"/>
              <a:cs typeface="Calibri"/>
              <a:sym typeface="Calibri"/>
            </a:endParaRPr>
          </a:p>
          <a:p>
            <a:pPr indent="-177800" lvl="0" marL="182880" marR="5080" rtl="0" algn="just">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hacer referencia a sequence.NEXTVAL, se genera un 	nuevo número de secuencia y el actual se sustituye en 	CURRVAL</a:t>
            </a:r>
            <a:endParaRPr sz="280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32"/>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Pseudocolumnas NEXTVAL y CURRVAL</a:t>
            </a:r>
            <a:endParaRPr/>
          </a:p>
        </p:txBody>
      </p:sp>
      <p:sp>
        <p:nvSpPr>
          <p:cNvPr id="241" name="Google Shape;241;p32"/>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242" name="Google Shape;242;p32"/>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3" name="Google Shape;243;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4" name="Google Shape;244;p32"/>
          <p:cNvSpPr txBox="1"/>
          <p:nvPr/>
        </p:nvSpPr>
        <p:spPr>
          <a:xfrm>
            <a:off x="483552" y="1415417"/>
            <a:ext cx="8175625" cy="2090420"/>
          </a:xfrm>
          <a:prstGeom prst="rect">
            <a:avLst/>
          </a:prstGeom>
          <a:noFill/>
          <a:ln>
            <a:noFill/>
          </a:ln>
        </p:spPr>
        <p:txBody>
          <a:bodyPr anchorCtr="0" anchor="t" bIns="0" lIns="0" spcFirstLastPara="1" rIns="0" wrap="square" tIns="59675">
            <a:spAutoFit/>
          </a:bodyPr>
          <a:lstStyle/>
          <a:p>
            <a:pPr indent="-177800" lvl="0" marL="182880" marR="17386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siguiente se inserta un nuevo 	departamento en la tabla DEPARTMENTS</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Utiliza la secuencia DEPARTMENTS_SEQ para generar 	un nuevo número de departamento como se muestra a 	continuación:</a:t>
            </a:r>
            <a:endParaRPr sz="2800">
              <a:latin typeface="Calibri"/>
              <a:ea typeface="Calibri"/>
              <a:cs typeface="Calibri"/>
              <a:sym typeface="Calibri"/>
            </a:endParaRPr>
          </a:p>
        </p:txBody>
      </p:sp>
      <p:sp>
        <p:nvSpPr>
          <p:cNvPr id="245" name="Google Shape;245;p32"/>
          <p:cNvSpPr txBox="1"/>
          <p:nvPr/>
        </p:nvSpPr>
        <p:spPr>
          <a:xfrm>
            <a:off x="405384" y="3758184"/>
            <a:ext cx="8345805" cy="963294"/>
          </a:xfrm>
          <a:prstGeom prst="rect">
            <a:avLst/>
          </a:prstGeom>
          <a:solidFill>
            <a:srgbClr val="9DBDC4">
              <a:alpha val="49804"/>
            </a:srgbClr>
          </a:solidFill>
          <a:ln>
            <a:noFill/>
          </a:ln>
        </p:spPr>
        <p:txBody>
          <a:bodyPr anchorCtr="0" anchor="t" bIns="0" lIns="0" spcFirstLastPara="1" rIns="0" wrap="square" tIns="419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INSERT INTO departments</a:t>
            </a:r>
            <a:endParaRPr sz="1800">
              <a:latin typeface="Courier New"/>
              <a:ea typeface="Courier New"/>
              <a:cs typeface="Courier New"/>
              <a:sym typeface="Courier New"/>
            </a:endParaRPr>
          </a:p>
          <a:p>
            <a:pPr indent="1092200" lvl="0" marL="0" marR="110363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(department_id, department_name, location_id) VALUES	(departments_seq.NEXTVAL, 'Support', 2500);</a:t>
            </a:r>
            <a:endParaRPr sz="1800">
              <a:latin typeface="Courier New"/>
              <a:ea typeface="Courier New"/>
              <a:cs typeface="Courier New"/>
              <a:sym typeface="Courier New"/>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3"/>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Pseudocolumnas NEXTVAL y CURRVAL</a:t>
            </a:r>
            <a:endParaRPr/>
          </a:p>
        </p:txBody>
      </p:sp>
      <p:sp>
        <p:nvSpPr>
          <p:cNvPr id="251" name="Google Shape;251;p33"/>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252" name="Google Shape;252;p33"/>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3" name="Google Shape;253;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4" name="Google Shape;254;p33"/>
          <p:cNvSpPr txBox="1"/>
          <p:nvPr/>
        </p:nvSpPr>
        <p:spPr>
          <a:xfrm>
            <a:off x="483552" y="1415417"/>
            <a:ext cx="7725409" cy="1706245"/>
          </a:xfrm>
          <a:prstGeom prst="rect">
            <a:avLst/>
          </a:prstGeom>
          <a:noFill/>
          <a:ln>
            <a:noFill/>
          </a:ln>
        </p:spPr>
        <p:txBody>
          <a:bodyPr anchorCtr="0" anchor="t" bIns="0" lIns="0" spcFirstLastPara="1" rIns="0" wrap="square" tIns="59675">
            <a:spAutoFit/>
          </a:bodyPr>
          <a:lstStyle/>
          <a:p>
            <a:pPr indent="-177800" lvl="0" marL="182880" marR="1257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Supongamos ahora que desea contratar empleados 	para el nuevo departamento</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sentencia INSERT que se debe ejecutar para los 	nuevos empleados puede incluir el siguiente código:</a:t>
            </a:r>
            <a:endParaRPr sz="2800">
              <a:latin typeface="Calibri"/>
              <a:ea typeface="Calibri"/>
              <a:cs typeface="Calibri"/>
              <a:sym typeface="Calibri"/>
            </a:endParaRPr>
          </a:p>
        </p:txBody>
      </p:sp>
      <p:sp>
        <p:nvSpPr>
          <p:cNvPr id="255" name="Google Shape;255;p33"/>
          <p:cNvSpPr txBox="1"/>
          <p:nvPr/>
        </p:nvSpPr>
        <p:spPr>
          <a:xfrm>
            <a:off x="483552" y="4126613"/>
            <a:ext cx="7132955" cy="16046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Nota: en el ejemplo anterior, se asume que la 	secuencia denominada EMPLOYEE_SEQ ya se ha 	creado para generar los números de los nuevos 	empleados</a:t>
            </a:r>
            <a:endParaRPr sz="2800">
              <a:latin typeface="Calibri"/>
              <a:ea typeface="Calibri"/>
              <a:cs typeface="Calibri"/>
              <a:sym typeface="Calibri"/>
            </a:endParaRPr>
          </a:p>
        </p:txBody>
      </p:sp>
      <p:sp>
        <p:nvSpPr>
          <p:cNvPr id="256" name="Google Shape;256;p33"/>
          <p:cNvSpPr txBox="1"/>
          <p:nvPr/>
        </p:nvSpPr>
        <p:spPr>
          <a:xfrm>
            <a:off x="405384" y="3144011"/>
            <a:ext cx="8345805" cy="107759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3333"/>
              </a:lnSpc>
              <a:spcBef>
                <a:spcPts val="0"/>
              </a:spcBef>
              <a:spcAft>
                <a:spcPts val="0"/>
              </a:spcAft>
              <a:buNone/>
            </a:pPr>
            <a:r>
              <a:rPr b="1" lang="en-US" sz="1800">
                <a:solidFill>
                  <a:srgbClr val="4E3629"/>
                </a:solidFill>
                <a:latin typeface="Courier New"/>
                <a:ea typeface="Courier New"/>
                <a:cs typeface="Courier New"/>
                <a:sym typeface="Courier New"/>
              </a:rPr>
              <a:t>INSERT INTO employees</a:t>
            </a:r>
            <a:endParaRPr sz="1800">
              <a:latin typeface="Courier New"/>
              <a:ea typeface="Courier New"/>
              <a:cs typeface="Courier New"/>
              <a:sym typeface="Courier New"/>
            </a:endParaRPr>
          </a:p>
          <a:p>
            <a:pPr indent="0" lvl="0" marL="9563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(employee_id, department_id, ...)</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 (employees_seq.NEXTVAL, dept_deptid_seq .CURRVAL,</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a:t>
            </a:r>
            <a:endParaRPr sz="1800">
              <a:latin typeface="Courier New"/>
              <a:ea typeface="Courier New"/>
              <a:cs typeface="Courier New"/>
              <a:sym typeface="Courier New"/>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4"/>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Pseudocolumnas NEXTVAL y CURRVAL</a:t>
            </a:r>
            <a:endParaRPr/>
          </a:p>
        </p:txBody>
      </p:sp>
      <p:sp>
        <p:nvSpPr>
          <p:cNvPr id="262" name="Google Shape;262;p34"/>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263" name="Google Shape;263;p34"/>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64" name="Google Shape;264;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65" name="Google Shape;265;p34"/>
          <p:cNvSpPr txBox="1"/>
          <p:nvPr/>
        </p:nvSpPr>
        <p:spPr>
          <a:xfrm>
            <a:off x="483552" y="1415417"/>
            <a:ext cx="8114665" cy="2960370"/>
          </a:xfrm>
          <a:prstGeom prst="rect">
            <a:avLst/>
          </a:prstGeom>
          <a:noFill/>
          <a:ln>
            <a:noFill/>
          </a:ln>
        </p:spPr>
        <p:txBody>
          <a:bodyPr anchorCtr="0" anchor="t" bIns="0" lIns="0" spcFirstLastPara="1" rIns="0" wrap="square" tIns="59675">
            <a:spAutoFit/>
          </a:bodyPr>
          <a:lstStyle/>
          <a:p>
            <a:pPr indent="-177800" lvl="0" marL="182880" marR="22225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pseudocolumna CURRVAL del ejemplo siguiente se 	utiliza para hacer referencia al número de secuencia 	que acaba de generar el usuario actual</a:t>
            </a:r>
            <a:endParaRPr sz="2800">
              <a:latin typeface="Calibri"/>
              <a:ea typeface="Calibri"/>
              <a:cs typeface="Calibri"/>
              <a:sym typeface="Calibri"/>
            </a:endParaRPr>
          </a:p>
          <a:p>
            <a:pPr indent="-177800" lvl="0" marL="182880" marR="15240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NEXTVAL se debe utilizar para generar un número de 	secuencia en la sesión del usuario actual antes de que 	se pueda hacer referencia a CURRVAL</a:t>
            </a:r>
            <a:endParaRPr sz="2800">
              <a:latin typeface="Calibri"/>
              <a:ea typeface="Calibri"/>
              <a:cs typeface="Calibri"/>
              <a:sym typeface="Calibri"/>
            </a:endParaRPr>
          </a:p>
          <a:p>
            <a:pPr indent="-177800" lvl="0" marL="183515" rtl="0" algn="l">
              <a:lnSpc>
                <a:spcPct val="100000"/>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Debe cualificar a CURRVAL con el nombre de secuencia</a:t>
            </a:r>
            <a:endParaRPr sz="280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5"/>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Pseudocolumnas NEXTVAL y CURRVAL</a:t>
            </a:r>
            <a:endParaRPr/>
          </a:p>
        </p:txBody>
      </p:sp>
      <p:sp>
        <p:nvSpPr>
          <p:cNvPr id="271" name="Google Shape;271;p35"/>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272" name="Google Shape;272;p35"/>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3" name="Google Shape;273;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4" name="Google Shape;274;p35"/>
          <p:cNvSpPr txBox="1"/>
          <p:nvPr/>
        </p:nvSpPr>
        <p:spPr>
          <a:xfrm>
            <a:off x="483552" y="1415417"/>
            <a:ext cx="8033384"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hacer referencia a sequence.CURRVAL, se devuelve 	el último valor generado por el proceso de ese usuario</a:t>
            </a:r>
            <a:endParaRPr sz="2800">
              <a:latin typeface="Calibri"/>
              <a:ea typeface="Calibri"/>
              <a:cs typeface="Calibri"/>
              <a:sym typeface="Calibri"/>
            </a:endParaRPr>
          </a:p>
        </p:txBody>
      </p:sp>
      <p:sp>
        <p:nvSpPr>
          <p:cNvPr id="275" name="Google Shape;275;p35"/>
          <p:cNvSpPr txBox="1"/>
          <p:nvPr/>
        </p:nvSpPr>
        <p:spPr>
          <a:xfrm>
            <a:off x="405384" y="2479548"/>
            <a:ext cx="8345805" cy="949960"/>
          </a:xfrm>
          <a:prstGeom prst="rect">
            <a:avLst/>
          </a:prstGeom>
          <a:solidFill>
            <a:srgbClr val="9DBDC4">
              <a:alpha val="49804"/>
            </a:srgbClr>
          </a:solidFill>
          <a:ln>
            <a:noFill/>
          </a:ln>
        </p:spPr>
        <p:txBody>
          <a:bodyPr anchorCtr="0" anchor="t" bIns="0" lIns="0" spcFirstLastPara="1" rIns="0" wrap="square" tIns="355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INSERT INTO employees</a:t>
            </a:r>
            <a:endParaRPr sz="1800">
              <a:latin typeface="Courier New"/>
              <a:ea typeface="Courier New"/>
              <a:cs typeface="Courier New"/>
              <a:sym typeface="Courier New"/>
            </a:endParaRPr>
          </a:p>
          <a:p>
            <a:pPr indent="0" lvl="0" marL="95631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(employee_id, department_id, ...)</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VALUES (employees_seq.NEXTVAL, dept_deptid_seq.CURRVAL, ...);</a:t>
            </a:r>
            <a:endParaRPr sz="1800">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6"/>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una Secuencia</a:t>
            </a:r>
            <a:endParaRPr/>
          </a:p>
        </p:txBody>
      </p:sp>
      <p:sp>
        <p:nvSpPr>
          <p:cNvPr id="281" name="Google Shape;281;p36"/>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282" name="Google Shape;282;p36"/>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3" name="Google Shape;283;p3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84" name="Google Shape;284;p36"/>
          <p:cNvSpPr txBox="1"/>
          <p:nvPr/>
        </p:nvSpPr>
        <p:spPr>
          <a:xfrm>
            <a:off x="483552" y="1415417"/>
            <a:ext cx="7922895" cy="4326255"/>
          </a:xfrm>
          <a:prstGeom prst="rect">
            <a:avLst/>
          </a:prstGeom>
          <a:noFill/>
          <a:ln>
            <a:noFill/>
          </a:ln>
        </p:spPr>
        <p:txBody>
          <a:bodyPr anchorCtr="0" anchor="t" bIns="0" lIns="0" spcFirstLastPara="1" rIns="0" wrap="square" tIns="59675">
            <a:spAutoFit/>
          </a:bodyPr>
          <a:lstStyle/>
          <a:p>
            <a:pPr indent="-177800" lvl="0" marL="182880" marR="1143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Después de crear una secuencia, se generan números 	secuenciales para utilizarlos en las tablas. Haga 	referencia a los valores de secuencia mediante las 	pseudocolumnas NEXTVAL y CURRVAL</a:t>
            </a:r>
            <a:endParaRPr sz="2800">
              <a:latin typeface="Calibri"/>
              <a:ea typeface="Calibri"/>
              <a:cs typeface="Calibri"/>
              <a:sym typeface="Calibri"/>
            </a:endParaRPr>
          </a:p>
          <a:p>
            <a:pPr indent="-177800" lvl="0" marL="182880" marR="25717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utilizar NEXTVAL y CURRVAL en los siguientes 	contextos:</a:t>
            </a:r>
            <a:endParaRPr sz="2800">
              <a:latin typeface="Calibri"/>
              <a:ea typeface="Calibri"/>
              <a:cs typeface="Calibri"/>
              <a:sym typeface="Calibri"/>
            </a:endParaRPr>
          </a:p>
          <a:p>
            <a:pPr indent="-175260" lvl="0" marL="530860" marR="5080" rtl="0" algn="l">
              <a:lnSpc>
                <a:spcPct val="107916"/>
              </a:lnSpc>
              <a:spcBef>
                <a:spcPts val="41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lista SELECT de una sentencia SELECT que no forme parte de una subconsulta</a:t>
            </a:r>
            <a:endParaRPr sz="2400">
              <a:latin typeface="Calibri"/>
              <a:ea typeface="Calibri"/>
              <a:cs typeface="Calibri"/>
              <a:sym typeface="Calibri"/>
            </a:endParaRPr>
          </a:p>
          <a:p>
            <a:pPr indent="0" lvl="0" marL="355600" rtl="0" algn="l">
              <a:lnSpc>
                <a:spcPct val="100000"/>
              </a:lnSpc>
              <a:spcBef>
                <a:spcPts val="8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lista SELECT de una subconsulta de la sentencia INSERT</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cláusula VALUES de la sentencia INSERT</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cláusula SET de la sentencia UPDATE</a:t>
            </a:r>
            <a:endParaRPr sz="240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7"/>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una Secuencia</a:t>
            </a:r>
            <a:endParaRPr/>
          </a:p>
        </p:txBody>
      </p:sp>
      <p:sp>
        <p:nvSpPr>
          <p:cNvPr id="290" name="Google Shape;290;p37"/>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291" name="Google Shape;291;p37"/>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92" name="Google Shape;292;p3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93" name="Google Shape;293;p37"/>
          <p:cNvSpPr txBox="1"/>
          <p:nvPr/>
        </p:nvSpPr>
        <p:spPr>
          <a:xfrm>
            <a:off x="483552" y="1415417"/>
            <a:ext cx="8013700" cy="3398520"/>
          </a:xfrm>
          <a:prstGeom prst="rect">
            <a:avLst/>
          </a:prstGeom>
          <a:noFill/>
          <a:ln>
            <a:noFill/>
          </a:ln>
        </p:spPr>
        <p:txBody>
          <a:bodyPr anchorCtr="0" anchor="t" bIns="0" lIns="0" spcFirstLastPara="1" rIns="0" wrap="square" tIns="59675">
            <a:spAutoFit/>
          </a:bodyPr>
          <a:lstStyle/>
          <a:p>
            <a:pPr indent="-177800" lvl="0" marL="182880" marR="137223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No puede utilizar NEXTVAL y CURRVAL en los 	siguientes contextos:</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lista SELECT de una vista</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sentencia SELECT con la palabra clave DISTINCT</a:t>
            </a:r>
            <a:endParaRPr sz="2400">
              <a:latin typeface="Calibri"/>
              <a:ea typeface="Calibri"/>
              <a:cs typeface="Calibri"/>
              <a:sym typeface="Calibri"/>
            </a:endParaRPr>
          </a:p>
          <a:p>
            <a:pPr indent="-175260" lvl="0" marL="530860" marR="1282065"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sentencia SELECT con las cláusulas GROUP BY, HAVING o ORDER BY</a:t>
            </a:r>
            <a:endParaRPr sz="2400">
              <a:latin typeface="Calibri"/>
              <a:ea typeface="Calibri"/>
              <a:cs typeface="Calibri"/>
              <a:sym typeface="Calibri"/>
            </a:endParaRPr>
          </a:p>
          <a:p>
            <a:pPr indent="0" lvl="0" marL="355600" rtl="0" algn="l">
              <a:lnSpc>
                <a:spcPct val="100000"/>
              </a:lnSpc>
              <a:spcBef>
                <a:spcPts val="8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subconsulta en una sentencia SELECT, DELETE o UPDATE</a:t>
            </a:r>
            <a:endParaRPr sz="2400">
              <a:latin typeface="Calibri"/>
              <a:ea typeface="Calibri"/>
              <a:cs typeface="Calibri"/>
              <a:sym typeface="Calibri"/>
            </a:endParaRPr>
          </a:p>
          <a:p>
            <a:pPr indent="-175260" lvl="0" marL="530860" marR="575945"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expresión DEFAULT en una sentencia CREATE TABLE o ALTER TABLE</a:t>
            </a:r>
            <a:endParaRPr sz="24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8"/>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una Secuencia</a:t>
            </a:r>
            <a:endParaRPr/>
          </a:p>
        </p:txBody>
      </p:sp>
      <p:sp>
        <p:nvSpPr>
          <p:cNvPr id="299" name="Google Shape;299;p38"/>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300" name="Google Shape;300;p38"/>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01" name="Google Shape;301;p3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02" name="Google Shape;302;p38"/>
          <p:cNvSpPr txBox="1"/>
          <p:nvPr/>
        </p:nvSpPr>
        <p:spPr>
          <a:xfrm>
            <a:off x="483552" y="1415417"/>
            <a:ext cx="772096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continuar con nuestro ejemplo del Maratón de 	Londres, se ha creado una tabla para los corredores:</a:t>
            </a:r>
            <a:endParaRPr sz="2800">
              <a:latin typeface="Calibri"/>
              <a:ea typeface="Calibri"/>
              <a:cs typeface="Calibri"/>
              <a:sym typeface="Calibri"/>
            </a:endParaRPr>
          </a:p>
        </p:txBody>
      </p:sp>
      <p:sp>
        <p:nvSpPr>
          <p:cNvPr id="303" name="Google Shape;303;p38"/>
          <p:cNvSpPr txBox="1"/>
          <p:nvPr/>
        </p:nvSpPr>
        <p:spPr>
          <a:xfrm>
            <a:off x="393191" y="2484120"/>
            <a:ext cx="8345805" cy="1274445"/>
          </a:xfrm>
          <a:prstGeom prst="rect">
            <a:avLst/>
          </a:prstGeom>
          <a:solidFill>
            <a:srgbClr val="9DBDC4">
              <a:alpha val="49804"/>
            </a:srgbClr>
          </a:solidFill>
          <a:ln>
            <a:noFill/>
          </a:ln>
        </p:spPr>
        <p:txBody>
          <a:bodyPr anchorCtr="0" anchor="t" bIns="0" lIns="0" spcFirstLastPara="1" rIns="0" wrap="square" tIns="6095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CREATE TABLE runners</a:t>
            </a:r>
            <a:endParaRPr sz="1800">
              <a:latin typeface="Courier New"/>
              <a:ea typeface="Courier New"/>
              <a:cs typeface="Courier New"/>
              <a:sym typeface="Courier New"/>
            </a:endParaRPr>
          </a:p>
          <a:p>
            <a:pPr indent="-136525" lvl="0" marL="136525" marR="14795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(runner_id NUMBER(6,0) CONSTRAINT runners_id_pk PRIMARY KEY, first_name VARCHAR2(30),</a:t>
            </a:r>
            <a:endParaRPr sz="1800">
              <a:latin typeface="Courier New"/>
              <a:ea typeface="Courier New"/>
              <a:cs typeface="Courier New"/>
              <a:sym typeface="Courier New"/>
            </a:endParaRPr>
          </a:p>
          <a:p>
            <a:pPr indent="0" lvl="0" marL="1365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last_name VARCHAR2(30));</a:t>
            </a:r>
            <a:endParaRPr sz="1800">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9"/>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una Secuencia</a:t>
            </a:r>
            <a:endParaRPr/>
          </a:p>
        </p:txBody>
      </p:sp>
      <p:sp>
        <p:nvSpPr>
          <p:cNvPr id="309" name="Google Shape;309;p39"/>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310" name="Google Shape;310;p39"/>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11" name="Google Shape;311;p3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12" name="Google Shape;312;p39"/>
          <p:cNvSpPr txBox="1"/>
          <p:nvPr/>
        </p:nvSpPr>
        <p:spPr>
          <a:xfrm>
            <a:off x="483552" y="1415417"/>
            <a:ext cx="766953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continuación, creamos la secuencia que generará 	valores para la columna de clave primaria runner_id</a:t>
            </a:r>
            <a:endParaRPr sz="2800">
              <a:latin typeface="Calibri"/>
              <a:ea typeface="Calibri"/>
              <a:cs typeface="Calibri"/>
              <a:sym typeface="Calibri"/>
            </a:endParaRPr>
          </a:p>
        </p:txBody>
      </p:sp>
      <p:sp>
        <p:nvSpPr>
          <p:cNvPr id="313" name="Google Shape;313;p39"/>
          <p:cNvSpPr txBox="1"/>
          <p:nvPr/>
        </p:nvSpPr>
        <p:spPr>
          <a:xfrm>
            <a:off x="405384" y="2496311"/>
            <a:ext cx="8345805" cy="1653539"/>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09722"/>
              </a:lnSpc>
              <a:spcBef>
                <a:spcPts val="0"/>
              </a:spcBef>
              <a:spcAft>
                <a:spcPts val="0"/>
              </a:spcAft>
              <a:buNone/>
            </a:pPr>
            <a:r>
              <a:rPr b="1" lang="en-US" sz="1800">
                <a:solidFill>
                  <a:srgbClr val="4E3629"/>
                </a:solidFill>
                <a:latin typeface="Courier New"/>
                <a:ea typeface="Courier New"/>
                <a:cs typeface="Courier New"/>
                <a:sym typeface="Courier New"/>
              </a:rPr>
              <a:t>CREATE SEQUENCE runner_id_seq</a:t>
            </a:r>
            <a:endParaRPr sz="1800">
              <a:latin typeface="Courier New"/>
              <a:ea typeface="Courier New"/>
              <a:cs typeface="Courier New"/>
              <a:sym typeface="Courier New"/>
            </a:endParaRPr>
          </a:p>
          <a:p>
            <a:pPr indent="0" lvl="0" marL="408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INCREMENT BY 1</a:t>
            </a:r>
            <a:endParaRPr sz="1800">
              <a:latin typeface="Courier New"/>
              <a:ea typeface="Courier New"/>
              <a:cs typeface="Courier New"/>
              <a:sym typeface="Courier New"/>
            </a:endParaRPr>
          </a:p>
          <a:p>
            <a:pPr indent="0" lvl="0" marL="408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START WITH 1</a:t>
            </a:r>
            <a:endParaRPr sz="1800">
              <a:latin typeface="Courier New"/>
              <a:ea typeface="Courier New"/>
              <a:cs typeface="Courier New"/>
              <a:sym typeface="Courier New"/>
            </a:endParaRPr>
          </a:p>
          <a:p>
            <a:pPr indent="0" lvl="0" marL="408940" marR="601916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MAXVALUE 50000 NOCACHE NOCYCLE;</a:t>
            </a:r>
            <a:endParaRPr sz="1800">
              <a:latin typeface="Courier New"/>
              <a:ea typeface="Courier New"/>
              <a:cs typeface="Courier New"/>
              <a:sym typeface="Courier New"/>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0"/>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una Secuencia</a:t>
            </a:r>
            <a:endParaRPr/>
          </a:p>
        </p:txBody>
      </p:sp>
      <p:sp>
        <p:nvSpPr>
          <p:cNvPr id="319" name="Google Shape;319;p40"/>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320" name="Google Shape;320;p40"/>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21" name="Google Shape;321;p4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22" name="Google Shape;322;p40"/>
          <p:cNvSpPr txBox="1"/>
          <p:nvPr/>
        </p:nvSpPr>
        <p:spPr>
          <a:xfrm>
            <a:off x="483552" y="1415417"/>
            <a:ext cx="8082280" cy="17062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uso de la siguiente sintaxis permitirá insertar nuevos 	participantes en la tabla de corredores</a:t>
            </a:r>
            <a:endParaRPr sz="2800">
              <a:latin typeface="Calibri"/>
              <a:ea typeface="Calibri"/>
              <a:cs typeface="Calibri"/>
              <a:sym typeface="Calibri"/>
            </a:endParaRPr>
          </a:p>
          <a:p>
            <a:pPr indent="-177800" lvl="0" marL="182880" marR="3111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número de identificación del corredor se generará 	mediante la recuperación del NEXTVAL de la secuencia</a:t>
            </a:r>
            <a:endParaRPr sz="2800">
              <a:latin typeface="Calibri"/>
              <a:ea typeface="Calibri"/>
              <a:cs typeface="Calibri"/>
              <a:sym typeface="Calibri"/>
            </a:endParaRPr>
          </a:p>
        </p:txBody>
      </p:sp>
      <p:graphicFrame>
        <p:nvGraphicFramePr>
          <p:cNvPr id="323" name="Google Shape;323;p40"/>
          <p:cNvGraphicFramePr/>
          <p:nvPr/>
        </p:nvGraphicFramePr>
        <p:xfrm>
          <a:off x="393134" y="3630167"/>
          <a:ext cx="3000000" cy="3000000"/>
        </p:xfrm>
        <a:graphic>
          <a:graphicData uri="http://schemas.openxmlformats.org/drawingml/2006/table">
            <a:tbl>
              <a:tblPr bandRow="1" firstRow="1">
                <a:noFill/>
                <a:tableStyleId>{C8AF7D7D-C925-4D9A-8C3B-01900BC00306}</a:tableStyleId>
              </a:tblPr>
              <a:tblGrid>
                <a:gridCol w="900425"/>
                <a:gridCol w="3411225"/>
                <a:gridCol w="4034150"/>
              </a:tblGrid>
              <a:tr h="582300">
                <a:tc>
                  <a:txBody>
                    <a:bodyPr/>
                    <a:lstStyle/>
                    <a:p>
                      <a:pPr indent="0" lvl="0" marL="0" marR="72390" rtl="0" algn="ctr">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INSERT</a:t>
                      </a:r>
                      <a:endParaRPr sz="1800" u="none" cap="none" strike="noStrike">
                        <a:latin typeface="Courier New"/>
                        <a:ea typeface="Courier New"/>
                        <a:cs typeface="Courier New"/>
                        <a:sym typeface="Courier New"/>
                      </a:endParaRPr>
                    </a:p>
                  </a:txBody>
                  <a:tcPr marT="3175" marB="0" marR="0" marL="0">
                    <a:solidFill>
                      <a:srgbClr val="9DBDC4">
                        <a:alpha val="49804"/>
                      </a:srgbClr>
                    </a:solidFill>
                  </a:tcPr>
                </a:tc>
                <a:tc>
                  <a:txBody>
                    <a:bodyPr/>
                    <a:lstStyle/>
                    <a:p>
                      <a:pPr indent="-135890" lvl="0" marL="192405" marR="7112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INTO runners (runner_id, first_name,</a:t>
                      </a:r>
                      <a:endParaRPr sz="1800" u="none" cap="none" strike="noStrike">
                        <a:latin typeface="Courier New"/>
                        <a:ea typeface="Courier New"/>
                        <a:cs typeface="Courier New"/>
                        <a:sym typeface="Courier New"/>
                      </a:endParaRPr>
                    </a:p>
                  </a:txBody>
                  <a:tcPr marT="3175" marB="0" marR="0" marL="0">
                    <a:solidFill>
                      <a:srgbClr val="9DBDC4">
                        <a:alpha val="49804"/>
                      </a:srgbClr>
                    </a:solidFill>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55880" marR="0" rtl="0" algn="l">
                        <a:lnSpc>
                          <a:spcPct val="100000"/>
                        </a:lnSpc>
                        <a:spcBef>
                          <a:spcPts val="5"/>
                        </a:spcBef>
                        <a:spcAft>
                          <a:spcPts val="0"/>
                        </a:spcAft>
                        <a:buNone/>
                      </a:pPr>
                      <a:r>
                        <a:rPr b="1" lang="en-US" sz="1800" u="none" cap="none" strike="noStrike">
                          <a:solidFill>
                            <a:srgbClr val="4E3629"/>
                          </a:solidFill>
                          <a:latin typeface="Courier New"/>
                          <a:ea typeface="Courier New"/>
                          <a:cs typeface="Courier New"/>
                          <a:sym typeface="Courier New"/>
                        </a:rPr>
                        <a:t>last_name)</a:t>
                      </a:r>
                      <a:endParaRPr sz="1800" u="none" cap="none" strike="noStrike">
                        <a:latin typeface="Courier New"/>
                        <a:ea typeface="Courier New"/>
                        <a:cs typeface="Courier New"/>
                        <a:sym typeface="Courier New"/>
                      </a:endParaRPr>
                    </a:p>
                  </a:txBody>
                  <a:tcPr marT="13975" marB="0" marR="0" marL="0">
                    <a:solidFill>
                      <a:srgbClr val="9DBDC4">
                        <a:alpha val="49804"/>
                      </a:srgbClr>
                    </a:solidFill>
                  </a:tcPr>
                </a:tc>
              </a:tr>
              <a:tr h="301000">
                <a:tc>
                  <a:txBody>
                    <a:bodyPr/>
                    <a:lstStyle/>
                    <a:p>
                      <a:pPr indent="0" lvl="0" marL="0" marR="72390" rtl="0" algn="ctr">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VALUES</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191770" marR="0" rtl="0" algn="l">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(runner_id_seq.NEXTVAL,</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55880" marR="0" rtl="0" algn="l">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'Joanne', 'Everely');</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r>
            </a:tbl>
          </a:graphicData>
        </a:graphic>
      </p:graphicFrame>
      <p:graphicFrame>
        <p:nvGraphicFramePr>
          <p:cNvPr id="324" name="Google Shape;324;p40"/>
          <p:cNvGraphicFramePr/>
          <p:nvPr/>
        </p:nvGraphicFramePr>
        <p:xfrm>
          <a:off x="416052" y="4837176"/>
          <a:ext cx="3000000" cy="3000000"/>
        </p:xfrm>
        <a:graphic>
          <a:graphicData uri="http://schemas.openxmlformats.org/drawingml/2006/table">
            <a:tbl>
              <a:tblPr bandRow="1" firstRow="1">
                <a:noFill/>
                <a:tableStyleId>{C8AF7D7D-C925-4D9A-8C3B-01900BC00306}</a:tableStyleId>
              </a:tblPr>
              <a:tblGrid>
                <a:gridCol w="877575"/>
                <a:gridCol w="3411225"/>
                <a:gridCol w="4058275"/>
              </a:tblGrid>
              <a:tr h="581650">
                <a:tc>
                  <a:txBody>
                    <a:bodyPr/>
                    <a:lstStyle/>
                    <a:p>
                      <a:pPr indent="0" lvl="0" marL="0" marR="48895" rtl="0" algn="ctr">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INSERT</a:t>
                      </a:r>
                      <a:endParaRPr sz="1800" u="none" cap="none" strike="noStrike">
                        <a:latin typeface="Courier New"/>
                        <a:ea typeface="Courier New"/>
                        <a:cs typeface="Courier New"/>
                        <a:sym typeface="Courier New"/>
                      </a:endParaRPr>
                    </a:p>
                  </a:txBody>
                  <a:tcPr marT="2550" marB="0" marR="0" marL="0">
                    <a:solidFill>
                      <a:srgbClr val="9DBDC4">
                        <a:alpha val="49804"/>
                      </a:srgbClr>
                    </a:solidFill>
                  </a:tcPr>
                </a:tc>
                <a:tc>
                  <a:txBody>
                    <a:bodyPr/>
                    <a:lstStyle/>
                    <a:p>
                      <a:pPr indent="-135890" lvl="0" marL="215265" marR="4826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INTO runners (runner_id, first_name,</a:t>
                      </a:r>
                      <a:endParaRPr sz="1800" u="none" cap="none" strike="noStrike">
                        <a:latin typeface="Courier New"/>
                        <a:ea typeface="Courier New"/>
                        <a:cs typeface="Courier New"/>
                        <a:sym typeface="Courier New"/>
                      </a:endParaRPr>
                    </a:p>
                  </a:txBody>
                  <a:tcPr marT="2550" marB="0" marR="0" marL="0">
                    <a:solidFill>
                      <a:srgbClr val="9DBDC4">
                        <a:alpha val="49804"/>
                      </a:srgbClr>
                    </a:solidFill>
                  </a:tcPr>
                </a:tc>
                <a:tc>
                  <a:txBody>
                    <a:bodyPr/>
                    <a:lstStyle/>
                    <a:p>
                      <a:pPr indent="0" lvl="0" marL="0" marR="0" rtl="0" algn="l">
                        <a:lnSpc>
                          <a:spcPct val="100000"/>
                        </a:lnSpc>
                        <a:spcBef>
                          <a:spcPts val="0"/>
                        </a:spcBef>
                        <a:spcAft>
                          <a:spcPts val="0"/>
                        </a:spcAft>
                        <a:buNone/>
                      </a:pPr>
                      <a:r>
                        <a:t/>
                      </a:r>
                      <a:endParaRPr sz="1800" u="none" cap="none" strike="noStrike">
                        <a:latin typeface="Times New Roman"/>
                        <a:ea typeface="Times New Roman"/>
                        <a:cs typeface="Times New Roman"/>
                        <a:sym typeface="Times New Roman"/>
                      </a:endParaRPr>
                    </a:p>
                    <a:p>
                      <a:pPr indent="0" lvl="0" marL="79375" marR="0"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last_name)</a:t>
                      </a:r>
                      <a:endParaRPr sz="1800" u="none" cap="none" strike="noStrike">
                        <a:latin typeface="Courier New"/>
                        <a:ea typeface="Courier New"/>
                        <a:cs typeface="Courier New"/>
                        <a:sym typeface="Courier New"/>
                      </a:endParaRPr>
                    </a:p>
                  </a:txBody>
                  <a:tcPr marT="13975" marB="0" marR="0" marL="0">
                    <a:solidFill>
                      <a:srgbClr val="9DBDC4">
                        <a:alpha val="49804"/>
                      </a:srgbClr>
                    </a:solidFill>
                  </a:tcPr>
                </a:tc>
              </a:tr>
              <a:tr h="299725">
                <a:tc>
                  <a:txBody>
                    <a:bodyPr/>
                    <a:lstStyle/>
                    <a:p>
                      <a:pPr indent="0" lvl="0" marL="0" marR="48895" rtl="0" algn="ctr">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VALUES</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215265" marR="0" rtl="0" algn="l">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(runner_id_seq.NEXTVAL,</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c>
                  <a:txBody>
                    <a:bodyPr/>
                    <a:lstStyle/>
                    <a:p>
                      <a:pPr indent="0" lvl="0" marL="78740" marR="0" rtl="0" algn="l">
                        <a:lnSpc>
                          <a:spcPct val="106666"/>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'Adam', 'Curtis');</a:t>
                      </a:r>
                      <a:endParaRPr sz="1800" u="none" cap="none" strike="noStrike">
                        <a:latin typeface="Courier New"/>
                        <a:ea typeface="Courier New"/>
                        <a:cs typeface="Courier New"/>
                        <a:sym typeface="Courier New"/>
                      </a:endParaRPr>
                    </a:p>
                  </a:txBody>
                  <a:tcPr marT="0" marB="0" marR="0" marL="0">
                    <a:solidFill>
                      <a:srgbClr val="9DBDC4">
                        <a:alpha val="49804"/>
                      </a:srgbClr>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1"/>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una Secuencia</a:t>
            </a:r>
            <a:endParaRPr/>
          </a:p>
        </p:txBody>
      </p:sp>
      <p:sp>
        <p:nvSpPr>
          <p:cNvPr id="330" name="Google Shape;330;p41"/>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331" name="Google Shape;331;p41"/>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32" name="Google Shape;332;p4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33" name="Google Shape;333;p41"/>
          <p:cNvSpPr txBox="1"/>
          <p:nvPr/>
        </p:nvSpPr>
        <p:spPr>
          <a:xfrm>
            <a:off x="483552" y="1415417"/>
            <a:ext cx="6122035"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confirmar que la secuencia funciona 	correctamente, se consulta la tabla:</a:t>
            </a:r>
            <a:endParaRPr sz="2800">
              <a:latin typeface="Calibri"/>
              <a:ea typeface="Calibri"/>
              <a:cs typeface="Calibri"/>
              <a:sym typeface="Calibri"/>
            </a:endParaRPr>
          </a:p>
        </p:txBody>
      </p:sp>
      <p:graphicFrame>
        <p:nvGraphicFramePr>
          <p:cNvPr id="334" name="Google Shape;334;p41"/>
          <p:cNvGraphicFramePr/>
          <p:nvPr/>
        </p:nvGraphicFramePr>
        <p:xfrm>
          <a:off x="1697570" y="3320956"/>
          <a:ext cx="3000000" cy="3000000"/>
        </p:xfrm>
        <a:graphic>
          <a:graphicData uri="http://schemas.openxmlformats.org/drawingml/2006/table">
            <a:tbl>
              <a:tblPr bandRow="1" firstRow="1">
                <a:noFill/>
                <a:tableStyleId>{C8AF7D7D-C925-4D9A-8C3B-01900BC00306}</a:tableStyleId>
              </a:tblPr>
              <a:tblGrid>
                <a:gridCol w="1774825"/>
                <a:gridCol w="1774825"/>
                <a:gridCol w="1774825"/>
              </a:tblGrid>
              <a:tr h="32322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RUNNER_ID</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FIRST_NAME</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232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Joanne</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Everely</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232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Adam</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Curtis</a:t>
                      </a:r>
                      <a:endParaRPr sz="1600" u="none" cap="none" strike="noStrike">
                        <a:latin typeface="Calibri"/>
                        <a:ea typeface="Calibri"/>
                        <a:cs typeface="Calibri"/>
                        <a:sym typeface="Calibri"/>
                      </a:endParaRPr>
                    </a:p>
                  </a:txBody>
                  <a:tcPr marT="27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335" name="Google Shape;335;p41"/>
          <p:cNvSpPr txBox="1"/>
          <p:nvPr/>
        </p:nvSpPr>
        <p:spPr>
          <a:xfrm>
            <a:off x="405384" y="2365248"/>
            <a:ext cx="8345805" cy="680085"/>
          </a:xfrm>
          <a:prstGeom prst="rect">
            <a:avLst/>
          </a:prstGeom>
          <a:solidFill>
            <a:srgbClr val="9DBDC4">
              <a:alpha val="49804"/>
            </a:srgbClr>
          </a:solidFill>
          <a:ln>
            <a:noFill/>
          </a:ln>
        </p:spPr>
        <p:txBody>
          <a:bodyPr anchorCtr="0" anchor="t" bIns="0" lIns="0" spcFirstLastPara="1" rIns="0" wrap="square" tIns="38100">
            <a:spAutoFit/>
          </a:bodyPr>
          <a:lstStyle/>
          <a:p>
            <a:pPr indent="0" lvl="0" marL="0" marR="301688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runner_id, first_name, last_name FROM runners;</a:t>
            </a:r>
            <a:endParaRPr sz="1800">
              <a:latin typeface="Courier New"/>
              <a:ea typeface="Courier New"/>
              <a:cs typeface="Courier New"/>
              <a:sym typeface="Courier New"/>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2"/>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una Secuencia</a:t>
            </a:r>
            <a:endParaRPr/>
          </a:p>
        </p:txBody>
      </p:sp>
      <p:sp>
        <p:nvSpPr>
          <p:cNvPr id="341" name="Google Shape;341;p42"/>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342" name="Google Shape;342;p42"/>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43" name="Google Shape;343;p4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44" name="Google Shape;344;p42"/>
          <p:cNvSpPr txBox="1"/>
          <p:nvPr/>
        </p:nvSpPr>
        <p:spPr>
          <a:xfrm>
            <a:off x="483552" y="1415417"/>
            <a:ext cx="7951470" cy="2192655"/>
          </a:xfrm>
          <a:prstGeom prst="rect">
            <a:avLst/>
          </a:prstGeom>
          <a:noFill/>
          <a:ln>
            <a:noFill/>
          </a:ln>
        </p:spPr>
        <p:txBody>
          <a:bodyPr anchorCtr="0" anchor="t" bIns="0" lIns="0" spcFirstLastPara="1" rIns="0" wrap="square" tIns="59675">
            <a:spAutoFit/>
          </a:bodyPr>
          <a:lstStyle/>
          <a:p>
            <a:pPr indent="-177800" lvl="0" marL="182880" marR="163957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ver el valor actual de runners_id_seq, 	se utiliza CURRVAL</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Observe el uso de la tabla DUAL en este ejemplo</a:t>
            </a:r>
            <a:endParaRPr sz="2800">
              <a:latin typeface="Calibri"/>
              <a:ea typeface="Calibri"/>
              <a:cs typeface="Calibri"/>
              <a:sym typeface="Calibri"/>
            </a:endParaRPr>
          </a:p>
          <a:p>
            <a:pPr indent="-177800" lvl="0" marL="182880"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Oracle Application Express no ejecutará esta consulta, 	pero debe comprender cómo funciona</a:t>
            </a:r>
            <a:endParaRPr sz="2800">
              <a:latin typeface="Calibri"/>
              <a:ea typeface="Calibri"/>
              <a:cs typeface="Calibri"/>
              <a:sym typeface="Calibri"/>
            </a:endParaRPr>
          </a:p>
        </p:txBody>
      </p:sp>
      <p:sp>
        <p:nvSpPr>
          <p:cNvPr id="345" name="Google Shape;345;p42"/>
          <p:cNvSpPr txBox="1"/>
          <p:nvPr/>
        </p:nvSpPr>
        <p:spPr>
          <a:xfrm>
            <a:off x="405384" y="3875532"/>
            <a:ext cx="8345805" cy="680085"/>
          </a:xfrm>
          <a:prstGeom prst="rect">
            <a:avLst/>
          </a:prstGeom>
          <a:solidFill>
            <a:srgbClr val="9DBDC4">
              <a:alpha val="49804"/>
            </a:srgbClr>
          </a:solidFill>
          <a:ln>
            <a:noFill/>
          </a:ln>
        </p:spPr>
        <p:txBody>
          <a:bodyPr anchorCtr="0" anchor="t" bIns="0" lIns="0" spcFirstLastPara="1" rIns="0" wrap="square" tIns="37450">
            <a:spAutoFit/>
          </a:bodyPr>
          <a:lstStyle/>
          <a:p>
            <a:pPr indent="0" lvl="0" marL="0" marR="45180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runner_id_seq.CURRVAL FROM dual;</a:t>
            </a:r>
            <a:endParaRPr sz="1800">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3"/>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una Secuencia</a:t>
            </a:r>
            <a:endParaRPr/>
          </a:p>
        </p:txBody>
      </p:sp>
      <p:sp>
        <p:nvSpPr>
          <p:cNvPr id="351" name="Google Shape;351;p43"/>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352" name="Google Shape;352;p43"/>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53" name="Google Shape;353;p4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54" name="Google Shape;354;p43"/>
          <p:cNvSpPr txBox="1"/>
          <p:nvPr/>
        </p:nvSpPr>
        <p:spPr>
          <a:xfrm>
            <a:off x="483552" y="1381889"/>
            <a:ext cx="8181340" cy="4613910"/>
          </a:xfrm>
          <a:prstGeom prst="rect">
            <a:avLst/>
          </a:prstGeom>
          <a:noFill/>
          <a:ln>
            <a:noFill/>
          </a:ln>
        </p:spPr>
        <p:txBody>
          <a:bodyPr anchorCtr="0" anchor="t" bIns="0" lIns="0" spcFirstLastPara="1" rIns="0" wrap="square" tIns="97150">
            <a:spAutoFit/>
          </a:bodyPr>
          <a:lstStyle/>
          <a:p>
            <a:pPr indent="-177800" lvl="0" marL="182880" marR="6985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secuencias almacenadas en la caché de la memoria 	permiten un acceso más rápido a los valores de 	secuencia</a:t>
            </a:r>
            <a:endParaRPr sz="2800">
              <a:latin typeface="Calibri"/>
              <a:ea typeface="Calibri"/>
              <a:cs typeface="Calibri"/>
              <a:sym typeface="Calibri"/>
            </a:endParaRPr>
          </a:p>
          <a:p>
            <a:pPr indent="-177800" lvl="0" marL="182880" marR="5080" rtl="0" algn="l">
              <a:lnSpc>
                <a:spcPct val="80000"/>
              </a:lnSpc>
              <a:spcBef>
                <a:spcPts val="81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caché se rellena la primera vez que hace referencia a 	la secuencia</a:t>
            </a:r>
            <a:endParaRPr sz="2800">
              <a:latin typeface="Calibri"/>
              <a:ea typeface="Calibri"/>
              <a:cs typeface="Calibri"/>
              <a:sym typeface="Calibri"/>
            </a:endParaRPr>
          </a:p>
          <a:p>
            <a:pPr indent="-177800" lvl="0" marL="182880" marR="864235" rtl="0" algn="l">
              <a:lnSpc>
                <a:spcPct val="80000"/>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solicitudes del siguiente valor de secuencia se 	recuperan de la secuencia almacenada en caché</a:t>
            </a:r>
            <a:endParaRPr sz="2800">
              <a:latin typeface="Calibri"/>
              <a:ea typeface="Calibri"/>
              <a:cs typeface="Calibri"/>
              <a:sym typeface="Calibri"/>
            </a:endParaRPr>
          </a:p>
          <a:p>
            <a:pPr indent="-177800" lvl="0" marL="182880" marR="48895"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Después de utilizar el último valor de secuencia, la 	siguiente solicitud de la secuencia introduce otra caché 	de secuencias en la memoria</a:t>
            </a:r>
            <a:endParaRPr sz="2800">
              <a:latin typeface="Calibri"/>
              <a:ea typeface="Calibri"/>
              <a:cs typeface="Calibri"/>
              <a:sym typeface="Calibri"/>
            </a:endParaRPr>
          </a:p>
          <a:p>
            <a:pPr indent="-177800" lvl="0" marL="182880" marR="1183005"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20 es el número por defecto de los números de 	secuencia almacenados en caché</a:t>
            </a:r>
            <a:endParaRPr sz="2800">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4"/>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Números no Secuenciales</a:t>
            </a:r>
            <a:endParaRPr/>
          </a:p>
        </p:txBody>
      </p:sp>
      <p:sp>
        <p:nvSpPr>
          <p:cNvPr id="360" name="Google Shape;360;p44"/>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361" name="Google Shape;361;p44"/>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62" name="Google Shape;362;p4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63" name="Google Shape;363;p44"/>
          <p:cNvSpPr txBox="1"/>
          <p:nvPr/>
        </p:nvSpPr>
        <p:spPr>
          <a:xfrm>
            <a:off x="483552" y="1419989"/>
            <a:ext cx="8072120" cy="4272280"/>
          </a:xfrm>
          <a:prstGeom prst="rect">
            <a:avLst/>
          </a:prstGeom>
          <a:noFill/>
          <a:ln>
            <a:noFill/>
          </a:ln>
        </p:spPr>
        <p:txBody>
          <a:bodyPr anchorCtr="0" anchor="t" bIns="0" lIns="0" spcFirstLastPara="1" rIns="0" wrap="square" tIns="57775">
            <a:spAutoFit/>
          </a:bodyPr>
          <a:lstStyle/>
          <a:p>
            <a:pPr indent="-172720" lvl="0" marL="184785" marR="73660" rtl="0" algn="l">
              <a:lnSpc>
                <a:spcPct val="108076"/>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Aunque los generadores de secuencias emiten números secuenciales sin intervalos, esta acción se realiza independientemente de que se realice una confirmación o un rollback en la base de datos</a:t>
            </a:r>
            <a:endParaRPr sz="2600">
              <a:latin typeface="Calibri"/>
              <a:ea typeface="Calibri"/>
              <a:cs typeface="Calibri"/>
              <a:sym typeface="Calibri"/>
            </a:endParaRPr>
          </a:p>
          <a:p>
            <a:pPr indent="-172720" lvl="0" marL="184785" marR="936625" rtl="0" algn="l">
              <a:lnSpc>
                <a:spcPct val="108076"/>
              </a:lnSpc>
              <a:spcBef>
                <a:spcPts val="79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Los intervalos (números no secuenciales) se pueden generar:</a:t>
            </a:r>
            <a:endParaRPr sz="2600">
              <a:latin typeface="Calibri"/>
              <a:ea typeface="Calibri"/>
              <a:cs typeface="Calibri"/>
              <a:sym typeface="Calibri"/>
            </a:endParaRPr>
          </a:p>
          <a:p>
            <a:pPr indent="-175895" lvl="0" marL="530860" marR="1084580" rtl="0" algn="l">
              <a:lnSpc>
                <a:spcPct val="108181"/>
              </a:lnSpc>
              <a:spcBef>
                <a:spcPts val="414"/>
              </a:spcBef>
              <a:spcAft>
                <a:spcPts val="0"/>
              </a:spcAft>
              <a:buNone/>
            </a:pPr>
            <a:r>
              <a:rPr lang="en-US" sz="2200">
                <a:solidFill>
                  <a:srgbClr val="D1350F"/>
                </a:solidFill>
                <a:latin typeface="Calibri"/>
                <a:ea typeface="Calibri"/>
                <a:cs typeface="Calibri"/>
                <a:sym typeface="Calibri"/>
              </a:rPr>
              <a:t>− </a:t>
            </a:r>
            <a:r>
              <a:rPr lang="en-US" sz="2200">
                <a:solidFill>
                  <a:srgbClr val="4E3629"/>
                </a:solidFill>
                <a:latin typeface="Calibri"/>
                <a:ea typeface="Calibri"/>
                <a:cs typeface="Calibri"/>
                <a:sym typeface="Calibri"/>
              </a:rPr>
              <a:t>Al realizar un rollback de una sentencia que contiene una secuencia, se pierde el número</a:t>
            </a:r>
            <a:endParaRPr sz="2200">
              <a:latin typeface="Calibri"/>
              <a:ea typeface="Calibri"/>
              <a:cs typeface="Calibri"/>
              <a:sym typeface="Calibri"/>
            </a:endParaRPr>
          </a:p>
          <a:p>
            <a:pPr indent="-175260" lvl="0" marL="530860" marR="111125" rtl="0" algn="l">
              <a:lnSpc>
                <a:spcPct val="108181"/>
              </a:lnSpc>
              <a:spcBef>
                <a:spcPts val="385"/>
              </a:spcBef>
              <a:spcAft>
                <a:spcPts val="0"/>
              </a:spcAft>
              <a:buNone/>
            </a:pPr>
            <a:r>
              <a:rPr lang="en-US" sz="2200">
                <a:solidFill>
                  <a:srgbClr val="D1350F"/>
                </a:solidFill>
                <a:latin typeface="Calibri"/>
                <a:ea typeface="Calibri"/>
                <a:cs typeface="Calibri"/>
                <a:sym typeface="Calibri"/>
              </a:rPr>
              <a:t>− </a:t>
            </a:r>
            <a:r>
              <a:rPr lang="en-US" sz="2200">
                <a:solidFill>
                  <a:srgbClr val="4E3629"/>
                </a:solidFill>
                <a:latin typeface="Calibri"/>
                <a:ea typeface="Calibri"/>
                <a:cs typeface="Calibri"/>
                <a:sym typeface="Calibri"/>
              </a:rPr>
              <a:t>Un fallo del sistema. Si la secuencia almacena en la caché los valores en la memoria y el sistema falla, dichos valores se pierden</a:t>
            </a:r>
            <a:endParaRPr sz="2200">
              <a:latin typeface="Calibri"/>
              <a:ea typeface="Calibri"/>
              <a:cs typeface="Calibri"/>
              <a:sym typeface="Calibri"/>
            </a:endParaRPr>
          </a:p>
          <a:p>
            <a:pPr indent="-175260" lvl="0" marL="530860" marR="5080" rtl="0" algn="l">
              <a:lnSpc>
                <a:spcPct val="108181"/>
              </a:lnSpc>
              <a:spcBef>
                <a:spcPts val="390"/>
              </a:spcBef>
              <a:spcAft>
                <a:spcPts val="0"/>
              </a:spcAft>
              <a:buNone/>
            </a:pPr>
            <a:r>
              <a:rPr lang="en-US" sz="2200">
                <a:solidFill>
                  <a:srgbClr val="D1350F"/>
                </a:solidFill>
                <a:latin typeface="Calibri"/>
                <a:ea typeface="Calibri"/>
                <a:cs typeface="Calibri"/>
                <a:sym typeface="Calibri"/>
              </a:rPr>
              <a:t>− </a:t>
            </a:r>
            <a:r>
              <a:rPr lang="en-US" sz="2200">
                <a:solidFill>
                  <a:srgbClr val="4E3629"/>
                </a:solidFill>
                <a:latin typeface="Calibri"/>
                <a:ea typeface="Calibri"/>
                <a:cs typeface="Calibri"/>
                <a:sym typeface="Calibri"/>
              </a:rPr>
              <a:t>El uso de la misma secuencia para varias tablas. Si lo hace así, cada tabla puede contener intervalos en los números secuenciales</a:t>
            </a:r>
            <a:endParaRPr sz="2200">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5"/>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Visualización del Siguiente Valor</a:t>
            </a:r>
            <a:endParaRPr/>
          </a:p>
        </p:txBody>
      </p:sp>
      <p:sp>
        <p:nvSpPr>
          <p:cNvPr id="369" name="Google Shape;369;p45"/>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370" name="Google Shape;370;p45"/>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71" name="Google Shape;371;p4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72" name="Google Shape;372;p45"/>
          <p:cNvSpPr txBox="1"/>
          <p:nvPr/>
        </p:nvSpPr>
        <p:spPr>
          <a:xfrm>
            <a:off x="483552" y="1415417"/>
            <a:ext cx="7910195" cy="16046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la secuencia se ha creado con NOCACHE, es posible 	ver el siguiente valor de secuencia disponible sin 	aumentarlo con la consulta de la tabla 	USER_SEQUENCES</a:t>
            </a:r>
            <a:endParaRPr sz="2800">
              <a:latin typeface="Calibri"/>
              <a:ea typeface="Calibri"/>
              <a:cs typeface="Calibri"/>
              <a:sym typeface="Calibri"/>
            </a:endParaRPr>
          </a:p>
        </p:txBody>
      </p:sp>
      <p:graphicFrame>
        <p:nvGraphicFramePr>
          <p:cNvPr id="373" name="Google Shape;373;p45"/>
          <p:cNvGraphicFramePr/>
          <p:nvPr/>
        </p:nvGraphicFramePr>
        <p:xfrm>
          <a:off x="621521" y="4404103"/>
          <a:ext cx="3000000" cy="3000000"/>
        </p:xfrm>
        <a:graphic>
          <a:graphicData uri="http://schemas.openxmlformats.org/drawingml/2006/table">
            <a:tbl>
              <a:tblPr bandRow="1" firstRow="1">
                <a:noFill/>
                <a:tableStyleId>{C8AF7D7D-C925-4D9A-8C3B-01900BC00306}</a:tableStyleId>
              </a:tblPr>
              <a:tblGrid>
                <a:gridCol w="1962150"/>
                <a:gridCol w="1962150"/>
                <a:gridCol w="1962150"/>
                <a:gridCol w="1962150"/>
              </a:tblGrid>
              <a:tr h="4876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SEQUENCE_NAME</a:t>
                      </a:r>
                      <a:endParaRPr sz="1600" u="none" cap="none" strike="noStrike">
                        <a:latin typeface="Calibri"/>
                        <a:ea typeface="Calibri"/>
                        <a:cs typeface="Calibri"/>
                        <a:sym typeface="Calibri"/>
                      </a:endParaRPr>
                    </a:p>
                  </a:txBody>
                  <a:tcPr marT="10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MIN_VALUE</a:t>
                      </a:r>
                      <a:endParaRPr sz="1600" u="none" cap="none" strike="noStrike">
                        <a:latin typeface="Calibri"/>
                        <a:ea typeface="Calibri"/>
                        <a:cs typeface="Calibri"/>
                        <a:sym typeface="Calibri"/>
                      </a:endParaRPr>
                    </a:p>
                  </a:txBody>
                  <a:tcPr marT="10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MAX_VALUE</a:t>
                      </a:r>
                      <a:endParaRPr sz="1600" u="none" cap="none" strike="noStrike">
                        <a:latin typeface="Calibri"/>
                        <a:ea typeface="Calibri"/>
                        <a:cs typeface="Calibri"/>
                        <a:sym typeface="Calibri"/>
                      </a:endParaRPr>
                    </a:p>
                  </a:txBody>
                  <a:tcPr marT="10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120" marR="0" rtl="0" algn="l">
                        <a:lnSpc>
                          <a:spcPct val="113750"/>
                        </a:lnSpc>
                        <a:spcBef>
                          <a:spcPts val="0"/>
                        </a:spcBef>
                        <a:spcAft>
                          <a:spcPts val="0"/>
                        </a:spcAft>
                        <a:buNone/>
                      </a:pPr>
                      <a:r>
                        <a:rPr b="1" lang="en-US" sz="1600" u="none" cap="none" strike="noStrike">
                          <a:solidFill>
                            <a:srgbClr val="4E3629"/>
                          </a:solidFill>
                          <a:latin typeface="Calibri"/>
                          <a:ea typeface="Calibri"/>
                          <a:cs typeface="Calibri"/>
                          <a:sym typeface="Calibri"/>
                        </a:rPr>
                        <a:t>Next number</a:t>
                      </a:r>
                      <a:endParaRPr sz="1600" u="none" cap="none" strike="noStrike">
                        <a:latin typeface="Calibri"/>
                        <a:ea typeface="Calibri"/>
                        <a:cs typeface="Calibri"/>
                        <a:sym typeface="Calibri"/>
                      </a:endParaRPr>
                    </a:p>
                    <a:p>
                      <a:pPr indent="0" lvl="0" marL="71120"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(Siguiente número)</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36550">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RUNNER_ID_SEQ</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50000</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a:t>
                      </a:r>
                      <a:endParaRPr sz="1600" u="none" cap="none" strike="noStrike">
                        <a:latin typeface="Calibri"/>
                        <a:ea typeface="Calibri"/>
                        <a:cs typeface="Calibri"/>
                        <a:sym typeface="Calibri"/>
                      </a:endParaRPr>
                    </a:p>
                  </a:txBody>
                  <a:tcPr marT="3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374" name="Google Shape;374;p45"/>
          <p:cNvSpPr txBox="1"/>
          <p:nvPr/>
        </p:nvSpPr>
        <p:spPr>
          <a:xfrm>
            <a:off x="405384" y="3037332"/>
            <a:ext cx="8345805" cy="112966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b="1" lang="en-US" sz="1800">
                <a:solidFill>
                  <a:srgbClr val="4E3629"/>
                </a:solidFill>
                <a:latin typeface="Courier New"/>
                <a:ea typeface="Courier New"/>
                <a:cs typeface="Courier New"/>
                <a:sym typeface="Courier New"/>
              </a:rPr>
              <a:t>SELECT sequence_name, min_value, max_value, last_number AS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"Next number"</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USER_SEQUENCES</a:t>
            </a:r>
            <a:endParaRPr sz="1800">
              <a:latin typeface="Courier New"/>
              <a:ea typeface="Courier New"/>
              <a:cs typeface="Courier New"/>
              <a:sym typeface="Courier New"/>
            </a:endParaRPr>
          </a:p>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WHERE sequence_name = 'RUNNER_ID_SEQ';</a:t>
            </a:r>
            <a:endParaRPr sz="1800">
              <a:latin typeface="Courier New"/>
              <a:ea typeface="Courier New"/>
              <a:cs typeface="Courier New"/>
              <a:sym typeface="Courier New"/>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6"/>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Modificación de una Secuencia</a:t>
            </a:r>
            <a:endParaRPr/>
          </a:p>
        </p:txBody>
      </p:sp>
      <p:sp>
        <p:nvSpPr>
          <p:cNvPr id="380" name="Google Shape;380;p46"/>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381" name="Google Shape;381;p46"/>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82" name="Google Shape;382;p4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83" name="Google Shape;383;p46"/>
          <p:cNvSpPr txBox="1"/>
          <p:nvPr/>
        </p:nvSpPr>
        <p:spPr>
          <a:xfrm>
            <a:off x="483552" y="1415417"/>
            <a:ext cx="8067675" cy="334454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igual que con otros objetos de base de datos que ha 	creado, SEQUENCE también se puede cambiar 	mediante la sentencia ALTER SEQUENCE</a:t>
            </a:r>
            <a:endParaRPr sz="2800">
              <a:latin typeface="Calibri"/>
              <a:ea typeface="Calibri"/>
              <a:cs typeface="Calibri"/>
              <a:sym typeface="Calibri"/>
            </a:endParaRPr>
          </a:p>
          <a:p>
            <a:pPr indent="-177800" lvl="0" marL="183515" rtl="0" algn="l">
              <a:lnSpc>
                <a:spcPct val="114107"/>
              </a:lnSpc>
              <a:spcBef>
                <a:spcPts val="409"/>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¿Qué ocurre si el Maratón de Londres ha excedido los</a:t>
            </a:r>
            <a:endParaRPr sz="2800">
              <a:latin typeface="Calibri"/>
              <a:ea typeface="Calibri"/>
              <a:cs typeface="Calibri"/>
              <a:sym typeface="Calibri"/>
            </a:endParaRPr>
          </a:p>
          <a:p>
            <a:pPr indent="0" lvl="0" marL="184785" marR="106045" rtl="0" algn="l">
              <a:lnSpc>
                <a:spcPct val="108214"/>
              </a:lnSpc>
              <a:spcBef>
                <a:spcPts val="210"/>
              </a:spcBef>
              <a:spcAft>
                <a:spcPts val="0"/>
              </a:spcAft>
              <a:buNone/>
            </a:pPr>
            <a:r>
              <a:rPr lang="en-US" sz="2800">
                <a:solidFill>
                  <a:srgbClr val="4E3629"/>
                </a:solidFill>
                <a:latin typeface="Calibri"/>
                <a:ea typeface="Calibri"/>
                <a:cs typeface="Calibri"/>
                <a:sym typeface="Calibri"/>
              </a:rPr>
              <a:t>50.000 registros de corredores y necesita agregar más números?</a:t>
            </a:r>
            <a:endParaRPr sz="2800">
              <a:latin typeface="Calibri"/>
              <a:ea typeface="Calibri"/>
              <a:cs typeface="Calibri"/>
              <a:sym typeface="Calibri"/>
            </a:endParaRPr>
          </a:p>
          <a:p>
            <a:pPr indent="-177800" lvl="0" marL="182880" marR="4191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secuencia se puede cambiar para aumentar el valor 	MAXVALUE sin cambiar el orden de números existente</a:t>
            </a:r>
            <a:endParaRPr sz="2800">
              <a:latin typeface="Calibri"/>
              <a:ea typeface="Calibri"/>
              <a:cs typeface="Calibri"/>
              <a:sym typeface="Calibri"/>
            </a:endParaRPr>
          </a:p>
        </p:txBody>
      </p:sp>
      <p:sp>
        <p:nvSpPr>
          <p:cNvPr id="384" name="Google Shape;384;p46"/>
          <p:cNvSpPr txBox="1"/>
          <p:nvPr/>
        </p:nvSpPr>
        <p:spPr>
          <a:xfrm>
            <a:off x="2391155" y="4920996"/>
            <a:ext cx="4767580" cy="1391920"/>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2222"/>
              </a:lnSpc>
              <a:spcBef>
                <a:spcPts val="0"/>
              </a:spcBef>
              <a:spcAft>
                <a:spcPts val="0"/>
              </a:spcAft>
              <a:buNone/>
            </a:pPr>
            <a:r>
              <a:rPr b="1" lang="en-US" sz="1800">
                <a:solidFill>
                  <a:srgbClr val="4E3629"/>
                </a:solidFill>
                <a:latin typeface="Courier New"/>
                <a:ea typeface="Courier New"/>
                <a:cs typeface="Courier New"/>
                <a:sym typeface="Courier New"/>
              </a:rPr>
              <a:t>ALTER SEQUENCE runner_id_seq</a:t>
            </a:r>
            <a:endParaRPr sz="1800">
              <a:latin typeface="Courier New"/>
              <a:ea typeface="Courier New"/>
              <a:cs typeface="Courier New"/>
              <a:sym typeface="Courier New"/>
            </a:endParaRPr>
          </a:p>
          <a:p>
            <a:pPr indent="0" lvl="0" marL="20478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INCREMENT BY 1</a:t>
            </a:r>
            <a:endParaRPr sz="1800">
              <a:latin typeface="Courier New"/>
              <a:ea typeface="Courier New"/>
              <a:cs typeface="Courier New"/>
              <a:sym typeface="Courier New"/>
            </a:endParaRPr>
          </a:p>
          <a:p>
            <a:pPr indent="0" lvl="0" marL="2047875" marR="6629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MAXVALUE 999999 NOCACHE NOCYCLE;</a:t>
            </a:r>
            <a:endParaRPr sz="1800">
              <a:latin typeface="Courier New"/>
              <a:ea typeface="Courier New"/>
              <a:cs typeface="Courier New"/>
              <a:sym typeface="Courier New"/>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7"/>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Modificación de una Secuencia</a:t>
            </a:r>
            <a:endParaRPr/>
          </a:p>
        </p:txBody>
      </p:sp>
      <p:sp>
        <p:nvSpPr>
          <p:cNvPr id="390" name="Google Shape;390;p47"/>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391" name="Google Shape;391;p47"/>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92" name="Google Shape;392;p4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93" name="Google Shape;393;p47"/>
          <p:cNvSpPr txBox="1"/>
          <p:nvPr/>
        </p:nvSpPr>
        <p:spPr>
          <a:xfrm>
            <a:off x="483552" y="1355371"/>
            <a:ext cx="8028940" cy="1382395"/>
          </a:xfrm>
          <a:prstGeom prst="rect">
            <a:avLst/>
          </a:prstGeom>
          <a:noFill/>
          <a:ln>
            <a:noFill/>
          </a:ln>
        </p:spPr>
        <p:txBody>
          <a:bodyPr anchorCtr="0" anchor="t" bIns="0" lIns="0" spcFirstLastPara="1" rIns="0" wrap="square" tIns="717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realiza alguna validación al modificar una secuencia</a:t>
            </a:r>
            <a:endParaRPr sz="2800">
              <a:latin typeface="Calibri"/>
              <a:ea typeface="Calibri"/>
              <a:cs typeface="Calibri"/>
              <a:sym typeface="Calibri"/>
            </a:endParaRPr>
          </a:p>
          <a:p>
            <a:pPr indent="-177800" lvl="0" marL="182880" marR="7112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 no se puede ejecutar un nuevo valor 	MAXVALUE menor que el número de secuencia actual</a:t>
            </a:r>
            <a:endParaRPr sz="2800">
              <a:latin typeface="Calibri"/>
              <a:ea typeface="Calibri"/>
              <a:cs typeface="Calibri"/>
              <a:sym typeface="Calibri"/>
            </a:endParaRPr>
          </a:p>
        </p:txBody>
      </p:sp>
      <p:sp>
        <p:nvSpPr>
          <p:cNvPr id="394" name="Google Shape;394;p47"/>
          <p:cNvSpPr txBox="1"/>
          <p:nvPr/>
        </p:nvSpPr>
        <p:spPr>
          <a:xfrm>
            <a:off x="905032" y="4756471"/>
            <a:ext cx="7256145" cy="45339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1400">
                <a:solidFill>
                  <a:srgbClr val="FF0000"/>
                </a:solidFill>
                <a:latin typeface="Courier New"/>
                <a:ea typeface="Courier New"/>
                <a:cs typeface="Courier New"/>
                <a:sym typeface="Courier New"/>
              </a:rPr>
              <a:t>ERROR at line 1:</a:t>
            </a:r>
            <a:endParaRPr sz="1400">
              <a:latin typeface="Courier New"/>
              <a:ea typeface="Courier New"/>
              <a:cs typeface="Courier New"/>
              <a:sym typeface="Courier New"/>
            </a:endParaRPr>
          </a:p>
          <a:p>
            <a:pPr indent="0" lvl="0" marL="12700" rtl="0" algn="l">
              <a:lnSpc>
                <a:spcPct val="100000"/>
              </a:lnSpc>
              <a:spcBef>
                <a:spcPts val="5"/>
              </a:spcBef>
              <a:spcAft>
                <a:spcPts val="0"/>
              </a:spcAft>
              <a:buNone/>
            </a:pPr>
            <a:r>
              <a:rPr b="1" lang="en-US" sz="1400">
                <a:solidFill>
                  <a:srgbClr val="FF0000"/>
                </a:solidFill>
                <a:latin typeface="Courier New"/>
                <a:ea typeface="Courier New"/>
                <a:cs typeface="Courier New"/>
                <a:sym typeface="Courier New"/>
              </a:rPr>
              <a:t>ORA-04009: MAXVALUE cannot be made to be less than the current value</a:t>
            </a:r>
            <a:endParaRPr sz="1400">
              <a:latin typeface="Courier New"/>
              <a:ea typeface="Courier New"/>
              <a:cs typeface="Courier New"/>
              <a:sym typeface="Courier New"/>
            </a:endParaRPr>
          </a:p>
        </p:txBody>
      </p:sp>
      <p:sp>
        <p:nvSpPr>
          <p:cNvPr id="395" name="Google Shape;395;p47"/>
          <p:cNvSpPr txBox="1"/>
          <p:nvPr/>
        </p:nvSpPr>
        <p:spPr>
          <a:xfrm>
            <a:off x="362711" y="3243072"/>
            <a:ext cx="8345805" cy="1390015"/>
          </a:xfrm>
          <a:prstGeom prst="rect">
            <a:avLst/>
          </a:prstGeom>
          <a:solidFill>
            <a:srgbClr val="9DBDC4">
              <a:alpha val="49804"/>
            </a:srgbClr>
          </a:solidFill>
          <a:ln>
            <a:noFill/>
          </a:ln>
        </p:spPr>
        <p:txBody>
          <a:bodyPr anchorCtr="0" anchor="t" bIns="0" lIns="0" spcFirstLastPara="1" rIns="0" wrap="square" tIns="0">
            <a:spAutoFit/>
          </a:bodyPr>
          <a:lstStyle/>
          <a:p>
            <a:pPr indent="0" lvl="0" marL="0" rtl="0" algn="l">
              <a:lnSpc>
                <a:spcPct val="111888"/>
              </a:lnSpc>
              <a:spcBef>
                <a:spcPts val="0"/>
              </a:spcBef>
              <a:spcAft>
                <a:spcPts val="0"/>
              </a:spcAft>
              <a:buNone/>
            </a:pPr>
            <a:r>
              <a:rPr b="1" lang="en-US" sz="1800">
                <a:solidFill>
                  <a:srgbClr val="4E3629"/>
                </a:solidFill>
                <a:latin typeface="Courier New"/>
                <a:ea typeface="Courier New"/>
                <a:cs typeface="Courier New"/>
                <a:sym typeface="Courier New"/>
              </a:rPr>
              <a:t>ALTER SEQUENCE runner_id_seq</a:t>
            </a:r>
            <a:endParaRPr sz="1800">
              <a:latin typeface="Courier New"/>
              <a:ea typeface="Courier New"/>
              <a:cs typeface="Courier New"/>
              <a:sym typeface="Courier New"/>
            </a:endParaRPr>
          </a:p>
          <a:p>
            <a:pPr indent="0" lvl="0" marL="20478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INCREMENT BY 1</a:t>
            </a:r>
            <a:endParaRPr sz="1800">
              <a:latin typeface="Courier New"/>
              <a:ea typeface="Courier New"/>
              <a:cs typeface="Courier New"/>
              <a:sym typeface="Courier New"/>
            </a:endParaRPr>
          </a:p>
          <a:p>
            <a:pPr indent="0" lvl="0" marL="2047875" marR="47904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MAXVALUE 90 NOCACHE NOCYCLE;</a:t>
            </a:r>
            <a:endParaRPr sz="1800">
              <a:latin typeface="Courier New"/>
              <a:ea typeface="Courier New"/>
              <a:cs typeface="Courier New"/>
              <a:sym typeface="Courier New"/>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48"/>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Directrices de ALTER SEQUENCE</a:t>
            </a:r>
            <a:endParaRPr/>
          </a:p>
        </p:txBody>
      </p:sp>
      <p:sp>
        <p:nvSpPr>
          <p:cNvPr id="401" name="Google Shape;401;p48"/>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402" name="Google Shape;402;p48"/>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03" name="Google Shape;403;p4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04" name="Google Shape;404;p48"/>
          <p:cNvSpPr txBox="1"/>
          <p:nvPr/>
        </p:nvSpPr>
        <p:spPr>
          <a:xfrm>
            <a:off x="483552" y="1415417"/>
            <a:ext cx="8093709" cy="378206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aplican algunas directrices al ejecutar una sentencia 	ALTER SEQUENCE</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Tienen las siguientes características:</a:t>
            </a:r>
            <a:endParaRPr sz="2800">
              <a:latin typeface="Calibri"/>
              <a:ea typeface="Calibri"/>
              <a:cs typeface="Calibri"/>
              <a:sym typeface="Calibri"/>
            </a:endParaRPr>
          </a:p>
          <a:p>
            <a:pPr indent="-175260" lvl="0" marL="530860" marR="528320" rtl="0" algn="l">
              <a:lnSpc>
                <a:spcPct val="107916"/>
              </a:lnSpc>
              <a:spcBef>
                <a:spcPts val="46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Debe ser el propietario o tener el privilegio ALTER para la secuencia para poder modificarla</a:t>
            </a:r>
            <a:endParaRPr sz="2400">
              <a:latin typeface="Calibri"/>
              <a:ea typeface="Calibri"/>
              <a:cs typeface="Calibri"/>
              <a:sym typeface="Calibri"/>
            </a:endParaRPr>
          </a:p>
          <a:p>
            <a:pPr indent="-175260" lvl="0" marL="530860" marR="232410" rtl="0" algn="l">
              <a:lnSpc>
                <a:spcPct val="107916"/>
              </a:lnSpc>
              <a:spcBef>
                <a:spcPts val="41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Solo se ven afectados por la sentencia ALTER SEQUENCE los números de secuencia futuros</a:t>
            </a:r>
            <a:endParaRPr sz="2400">
              <a:latin typeface="Calibri"/>
              <a:ea typeface="Calibri"/>
              <a:cs typeface="Calibri"/>
              <a:sym typeface="Calibri"/>
            </a:endParaRPr>
          </a:p>
          <a:p>
            <a:pPr indent="-175260" lvl="0" marL="530860" marR="54610" rtl="0" algn="just">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opción START WITH no se puede cambiar mediante ALTER SEQUENCE. La secuencia se debe borrar y volver a crear para reiniciar la secuencia en un número diferente</a:t>
            </a:r>
            <a:endParaRPr sz="2400">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49"/>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Eliminación de Secuencias</a:t>
            </a:r>
            <a:endParaRPr/>
          </a:p>
        </p:txBody>
      </p:sp>
      <p:sp>
        <p:nvSpPr>
          <p:cNvPr id="410" name="Google Shape;410;p49"/>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411" name="Google Shape;411;p49"/>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12" name="Google Shape;412;p4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13" name="Google Shape;413;p49"/>
          <p:cNvSpPr txBox="1"/>
          <p:nvPr/>
        </p:nvSpPr>
        <p:spPr>
          <a:xfrm>
            <a:off x="483552" y="1415417"/>
            <a:ext cx="7846695" cy="2576195"/>
          </a:xfrm>
          <a:prstGeom prst="rect">
            <a:avLst/>
          </a:prstGeom>
          <a:noFill/>
          <a:ln>
            <a:noFill/>
          </a:ln>
        </p:spPr>
        <p:txBody>
          <a:bodyPr anchorCtr="0" anchor="t" bIns="0" lIns="0" spcFirstLastPara="1" rIns="0" wrap="square" tIns="59675">
            <a:spAutoFit/>
          </a:bodyPr>
          <a:lstStyle/>
          <a:p>
            <a:pPr indent="-177800" lvl="0" marL="182880" marR="26034"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eliminar una secuencia del diccionario de datos, 	utilice la sentencia DROP SEQUENCE</a:t>
            </a:r>
            <a:endParaRPr sz="2800">
              <a:latin typeface="Calibri"/>
              <a:ea typeface="Calibri"/>
              <a:cs typeface="Calibri"/>
              <a:sym typeface="Calibri"/>
            </a:endParaRPr>
          </a:p>
          <a:p>
            <a:pPr indent="-177800" lvl="0" marL="182880" marR="60071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Debe ser el propietario de la secuencia o tener el 	privilegio DROP ANY SEQUENCE para eliminarla</a:t>
            </a:r>
            <a:endParaRPr sz="2800">
              <a:latin typeface="Calibri"/>
              <a:ea typeface="Calibri"/>
              <a:cs typeface="Calibri"/>
              <a:sym typeface="Calibri"/>
            </a:endParaRPr>
          </a:p>
          <a:p>
            <a:pPr indent="-177800" lvl="0" marL="182880" marR="508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vez eliminada, ya no se puede hacer referencia a 	la secuencia</a:t>
            </a:r>
            <a:endParaRPr sz="2800">
              <a:latin typeface="Calibri"/>
              <a:ea typeface="Calibri"/>
              <a:cs typeface="Calibri"/>
              <a:sym typeface="Calibri"/>
            </a:endParaRPr>
          </a:p>
        </p:txBody>
      </p:sp>
      <p:sp>
        <p:nvSpPr>
          <p:cNvPr id="414" name="Google Shape;414;p49"/>
          <p:cNvSpPr txBox="1"/>
          <p:nvPr/>
        </p:nvSpPr>
        <p:spPr>
          <a:xfrm>
            <a:off x="405384" y="4172711"/>
            <a:ext cx="8345805" cy="396240"/>
          </a:xfrm>
          <a:prstGeom prst="rect">
            <a:avLst/>
          </a:prstGeom>
          <a:solidFill>
            <a:srgbClr val="9DBDC4">
              <a:alpha val="49804"/>
            </a:srgbClr>
          </a:solidFill>
          <a:ln>
            <a:noFill/>
          </a:ln>
        </p:spPr>
        <p:txBody>
          <a:bodyPr anchorCtr="0" anchor="t" bIns="0" lIns="0" spcFirstLastPara="1" rIns="0" wrap="square" tIns="33000">
            <a:spAutoFit/>
          </a:bodyPr>
          <a:lstStyle/>
          <a:p>
            <a:pPr indent="0" lvl="0" marL="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DROP SEQUENCE runner_id_seq;</a:t>
            </a:r>
            <a:endParaRPr sz="1800">
              <a:latin typeface="Courier New"/>
              <a:ea typeface="Courier New"/>
              <a:cs typeface="Courier New"/>
              <a:sym typeface="Courier New"/>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50"/>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420" name="Google Shape;420;p50"/>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421" name="Google Shape;421;p50"/>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22" name="Google Shape;422;p5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23" name="Google Shape;423;p50"/>
          <p:cNvSpPr txBox="1"/>
          <p:nvPr/>
        </p:nvSpPr>
        <p:spPr>
          <a:xfrm>
            <a:off x="483552" y="1415417"/>
            <a:ext cx="7704455" cy="35001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CACHE/ NOCACHE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CREATE SEQUENCE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CURRVAL</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CYCLE/ NOCYCLE</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INCREMENT BY</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MAXVALUE</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MINVALUE</a:t>
            </a:r>
            <a:endParaRPr sz="2400">
              <a:latin typeface="Calibri"/>
              <a:ea typeface="Calibri"/>
              <a:cs typeface="Calibri"/>
              <a:sym typeface="Calibri"/>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51"/>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429" name="Google Shape;429;p51"/>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430" name="Google Shape;430;p51"/>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31" name="Google Shape;431;p5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432" name="Google Shape;432;p51"/>
          <p:cNvSpPr txBox="1"/>
          <p:nvPr/>
        </p:nvSpPr>
        <p:spPr>
          <a:xfrm>
            <a:off x="483552" y="1415417"/>
            <a:ext cx="7704455" cy="274002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NEXTVAL</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NOMAXVALUE</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NOMINVALUE</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Secuencias</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START WITH</a:t>
            </a:r>
            <a:endParaRPr sz="2400">
              <a:latin typeface="Calibri"/>
              <a:ea typeface="Calibri"/>
              <a:cs typeface="Calibri"/>
              <a:sym typeface="Calibri"/>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52"/>
          <p:cNvSpPr txBox="1"/>
          <p:nvPr>
            <p:ph type="title"/>
          </p:nvPr>
        </p:nvSpPr>
        <p:spPr>
          <a:xfrm>
            <a:off x="392112" y="748031"/>
            <a:ext cx="6486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438" name="Google Shape;438;p52"/>
          <p:cNvSpPr txBox="1"/>
          <p:nvPr>
            <p:ph idx="1" type="body"/>
          </p:nvPr>
        </p:nvSpPr>
        <p:spPr>
          <a:xfrm>
            <a:off x="483552" y="1381889"/>
            <a:ext cx="8176200" cy="5487600"/>
          </a:xfrm>
          <a:prstGeom prst="rect">
            <a:avLst/>
          </a:prstGeom>
          <a:noFill/>
          <a:ln>
            <a:noFill/>
          </a:ln>
        </p:spPr>
        <p:txBody>
          <a:bodyPr anchorCtr="0" anchor="t" bIns="0" lIns="0" spcFirstLastPara="1" rIns="0" wrap="square" tIns="12050">
            <a:spAutoFit/>
          </a:bodyPr>
          <a:lstStyle/>
          <a:p>
            <a:pPr indent="-177800" lvl="0" marL="183515" rtl="0" algn="l">
              <a:lnSpc>
                <a:spcPct val="117107"/>
              </a:lnSpc>
              <a:spcBef>
                <a:spcPts val="0"/>
              </a:spcBef>
              <a:spcAft>
                <a:spcPts val="0"/>
              </a:spcAft>
              <a:buClr>
                <a:srgbClr val="D1350F"/>
              </a:buClr>
              <a:buSzPts val="2800"/>
              <a:buFont typeface="Arial"/>
              <a:buChar char="•"/>
            </a:pPr>
            <a:r>
              <a:rPr lang="en-US"/>
              <a:t>En esta lección, debe haber aprendido lo siguiente:</a:t>
            </a:r>
            <a:endParaRPr/>
          </a:p>
          <a:p>
            <a:pPr indent="-175260" lvl="0" marL="530860" marR="1209675" rtl="0" algn="l">
              <a:lnSpc>
                <a:spcPct val="95833"/>
              </a:lnSpc>
              <a:spcBef>
                <a:spcPts val="475"/>
              </a:spcBef>
              <a:spcAft>
                <a:spcPts val="0"/>
              </a:spcAft>
              <a:buNone/>
            </a:pPr>
            <a:r>
              <a:rPr lang="en-US" sz="2400">
                <a:solidFill>
                  <a:srgbClr val="D1350F"/>
                </a:solidFill>
              </a:rPr>
              <a:t>−</a:t>
            </a:r>
            <a:r>
              <a:rPr lang="en-US" sz="2400"/>
              <a:t>Enumerar al menos tres características útiles de una secuencia</a:t>
            </a:r>
            <a:endParaRPr sz="2400"/>
          </a:p>
          <a:p>
            <a:pPr indent="0" lvl="0" marL="355600" rtl="0" algn="l">
              <a:lnSpc>
                <a:spcPct val="110208"/>
              </a:lnSpc>
              <a:spcBef>
                <a:spcPts val="1200"/>
              </a:spcBef>
              <a:spcAft>
                <a:spcPts val="0"/>
              </a:spcAft>
              <a:buNone/>
            </a:pPr>
            <a:r>
              <a:rPr lang="en-US" sz="2400">
                <a:solidFill>
                  <a:srgbClr val="D1350F"/>
                </a:solidFill>
              </a:rPr>
              <a:t>−</a:t>
            </a:r>
            <a:r>
              <a:rPr lang="en-US" sz="2400"/>
              <a:t>Escribir y ejecutar una sentencia SQL que crea una secuencia</a:t>
            </a:r>
            <a:endParaRPr sz="2400"/>
          </a:p>
          <a:p>
            <a:pPr indent="-175260" lvl="0" marL="530860" marR="5080" rtl="0" algn="l">
              <a:lnSpc>
                <a:spcPct val="95833"/>
              </a:lnSpc>
              <a:spcBef>
                <a:spcPts val="470"/>
              </a:spcBef>
              <a:spcAft>
                <a:spcPts val="0"/>
              </a:spcAft>
              <a:buNone/>
            </a:pPr>
            <a:r>
              <a:rPr lang="en-US" sz="2400">
                <a:solidFill>
                  <a:srgbClr val="D1350F"/>
                </a:solidFill>
              </a:rPr>
              <a:t>−</a:t>
            </a:r>
            <a:r>
              <a:rPr lang="en-US" sz="2400"/>
              <a:t>Consultar el diccionario de datos mediante USER_SEQUENCES para confirmar una definición de secuencia</a:t>
            </a:r>
            <a:endParaRPr sz="2400"/>
          </a:p>
          <a:p>
            <a:pPr indent="-175260" lvl="0" marL="530860" marR="848360" rtl="0" algn="l">
              <a:lnSpc>
                <a:spcPct val="80000"/>
              </a:lnSpc>
              <a:spcBef>
                <a:spcPts val="425"/>
              </a:spcBef>
              <a:spcAft>
                <a:spcPts val="0"/>
              </a:spcAft>
              <a:buNone/>
            </a:pPr>
            <a:r>
              <a:rPr lang="en-US" sz="2400">
                <a:solidFill>
                  <a:srgbClr val="D1350F"/>
                </a:solidFill>
              </a:rPr>
              <a:t>−</a:t>
            </a:r>
            <a:r>
              <a:rPr lang="en-US" sz="2400"/>
              <a:t>Aplicar las reglas para utilizar NEXTVAL a fin de generar números únicos secuenciales en una tabla</a:t>
            </a:r>
            <a:endParaRPr sz="2400"/>
          </a:p>
          <a:p>
            <a:pPr indent="-175260" lvl="0" marL="530860" marR="3150870" rtl="0" algn="just">
              <a:lnSpc>
                <a:spcPct val="95833"/>
              </a:lnSpc>
              <a:spcBef>
                <a:spcPts val="390"/>
              </a:spcBef>
              <a:spcAft>
                <a:spcPts val="0"/>
              </a:spcAft>
              <a:buNone/>
            </a:pPr>
            <a:r>
              <a:rPr lang="en-US" sz="2400">
                <a:solidFill>
                  <a:srgbClr val="D1350F"/>
                </a:solidFill>
              </a:rPr>
              <a:t>−</a:t>
            </a:r>
            <a:r>
              <a:rPr lang="en-US" sz="2400"/>
              <a:t>Enumerar las ventajas y desventajas del almacenamiento en caché de los valores de secuencia</a:t>
            </a:r>
            <a:endParaRPr sz="2400"/>
          </a:p>
          <a:p>
            <a:pPr indent="-175260" lvl="0" marL="530860" marR="3129280" rtl="0" algn="l">
              <a:lnSpc>
                <a:spcPct val="95833"/>
              </a:lnSpc>
              <a:spcBef>
                <a:spcPts val="409"/>
              </a:spcBef>
              <a:spcAft>
                <a:spcPts val="1200"/>
              </a:spcAft>
              <a:buNone/>
            </a:pPr>
            <a:r>
              <a:rPr lang="en-US" sz="2400">
                <a:solidFill>
                  <a:srgbClr val="D1350F"/>
                </a:solidFill>
              </a:rPr>
              <a:t>−</a:t>
            </a:r>
            <a:r>
              <a:rPr lang="en-US" sz="2400"/>
              <a:t>Nombrar tres motivos por los que se pueden producir intervalos en una secuencia</a:t>
            </a:r>
            <a:endParaRPr sz="2400"/>
          </a:p>
        </p:txBody>
      </p:sp>
      <p:grpSp>
        <p:nvGrpSpPr>
          <p:cNvPr id="439" name="Google Shape;439;p52"/>
          <p:cNvGrpSpPr/>
          <p:nvPr/>
        </p:nvGrpSpPr>
        <p:grpSpPr>
          <a:xfrm>
            <a:off x="5419344" y="4422648"/>
            <a:ext cx="3511295" cy="1947671"/>
            <a:chOff x="5419344" y="4422648"/>
            <a:chExt cx="3511295" cy="1947671"/>
          </a:xfrm>
        </p:grpSpPr>
        <p:pic>
          <p:nvPicPr>
            <p:cNvPr id="440" name="Google Shape;440;p52"/>
            <p:cNvPicPr preferRelativeResize="0"/>
            <p:nvPr/>
          </p:nvPicPr>
          <p:blipFill rotWithShape="1">
            <a:blip r:embed="rId3">
              <a:alphaModFix/>
            </a:blip>
            <a:srcRect b="0" l="0" r="0" t="0"/>
            <a:stretch/>
          </p:blipFill>
          <p:spPr>
            <a:xfrm>
              <a:off x="5419344" y="4422648"/>
              <a:ext cx="3511295" cy="1947671"/>
            </a:xfrm>
            <a:prstGeom prst="rect">
              <a:avLst/>
            </a:prstGeom>
            <a:noFill/>
            <a:ln>
              <a:noFill/>
            </a:ln>
          </p:spPr>
        </p:pic>
        <p:pic>
          <p:nvPicPr>
            <p:cNvPr id="441" name="Google Shape;441;p52"/>
            <p:cNvPicPr preferRelativeResize="0"/>
            <p:nvPr/>
          </p:nvPicPr>
          <p:blipFill rotWithShape="1">
            <a:blip r:embed="rId4">
              <a:alphaModFix/>
            </a:blip>
            <a:srcRect b="0" l="0" r="0" t="0"/>
            <a:stretch/>
          </p:blipFill>
          <p:spPr>
            <a:xfrm>
              <a:off x="5611367" y="4614672"/>
              <a:ext cx="3127248" cy="1563624"/>
            </a:xfrm>
            <a:prstGeom prst="rect">
              <a:avLst/>
            </a:prstGeom>
            <a:noFill/>
            <a:ln>
              <a:noFill/>
            </a:ln>
          </p:spPr>
        </p:pic>
      </p:grpSp>
      <p:sp>
        <p:nvSpPr>
          <p:cNvPr id="442" name="Google Shape;442;p52"/>
          <p:cNvSpPr txBox="1"/>
          <p:nvPr>
            <p:ph idx="10" type="dt"/>
          </p:nvPr>
        </p:nvSpPr>
        <p:spPr>
          <a:xfrm>
            <a:off x="2874191" y="6516395"/>
            <a:ext cx="10815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16-1</a:t>
            </a:r>
            <a:endParaRPr/>
          </a:p>
          <a:p>
            <a:pPr indent="0" lvl="0" marL="12700" rtl="0" algn="l">
              <a:lnSpc>
                <a:spcPct val="120624"/>
              </a:lnSpc>
              <a:spcBef>
                <a:spcPts val="0"/>
              </a:spcBef>
              <a:spcAft>
                <a:spcPts val="0"/>
              </a:spcAft>
              <a:buNone/>
            </a:pPr>
            <a:r>
              <a:rPr lang="en-US"/>
              <a:t>Trabajar con Secuencias</a:t>
            </a:r>
            <a:endParaRPr/>
          </a:p>
        </p:txBody>
      </p:sp>
      <p:sp>
        <p:nvSpPr>
          <p:cNvPr id="443" name="Google Shape;443;p52"/>
          <p:cNvSpPr txBox="1"/>
          <p:nvPr>
            <p:ph idx="12" type="sldNum"/>
          </p:nvPr>
        </p:nvSpPr>
        <p:spPr>
          <a:xfrm>
            <a:off x="8725090" y="6567768"/>
            <a:ext cx="179100" cy="1539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444" name="Google Shape;444;p5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