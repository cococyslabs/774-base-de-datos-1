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37" roundtripDataSignature="AMtx7midI9EI4zcTIkZZnDPsJWOexfXE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3049F9-55A0-439B-BCD3-49F332E12B36}">
  <a:tblStyle styleId="{413049F9-55A0-439B-BCD3-49F332E12B3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14:16:15</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Cada vez que envía una transacción en Oracle Application Express, se produce una CONFIRMACIÓN implícita. Puesto que se produce esta CONFIRMACIÓN, no se puede producir un ROLLBACK.</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8" name="Google Shape;128;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14:16:18</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Consulte la diapositiva 5 </a:t>
            </a:r>
            <a:endParaRPr/>
          </a:p>
          <a:p>
            <a:pPr indent="0" lvl="0" marL="0" rtl="0" algn="l">
              <a:spcBef>
                <a:spcPts val="0"/>
              </a:spcBef>
              <a:spcAft>
                <a:spcPts val="0"/>
              </a:spcAft>
              <a:buNone/>
            </a:pPr>
            <a:r>
              <a:rPr lang="en-US"/>
              <a:t>Cada vez que envía una transacción en Oracle Application Express, se produce una CONFIRMACIÓN implícita. Puesto que se produce esta CONFIRMACIÓN, no se puede producir un ROLLBACK.</a:t>
            </a:r>
            <a:endParaRPr/>
          </a:p>
        </p:txBody>
      </p:sp>
      <p:sp>
        <p:nvSpPr>
          <p:cNvPr id="155" name="Google Shape;155;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14:16:19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Consulte la diapositiva 5 </a:t>
            </a:r>
            <a:endParaRPr/>
          </a:p>
          <a:p>
            <a:pPr indent="0" lvl="0" marL="0" rtl="0" algn="l">
              <a:spcBef>
                <a:spcPts val="0"/>
              </a:spcBef>
              <a:spcAft>
                <a:spcPts val="0"/>
              </a:spcAft>
              <a:buNone/>
            </a:pPr>
            <a:r>
              <a:rPr lang="en-US"/>
              <a:t>Cada vez que envía una transacción en Oracle Application Express, se produce una CONFIRMACIÓN implícita. Puesto que se produce esta CONFIRMACIÓN, no se puede producir un ROLLBACK.</a:t>
            </a:r>
            <a:endParaRPr/>
          </a:p>
        </p:txBody>
      </p:sp>
      <p:sp>
        <p:nvSpPr>
          <p:cNvPr id="167" name="Google Shape;16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2" name="Google Shape;212;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2" name="Google Shape;232;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2" name="Google Shape;242;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51" name="Google Shape;251;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0" name="Google Shape;260;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93" name="Google Shape;293;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14:16:24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SAVEPOINTS no son objetos de esquema y no se puede hacer referencia a ellos en el diccionario de datos. Cuando una transacción termina (por COMMIT o ROLLBACK) todos los SAVEPOINTS definidos en la transacción se pierden.</a:t>
            </a:r>
            <a:endParaRPr/>
          </a:p>
        </p:txBody>
      </p:sp>
      <p:sp>
        <p:nvSpPr>
          <p:cNvPr id="355" name="Google Shape;355;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88" name="Google Shape;388;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97" name="Google Shape;397;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06" name="Google Shape;406;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16" name="Google Shape;416;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25" name="Google Shape;425;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34" name="Google Shape;434;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2d538877a2e_0_4"/>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g2d538877a2e_0_4"/>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2d538877a2e_0_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2d538877a2e_0_8"/>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g2d538877a2e_0_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2d538877a2e_0_11"/>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g2d538877a2e_0_11"/>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g2d538877a2e_0_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2d538877a2e_0_1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2d538877a2e_0_1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g2d538877a2e_0_1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g2d538877a2e_0_1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2d538877a2e_0_2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g2d538877a2e_0_2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2d538877a2e_0_23"/>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g2d538877a2e_0_23"/>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2d538877a2e_0_2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2d538877a2e_0_27"/>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g2d538877a2e_0_2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2d538877a2e_0_30"/>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2d538877a2e_0_30"/>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g2d538877a2e_0_30"/>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2d538877a2e_0_30"/>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g2d538877a2e_0_3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2d538877a2e_0_36"/>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g2d538877a2e_0_3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2d538877a2e_0_39"/>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2d538877a2e_0_39"/>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g2d538877a2e_0_3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2d538877a2e_0_4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g2d538877a2e_0_45"/>
          <p:cNvSpPr txBox="1"/>
          <p:nvPr>
            <p:ph type="title"/>
          </p:nvPr>
        </p:nvSpPr>
        <p:spPr>
          <a:xfrm>
            <a:off x="392112" y="748031"/>
            <a:ext cx="82365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g2d538877a2e_0_45"/>
          <p:cNvSpPr txBox="1"/>
          <p:nvPr>
            <p:ph idx="1" type="body"/>
          </p:nvPr>
        </p:nvSpPr>
        <p:spPr>
          <a:xfrm>
            <a:off x="483552" y="1415417"/>
            <a:ext cx="8100600" cy="3512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g2d538877a2e_0_45"/>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g2d538877a2e_0_45"/>
          <p:cNvSpPr txBox="1"/>
          <p:nvPr>
            <p:ph idx="10" type="dt"/>
          </p:nvPr>
        </p:nvSpPr>
        <p:spPr>
          <a:xfrm>
            <a:off x="2874191" y="6516395"/>
            <a:ext cx="14289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g2d538877a2e_0_4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d538877a2e_0_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g2d538877a2e_0_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g2d538877a2e_0_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2"/>
          <p:cNvGrpSpPr/>
          <p:nvPr/>
        </p:nvGrpSpPr>
        <p:grpSpPr>
          <a:xfrm>
            <a:off x="0" y="0"/>
            <a:ext cx="9144000" cy="6858000"/>
            <a:chOff x="0" y="0"/>
            <a:chExt cx="9144000" cy="6858000"/>
          </a:xfrm>
        </p:grpSpPr>
        <p:pic>
          <p:nvPicPr>
            <p:cNvPr id="61" name="Google Shape;61;p2"/>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2"/>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2"/>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2"/>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2"/>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2"/>
          <p:cNvSpPr txBox="1"/>
          <p:nvPr/>
        </p:nvSpPr>
        <p:spPr>
          <a:xfrm>
            <a:off x="962879" y="2400950"/>
            <a:ext cx="4017645"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18-1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Transacciones de Base de Datos</a:t>
            </a:r>
            <a:endParaRPr sz="2400">
              <a:latin typeface="Calibri"/>
              <a:ea typeface="Calibri"/>
              <a:cs typeface="Calibri"/>
              <a:sym typeface="Calibri"/>
            </a:endParaRPr>
          </a:p>
        </p:txBody>
      </p:sp>
      <p:pic>
        <p:nvPicPr>
          <p:cNvPr id="67" name="Google Shape;67;p2"/>
          <p:cNvPicPr preferRelativeResize="0"/>
          <p:nvPr/>
        </p:nvPicPr>
        <p:blipFill rotWithShape="1">
          <a:blip r:embed="rId5">
            <a:alphaModFix/>
          </a:blip>
          <a:srcRect b="0" l="0" r="0" t="0"/>
          <a:stretch/>
        </p:blipFill>
        <p:spPr>
          <a:xfrm>
            <a:off x="3689603" y="3485388"/>
            <a:ext cx="5099303" cy="30038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3"/>
          <p:cNvSpPr txBox="1"/>
          <p:nvPr/>
        </p:nvSpPr>
        <p:spPr>
          <a:xfrm>
            <a:off x="483552" y="1393401"/>
            <a:ext cx="7427595" cy="293433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a:t>
            </a:r>
            <a:endParaRPr sz="2800">
              <a:latin typeface="Calibri"/>
              <a:ea typeface="Calibri"/>
              <a:cs typeface="Calibri"/>
              <a:sym typeface="Calibri"/>
            </a:endParaRPr>
          </a:p>
          <a:p>
            <a:pPr indent="-175259" lvl="0" marL="530860" marR="508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los términos COMMIT, ROLLBACK y SAVEPOINT y su relación con las transacciones de datos</a:t>
            </a:r>
            <a:endParaRPr sz="2400">
              <a:latin typeface="Calibri"/>
              <a:ea typeface="Calibri"/>
              <a:cs typeface="Calibri"/>
              <a:sym typeface="Calibri"/>
            </a:endParaRPr>
          </a:p>
          <a:p>
            <a:pPr indent="-175259" lvl="0" marL="530860" marR="65468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Enumerar tres ventajas de las sentencias COMMIT, ROLLBACK y SAVEPOINT</a:t>
            </a:r>
            <a:endParaRPr sz="2400">
              <a:latin typeface="Calibri"/>
              <a:ea typeface="Calibri"/>
              <a:cs typeface="Calibri"/>
              <a:sym typeface="Calibri"/>
            </a:endParaRPr>
          </a:p>
          <a:p>
            <a:pPr indent="-175259" lvl="0" marL="530860" marR="173355" rtl="0" algn="just">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Explicar por qué es importante, desde una perspectiva de negocio, poder controlar el flujo de procesamiento de transacciones</a:t>
            </a:r>
            <a:endParaRPr sz="2400">
              <a:latin typeface="Calibri"/>
              <a:ea typeface="Calibri"/>
              <a:cs typeface="Calibri"/>
              <a:sym typeface="Calibri"/>
            </a:endParaRPr>
          </a:p>
        </p:txBody>
      </p:sp>
      <p:grpSp>
        <p:nvGrpSpPr>
          <p:cNvPr id="74" name="Google Shape;74;p3"/>
          <p:cNvGrpSpPr/>
          <p:nvPr/>
        </p:nvGrpSpPr>
        <p:grpSpPr>
          <a:xfrm>
            <a:off x="4930152" y="3880103"/>
            <a:ext cx="3339070" cy="2638043"/>
            <a:chOff x="4930152" y="3880103"/>
            <a:chExt cx="3339070" cy="2638043"/>
          </a:xfrm>
        </p:grpSpPr>
        <p:pic>
          <p:nvPicPr>
            <p:cNvPr id="75" name="Google Shape;75;p3"/>
            <p:cNvPicPr preferRelativeResize="0"/>
            <p:nvPr/>
          </p:nvPicPr>
          <p:blipFill rotWithShape="1">
            <a:blip r:embed="rId3">
              <a:alphaModFix/>
            </a:blip>
            <a:srcRect b="0" l="0" r="0" t="0"/>
            <a:stretch/>
          </p:blipFill>
          <p:spPr>
            <a:xfrm>
              <a:off x="4930152" y="3880103"/>
              <a:ext cx="3339070" cy="2638043"/>
            </a:xfrm>
            <a:prstGeom prst="rect">
              <a:avLst/>
            </a:prstGeom>
            <a:noFill/>
            <a:ln>
              <a:noFill/>
            </a:ln>
          </p:spPr>
        </p:pic>
        <p:pic>
          <p:nvPicPr>
            <p:cNvPr id="76" name="Google Shape;76;p3"/>
            <p:cNvPicPr preferRelativeResize="0"/>
            <p:nvPr/>
          </p:nvPicPr>
          <p:blipFill rotWithShape="1">
            <a:blip r:embed="rId4">
              <a:alphaModFix/>
            </a:blip>
            <a:srcRect b="0" l="0" r="0" t="0"/>
            <a:stretch/>
          </p:blipFill>
          <p:spPr>
            <a:xfrm>
              <a:off x="5122163" y="4072127"/>
              <a:ext cx="2955035" cy="2253995"/>
            </a:xfrm>
            <a:prstGeom prst="rect">
              <a:avLst/>
            </a:prstGeom>
            <a:noFill/>
            <a:ln>
              <a:noFill/>
            </a:ln>
          </p:spPr>
        </p:pic>
      </p:grpSp>
      <p:sp>
        <p:nvSpPr>
          <p:cNvPr id="77" name="Google Shape;77;p3"/>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78" name="Google Shape;78;p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4"/>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86" name="Google Shape;86;p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4"/>
          <p:cNvSpPr txBox="1"/>
          <p:nvPr/>
        </p:nvSpPr>
        <p:spPr>
          <a:xfrm>
            <a:off x="483552" y="1415417"/>
            <a:ext cx="8171180" cy="2192020"/>
          </a:xfrm>
          <a:prstGeom prst="rect">
            <a:avLst/>
          </a:prstGeom>
          <a:noFill/>
          <a:ln>
            <a:noFill/>
          </a:ln>
        </p:spPr>
        <p:txBody>
          <a:bodyPr anchorCtr="0" anchor="t" bIns="0" lIns="0" spcFirstLastPara="1" rIns="0" wrap="square" tIns="59675">
            <a:spAutoFit/>
          </a:bodyPr>
          <a:lstStyle/>
          <a:p>
            <a:pPr indent="-177800" lvl="0" marL="182880" marR="5969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ocurre si un banco no tenía ningún proceso 	sistemático para registrar los depósitos y retiradas?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sabe si un depósito se ha abonado en su cuenta 	antes de que tenga que retirar dinero?</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imaginar la confusión que produciría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5"/>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95" name="Google Shape;95;p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5"/>
          <p:cNvSpPr txBox="1"/>
          <p:nvPr/>
        </p:nvSpPr>
        <p:spPr>
          <a:xfrm>
            <a:off x="483552" y="1415417"/>
            <a:ext cx="8110855" cy="4112895"/>
          </a:xfrm>
          <a:prstGeom prst="rect">
            <a:avLst/>
          </a:prstGeom>
          <a:noFill/>
          <a:ln>
            <a:noFill/>
          </a:ln>
        </p:spPr>
        <p:txBody>
          <a:bodyPr anchorCtr="0" anchor="t" bIns="0" lIns="0" spcFirstLastPara="1" rIns="0" wrap="square" tIns="59675">
            <a:spAutoFit/>
          </a:bodyPr>
          <a:lstStyle/>
          <a:p>
            <a:pPr indent="-177800" lvl="0" marL="182880" marR="1612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los bancos controlan los procesos 	de transacciones para garantizar la consistencia de los 	datos</a:t>
            </a:r>
            <a:endParaRPr sz="2800">
              <a:latin typeface="Calibri"/>
              <a:ea typeface="Calibri"/>
              <a:cs typeface="Calibri"/>
              <a:sym typeface="Calibri"/>
            </a:endParaRPr>
          </a:p>
          <a:p>
            <a:pPr indent="-177800" lvl="0" marL="182880" marR="6540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cómo se gestiona el proceso 	de cambio de datos y cómo se confirman o cancelan 	los cambios en una base de datos</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COMMIT, ROLLBACK y SAVEPOINT no están soportados 	en Oracle Application Express, debido a la forma en 	que Oracle Application Express gestiona las conexiones 	a la base de datos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Transactions</a:t>
            </a:r>
            <a:endParaRPr/>
          </a:p>
        </p:txBody>
      </p:sp>
      <p:sp>
        <p:nvSpPr>
          <p:cNvPr id="103" name="Google Shape;103;p6"/>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04" name="Google Shape;104;p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6"/>
          <p:cNvSpPr txBox="1"/>
          <p:nvPr/>
        </p:nvSpPr>
        <p:spPr>
          <a:xfrm>
            <a:off x="483552" y="1415417"/>
            <a:ext cx="8031480" cy="2960370"/>
          </a:xfrm>
          <a:prstGeom prst="rect">
            <a:avLst/>
          </a:prstGeom>
          <a:noFill/>
          <a:ln>
            <a:noFill/>
          </a:ln>
        </p:spPr>
        <p:txBody>
          <a:bodyPr anchorCtr="0" anchor="t" bIns="0" lIns="0" spcFirstLastPara="1" rIns="0" wrap="square" tIns="59675">
            <a:spAutoFit/>
          </a:bodyPr>
          <a:lstStyle/>
          <a:p>
            <a:pPr indent="-177800" lvl="0" marL="182880" marR="4794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transacciones son un concepto fundamental de 	todos los sistemas de base de datos</a:t>
            </a:r>
            <a:endParaRPr sz="2800">
              <a:latin typeface="Calibri"/>
              <a:ea typeface="Calibri"/>
              <a:cs typeface="Calibri"/>
              <a:sym typeface="Calibri"/>
            </a:endParaRPr>
          </a:p>
          <a:p>
            <a:pPr indent="-177800" lvl="0" marL="182880" marR="73660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transacciones permiten a los usuarios realizar 	cambios en los datos y, a continuación, decidir si 	desean guardar o desechar el trabajo</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transacciones de base agrupar varios pasos en una 	unidad lógica de trabajo</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Transactions</a:t>
            </a:r>
            <a:endParaRPr/>
          </a:p>
        </p:txBody>
      </p:sp>
      <p:sp>
        <p:nvSpPr>
          <p:cNvPr id="112" name="Google Shape;112;p7"/>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13" name="Google Shape;113;p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4" name="Google Shape;114;p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5" name="Google Shape;115;p7"/>
          <p:cNvSpPr txBox="1"/>
          <p:nvPr/>
        </p:nvSpPr>
        <p:spPr>
          <a:xfrm>
            <a:off x="483552" y="1415417"/>
            <a:ext cx="7787640" cy="3347720"/>
          </a:xfrm>
          <a:prstGeom prst="rect">
            <a:avLst/>
          </a:prstGeom>
          <a:noFill/>
          <a:ln>
            <a:noFill/>
          </a:ln>
        </p:spPr>
        <p:txBody>
          <a:bodyPr anchorCtr="0" anchor="t" bIns="0" lIns="0" spcFirstLastPara="1" rIns="0" wrap="square" tIns="59675">
            <a:spAutoFit/>
          </a:bodyPr>
          <a:lstStyle/>
          <a:p>
            <a:pPr indent="-177800" lvl="0" marL="182880" marR="50545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transacción consiste en una de las siguientes 	opciones:</a:t>
            </a:r>
            <a:endParaRPr sz="2800">
              <a:latin typeface="Calibri"/>
              <a:ea typeface="Calibri"/>
              <a:cs typeface="Calibri"/>
              <a:sym typeface="Calibri"/>
            </a:endParaRPr>
          </a:p>
          <a:p>
            <a:pPr indent="-175259" lvl="0" marL="530860" marR="508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Sentencias DML que constituyen un cambio consistente de los datos</a:t>
            </a:r>
            <a:endParaRPr sz="2400">
              <a:latin typeface="Calibri"/>
              <a:ea typeface="Calibri"/>
              <a:cs typeface="Calibri"/>
              <a:sym typeface="Calibri"/>
            </a:endParaRPr>
          </a:p>
          <a:p>
            <a:pPr indent="-175259" lvl="0" marL="530860" marR="429259"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Las sentencias DML incluyen INSERT, UPDATE, DELETE y MERGE</a:t>
            </a:r>
            <a:endParaRPr sz="2400">
              <a:latin typeface="Calibri"/>
              <a:ea typeface="Calibri"/>
              <a:cs typeface="Calibri"/>
              <a:sym typeface="Calibri"/>
            </a:endParaRPr>
          </a:p>
          <a:p>
            <a:pPr indent="-175259" lvl="0" marL="530860" marR="22479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sentencia DDL como CREATE, ALTER, DROP, RENAME o TRUNCATE</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sentencia DCL como GRANT o REVOKE</a:t>
            </a:r>
            <a:endParaRPr sz="24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Analogía de Transacción</a:t>
            </a:r>
            <a:endParaRPr/>
          </a:p>
        </p:txBody>
      </p:sp>
      <p:sp>
        <p:nvSpPr>
          <p:cNvPr id="121" name="Google Shape;121;p8"/>
          <p:cNvSpPr txBox="1"/>
          <p:nvPr/>
        </p:nvSpPr>
        <p:spPr>
          <a:xfrm>
            <a:off x="483552" y="1415417"/>
            <a:ext cx="8146415" cy="2474595"/>
          </a:xfrm>
          <a:prstGeom prst="rect">
            <a:avLst/>
          </a:prstGeom>
          <a:noFill/>
          <a:ln>
            <a:noFill/>
          </a:ln>
        </p:spPr>
        <p:txBody>
          <a:bodyPr anchorCtr="0" anchor="t" bIns="0" lIns="0" spcFirstLastPara="1" rIns="0" wrap="square" tIns="59675">
            <a:spAutoFit/>
          </a:bodyPr>
          <a:lstStyle/>
          <a:p>
            <a:pPr indent="-177800" lvl="0" marL="182880"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base de datos de un banco contiene saldos de varias 	cuentas de cliente, así como saldos de depósito totales 	para otras sucursales</a:t>
            </a:r>
            <a:endParaRPr sz="2800">
              <a:latin typeface="Calibri"/>
              <a:ea typeface="Calibri"/>
              <a:cs typeface="Calibri"/>
              <a:sym typeface="Calibri"/>
            </a:endParaRPr>
          </a:p>
          <a:p>
            <a:pPr indent="-177800" lvl="0" marL="182880" marR="3987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Supongamos que un cliente desea retirar y transferir 	dinero de su cuenta y depositarlo en otra cuenta del 	cliente en una sucursal diferente</a:t>
            </a:r>
            <a:endParaRPr sz="2800">
              <a:latin typeface="Calibri"/>
              <a:ea typeface="Calibri"/>
              <a:cs typeface="Calibri"/>
              <a:sym typeface="Calibri"/>
            </a:endParaRPr>
          </a:p>
        </p:txBody>
      </p:sp>
      <p:pic>
        <p:nvPicPr>
          <p:cNvPr id="122" name="Google Shape;122;p8"/>
          <p:cNvPicPr preferRelativeResize="0"/>
          <p:nvPr/>
        </p:nvPicPr>
        <p:blipFill rotWithShape="1">
          <a:blip r:embed="rId3">
            <a:alphaModFix/>
          </a:blip>
          <a:srcRect b="0" l="0" r="0" t="0"/>
          <a:stretch/>
        </p:blipFill>
        <p:spPr>
          <a:xfrm>
            <a:off x="2916935" y="4047744"/>
            <a:ext cx="3310127" cy="2203703"/>
          </a:xfrm>
          <a:prstGeom prst="rect">
            <a:avLst/>
          </a:prstGeom>
          <a:noFill/>
          <a:ln>
            <a:noFill/>
          </a:ln>
        </p:spPr>
      </p:pic>
      <p:sp>
        <p:nvSpPr>
          <p:cNvPr id="123" name="Google Shape;123;p8"/>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24" name="Google Shape;124;p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5" name="Google Shape;125;p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Analogía de Transacción</a:t>
            </a:r>
            <a:endParaRPr/>
          </a:p>
        </p:txBody>
      </p:sp>
      <p:sp>
        <p:nvSpPr>
          <p:cNvPr id="131" name="Google Shape;131;p9"/>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32" name="Google Shape;132;p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3" name="Google Shape;133;p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4" name="Google Shape;134;p9"/>
          <p:cNvSpPr txBox="1"/>
          <p:nvPr/>
        </p:nvSpPr>
        <p:spPr>
          <a:xfrm>
            <a:off x="483552" y="1415417"/>
            <a:ext cx="8188325" cy="421322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Hay varios pasos independientes implicados para lograr 	esta operación bastante sencilla</a:t>
            </a:r>
            <a:endParaRPr sz="2800">
              <a:latin typeface="Calibri"/>
              <a:ea typeface="Calibri"/>
              <a:cs typeface="Calibri"/>
              <a:sym typeface="Calibri"/>
            </a:endParaRPr>
          </a:p>
          <a:p>
            <a:pPr indent="-177800" lvl="0" marL="182880" marR="812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dos sucursales bancarias desean asegurarse de que 	se producen todos los pasos de la transacción, o no se 	produce ninguno de ellos, y si el sistema falla, la 	transacción no se deja parcialmente terminada</a:t>
            </a:r>
            <a:endParaRPr sz="2800">
              <a:latin typeface="Calibri"/>
              <a:ea typeface="Calibri"/>
              <a:cs typeface="Calibri"/>
              <a:sym typeface="Calibri"/>
            </a:endParaRPr>
          </a:p>
          <a:p>
            <a:pPr indent="-177800" lvl="0" marL="182880" marR="45593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agrupación de los pasos de retirada y depósito en 	una transacción proporciona esta garantía</a:t>
            </a:r>
            <a:endParaRPr sz="2800">
              <a:latin typeface="Calibri"/>
              <a:ea typeface="Calibri"/>
              <a:cs typeface="Calibri"/>
              <a:sym typeface="Calibri"/>
            </a:endParaRPr>
          </a:p>
          <a:p>
            <a:pPr indent="-177800" lvl="0" marL="182880" marR="513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transacción se produce completamente o no se 	produce en absoluto</a:t>
            </a:r>
            <a:endParaRPr sz="28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392112" y="748031"/>
            <a:ext cx="4267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Control de Transacciones</a:t>
            </a:r>
            <a:endParaRPr/>
          </a:p>
        </p:txBody>
      </p:sp>
      <p:sp>
        <p:nvSpPr>
          <p:cNvPr id="140" name="Google Shape;140;p10"/>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41" name="Google Shape;141;p1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2" name="Google Shape;142;p1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3" name="Google Shape;143;p10"/>
          <p:cNvSpPr txBox="1"/>
          <p:nvPr/>
        </p:nvSpPr>
        <p:spPr>
          <a:xfrm>
            <a:off x="483552" y="1415417"/>
            <a:ext cx="8084184" cy="4118610"/>
          </a:xfrm>
          <a:prstGeom prst="rect">
            <a:avLst/>
          </a:prstGeom>
          <a:noFill/>
          <a:ln>
            <a:noFill/>
          </a:ln>
        </p:spPr>
        <p:txBody>
          <a:bodyPr anchorCtr="0" anchor="t" bIns="0" lIns="0" spcFirstLastPara="1" rIns="0" wrap="square" tIns="59675">
            <a:spAutoFit/>
          </a:bodyPr>
          <a:lstStyle/>
          <a:p>
            <a:pPr indent="-177800" lvl="0" marL="182880" marR="641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transacciones se controlan mediante las siguientes 	sentencias:</a:t>
            </a:r>
            <a:endParaRPr sz="2800">
              <a:latin typeface="Calibri"/>
              <a:ea typeface="Calibri"/>
              <a:cs typeface="Calibri"/>
              <a:sym typeface="Calibri"/>
            </a:endParaRPr>
          </a:p>
          <a:p>
            <a:pPr indent="-175259" lvl="0" marL="530860" marR="57658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COMMIT: representa el punto en el tiempo en el que el usuario ha realizado todos los cambios que quería para agruparlos lógicamente y, puesto que no se ha cometido ningún error, el usuario está listo para guardar el trabajo</a:t>
            </a:r>
            <a:endParaRPr sz="2400">
              <a:latin typeface="Calibri"/>
              <a:ea typeface="Calibri"/>
              <a:cs typeface="Calibri"/>
              <a:sym typeface="Calibri"/>
            </a:endParaRPr>
          </a:p>
          <a:p>
            <a:pPr indent="-175260" lvl="1" marL="873125" marR="5080" rtl="0" algn="l">
              <a:lnSpc>
                <a:spcPct val="108000"/>
              </a:lnSpc>
              <a:spcBef>
                <a:spcPts val="425"/>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Cuando se emite una sentencia COMMIT, la transacción actual finaliza 	haciendo que todos los cambios pendientes sean permanentes</a:t>
            </a:r>
            <a:endParaRPr sz="2000">
              <a:latin typeface="Calibri"/>
              <a:ea typeface="Calibri"/>
              <a:cs typeface="Calibri"/>
              <a:sym typeface="Calibri"/>
            </a:endParaRPr>
          </a:p>
          <a:p>
            <a:pPr indent="-175259" lvl="0" marL="530860" marR="1155700" rtl="0" algn="l">
              <a:lnSpc>
                <a:spcPct val="107916"/>
              </a:lnSpc>
              <a:spcBef>
                <a:spcPts val="3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ROLLBACK: permite al usuario desechar los cambios realizados en la base de datos</a:t>
            </a:r>
            <a:endParaRPr sz="2400">
              <a:latin typeface="Calibri"/>
              <a:ea typeface="Calibri"/>
              <a:cs typeface="Calibri"/>
              <a:sym typeface="Calibri"/>
            </a:endParaRPr>
          </a:p>
          <a:p>
            <a:pPr indent="-175260" lvl="1" marL="873125" marR="475615" rtl="0" algn="l">
              <a:lnSpc>
                <a:spcPct val="108000"/>
              </a:lnSpc>
              <a:spcBef>
                <a:spcPts val="420"/>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Cuando se emite una sentencia ROLLBACK, se desechan todos los 	cambios pendientes</a:t>
            </a:r>
            <a:endParaRPr sz="2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392112" y="748031"/>
            <a:ext cx="4267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Control de Transacciones</a:t>
            </a:r>
            <a:endParaRPr/>
          </a:p>
        </p:txBody>
      </p:sp>
      <p:sp>
        <p:nvSpPr>
          <p:cNvPr id="149" name="Google Shape;149;p11"/>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50" name="Google Shape;150;p1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1" name="Google Shape;151;p1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2" name="Google Shape;152;p11"/>
          <p:cNvSpPr txBox="1"/>
          <p:nvPr/>
        </p:nvSpPr>
        <p:spPr>
          <a:xfrm>
            <a:off x="483552" y="1415417"/>
            <a:ext cx="8094345" cy="3464560"/>
          </a:xfrm>
          <a:prstGeom prst="rect">
            <a:avLst/>
          </a:prstGeom>
          <a:noFill/>
          <a:ln>
            <a:noFill/>
          </a:ln>
        </p:spPr>
        <p:txBody>
          <a:bodyPr anchorCtr="0" anchor="t" bIns="0" lIns="0" spcFirstLastPara="1" rIns="0" wrap="square" tIns="59675">
            <a:spAutoFit/>
          </a:bodyPr>
          <a:lstStyle/>
          <a:p>
            <a:pPr indent="-177800" lvl="0" marL="182880" marR="742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transacciones se controlan mediante las siguientes 	sentencias:</a:t>
            </a:r>
            <a:endParaRPr sz="2800">
              <a:latin typeface="Calibri"/>
              <a:ea typeface="Calibri"/>
              <a:cs typeface="Calibri"/>
              <a:sym typeface="Calibri"/>
            </a:endParaRPr>
          </a:p>
          <a:p>
            <a:pPr indent="-175259" lvl="0" marL="530860" marR="508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SAVEPOINT: crea un marcador en una transacción, que divide la transacción en varias partes más pequeñas</a:t>
            </a:r>
            <a:endParaRPr sz="2400">
              <a:latin typeface="Calibri"/>
              <a:ea typeface="Calibri"/>
              <a:cs typeface="Calibri"/>
              <a:sym typeface="Calibri"/>
            </a:endParaRPr>
          </a:p>
          <a:p>
            <a:pPr indent="-175259" lvl="0" marL="530225" marR="64389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ROLLBACK TO SAVEPOINT: permite al usuario realizar un rollback de la transacción actual hasta un punto de grabación especificado</a:t>
            </a:r>
            <a:endParaRPr sz="2400">
              <a:latin typeface="Calibri"/>
              <a:ea typeface="Calibri"/>
              <a:cs typeface="Calibri"/>
              <a:sym typeface="Calibri"/>
            </a:endParaRPr>
          </a:p>
          <a:p>
            <a:pPr indent="-175260" lvl="1" marL="873125" marR="429259" rtl="0" algn="just">
              <a:lnSpc>
                <a:spcPct val="108000"/>
              </a:lnSpc>
              <a:spcBef>
                <a:spcPts val="420"/>
              </a:spcBef>
              <a:spcAft>
                <a:spcPts val="0"/>
              </a:spcAft>
              <a:buClr>
                <a:srgbClr val="D1350F"/>
              </a:buClr>
              <a:buSzPts val="2000"/>
              <a:buFont typeface="Arial"/>
              <a:buChar char="•"/>
            </a:pPr>
            <a:r>
              <a:rPr lang="en-US" sz="2000">
                <a:solidFill>
                  <a:srgbClr val="4E3629"/>
                </a:solidFill>
                <a:latin typeface="Calibri"/>
                <a:ea typeface="Calibri"/>
                <a:cs typeface="Calibri"/>
                <a:sym typeface="Calibri"/>
              </a:rPr>
              <a:t>Si se ha cometido un error, el usuario puede emitir una sentencia 	ROLLBACK TO SAVEPOINT desechando solo los cambios realizados 	después de establecer SAVEPOINT</a:t>
            </a:r>
            <a:endParaRPr sz="20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392112" y="748031"/>
            <a:ext cx="4023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Transacción</a:t>
            </a:r>
            <a:endParaRPr/>
          </a:p>
        </p:txBody>
      </p:sp>
      <p:sp>
        <p:nvSpPr>
          <p:cNvPr id="158" name="Google Shape;158;p12"/>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59" name="Google Shape;159;p1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0" name="Google Shape;160;p1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1" name="Google Shape;161;p12"/>
          <p:cNvSpPr txBox="1"/>
          <p:nvPr/>
        </p:nvSpPr>
        <p:spPr>
          <a:xfrm>
            <a:off x="483552" y="1381889"/>
            <a:ext cx="7493000" cy="79311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el usuario ha emitido una sentencia 	UPDATE e inmediatamente creado SAVEPOINT one</a:t>
            </a:r>
            <a:endParaRPr sz="2800">
              <a:latin typeface="Calibri"/>
              <a:ea typeface="Calibri"/>
              <a:cs typeface="Calibri"/>
              <a:sym typeface="Calibri"/>
            </a:endParaRPr>
          </a:p>
        </p:txBody>
      </p:sp>
      <p:sp>
        <p:nvSpPr>
          <p:cNvPr id="162" name="Google Shape;162;p12"/>
          <p:cNvSpPr txBox="1"/>
          <p:nvPr/>
        </p:nvSpPr>
        <p:spPr>
          <a:xfrm>
            <a:off x="483552" y="3495677"/>
            <a:ext cx="7786370" cy="2259330"/>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Después de una sentencia INSERT y una sentencia 	UPDATE (en la siguiente diapositiva), el usuario se ha 	dado cuenta de que no se ha incluido una cláusula 	WHERE en la última UPDATE</a:t>
            </a:r>
            <a:endParaRPr sz="2800">
              <a:latin typeface="Calibri"/>
              <a:ea typeface="Calibri"/>
              <a:cs typeface="Calibri"/>
              <a:sym typeface="Calibri"/>
            </a:endParaRPr>
          </a:p>
          <a:p>
            <a:pPr indent="-177800" lvl="0" marL="182880" marR="1050925"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solucionar el error, el usuario ha emitido 	ROLLBACK TO SAVEPOINT one</a:t>
            </a:r>
            <a:endParaRPr sz="2800">
              <a:latin typeface="Calibri"/>
              <a:ea typeface="Calibri"/>
              <a:cs typeface="Calibri"/>
              <a:sym typeface="Calibri"/>
            </a:endParaRPr>
          </a:p>
        </p:txBody>
      </p:sp>
      <p:sp>
        <p:nvSpPr>
          <p:cNvPr id="163" name="Google Shape;163;p12"/>
          <p:cNvSpPr txBox="1"/>
          <p:nvPr/>
        </p:nvSpPr>
        <p:spPr>
          <a:xfrm>
            <a:off x="393191" y="2177795"/>
            <a:ext cx="8345805" cy="843280"/>
          </a:xfrm>
          <a:prstGeom prst="rect">
            <a:avLst/>
          </a:prstGeom>
          <a:solidFill>
            <a:srgbClr val="9DBDC4">
              <a:alpha val="49803"/>
            </a:srgbClr>
          </a:solidFill>
          <a:ln>
            <a:noFill/>
          </a:ln>
        </p:spPr>
        <p:txBody>
          <a:bodyPr anchorCtr="0" anchor="t" bIns="0" lIns="0" spcFirstLastPara="1" rIns="0" wrap="square" tIns="0">
            <a:spAutoFit/>
          </a:bodyPr>
          <a:lstStyle/>
          <a:p>
            <a:pPr indent="0" lvl="0" marL="0"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UPDATE copy_departments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SET manager_id= 101</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60;</a:t>
            </a:r>
            <a:endParaRPr sz="1800">
              <a:latin typeface="Courier New"/>
              <a:ea typeface="Courier New"/>
              <a:cs typeface="Courier New"/>
              <a:sym typeface="Courier New"/>
            </a:endParaRPr>
          </a:p>
        </p:txBody>
      </p:sp>
      <p:sp>
        <p:nvSpPr>
          <p:cNvPr id="164" name="Google Shape;164;p12"/>
          <p:cNvSpPr txBox="1"/>
          <p:nvPr/>
        </p:nvSpPr>
        <p:spPr>
          <a:xfrm>
            <a:off x="393191" y="3131820"/>
            <a:ext cx="8345805" cy="297180"/>
          </a:xfrm>
          <a:prstGeom prst="rect">
            <a:avLst/>
          </a:prstGeom>
          <a:solidFill>
            <a:srgbClr val="9DBDC4">
              <a:alpha val="49803"/>
            </a:srgbClr>
          </a:solidFill>
          <a:ln>
            <a:noFill/>
          </a:ln>
        </p:spPr>
        <p:txBody>
          <a:bodyPr anchorCtr="0" anchor="t" bIns="0" lIns="0" spcFirstLastPara="1" rIns="0" wrap="square" tIns="0">
            <a:spAutoFit/>
          </a:bodyPr>
          <a:lstStyle/>
          <a:p>
            <a:pPr indent="0" lvl="0" marL="0" rtl="0" algn="l">
              <a:lnSpc>
                <a:spcPct val="112777"/>
              </a:lnSpc>
              <a:spcBef>
                <a:spcPts val="0"/>
              </a:spcBef>
              <a:spcAft>
                <a:spcPts val="0"/>
              </a:spcAft>
              <a:buNone/>
            </a:pPr>
            <a:r>
              <a:rPr b="1" lang="en-US" sz="1800">
                <a:solidFill>
                  <a:srgbClr val="4E3629"/>
                </a:solidFill>
                <a:latin typeface="Courier New"/>
                <a:ea typeface="Courier New"/>
                <a:cs typeface="Courier New"/>
                <a:sym typeface="Courier New"/>
              </a:rPr>
              <a:t>SAVEPOINT one;</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p:nvPr/>
        </p:nvSpPr>
        <p:spPr>
          <a:xfrm>
            <a:off x="405384" y="3628644"/>
            <a:ext cx="8345805" cy="539750"/>
          </a:xfrm>
          <a:custGeom>
            <a:rect b="b" l="l" r="r" t="t"/>
            <a:pathLst>
              <a:path extrusionOk="0" h="539750" w="8345805">
                <a:moveTo>
                  <a:pt x="8345424" y="0"/>
                </a:moveTo>
                <a:lnTo>
                  <a:pt x="0" y="0"/>
                </a:lnTo>
                <a:lnTo>
                  <a:pt x="0" y="539495"/>
                </a:lnTo>
                <a:lnTo>
                  <a:pt x="8345424" y="539495"/>
                </a:lnTo>
                <a:lnTo>
                  <a:pt x="8345424" y="0"/>
                </a:lnTo>
                <a:close/>
              </a:path>
            </a:pathLst>
          </a:custGeom>
          <a:solidFill>
            <a:srgbClr val="9DBDC4">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3"/>
          <p:cNvSpPr txBox="1"/>
          <p:nvPr/>
        </p:nvSpPr>
        <p:spPr>
          <a:xfrm>
            <a:off x="404813" y="3584011"/>
            <a:ext cx="3289300" cy="574040"/>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UPDATE copy_departments SET department_id = 140;</a:t>
            </a:r>
            <a:endParaRPr sz="1800">
              <a:latin typeface="Courier New"/>
              <a:ea typeface="Courier New"/>
              <a:cs typeface="Courier New"/>
              <a:sym typeface="Courier New"/>
            </a:endParaRPr>
          </a:p>
        </p:txBody>
      </p:sp>
      <p:sp>
        <p:nvSpPr>
          <p:cNvPr id="171" name="Google Shape;171;p13"/>
          <p:cNvSpPr txBox="1"/>
          <p:nvPr/>
        </p:nvSpPr>
        <p:spPr>
          <a:xfrm>
            <a:off x="416051" y="2378964"/>
            <a:ext cx="8347075" cy="843280"/>
          </a:xfrm>
          <a:prstGeom prst="rect">
            <a:avLst/>
          </a:prstGeom>
          <a:solidFill>
            <a:srgbClr val="9DBDC4">
              <a:alpha val="49803"/>
            </a:srgbClr>
          </a:solidFill>
          <a:ln>
            <a:noFill/>
          </a:ln>
        </p:spPr>
        <p:txBody>
          <a:bodyPr anchorCtr="0" anchor="t" bIns="0" lIns="0" spcFirstLastPara="1" rIns="0" wrap="square" tIns="0">
            <a:spAutoFit/>
          </a:bodyPr>
          <a:lstStyle/>
          <a:p>
            <a:pPr indent="0" lvl="0" marL="0" rtl="0" algn="l">
              <a:lnSpc>
                <a:spcPct val="112500"/>
              </a:lnSpc>
              <a:spcBef>
                <a:spcPts val="0"/>
              </a:spcBef>
              <a:spcAft>
                <a:spcPts val="0"/>
              </a:spcAft>
              <a:buNone/>
            </a:pPr>
            <a:r>
              <a:rPr b="1" lang="en-US" sz="1800">
                <a:solidFill>
                  <a:srgbClr val="4E3629"/>
                </a:solidFill>
                <a:latin typeface="Courier New"/>
                <a:ea typeface="Courier New"/>
                <a:cs typeface="Courier New"/>
                <a:sym typeface="Courier New"/>
              </a:rPr>
              <a:t>INSERT INTO copy_departments(department_id, department_name,</a:t>
            </a:r>
            <a:endParaRPr sz="1800">
              <a:latin typeface="Courier New"/>
              <a:ea typeface="Courier New"/>
              <a:cs typeface="Courier New"/>
              <a:sym typeface="Courier New"/>
            </a:endParaRPr>
          </a:p>
          <a:p>
            <a:pPr indent="0" lvl="0" marL="274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manager_id, location_id)</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VALUES(130, 'Estate Management', 102, 1500);</a:t>
            </a:r>
            <a:endParaRPr sz="1800">
              <a:latin typeface="Courier New"/>
              <a:ea typeface="Courier New"/>
              <a:cs typeface="Courier New"/>
              <a:sym typeface="Courier New"/>
            </a:endParaRPr>
          </a:p>
        </p:txBody>
      </p:sp>
      <p:sp>
        <p:nvSpPr>
          <p:cNvPr id="172" name="Google Shape;172;p13"/>
          <p:cNvSpPr txBox="1"/>
          <p:nvPr/>
        </p:nvSpPr>
        <p:spPr>
          <a:xfrm>
            <a:off x="422148" y="4575047"/>
            <a:ext cx="8347075" cy="340360"/>
          </a:xfrm>
          <a:prstGeom prst="rect">
            <a:avLst/>
          </a:prstGeom>
          <a:solidFill>
            <a:srgbClr val="9DBDC4">
              <a:alpha val="49803"/>
            </a:srgbClr>
          </a:solidFill>
          <a:ln>
            <a:noFill/>
          </a:ln>
        </p:spPr>
        <p:txBody>
          <a:bodyPr anchorCtr="0" anchor="t" bIns="0" lIns="0" spcFirstLastPara="1" rIns="0" wrap="square" tIns="50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ROLLBACK TO SAVEPOINT one;</a:t>
            </a:r>
            <a:endParaRPr sz="1800">
              <a:latin typeface="Courier New"/>
              <a:ea typeface="Courier New"/>
              <a:cs typeface="Courier New"/>
              <a:sym typeface="Courier New"/>
            </a:endParaRPr>
          </a:p>
        </p:txBody>
      </p:sp>
      <p:sp>
        <p:nvSpPr>
          <p:cNvPr id="173" name="Google Shape;173;p13"/>
          <p:cNvSpPr txBox="1"/>
          <p:nvPr/>
        </p:nvSpPr>
        <p:spPr>
          <a:xfrm>
            <a:off x="405384" y="5070347"/>
            <a:ext cx="8345805" cy="340360"/>
          </a:xfrm>
          <a:prstGeom prst="rect">
            <a:avLst/>
          </a:prstGeom>
          <a:solidFill>
            <a:srgbClr val="9DBDC4">
              <a:alpha val="49803"/>
            </a:srgbClr>
          </a:solidFill>
          <a:ln>
            <a:noFill/>
          </a:ln>
        </p:spPr>
        <p:txBody>
          <a:bodyPr anchorCtr="0" anchor="t" bIns="0" lIns="0" spcFirstLastPara="1" rIns="0" wrap="square" tIns="50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COMMIT;</a:t>
            </a:r>
            <a:endParaRPr sz="1800">
              <a:latin typeface="Courier New"/>
              <a:ea typeface="Courier New"/>
              <a:cs typeface="Courier New"/>
              <a:sym typeface="Courier New"/>
            </a:endParaRPr>
          </a:p>
        </p:txBody>
      </p:sp>
      <p:sp>
        <p:nvSpPr>
          <p:cNvPr id="174" name="Google Shape;174;p13"/>
          <p:cNvSpPr txBox="1"/>
          <p:nvPr>
            <p:ph type="title"/>
          </p:nvPr>
        </p:nvSpPr>
        <p:spPr>
          <a:xfrm>
            <a:off x="392112" y="748031"/>
            <a:ext cx="4023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Ejemplo de Transacción</a:t>
            </a:r>
            <a:endParaRPr/>
          </a:p>
        </p:txBody>
      </p:sp>
      <p:sp>
        <p:nvSpPr>
          <p:cNvPr id="175" name="Google Shape;175;p13"/>
          <p:cNvSpPr txBox="1"/>
          <p:nvPr/>
        </p:nvSpPr>
        <p:spPr>
          <a:xfrm>
            <a:off x="483552" y="1415417"/>
            <a:ext cx="808926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datos se han restaurado a su estado en SAVEPOINT 	one</a:t>
            </a:r>
            <a:endParaRPr sz="2800">
              <a:latin typeface="Calibri"/>
              <a:ea typeface="Calibri"/>
              <a:cs typeface="Calibri"/>
              <a:sym typeface="Calibri"/>
            </a:endParaRPr>
          </a:p>
        </p:txBody>
      </p:sp>
      <p:sp>
        <p:nvSpPr>
          <p:cNvPr id="176" name="Google Shape;176;p13"/>
          <p:cNvSpPr txBox="1"/>
          <p:nvPr/>
        </p:nvSpPr>
        <p:spPr>
          <a:xfrm>
            <a:off x="4730143" y="3779695"/>
            <a:ext cx="2298700" cy="29972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lang="en-US" sz="1800">
                <a:solidFill>
                  <a:srgbClr val="FF0000"/>
                </a:solidFill>
                <a:latin typeface="Calibri"/>
                <a:ea typeface="Calibri"/>
                <a:cs typeface="Calibri"/>
                <a:sym typeface="Calibri"/>
              </a:rPr>
              <a:t>Cláusula WHERE omitida</a:t>
            </a:r>
            <a:endParaRPr sz="1800">
              <a:latin typeface="Calibri"/>
              <a:ea typeface="Calibri"/>
              <a:cs typeface="Calibri"/>
              <a:sym typeface="Calibri"/>
            </a:endParaRPr>
          </a:p>
        </p:txBody>
      </p:sp>
      <p:grpSp>
        <p:nvGrpSpPr>
          <p:cNvPr id="177" name="Google Shape;177;p13"/>
          <p:cNvGrpSpPr/>
          <p:nvPr/>
        </p:nvGrpSpPr>
        <p:grpSpPr>
          <a:xfrm>
            <a:off x="4130415" y="3910196"/>
            <a:ext cx="504190" cy="133350"/>
            <a:chOff x="4130415" y="3910196"/>
            <a:chExt cx="504190" cy="133350"/>
          </a:xfrm>
        </p:grpSpPr>
        <p:sp>
          <p:nvSpPr>
            <p:cNvPr id="178" name="Google Shape;178;p13"/>
            <p:cNvSpPr/>
            <p:nvPr/>
          </p:nvSpPr>
          <p:spPr>
            <a:xfrm>
              <a:off x="4130415" y="3976877"/>
              <a:ext cx="504190" cy="0"/>
            </a:xfrm>
            <a:custGeom>
              <a:rect b="b" l="l" r="r" t="t"/>
              <a:pathLst>
                <a:path extrusionOk="0" h="120000" w="504189">
                  <a:moveTo>
                    <a:pt x="503707" y="0"/>
                  </a:moveTo>
                  <a:lnTo>
                    <a:pt x="0" y="0"/>
                  </a:lnTo>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9" name="Google Shape;179;p13"/>
            <p:cNvSpPr/>
            <p:nvPr/>
          </p:nvSpPr>
          <p:spPr>
            <a:xfrm>
              <a:off x="4130417" y="3910196"/>
              <a:ext cx="114935" cy="133350"/>
            </a:xfrm>
            <a:custGeom>
              <a:rect b="b" l="l" r="r" t="t"/>
              <a:pathLst>
                <a:path extrusionOk="0" h="133350" w="114935">
                  <a:moveTo>
                    <a:pt x="114300" y="0"/>
                  </a:moveTo>
                  <a:lnTo>
                    <a:pt x="0" y="66675"/>
                  </a:lnTo>
                  <a:lnTo>
                    <a:pt x="114312" y="133350"/>
                  </a:lnTo>
                </a:path>
              </a:pathLst>
            </a:custGeom>
            <a:noFill/>
            <a:ln cap="flat" cmpd="sng" w="381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0" name="Google Shape;180;p13"/>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81" name="Google Shape;181;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2" name="Google Shape;182;p1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4"/>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¿Cuándo Empieza y Termina una Transacción?</a:t>
            </a:r>
            <a:endParaRPr/>
          </a:p>
        </p:txBody>
      </p:sp>
      <p:sp>
        <p:nvSpPr>
          <p:cNvPr id="188" name="Google Shape;188;p14"/>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89" name="Google Shape;189;p1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0" name="Google Shape;190;p1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1" name="Google Shape;191;p14"/>
          <p:cNvSpPr txBox="1"/>
          <p:nvPr/>
        </p:nvSpPr>
        <p:spPr>
          <a:xfrm>
            <a:off x="483552" y="1415417"/>
            <a:ext cx="8176895" cy="4056379"/>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transacción empieza con la primera sentencia DML 	(INSERT, UPDATE, DELETE o MERGE)</a:t>
            </a:r>
            <a:endParaRPr sz="2800">
              <a:latin typeface="Calibri"/>
              <a:ea typeface="Calibri"/>
              <a:cs typeface="Calibri"/>
              <a:sym typeface="Calibri"/>
            </a:endParaRPr>
          </a:p>
          <a:p>
            <a:pPr indent="-175259" lvl="0" marL="530860" marR="864869"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transacción termina cuando se produce una de las siguientes situaciones: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una sentencia COMMIT o ROLLBACK</a:t>
            </a:r>
            <a:endParaRPr sz="2400">
              <a:latin typeface="Calibri"/>
              <a:ea typeface="Calibri"/>
              <a:cs typeface="Calibri"/>
              <a:sym typeface="Calibri"/>
            </a:endParaRPr>
          </a:p>
          <a:p>
            <a:pPr indent="-175259" lvl="0" marL="530860" marR="1336675"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una sentencia DDL (CREATE, ALTER, DROP, RENAME o TRUNCATE)</a:t>
            </a:r>
            <a:endParaRPr sz="2400">
              <a:latin typeface="Calibri"/>
              <a:ea typeface="Calibri"/>
              <a:cs typeface="Calibri"/>
              <a:sym typeface="Calibri"/>
            </a:endParaRPr>
          </a:p>
          <a:p>
            <a:pPr indent="0" lvl="0" marL="35560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una sentencia DCL (GRANT o REVOKE)</a:t>
            </a:r>
            <a:endParaRPr sz="2400">
              <a:latin typeface="Calibri"/>
              <a:ea typeface="Calibri"/>
              <a:cs typeface="Calibri"/>
              <a:sym typeface="Calibri"/>
            </a:endParaRPr>
          </a:p>
          <a:p>
            <a:pPr indent="-175259" lvl="0" marL="530860" marR="499744"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 usuario sale normalmente de la utilidad de la base de datos Oracle, lo que hace que la transacción actual que se confirme de forma implícita</a:t>
            </a:r>
            <a:endParaRPr sz="24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¿Cuándo Empieza y Termina una Transacción?</a:t>
            </a:r>
            <a:endParaRPr/>
          </a:p>
        </p:txBody>
      </p:sp>
      <p:sp>
        <p:nvSpPr>
          <p:cNvPr id="197" name="Google Shape;197;p15"/>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198" name="Google Shape;19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9" name="Google Shape;19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0" name="Google Shape;200;p15"/>
          <p:cNvSpPr txBox="1"/>
          <p:nvPr/>
        </p:nvSpPr>
        <p:spPr>
          <a:xfrm>
            <a:off x="483552" y="1415417"/>
            <a:ext cx="7754620" cy="3728720"/>
          </a:xfrm>
          <a:prstGeom prst="rect">
            <a:avLst/>
          </a:prstGeom>
          <a:noFill/>
          <a:ln>
            <a:noFill/>
          </a:ln>
        </p:spPr>
        <p:txBody>
          <a:bodyPr anchorCtr="0" anchor="t" bIns="0" lIns="0" spcFirstLastPara="1" rIns="0" wrap="square" tIns="59675">
            <a:spAutoFit/>
          </a:bodyPr>
          <a:lstStyle/>
          <a:p>
            <a:pPr indent="-177800" lvl="0" marL="182880" marR="1524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Tras la finalización de una transacción, la siguiente 	sentencia SQL ejecutable inicia automáticamente la 	próxima transacción</a:t>
            </a:r>
            <a:endParaRPr sz="2800">
              <a:latin typeface="Calibri"/>
              <a:ea typeface="Calibri"/>
              <a:cs typeface="Calibri"/>
              <a:sym typeface="Calibri"/>
            </a:endParaRPr>
          </a:p>
          <a:p>
            <a:pPr indent="-177800" lvl="0" marL="182880" marR="10795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confirma automáticamente una nueva sentencia 	DDL o DCL y, por lo tanto, finaliza de forma implícita 	una transacción</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cambios de datos realizados durante una 	transacción son temporales hasta que se confirma la 	transacción</a:t>
            </a:r>
            <a:endParaRPr sz="28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Consistencia de los Datos</a:t>
            </a:r>
            <a:endParaRPr/>
          </a:p>
        </p:txBody>
      </p:sp>
      <p:sp>
        <p:nvSpPr>
          <p:cNvPr id="206" name="Google Shape;206;p16"/>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07" name="Google Shape;207;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8" name="Google Shape;208;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9" name="Google Shape;209;p16"/>
          <p:cNvSpPr txBox="1"/>
          <p:nvPr/>
        </p:nvSpPr>
        <p:spPr>
          <a:xfrm>
            <a:off x="483552" y="1415417"/>
            <a:ext cx="7963534" cy="3627120"/>
          </a:xfrm>
          <a:prstGeom prst="rect">
            <a:avLst/>
          </a:prstGeom>
          <a:noFill/>
          <a:ln>
            <a:noFill/>
          </a:ln>
        </p:spPr>
        <p:txBody>
          <a:bodyPr anchorCtr="0" anchor="t" bIns="0" lIns="0" spcFirstLastPara="1" rIns="0" wrap="square" tIns="59675">
            <a:spAutoFit/>
          </a:bodyPr>
          <a:lstStyle/>
          <a:p>
            <a:pPr indent="-177800" lvl="0" marL="182880" marR="641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Imagine dedicar varias horas a realizar cambios en los 	datos de los empleados solo para averiguar que 	alguien más está introduciendo información que ha 	entrado en conflicto con sus cambios</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evitar estas interrupciones o conflictos y permitir 	que varios usuarios accedan a la base de datos al 	mismo tiempo, los sistemas de base de datos utilizan 	una implantación automática denominada 	"consistencia de lectura"</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Consistencia de Lectura</a:t>
            </a:r>
            <a:endParaRPr/>
          </a:p>
        </p:txBody>
      </p:sp>
      <p:sp>
        <p:nvSpPr>
          <p:cNvPr id="215" name="Google Shape;215;p17"/>
          <p:cNvSpPr txBox="1"/>
          <p:nvPr/>
        </p:nvSpPr>
        <p:spPr>
          <a:xfrm>
            <a:off x="483552" y="1415417"/>
            <a:ext cx="8014970" cy="4213225"/>
          </a:xfrm>
          <a:prstGeom prst="rect">
            <a:avLst/>
          </a:prstGeom>
          <a:noFill/>
          <a:ln>
            <a:noFill/>
          </a:ln>
        </p:spPr>
        <p:txBody>
          <a:bodyPr anchorCtr="0" anchor="t" bIns="0" lIns="0" spcFirstLastPara="1" rIns="0" wrap="square" tIns="59675">
            <a:spAutoFit/>
          </a:bodyPr>
          <a:lstStyle/>
          <a:p>
            <a:pPr indent="-177800" lvl="0" marL="182880" marR="511809"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consistencia de lectura garantiza una vista 	consistente de los datos para todos los usuarios en 	todo momento</a:t>
            </a:r>
            <a:endParaRPr sz="2800">
              <a:latin typeface="Calibri"/>
              <a:ea typeface="Calibri"/>
              <a:cs typeface="Calibri"/>
              <a:sym typeface="Calibri"/>
            </a:endParaRPr>
          </a:p>
          <a:p>
            <a:pPr indent="-177800" lvl="0" marL="182880" marR="5575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Que los lectores no visualicen datos en proceso de 	cambio</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Que los escritores tengan garantizado que los cambios 	en la base de datos se realizarán de forma consistente</a:t>
            </a:r>
            <a:endParaRPr sz="2800">
              <a:latin typeface="Calibri"/>
              <a:ea typeface="Calibri"/>
              <a:cs typeface="Calibri"/>
              <a:sym typeface="Calibri"/>
            </a:endParaRPr>
          </a:p>
          <a:p>
            <a:pPr indent="-177800" lvl="0" marL="182880" marR="85090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Que los cambios realizados por un escritor no 	destruyan ni entren en conflicto con los cambios 	que esté realizando otro escritor</a:t>
            </a:r>
            <a:endParaRPr sz="2800">
              <a:latin typeface="Calibri"/>
              <a:ea typeface="Calibri"/>
              <a:cs typeface="Calibri"/>
              <a:sym typeface="Calibri"/>
            </a:endParaRPr>
          </a:p>
        </p:txBody>
      </p:sp>
      <p:pic>
        <p:nvPicPr>
          <p:cNvPr id="216" name="Google Shape;216;p17"/>
          <p:cNvPicPr preferRelativeResize="0"/>
          <p:nvPr/>
        </p:nvPicPr>
        <p:blipFill rotWithShape="1">
          <a:blip r:embed="rId3">
            <a:alphaModFix/>
          </a:blip>
          <a:srcRect b="0" l="0" r="0" t="0"/>
          <a:stretch/>
        </p:blipFill>
        <p:spPr>
          <a:xfrm>
            <a:off x="6583680" y="5335523"/>
            <a:ext cx="2029967" cy="976883"/>
          </a:xfrm>
          <a:prstGeom prst="rect">
            <a:avLst/>
          </a:prstGeom>
          <a:noFill/>
          <a:ln>
            <a:noFill/>
          </a:ln>
        </p:spPr>
      </p:pic>
      <p:sp>
        <p:nvSpPr>
          <p:cNvPr id="217" name="Google Shape;217;p17"/>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18" name="Google Shape;218;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9" name="Google Shape;219;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8"/>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Consistencia de Lectura</a:t>
            </a:r>
            <a:endParaRPr/>
          </a:p>
        </p:txBody>
      </p:sp>
      <p:sp>
        <p:nvSpPr>
          <p:cNvPr id="225" name="Google Shape;225;p18"/>
          <p:cNvSpPr txBox="1"/>
          <p:nvPr/>
        </p:nvSpPr>
        <p:spPr>
          <a:xfrm>
            <a:off x="483552" y="1415417"/>
            <a:ext cx="8166734" cy="4497070"/>
          </a:xfrm>
          <a:prstGeom prst="rect">
            <a:avLst/>
          </a:prstGeom>
          <a:noFill/>
          <a:ln>
            <a:noFill/>
          </a:ln>
        </p:spPr>
        <p:txBody>
          <a:bodyPr anchorCtr="0" anchor="t" bIns="0" lIns="0" spcFirstLastPara="1" rIns="0" wrap="square" tIns="59675">
            <a:spAutoFit/>
          </a:bodyPr>
          <a:lstStyle/>
          <a:p>
            <a:pPr indent="-177800" lvl="0" marL="182880" marR="8432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consistencia de lectura es una implementación 	automática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copia parcial de la base de datos se mantiene en 	segmentos de deshacer. Cuando el usuario A emite una 	operación de inserción, actualización o supresión en la 	base de datos, Oracle Server toma una instantánea 	(copia) de los datos antes de cambiarlos y los escribe 	en un segmento de deshacer (rollback)</a:t>
            </a:r>
            <a:endParaRPr sz="2800">
              <a:latin typeface="Calibri"/>
              <a:ea typeface="Calibri"/>
              <a:cs typeface="Calibri"/>
              <a:sym typeface="Calibri"/>
            </a:endParaRPr>
          </a:p>
          <a:p>
            <a:pPr indent="-177800" lvl="0" marL="182880" marR="35560" rtl="0" algn="just">
              <a:lnSpc>
                <a:spcPct val="108214"/>
              </a:lnSpc>
              <a:spcBef>
                <a:spcPts val="76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usuario B sigue viendo la base de datos como existía 	antes de que se iniciaran los cambios; ve la instantánea 	de los datos del segmento de deshacer</a:t>
            </a:r>
            <a:endParaRPr sz="2800">
              <a:latin typeface="Calibri"/>
              <a:ea typeface="Calibri"/>
              <a:cs typeface="Calibri"/>
              <a:sym typeface="Calibri"/>
            </a:endParaRPr>
          </a:p>
        </p:txBody>
      </p:sp>
      <p:pic>
        <p:nvPicPr>
          <p:cNvPr id="226" name="Google Shape;226;p18"/>
          <p:cNvPicPr preferRelativeResize="0"/>
          <p:nvPr/>
        </p:nvPicPr>
        <p:blipFill rotWithShape="1">
          <a:blip r:embed="rId3">
            <a:alphaModFix/>
          </a:blip>
          <a:srcRect b="0" l="0" r="0" t="0"/>
          <a:stretch/>
        </p:blipFill>
        <p:spPr>
          <a:xfrm>
            <a:off x="6708647" y="5410200"/>
            <a:ext cx="2029967" cy="976883"/>
          </a:xfrm>
          <a:prstGeom prst="rect">
            <a:avLst/>
          </a:prstGeom>
          <a:noFill/>
          <a:ln>
            <a:noFill/>
          </a:ln>
        </p:spPr>
      </p:pic>
      <p:sp>
        <p:nvSpPr>
          <p:cNvPr id="227" name="Google Shape;227;p18"/>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28" name="Google Shape;228;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9" name="Google Shape;229;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9"/>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Consistencia de Lectura</a:t>
            </a:r>
            <a:endParaRPr/>
          </a:p>
        </p:txBody>
      </p:sp>
      <p:sp>
        <p:nvSpPr>
          <p:cNvPr id="235" name="Google Shape;235;p19"/>
          <p:cNvSpPr txBox="1"/>
          <p:nvPr/>
        </p:nvSpPr>
        <p:spPr>
          <a:xfrm>
            <a:off x="483552" y="1415417"/>
            <a:ext cx="8000365" cy="2858770"/>
          </a:xfrm>
          <a:prstGeom prst="rect">
            <a:avLst/>
          </a:prstGeom>
          <a:noFill/>
          <a:ln>
            <a:noFill/>
          </a:ln>
        </p:spPr>
        <p:txBody>
          <a:bodyPr anchorCtr="0" anchor="t" bIns="0" lIns="0" spcFirstLastPara="1" rIns="0" wrap="square" tIns="59675">
            <a:spAutoFit/>
          </a:bodyPr>
          <a:lstStyle/>
          <a:p>
            <a:pPr indent="-177800" lvl="0" marL="182880" marR="3416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Antes de confirmar los cambios en la base de datos, 	solo el usuario que está cambiando los datos ve los 	cambios; todos los demás ven la instantánea en el 	segmento de deshacer</a:t>
            </a:r>
            <a:endParaRPr sz="2800">
              <a:latin typeface="Calibri"/>
              <a:ea typeface="Calibri"/>
              <a:cs typeface="Calibri"/>
              <a:sym typeface="Calibri"/>
            </a:endParaRPr>
          </a:p>
          <a:p>
            <a:pPr indent="-177800" lvl="0" marL="182880"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garantiza que los lectores de los datos vean datos 	consistentes en los que no se esté realizando 	actualmente ningún cambio</a:t>
            </a:r>
            <a:endParaRPr sz="2800">
              <a:latin typeface="Calibri"/>
              <a:ea typeface="Calibri"/>
              <a:cs typeface="Calibri"/>
              <a:sym typeface="Calibri"/>
            </a:endParaRPr>
          </a:p>
        </p:txBody>
      </p:sp>
      <p:pic>
        <p:nvPicPr>
          <p:cNvPr id="236" name="Google Shape;236;p19"/>
          <p:cNvPicPr preferRelativeResize="0"/>
          <p:nvPr/>
        </p:nvPicPr>
        <p:blipFill rotWithShape="1">
          <a:blip r:embed="rId3">
            <a:alphaModFix/>
          </a:blip>
          <a:srcRect b="0" l="0" r="0" t="0"/>
          <a:stretch/>
        </p:blipFill>
        <p:spPr>
          <a:xfrm>
            <a:off x="6583680" y="5335523"/>
            <a:ext cx="2029967" cy="976883"/>
          </a:xfrm>
          <a:prstGeom prst="rect">
            <a:avLst/>
          </a:prstGeom>
          <a:noFill/>
          <a:ln>
            <a:noFill/>
          </a:ln>
        </p:spPr>
      </p:pic>
      <p:sp>
        <p:nvSpPr>
          <p:cNvPr id="237" name="Google Shape;237;p19"/>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38" name="Google Shape;238;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9" name="Google Shape;239;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Cambios Visibles</a:t>
            </a:r>
            <a:endParaRPr/>
          </a:p>
        </p:txBody>
      </p:sp>
      <p:sp>
        <p:nvSpPr>
          <p:cNvPr id="245" name="Google Shape;245;p20"/>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46" name="Google Shape;246;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7" name="Google Shape;247;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8" name="Google Shape;248;p20"/>
          <p:cNvSpPr txBox="1"/>
          <p:nvPr>
            <p:ph idx="1" type="body"/>
          </p:nvPr>
        </p:nvSpPr>
        <p:spPr>
          <a:xfrm>
            <a:off x="483552" y="1415417"/>
            <a:ext cx="8100600" cy="4164000"/>
          </a:xfrm>
          <a:prstGeom prst="rect">
            <a:avLst/>
          </a:prstGeom>
          <a:noFill/>
          <a:ln>
            <a:noFill/>
          </a:ln>
        </p:spPr>
        <p:txBody>
          <a:bodyPr anchorCtr="0" anchor="t" bIns="0" lIns="0" spcFirstLastPara="1" rIns="0" wrap="square" tIns="59675">
            <a:spAutoFit/>
          </a:bodyPr>
          <a:lstStyle/>
          <a:p>
            <a:pPr indent="-177800" lvl="0" marL="182880" marR="309880" rtl="0" algn="l">
              <a:lnSpc>
                <a:spcPct val="108214"/>
              </a:lnSpc>
              <a:spcBef>
                <a:spcPts val="0"/>
              </a:spcBef>
              <a:spcAft>
                <a:spcPts val="0"/>
              </a:spcAft>
              <a:buClr>
                <a:srgbClr val="D1350F"/>
              </a:buClr>
              <a:buSzPts val="2800"/>
              <a:buFont typeface="Arial"/>
              <a:buChar char="•"/>
            </a:pPr>
            <a:r>
              <a:rPr lang="en-US"/>
              <a:t>Cuando se confirma una sentencia DML, cualquiera 	que ejecute la sentencia SELECT puede ver el cambio 	realizado</a:t>
            </a:r>
            <a:endParaRPr/>
          </a:p>
          <a:p>
            <a:pPr indent="-177800" lvl="0" marL="182880" marR="209550" rtl="0" algn="l">
              <a:lnSpc>
                <a:spcPct val="108214"/>
              </a:lnSpc>
              <a:spcBef>
                <a:spcPts val="785"/>
              </a:spcBef>
              <a:spcAft>
                <a:spcPts val="0"/>
              </a:spcAft>
              <a:buClr>
                <a:srgbClr val="D1350F"/>
              </a:buClr>
              <a:buSzPts val="2800"/>
              <a:buFont typeface="Arial"/>
              <a:buChar char="•"/>
            </a:pPr>
            <a:r>
              <a:rPr lang="en-US"/>
              <a:t>Si se realiza un rollback de la transacción, los cambios 	se deshacen:</a:t>
            </a:r>
            <a:endParaRPr/>
          </a:p>
          <a:p>
            <a:pPr indent="-175259" lvl="0" marL="530860" marR="588645" rtl="0" algn="l">
              <a:lnSpc>
                <a:spcPct val="107916"/>
              </a:lnSpc>
              <a:spcBef>
                <a:spcPts val="415"/>
              </a:spcBef>
              <a:spcAft>
                <a:spcPts val="0"/>
              </a:spcAft>
              <a:buNone/>
            </a:pPr>
            <a:r>
              <a:rPr lang="en-US" sz="2400">
                <a:solidFill>
                  <a:srgbClr val="D1350F"/>
                </a:solidFill>
              </a:rPr>
              <a:t>−</a:t>
            </a:r>
            <a:r>
              <a:rPr lang="en-US" sz="2400"/>
              <a:t>La versión original anterior de los datos del segmento de deshacer se vuelve a escribir en la tabla</a:t>
            </a:r>
            <a:endParaRPr sz="2400"/>
          </a:p>
          <a:p>
            <a:pPr indent="-175259" lvl="0" marL="530860" marR="5080" rtl="0" algn="l">
              <a:lnSpc>
                <a:spcPct val="107916"/>
              </a:lnSpc>
              <a:spcBef>
                <a:spcPts val="409"/>
              </a:spcBef>
              <a:spcAft>
                <a:spcPts val="1200"/>
              </a:spcAft>
              <a:buNone/>
            </a:pPr>
            <a:r>
              <a:rPr lang="en-US" sz="2400">
                <a:solidFill>
                  <a:srgbClr val="D1350F"/>
                </a:solidFill>
              </a:rPr>
              <a:t>−</a:t>
            </a:r>
            <a:r>
              <a:rPr lang="en-US" sz="2400"/>
              <a:t>Todos los usuarios ven la base de datos como existía antes de comenzar la transacción</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COMMIT, ROLLBACK y SAVEPOINT</a:t>
            </a:r>
            <a:endParaRPr/>
          </a:p>
        </p:txBody>
      </p:sp>
      <p:sp>
        <p:nvSpPr>
          <p:cNvPr id="254" name="Google Shape;254;p21"/>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55" name="Google Shape;255;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6" name="Google Shape;256;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7" name="Google Shape;257;p21"/>
          <p:cNvSpPr txBox="1"/>
          <p:nvPr/>
        </p:nvSpPr>
        <p:spPr>
          <a:xfrm>
            <a:off x="483552" y="1415417"/>
            <a:ext cx="8035290" cy="4112895"/>
          </a:xfrm>
          <a:prstGeom prst="rect">
            <a:avLst/>
          </a:prstGeom>
          <a:noFill/>
          <a:ln>
            <a:noFill/>
          </a:ln>
        </p:spPr>
        <p:txBody>
          <a:bodyPr anchorCtr="0" anchor="t" bIns="0" lIns="0" spcFirstLastPara="1" rIns="0" wrap="square" tIns="59675">
            <a:spAutoFit/>
          </a:bodyPr>
          <a:lstStyle/>
          <a:p>
            <a:pPr indent="-177800" lvl="0" marL="182880" marR="609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COMMIT y ROLLBACK garantizan la consistencia de los 	datos, posibilitando obtener una vista previa de los 	cambios en los datos antes de hacer que los cambios 	sean permanentes y para agrupar lógicamente 	operaciones relacionadas</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SAVEPOINT crea un punto en una transacción al que 	puede realizar un rollback sin tener que deshacer toda 	la transacción</a:t>
            </a:r>
            <a:endParaRPr sz="2800">
              <a:latin typeface="Calibri"/>
              <a:ea typeface="Calibri"/>
              <a:cs typeface="Calibri"/>
              <a:sym typeface="Calibri"/>
            </a:endParaRPr>
          </a:p>
          <a:p>
            <a:pPr indent="-177800" lvl="0" marL="182880" marR="84455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COMMIT, ROLLBACK y SAVEPOINT se denominan 	lenguaje de control de transacciones o TCL</a:t>
            </a:r>
            <a:endParaRPr sz="2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COMMIT, ROLLBACK y SAVEPOINT</a:t>
            </a:r>
            <a:endParaRPr/>
          </a:p>
        </p:txBody>
      </p:sp>
      <p:sp>
        <p:nvSpPr>
          <p:cNvPr id="263" name="Google Shape;263;p22"/>
          <p:cNvSpPr txBox="1"/>
          <p:nvPr/>
        </p:nvSpPr>
        <p:spPr>
          <a:xfrm>
            <a:off x="483552" y="1415417"/>
            <a:ext cx="797115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transacción que se muestra en el gráfico, se ha 	emitido una sentencia DELETE y, a continuación, se ha</a:t>
            </a:r>
            <a:endParaRPr sz="2800">
              <a:latin typeface="Calibri"/>
              <a:ea typeface="Calibri"/>
              <a:cs typeface="Calibri"/>
              <a:sym typeface="Calibri"/>
            </a:endParaRPr>
          </a:p>
        </p:txBody>
      </p:sp>
      <p:sp>
        <p:nvSpPr>
          <p:cNvPr id="264" name="Google Shape;264;p22"/>
          <p:cNvSpPr txBox="1"/>
          <p:nvPr/>
        </p:nvSpPr>
        <p:spPr>
          <a:xfrm>
            <a:off x="483552" y="2124114"/>
            <a:ext cx="3858895" cy="3686810"/>
          </a:xfrm>
          <a:prstGeom prst="rect">
            <a:avLst/>
          </a:prstGeom>
          <a:noFill/>
          <a:ln>
            <a:noFill/>
          </a:ln>
        </p:spPr>
        <p:txBody>
          <a:bodyPr anchorCtr="0" anchor="t" bIns="0" lIns="0" spcFirstLastPara="1" rIns="0" wrap="square" tIns="71750">
            <a:spAutoFit/>
          </a:bodyPr>
          <a:lstStyle/>
          <a:p>
            <a:pPr indent="0" lvl="0" marL="184785" rtl="0" algn="l">
              <a:lnSpc>
                <a:spcPct val="100000"/>
              </a:lnSpc>
              <a:spcBef>
                <a:spcPts val="0"/>
              </a:spcBef>
              <a:spcAft>
                <a:spcPts val="0"/>
              </a:spcAft>
              <a:buNone/>
            </a:pPr>
            <a:r>
              <a:rPr lang="en-US" sz="2800">
                <a:solidFill>
                  <a:srgbClr val="4E3629"/>
                </a:solidFill>
                <a:latin typeface="Calibri"/>
                <a:ea typeface="Calibri"/>
                <a:cs typeface="Calibri"/>
                <a:sym typeface="Calibri"/>
              </a:rPr>
              <a:t>establecido SAVEPOINT A</a:t>
            </a:r>
            <a:endParaRPr sz="2800">
              <a:latin typeface="Calibri"/>
              <a:ea typeface="Calibri"/>
              <a:cs typeface="Calibri"/>
              <a:sym typeface="Calibri"/>
            </a:endParaRPr>
          </a:p>
          <a:p>
            <a:pPr indent="-177800" lvl="0" marL="182880" marR="5080"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SAVEPOINT actúa 	como un marcador que 	permitirá al usuario para 	realizar un rollback de los 	cambios posteriores en 	los datos al estado de los 	datos tal como existían 	en este punto</a:t>
            </a:r>
            <a:endParaRPr sz="2800">
              <a:latin typeface="Calibri"/>
              <a:ea typeface="Calibri"/>
              <a:cs typeface="Calibri"/>
              <a:sym typeface="Calibri"/>
            </a:endParaRPr>
          </a:p>
        </p:txBody>
      </p:sp>
      <p:sp>
        <p:nvSpPr>
          <p:cNvPr id="265" name="Google Shape;265;p22"/>
          <p:cNvSpPr txBox="1"/>
          <p:nvPr/>
        </p:nvSpPr>
        <p:spPr>
          <a:xfrm>
            <a:off x="4458058" y="2244789"/>
            <a:ext cx="3423920" cy="1162685"/>
          </a:xfrm>
          <a:prstGeom prst="rect">
            <a:avLst/>
          </a:prstGeom>
          <a:noFill/>
          <a:ln>
            <a:noFill/>
          </a:ln>
        </p:spPr>
        <p:txBody>
          <a:bodyPr anchorCtr="0" anchor="t" bIns="0" lIns="0" spcFirstLastPara="1" rIns="0" wrap="square" tIns="172700">
            <a:spAutoFit/>
          </a:bodyPr>
          <a:lstStyle/>
          <a:p>
            <a:pPr indent="0" lvl="0" marL="1055370" rtl="0" algn="l">
              <a:lnSpc>
                <a:spcPct val="100000"/>
              </a:lnSpc>
              <a:spcBef>
                <a:spcPts val="0"/>
              </a:spcBef>
              <a:spcAft>
                <a:spcPts val="0"/>
              </a:spcAft>
              <a:buNone/>
            </a:pPr>
            <a:r>
              <a:rPr b="1" lang="en-US" sz="1800">
                <a:solidFill>
                  <a:srgbClr val="4E3629"/>
                </a:solidFill>
                <a:latin typeface="Calibri"/>
                <a:ea typeface="Calibri"/>
                <a:cs typeface="Calibri"/>
                <a:sym typeface="Calibri"/>
              </a:rPr>
              <a:t>Control de Transacciones</a:t>
            </a:r>
            <a:endParaRPr sz="1800">
              <a:latin typeface="Calibri"/>
              <a:ea typeface="Calibri"/>
              <a:cs typeface="Calibri"/>
              <a:sym typeface="Calibri"/>
            </a:endParaRPr>
          </a:p>
          <a:p>
            <a:pPr indent="0" lvl="0" marL="0" rtl="0" algn="l">
              <a:lnSpc>
                <a:spcPct val="100000"/>
              </a:lnSpc>
              <a:spcBef>
                <a:spcPts val="1110"/>
              </a:spcBef>
              <a:spcAft>
                <a:spcPts val="0"/>
              </a:spcAft>
              <a:buNone/>
            </a:pPr>
            <a:r>
              <a:rPr i="1" lang="en-US" sz="1600">
                <a:solidFill>
                  <a:srgbClr val="4E3629"/>
                </a:solidFill>
                <a:latin typeface="Calibri"/>
                <a:ea typeface="Calibri"/>
                <a:cs typeface="Calibri"/>
                <a:sym typeface="Calibri"/>
              </a:rPr>
              <a:t>Tiempo COMMIT</a:t>
            </a:r>
            <a:endParaRPr sz="1600">
              <a:latin typeface="Calibri"/>
              <a:ea typeface="Calibri"/>
              <a:cs typeface="Calibri"/>
              <a:sym typeface="Calibri"/>
            </a:endParaRPr>
          </a:p>
          <a:p>
            <a:pPr indent="0" lvl="0" marL="715645" rtl="0" algn="l">
              <a:lnSpc>
                <a:spcPct val="100000"/>
              </a:lnSpc>
              <a:spcBef>
                <a:spcPts val="585"/>
              </a:spcBef>
              <a:spcAft>
                <a:spcPts val="0"/>
              </a:spcAft>
              <a:buNone/>
            </a:pPr>
            <a:r>
              <a:rPr b="1" lang="en-US" sz="1600">
                <a:solidFill>
                  <a:srgbClr val="4E3629"/>
                </a:solidFill>
                <a:latin typeface="Calibri"/>
                <a:ea typeface="Calibri"/>
                <a:cs typeface="Calibri"/>
                <a:sym typeface="Calibri"/>
              </a:rPr>
              <a:t>Transaction</a:t>
            </a:r>
            <a:endParaRPr sz="1600">
              <a:latin typeface="Calibri"/>
              <a:ea typeface="Calibri"/>
              <a:cs typeface="Calibri"/>
              <a:sym typeface="Calibri"/>
            </a:endParaRPr>
          </a:p>
        </p:txBody>
      </p:sp>
      <p:sp>
        <p:nvSpPr>
          <p:cNvPr id="266" name="Google Shape;266;p22"/>
          <p:cNvSpPr txBox="1"/>
          <p:nvPr/>
        </p:nvSpPr>
        <p:spPr>
          <a:xfrm>
            <a:off x="5174169" y="3777531"/>
            <a:ext cx="1113155"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A</a:t>
            </a:r>
            <a:endParaRPr sz="1600">
              <a:latin typeface="Calibri"/>
              <a:ea typeface="Calibri"/>
              <a:cs typeface="Calibri"/>
              <a:sym typeface="Calibri"/>
            </a:endParaRPr>
          </a:p>
        </p:txBody>
      </p:sp>
      <p:sp>
        <p:nvSpPr>
          <p:cNvPr id="267" name="Google Shape;267;p22"/>
          <p:cNvSpPr txBox="1"/>
          <p:nvPr/>
        </p:nvSpPr>
        <p:spPr>
          <a:xfrm>
            <a:off x="5174169" y="4734237"/>
            <a:ext cx="1106170"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B</a:t>
            </a:r>
            <a:endParaRPr sz="1600">
              <a:latin typeface="Calibri"/>
              <a:ea typeface="Calibri"/>
              <a:cs typeface="Calibri"/>
              <a:sym typeface="Calibri"/>
            </a:endParaRPr>
          </a:p>
        </p:txBody>
      </p:sp>
      <p:sp>
        <p:nvSpPr>
          <p:cNvPr id="268" name="Google Shape;268;p22"/>
          <p:cNvSpPr txBox="1"/>
          <p:nvPr/>
        </p:nvSpPr>
        <p:spPr>
          <a:xfrm>
            <a:off x="5163311" y="3521964"/>
            <a:ext cx="563880" cy="241300"/>
          </a:xfrm>
          <a:prstGeom prst="rect">
            <a:avLst/>
          </a:prstGeom>
          <a:solidFill>
            <a:srgbClr val="7BA800"/>
          </a:solidFill>
          <a:ln>
            <a:noFill/>
          </a:ln>
        </p:spPr>
        <p:txBody>
          <a:bodyPr anchorCtr="0" anchor="t" bIns="0" lIns="0" spcFirstLastPara="1" rIns="0" wrap="square" tIns="625">
            <a:spAutoFit/>
          </a:bodyPr>
          <a:lstStyle/>
          <a:p>
            <a:pPr indent="0" lvl="0" marL="11430" rtl="0" algn="l">
              <a:lnSpc>
                <a:spcPct val="100000"/>
              </a:lnSpc>
              <a:spcBef>
                <a:spcPts val="0"/>
              </a:spcBef>
              <a:spcAft>
                <a:spcPts val="0"/>
              </a:spcAft>
              <a:buNone/>
            </a:pPr>
            <a:r>
              <a:rPr lang="en-US" sz="1400">
                <a:solidFill>
                  <a:srgbClr val="4E3629"/>
                </a:solidFill>
                <a:latin typeface="Calibri"/>
                <a:ea typeface="Calibri"/>
                <a:cs typeface="Calibri"/>
                <a:sym typeface="Calibri"/>
              </a:rPr>
              <a:t>DELETE</a:t>
            </a:r>
            <a:endParaRPr sz="1400">
              <a:latin typeface="Calibri"/>
              <a:ea typeface="Calibri"/>
              <a:cs typeface="Calibri"/>
              <a:sym typeface="Calibri"/>
            </a:endParaRPr>
          </a:p>
        </p:txBody>
      </p:sp>
      <p:sp>
        <p:nvSpPr>
          <p:cNvPr id="269" name="Google Shape;269;p22"/>
          <p:cNvSpPr txBox="1"/>
          <p:nvPr/>
        </p:nvSpPr>
        <p:spPr>
          <a:xfrm>
            <a:off x="5161788" y="4107179"/>
            <a:ext cx="539750" cy="241300"/>
          </a:xfrm>
          <a:prstGeom prst="rect">
            <a:avLst/>
          </a:prstGeom>
          <a:solidFill>
            <a:srgbClr val="FFFF00"/>
          </a:solidFill>
          <a:ln>
            <a:noFill/>
          </a:ln>
        </p:spPr>
        <p:txBody>
          <a:bodyPr anchorCtr="0" anchor="t" bIns="0" lIns="0" spcFirstLastPara="1" rIns="0" wrap="square" tIns="1250">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270" name="Google Shape;270;p22"/>
          <p:cNvSpPr txBox="1"/>
          <p:nvPr/>
        </p:nvSpPr>
        <p:spPr>
          <a:xfrm>
            <a:off x="5161788" y="4427220"/>
            <a:ext cx="608330" cy="241300"/>
          </a:xfrm>
          <a:prstGeom prst="rect">
            <a:avLst/>
          </a:prstGeom>
          <a:solidFill>
            <a:srgbClr val="00CCFF"/>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UPDATE</a:t>
            </a:r>
            <a:endParaRPr sz="1400">
              <a:latin typeface="Calibri"/>
              <a:ea typeface="Calibri"/>
              <a:cs typeface="Calibri"/>
              <a:sym typeface="Calibri"/>
            </a:endParaRPr>
          </a:p>
        </p:txBody>
      </p:sp>
      <p:sp>
        <p:nvSpPr>
          <p:cNvPr id="271" name="Google Shape;271;p22"/>
          <p:cNvSpPr txBox="1"/>
          <p:nvPr/>
        </p:nvSpPr>
        <p:spPr>
          <a:xfrm>
            <a:off x="5161788" y="5065776"/>
            <a:ext cx="539750" cy="241300"/>
          </a:xfrm>
          <a:prstGeom prst="rect">
            <a:avLst/>
          </a:prstGeom>
          <a:solidFill>
            <a:srgbClr val="9DBDC4"/>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272" name="Google Shape;272;p22"/>
          <p:cNvSpPr txBox="1"/>
          <p:nvPr/>
        </p:nvSpPr>
        <p:spPr>
          <a:xfrm>
            <a:off x="5873459" y="5859133"/>
            <a:ext cx="103441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B</a:t>
            </a:r>
            <a:endParaRPr sz="1200">
              <a:latin typeface="Calibri"/>
              <a:ea typeface="Calibri"/>
              <a:cs typeface="Calibri"/>
              <a:sym typeface="Calibri"/>
            </a:endParaRPr>
          </a:p>
        </p:txBody>
      </p:sp>
      <p:sp>
        <p:nvSpPr>
          <p:cNvPr id="273" name="Google Shape;273;p22"/>
          <p:cNvSpPr txBox="1"/>
          <p:nvPr/>
        </p:nvSpPr>
        <p:spPr>
          <a:xfrm>
            <a:off x="7077419" y="5859133"/>
            <a:ext cx="104076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A</a:t>
            </a:r>
            <a:endParaRPr sz="1200">
              <a:latin typeface="Calibri"/>
              <a:ea typeface="Calibri"/>
              <a:cs typeface="Calibri"/>
              <a:sym typeface="Calibri"/>
            </a:endParaRPr>
          </a:p>
        </p:txBody>
      </p:sp>
      <p:sp>
        <p:nvSpPr>
          <p:cNvPr id="274" name="Google Shape;274;p22"/>
          <p:cNvSpPr txBox="1"/>
          <p:nvPr/>
        </p:nvSpPr>
        <p:spPr>
          <a:xfrm>
            <a:off x="8249680" y="5974957"/>
            <a:ext cx="66802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p:txBody>
      </p:sp>
      <p:grpSp>
        <p:nvGrpSpPr>
          <p:cNvPr id="275" name="Google Shape;275;p22"/>
          <p:cNvGrpSpPr/>
          <p:nvPr/>
        </p:nvGrpSpPr>
        <p:grpSpPr>
          <a:xfrm>
            <a:off x="4445507" y="2321051"/>
            <a:ext cx="4589145" cy="3967479"/>
            <a:chOff x="4445507" y="2321051"/>
            <a:chExt cx="4589145" cy="3967479"/>
          </a:xfrm>
        </p:grpSpPr>
        <p:sp>
          <p:nvSpPr>
            <p:cNvPr id="276" name="Google Shape;276;p22"/>
            <p:cNvSpPr/>
            <p:nvPr/>
          </p:nvSpPr>
          <p:spPr>
            <a:xfrm>
              <a:off x="6446519" y="4877561"/>
              <a:ext cx="138430" cy="0"/>
            </a:xfrm>
            <a:custGeom>
              <a:rect b="b" l="l" r="r" t="t"/>
              <a:pathLst>
                <a:path extrusionOk="0" h="120000" w="138429">
                  <a:moveTo>
                    <a:pt x="137922"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22"/>
            <p:cNvSpPr/>
            <p:nvPr/>
          </p:nvSpPr>
          <p:spPr>
            <a:xfrm>
              <a:off x="6351266" y="482040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8" name="Google Shape;278;p22"/>
            <p:cNvSpPr/>
            <p:nvPr/>
          </p:nvSpPr>
          <p:spPr>
            <a:xfrm>
              <a:off x="6584441" y="4877561"/>
              <a:ext cx="0" cy="951230"/>
            </a:xfrm>
            <a:custGeom>
              <a:rect b="b" l="l" r="r" t="t"/>
              <a:pathLst>
                <a:path extrusionOk="0" h="951229" w="120000">
                  <a:moveTo>
                    <a:pt x="0" y="95097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9" name="Google Shape;279;p22"/>
            <p:cNvSpPr/>
            <p:nvPr/>
          </p:nvSpPr>
          <p:spPr>
            <a:xfrm>
              <a:off x="6486143" y="3937253"/>
              <a:ext cx="1111885" cy="0"/>
            </a:xfrm>
            <a:custGeom>
              <a:rect b="b" l="l" r="r" t="t"/>
              <a:pathLst>
                <a:path extrusionOk="0" h="120000" w="1111884">
                  <a:moveTo>
                    <a:pt x="1111758"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0" name="Google Shape;280;p22"/>
            <p:cNvSpPr/>
            <p:nvPr/>
          </p:nvSpPr>
          <p:spPr>
            <a:xfrm>
              <a:off x="6390891" y="3880098"/>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1" name="Google Shape;281;p22"/>
            <p:cNvSpPr/>
            <p:nvPr/>
          </p:nvSpPr>
          <p:spPr>
            <a:xfrm>
              <a:off x="6365747" y="3204209"/>
              <a:ext cx="2070735" cy="0"/>
            </a:xfrm>
            <a:custGeom>
              <a:rect b="b" l="l" r="r" t="t"/>
              <a:pathLst>
                <a:path extrusionOk="0" h="120000" w="2070734">
                  <a:moveTo>
                    <a:pt x="2070353"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2" name="Google Shape;282;p22"/>
            <p:cNvSpPr/>
            <p:nvPr/>
          </p:nvSpPr>
          <p:spPr>
            <a:xfrm>
              <a:off x="6270495" y="314705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p:nvPr/>
          </p:nvSpPr>
          <p:spPr>
            <a:xfrm>
              <a:off x="7597901" y="3937253"/>
              <a:ext cx="0" cy="1900555"/>
            </a:xfrm>
            <a:custGeom>
              <a:rect b="b" l="l" r="r" t="t"/>
              <a:pathLst>
                <a:path extrusionOk="0" h="1900554" w="120000">
                  <a:moveTo>
                    <a:pt x="0" y="1900428"/>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4" name="Google Shape;284;p22"/>
            <p:cNvSpPr/>
            <p:nvPr/>
          </p:nvSpPr>
          <p:spPr>
            <a:xfrm>
              <a:off x="8452865" y="3204209"/>
              <a:ext cx="0" cy="2641600"/>
            </a:xfrm>
            <a:custGeom>
              <a:rect b="b" l="l" r="r" t="t"/>
              <a:pathLst>
                <a:path extrusionOk="0" h="2641600" w="120000">
                  <a:moveTo>
                    <a:pt x="0" y="2641091"/>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5" name="Google Shape;285;p22"/>
            <p:cNvSpPr/>
            <p:nvPr/>
          </p:nvSpPr>
          <p:spPr>
            <a:xfrm>
              <a:off x="4839461" y="3152393"/>
              <a:ext cx="0" cy="1992630"/>
            </a:xfrm>
            <a:custGeom>
              <a:rect b="b" l="l" r="r" t="t"/>
              <a:pathLst>
                <a:path extrusionOk="0" h="1992629" w="120000">
                  <a:moveTo>
                    <a:pt x="0" y="0"/>
                  </a:moveTo>
                  <a:lnTo>
                    <a:pt x="0" y="199263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6" name="Google Shape;286;p22"/>
            <p:cNvSpPr/>
            <p:nvPr/>
          </p:nvSpPr>
          <p:spPr>
            <a:xfrm>
              <a:off x="4782318" y="5125976"/>
              <a:ext cx="114300" cy="114300"/>
            </a:xfrm>
            <a:custGeom>
              <a:rect b="b" l="l" r="r" t="t"/>
              <a:pathLst>
                <a:path extrusionOk="0" h="114300" w="114300">
                  <a:moveTo>
                    <a:pt x="114300" y="0"/>
                  </a:moveTo>
                  <a:lnTo>
                    <a:pt x="0" y="0"/>
                  </a:lnTo>
                  <a:lnTo>
                    <a:pt x="5715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7" name="Google Shape;287;p22"/>
            <p:cNvSpPr/>
            <p:nvPr/>
          </p:nvSpPr>
          <p:spPr>
            <a:xfrm>
              <a:off x="4445507" y="2321051"/>
              <a:ext cx="4589145" cy="3967479"/>
            </a:xfrm>
            <a:custGeom>
              <a:rect b="b" l="l" r="r" t="t"/>
              <a:pathLst>
                <a:path extrusionOk="0" h="3967479" w="4589145">
                  <a:moveTo>
                    <a:pt x="0" y="0"/>
                  </a:moveTo>
                  <a:lnTo>
                    <a:pt x="4588764" y="0"/>
                  </a:lnTo>
                  <a:lnTo>
                    <a:pt x="4588764" y="3966972"/>
                  </a:lnTo>
                  <a:lnTo>
                    <a:pt x="0" y="396697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88" name="Google Shape;288;p22"/>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289" name="Google Shape;289;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0" name="Google Shape;290;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3"/>
          <p:cNvSpPr txBox="1"/>
          <p:nvPr/>
        </p:nvSpPr>
        <p:spPr>
          <a:xfrm>
            <a:off x="483552" y="1491489"/>
            <a:ext cx="3890645" cy="3141345"/>
          </a:xfrm>
          <a:prstGeom prst="rect">
            <a:avLst/>
          </a:prstGeom>
          <a:noFill/>
          <a:ln>
            <a:noFill/>
          </a:ln>
        </p:spPr>
        <p:txBody>
          <a:bodyPr anchorCtr="0" anchor="t" bIns="0" lIns="0" spcFirstLastPara="1" rIns="0" wrap="square" tIns="59675">
            <a:spAutoFit/>
          </a:bodyPr>
          <a:lstStyle/>
          <a:p>
            <a:pPr indent="-457200" lvl="0" marL="469900" marR="1022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después de SAVEPOINT A, el</a:t>
            </a:r>
            <a:endParaRPr sz="2800">
              <a:latin typeface="Calibri"/>
              <a:ea typeface="Calibri"/>
              <a:cs typeface="Calibri"/>
              <a:sym typeface="Calibri"/>
            </a:endParaRPr>
          </a:p>
          <a:p>
            <a:pPr indent="0" lvl="0" marL="469900" rtl="0" algn="l">
              <a:lnSpc>
                <a:spcPct val="100178"/>
              </a:lnSpc>
              <a:spcBef>
                <a:spcPts val="0"/>
              </a:spcBef>
              <a:spcAft>
                <a:spcPts val="0"/>
              </a:spcAft>
              <a:buNone/>
            </a:pPr>
            <a:r>
              <a:rPr lang="en-US" sz="2800">
                <a:solidFill>
                  <a:srgbClr val="4E3629"/>
                </a:solidFill>
                <a:latin typeface="Calibri"/>
                <a:ea typeface="Calibri"/>
                <a:cs typeface="Calibri"/>
                <a:sym typeface="Calibri"/>
              </a:rPr>
              <a:t>usuario emite una</a:t>
            </a:r>
            <a:endParaRPr sz="2800">
              <a:latin typeface="Calibri"/>
              <a:ea typeface="Calibri"/>
              <a:cs typeface="Calibri"/>
              <a:sym typeface="Calibri"/>
            </a:endParaRPr>
          </a:p>
          <a:p>
            <a:pPr indent="0" lvl="0" marL="469900" marR="690245" rtl="0" algn="l">
              <a:lnSpc>
                <a:spcPct val="108214"/>
              </a:lnSpc>
              <a:spcBef>
                <a:spcPts val="210"/>
              </a:spcBef>
              <a:spcAft>
                <a:spcPts val="0"/>
              </a:spcAft>
              <a:buNone/>
            </a:pPr>
            <a:r>
              <a:rPr lang="en-US" sz="2800">
                <a:solidFill>
                  <a:srgbClr val="4E3629"/>
                </a:solidFill>
                <a:latin typeface="Calibri"/>
                <a:ea typeface="Calibri"/>
                <a:cs typeface="Calibri"/>
                <a:sym typeface="Calibri"/>
              </a:rPr>
              <a:t>sentencia INSERT y UPDATE y, a</a:t>
            </a:r>
            <a:endParaRPr sz="2800">
              <a:latin typeface="Calibri"/>
              <a:ea typeface="Calibri"/>
              <a:cs typeface="Calibri"/>
              <a:sym typeface="Calibri"/>
            </a:endParaRPr>
          </a:p>
          <a:p>
            <a:pPr indent="0" lvl="0" marL="469900" rtl="0" algn="l">
              <a:lnSpc>
                <a:spcPct val="100178"/>
              </a:lnSpc>
              <a:spcBef>
                <a:spcPts val="0"/>
              </a:spcBef>
              <a:spcAft>
                <a:spcPts val="0"/>
              </a:spcAft>
              <a:buNone/>
            </a:pPr>
            <a:r>
              <a:rPr lang="en-US" sz="2800">
                <a:solidFill>
                  <a:srgbClr val="4E3629"/>
                </a:solidFill>
                <a:latin typeface="Calibri"/>
                <a:ea typeface="Calibri"/>
                <a:cs typeface="Calibri"/>
                <a:sym typeface="Calibri"/>
              </a:rPr>
              <a:t>continuación, establece</a:t>
            </a:r>
            <a:endParaRPr sz="2800">
              <a:latin typeface="Calibri"/>
              <a:ea typeface="Calibri"/>
              <a:cs typeface="Calibri"/>
              <a:sym typeface="Calibri"/>
            </a:endParaRPr>
          </a:p>
          <a:p>
            <a:pPr indent="0" lvl="0" marL="469900" marR="31750" rtl="0" algn="l">
              <a:lnSpc>
                <a:spcPct val="108214"/>
              </a:lnSpc>
              <a:spcBef>
                <a:spcPts val="209"/>
              </a:spcBef>
              <a:spcAft>
                <a:spcPts val="0"/>
              </a:spcAft>
              <a:buNone/>
            </a:pPr>
            <a:r>
              <a:rPr lang="en-US" sz="2800">
                <a:solidFill>
                  <a:srgbClr val="4E3629"/>
                </a:solidFill>
                <a:latin typeface="Calibri"/>
                <a:ea typeface="Calibri"/>
                <a:cs typeface="Calibri"/>
                <a:sym typeface="Calibri"/>
              </a:rPr>
              <a:t>otro marcador de rollback a SAVEPOINT B</a:t>
            </a:r>
            <a:endParaRPr sz="2800">
              <a:latin typeface="Calibri"/>
              <a:ea typeface="Calibri"/>
              <a:cs typeface="Calibri"/>
              <a:sym typeface="Calibri"/>
            </a:endParaRPr>
          </a:p>
        </p:txBody>
      </p:sp>
      <p:sp>
        <p:nvSpPr>
          <p:cNvPr id="296" name="Google Shape;296;p23"/>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COMMIT, ROLLBACK y SAVEPOINT</a:t>
            </a:r>
            <a:endParaRPr/>
          </a:p>
        </p:txBody>
      </p:sp>
      <p:sp>
        <p:nvSpPr>
          <p:cNvPr id="297" name="Google Shape;297;p23"/>
          <p:cNvSpPr/>
          <p:nvPr/>
        </p:nvSpPr>
        <p:spPr>
          <a:xfrm>
            <a:off x="5163311" y="3521964"/>
            <a:ext cx="563880" cy="241300"/>
          </a:xfrm>
          <a:custGeom>
            <a:rect b="b" l="l" r="r" t="t"/>
            <a:pathLst>
              <a:path extrusionOk="0" h="241300" w="563879">
                <a:moveTo>
                  <a:pt x="563879" y="0"/>
                </a:moveTo>
                <a:lnTo>
                  <a:pt x="0" y="0"/>
                </a:lnTo>
                <a:lnTo>
                  <a:pt x="0" y="240792"/>
                </a:lnTo>
                <a:lnTo>
                  <a:pt x="563879" y="240792"/>
                </a:lnTo>
                <a:lnTo>
                  <a:pt x="563879" y="0"/>
                </a:lnTo>
                <a:close/>
              </a:path>
            </a:pathLst>
          </a:custGeom>
          <a:solidFill>
            <a:srgbClr val="7BA8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8" name="Google Shape;298;p23"/>
          <p:cNvSpPr/>
          <p:nvPr/>
        </p:nvSpPr>
        <p:spPr>
          <a:xfrm>
            <a:off x="5161788" y="4107179"/>
            <a:ext cx="539750" cy="241300"/>
          </a:xfrm>
          <a:custGeom>
            <a:rect b="b" l="l" r="r" t="t"/>
            <a:pathLst>
              <a:path extrusionOk="0" h="241300" w="539750">
                <a:moveTo>
                  <a:pt x="539496" y="0"/>
                </a:moveTo>
                <a:lnTo>
                  <a:pt x="0" y="0"/>
                </a:lnTo>
                <a:lnTo>
                  <a:pt x="0" y="240792"/>
                </a:lnTo>
                <a:lnTo>
                  <a:pt x="539496" y="240792"/>
                </a:lnTo>
                <a:lnTo>
                  <a:pt x="539496" y="0"/>
                </a:lnTo>
                <a:close/>
              </a:path>
            </a:pathLst>
          </a:custGeom>
          <a:solidFill>
            <a:srgbClr val="FFFF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9" name="Google Shape;299;p23"/>
          <p:cNvSpPr/>
          <p:nvPr/>
        </p:nvSpPr>
        <p:spPr>
          <a:xfrm>
            <a:off x="5161788" y="4427220"/>
            <a:ext cx="608330" cy="241300"/>
          </a:xfrm>
          <a:custGeom>
            <a:rect b="b" l="l" r="r" t="t"/>
            <a:pathLst>
              <a:path extrusionOk="0" h="241300" w="608329">
                <a:moveTo>
                  <a:pt x="608076" y="0"/>
                </a:moveTo>
                <a:lnTo>
                  <a:pt x="0" y="0"/>
                </a:lnTo>
                <a:lnTo>
                  <a:pt x="0" y="240791"/>
                </a:lnTo>
                <a:lnTo>
                  <a:pt x="608076" y="240791"/>
                </a:lnTo>
                <a:lnTo>
                  <a:pt x="608076" y="0"/>
                </a:lnTo>
                <a:close/>
              </a:path>
            </a:pathLst>
          </a:custGeom>
          <a:solidFill>
            <a:srgbClr val="00CC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0" name="Google Shape;300;p23"/>
          <p:cNvSpPr/>
          <p:nvPr/>
        </p:nvSpPr>
        <p:spPr>
          <a:xfrm>
            <a:off x="5161788" y="5065776"/>
            <a:ext cx="539750" cy="241300"/>
          </a:xfrm>
          <a:custGeom>
            <a:rect b="b" l="l" r="r" t="t"/>
            <a:pathLst>
              <a:path extrusionOk="0" h="241300" w="539750">
                <a:moveTo>
                  <a:pt x="539496" y="0"/>
                </a:moveTo>
                <a:lnTo>
                  <a:pt x="0" y="0"/>
                </a:lnTo>
                <a:lnTo>
                  <a:pt x="0" y="240792"/>
                </a:lnTo>
                <a:lnTo>
                  <a:pt x="539496" y="240792"/>
                </a:lnTo>
                <a:lnTo>
                  <a:pt x="539496" y="0"/>
                </a:lnTo>
                <a:close/>
              </a:path>
            </a:pathLst>
          </a:custGeom>
          <a:solidFill>
            <a:srgbClr val="9DBDC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01" name="Google Shape;301;p23"/>
          <p:cNvGrpSpPr/>
          <p:nvPr/>
        </p:nvGrpSpPr>
        <p:grpSpPr>
          <a:xfrm>
            <a:off x="6351266" y="4820406"/>
            <a:ext cx="233684" cy="1008386"/>
            <a:chOff x="6351266" y="4820406"/>
            <a:chExt cx="233684" cy="1008386"/>
          </a:xfrm>
        </p:grpSpPr>
        <p:sp>
          <p:nvSpPr>
            <p:cNvPr id="302" name="Google Shape;302;p23"/>
            <p:cNvSpPr/>
            <p:nvPr/>
          </p:nvSpPr>
          <p:spPr>
            <a:xfrm>
              <a:off x="6446520" y="4877562"/>
              <a:ext cx="138430" cy="0"/>
            </a:xfrm>
            <a:custGeom>
              <a:rect b="b" l="l" r="r" t="t"/>
              <a:pathLst>
                <a:path extrusionOk="0" h="120000" w="138429">
                  <a:moveTo>
                    <a:pt x="137922"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3" name="Google Shape;303;p23"/>
            <p:cNvSpPr/>
            <p:nvPr/>
          </p:nvSpPr>
          <p:spPr>
            <a:xfrm>
              <a:off x="6351266" y="482040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4" name="Google Shape;304;p23"/>
            <p:cNvSpPr/>
            <p:nvPr/>
          </p:nvSpPr>
          <p:spPr>
            <a:xfrm>
              <a:off x="6584442" y="4877562"/>
              <a:ext cx="0" cy="951230"/>
            </a:xfrm>
            <a:custGeom>
              <a:rect b="b" l="l" r="r" t="t"/>
              <a:pathLst>
                <a:path extrusionOk="0" h="951229" w="120000">
                  <a:moveTo>
                    <a:pt x="0" y="95097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05" name="Google Shape;305;p23"/>
          <p:cNvGrpSpPr/>
          <p:nvPr/>
        </p:nvGrpSpPr>
        <p:grpSpPr>
          <a:xfrm>
            <a:off x="6390891" y="3880098"/>
            <a:ext cx="1207137" cy="1957710"/>
            <a:chOff x="6390891" y="3880098"/>
            <a:chExt cx="1207137" cy="1957710"/>
          </a:xfrm>
        </p:grpSpPr>
        <p:sp>
          <p:nvSpPr>
            <p:cNvPr id="306" name="Google Shape;306;p23"/>
            <p:cNvSpPr/>
            <p:nvPr/>
          </p:nvSpPr>
          <p:spPr>
            <a:xfrm>
              <a:off x="6486143" y="3937253"/>
              <a:ext cx="1111885" cy="0"/>
            </a:xfrm>
            <a:custGeom>
              <a:rect b="b" l="l" r="r" t="t"/>
              <a:pathLst>
                <a:path extrusionOk="0" h="120000" w="1111884">
                  <a:moveTo>
                    <a:pt x="1111758"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7" name="Google Shape;307;p23"/>
            <p:cNvSpPr/>
            <p:nvPr/>
          </p:nvSpPr>
          <p:spPr>
            <a:xfrm>
              <a:off x="6390891" y="3880098"/>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8" name="Google Shape;308;p23"/>
            <p:cNvSpPr/>
            <p:nvPr/>
          </p:nvSpPr>
          <p:spPr>
            <a:xfrm>
              <a:off x="7597901" y="3937253"/>
              <a:ext cx="0" cy="1900555"/>
            </a:xfrm>
            <a:custGeom>
              <a:rect b="b" l="l" r="r" t="t"/>
              <a:pathLst>
                <a:path extrusionOk="0" h="1900554" w="120000">
                  <a:moveTo>
                    <a:pt x="0" y="1900428"/>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09" name="Google Shape;309;p23"/>
          <p:cNvGrpSpPr/>
          <p:nvPr/>
        </p:nvGrpSpPr>
        <p:grpSpPr>
          <a:xfrm>
            <a:off x="6270495" y="3147056"/>
            <a:ext cx="2182371" cy="2698753"/>
            <a:chOff x="6270495" y="3147056"/>
            <a:chExt cx="2182371" cy="2698753"/>
          </a:xfrm>
        </p:grpSpPr>
        <p:sp>
          <p:nvSpPr>
            <p:cNvPr id="310" name="Google Shape;310;p23"/>
            <p:cNvSpPr/>
            <p:nvPr/>
          </p:nvSpPr>
          <p:spPr>
            <a:xfrm>
              <a:off x="6365748" y="3204209"/>
              <a:ext cx="2070735" cy="0"/>
            </a:xfrm>
            <a:custGeom>
              <a:rect b="b" l="l" r="r" t="t"/>
              <a:pathLst>
                <a:path extrusionOk="0" h="120000" w="2070734">
                  <a:moveTo>
                    <a:pt x="2070353"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1" name="Google Shape;311;p23"/>
            <p:cNvSpPr/>
            <p:nvPr/>
          </p:nvSpPr>
          <p:spPr>
            <a:xfrm>
              <a:off x="6270495" y="314705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2" name="Google Shape;312;p23"/>
            <p:cNvSpPr/>
            <p:nvPr/>
          </p:nvSpPr>
          <p:spPr>
            <a:xfrm>
              <a:off x="8452866" y="3204209"/>
              <a:ext cx="0" cy="2641600"/>
            </a:xfrm>
            <a:custGeom>
              <a:rect b="b" l="l" r="r" t="t"/>
              <a:pathLst>
                <a:path extrusionOk="0" h="2641600" w="120000">
                  <a:moveTo>
                    <a:pt x="0" y="2641091"/>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13" name="Google Shape;313;p23"/>
          <p:cNvGrpSpPr/>
          <p:nvPr/>
        </p:nvGrpSpPr>
        <p:grpSpPr>
          <a:xfrm>
            <a:off x="4782318" y="3152394"/>
            <a:ext cx="114300" cy="2087882"/>
            <a:chOff x="4782318" y="3152394"/>
            <a:chExt cx="114300" cy="2087882"/>
          </a:xfrm>
        </p:grpSpPr>
        <p:sp>
          <p:nvSpPr>
            <p:cNvPr id="314" name="Google Shape;314;p23"/>
            <p:cNvSpPr/>
            <p:nvPr/>
          </p:nvSpPr>
          <p:spPr>
            <a:xfrm>
              <a:off x="4839461" y="3152394"/>
              <a:ext cx="0" cy="1992630"/>
            </a:xfrm>
            <a:custGeom>
              <a:rect b="b" l="l" r="r" t="t"/>
              <a:pathLst>
                <a:path extrusionOk="0" h="1992629" w="120000">
                  <a:moveTo>
                    <a:pt x="0" y="0"/>
                  </a:moveTo>
                  <a:lnTo>
                    <a:pt x="0" y="199263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5" name="Google Shape;315;p23"/>
            <p:cNvSpPr/>
            <p:nvPr/>
          </p:nvSpPr>
          <p:spPr>
            <a:xfrm>
              <a:off x="4782318" y="5125976"/>
              <a:ext cx="114300" cy="114300"/>
            </a:xfrm>
            <a:custGeom>
              <a:rect b="b" l="l" r="r" t="t"/>
              <a:pathLst>
                <a:path extrusionOk="0" h="114300" w="114300">
                  <a:moveTo>
                    <a:pt x="114300" y="0"/>
                  </a:moveTo>
                  <a:lnTo>
                    <a:pt x="0" y="0"/>
                  </a:lnTo>
                  <a:lnTo>
                    <a:pt x="5715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aphicFrame>
        <p:nvGraphicFramePr>
          <p:cNvPr id="316" name="Google Shape;316;p23"/>
          <p:cNvGraphicFramePr/>
          <p:nvPr/>
        </p:nvGraphicFramePr>
        <p:xfrm>
          <a:off x="4440935" y="1520189"/>
          <a:ext cx="3000000" cy="3000000"/>
        </p:xfrm>
        <a:graphic>
          <a:graphicData uri="http://schemas.openxmlformats.org/drawingml/2006/table">
            <a:tbl>
              <a:tblPr bandRow="1" firstRow="1">
                <a:noFill/>
                <a:tableStyleId>{413049F9-55A0-439B-BCD3-49F332E12B36}</a:tableStyleId>
              </a:tblPr>
              <a:tblGrid>
                <a:gridCol w="127000"/>
                <a:gridCol w="4461500"/>
              </a:tblGrid>
              <a:tr h="795650">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R cap="flat" cmpd="sng" w="28575">
                      <a:solidFill>
                        <a:srgbClr val="DFE1E0"/>
                      </a:solidFill>
                      <a:prstDash val="solid"/>
                      <a:round/>
                      <a:headEnd len="sm" w="sm" type="none"/>
                      <a:tailEnd len="sm" w="sm" type="none"/>
                    </a:lnR>
                    <a:lnB cap="flat" cmpd="sng" w="9525">
                      <a:solidFill>
                        <a:srgbClr val="4E362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28575">
                      <a:solidFill>
                        <a:srgbClr val="DFE1E0"/>
                      </a:solidFill>
                      <a:prstDash val="solid"/>
                      <a:round/>
                      <a:headEnd len="sm" w="sm" type="none"/>
                      <a:tailEnd len="sm" w="sm" type="none"/>
                    </a:lnL>
                    <a:lnB cap="flat" cmpd="sng" w="9525">
                      <a:solidFill>
                        <a:srgbClr val="4E3629"/>
                      </a:solidFill>
                      <a:prstDash val="solid"/>
                      <a:round/>
                      <a:headEnd len="sm" w="sm" type="none"/>
                      <a:tailEnd len="sm" w="sm" type="none"/>
                    </a:lnB>
                  </a:tcPr>
                </a:tc>
              </a:tr>
              <a:tr h="3623300">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0" marR="0" rtl="0" algn="l">
                        <a:lnSpc>
                          <a:spcPct val="100000"/>
                        </a:lnSpc>
                        <a:spcBef>
                          <a:spcPts val="350"/>
                        </a:spcBef>
                        <a:spcAft>
                          <a:spcPts val="0"/>
                        </a:spcAft>
                        <a:buNone/>
                      </a:pPr>
                      <a:r>
                        <a:t/>
                      </a:r>
                      <a:endParaRPr sz="1600" u="none" cap="none" strike="noStrike">
                        <a:latin typeface="Times New Roman"/>
                        <a:ea typeface="Times New Roman"/>
                        <a:cs typeface="Times New Roman"/>
                        <a:sym typeface="Times New Roman"/>
                      </a:endParaRPr>
                    </a:p>
                    <a:p>
                      <a:pPr indent="0" lvl="0" marL="12065" marR="0" rtl="0" algn="l">
                        <a:lnSpc>
                          <a:spcPct val="100000"/>
                        </a:lnSpc>
                        <a:spcBef>
                          <a:spcPts val="0"/>
                        </a:spcBef>
                        <a:spcAft>
                          <a:spcPts val="0"/>
                        </a:spcAft>
                        <a:buNone/>
                      </a:pPr>
                      <a:r>
                        <a:rPr i="1" lang="en-US" sz="1600" u="none" cap="none" strike="noStrike">
                          <a:solidFill>
                            <a:srgbClr val="4E3629"/>
                          </a:solidFill>
                          <a:latin typeface="Calibri"/>
                          <a:ea typeface="Calibri"/>
                          <a:cs typeface="Calibri"/>
                          <a:sym typeface="Calibri"/>
                        </a:rPr>
                        <a:t>T</a:t>
                      </a:r>
                      <a:endParaRPr sz="1600" u="none" cap="none" strike="noStrike">
                        <a:latin typeface="Calibri"/>
                        <a:ea typeface="Calibri"/>
                        <a:cs typeface="Calibri"/>
                        <a:sym typeface="Calibri"/>
                      </a:endParaRPr>
                    </a:p>
                  </a:txBody>
                  <a:tcPr marT="0" marB="0" marR="0" marL="0">
                    <a:lnL cap="flat" cmpd="sng" w="9525">
                      <a:solidFill>
                        <a:srgbClr val="4E3629"/>
                      </a:solidFill>
                      <a:prstDash val="solid"/>
                      <a:round/>
                      <a:headEnd len="sm" w="sm" type="none"/>
                      <a:tailEnd len="sm" w="sm" type="none"/>
                    </a:lnL>
                    <a:lnR cap="flat" cmpd="sng" w="28575">
                      <a:solidFill>
                        <a:srgbClr val="DFE1E0"/>
                      </a:solidFill>
                      <a:prstDash val="solid"/>
                      <a:round/>
                      <a:headEnd len="sm" w="sm" type="none"/>
                      <a:tailEnd len="sm" w="sm" type="none"/>
                    </a:lnR>
                    <a:lnT cap="flat" cmpd="sng" w="9525">
                      <a:solidFill>
                        <a:srgbClr val="4E3629"/>
                      </a:solidFill>
                      <a:prstDash val="solid"/>
                      <a:round/>
                      <a:headEnd len="sm" w="sm" type="none"/>
                      <a:tailEnd len="sm" w="sm" type="none"/>
                    </a:lnT>
                  </a:tcPr>
                </a:tc>
                <a:tc>
                  <a:txBody>
                    <a:bodyPr/>
                    <a:lstStyle/>
                    <a:p>
                      <a:pPr indent="0" lvl="0" marL="940435" marR="0" rtl="0" algn="l">
                        <a:lnSpc>
                          <a:spcPct val="100000"/>
                        </a:lnSpc>
                        <a:spcBef>
                          <a:spcPts val="0"/>
                        </a:spcBef>
                        <a:spcAft>
                          <a:spcPts val="0"/>
                        </a:spcAft>
                        <a:buNone/>
                      </a:pPr>
                      <a:r>
                        <a:rPr b="1" lang="en-US" sz="1800" u="none" cap="none" strike="noStrike">
                          <a:solidFill>
                            <a:srgbClr val="4E3629"/>
                          </a:solidFill>
                          <a:latin typeface="Calibri"/>
                          <a:ea typeface="Calibri"/>
                          <a:cs typeface="Calibri"/>
                          <a:sym typeface="Calibri"/>
                        </a:rPr>
                        <a:t>Control de Transacciones</a:t>
                      </a:r>
                      <a:endParaRPr sz="1800" u="none" cap="none" strike="noStrike">
                        <a:latin typeface="Calibri"/>
                        <a:ea typeface="Calibri"/>
                        <a:cs typeface="Calibri"/>
                        <a:sym typeface="Calibri"/>
                      </a:endParaRPr>
                    </a:p>
                    <a:p>
                      <a:pPr indent="0" lvl="0" marL="0" marR="0" rtl="0" algn="l">
                        <a:lnSpc>
                          <a:spcPct val="100000"/>
                        </a:lnSpc>
                        <a:spcBef>
                          <a:spcPts val="1115"/>
                        </a:spcBef>
                        <a:spcAft>
                          <a:spcPts val="0"/>
                        </a:spcAft>
                        <a:buNone/>
                      </a:pPr>
                      <a:r>
                        <a:rPr i="1" lang="en-US" sz="1600" u="none" cap="none" strike="noStrike">
                          <a:solidFill>
                            <a:srgbClr val="4E3629"/>
                          </a:solidFill>
                          <a:latin typeface="Calibri"/>
                          <a:ea typeface="Calibri"/>
                          <a:cs typeface="Calibri"/>
                          <a:sym typeface="Calibri"/>
                        </a:rPr>
                        <a:t>iempo COMMIT</a:t>
                      </a:r>
                      <a:endParaRPr sz="1600" u="none" cap="none" strike="noStrike">
                        <a:latin typeface="Calibri"/>
                        <a:ea typeface="Calibri"/>
                        <a:cs typeface="Calibri"/>
                        <a:sym typeface="Calibri"/>
                      </a:endParaRPr>
                    </a:p>
                    <a:p>
                      <a:pPr indent="0" lvl="0" marL="601345" marR="0" rtl="0" algn="l">
                        <a:lnSpc>
                          <a:spcPct val="100000"/>
                        </a:lnSpc>
                        <a:spcBef>
                          <a:spcPts val="585"/>
                        </a:spcBef>
                        <a:spcAft>
                          <a:spcPts val="0"/>
                        </a:spcAft>
                        <a:buNone/>
                      </a:pPr>
                      <a:r>
                        <a:rPr b="1" lang="en-US" sz="1600" u="none" cap="none" strike="noStrike">
                          <a:solidFill>
                            <a:srgbClr val="4E3629"/>
                          </a:solidFill>
                          <a:latin typeface="Calibri"/>
                          <a:ea typeface="Calibri"/>
                          <a:cs typeface="Calibri"/>
                          <a:sym typeface="Calibri"/>
                        </a:rPr>
                        <a:t>Transaction</a:t>
                      </a:r>
                      <a:endParaRPr sz="1600" u="none" cap="none" strike="noStrike">
                        <a:latin typeface="Calibri"/>
                        <a:ea typeface="Calibri"/>
                        <a:cs typeface="Calibri"/>
                        <a:sym typeface="Calibri"/>
                      </a:endParaRPr>
                    </a:p>
                    <a:p>
                      <a:pPr indent="635" lvl="0" marL="601345" marR="2751455" rtl="0" algn="l">
                        <a:lnSpc>
                          <a:spcPct val="128000"/>
                        </a:lnSpc>
                        <a:spcBef>
                          <a:spcPts val="535"/>
                        </a:spcBef>
                        <a:spcAft>
                          <a:spcPts val="0"/>
                        </a:spcAft>
                        <a:buNone/>
                      </a:pPr>
                      <a:r>
                        <a:rPr lang="en-US" sz="1400" u="none" cap="none" strike="noStrike">
                          <a:solidFill>
                            <a:srgbClr val="4E3629"/>
                          </a:solidFill>
                          <a:latin typeface="Calibri"/>
                          <a:ea typeface="Calibri"/>
                          <a:cs typeface="Calibri"/>
                          <a:sym typeface="Calibri"/>
                        </a:rPr>
                        <a:t>DELETE </a:t>
                      </a:r>
                      <a:r>
                        <a:rPr lang="en-US" sz="1600" u="none" cap="none" strike="noStrike">
                          <a:solidFill>
                            <a:srgbClr val="4E3629"/>
                          </a:solidFill>
                          <a:latin typeface="Calibri"/>
                          <a:ea typeface="Calibri"/>
                          <a:cs typeface="Calibri"/>
                          <a:sym typeface="Calibri"/>
                        </a:rPr>
                        <a:t>SAVEPOINT A </a:t>
                      </a:r>
                      <a:r>
                        <a:rPr lang="en-US" sz="1400" u="none" cap="none" strike="noStrike">
                          <a:solidFill>
                            <a:srgbClr val="4E3629"/>
                          </a:solidFill>
                          <a:latin typeface="Calibri"/>
                          <a:ea typeface="Calibri"/>
                          <a:cs typeface="Calibri"/>
                          <a:sym typeface="Calibri"/>
                        </a:rPr>
                        <a:t>INSERT</a:t>
                      </a:r>
                      <a:endParaRPr sz="1400" u="none" cap="none" strike="noStrike">
                        <a:latin typeface="Calibri"/>
                        <a:ea typeface="Calibri"/>
                        <a:cs typeface="Calibri"/>
                        <a:sym typeface="Calibri"/>
                      </a:endParaRPr>
                    </a:p>
                    <a:p>
                      <a:pPr indent="0" lvl="0" marL="601345" marR="2758440" rtl="0" algn="l">
                        <a:lnSpc>
                          <a:spcPct val="140300"/>
                        </a:lnSpc>
                        <a:spcBef>
                          <a:spcPts val="155"/>
                        </a:spcBef>
                        <a:spcAft>
                          <a:spcPts val="0"/>
                        </a:spcAft>
                        <a:buNone/>
                      </a:pPr>
                      <a:r>
                        <a:rPr lang="en-US" sz="1400" u="none" cap="none" strike="noStrike">
                          <a:solidFill>
                            <a:srgbClr val="4E3629"/>
                          </a:solidFill>
                          <a:latin typeface="Calibri"/>
                          <a:ea typeface="Calibri"/>
                          <a:cs typeface="Calibri"/>
                          <a:sym typeface="Calibri"/>
                        </a:rPr>
                        <a:t>UPDATE </a:t>
                      </a:r>
                      <a:r>
                        <a:rPr lang="en-US" sz="1600" u="none" cap="none" strike="noStrike">
                          <a:solidFill>
                            <a:srgbClr val="4E3629"/>
                          </a:solidFill>
                          <a:latin typeface="Calibri"/>
                          <a:ea typeface="Calibri"/>
                          <a:cs typeface="Calibri"/>
                          <a:sym typeface="Calibri"/>
                        </a:rPr>
                        <a:t>SAVEPOINT B </a:t>
                      </a:r>
                      <a:r>
                        <a:rPr lang="en-US" sz="1400" u="none" cap="none" strike="noStrike">
                          <a:solidFill>
                            <a:srgbClr val="4E3629"/>
                          </a:solidFill>
                          <a:latin typeface="Calibri"/>
                          <a:ea typeface="Calibri"/>
                          <a:cs typeface="Calibri"/>
                          <a:sym typeface="Calibri"/>
                        </a:rPr>
                        <a:t>INSERT</a:t>
                      </a:r>
                      <a:endParaRPr sz="1400" u="none" cap="none" strike="noStrike">
                        <a:latin typeface="Calibri"/>
                        <a:ea typeface="Calibri"/>
                        <a:cs typeface="Calibri"/>
                        <a:sym typeface="Calibri"/>
                      </a:endParaRPr>
                    </a:p>
                  </a:txBody>
                  <a:tcPr marT="95875" marB="0" marR="0" marL="0">
                    <a:lnL cap="flat" cmpd="sng" w="28575">
                      <a:solidFill>
                        <a:srgbClr val="DFE1E0"/>
                      </a:solidFill>
                      <a:prstDash val="solid"/>
                      <a:round/>
                      <a:headEnd len="sm" w="sm" type="none"/>
                      <a:tailEnd len="sm" w="sm" type="none"/>
                    </a:lnL>
                    <a:lnR cap="flat" cmpd="sng" w="9525">
                      <a:solidFill>
                        <a:srgbClr val="4E3629"/>
                      </a:solidFill>
                      <a:prstDash val="solid"/>
                      <a:round/>
                      <a:headEnd len="sm" w="sm" type="none"/>
                      <a:tailEnd len="sm" w="sm" type="none"/>
                    </a:lnR>
                    <a:lnT cap="flat" cmpd="sng" w="9525">
                      <a:solidFill>
                        <a:srgbClr val="4E3629"/>
                      </a:solidFill>
                      <a:prstDash val="solid"/>
                      <a:round/>
                      <a:headEnd len="sm" w="sm" type="none"/>
                      <a:tailEnd len="sm" w="sm" type="none"/>
                    </a:lnT>
                  </a:tcPr>
                </a:tc>
              </a:tr>
              <a:tr h="343525">
                <a:tc gridSpan="2">
                  <a:txBody>
                    <a:bodyPr/>
                    <a:lstStyle/>
                    <a:p>
                      <a:pPr indent="0" lvl="0" marL="1427480" marR="0" rtl="0" algn="l">
                        <a:lnSpc>
                          <a:spcPct val="72416"/>
                        </a:lnSpc>
                        <a:spcBef>
                          <a:spcPts val="0"/>
                        </a:spcBef>
                        <a:spcAft>
                          <a:spcPts val="0"/>
                        </a:spcAft>
                        <a:buNone/>
                      </a:pPr>
                      <a:r>
                        <a:rPr b="1" lang="en-US" sz="1200" u="none" cap="none" strike="noStrike">
                          <a:solidFill>
                            <a:srgbClr val="4E3629"/>
                          </a:solidFill>
                          <a:latin typeface="Calibri"/>
                          <a:ea typeface="Calibri"/>
                          <a:cs typeface="Calibri"/>
                          <a:sym typeface="Calibri"/>
                        </a:rPr>
                        <a:t>ROLLBACK	ROLLBACK</a:t>
                      </a:r>
                      <a:endParaRPr sz="1200" u="none" cap="none" strike="noStrike">
                        <a:latin typeface="Calibri"/>
                        <a:ea typeface="Calibri"/>
                        <a:cs typeface="Calibri"/>
                        <a:sym typeface="Calibri"/>
                      </a:endParaRPr>
                    </a:p>
                    <a:p>
                      <a:pPr indent="0" lvl="0" marL="1427480"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To SAVEPOINT B	To SAVEPOINT A	</a:t>
                      </a:r>
                      <a:r>
                        <a:rPr b="1" baseline="30000" lang="en-US" sz="1800" u="none" cap="none" strike="noStrike">
                          <a:solidFill>
                            <a:srgbClr val="4E3629"/>
                          </a:solidFill>
                          <a:latin typeface="Calibri"/>
                          <a:ea typeface="Calibri"/>
                          <a:cs typeface="Calibri"/>
                          <a:sym typeface="Calibri"/>
                        </a:rPr>
                        <a:t>ROLLBACK</a:t>
                      </a:r>
                      <a:endParaRPr baseline="30000" sz="1800" u="none" cap="none" strike="noStrike">
                        <a:latin typeface="Calibri"/>
                        <a:ea typeface="Calibri"/>
                        <a:cs typeface="Calibri"/>
                        <a:sym typeface="Calibri"/>
                      </a:endParaRPr>
                    </a:p>
                  </a:txBody>
                  <a:tcPr marT="0" marB="0" marR="0" marL="0">
                    <a:lnL cap="flat" cmpd="sng" w="9525">
                      <a:solidFill>
                        <a:srgbClr val="4E3629"/>
                      </a:solidFill>
                      <a:prstDash val="solid"/>
                      <a:round/>
                      <a:headEnd len="sm" w="sm" type="none"/>
                      <a:tailEnd len="sm" w="sm" type="none"/>
                    </a:lnL>
                    <a:lnR cap="flat" cmpd="sng" w="9525">
                      <a:solidFill>
                        <a:srgbClr val="4E3629"/>
                      </a:solidFill>
                      <a:prstDash val="solid"/>
                      <a:round/>
                      <a:headEnd len="sm" w="sm" type="none"/>
                      <a:tailEnd len="sm" w="sm" type="none"/>
                    </a:lnR>
                    <a:lnB cap="flat" cmpd="sng" w="9525">
                      <a:solidFill>
                        <a:srgbClr val="4E3629"/>
                      </a:solidFill>
                      <a:prstDash val="solid"/>
                      <a:round/>
                      <a:headEnd len="sm" w="sm" type="none"/>
                      <a:tailEnd len="sm" w="sm" type="none"/>
                    </a:lnB>
                  </a:tcPr>
                </a:tc>
                <a:tc hMerge="1"/>
              </a:tr>
            </a:tbl>
          </a:graphicData>
        </a:graphic>
      </p:graphicFrame>
      <p:sp>
        <p:nvSpPr>
          <p:cNvPr id="317" name="Google Shape;317;p23"/>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318" name="Google Shape;318;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9" name="Google Shape;319;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COMMIT, ROLLBACK y SAVEPOINT</a:t>
            </a:r>
            <a:endParaRPr/>
          </a:p>
        </p:txBody>
      </p:sp>
      <p:sp>
        <p:nvSpPr>
          <p:cNvPr id="325" name="Google Shape;325;p24"/>
          <p:cNvSpPr txBox="1"/>
          <p:nvPr/>
        </p:nvSpPr>
        <p:spPr>
          <a:xfrm>
            <a:off x="483552" y="1415417"/>
            <a:ext cx="659130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por algún motivo el usuario no desea que 	se produzcan estas</a:t>
            </a:r>
            <a:endParaRPr sz="2800">
              <a:latin typeface="Calibri"/>
              <a:ea typeface="Calibri"/>
              <a:cs typeface="Calibri"/>
              <a:sym typeface="Calibri"/>
            </a:endParaRPr>
          </a:p>
        </p:txBody>
      </p:sp>
      <p:sp>
        <p:nvSpPr>
          <p:cNvPr id="326" name="Google Shape;326;p24"/>
          <p:cNvSpPr txBox="1"/>
          <p:nvPr/>
        </p:nvSpPr>
        <p:spPr>
          <a:xfrm>
            <a:off x="483552" y="2183836"/>
            <a:ext cx="3774440" cy="3626485"/>
          </a:xfrm>
          <a:prstGeom prst="rect">
            <a:avLst/>
          </a:prstGeom>
          <a:noFill/>
          <a:ln>
            <a:noFill/>
          </a:ln>
        </p:spPr>
        <p:txBody>
          <a:bodyPr anchorCtr="0" anchor="t" bIns="0" lIns="0" spcFirstLastPara="1" rIns="0" wrap="square" tIns="59675">
            <a:spAutoFit/>
          </a:bodyPr>
          <a:lstStyle/>
          <a:p>
            <a:pPr indent="0" lvl="0" marL="184785" marR="5080" rtl="0" algn="l">
              <a:lnSpc>
                <a:spcPct val="108214"/>
              </a:lnSpc>
              <a:spcBef>
                <a:spcPts val="0"/>
              </a:spcBef>
              <a:spcAft>
                <a:spcPts val="0"/>
              </a:spcAft>
              <a:buNone/>
            </a:pPr>
            <a:r>
              <a:rPr lang="en-US" sz="2800">
                <a:solidFill>
                  <a:srgbClr val="4E3629"/>
                </a:solidFill>
                <a:latin typeface="Calibri"/>
                <a:ea typeface="Calibri"/>
                <a:cs typeface="Calibri"/>
                <a:sym typeface="Calibri"/>
              </a:rPr>
              <a:t>sentencias INSERT y/o UPDATE, puede emitir una sentencia ROLLBACK TO SAVEPOINT A</a:t>
            </a:r>
            <a:endParaRPr sz="2800">
              <a:latin typeface="Calibri"/>
              <a:ea typeface="Calibri"/>
              <a:cs typeface="Calibri"/>
              <a:sym typeface="Calibri"/>
            </a:endParaRPr>
          </a:p>
          <a:p>
            <a:pPr indent="-177800" lvl="0" marL="182880" marR="12827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acción realizará un 	rollback al estado de los 	datos tal como se 	encontraba en el 	marcador SAVEPOINT A</a:t>
            </a:r>
            <a:endParaRPr sz="2800">
              <a:latin typeface="Calibri"/>
              <a:ea typeface="Calibri"/>
              <a:cs typeface="Calibri"/>
              <a:sym typeface="Calibri"/>
            </a:endParaRPr>
          </a:p>
        </p:txBody>
      </p:sp>
      <p:sp>
        <p:nvSpPr>
          <p:cNvPr id="327" name="Google Shape;327;p24"/>
          <p:cNvSpPr txBox="1"/>
          <p:nvPr/>
        </p:nvSpPr>
        <p:spPr>
          <a:xfrm>
            <a:off x="4458058" y="2244789"/>
            <a:ext cx="3423920" cy="1162685"/>
          </a:xfrm>
          <a:prstGeom prst="rect">
            <a:avLst/>
          </a:prstGeom>
          <a:noFill/>
          <a:ln>
            <a:noFill/>
          </a:ln>
        </p:spPr>
        <p:txBody>
          <a:bodyPr anchorCtr="0" anchor="t" bIns="0" lIns="0" spcFirstLastPara="1" rIns="0" wrap="square" tIns="172700">
            <a:spAutoFit/>
          </a:bodyPr>
          <a:lstStyle/>
          <a:p>
            <a:pPr indent="0" lvl="0" marL="1055370" rtl="0" algn="l">
              <a:lnSpc>
                <a:spcPct val="100000"/>
              </a:lnSpc>
              <a:spcBef>
                <a:spcPts val="0"/>
              </a:spcBef>
              <a:spcAft>
                <a:spcPts val="0"/>
              </a:spcAft>
              <a:buNone/>
            </a:pPr>
            <a:r>
              <a:rPr b="1" lang="en-US" sz="1800">
                <a:solidFill>
                  <a:srgbClr val="4E3629"/>
                </a:solidFill>
                <a:latin typeface="Calibri"/>
                <a:ea typeface="Calibri"/>
                <a:cs typeface="Calibri"/>
                <a:sym typeface="Calibri"/>
              </a:rPr>
              <a:t>Control de Transacciones</a:t>
            </a:r>
            <a:endParaRPr sz="1800">
              <a:latin typeface="Calibri"/>
              <a:ea typeface="Calibri"/>
              <a:cs typeface="Calibri"/>
              <a:sym typeface="Calibri"/>
            </a:endParaRPr>
          </a:p>
          <a:p>
            <a:pPr indent="0" lvl="0" marL="0" rtl="0" algn="l">
              <a:lnSpc>
                <a:spcPct val="100000"/>
              </a:lnSpc>
              <a:spcBef>
                <a:spcPts val="1110"/>
              </a:spcBef>
              <a:spcAft>
                <a:spcPts val="0"/>
              </a:spcAft>
              <a:buNone/>
            </a:pPr>
            <a:r>
              <a:rPr i="1" lang="en-US" sz="1600">
                <a:solidFill>
                  <a:srgbClr val="4E3629"/>
                </a:solidFill>
                <a:latin typeface="Calibri"/>
                <a:ea typeface="Calibri"/>
                <a:cs typeface="Calibri"/>
                <a:sym typeface="Calibri"/>
              </a:rPr>
              <a:t>Tiempo COMMIT</a:t>
            </a:r>
            <a:endParaRPr sz="1600">
              <a:latin typeface="Calibri"/>
              <a:ea typeface="Calibri"/>
              <a:cs typeface="Calibri"/>
              <a:sym typeface="Calibri"/>
            </a:endParaRPr>
          </a:p>
          <a:p>
            <a:pPr indent="0" lvl="0" marL="715645" rtl="0" algn="l">
              <a:lnSpc>
                <a:spcPct val="100000"/>
              </a:lnSpc>
              <a:spcBef>
                <a:spcPts val="585"/>
              </a:spcBef>
              <a:spcAft>
                <a:spcPts val="0"/>
              </a:spcAft>
              <a:buNone/>
            </a:pPr>
            <a:r>
              <a:rPr b="1" lang="en-US" sz="1600">
                <a:solidFill>
                  <a:srgbClr val="4E3629"/>
                </a:solidFill>
                <a:latin typeface="Calibri"/>
                <a:ea typeface="Calibri"/>
                <a:cs typeface="Calibri"/>
                <a:sym typeface="Calibri"/>
              </a:rPr>
              <a:t>Transaction</a:t>
            </a:r>
            <a:endParaRPr sz="1600">
              <a:latin typeface="Calibri"/>
              <a:ea typeface="Calibri"/>
              <a:cs typeface="Calibri"/>
              <a:sym typeface="Calibri"/>
            </a:endParaRPr>
          </a:p>
        </p:txBody>
      </p:sp>
      <p:sp>
        <p:nvSpPr>
          <p:cNvPr id="328" name="Google Shape;328;p24"/>
          <p:cNvSpPr txBox="1"/>
          <p:nvPr/>
        </p:nvSpPr>
        <p:spPr>
          <a:xfrm>
            <a:off x="5174169" y="3777531"/>
            <a:ext cx="1113155"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A</a:t>
            </a:r>
            <a:endParaRPr sz="1600">
              <a:latin typeface="Calibri"/>
              <a:ea typeface="Calibri"/>
              <a:cs typeface="Calibri"/>
              <a:sym typeface="Calibri"/>
            </a:endParaRPr>
          </a:p>
        </p:txBody>
      </p:sp>
      <p:sp>
        <p:nvSpPr>
          <p:cNvPr id="329" name="Google Shape;329;p24"/>
          <p:cNvSpPr txBox="1"/>
          <p:nvPr/>
        </p:nvSpPr>
        <p:spPr>
          <a:xfrm>
            <a:off x="5174169" y="4734237"/>
            <a:ext cx="1106170"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B</a:t>
            </a:r>
            <a:endParaRPr sz="1600">
              <a:latin typeface="Calibri"/>
              <a:ea typeface="Calibri"/>
              <a:cs typeface="Calibri"/>
              <a:sym typeface="Calibri"/>
            </a:endParaRPr>
          </a:p>
        </p:txBody>
      </p:sp>
      <p:sp>
        <p:nvSpPr>
          <p:cNvPr id="330" name="Google Shape;330;p24"/>
          <p:cNvSpPr txBox="1"/>
          <p:nvPr/>
        </p:nvSpPr>
        <p:spPr>
          <a:xfrm>
            <a:off x="5163311" y="3521964"/>
            <a:ext cx="563880" cy="241300"/>
          </a:xfrm>
          <a:prstGeom prst="rect">
            <a:avLst/>
          </a:prstGeom>
          <a:solidFill>
            <a:srgbClr val="7BA800"/>
          </a:solidFill>
          <a:ln>
            <a:noFill/>
          </a:ln>
        </p:spPr>
        <p:txBody>
          <a:bodyPr anchorCtr="0" anchor="t" bIns="0" lIns="0" spcFirstLastPara="1" rIns="0" wrap="square" tIns="625">
            <a:spAutoFit/>
          </a:bodyPr>
          <a:lstStyle/>
          <a:p>
            <a:pPr indent="0" lvl="0" marL="11430" rtl="0" algn="l">
              <a:lnSpc>
                <a:spcPct val="100000"/>
              </a:lnSpc>
              <a:spcBef>
                <a:spcPts val="0"/>
              </a:spcBef>
              <a:spcAft>
                <a:spcPts val="0"/>
              </a:spcAft>
              <a:buNone/>
            </a:pPr>
            <a:r>
              <a:rPr lang="en-US" sz="1400">
                <a:solidFill>
                  <a:srgbClr val="4E3629"/>
                </a:solidFill>
                <a:latin typeface="Calibri"/>
                <a:ea typeface="Calibri"/>
                <a:cs typeface="Calibri"/>
                <a:sym typeface="Calibri"/>
              </a:rPr>
              <a:t>DELETE</a:t>
            </a:r>
            <a:endParaRPr sz="1400">
              <a:latin typeface="Calibri"/>
              <a:ea typeface="Calibri"/>
              <a:cs typeface="Calibri"/>
              <a:sym typeface="Calibri"/>
            </a:endParaRPr>
          </a:p>
        </p:txBody>
      </p:sp>
      <p:sp>
        <p:nvSpPr>
          <p:cNvPr id="331" name="Google Shape;331;p24"/>
          <p:cNvSpPr txBox="1"/>
          <p:nvPr/>
        </p:nvSpPr>
        <p:spPr>
          <a:xfrm>
            <a:off x="5161788" y="4107179"/>
            <a:ext cx="539750" cy="241300"/>
          </a:xfrm>
          <a:prstGeom prst="rect">
            <a:avLst/>
          </a:prstGeom>
          <a:solidFill>
            <a:srgbClr val="FFFF00"/>
          </a:solidFill>
          <a:ln>
            <a:noFill/>
          </a:ln>
        </p:spPr>
        <p:txBody>
          <a:bodyPr anchorCtr="0" anchor="t" bIns="0" lIns="0" spcFirstLastPara="1" rIns="0" wrap="square" tIns="1250">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332" name="Google Shape;332;p24"/>
          <p:cNvSpPr txBox="1"/>
          <p:nvPr/>
        </p:nvSpPr>
        <p:spPr>
          <a:xfrm>
            <a:off x="5161788" y="4427220"/>
            <a:ext cx="608330" cy="241300"/>
          </a:xfrm>
          <a:prstGeom prst="rect">
            <a:avLst/>
          </a:prstGeom>
          <a:solidFill>
            <a:srgbClr val="00CCFF"/>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UPDATE</a:t>
            </a:r>
            <a:endParaRPr sz="1400">
              <a:latin typeface="Calibri"/>
              <a:ea typeface="Calibri"/>
              <a:cs typeface="Calibri"/>
              <a:sym typeface="Calibri"/>
            </a:endParaRPr>
          </a:p>
        </p:txBody>
      </p:sp>
      <p:sp>
        <p:nvSpPr>
          <p:cNvPr id="333" name="Google Shape;333;p24"/>
          <p:cNvSpPr txBox="1"/>
          <p:nvPr/>
        </p:nvSpPr>
        <p:spPr>
          <a:xfrm>
            <a:off x="5161788" y="5065776"/>
            <a:ext cx="539750" cy="241300"/>
          </a:xfrm>
          <a:prstGeom prst="rect">
            <a:avLst/>
          </a:prstGeom>
          <a:solidFill>
            <a:srgbClr val="9DBDC4"/>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334" name="Google Shape;334;p24"/>
          <p:cNvSpPr txBox="1"/>
          <p:nvPr/>
        </p:nvSpPr>
        <p:spPr>
          <a:xfrm>
            <a:off x="5873459" y="5859133"/>
            <a:ext cx="103441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B</a:t>
            </a:r>
            <a:endParaRPr sz="1200">
              <a:latin typeface="Calibri"/>
              <a:ea typeface="Calibri"/>
              <a:cs typeface="Calibri"/>
              <a:sym typeface="Calibri"/>
            </a:endParaRPr>
          </a:p>
        </p:txBody>
      </p:sp>
      <p:sp>
        <p:nvSpPr>
          <p:cNvPr id="335" name="Google Shape;335;p24"/>
          <p:cNvSpPr txBox="1"/>
          <p:nvPr/>
        </p:nvSpPr>
        <p:spPr>
          <a:xfrm>
            <a:off x="7077419" y="5859133"/>
            <a:ext cx="104076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A</a:t>
            </a:r>
            <a:endParaRPr sz="1200">
              <a:latin typeface="Calibri"/>
              <a:ea typeface="Calibri"/>
              <a:cs typeface="Calibri"/>
              <a:sym typeface="Calibri"/>
            </a:endParaRPr>
          </a:p>
        </p:txBody>
      </p:sp>
      <p:sp>
        <p:nvSpPr>
          <p:cNvPr id="336" name="Google Shape;336;p24"/>
          <p:cNvSpPr txBox="1"/>
          <p:nvPr/>
        </p:nvSpPr>
        <p:spPr>
          <a:xfrm>
            <a:off x="8249680" y="5974957"/>
            <a:ext cx="66802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p:txBody>
      </p:sp>
      <p:grpSp>
        <p:nvGrpSpPr>
          <p:cNvPr id="337" name="Google Shape;337;p24"/>
          <p:cNvGrpSpPr/>
          <p:nvPr/>
        </p:nvGrpSpPr>
        <p:grpSpPr>
          <a:xfrm>
            <a:off x="4445507" y="2321051"/>
            <a:ext cx="4589145" cy="3967479"/>
            <a:chOff x="4445507" y="2321051"/>
            <a:chExt cx="4589145" cy="3967479"/>
          </a:xfrm>
        </p:grpSpPr>
        <p:sp>
          <p:nvSpPr>
            <p:cNvPr id="338" name="Google Shape;338;p24"/>
            <p:cNvSpPr/>
            <p:nvPr/>
          </p:nvSpPr>
          <p:spPr>
            <a:xfrm>
              <a:off x="6446519" y="4877561"/>
              <a:ext cx="138430" cy="0"/>
            </a:xfrm>
            <a:custGeom>
              <a:rect b="b" l="l" r="r" t="t"/>
              <a:pathLst>
                <a:path extrusionOk="0" h="120000" w="138429">
                  <a:moveTo>
                    <a:pt x="137922"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9" name="Google Shape;339;p24"/>
            <p:cNvSpPr/>
            <p:nvPr/>
          </p:nvSpPr>
          <p:spPr>
            <a:xfrm>
              <a:off x="6351266" y="482040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0" name="Google Shape;340;p24"/>
            <p:cNvSpPr/>
            <p:nvPr/>
          </p:nvSpPr>
          <p:spPr>
            <a:xfrm>
              <a:off x="6584441" y="4877561"/>
              <a:ext cx="0" cy="951230"/>
            </a:xfrm>
            <a:custGeom>
              <a:rect b="b" l="l" r="r" t="t"/>
              <a:pathLst>
                <a:path extrusionOk="0" h="951229" w="120000">
                  <a:moveTo>
                    <a:pt x="0" y="95097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1" name="Google Shape;341;p24"/>
            <p:cNvSpPr/>
            <p:nvPr/>
          </p:nvSpPr>
          <p:spPr>
            <a:xfrm>
              <a:off x="6486143" y="3937253"/>
              <a:ext cx="1111885" cy="0"/>
            </a:xfrm>
            <a:custGeom>
              <a:rect b="b" l="l" r="r" t="t"/>
              <a:pathLst>
                <a:path extrusionOk="0" h="120000" w="1111884">
                  <a:moveTo>
                    <a:pt x="1111758"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2" name="Google Shape;342;p24"/>
            <p:cNvSpPr/>
            <p:nvPr/>
          </p:nvSpPr>
          <p:spPr>
            <a:xfrm>
              <a:off x="6390891" y="3880098"/>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3" name="Google Shape;343;p24"/>
            <p:cNvSpPr/>
            <p:nvPr/>
          </p:nvSpPr>
          <p:spPr>
            <a:xfrm>
              <a:off x="6365747" y="3204209"/>
              <a:ext cx="2070735" cy="0"/>
            </a:xfrm>
            <a:custGeom>
              <a:rect b="b" l="l" r="r" t="t"/>
              <a:pathLst>
                <a:path extrusionOk="0" h="120000" w="2070734">
                  <a:moveTo>
                    <a:pt x="2070353"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4" name="Google Shape;344;p24"/>
            <p:cNvSpPr/>
            <p:nvPr/>
          </p:nvSpPr>
          <p:spPr>
            <a:xfrm>
              <a:off x="6270495" y="314705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5" name="Google Shape;345;p24"/>
            <p:cNvSpPr/>
            <p:nvPr/>
          </p:nvSpPr>
          <p:spPr>
            <a:xfrm>
              <a:off x="7597901" y="3937253"/>
              <a:ext cx="0" cy="1900555"/>
            </a:xfrm>
            <a:custGeom>
              <a:rect b="b" l="l" r="r" t="t"/>
              <a:pathLst>
                <a:path extrusionOk="0" h="1900554" w="120000">
                  <a:moveTo>
                    <a:pt x="0" y="1900428"/>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p24"/>
            <p:cNvSpPr/>
            <p:nvPr/>
          </p:nvSpPr>
          <p:spPr>
            <a:xfrm>
              <a:off x="8452865" y="3204209"/>
              <a:ext cx="0" cy="2641600"/>
            </a:xfrm>
            <a:custGeom>
              <a:rect b="b" l="l" r="r" t="t"/>
              <a:pathLst>
                <a:path extrusionOk="0" h="2641600" w="120000">
                  <a:moveTo>
                    <a:pt x="0" y="2641091"/>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24"/>
            <p:cNvSpPr/>
            <p:nvPr/>
          </p:nvSpPr>
          <p:spPr>
            <a:xfrm>
              <a:off x="4839461" y="3152393"/>
              <a:ext cx="0" cy="1992630"/>
            </a:xfrm>
            <a:custGeom>
              <a:rect b="b" l="l" r="r" t="t"/>
              <a:pathLst>
                <a:path extrusionOk="0" h="1992629" w="120000">
                  <a:moveTo>
                    <a:pt x="0" y="0"/>
                  </a:moveTo>
                  <a:lnTo>
                    <a:pt x="0" y="199263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8" name="Google Shape;348;p24"/>
            <p:cNvSpPr/>
            <p:nvPr/>
          </p:nvSpPr>
          <p:spPr>
            <a:xfrm>
              <a:off x="4782318" y="5125976"/>
              <a:ext cx="114300" cy="114300"/>
            </a:xfrm>
            <a:custGeom>
              <a:rect b="b" l="l" r="r" t="t"/>
              <a:pathLst>
                <a:path extrusionOk="0" h="114300" w="114300">
                  <a:moveTo>
                    <a:pt x="114300" y="0"/>
                  </a:moveTo>
                  <a:lnTo>
                    <a:pt x="0" y="0"/>
                  </a:lnTo>
                  <a:lnTo>
                    <a:pt x="5715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p24"/>
            <p:cNvSpPr/>
            <p:nvPr/>
          </p:nvSpPr>
          <p:spPr>
            <a:xfrm>
              <a:off x="4445507" y="2321051"/>
              <a:ext cx="4589145" cy="3967479"/>
            </a:xfrm>
            <a:custGeom>
              <a:rect b="b" l="l" r="r" t="t"/>
              <a:pathLst>
                <a:path extrusionOk="0" h="3967479" w="4589145">
                  <a:moveTo>
                    <a:pt x="0" y="0"/>
                  </a:moveTo>
                  <a:lnTo>
                    <a:pt x="4588764" y="0"/>
                  </a:lnTo>
                  <a:lnTo>
                    <a:pt x="4588764" y="3966972"/>
                  </a:lnTo>
                  <a:lnTo>
                    <a:pt x="0" y="396697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50" name="Google Shape;350;p24"/>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351" name="Google Shape;351;p2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2" name="Google Shape;352;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392112" y="748031"/>
            <a:ext cx="5777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COMMIT, ROLLBACK y SAVEPOINT</a:t>
            </a:r>
            <a:endParaRPr/>
          </a:p>
        </p:txBody>
      </p:sp>
      <p:sp>
        <p:nvSpPr>
          <p:cNvPr id="358" name="Google Shape;358;p25"/>
          <p:cNvSpPr txBox="1"/>
          <p:nvPr/>
        </p:nvSpPr>
        <p:spPr>
          <a:xfrm>
            <a:off x="483552" y="1415417"/>
            <a:ext cx="810895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adición de otros SAVEPOINTS crea otros marcadores 	para puntos de rollback</a:t>
            </a:r>
            <a:endParaRPr sz="2800">
              <a:latin typeface="Calibri"/>
              <a:ea typeface="Calibri"/>
              <a:cs typeface="Calibri"/>
              <a:sym typeface="Calibri"/>
            </a:endParaRPr>
          </a:p>
        </p:txBody>
      </p:sp>
      <p:sp>
        <p:nvSpPr>
          <p:cNvPr id="359" name="Google Shape;359;p25"/>
          <p:cNvSpPr txBox="1"/>
          <p:nvPr/>
        </p:nvSpPr>
        <p:spPr>
          <a:xfrm>
            <a:off x="483552" y="2285621"/>
            <a:ext cx="3855720" cy="31413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 usuario emite una 	sentencia ROLLBACK sin 	una sentencia ROLLBACK 	TO SAVEPOINT, se finaliza 	toda la transacción y se 	desechan todos los 	cambios de datos 	pendientes</a:t>
            </a:r>
            <a:endParaRPr sz="2800">
              <a:latin typeface="Calibri"/>
              <a:ea typeface="Calibri"/>
              <a:cs typeface="Calibri"/>
              <a:sym typeface="Calibri"/>
            </a:endParaRPr>
          </a:p>
        </p:txBody>
      </p:sp>
      <p:sp>
        <p:nvSpPr>
          <p:cNvPr id="360" name="Google Shape;360;p25"/>
          <p:cNvSpPr txBox="1"/>
          <p:nvPr/>
        </p:nvSpPr>
        <p:spPr>
          <a:xfrm>
            <a:off x="4458058" y="2244789"/>
            <a:ext cx="3423920" cy="1162685"/>
          </a:xfrm>
          <a:prstGeom prst="rect">
            <a:avLst/>
          </a:prstGeom>
          <a:noFill/>
          <a:ln>
            <a:noFill/>
          </a:ln>
        </p:spPr>
        <p:txBody>
          <a:bodyPr anchorCtr="0" anchor="t" bIns="0" lIns="0" spcFirstLastPara="1" rIns="0" wrap="square" tIns="172700">
            <a:spAutoFit/>
          </a:bodyPr>
          <a:lstStyle/>
          <a:p>
            <a:pPr indent="0" lvl="0" marL="1055370" rtl="0" algn="l">
              <a:lnSpc>
                <a:spcPct val="100000"/>
              </a:lnSpc>
              <a:spcBef>
                <a:spcPts val="0"/>
              </a:spcBef>
              <a:spcAft>
                <a:spcPts val="0"/>
              </a:spcAft>
              <a:buNone/>
            </a:pPr>
            <a:r>
              <a:rPr b="1" lang="en-US" sz="1800">
                <a:solidFill>
                  <a:srgbClr val="4E3629"/>
                </a:solidFill>
                <a:latin typeface="Calibri"/>
                <a:ea typeface="Calibri"/>
                <a:cs typeface="Calibri"/>
                <a:sym typeface="Calibri"/>
              </a:rPr>
              <a:t>Control de Transacciones</a:t>
            </a:r>
            <a:endParaRPr sz="1800">
              <a:latin typeface="Calibri"/>
              <a:ea typeface="Calibri"/>
              <a:cs typeface="Calibri"/>
              <a:sym typeface="Calibri"/>
            </a:endParaRPr>
          </a:p>
          <a:p>
            <a:pPr indent="0" lvl="0" marL="0" rtl="0" algn="l">
              <a:lnSpc>
                <a:spcPct val="100000"/>
              </a:lnSpc>
              <a:spcBef>
                <a:spcPts val="1110"/>
              </a:spcBef>
              <a:spcAft>
                <a:spcPts val="0"/>
              </a:spcAft>
              <a:buNone/>
            </a:pPr>
            <a:r>
              <a:rPr i="1" lang="en-US" sz="1600">
                <a:solidFill>
                  <a:srgbClr val="4E3629"/>
                </a:solidFill>
                <a:latin typeface="Calibri"/>
                <a:ea typeface="Calibri"/>
                <a:cs typeface="Calibri"/>
                <a:sym typeface="Calibri"/>
              </a:rPr>
              <a:t>Tiempo COMMIT</a:t>
            </a:r>
            <a:endParaRPr sz="1600">
              <a:latin typeface="Calibri"/>
              <a:ea typeface="Calibri"/>
              <a:cs typeface="Calibri"/>
              <a:sym typeface="Calibri"/>
            </a:endParaRPr>
          </a:p>
          <a:p>
            <a:pPr indent="0" lvl="0" marL="715645" rtl="0" algn="l">
              <a:lnSpc>
                <a:spcPct val="100000"/>
              </a:lnSpc>
              <a:spcBef>
                <a:spcPts val="585"/>
              </a:spcBef>
              <a:spcAft>
                <a:spcPts val="0"/>
              </a:spcAft>
              <a:buNone/>
            </a:pPr>
            <a:r>
              <a:rPr b="1" lang="en-US" sz="1600">
                <a:solidFill>
                  <a:srgbClr val="4E3629"/>
                </a:solidFill>
                <a:latin typeface="Calibri"/>
                <a:ea typeface="Calibri"/>
                <a:cs typeface="Calibri"/>
                <a:sym typeface="Calibri"/>
              </a:rPr>
              <a:t>Transaction</a:t>
            </a:r>
            <a:endParaRPr sz="1600">
              <a:latin typeface="Calibri"/>
              <a:ea typeface="Calibri"/>
              <a:cs typeface="Calibri"/>
              <a:sym typeface="Calibri"/>
            </a:endParaRPr>
          </a:p>
        </p:txBody>
      </p:sp>
      <p:sp>
        <p:nvSpPr>
          <p:cNvPr id="361" name="Google Shape;361;p25"/>
          <p:cNvSpPr txBox="1"/>
          <p:nvPr/>
        </p:nvSpPr>
        <p:spPr>
          <a:xfrm>
            <a:off x="5174169" y="3777531"/>
            <a:ext cx="1113155"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A</a:t>
            </a:r>
            <a:endParaRPr sz="1600">
              <a:latin typeface="Calibri"/>
              <a:ea typeface="Calibri"/>
              <a:cs typeface="Calibri"/>
              <a:sym typeface="Calibri"/>
            </a:endParaRPr>
          </a:p>
        </p:txBody>
      </p:sp>
      <p:sp>
        <p:nvSpPr>
          <p:cNvPr id="362" name="Google Shape;362;p25"/>
          <p:cNvSpPr txBox="1"/>
          <p:nvPr/>
        </p:nvSpPr>
        <p:spPr>
          <a:xfrm>
            <a:off x="5174169" y="4734237"/>
            <a:ext cx="1106170" cy="26924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rPr lang="en-US" sz="1600">
                <a:solidFill>
                  <a:srgbClr val="4E3629"/>
                </a:solidFill>
                <a:latin typeface="Calibri"/>
                <a:ea typeface="Calibri"/>
                <a:cs typeface="Calibri"/>
                <a:sym typeface="Calibri"/>
              </a:rPr>
              <a:t>SAVEPOINT B</a:t>
            </a:r>
            <a:endParaRPr sz="1600">
              <a:latin typeface="Calibri"/>
              <a:ea typeface="Calibri"/>
              <a:cs typeface="Calibri"/>
              <a:sym typeface="Calibri"/>
            </a:endParaRPr>
          </a:p>
        </p:txBody>
      </p:sp>
      <p:sp>
        <p:nvSpPr>
          <p:cNvPr id="363" name="Google Shape;363;p25"/>
          <p:cNvSpPr txBox="1"/>
          <p:nvPr/>
        </p:nvSpPr>
        <p:spPr>
          <a:xfrm>
            <a:off x="5163311" y="3521964"/>
            <a:ext cx="563880" cy="241300"/>
          </a:xfrm>
          <a:prstGeom prst="rect">
            <a:avLst/>
          </a:prstGeom>
          <a:solidFill>
            <a:srgbClr val="7BA800"/>
          </a:solidFill>
          <a:ln>
            <a:noFill/>
          </a:ln>
        </p:spPr>
        <p:txBody>
          <a:bodyPr anchorCtr="0" anchor="t" bIns="0" lIns="0" spcFirstLastPara="1" rIns="0" wrap="square" tIns="625">
            <a:spAutoFit/>
          </a:bodyPr>
          <a:lstStyle/>
          <a:p>
            <a:pPr indent="0" lvl="0" marL="11430" rtl="0" algn="l">
              <a:lnSpc>
                <a:spcPct val="100000"/>
              </a:lnSpc>
              <a:spcBef>
                <a:spcPts val="0"/>
              </a:spcBef>
              <a:spcAft>
                <a:spcPts val="0"/>
              </a:spcAft>
              <a:buNone/>
            </a:pPr>
            <a:r>
              <a:rPr lang="en-US" sz="1400">
                <a:solidFill>
                  <a:srgbClr val="4E3629"/>
                </a:solidFill>
                <a:latin typeface="Calibri"/>
                <a:ea typeface="Calibri"/>
                <a:cs typeface="Calibri"/>
                <a:sym typeface="Calibri"/>
              </a:rPr>
              <a:t>DELETE</a:t>
            </a:r>
            <a:endParaRPr sz="1400">
              <a:latin typeface="Calibri"/>
              <a:ea typeface="Calibri"/>
              <a:cs typeface="Calibri"/>
              <a:sym typeface="Calibri"/>
            </a:endParaRPr>
          </a:p>
        </p:txBody>
      </p:sp>
      <p:sp>
        <p:nvSpPr>
          <p:cNvPr id="364" name="Google Shape;364;p25"/>
          <p:cNvSpPr txBox="1"/>
          <p:nvPr/>
        </p:nvSpPr>
        <p:spPr>
          <a:xfrm>
            <a:off x="5161788" y="4107179"/>
            <a:ext cx="539750" cy="241300"/>
          </a:xfrm>
          <a:prstGeom prst="rect">
            <a:avLst/>
          </a:prstGeom>
          <a:solidFill>
            <a:srgbClr val="FFFF00"/>
          </a:solidFill>
          <a:ln>
            <a:noFill/>
          </a:ln>
        </p:spPr>
        <p:txBody>
          <a:bodyPr anchorCtr="0" anchor="t" bIns="0" lIns="0" spcFirstLastPara="1" rIns="0" wrap="square" tIns="1250">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365" name="Google Shape;365;p25"/>
          <p:cNvSpPr txBox="1"/>
          <p:nvPr/>
        </p:nvSpPr>
        <p:spPr>
          <a:xfrm>
            <a:off x="5161788" y="4427220"/>
            <a:ext cx="608330" cy="241300"/>
          </a:xfrm>
          <a:prstGeom prst="rect">
            <a:avLst/>
          </a:prstGeom>
          <a:solidFill>
            <a:srgbClr val="00CCFF"/>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UPDATE</a:t>
            </a:r>
            <a:endParaRPr sz="1400">
              <a:latin typeface="Calibri"/>
              <a:ea typeface="Calibri"/>
              <a:cs typeface="Calibri"/>
              <a:sym typeface="Calibri"/>
            </a:endParaRPr>
          </a:p>
        </p:txBody>
      </p:sp>
      <p:sp>
        <p:nvSpPr>
          <p:cNvPr id="366" name="Google Shape;366;p25"/>
          <p:cNvSpPr txBox="1"/>
          <p:nvPr/>
        </p:nvSpPr>
        <p:spPr>
          <a:xfrm>
            <a:off x="5161788" y="5065776"/>
            <a:ext cx="539750" cy="241300"/>
          </a:xfrm>
          <a:prstGeom prst="rect">
            <a:avLst/>
          </a:prstGeom>
          <a:solidFill>
            <a:srgbClr val="9DBDC4"/>
          </a:solidFill>
          <a:ln>
            <a:noFill/>
          </a:ln>
        </p:spPr>
        <p:txBody>
          <a:bodyPr anchorCtr="0" anchor="t" bIns="0" lIns="0" spcFirstLastPara="1" rIns="0" wrap="square" tIns="625">
            <a:spAutoFit/>
          </a:bodyPr>
          <a:lstStyle/>
          <a:p>
            <a:pPr indent="0" lvl="0" marL="12065" rtl="0" algn="l">
              <a:lnSpc>
                <a:spcPct val="100000"/>
              </a:lnSpc>
              <a:spcBef>
                <a:spcPts val="0"/>
              </a:spcBef>
              <a:spcAft>
                <a:spcPts val="0"/>
              </a:spcAft>
              <a:buNone/>
            </a:pPr>
            <a:r>
              <a:rPr lang="en-US" sz="1400">
                <a:solidFill>
                  <a:srgbClr val="4E3629"/>
                </a:solidFill>
                <a:latin typeface="Calibri"/>
                <a:ea typeface="Calibri"/>
                <a:cs typeface="Calibri"/>
                <a:sym typeface="Calibri"/>
              </a:rPr>
              <a:t>INSERT</a:t>
            </a:r>
            <a:endParaRPr sz="1400">
              <a:latin typeface="Calibri"/>
              <a:ea typeface="Calibri"/>
              <a:cs typeface="Calibri"/>
              <a:sym typeface="Calibri"/>
            </a:endParaRPr>
          </a:p>
        </p:txBody>
      </p:sp>
      <p:sp>
        <p:nvSpPr>
          <p:cNvPr id="367" name="Google Shape;367;p25"/>
          <p:cNvSpPr txBox="1"/>
          <p:nvPr/>
        </p:nvSpPr>
        <p:spPr>
          <a:xfrm>
            <a:off x="5873459" y="5859133"/>
            <a:ext cx="103441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B</a:t>
            </a:r>
            <a:endParaRPr sz="1200">
              <a:latin typeface="Calibri"/>
              <a:ea typeface="Calibri"/>
              <a:cs typeface="Calibri"/>
              <a:sym typeface="Calibri"/>
            </a:endParaRPr>
          </a:p>
        </p:txBody>
      </p:sp>
      <p:sp>
        <p:nvSpPr>
          <p:cNvPr id="368" name="Google Shape;368;p25"/>
          <p:cNvSpPr txBox="1"/>
          <p:nvPr/>
        </p:nvSpPr>
        <p:spPr>
          <a:xfrm>
            <a:off x="7077419" y="5859133"/>
            <a:ext cx="1040765" cy="391160"/>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To SAVEPOINT A</a:t>
            </a:r>
            <a:endParaRPr sz="1200">
              <a:latin typeface="Calibri"/>
              <a:ea typeface="Calibri"/>
              <a:cs typeface="Calibri"/>
              <a:sym typeface="Calibri"/>
            </a:endParaRPr>
          </a:p>
        </p:txBody>
      </p:sp>
      <p:sp>
        <p:nvSpPr>
          <p:cNvPr id="369" name="Google Shape;369;p25"/>
          <p:cNvSpPr txBox="1"/>
          <p:nvPr/>
        </p:nvSpPr>
        <p:spPr>
          <a:xfrm>
            <a:off x="8249680" y="5974957"/>
            <a:ext cx="668020" cy="208279"/>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1200">
                <a:solidFill>
                  <a:srgbClr val="4E3629"/>
                </a:solidFill>
                <a:latin typeface="Calibri"/>
                <a:ea typeface="Calibri"/>
                <a:cs typeface="Calibri"/>
                <a:sym typeface="Calibri"/>
              </a:rPr>
              <a:t>ROLLBACK</a:t>
            </a:r>
            <a:endParaRPr sz="1200">
              <a:latin typeface="Calibri"/>
              <a:ea typeface="Calibri"/>
              <a:cs typeface="Calibri"/>
              <a:sym typeface="Calibri"/>
            </a:endParaRPr>
          </a:p>
        </p:txBody>
      </p:sp>
      <p:grpSp>
        <p:nvGrpSpPr>
          <p:cNvPr id="370" name="Google Shape;370;p25"/>
          <p:cNvGrpSpPr/>
          <p:nvPr/>
        </p:nvGrpSpPr>
        <p:grpSpPr>
          <a:xfrm>
            <a:off x="4445507" y="2321051"/>
            <a:ext cx="4589145" cy="3967479"/>
            <a:chOff x="4445507" y="2321051"/>
            <a:chExt cx="4589145" cy="3967479"/>
          </a:xfrm>
        </p:grpSpPr>
        <p:sp>
          <p:nvSpPr>
            <p:cNvPr id="371" name="Google Shape;371;p25"/>
            <p:cNvSpPr/>
            <p:nvPr/>
          </p:nvSpPr>
          <p:spPr>
            <a:xfrm>
              <a:off x="6446519" y="4877561"/>
              <a:ext cx="138430" cy="0"/>
            </a:xfrm>
            <a:custGeom>
              <a:rect b="b" l="l" r="r" t="t"/>
              <a:pathLst>
                <a:path extrusionOk="0" h="120000" w="138429">
                  <a:moveTo>
                    <a:pt x="137922"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2" name="Google Shape;372;p25"/>
            <p:cNvSpPr/>
            <p:nvPr/>
          </p:nvSpPr>
          <p:spPr>
            <a:xfrm>
              <a:off x="6351266" y="482040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3" name="Google Shape;373;p25"/>
            <p:cNvSpPr/>
            <p:nvPr/>
          </p:nvSpPr>
          <p:spPr>
            <a:xfrm>
              <a:off x="6584441" y="4877561"/>
              <a:ext cx="0" cy="951230"/>
            </a:xfrm>
            <a:custGeom>
              <a:rect b="b" l="l" r="r" t="t"/>
              <a:pathLst>
                <a:path extrusionOk="0" h="951229" w="120000">
                  <a:moveTo>
                    <a:pt x="0" y="950976"/>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4" name="Google Shape;374;p25"/>
            <p:cNvSpPr/>
            <p:nvPr/>
          </p:nvSpPr>
          <p:spPr>
            <a:xfrm>
              <a:off x="6486143" y="3937253"/>
              <a:ext cx="1111885" cy="0"/>
            </a:xfrm>
            <a:custGeom>
              <a:rect b="b" l="l" r="r" t="t"/>
              <a:pathLst>
                <a:path extrusionOk="0" h="120000" w="1111884">
                  <a:moveTo>
                    <a:pt x="1111758"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5" name="Google Shape;375;p25"/>
            <p:cNvSpPr/>
            <p:nvPr/>
          </p:nvSpPr>
          <p:spPr>
            <a:xfrm>
              <a:off x="6390891" y="3880098"/>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6" name="Google Shape;376;p25"/>
            <p:cNvSpPr/>
            <p:nvPr/>
          </p:nvSpPr>
          <p:spPr>
            <a:xfrm>
              <a:off x="6365747" y="3204209"/>
              <a:ext cx="2070735" cy="0"/>
            </a:xfrm>
            <a:custGeom>
              <a:rect b="b" l="l" r="r" t="t"/>
              <a:pathLst>
                <a:path extrusionOk="0" h="120000" w="2070734">
                  <a:moveTo>
                    <a:pt x="2070353" y="0"/>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7" name="Google Shape;377;p25"/>
            <p:cNvSpPr/>
            <p:nvPr/>
          </p:nvSpPr>
          <p:spPr>
            <a:xfrm>
              <a:off x="6270495" y="3147056"/>
              <a:ext cx="114300" cy="114300"/>
            </a:xfrm>
            <a:custGeom>
              <a:rect b="b" l="l" r="r" t="t"/>
              <a:pathLst>
                <a:path extrusionOk="0" h="114300" w="114300">
                  <a:moveTo>
                    <a:pt x="114300" y="0"/>
                  </a:moveTo>
                  <a:lnTo>
                    <a:pt x="0" y="57150"/>
                  </a:lnTo>
                  <a:lnTo>
                    <a:pt x="11430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8" name="Google Shape;378;p25"/>
            <p:cNvSpPr/>
            <p:nvPr/>
          </p:nvSpPr>
          <p:spPr>
            <a:xfrm>
              <a:off x="7597901" y="3937253"/>
              <a:ext cx="0" cy="1900555"/>
            </a:xfrm>
            <a:custGeom>
              <a:rect b="b" l="l" r="r" t="t"/>
              <a:pathLst>
                <a:path extrusionOk="0" h="1900554" w="120000">
                  <a:moveTo>
                    <a:pt x="0" y="1900428"/>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9" name="Google Shape;379;p25"/>
            <p:cNvSpPr/>
            <p:nvPr/>
          </p:nvSpPr>
          <p:spPr>
            <a:xfrm>
              <a:off x="8452865" y="3204209"/>
              <a:ext cx="0" cy="2641600"/>
            </a:xfrm>
            <a:custGeom>
              <a:rect b="b" l="l" r="r" t="t"/>
              <a:pathLst>
                <a:path extrusionOk="0" h="2641600" w="120000">
                  <a:moveTo>
                    <a:pt x="0" y="2641091"/>
                  </a:moveTo>
                  <a:lnTo>
                    <a:pt x="0" y="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0" name="Google Shape;380;p25"/>
            <p:cNvSpPr/>
            <p:nvPr/>
          </p:nvSpPr>
          <p:spPr>
            <a:xfrm>
              <a:off x="4839461" y="3152393"/>
              <a:ext cx="0" cy="1992630"/>
            </a:xfrm>
            <a:custGeom>
              <a:rect b="b" l="l" r="r" t="t"/>
              <a:pathLst>
                <a:path extrusionOk="0" h="1992629" w="120000">
                  <a:moveTo>
                    <a:pt x="0" y="0"/>
                  </a:moveTo>
                  <a:lnTo>
                    <a:pt x="0" y="1992630"/>
                  </a:lnTo>
                </a:path>
              </a:pathLst>
            </a:custGeom>
            <a:noFill/>
            <a:ln cap="flat" cmpd="sng" w="38100">
              <a:solidFill>
                <a:srgbClr val="D135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1" name="Google Shape;381;p25"/>
            <p:cNvSpPr/>
            <p:nvPr/>
          </p:nvSpPr>
          <p:spPr>
            <a:xfrm>
              <a:off x="4782318" y="5125976"/>
              <a:ext cx="114300" cy="114300"/>
            </a:xfrm>
            <a:custGeom>
              <a:rect b="b" l="l" r="r" t="t"/>
              <a:pathLst>
                <a:path extrusionOk="0" h="114300" w="114300">
                  <a:moveTo>
                    <a:pt x="114300" y="0"/>
                  </a:moveTo>
                  <a:lnTo>
                    <a:pt x="0" y="0"/>
                  </a:lnTo>
                  <a:lnTo>
                    <a:pt x="57150" y="114300"/>
                  </a:lnTo>
                  <a:lnTo>
                    <a:pt x="114300" y="0"/>
                  </a:lnTo>
                  <a:close/>
                </a:path>
              </a:pathLst>
            </a:custGeom>
            <a:solidFill>
              <a:srgbClr val="D1350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2" name="Google Shape;382;p25"/>
            <p:cNvSpPr/>
            <p:nvPr/>
          </p:nvSpPr>
          <p:spPr>
            <a:xfrm>
              <a:off x="4445507" y="2321051"/>
              <a:ext cx="4589145" cy="3967479"/>
            </a:xfrm>
            <a:custGeom>
              <a:rect b="b" l="l" r="r" t="t"/>
              <a:pathLst>
                <a:path extrusionOk="0" h="3967479" w="4589145">
                  <a:moveTo>
                    <a:pt x="0" y="0"/>
                  </a:moveTo>
                  <a:lnTo>
                    <a:pt x="4588764" y="0"/>
                  </a:lnTo>
                  <a:lnTo>
                    <a:pt x="4588764" y="3966972"/>
                  </a:lnTo>
                  <a:lnTo>
                    <a:pt x="0" y="3966972"/>
                  </a:lnTo>
                  <a:lnTo>
                    <a:pt x="0" y="0"/>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83" name="Google Shape;383;p25"/>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384" name="Google Shape;384;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5" name="Google Shape;385;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6"/>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Procesamiento de Transacciones Implícitas</a:t>
            </a:r>
            <a:endParaRPr/>
          </a:p>
        </p:txBody>
      </p:sp>
      <p:sp>
        <p:nvSpPr>
          <p:cNvPr id="391" name="Google Shape;391;p26"/>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392" name="Google Shape;392;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3" name="Google Shape;393;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4" name="Google Shape;394;p26"/>
          <p:cNvSpPr txBox="1"/>
          <p:nvPr/>
        </p:nvSpPr>
        <p:spPr>
          <a:xfrm>
            <a:off x="483552" y="1415417"/>
            <a:ext cx="8131809" cy="301879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confirmación automática de cambios en los datos se 	produce en las siguientes circunstancias:</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una sentencia DDL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una sentencia DCL</a:t>
            </a:r>
            <a:endParaRPr sz="2400">
              <a:latin typeface="Calibri"/>
              <a:ea typeface="Calibri"/>
              <a:cs typeface="Calibri"/>
              <a:sym typeface="Calibri"/>
            </a:endParaRPr>
          </a:p>
          <a:p>
            <a:pPr indent="-175259" lvl="0" marL="530860" marR="454659"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 usuario sale normalmente de la utilidad de la base de datos Oracle, lo que hace que la transacción actual que se confirme de forma implícita</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 emite explícitamente sentencias COMMIT o ROLLBACK</a:t>
            </a:r>
            <a:endParaRPr sz="24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7"/>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Procesamiento de Transacciones Implícitas</a:t>
            </a:r>
            <a:endParaRPr/>
          </a:p>
        </p:txBody>
      </p:sp>
      <p:sp>
        <p:nvSpPr>
          <p:cNvPr id="400" name="Google Shape;400;p27"/>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401" name="Google Shape;401;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02" name="Google Shape;402;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3" name="Google Shape;403;p27"/>
          <p:cNvSpPr txBox="1"/>
          <p:nvPr/>
        </p:nvSpPr>
        <p:spPr>
          <a:xfrm>
            <a:off x="483552" y="1415417"/>
            <a:ext cx="8144509" cy="25761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rollback automático se produce tras una terminación 	anormal de la utilizad de base de datos Oracle o 	cuando se produce un fallo del sistema</a:t>
            </a:r>
            <a:endParaRPr sz="2800">
              <a:latin typeface="Calibri"/>
              <a:ea typeface="Calibri"/>
              <a:cs typeface="Calibri"/>
              <a:sym typeface="Calibri"/>
            </a:endParaRPr>
          </a:p>
          <a:p>
            <a:pPr indent="-177800" lvl="0" marL="182880" marR="417194"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evita que cualquier error en los datos provoque 	cambios no deseados en las tablas subyacentes</a:t>
            </a:r>
            <a:endParaRPr sz="2800">
              <a:latin typeface="Calibri"/>
              <a:ea typeface="Calibri"/>
              <a:cs typeface="Calibri"/>
              <a:sym typeface="Calibri"/>
            </a:endParaRPr>
          </a:p>
          <a:p>
            <a:pPr indent="-177800" lvl="0" marL="183515" rtl="0" algn="l">
              <a:lnSpc>
                <a:spcPct val="100000"/>
              </a:lnSpc>
              <a:spcBef>
                <a:spcPts val="4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la integridad de los datos está protegida</a:t>
            </a:r>
            <a:endParaRPr sz="28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8"/>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Bloqueo</a:t>
            </a:r>
            <a:endParaRPr/>
          </a:p>
        </p:txBody>
      </p:sp>
      <p:sp>
        <p:nvSpPr>
          <p:cNvPr id="409" name="Google Shape;409;p28"/>
          <p:cNvSpPr txBox="1"/>
          <p:nvPr>
            <p:ph idx="1" type="body"/>
          </p:nvPr>
        </p:nvSpPr>
        <p:spPr>
          <a:xfrm>
            <a:off x="483552" y="1415417"/>
            <a:ext cx="8100600" cy="385800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a:t>Es importante evitar que más de un usuario cambie los 	datos a la vez</a:t>
            </a:r>
            <a:endParaRPr/>
          </a:p>
          <a:p>
            <a:pPr indent="-177800" lvl="0" marL="182880" marR="20320" rtl="0" algn="l">
              <a:lnSpc>
                <a:spcPct val="108214"/>
              </a:lnSpc>
              <a:spcBef>
                <a:spcPts val="795"/>
              </a:spcBef>
              <a:spcAft>
                <a:spcPts val="1200"/>
              </a:spcAft>
              <a:buClr>
                <a:srgbClr val="D1350F"/>
              </a:buClr>
              <a:buSzPts val="2800"/>
              <a:buFont typeface="Arial"/>
              <a:buChar char="•"/>
            </a:pPr>
            <a:r>
              <a:rPr lang="en-US"/>
              <a:t>Oracle utiliza bloqueos para evitar una interacción 	destructiva entre transacciones que acceden al mismo 	recurso, tanto objetos de usuarios (como tablas o filas) 	como objetos del sistema no visibles para los usuarios 	(como estructuras de datos compartidos y filas del 	diccionario de datos)</a:t>
            </a:r>
            <a:endParaRPr/>
          </a:p>
        </p:txBody>
      </p:sp>
      <p:pic>
        <p:nvPicPr>
          <p:cNvPr id="410" name="Google Shape;410;p28"/>
          <p:cNvPicPr preferRelativeResize="0"/>
          <p:nvPr/>
        </p:nvPicPr>
        <p:blipFill rotWithShape="1">
          <a:blip r:embed="rId3">
            <a:alphaModFix/>
          </a:blip>
          <a:srcRect b="0" l="0" r="0" t="0"/>
          <a:stretch/>
        </p:blipFill>
        <p:spPr>
          <a:xfrm>
            <a:off x="3304032" y="4410455"/>
            <a:ext cx="2060447" cy="1999487"/>
          </a:xfrm>
          <a:prstGeom prst="rect">
            <a:avLst/>
          </a:prstGeom>
          <a:noFill/>
          <a:ln>
            <a:noFill/>
          </a:ln>
        </p:spPr>
      </p:pic>
      <p:sp>
        <p:nvSpPr>
          <p:cNvPr id="411" name="Google Shape;411;p28"/>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412" name="Google Shape;412;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3" name="Google Shape;413;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9"/>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Cómo Bloquea la Base de Datos Oracle los Datos</a:t>
            </a:r>
            <a:endParaRPr/>
          </a:p>
        </p:txBody>
      </p:sp>
      <p:sp>
        <p:nvSpPr>
          <p:cNvPr id="419" name="Google Shape;419;p29"/>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420" name="Google Shape;420;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1" name="Google Shape;421;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22" name="Google Shape;422;p29"/>
          <p:cNvSpPr txBox="1"/>
          <p:nvPr/>
        </p:nvSpPr>
        <p:spPr>
          <a:xfrm>
            <a:off x="483552" y="1415417"/>
            <a:ext cx="8006715" cy="4315460"/>
          </a:xfrm>
          <a:prstGeom prst="rect">
            <a:avLst/>
          </a:prstGeom>
          <a:noFill/>
          <a:ln>
            <a:noFill/>
          </a:ln>
        </p:spPr>
        <p:txBody>
          <a:bodyPr anchorCtr="0" anchor="t" bIns="0" lIns="0" spcFirstLastPara="1" rIns="0" wrap="square" tIns="59675">
            <a:spAutoFit/>
          </a:bodyPr>
          <a:lstStyle/>
          <a:p>
            <a:pPr indent="-177800" lvl="0" marL="182880" marR="8191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bloqueo de Oracle se realiza automáticamente y no 	necesita ninguna acción del usuario</a:t>
            </a:r>
            <a:endParaRPr sz="2800">
              <a:latin typeface="Calibri"/>
              <a:ea typeface="Calibri"/>
              <a:cs typeface="Calibri"/>
              <a:sym typeface="Calibri"/>
            </a:endParaRPr>
          </a:p>
          <a:p>
            <a:pPr indent="-177800" lvl="0" marL="182880" marR="32512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bloqueo implícito se produce para sentencias SQL 	según sea necesario, según la acción solicitada</a:t>
            </a:r>
            <a:endParaRPr sz="2800">
              <a:latin typeface="Calibri"/>
              <a:ea typeface="Calibri"/>
              <a:cs typeface="Calibri"/>
              <a:sym typeface="Calibri"/>
            </a:endParaRPr>
          </a:p>
          <a:p>
            <a:pPr indent="-177800" lvl="0" marL="182880" marR="120586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bloqueo implícito se produce para todas las 	sentencias SQL excepto SELECT</a:t>
            </a:r>
            <a:endParaRPr sz="2800">
              <a:latin typeface="Calibri"/>
              <a:ea typeface="Calibri"/>
              <a:cs typeface="Calibri"/>
              <a:sym typeface="Calibri"/>
            </a:endParaRPr>
          </a:p>
          <a:p>
            <a:pPr indent="-177800" lvl="0" marL="182880" marR="21717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usuarios también pueden bloquear los datos de 	forma manual, lo que se denomina bloqueo explícito</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emite una sentencia COMMIT o ROLLBACK, 	se liberan los bloqueos en las filas afectadas</a:t>
            </a:r>
            <a:endParaRPr sz="28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0"/>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28" name="Google Shape;428;p30"/>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429" name="Google Shape;429;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30" name="Google Shape;430;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31" name="Google Shape;431;p30"/>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Transaction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confirmación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Savepoint</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Rollback</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Lenguaje de control de transacciones</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Consistencia de lectura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Locks</a:t>
            </a:r>
            <a:endParaRPr sz="240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1"/>
          <p:cNvSpPr txBox="1"/>
          <p:nvPr>
            <p:ph type="title"/>
          </p:nvPr>
        </p:nvSpPr>
        <p:spPr>
          <a:xfrm>
            <a:off x="392112" y="748031"/>
            <a:ext cx="82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437" name="Google Shape;437;p31"/>
          <p:cNvSpPr txBox="1"/>
          <p:nvPr>
            <p:ph idx="1" type="body"/>
          </p:nvPr>
        </p:nvSpPr>
        <p:spPr>
          <a:xfrm>
            <a:off x="483552" y="1415417"/>
            <a:ext cx="8100600" cy="339060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a:t>En esta lección, ha aprendido lo siguiente:</a:t>
            </a:r>
            <a:endParaRPr/>
          </a:p>
          <a:p>
            <a:pPr indent="-175259" lvl="0" marL="530860" marR="356235" rtl="0" algn="l">
              <a:lnSpc>
                <a:spcPct val="107916"/>
              </a:lnSpc>
              <a:spcBef>
                <a:spcPts val="475"/>
              </a:spcBef>
              <a:spcAft>
                <a:spcPts val="0"/>
              </a:spcAft>
              <a:buNone/>
            </a:pPr>
            <a:r>
              <a:rPr lang="en-US" sz="2400">
                <a:solidFill>
                  <a:srgbClr val="D1350F"/>
                </a:solidFill>
              </a:rPr>
              <a:t>−</a:t>
            </a:r>
            <a:r>
              <a:rPr lang="en-US" sz="2400"/>
              <a:t>Definir los términos COMMIT, ROLLBACK y SAVEPOINT y su relación con las transacciones de datos</a:t>
            </a:r>
            <a:endParaRPr sz="2400"/>
          </a:p>
          <a:p>
            <a:pPr indent="-175259" lvl="0" marL="530860" marR="5080" rtl="0" algn="l">
              <a:lnSpc>
                <a:spcPct val="107916"/>
              </a:lnSpc>
              <a:spcBef>
                <a:spcPts val="400"/>
              </a:spcBef>
              <a:spcAft>
                <a:spcPts val="0"/>
              </a:spcAft>
              <a:buNone/>
            </a:pPr>
            <a:r>
              <a:rPr lang="en-US" sz="2400">
                <a:solidFill>
                  <a:srgbClr val="D1350F"/>
                </a:solidFill>
              </a:rPr>
              <a:t>−</a:t>
            </a:r>
            <a:r>
              <a:rPr lang="en-US" sz="2400"/>
              <a:t>Enumerar tres ventajas de las sentencias COMMIT, ROLLBACK y SAVEPOINT</a:t>
            </a:r>
            <a:endParaRPr sz="2400"/>
          </a:p>
          <a:p>
            <a:pPr indent="-175259" lvl="0" marL="530860" marR="491490" rtl="0" algn="l">
              <a:lnSpc>
                <a:spcPct val="107916"/>
              </a:lnSpc>
              <a:spcBef>
                <a:spcPts val="400"/>
              </a:spcBef>
              <a:spcAft>
                <a:spcPts val="1200"/>
              </a:spcAft>
              <a:buNone/>
            </a:pPr>
            <a:r>
              <a:rPr lang="en-US" sz="2400">
                <a:solidFill>
                  <a:srgbClr val="D1350F"/>
                </a:solidFill>
              </a:rPr>
              <a:t>−</a:t>
            </a:r>
            <a:r>
              <a:rPr lang="en-US" sz="2400"/>
              <a:t>Explicar por qué es importante, desde una perspectiva de negocio, poder controlar el flujo de procesamiento de transacciones</a:t>
            </a:r>
            <a:endParaRPr sz="2400"/>
          </a:p>
        </p:txBody>
      </p:sp>
      <p:grpSp>
        <p:nvGrpSpPr>
          <p:cNvPr id="438" name="Google Shape;438;p31"/>
          <p:cNvGrpSpPr/>
          <p:nvPr/>
        </p:nvGrpSpPr>
        <p:grpSpPr>
          <a:xfrm>
            <a:off x="4655832" y="3997452"/>
            <a:ext cx="4139170" cy="2261615"/>
            <a:chOff x="4655832" y="3997452"/>
            <a:chExt cx="4139170" cy="2261615"/>
          </a:xfrm>
        </p:grpSpPr>
        <p:pic>
          <p:nvPicPr>
            <p:cNvPr id="439" name="Google Shape;439;p31"/>
            <p:cNvPicPr preferRelativeResize="0"/>
            <p:nvPr/>
          </p:nvPicPr>
          <p:blipFill rotWithShape="1">
            <a:blip r:embed="rId3">
              <a:alphaModFix/>
            </a:blip>
            <a:srcRect b="0" l="0" r="0" t="0"/>
            <a:stretch/>
          </p:blipFill>
          <p:spPr>
            <a:xfrm>
              <a:off x="4655832" y="3997452"/>
              <a:ext cx="4139170" cy="2261615"/>
            </a:xfrm>
            <a:prstGeom prst="rect">
              <a:avLst/>
            </a:prstGeom>
            <a:noFill/>
            <a:ln>
              <a:noFill/>
            </a:ln>
          </p:spPr>
        </p:pic>
        <p:pic>
          <p:nvPicPr>
            <p:cNvPr id="440" name="Google Shape;440;p31"/>
            <p:cNvPicPr preferRelativeResize="0"/>
            <p:nvPr/>
          </p:nvPicPr>
          <p:blipFill rotWithShape="1">
            <a:blip r:embed="rId4">
              <a:alphaModFix/>
            </a:blip>
            <a:srcRect b="0" l="0" r="0" t="0"/>
            <a:stretch/>
          </p:blipFill>
          <p:spPr>
            <a:xfrm>
              <a:off x="4847844" y="4189476"/>
              <a:ext cx="3755135" cy="1877567"/>
            </a:xfrm>
            <a:prstGeom prst="rect">
              <a:avLst/>
            </a:prstGeom>
            <a:noFill/>
            <a:ln>
              <a:noFill/>
            </a:ln>
          </p:spPr>
        </p:pic>
      </p:grpSp>
      <p:sp>
        <p:nvSpPr>
          <p:cNvPr id="441" name="Google Shape;441;p31"/>
          <p:cNvSpPr txBox="1"/>
          <p:nvPr>
            <p:ph idx="10" type="dt"/>
          </p:nvPr>
        </p:nvSpPr>
        <p:spPr>
          <a:xfrm>
            <a:off x="2874191" y="6516395"/>
            <a:ext cx="14289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18-1</a:t>
            </a:r>
            <a:endParaRPr/>
          </a:p>
          <a:p>
            <a:pPr indent="0" lvl="0" marL="12700" rtl="0" algn="l">
              <a:lnSpc>
                <a:spcPct val="120624"/>
              </a:lnSpc>
              <a:spcBef>
                <a:spcPts val="0"/>
              </a:spcBef>
              <a:spcAft>
                <a:spcPts val="0"/>
              </a:spcAft>
              <a:buNone/>
            </a:pPr>
            <a:r>
              <a:rPr lang="en-US"/>
              <a:t>Transacciones de Base de Datos</a:t>
            </a:r>
            <a:endParaRPr/>
          </a:p>
        </p:txBody>
      </p:sp>
      <p:sp>
        <p:nvSpPr>
          <p:cNvPr id="442" name="Google Shape;442;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43" name="Google Shape;443;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2024-11-05T02:45:27Z</dcterms:created>
  <dc:creator>Oracle Academy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BB6290CF-197D-4049-A20B-0BA1DB51131C</vt:lpwstr>
  </property>
  <property fmtid="{D5CDD505-2E9C-101B-9397-08002B2CF9AE}" pid="3" name="ArticulatePath">
    <vt:lpwstr>Presentation1</vt:lpwstr>
  </property>
  <property fmtid="{D5CDD505-2E9C-101B-9397-08002B2CF9AE}" pid="4" name="ArticulateProjectFull">
    <vt:lpwstr>C:\Users\laura_000\Desktop\Database Programming_SQL_Spanish\Slides\DP_18_1_esp.ppta</vt:lpwstr>
  </property>
  <property fmtid="{D5CDD505-2E9C-101B-9397-08002B2CF9AE}" pid="5" name="ArticulateProjectVersion">
    <vt:lpwstr>7</vt:lpwstr>
  </property>
  <property fmtid="{D5CDD505-2E9C-101B-9397-08002B2CF9AE}" pid="6" name="ArticulateUseProject">
    <vt:lpwstr>1</vt:lpwstr>
  </property>
  <property fmtid="{D5CDD505-2E9C-101B-9397-08002B2CF9AE}" pid="7" name="Created">
    <vt:filetime>2020-08-14T00:00:00Z</vt:filetime>
  </property>
  <property fmtid="{D5CDD505-2E9C-101B-9397-08002B2CF9AE}" pid="8" name="Creator">
    <vt:lpwstr>Acrobat PDFMaker 20 for PowerPoint</vt:lpwstr>
  </property>
  <property fmtid="{D5CDD505-2E9C-101B-9397-08002B2CF9AE}" pid="9" name="LastSaved">
    <vt:filetime>2024-11-05T00:00:00Z</vt:filetime>
  </property>
  <property fmtid="{D5CDD505-2E9C-101B-9397-08002B2CF9AE}" pid="10" name="NXPowerLiteLastOptimized">
    <vt:lpwstr>2466827</vt:lpwstr>
  </property>
  <property fmtid="{D5CDD505-2E9C-101B-9397-08002B2CF9AE}" pid="11" name="NXPowerLiteSettings">
    <vt:lpwstr>F98007B004F000</vt:lpwstr>
  </property>
  <property fmtid="{D5CDD505-2E9C-101B-9397-08002B2CF9AE}" pid="12" name="NXPowerLiteVersion">
    <vt:lpwstr>D5.0.2</vt:lpwstr>
  </property>
  <property fmtid="{D5CDD505-2E9C-101B-9397-08002B2CF9AE}" pid="13" name="Producer">
    <vt:lpwstr>Adobe PDF Library 20.9.95</vt:lpwstr>
  </property>
</Properties>
</file>