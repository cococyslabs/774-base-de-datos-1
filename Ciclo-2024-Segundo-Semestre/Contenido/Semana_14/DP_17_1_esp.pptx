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A59D6E8-2001-4B59-B43F-F63A19415E12}">
  <a:tblStyle styleId="{1A59D6E8-2001-4B59-B43F-F63A19415E12}"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14:13:48</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Los alumnos no podrán probar estos privilegios en APEX, debido a privilegios insuficientes.</a:t>
            </a:r>
            <a:endParaRPr/>
          </a:p>
        </p:txBody>
      </p:sp>
      <p:sp>
        <p:nvSpPr>
          <p:cNvPr id="174" name="Google Shape;174;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2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2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p2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2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2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13"/>
          <p:cNvSpPr txBox="1"/>
          <p:nvPr>
            <p:ph type="title"/>
          </p:nvPr>
        </p:nvSpPr>
        <p:spPr>
          <a:xfrm>
            <a:off x="392112" y="748031"/>
            <a:ext cx="6522600" cy="5283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3300">
                <a:solidFill>
                  <a:srgbClr val="4E3629"/>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483552" y="1415417"/>
            <a:ext cx="8113500" cy="39516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sz="2800">
                <a:solidFill>
                  <a:srgbClr val="4E3629"/>
                </a:solidFill>
                <a:latin typeface="Calibri"/>
                <a:ea typeface="Calibri"/>
                <a:cs typeface="Calibri"/>
                <a:sym typeface="Calibri"/>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53" name="Google Shape;53;p13"/>
          <p:cNvSpPr txBox="1"/>
          <p:nvPr>
            <p:ph idx="11" type="ftr"/>
          </p:nvPr>
        </p:nvSpPr>
        <p:spPr>
          <a:xfrm>
            <a:off x="5172119" y="6589648"/>
            <a:ext cx="3223200" cy="1341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3"/>
          <p:cNvSpPr txBox="1"/>
          <p:nvPr>
            <p:ph idx="10" type="dt"/>
          </p:nvPr>
        </p:nvSpPr>
        <p:spPr>
          <a:xfrm>
            <a:off x="2874191" y="6516395"/>
            <a:ext cx="1536600" cy="2496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lvl1pPr indent="0" lvl="0" marL="38100">
              <a:lnSpc>
                <a:spcPct val="104500"/>
              </a:lnSpc>
              <a:spcBef>
                <a:spcPts val="0"/>
              </a:spcBef>
              <a:buNone/>
              <a:defRPr b="1" i="0" sz="1000">
                <a:solidFill>
                  <a:srgbClr val="4E3629"/>
                </a:solidFill>
                <a:latin typeface="Calibri"/>
                <a:ea typeface="Calibri"/>
                <a:cs typeface="Calibri"/>
                <a:sym typeface="Calibri"/>
              </a:defRPr>
            </a:lvl1pPr>
            <a:lvl2pPr indent="0" lvl="1" marL="38100">
              <a:lnSpc>
                <a:spcPct val="104500"/>
              </a:lnSpc>
              <a:spcBef>
                <a:spcPts val="0"/>
              </a:spcBef>
              <a:buNone/>
              <a:defRPr b="1" i="0" sz="1000">
                <a:solidFill>
                  <a:srgbClr val="4E3629"/>
                </a:solidFill>
                <a:latin typeface="Calibri"/>
                <a:ea typeface="Calibri"/>
                <a:cs typeface="Calibri"/>
                <a:sym typeface="Calibri"/>
              </a:defRPr>
            </a:lvl2pPr>
            <a:lvl3pPr indent="0" lvl="2" marL="38100">
              <a:lnSpc>
                <a:spcPct val="104500"/>
              </a:lnSpc>
              <a:spcBef>
                <a:spcPts val="0"/>
              </a:spcBef>
              <a:buNone/>
              <a:defRPr b="1" i="0" sz="1000">
                <a:solidFill>
                  <a:srgbClr val="4E3629"/>
                </a:solidFill>
                <a:latin typeface="Calibri"/>
                <a:ea typeface="Calibri"/>
                <a:cs typeface="Calibri"/>
                <a:sym typeface="Calibri"/>
              </a:defRPr>
            </a:lvl3pPr>
            <a:lvl4pPr indent="0" lvl="3" marL="38100">
              <a:lnSpc>
                <a:spcPct val="104500"/>
              </a:lnSpc>
              <a:spcBef>
                <a:spcPts val="0"/>
              </a:spcBef>
              <a:buNone/>
              <a:defRPr b="1" i="0" sz="1000">
                <a:solidFill>
                  <a:srgbClr val="4E3629"/>
                </a:solidFill>
                <a:latin typeface="Calibri"/>
                <a:ea typeface="Calibri"/>
                <a:cs typeface="Calibri"/>
                <a:sym typeface="Calibri"/>
              </a:defRPr>
            </a:lvl4pPr>
            <a:lvl5pPr indent="0" lvl="4" marL="38100">
              <a:lnSpc>
                <a:spcPct val="104500"/>
              </a:lnSpc>
              <a:spcBef>
                <a:spcPts val="0"/>
              </a:spcBef>
              <a:buNone/>
              <a:defRPr b="1" i="0" sz="1000">
                <a:solidFill>
                  <a:srgbClr val="4E3629"/>
                </a:solidFill>
                <a:latin typeface="Calibri"/>
                <a:ea typeface="Calibri"/>
                <a:cs typeface="Calibri"/>
                <a:sym typeface="Calibri"/>
              </a:defRPr>
            </a:lvl5pPr>
            <a:lvl6pPr indent="0" lvl="5" marL="38100">
              <a:lnSpc>
                <a:spcPct val="104500"/>
              </a:lnSpc>
              <a:spcBef>
                <a:spcPts val="0"/>
              </a:spcBef>
              <a:buNone/>
              <a:defRPr b="1" i="0" sz="1000">
                <a:solidFill>
                  <a:srgbClr val="4E3629"/>
                </a:solidFill>
                <a:latin typeface="Calibri"/>
                <a:ea typeface="Calibri"/>
                <a:cs typeface="Calibri"/>
                <a:sym typeface="Calibri"/>
              </a:defRPr>
            </a:lvl6pPr>
            <a:lvl7pPr indent="0" lvl="6" marL="38100">
              <a:lnSpc>
                <a:spcPct val="104500"/>
              </a:lnSpc>
              <a:spcBef>
                <a:spcPts val="0"/>
              </a:spcBef>
              <a:buNone/>
              <a:defRPr b="1" i="0" sz="1000">
                <a:solidFill>
                  <a:srgbClr val="4E3629"/>
                </a:solidFill>
                <a:latin typeface="Calibri"/>
                <a:ea typeface="Calibri"/>
                <a:cs typeface="Calibri"/>
                <a:sym typeface="Calibri"/>
              </a:defRPr>
            </a:lvl7pPr>
            <a:lvl8pPr indent="0" lvl="7" marL="38100">
              <a:lnSpc>
                <a:spcPct val="104500"/>
              </a:lnSpc>
              <a:spcBef>
                <a:spcPts val="0"/>
              </a:spcBef>
              <a:buNone/>
              <a:defRPr b="1" i="0" sz="1000">
                <a:solidFill>
                  <a:srgbClr val="4E3629"/>
                </a:solidFill>
                <a:latin typeface="Calibri"/>
                <a:ea typeface="Calibri"/>
                <a:cs typeface="Calibri"/>
                <a:sym typeface="Calibri"/>
              </a:defRPr>
            </a:lvl8pPr>
            <a:lvl9pPr indent="0" lvl="8" marL="38100">
              <a:lnSpc>
                <a:spcPct val="104500"/>
              </a:lnSpc>
              <a:spcBef>
                <a:spcPts val="0"/>
              </a:spcBef>
              <a:buNone/>
              <a:defRPr b="1" i="0" sz="1000">
                <a:solidFill>
                  <a:srgbClr val="4E3629"/>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b="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1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5.png"/><Relationship Id="rId4"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 name="Shape 59"/>
        <p:cNvGrpSpPr/>
        <p:nvPr/>
      </p:nvGrpSpPr>
      <p:grpSpPr>
        <a:xfrm>
          <a:off x="0" y="0"/>
          <a:ext cx="0" cy="0"/>
          <a:chOff x="0" y="0"/>
          <a:chExt cx="0" cy="0"/>
        </a:xfrm>
      </p:grpSpPr>
      <p:grpSp>
        <p:nvGrpSpPr>
          <p:cNvPr id="60" name="Google Shape;60;p14"/>
          <p:cNvGrpSpPr/>
          <p:nvPr/>
        </p:nvGrpSpPr>
        <p:grpSpPr>
          <a:xfrm>
            <a:off x="0" y="0"/>
            <a:ext cx="9144000" cy="6858000"/>
            <a:chOff x="0" y="0"/>
            <a:chExt cx="9144000" cy="6858000"/>
          </a:xfrm>
        </p:grpSpPr>
        <p:pic>
          <p:nvPicPr>
            <p:cNvPr id="61" name="Google Shape;61;p14"/>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62" name="Google Shape;62;p14"/>
            <p:cNvSpPr/>
            <p:nvPr/>
          </p:nvSpPr>
          <p:spPr>
            <a:xfrm>
              <a:off x="560831" y="702563"/>
              <a:ext cx="8022590" cy="5453380"/>
            </a:xfrm>
            <a:custGeom>
              <a:rect b="b" l="l" r="r" t="t"/>
              <a:pathLst>
                <a:path extrusionOk="0" h="5453380" w="8022590">
                  <a:moveTo>
                    <a:pt x="8022335" y="0"/>
                  </a:moveTo>
                  <a:lnTo>
                    <a:pt x="0" y="0"/>
                  </a:lnTo>
                  <a:lnTo>
                    <a:pt x="0" y="5452872"/>
                  </a:lnTo>
                  <a:lnTo>
                    <a:pt x="8022335" y="5452872"/>
                  </a:lnTo>
                  <a:lnTo>
                    <a:pt x="8022335" y="0"/>
                  </a:lnTo>
                  <a:close/>
                </a:path>
              </a:pathLst>
            </a:custGeom>
            <a:solidFill>
              <a:srgbClr val="DFE1E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63" name="Google Shape;63;p14"/>
            <p:cNvPicPr preferRelativeResize="0"/>
            <p:nvPr/>
          </p:nvPicPr>
          <p:blipFill rotWithShape="1">
            <a:blip r:embed="rId4">
              <a:alphaModFix/>
            </a:blip>
            <a:srcRect b="0" l="0" r="0" t="0"/>
            <a:stretch/>
          </p:blipFill>
          <p:spPr>
            <a:xfrm>
              <a:off x="970787" y="5570219"/>
              <a:ext cx="1258823" cy="420623"/>
            </a:xfrm>
            <a:prstGeom prst="rect">
              <a:avLst/>
            </a:prstGeom>
            <a:noFill/>
            <a:ln>
              <a:noFill/>
            </a:ln>
          </p:spPr>
        </p:pic>
      </p:grpSp>
      <p:sp>
        <p:nvSpPr>
          <p:cNvPr id="64" name="Google Shape;64;p14"/>
          <p:cNvSpPr txBox="1"/>
          <p:nvPr/>
        </p:nvSpPr>
        <p:spPr>
          <a:xfrm>
            <a:off x="5057819" y="6562597"/>
            <a:ext cx="3223260" cy="155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FCEFD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65" name="Google Shape;65;p14"/>
          <p:cNvSpPr txBox="1"/>
          <p:nvPr>
            <p:ph type="title"/>
          </p:nvPr>
        </p:nvSpPr>
        <p:spPr>
          <a:xfrm>
            <a:off x="958315" y="862895"/>
            <a:ext cx="7047900" cy="1574400"/>
          </a:xfrm>
          <a:prstGeom prst="rect">
            <a:avLst/>
          </a:prstGeom>
          <a:noFill/>
          <a:ln>
            <a:noFill/>
          </a:ln>
        </p:spPr>
        <p:txBody>
          <a:bodyPr anchorCtr="0" anchor="t" bIns="0" lIns="0" spcFirstLastPara="1" rIns="0" wrap="square" tIns="153650">
            <a:spAutoFit/>
          </a:bodyPr>
          <a:lstStyle/>
          <a:p>
            <a:pPr indent="0" lvl="0" marL="12700" marR="5080" rtl="0" algn="l">
              <a:lnSpc>
                <a:spcPct val="96041"/>
              </a:lnSpc>
              <a:spcBef>
                <a:spcPts val="0"/>
              </a:spcBef>
              <a:spcAft>
                <a:spcPts val="0"/>
              </a:spcAft>
              <a:buNone/>
            </a:pPr>
            <a:r>
              <a:rPr lang="en-US" sz="4800"/>
              <a:t>Database Programming with SQL</a:t>
            </a:r>
            <a:endParaRPr sz="4800"/>
          </a:p>
        </p:txBody>
      </p:sp>
      <p:sp>
        <p:nvSpPr>
          <p:cNvPr id="66" name="Google Shape;66;p14"/>
          <p:cNvSpPr txBox="1"/>
          <p:nvPr/>
        </p:nvSpPr>
        <p:spPr>
          <a:xfrm>
            <a:off x="962879" y="2400950"/>
            <a:ext cx="4354830" cy="888365"/>
          </a:xfrm>
          <a:prstGeom prst="rect">
            <a:avLst/>
          </a:prstGeom>
          <a:noFill/>
          <a:ln>
            <a:noFill/>
          </a:ln>
        </p:spPr>
        <p:txBody>
          <a:bodyPr anchorCtr="0" anchor="t" bIns="0" lIns="0" spcFirstLastPara="1" rIns="0" wrap="square" tIns="78100">
            <a:spAutoFit/>
          </a:bodyPr>
          <a:lstStyle/>
          <a:p>
            <a:pPr indent="0" lvl="0" marL="12700" rtl="0" algn="l">
              <a:lnSpc>
                <a:spcPct val="100000"/>
              </a:lnSpc>
              <a:spcBef>
                <a:spcPts val="0"/>
              </a:spcBef>
              <a:spcAft>
                <a:spcPts val="0"/>
              </a:spcAft>
              <a:buNone/>
            </a:pPr>
            <a:r>
              <a:rPr b="1" lang="en-US" sz="2400">
                <a:solidFill>
                  <a:srgbClr val="4E3629"/>
                </a:solidFill>
                <a:latin typeface="Calibri"/>
                <a:ea typeface="Calibri"/>
                <a:cs typeface="Calibri"/>
                <a:sym typeface="Calibri"/>
              </a:rPr>
              <a:t>17-1</a:t>
            </a:r>
            <a:endParaRPr sz="2400">
              <a:latin typeface="Calibri"/>
              <a:ea typeface="Calibri"/>
              <a:cs typeface="Calibri"/>
              <a:sym typeface="Calibri"/>
            </a:endParaRPr>
          </a:p>
          <a:p>
            <a:pPr indent="0" lvl="0" marL="12700" rtl="0" algn="l">
              <a:lnSpc>
                <a:spcPct val="100000"/>
              </a:lnSpc>
              <a:spcBef>
                <a:spcPts val="515"/>
              </a:spcBef>
              <a:spcAft>
                <a:spcPts val="0"/>
              </a:spcAft>
              <a:buNone/>
            </a:pPr>
            <a:r>
              <a:rPr b="1" lang="en-US" sz="2400">
                <a:solidFill>
                  <a:srgbClr val="4E3629"/>
                </a:solidFill>
                <a:latin typeface="Calibri"/>
                <a:ea typeface="Calibri"/>
                <a:cs typeface="Calibri"/>
                <a:sym typeface="Calibri"/>
              </a:rPr>
              <a:t>Control del Acceso de los Usuarios</a:t>
            </a:r>
            <a:endParaRPr sz="2400">
              <a:latin typeface="Calibri"/>
              <a:ea typeface="Calibri"/>
              <a:cs typeface="Calibri"/>
              <a:sym typeface="Calibri"/>
            </a:endParaRPr>
          </a:p>
        </p:txBody>
      </p:sp>
      <p:pic>
        <p:nvPicPr>
          <p:cNvPr id="67" name="Google Shape;67;p14"/>
          <p:cNvPicPr preferRelativeResize="0"/>
          <p:nvPr/>
        </p:nvPicPr>
        <p:blipFill rotWithShape="1">
          <a:blip r:embed="rId5">
            <a:alphaModFix/>
          </a:blip>
          <a:srcRect b="0" l="0" r="0" t="0"/>
          <a:stretch/>
        </p:blipFill>
        <p:spPr>
          <a:xfrm>
            <a:off x="-492253" y="3485388"/>
            <a:ext cx="5058157" cy="2965703"/>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92112" y="748031"/>
            <a:ext cx="6522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Objetivos</a:t>
            </a:r>
            <a:endParaRPr/>
          </a:p>
        </p:txBody>
      </p:sp>
      <p:sp>
        <p:nvSpPr>
          <p:cNvPr id="73" name="Google Shape;73;p15"/>
          <p:cNvSpPr txBox="1"/>
          <p:nvPr/>
        </p:nvSpPr>
        <p:spPr>
          <a:xfrm>
            <a:off x="483552" y="1393401"/>
            <a:ext cx="7967345" cy="3973829"/>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se abordan los siguientes objetivos:</a:t>
            </a:r>
            <a:endParaRPr sz="2800">
              <a:latin typeface="Calibri"/>
              <a:ea typeface="Calibri"/>
              <a:cs typeface="Calibri"/>
              <a:sym typeface="Calibri"/>
            </a:endParaRPr>
          </a:p>
          <a:p>
            <a:pPr indent="-175260" lvl="0" marL="530860" marR="1101090"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Comparar la diferencia entre privilegios de objeto y privilegios del sistema</a:t>
            </a:r>
            <a:endParaRPr sz="2400">
              <a:latin typeface="Calibri"/>
              <a:ea typeface="Calibri"/>
              <a:cs typeface="Calibri"/>
              <a:sym typeface="Calibri"/>
            </a:endParaRPr>
          </a:p>
          <a:p>
            <a:pPr indent="-175260" lvl="0" marL="530860" marR="508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Construir los dos comandos necesarios para permitir que un usuario tenga acceso a una base de datos</a:t>
            </a:r>
            <a:endParaRPr sz="2400">
              <a:latin typeface="Calibri"/>
              <a:ea typeface="Calibri"/>
              <a:cs typeface="Calibri"/>
              <a:sym typeface="Calibri"/>
            </a:endParaRPr>
          </a:p>
          <a:p>
            <a:pPr indent="-175260" lvl="0" marL="530860" marR="33655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Construir y ejecutar una sentencia GRANT… ON …TO para asignar privilegios a objetos de un esquema para otros usuarios y/o a PUBLIC</a:t>
            </a:r>
            <a:endParaRPr sz="2400">
              <a:latin typeface="Calibri"/>
              <a:ea typeface="Calibri"/>
              <a:cs typeface="Calibri"/>
              <a:sym typeface="Calibri"/>
            </a:endParaRPr>
          </a:p>
          <a:p>
            <a:pPr indent="-175260" lvl="0" marL="530860" marR="3394710" rtl="0" algn="l">
              <a:lnSpc>
                <a:spcPct val="107916"/>
              </a:lnSpc>
              <a:spcBef>
                <a:spcPts val="41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Consultar el diccionario de datos para confirmar los privilegios otorgados</a:t>
            </a:r>
            <a:endParaRPr sz="2400">
              <a:latin typeface="Calibri"/>
              <a:ea typeface="Calibri"/>
              <a:cs typeface="Calibri"/>
              <a:sym typeface="Calibri"/>
            </a:endParaRPr>
          </a:p>
        </p:txBody>
      </p:sp>
      <p:grpSp>
        <p:nvGrpSpPr>
          <p:cNvPr id="74" name="Google Shape;74;p15"/>
          <p:cNvGrpSpPr/>
          <p:nvPr/>
        </p:nvGrpSpPr>
        <p:grpSpPr>
          <a:xfrm>
            <a:off x="5298947" y="3980688"/>
            <a:ext cx="3226307" cy="2551163"/>
            <a:chOff x="5298947" y="3980688"/>
            <a:chExt cx="3226307" cy="2551163"/>
          </a:xfrm>
        </p:grpSpPr>
        <p:pic>
          <p:nvPicPr>
            <p:cNvPr id="75" name="Google Shape;75;p15"/>
            <p:cNvPicPr preferRelativeResize="0"/>
            <p:nvPr/>
          </p:nvPicPr>
          <p:blipFill rotWithShape="1">
            <a:blip r:embed="rId3">
              <a:alphaModFix/>
            </a:blip>
            <a:srcRect b="0" l="0" r="0" t="0"/>
            <a:stretch/>
          </p:blipFill>
          <p:spPr>
            <a:xfrm>
              <a:off x="5298947" y="3980688"/>
              <a:ext cx="3226307" cy="2551163"/>
            </a:xfrm>
            <a:prstGeom prst="rect">
              <a:avLst/>
            </a:prstGeom>
            <a:noFill/>
            <a:ln>
              <a:noFill/>
            </a:ln>
          </p:spPr>
        </p:pic>
        <p:pic>
          <p:nvPicPr>
            <p:cNvPr id="76" name="Google Shape;76;p15"/>
            <p:cNvPicPr preferRelativeResize="0"/>
            <p:nvPr/>
          </p:nvPicPr>
          <p:blipFill rotWithShape="1">
            <a:blip r:embed="rId4">
              <a:alphaModFix/>
            </a:blip>
            <a:srcRect b="0" l="0" r="0" t="0"/>
            <a:stretch/>
          </p:blipFill>
          <p:spPr>
            <a:xfrm>
              <a:off x="5490972" y="4172712"/>
              <a:ext cx="2842259" cy="2167127"/>
            </a:xfrm>
            <a:prstGeom prst="rect">
              <a:avLst/>
            </a:prstGeom>
            <a:noFill/>
            <a:ln>
              <a:noFill/>
            </a:ln>
          </p:spPr>
        </p:pic>
      </p:grpSp>
      <p:sp>
        <p:nvSpPr>
          <p:cNvPr id="77" name="Google Shape;77;p15"/>
          <p:cNvSpPr txBox="1"/>
          <p:nvPr>
            <p:ph idx="10" type="dt"/>
          </p:nvPr>
        </p:nvSpPr>
        <p:spPr>
          <a:xfrm>
            <a:off x="2874191" y="6516395"/>
            <a:ext cx="1536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17-1</a:t>
            </a:r>
            <a:endParaRPr/>
          </a:p>
          <a:p>
            <a:pPr indent="0" lvl="0" marL="12700" rtl="0" algn="l">
              <a:lnSpc>
                <a:spcPct val="120624"/>
              </a:lnSpc>
              <a:spcBef>
                <a:spcPts val="0"/>
              </a:spcBef>
              <a:spcAft>
                <a:spcPts val="0"/>
              </a:spcAft>
              <a:buNone/>
            </a:pPr>
            <a:r>
              <a:rPr lang="en-US"/>
              <a:t>Control del Acceso de los Usuarios</a:t>
            </a:r>
            <a:endParaRPr/>
          </a:p>
        </p:txBody>
      </p:sp>
      <p:sp>
        <p:nvSpPr>
          <p:cNvPr id="78" name="Google Shape;78;p1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79" name="Google Shape;79;p1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92112" y="748031"/>
            <a:ext cx="6522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a:t>
            </a:r>
            <a:endParaRPr/>
          </a:p>
        </p:txBody>
      </p:sp>
      <p:sp>
        <p:nvSpPr>
          <p:cNvPr id="85" name="Google Shape;85;p16"/>
          <p:cNvSpPr txBox="1"/>
          <p:nvPr>
            <p:ph idx="10" type="dt"/>
          </p:nvPr>
        </p:nvSpPr>
        <p:spPr>
          <a:xfrm>
            <a:off x="2874191" y="6516395"/>
            <a:ext cx="1536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17-1</a:t>
            </a:r>
            <a:endParaRPr/>
          </a:p>
          <a:p>
            <a:pPr indent="0" lvl="0" marL="12700" rtl="0" algn="l">
              <a:lnSpc>
                <a:spcPct val="120624"/>
              </a:lnSpc>
              <a:spcBef>
                <a:spcPts val="0"/>
              </a:spcBef>
              <a:spcAft>
                <a:spcPts val="0"/>
              </a:spcAft>
              <a:buNone/>
            </a:pPr>
            <a:r>
              <a:rPr lang="en-US"/>
              <a:t>Control del Acceso de los Usuarios</a:t>
            </a:r>
            <a:endParaRPr/>
          </a:p>
        </p:txBody>
      </p:sp>
      <p:sp>
        <p:nvSpPr>
          <p:cNvPr id="86" name="Google Shape;86;p1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87" name="Google Shape;87;p1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88" name="Google Shape;88;p16"/>
          <p:cNvSpPr txBox="1"/>
          <p:nvPr/>
        </p:nvSpPr>
        <p:spPr>
          <a:xfrm>
            <a:off x="483552" y="1419989"/>
            <a:ext cx="8185784" cy="4293235"/>
          </a:xfrm>
          <a:prstGeom prst="rect">
            <a:avLst/>
          </a:prstGeom>
          <a:noFill/>
          <a:ln>
            <a:noFill/>
          </a:ln>
        </p:spPr>
        <p:txBody>
          <a:bodyPr anchorCtr="0" anchor="t" bIns="0" lIns="0" spcFirstLastPara="1" rIns="0" wrap="square" tIns="57775">
            <a:spAutoFit/>
          </a:bodyPr>
          <a:lstStyle/>
          <a:p>
            <a:pPr indent="-172720" lvl="0" marL="184785" marR="5080" rtl="0" algn="l">
              <a:lnSpc>
                <a:spcPct val="108076"/>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Si comparte una computadora con otros usuarios, ya sea en la escuela o en casa, probablemente otra persona haya visto, cambiado o suprimido algo con lo que haya trabajado</a:t>
            </a:r>
            <a:endParaRPr sz="2600">
              <a:latin typeface="Calibri"/>
              <a:ea typeface="Calibri"/>
              <a:cs typeface="Calibri"/>
              <a:sym typeface="Calibri"/>
            </a:endParaRPr>
          </a:p>
          <a:p>
            <a:pPr indent="-172720" lvl="0" marL="184785" marR="689610" rtl="0" algn="l">
              <a:lnSpc>
                <a:spcPct val="108076"/>
              </a:lnSpc>
              <a:spcBef>
                <a:spcPts val="795"/>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¿No sería fantástico poder controlar los privilegios que otros usuarios tienen a sus archivos personales?</a:t>
            </a:r>
            <a:endParaRPr sz="2600">
              <a:latin typeface="Calibri"/>
              <a:ea typeface="Calibri"/>
              <a:cs typeface="Calibri"/>
              <a:sym typeface="Calibri"/>
            </a:endParaRPr>
          </a:p>
          <a:p>
            <a:pPr indent="-172720" lvl="0" marL="184785" marR="55244" rtl="0" algn="l">
              <a:lnSpc>
                <a:spcPct val="108076"/>
              </a:lnSpc>
              <a:spcBef>
                <a:spcPts val="79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En el caso de bases de datos, al igual que en la escuela o en casa, la seguridad de los datos es muy importante</a:t>
            </a:r>
            <a:endParaRPr sz="2600">
              <a:latin typeface="Calibri"/>
              <a:ea typeface="Calibri"/>
              <a:cs typeface="Calibri"/>
              <a:sym typeface="Calibri"/>
            </a:endParaRPr>
          </a:p>
          <a:p>
            <a:pPr indent="-172720" lvl="0" marL="184785" marR="374650" rtl="0" algn="l">
              <a:lnSpc>
                <a:spcPct val="108076"/>
              </a:lnSpc>
              <a:spcBef>
                <a:spcPts val="80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En esta lección, aprenderá a otorgar o quitar acceso a los objetos de base de datos como un medio para controlar quién puede modificar, suprimir, actualizar, insertar, indexar o hacer referencia a los objetos de base de datos</a:t>
            </a:r>
            <a:endParaRPr sz="26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7"/>
          <p:cNvSpPr txBox="1"/>
          <p:nvPr>
            <p:ph type="title"/>
          </p:nvPr>
        </p:nvSpPr>
        <p:spPr>
          <a:xfrm>
            <a:off x="392112" y="748031"/>
            <a:ext cx="6522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Control del Acceso de los Usuarios</a:t>
            </a:r>
            <a:endParaRPr/>
          </a:p>
        </p:txBody>
      </p:sp>
      <p:sp>
        <p:nvSpPr>
          <p:cNvPr id="94" name="Google Shape;94;p17"/>
          <p:cNvSpPr txBox="1"/>
          <p:nvPr>
            <p:ph idx="10" type="dt"/>
          </p:nvPr>
        </p:nvSpPr>
        <p:spPr>
          <a:xfrm>
            <a:off x="2874191" y="6516395"/>
            <a:ext cx="1536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17-1</a:t>
            </a:r>
            <a:endParaRPr/>
          </a:p>
          <a:p>
            <a:pPr indent="0" lvl="0" marL="12700" rtl="0" algn="l">
              <a:lnSpc>
                <a:spcPct val="120624"/>
              </a:lnSpc>
              <a:spcBef>
                <a:spcPts val="0"/>
              </a:spcBef>
              <a:spcAft>
                <a:spcPts val="0"/>
              </a:spcAft>
              <a:buNone/>
            </a:pPr>
            <a:r>
              <a:rPr lang="en-US"/>
              <a:t>Control del Acceso de los Usuarios</a:t>
            </a:r>
            <a:endParaRPr/>
          </a:p>
        </p:txBody>
      </p:sp>
      <p:sp>
        <p:nvSpPr>
          <p:cNvPr id="95" name="Google Shape;95;p1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96" name="Google Shape;96;p1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97" name="Google Shape;97;p17"/>
          <p:cNvSpPr txBox="1"/>
          <p:nvPr>
            <p:ph idx="1" type="body"/>
          </p:nvPr>
        </p:nvSpPr>
        <p:spPr>
          <a:xfrm>
            <a:off x="483552" y="1415417"/>
            <a:ext cx="8113500" cy="4024200"/>
          </a:xfrm>
          <a:prstGeom prst="rect">
            <a:avLst/>
          </a:prstGeom>
          <a:noFill/>
          <a:ln>
            <a:noFill/>
          </a:ln>
        </p:spPr>
        <p:txBody>
          <a:bodyPr anchorCtr="0" anchor="t" bIns="0" lIns="0" spcFirstLastPara="1" rIns="0" wrap="square" tIns="59675">
            <a:spAutoFit/>
          </a:bodyPr>
          <a:lstStyle/>
          <a:p>
            <a:pPr indent="-177800" lvl="0" marL="182880" marR="348615" rtl="0" algn="l">
              <a:lnSpc>
                <a:spcPct val="108214"/>
              </a:lnSpc>
              <a:spcBef>
                <a:spcPts val="0"/>
              </a:spcBef>
              <a:spcAft>
                <a:spcPts val="0"/>
              </a:spcAft>
              <a:buClr>
                <a:srgbClr val="D1350F"/>
              </a:buClr>
              <a:buSzPts val="2800"/>
              <a:buFont typeface="Arial"/>
              <a:buChar char="•"/>
            </a:pPr>
            <a:r>
              <a:rPr lang="en-US"/>
              <a:t>En un entorno de varios usuarios, desea mantener la 	seguridad del uso y acceso a la base de datos</a:t>
            </a:r>
            <a:endParaRPr/>
          </a:p>
          <a:p>
            <a:pPr indent="-177800" lvl="0" marL="182880" marR="454025" rtl="0" algn="l">
              <a:lnSpc>
                <a:spcPct val="108214"/>
              </a:lnSpc>
              <a:spcBef>
                <a:spcPts val="795"/>
              </a:spcBef>
              <a:spcAft>
                <a:spcPts val="0"/>
              </a:spcAft>
              <a:buClr>
                <a:srgbClr val="D1350F"/>
              </a:buClr>
              <a:buSzPts val="2800"/>
              <a:buFont typeface="Arial"/>
              <a:buChar char="•"/>
            </a:pPr>
            <a:r>
              <a:rPr lang="en-US"/>
              <a:t>Con la seguridad de la base de datos del servidor de 	Oracle, puede realizar lo siguiente:</a:t>
            </a:r>
            <a:endParaRPr/>
          </a:p>
          <a:p>
            <a:pPr indent="0" lvl="0" marL="355600" rtl="0" algn="l">
              <a:lnSpc>
                <a:spcPct val="100000"/>
              </a:lnSpc>
              <a:spcBef>
                <a:spcPts val="80"/>
              </a:spcBef>
              <a:spcAft>
                <a:spcPts val="0"/>
              </a:spcAft>
              <a:buNone/>
            </a:pPr>
            <a:r>
              <a:rPr lang="en-US" sz="2400">
                <a:solidFill>
                  <a:srgbClr val="D1350F"/>
                </a:solidFill>
              </a:rPr>
              <a:t>−</a:t>
            </a:r>
            <a:r>
              <a:rPr lang="en-US" sz="2400"/>
              <a:t>Controlar el acceso a la base de datos</a:t>
            </a:r>
            <a:endParaRPr sz="2400"/>
          </a:p>
          <a:p>
            <a:pPr indent="0" lvl="0" marL="355600" rtl="0" algn="l">
              <a:lnSpc>
                <a:spcPct val="100000"/>
              </a:lnSpc>
              <a:spcBef>
                <a:spcPts val="120"/>
              </a:spcBef>
              <a:spcAft>
                <a:spcPts val="0"/>
              </a:spcAft>
              <a:buNone/>
            </a:pPr>
            <a:r>
              <a:rPr lang="en-US" sz="2400">
                <a:solidFill>
                  <a:srgbClr val="D1350F"/>
                </a:solidFill>
              </a:rPr>
              <a:t>−</a:t>
            </a:r>
            <a:r>
              <a:rPr lang="en-US" sz="2400"/>
              <a:t>Proporcionar acceso a objetos específicos en la base de datos</a:t>
            </a:r>
            <a:endParaRPr sz="2400"/>
          </a:p>
          <a:p>
            <a:pPr indent="-175260" lvl="0" marL="530860" marR="1236345" rtl="0" algn="l">
              <a:lnSpc>
                <a:spcPct val="107916"/>
              </a:lnSpc>
              <a:spcBef>
                <a:spcPts val="439"/>
              </a:spcBef>
              <a:spcAft>
                <a:spcPts val="0"/>
              </a:spcAft>
              <a:buNone/>
            </a:pPr>
            <a:r>
              <a:rPr lang="en-US" sz="2400">
                <a:solidFill>
                  <a:srgbClr val="D1350F"/>
                </a:solidFill>
              </a:rPr>
              <a:t>−</a:t>
            </a:r>
            <a:r>
              <a:rPr lang="en-US" sz="2400"/>
              <a:t>Confirmar los privilegios asignados y recibidos en el diccionario de datos de Oracle</a:t>
            </a:r>
            <a:endParaRPr sz="2400"/>
          </a:p>
          <a:p>
            <a:pPr indent="0" lvl="0" marL="355600" rtl="0" algn="l">
              <a:lnSpc>
                <a:spcPct val="100000"/>
              </a:lnSpc>
              <a:spcBef>
                <a:spcPts val="70"/>
              </a:spcBef>
              <a:spcAft>
                <a:spcPts val="1200"/>
              </a:spcAft>
              <a:buNone/>
            </a:pPr>
            <a:r>
              <a:rPr lang="en-US" sz="2400">
                <a:solidFill>
                  <a:srgbClr val="D1350F"/>
                </a:solidFill>
              </a:rPr>
              <a:t>−</a:t>
            </a:r>
            <a:r>
              <a:rPr lang="en-US" sz="2400"/>
              <a:t>Crear sinónimos para objetos de bases de datos</a:t>
            </a:r>
            <a:endParaRPr sz="2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392112" y="748031"/>
            <a:ext cx="6522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Seguridad de la Base de Datos</a:t>
            </a:r>
            <a:endParaRPr/>
          </a:p>
        </p:txBody>
      </p:sp>
      <p:sp>
        <p:nvSpPr>
          <p:cNvPr id="103" name="Google Shape;103;p18"/>
          <p:cNvSpPr txBox="1"/>
          <p:nvPr>
            <p:ph idx="10" type="dt"/>
          </p:nvPr>
        </p:nvSpPr>
        <p:spPr>
          <a:xfrm>
            <a:off x="2874191" y="6516395"/>
            <a:ext cx="1536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17-1</a:t>
            </a:r>
            <a:endParaRPr/>
          </a:p>
          <a:p>
            <a:pPr indent="0" lvl="0" marL="12700" rtl="0" algn="l">
              <a:lnSpc>
                <a:spcPct val="120624"/>
              </a:lnSpc>
              <a:spcBef>
                <a:spcPts val="0"/>
              </a:spcBef>
              <a:spcAft>
                <a:spcPts val="0"/>
              </a:spcAft>
              <a:buNone/>
            </a:pPr>
            <a:r>
              <a:rPr lang="en-US"/>
              <a:t>Control del Acceso de los Usuarios</a:t>
            </a:r>
            <a:endParaRPr/>
          </a:p>
        </p:txBody>
      </p:sp>
      <p:sp>
        <p:nvSpPr>
          <p:cNvPr id="104" name="Google Shape;104;p1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05" name="Google Shape;105;p1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06" name="Google Shape;106;p18"/>
          <p:cNvSpPr txBox="1"/>
          <p:nvPr/>
        </p:nvSpPr>
        <p:spPr>
          <a:xfrm>
            <a:off x="483552" y="1381889"/>
            <a:ext cx="8039734" cy="4414520"/>
          </a:xfrm>
          <a:prstGeom prst="rect">
            <a:avLst/>
          </a:prstGeom>
          <a:noFill/>
          <a:ln>
            <a:noFill/>
          </a:ln>
        </p:spPr>
        <p:txBody>
          <a:bodyPr anchorCtr="0" anchor="t" bIns="0" lIns="0" spcFirstLastPara="1" rIns="0" wrap="square" tIns="97150">
            <a:spAutoFit/>
          </a:bodyPr>
          <a:lstStyle/>
          <a:p>
            <a:pPr indent="-177800" lvl="0" marL="182880" marR="5080"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seguridad de la base de datos se puede clasificar en 	dos categorías:</a:t>
            </a:r>
            <a:endParaRPr sz="2800">
              <a:latin typeface="Calibri"/>
              <a:ea typeface="Calibri"/>
              <a:cs typeface="Calibri"/>
              <a:sym typeface="Calibri"/>
            </a:endParaRPr>
          </a:p>
          <a:p>
            <a:pPr indent="0" lvl="0" marL="355600" rtl="0" algn="l">
              <a:lnSpc>
                <a:spcPct val="109791"/>
              </a:lnSpc>
              <a:spcBef>
                <a:spcPts val="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Seguridad del sistema</a:t>
            </a:r>
            <a:endParaRPr sz="2400">
              <a:latin typeface="Calibri"/>
              <a:ea typeface="Calibri"/>
              <a:cs typeface="Calibri"/>
              <a:sym typeface="Calibri"/>
            </a:endParaRPr>
          </a:p>
          <a:p>
            <a:pPr indent="0" lvl="0" marL="355600" rtl="0" algn="l">
              <a:lnSpc>
                <a:spcPct val="116458"/>
              </a:lnSpc>
              <a:spcBef>
                <a:spcPts val="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Seguridad de datos</a:t>
            </a:r>
            <a:endParaRPr sz="2400">
              <a:latin typeface="Calibri"/>
              <a:ea typeface="Calibri"/>
              <a:cs typeface="Calibri"/>
              <a:sym typeface="Calibri"/>
            </a:endParaRPr>
          </a:p>
          <a:p>
            <a:pPr indent="-177800" lvl="0" marL="182880" marR="100965" rtl="0" algn="l">
              <a:lnSpc>
                <a:spcPct val="80000"/>
              </a:lnSpc>
              <a:spcBef>
                <a:spcPts val="77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seguridad del sistema abarca el acceso a la base de 	datos en el nivel del sistema, como la creación de 	usuarios, nombres de usuario y contraseñas, la 	asignación de espacio en disco a los usuarios y la 	concesión de los privilegios del sistema que los 	usuarios pueden llevar a cabo, como crear tablas, 	vistas y secuencias</a:t>
            </a:r>
            <a:endParaRPr sz="2800">
              <a:latin typeface="Calibri"/>
              <a:ea typeface="Calibri"/>
              <a:cs typeface="Calibri"/>
              <a:sym typeface="Calibri"/>
            </a:endParaRPr>
          </a:p>
          <a:p>
            <a:pPr indent="-177800" lvl="0" marL="183515" rtl="0" algn="l">
              <a:lnSpc>
                <a:spcPct val="100000"/>
              </a:lnSpc>
              <a:spcBef>
                <a:spcPts val="14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Existen más de 100 privilegios del sistema distintos</a:t>
            </a:r>
            <a:endParaRPr sz="28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ph type="title"/>
          </p:nvPr>
        </p:nvSpPr>
        <p:spPr>
          <a:xfrm>
            <a:off x="392112" y="748031"/>
            <a:ext cx="6522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Seguridad de la Base de Datos</a:t>
            </a:r>
            <a:endParaRPr/>
          </a:p>
        </p:txBody>
      </p:sp>
      <p:sp>
        <p:nvSpPr>
          <p:cNvPr id="112" name="Google Shape;112;p19"/>
          <p:cNvSpPr txBox="1"/>
          <p:nvPr>
            <p:ph idx="1" type="body"/>
          </p:nvPr>
        </p:nvSpPr>
        <p:spPr>
          <a:xfrm>
            <a:off x="483552" y="1415417"/>
            <a:ext cx="8113500" cy="338910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a:t>La seguridad de datos (también denominada seguridad 	de objetos) está relacionada con los privilegios de 	objeto que abarca el acceso y el uso de los objetos de 	base de datos, así como las acciones que los usuarios 	pueden realizar sobre los objetos</a:t>
            </a:r>
            <a:endParaRPr/>
          </a:p>
          <a:p>
            <a:pPr indent="-177800" lvl="0" marL="182880" marR="537845" rtl="0" algn="l">
              <a:lnSpc>
                <a:spcPct val="108214"/>
              </a:lnSpc>
              <a:spcBef>
                <a:spcPts val="775"/>
              </a:spcBef>
              <a:spcAft>
                <a:spcPts val="1200"/>
              </a:spcAft>
              <a:buClr>
                <a:srgbClr val="D1350F"/>
              </a:buClr>
              <a:buSzPts val="2800"/>
              <a:buFont typeface="Arial"/>
              <a:buChar char="•"/>
            </a:pPr>
            <a:r>
              <a:rPr lang="en-US"/>
              <a:t>Estos privilegios incluyen poder ejecutar sentencias 	DML</a:t>
            </a:r>
            <a:endParaRPr/>
          </a:p>
        </p:txBody>
      </p:sp>
      <p:grpSp>
        <p:nvGrpSpPr>
          <p:cNvPr id="113" name="Google Shape;113;p19"/>
          <p:cNvGrpSpPr/>
          <p:nvPr/>
        </p:nvGrpSpPr>
        <p:grpSpPr>
          <a:xfrm>
            <a:off x="3512820" y="4274820"/>
            <a:ext cx="2118359" cy="2583180"/>
            <a:chOff x="3512820" y="4274820"/>
            <a:chExt cx="2118359" cy="2583180"/>
          </a:xfrm>
        </p:grpSpPr>
        <p:pic>
          <p:nvPicPr>
            <p:cNvPr id="114" name="Google Shape;114;p19"/>
            <p:cNvPicPr preferRelativeResize="0"/>
            <p:nvPr/>
          </p:nvPicPr>
          <p:blipFill rotWithShape="1">
            <a:blip r:embed="rId3">
              <a:alphaModFix/>
            </a:blip>
            <a:srcRect b="0" l="0" r="0" t="0"/>
            <a:stretch/>
          </p:blipFill>
          <p:spPr>
            <a:xfrm>
              <a:off x="3512820" y="5623560"/>
              <a:ext cx="2118359" cy="1234440"/>
            </a:xfrm>
            <a:prstGeom prst="rect">
              <a:avLst/>
            </a:prstGeom>
            <a:noFill/>
            <a:ln>
              <a:noFill/>
            </a:ln>
          </p:spPr>
        </p:pic>
        <p:pic>
          <p:nvPicPr>
            <p:cNvPr id="115" name="Google Shape;115;p19"/>
            <p:cNvPicPr preferRelativeResize="0"/>
            <p:nvPr/>
          </p:nvPicPr>
          <p:blipFill rotWithShape="1">
            <a:blip r:embed="rId4">
              <a:alphaModFix/>
            </a:blip>
            <a:srcRect b="0" l="0" r="0" t="0"/>
            <a:stretch/>
          </p:blipFill>
          <p:spPr>
            <a:xfrm>
              <a:off x="3528060" y="4274820"/>
              <a:ext cx="2087880" cy="1359408"/>
            </a:xfrm>
            <a:prstGeom prst="rect">
              <a:avLst/>
            </a:prstGeom>
            <a:noFill/>
            <a:ln>
              <a:noFill/>
            </a:ln>
          </p:spPr>
        </p:pic>
      </p:grpSp>
      <p:sp>
        <p:nvSpPr>
          <p:cNvPr id="116" name="Google Shape;116;p19"/>
          <p:cNvSpPr txBox="1"/>
          <p:nvPr>
            <p:ph idx="10" type="dt"/>
          </p:nvPr>
        </p:nvSpPr>
        <p:spPr>
          <a:xfrm>
            <a:off x="2874191" y="6516395"/>
            <a:ext cx="1536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17-1</a:t>
            </a:r>
            <a:endParaRPr/>
          </a:p>
          <a:p>
            <a:pPr indent="0" lvl="0" marL="12700" rtl="0" algn="l">
              <a:lnSpc>
                <a:spcPct val="120624"/>
              </a:lnSpc>
              <a:spcBef>
                <a:spcPts val="0"/>
              </a:spcBef>
              <a:spcAft>
                <a:spcPts val="0"/>
              </a:spcAft>
              <a:buNone/>
            </a:pPr>
            <a:r>
              <a:rPr lang="en-US"/>
              <a:t>Control del Acceso de los Usuarios</a:t>
            </a:r>
            <a:endParaRPr/>
          </a:p>
        </p:txBody>
      </p:sp>
      <p:sp>
        <p:nvSpPr>
          <p:cNvPr id="117" name="Google Shape;117;p1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18" name="Google Shape;118;p1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0"/>
          <p:cNvSpPr txBox="1"/>
          <p:nvPr>
            <p:ph type="title"/>
          </p:nvPr>
        </p:nvSpPr>
        <p:spPr>
          <a:xfrm>
            <a:off x="392112" y="748031"/>
            <a:ext cx="6522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Privilegios y Esquemas</a:t>
            </a:r>
            <a:endParaRPr/>
          </a:p>
        </p:txBody>
      </p:sp>
      <p:sp>
        <p:nvSpPr>
          <p:cNvPr id="124" name="Google Shape;124;p20"/>
          <p:cNvSpPr txBox="1"/>
          <p:nvPr>
            <p:ph idx="10" type="dt"/>
          </p:nvPr>
        </p:nvSpPr>
        <p:spPr>
          <a:xfrm>
            <a:off x="2874191" y="6516395"/>
            <a:ext cx="1536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17-1</a:t>
            </a:r>
            <a:endParaRPr/>
          </a:p>
          <a:p>
            <a:pPr indent="0" lvl="0" marL="12700" rtl="0" algn="l">
              <a:lnSpc>
                <a:spcPct val="120624"/>
              </a:lnSpc>
              <a:spcBef>
                <a:spcPts val="0"/>
              </a:spcBef>
              <a:spcAft>
                <a:spcPts val="0"/>
              </a:spcAft>
              <a:buNone/>
            </a:pPr>
            <a:r>
              <a:rPr lang="en-US"/>
              <a:t>Control del Acceso de los Usuarios</a:t>
            </a:r>
            <a:endParaRPr/>
          </a:p>
        </p:txBody>
      </p:sp>
      <p:sp>
        <p:nvSpPr>
          <p:cNvPr id="125" name="Google Shape;125;p2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26" name="Google Shape;126;p2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27" name="Google Shape;127;p20"/>
          <p:cNvSpPr txBox="1"/>
          <p:nvPr/>
        </p:nvSpPr>
        <p:spPr>
          <a:xfrm>
            <a:off x="483552" y="1387985"/>
            <a:ext cx="8174990" cy="4316730"/>
          </a:xfrm>
          <a:prstGeom prst="rect">
            <a:avLst/>
          </a:prstGeom>
          <a:noFill/>
          <a:ln>
            <a:noFill/>
          </a:ln>
        </p:spPr>
        <p:txBody>
          <a:bodyPr anchorCtr="0" anchor="t" bIns="0" lIns="0" spcFirstLastPara="1" rIns="0" wrap="square" tIns="89525">
            <a:spAutoFit/>
          </a:bodyPr>
          <a:lstStyle/>
          <a:p>
            <a:pPr indent="-172720" lvl="0" marL="184785" marR="581660" rtl="0" algn="just">
              <a:lnSpc>
                <a:spcPct val="96153"/>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Los privilegios son el derecho a ejecutar sentencias SQL determinadas</a:t>
            </a:r>
            <a:endParaRPr sz="2600">
              <a:latin typeface="Calibri"/>
              <a:ea typeface="Calibri"/>
              <a:cs typeface="Calibri"/>
              <a:sym typeface="Calibri"/>
            </a:endParaRPr>
          </a:p>
          <a:p>
            <a:pPr indent="-172720" lvl="0" marL="184785" marR="869315" rtl="0" algn="just">
              <a:lnSpc>
                <a:spcPct val="96153"/>
              </a:lnSpc>
              <a:spcBef>
                <a:spcPts val="795"/>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El DBA es un usuario de alto nivel con capacidad para otorgar a los usuarios acceso a la base de datos y sus objetos</a:t>
            </a:r>
            <a:endParaRPr sz="2600">
              <a:latin typeface="Calibri"/>
              <a:ea typeface="Calibri"/>
              <a:cs typeface="Calibri"/>
              <a:sym typeface="Calibri"/>
            </a:endParaRPr>
          </a:p>
          <a:p>
            <a:pPr indent="-172720" lvl="0" marL="184785" marR="132080" rtl="0" algn="l">
              <a:lnSpc>
                <a:spcPct val="96153"/>
              </a:lnSpc>
              <a:spcBef>
                <a:spcPts val="78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Los usuarios necesitan privilegios del sistema para obtener acceso a la base de datos</a:t>
            </a:r>
            <a:endParaRPr sz="2600">
              <a:latin typeface="Calibri"/>
              <a:ea typeface="Calibri"/>
              <a:cs typeface="Calibri"/>
              <a:sym typeface="Calibri"/>
            </a:endParaRPr>
          </a:p>
          <a:p>
            <a:pPr indent="-172720" lvl="0" marL="184785" marR="5080" rtl="0" algn="l">
              <a:lnSpc>
                <a:spcPct val="96153"/>
              </a:lnSpc>
              <a:spcBef>
                <a:spcPts val="795"/>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Necesitan privilegios de objeto para manipular el contenido de los objetos de la base de datos</a:t>
            </a:r>
            <a:endParaRPr sz="2600">
              <a:latin typeface="Calibri"/>
              <a:ea typeface="Calibri"/>
              <a:cs typeface="Calibri"/>
              <a:sym typeface="Calibri"/>
            </a:endParaRPr>
          </a:p>
          <a:p>
            <a:pPr indent="-172720" lvl="0" marL="184785" marR="626110" rtl="0" algn="l">
              <a:lnSpc>
                <a:spcPct val="96153"/>
              </a:lnSpc>
              <a:spcBef>
                <a:spcPts val="795"/>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A los usuarios también se les da el privilegio de otorgar privilegios adicionales a otros usuarios o a los roles,</a:t>
            </a:r>
            <a:endParaRPr sz="2600">
              <a:latin typeface="Calibri"/>
              <a:ea typeface="Calibri"/>
              <a:cs typeface="Calibri"/>
              <a:sym typeface="Calibri"/>
            </a:endParaRPr>
          </a:p>
          <a:p>
            <a:pPr indent="0" lvl="0" marL="184785" rtl="0" algn="l">
              <a:lnSpc>
                <a:spcPct val="96730"/>
              </a:lnSpc>
              <a:spcBef>
                <a:spcPts val="0"/>
              </a:spcBef>
              <a:spcAft>
                <a:spcPts val="0"/>
              </a:spcAft>
              <a:buNone/>
            </a:pPr>
            <a:r>
              <a:rPr lang="en-US" sz="2600">
                <a:solidFill>
                  <a:srgbClr val="4E3629"/>
                </a:solidFill>
                <a:latin typeface="Calibri"/>
                <a:ea typeface="Calibri"/>
                <a:cs typeface="Calibri"/>
                <a:sym typeface="Calibri"/>
              </a:rPr>
              <a:t>que son grupos con nombres de privilegios relacionados</a:t>
            </a:r>
            <a:endParaRPr sz="26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1"/>
          <p:cNvSpPr txBox="1"/>
          <p:nvPr>
            <p:ph type="title"/>
          </p:nvPr>
        </p:nvSpPr>
        <p:spPr>
          <a:xfrm>
            <a:off x="392112" y="748031"/>
            <a:ext cx="6522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Privilegios y Esquemas</a:t>
            </a:r>
            <a:endParaRPr/>
          </a:p>
        </p:txBody>
      </p:sp>
      <p:sp>
        <p:nvSpPr>
          <p:cNvPr id="133" name="Google Shape;133;p21"/>
          <p:cNvSpPr txBox="1"/>
          <p:nvPr>
            <p:ph idx="10" type="dt"/>
          </p:nvPr>
        </p:nvSpPr>
        <p:spPr>
          <a:xfrm>
            <a:off x="2874191" y="6516395"/>
            <a:ext cx="1536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17-1</a:t>
            </a:r>
            <a:endParaRPr/>
          </a:p>
          <a:p>
            <a:pPr indent="0" lvl="0" marL="12700" rtl="0" algn="l">
              <a:lnSpc>
                <a:spcPct val="120624"/>
              </a:lnSpc>
              <a:spcBef>
                <a:spcPts val="0"/>
              </a:spcBef>
              <a:spcAft>
                <a:spcPts val="0"/>
              </a:spcAft>
              <a:buNone/>
            </a:pPr>
            <a:r>
              <a:rPr lang="en-US"/>
              <a:t>Control del Acceso de los Usuarios</a:t>
            </a:r>
            <a:endParaRPr/>
          </a:p>
        </p:txBody>
      </p:sp>
      <p:sp>
        <p:nvSpPr>
          <p:cNvPr id="134" name="Google Shape;134;p2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35" name="Google Shape;135;p2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36" name="Google Shape;136;p21"/>
          <p:cNvSpPr txBox="1"/>
          <p:nvPr/>
        </p:nvSpPr>
        <p:spPr>
          <a:xfrm>
            <a:off x="483552" y="1415417"/>
            <a:ext cx="7513320" cy="3444875"/>
          </a:xfrm>
          <a:prstGeom prst="rect">
            <a:avLst/>
          </a:prstGeom>
          <a:noFill/>
          <a:ln>
            <a:noFill/>
          </a:ln>
        </p:spPr>
        <p:txBody>
          <a:bodyPr anchorCtr="0" anchor="t" bIns="0" lIns="0" spcFirstLastPara="1" rIns="0" wrap="square" tIns="59675">
            <a:spAutoFit/>
          </a:bodyPr>
          <a:lstStyle/>
          <a:p>
            <a:pPr indent="-177800" lvl="0" marL="182880" marR="6413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 esquema es una recopilación de objetos, como 	tablas, vistas y secuencias</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esquema es propiedad de un usuario de base de 	datos y tiene el mismo nombre que el usuario</a:t>
            </a:r>
            <a:endParaRPr sz="2800">
              <a:latin typeface="Calibri"/>
              <a:ea typeface="Calibri"/>
              <a:cs typeface="Calibri"/>
              <a:sym typeface="Calibri"/>
            </a:endParaRPr>
          </a:p>
          <a:p>
            <a:pPr indent="-177800" lvl="0" marL="182880" marR="415925"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este curso, su nombre de esquema es una 	combinación de su país/estado, escuela, curso y 	número de alumno</a:t>
            </a:r>
            <a:endParaRPr sz="2800">
              <a:latin typeface="Calibri"/>
              <a:ea typeface="Calibri"/>
              <a:cs typeface="Calibri"/>
              <a:sym typeface="Calibri"/>
            </a:endParaRPr>
          </a:p>
          <a:p>
            <a:pPr indent="-177800" lvl="0" marL="183515" rtl="0" algn="l">
              <a:lnSpc>
                <a:spcPct val="100000"/>
              </a:lnSpc>
              <a:spcBef>
                <a:spcPts val="40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ejemplo: uswa_skhs_sql01_s22</a:t>
            </a:r>
            <a:endParaRPr sz="2800">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2"/>
          <p:cNvSpPr txBox="1"/>
          <p:nvPr>
            <p:ph type="title"/>
          </p:nvPr>
        </p:nvSpPr>
        <p:spPr>
          <a:xfrm>
            <a:off x="392112" y="748031"/>
            <a:ext cx="6522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Seguridad del Sistema</a:t>
            </a:r>
            <a:endParaRPr/>
          </a:p>
        </p:txBody>
      </p:sp>
      <p:sp>
        <p:nvSpPr>
          <p:cNvPr id="142" name="Google Shape;142;p22"/>
          <p:cNvSpPr txBox="1"/>
          <p:nvPr/>
        </p:nvSpPr>
        <p:spPr>
          <a:xfrm>
            <a:off x="483552" y="1415417"/>
            <a:ext cx="8086090" cy="2576830"/>
          </a:xfrm>
          <a:prstGeom prst="rect">
            <a:avLst/>
          </a:prstGeom>
          <a:noFill/>
          <a:ln>
            <a:noFill/>
          </a:ln>
        </p:spPr>
        <p:txBody>
          <a:bodyPr anchorCtr="0" anchor="t" bIns="0" lIns="0" spcFirstLastPara="1" rIns="0" wrap="square" tIns="59675">
            <a:spAutoFit/>
          </a:bodyPr>
          <a:lstStyle/>
          <a:p>
            <a:pPr indent="-177800" lvl="0" marL="182880" marR="535940"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Este nivel de seguridad abarca el acceso y uso de la 	base de datos en el nivel del sistema</a:t>
            </a:r>
            <a:endParaRPr sz="2800">
              <a:latin typeface="Calibri"/>
              <a:ea typeface="Calibri"/>
              <a:cs typeface="Calibri"/>
              <a:sym typeface="Calibri"/>
            </a:endParaRPr>
          </a:p>
          <a:p>
            <a:pPr indent="-177800" lvl="0" marL="183515" rtl="0" algn="just">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Existen más de 100 privilegios del sistema distintos</a:t>
            </a:r>
            <a:endParaRPr sz="2800">
              <a:latin typeface="Calibri"/>
              <a:ea typeface="Calibri"/>
              <a:cs typeface="Calibri"/>
              <a:sym typeface="Calibri"/>
            </a:endParaRPr>
          </a:p>
          <a:p>
            <a:pPr indent="-177800" lvl="0" marL="182880" marR="5080" rtl="0" algn="just">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privilegios del sistema, como la capacidad de crear 	o eliminar usuarios, eliminar tablas o realizar copias de 	seguridad de tablas, solo los suele tener el DBA</a:t>
            </a:r>
            <a:endParaRPr sz="2800">
              <a:latin typeface="Calibri"/>
              <a:ea typeface="Calibri"/>
              <a:cs typeface="Calibri"/>
              <a:sym typeface="Calibri"/>
            </a:endParaRPr>
          </a:p>
        </p:txBody>
      </p:sp>
      <p:grpSp>
        <p:nvGrpSpPr>
          <p:cNvPr id="143" name="Google Shape;143;p22"/>
          <p:cNvGrpSpPr/>
          <p:nvPr/>
        </p:nvGrpSpPr>
        <p:grpSpPr>
          <a:xfrm>
            <a:off x="3512820" y="4274820"/>
            <a:ext cx="2118359" cy="2583180"/>
            <a:chOff x="3512820" y="4274820"/>
            <a:chExt cx="2118359" cy="2583180"/>
          </a:xfrm>
        </p:grpSpPr>
        <p:pic>
          <p:nvPicPr>
            <p:cNvPr id="144" name="Google Shape;144;p22"/>
            <p:cNvPicPr preferRelativeResize="0"/>
            <p:nvPr/>
          </p:nvPicPr>
          <p:blipFill rotWithShape="1">
            <a:blip r:embed="rId3">
              <a:alphaModFix/>
            </a:blip>
            <a:srcRect b="0" l="0" r="0" t="0"/>
            <a:stretch/>
          </p:blipFill>
          <p:spPr>
            <a:xfrm>
              <a:off x="3512820" y="5623560"/>
              <a:ext cx="2118359" cy="1234440"/>
            </a:xfrm>
            <a:prstGeom prst="rect">
              <a:avLst/>
            </a:prstGeom>
            <a:noFill/>
            <a:ln>
              <a:noFill/>
            </a:ln>
          </p:spPr>
        </p:pic>
        <p:pic>
          <p:nvPicPr>
            <p:cNvPr id="145" name="Google Shape;145;p22"/>
            <p:cNvPicPr preferRelativeResize="0"/>
            <p:nvPr/>
          </p:nvPicPr>
          <p:blipFill rotWithShape="1">
            <a:blip r:embed="rId4">
              <a:alphaModFix/>
            </a:blip>
            <a:srcRect b="0" l="0" r="0" t="0"/>
            <a:stretch/>
          </p:blipFill>
          <p:spPr>
            <a:xfrm>
              <a:off x="3528060" y="4274820"/>
              <a:ext cx="2087880" cy="1359408"/>
            </a:xfrm>
            <a:prstGeom prst="rect">
              <a:avLst/>
            </a:prstGeom>
            <a:noFill/>
            <a:ln>
              <a:noFill/>
            </a:ln>
          </p:spPr>
        </p:pic>
      </p:grpSp>
      <p:sp>
        <p:nvSpPr>
          <p:cNvPr id="146" name="Google Shape;146;p22"/>
          <p:cNvSpPr txBox="1"/>
          <p:nvPr>
            <p:ph idx="10" type="dt"/>
          </p:nvPr>
        </p:nvSpPr>
        <p:spPr>
          <a:xfrm>
            <a:off x="2874191" y="6516395"/>
            <a:ext cx="1536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17-1</a:t>
            </a:r>
            <a:endParaRPr/>
          </a:p>
          <a:p>
            <a:pPr indent="0" lvl="0" marL="12700" rtl="0" algn="l">
              <a:lnSpc>
                <a:spcPct val="120624"/>
              </a:lnSpc>
              <a:spcBef>
                <a:spcPts val="0"/>
              </a:spcBef>
              <a:spcAft>
                <a:spcPts val="0"/>
              </a:spcAft>
              <a:buNone/>
            </a:pPr>
            <a:r>
              <a:rPr lang="en-US"/>
              <a:t>Control del Acceso de los Usuarios</a:t>
            </a:r>
            <a:endParaRPr/>
          </a:p>
        </p:txBody>
      </p:sp>
      <p:sp>
        <p:nvSpPr>
          <p:cNvPr id="147" name="Google Shape;147;p22"/>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48" name="Google Shape;148;p2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3"/>
          <p:cNvSpPr txBox="1"/>
          <p:nvPr>
            <p:ph type="title"/>
          </p:nvPr>
        </p:nvSpPr>
        <p:spPr>
          <a:xfrm>
            <a:off x="392112" y="748031"/>
            <a:ext cx="6522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Seguridad del Sistema</a:t>
            </a:r>
            <a:endParaRPr/>
          </a:p>
        </p:txBody>
      </p:sp>
      <p:sp>
        <p:nvSpPr>
          <p:cNvPr id="154" name="Google Shape;154;p23"/>
          <p:cNvSpPr txBox="1"/>
          <p:nvPr>
            <p:ph idx="10" type="dt"/>
          </p:nvPr>
        </p:nvSpPr>
        <p:spPr>
          <a:xfrm>
            <a:off x="2874191" y="6516395"/>
            <a:ext cx="1536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17-1</a:t>
            </a:r>
            <a:endParaRPr/>
          </a:p>
          <a:p>
            <a:pPr indent="0" lvl="0" marL="12700" rtl="0" algn="l">
              <a:lnSpc>
                <a:spcPct val="120624"/>
              </a:lnSpc>
              <a:spcBef>
                <a:spcPts val="0"/>
              </a:spcBef>
              <a:spcAft>
                <a:spcPts val="0"/>
              </a:spcAft>
              <a:buNone/>
            </a:pPr>
            <a:r>
              <a:rPr lang="en-US"/>
              <a:t>Control del Acceso de los Usuarios</a:t>
            </a:r>
            <a:endParaRPr/>
          </a:p>
        </p:txBody>
      </p:sp>
      <p:sp>
        <p:nvSpPr>
          <p:cNvPr id="155" name="Google Shape;155;p2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56" name="Google Shape;156;p2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57" name="Google Shape;157;p23"/>
          <p:cNvSpPr txBox="1"/>
          <p:nvPr/>
        </p:nvSpPr>
        <p:spPr>
          <a:xfrm>
            <a:off x="483552" y="1415417"/>
            <a:ext cx="8098790" cy="17062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tabla se muestran algunos de los privilegios del 	sistema que el DBA normalmente no otorga a otros 	usuarios</a:t>
            </a:r>
            <a:endParaRPr sz="2800">
              <a:latin typeface="Calibri"/>
              <a:ea typeface="Calibri"/>
              <a:cs typeface="Calibri"/>
              <a:sym typeface="Calibri"/>
            </a:endParaRPr>
          </a:p>
          <a:p>
            <a:pPr indent="-177800" lvl="0" marL="183515" rtl="0" algn="l">
              <a:lnSpc>
                <a:spcPct val="100000"/>
              </a:lnSpc>
              <a:spcBef>
                <a:spcPts val="409"/>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¿Desea que otro usuario pueda para borrar sus tablas?</a:t>
            </a:r>
            <a:endParaRPr sz="2800">
              <a:latin typeface="Calibri"/>
              <a:ea typeface="Calibri"/>
              <a:cs typeface="Calibri"/>
              <a:sym typeface="Calibri"/>
            </a:endParaRPr>
          </a:p>
        </p:txBody>
      </p:sp>
      <p:graphicFrame>
        <p:nvGraphicFramePr>
          <p:cNvPr id="158" name="Google Shape;158;p23"/>
          <p:cNvGraphicFramePr/>
          <p:nvPr/>
        </p:nvGraphicFramePr>
        <p:xfrm>
          <a:off x="508001" y="3154485"/>
          <a:ext cx="3000000" cy="3000000"/>
        </p:xfrm>
        <a:graphic>
          <a:graphicData uri="http://schemas.openxmlformats.org/drawingml/2006/table">
            <a:tbl>
              <a:tblPr bandRow="1" firstRow="1">
                <a:noFill/>
                <a:tableStyleId>{1A59D6E8-2001-4B59-B43F-F63A19415E12}</a:tableStyleId>
              </a:tblPr>
              <a:tblGrid>
                <a:gridCol w="2411725"/>
                <a:gridCol w="5934700"/>
              </a:tblGrid>
              <a:tr h="319400">
                <a:tc>
                  <a:txBody>
                    <a:bodyPr/>
                    <a:lstStyle/>
                    <a:p>
                      <a:pPr indent="0" lvl="0" marL="90805" marR="0" rtl="0" algn="l">
                        <a:lnSpc>
                          <a:spcPct val="100000"/>
                        </a:lnSpc>
                        <a:spcBef>
                          <a:spcPts val="0"/>
                        </a:spcBef>
                        <a:spcAft>
                          <a:spcPts val="0"/>
                        </a:spcAft>
                        <a:buNone/>
                      </a:pPr>
                      <a:r>
                        <a:rPr b="1" lang="en-US" sz="1500" u="none" cap="none" strike="noStrike">
                          <a:solidFill>
                            <a:srgbClr val="4E3629"/>
                          </a:solidFill>
                          <a:latin typeface="Calibri"/>
                          <a:ea typeface="Calibri"/>
                          <a:cs typeface="Calibri"/>
                          <a:sym typeface="Calibri"/>
                        </a:rPr>
                        <a:t>Privilegio del Sistema</a:t>
                      </a:r>
                      <a:endParaRPr sz="1500" u="none" cap="none" strike="noStrike">
                        <a:latin typeface="Calibri"/>
                        <a:ea typeface="Calibri"/>
                        <a:cs typeface="Calibri"/>
                        <a:sym typeface="Calibri"/>
                      </a:endParaRPr>
                    </a:p>
                  </a:txBody>
                  <a:tcPr marT="349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b="1" lang="en-US" sz="1500" u="none" cap="none" strike="noStrike">
                          <a:solidFill>
                            <a:srgbClr val="4E3629"/>
                          </a:solidFill>
                          <a:latin typeface="Calibri"/>
                          <a:ea typeface="Calibri"/>
                          <a:cs typeface="Calibri"/>
                          <a:sym typeface="Calibri"/>
                        </a:rPr>
                        <a:t>Operaciones Autorizadas</a:t>
                      </a:r>
                      <a:endParaRPr sz="1500" u="none" cap="none" strike="noStrike">
                        <a:latin typeface="Calibri"/>
                        <a:ea typeface="Calibri"/>
                        <a:cs typeface="Calibri"/>
                        <a:sym typeface="Calibri"/>
                      </a:endParaRPr>
                    </a:p>
                  </a:txBody>
                  <a:tcPr marT="349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548000">
                <a:tc>
                  <a:txBody>
                    <a:bodyPr/>
                    <a:lstStyle/>
                    <a:p>
                      <a:pPr indent="0" lvl="0" marL="90805"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CREATE USER</a:t>
                      </a:r>
                      <a:endParaRPr sz="1500" u="none" cap="none" strike="noStrike">
                        <a:latin typeface="Calibri"/>
                        <a:ea typeface="Calibri"/>
                        <a:cs typeface="Calibri"/>
                        <a:sym typeface="Calibri"/>
                      </a:endParaRPr>
                    </a:p>
                  </a:txBody>
                  <a:tcPr marT="14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739775" rtl="0" algn="l">
                        <a:lnSpc>
                          <a:spcPct val="100699"/>
                        </a:lnSpc>
                        <a:spcBef>
                          <a:spcPts val="0"/>
                        </a:spcBef>
                        <a:spcAft>
                          <a:spcPts val="0"/>
                        </a:spcAft>
                        <a:buNone/>
                      </a:pPr>
                      <a:r>
                        <a:rPr lang="en-US" sz="1500" u="none" cap="none" strike="noStrike">
                          <a:solidFill>
                            <a:srgbClr val="4E3629"/>
                          </a:solidFill>
                          <a:latin typeface="Calibri"/>
                          <a:ea typeface="Calibri"/>
                          <a:cs typeface="Calibri"/>
                          <a:sym typeface="Calibri"/>
                        </a:rPr>
                        <a:t>Los usuarios con privilegios pueden crear otros usuarios de Oracle (privilegio necesario para el rol DBA).</a:t>
                      </a:r>
                      <a:endParaRPr sz="1500" u="none" cap="none" strike="noStrike">
                        <a:latin typeface="Calibri"/>
                        <a:ea typeface="Calibri"/>
                        <a:cs typeface="Calibri"/>
                        <a:sym typeface="Calibri"/>
                      </a:endParaRPr>
                    </a:p>
                  </a:txBody>
                  <a:tcPr marT="317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19400">
                <a:tc>
                  <a:txBody>
                    <a:bodyPr/>
                    <a:lstStyle/>
                    <a:p>
                      <a:pPr indent="0" lvl="0" marL="90805"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DROP USER</a:t>
                      </a:r>
                      <a:endParaRPr sz="1500" u="none" cap="none" strike="noStrike">
                        <a:latin typeface="Calibri"/>
                        <a:ea typeface="Calibri"/>
                        <a:cs typeface="Calibri"/>
                        <a:sym typeface="Calibri"/>
                      </a:endParaRPr>
                    </a:p>
                  </a:txBody>
                  <a:tcPr marT="349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El usuario con privilegios puede borrar otro usuario.</a:t>
                      </a:r>
                      <a:endParaRPr sz="1500" u="none" cap="none" strike="noStrike">
                        <a:latin typeface="Calibri"/>
                        <a:ea typeface="Calibri"/>
                        <a:cs typeface="Calibri"/>
                        <a:sym typeface="Calibri"/>
                      </a:endParaRPr>
                    </a:p>
                  </a:txBody>
                  <a:tcPr marT="349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19400">
                <a:tc>
                  <a:txBody>
                    <a:bodyPr/>
                    <a:lstStyle/>
                    <a:p>
                      <a:pPr indent="0" lvl="0" marL="90805"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DROP ANY TABLE</a:t>
                      </a:r>
                      <a:endParaRPr sz="1500" u="none" cap="none" strike="noStrike">
                        <a:latin typeface="Calibri"/>
                        <a:ea typeface="Calibri"/>
                        <a:cs typeface="Calibri"/>
                        <a:sym typeface="Calibri"/>
                      </a:endParaRPr>
                    </a:p>
                  </a:txBody>
                  <a:tcPr marT="349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El usuario con privilegios puede borrar una tabla en cualquier esquema.</a:t>
                      </a:r>
                      <a:endParaRPr sz="1500" u="none" cap="none" strike="noStrike">
                        <a:latin typeface="Calibri"/>
                        <a:ea typeface="Calibri"/>
                        <a:cs typeface="Calibri"/>
                        <a:sym typeface="Calibri"/>
                      </a:endParaRPr>
                    </a:p>
                  </a:txBody>
                  <a:tcPr marT="349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548000">
                <a:tc>
                  <a:txBody>
                    <a:bodyPr/>
                    <a:lstStyle/>
                    <a:p>
                      <a:pPr indent="0" lvl="0" marL="90805"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BACKUP ANY TABLE</a:t>
                      </a:r>
                      <a:endParaRPr sz="1500" u="none" cap="none" strike="noStrike">
                        <a:latin typeface="Calibri"/>
                        <a:ea typeface="Calibri"/>
                        <a:cs typeface="Calibri"/>
                        <a:sym typeface="Calibri"/>
                      </a:endParaRPr>
                    </a:p>
                  </a:txBody>
                  <a:tcPr marT="14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201930" rtl="0" algn="l">
                        <a:lnSpc>
                          <a:spcPct val="100699"/>
                        </a:lnSpc>
                        <a:spcBef>
                          <a:spcPts val="0"/>
                        </a:spcBef>
                        <a:spcAft>
                          <a:spcPts val="0"/>
                        </a:spcAft>
                        <a:buNone/>
                      </a:pPr>
                      <a:r>
                        <a:rPr lang="en-US" sz="1500" u="none" cap="none" strike="noStrike">
                          <a:solidFill>
                            <a:srgbClr val="4E3629"/>
                          </a:solidFill>
                          <a:latin typeface="Calibri"/>
                          <a:ea typeface="Calibri"/>
                          <a:cs typeface="Calibri"/>
                          <a:sym typeface="Calibri"/>
                        </a:rPr>
                        <a:t>El usuario con privilegios puede realizar una copia de seguridad de tablas en cualquier esquema con la utilidad de exportación.</a:t>
                      </a:r>
                      <a:endParaRPr sz="1500" u="none" cap="none" strike="noStrike">
                        <a:latin typeface="Calibri"/>
                        <a:ea typeface="Calibri"/>
                        <a:cs typeface="Calibri"/>
                        <a:sym typeface="Calibri"/>
                      </a:endParaRPr>
                    </a:p>
                  </a:txBody>
                  <a:tcPr marT="317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548000">
                <a:tc>
                  <a:txBody>
                    <a:bodyPr/>
                    <a:lstStyle/>
                    <a:p>
                      <a:pPr indent="0" lvl="0" marL="90805"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SELECT ANY TABLE</a:t>
                      </a:r>
                      <a:endParaRPr sz="1500" u="none" cap="none" strike="noStrike">
                        <a:latin typeface="Calibri"/>
                        <a:ea typeface="Calibri"/>
                        <a:cs typeface="Calibri"/>
                        <a:sym typeface="Calibri"/>
                      </a:endParaRPr>
                    </a:p>
                  </a:txBody>
                  <a:tcPr marT="14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183515" rtl="0" algn="l">
                        <a:lnSpc>
                          <a:spcPct val="100699"/>
                        </a:lnSpc>
                        <a:spcBef>
                          <a:spcPts val="0"/>
                        </a:spcBef>
                        <a:spcAft>
                          <a:spcPts val="0"/>
                        </a:spcAft>
                        <a:buNone/>
                      </a:pPr>
                      <a:r>
                        <a:rPr lang="en-US" sz="1500" u="none" cap="none" strike="noStrike">
                          <a:solidFill>
                            <a:srgbClr val="4E3629"/>
                          </a:solidFill>
                          <a:latin typeface="Calibri"/>
                          <a:ea typeface="Calibri"/>
                          <a:cs typeface="Calibri"/>
                          <a:sym typeface="Calibri"/>
                        </a:rPr>
                        <a:t>El usuario con privilegios puede consultar las tablas, vistas o instantáneas en cualquier esquema.</a:t>
                      </a:r>
                      <a:endParaRPr sz="1500" u="none" cap="none" strike="noStrike">
                        <a:latin typeface="Calibri"/>
                        <a:ea typeface="Calibri"/>
                        <a:cs typeface="Calibri"/>
                        <a:sym typeface="Calibri"/>
                      </a:endParaRPr>
                    </a:p>
                  </a:txBody>
                  <a:tcPr marT="317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19400">
                <a:tc>
                  <a:txBody>
                    <a:bodyPr/>
                    <a:lstStyle/>
                    <a:p>
                      <a:pPr indent="0" lvl="0" marL="90805"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CREATE ANY TABLE</a:t>
                      </a:r>
                      <a:endParaRPr sz="1500" u="none" cap="none" strike="noStrike">
                        <a:latin typeface="Calibri"/>
                        <a:ea typeface="Calibri"/>
                        <a:cs typeface="Calibri"/>
                        <a:sym typeface="Calibri"/>
                      </a:endParaRPr>
                    </a:p>
                  </a:txBody>
                  <a:tcPr marT="349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El usuario con privilegios puede crear una tabla en cualquier esquema.</a:t>
                      </a:r>
                      <a:endParaRPr sz="1500" u="none" cap="none" strike="noStrike">
                        <a:latin typeface="Calibri"/>
                        <a:ea typeface="Calibri"/>
                        <a:cs typeface="Calibri"/>
                        <a:sym typeface="Calibri"/>
                      </a:endParaRPr>
                    </a:p>
                  </a:txBody>
                  <a:tcPr marT="349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4"/>
          <p:cNvSpPr txBox="1"/>
          <p:nvPr>
            <p:ph type="title"/>
          </p:nvPr>
        </p:nvSpPr>
        <p:spPr>
          <a:xfrm>
            <a:off x="392112" y="748031"/>
            <a:ext cx="6522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Privilegios del Sistema</a:t>
            </a:r>
            <a:endParaRPr/>
          </a:p>
        </p:txBody>
      </p:sp>
      <p:sp>
        <p:nvSpPr>
          <p:cNvPr id="164" name="Google Shape;164;p24"/>
          <p:cNvSpPr txBox="1"/>
          <p:nvPr/>
        </p:nvSpPr>
        <p:spPr>
          <a:xfrm>
            <a:off x="483552" y="1415417"/>
            <a:ext cx="7569200" cy="2677160"/>
          </a:xfrm>
          <a:prstGeom prst="rect">
            <a:avLst/>
          </a:prstGeom>
          <a:noFill/>
          <a:ln>
            <a:noFill/>
          </a:ln>
        </p:spPr>
        <p:txBody>
          <a:bodyPr anchorCtr="0" anchor="t" bIns="0" lIns="0" spcFirstLastPara="1" rIns="0" wrap="square" tIns="59675">
            <a:spAutoFit/>
          </a:bodyPr>
          <a:lstStyle/>
          <a:p>
            <a:pPr indent="-177800" lvl="0" marL="182880" marR="20701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DBA crea el usuario mediante la ejecución de la 	sentenciaCREATE USER</a:t>
            </a:r>
            <a:endParaRPr sz="2800">
              <a:latin typeface="Calibri"/>
              <a:ea typeface="Calibri"/>
              <a:cs typeface="Calibri"/>
              <a:sym typeface="Calibri"/>
            </a:endParaRPr>
          </a:p>
          <a:p>
            <a:pPr indent="-177800" lvl="0" marL="183515"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usuario no tiene ningún privilegio en este punto</a:t>
            </a:r>
            <a:endParaRPr sz="2800">
              <a:latin typeface="Calibri"/>
              <a:ea typeface="Calibri"/>
              <a:cs typeface="Calibri"/>
              <a:sym typeface="Calibri"/>
            </a:endParaRPr>
          </a:p>
          <a:p>
            <a:pPr indent="-177800" lvl="0" marL="182880" marR="5080" rtl="0" algn="l">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DBA puede otorgar privilegios necesarios a dicho 	usuario</a:t>
            </a:r>
            <a:endParaRPr sz="2800">
              <a:latin typeface="Calibri"/>
              <a:ea typeface="Calibri"/>
              <a:cs typeface="Calibri"/>
              <a:sym typeface="Calibri"/>
            </a:endParaRPr>
          </a:p>
          <a:p>
            <a:pPr indent="-177800" lvl="0" marL="183515" rtl="0" algn="l">
              <a:lnSpc>
                <a:spcPct val="100000"/>
              </a:lnSpc>
              <a:spcBef>
                <a:spcPts val="4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Sintaxis:</a:t>
            </a:r>
            <a:endParaRPr sz="2800">
              <a:latin typeface="Calibri"/>
              <a:ea typeface="Calibri"/>
              <a:cs typeface="Calibri"/>
              <a:sym typeface="Calibri"/>
            </a:endParaRPr>
          </a:p>
        </p:txBody>
      </p:sp>
      <p:sp>
        <p:nvSpPr>
          <p:cNvPr id="165" name="Google Shape;165;p24"/>
          <p:cNvSpPr txBox="1"/>
          <p:nvPr/>
        </p:nvSpPr>
        <p:spPr>
          <a:xfrm>
            <a:off x="483552" y="4612769"/>
            <a:ext cx="1467485" cy="452120"/>
          </a:xfrm>
          <a:prstGeom prst="rect">
            <a:avLst/>
          </a:prstGeom>
          <a:noFill/>
          <a:ln>
            <a:noFill/>
          </a:ln>
        </p:spPr>
        <p:txBody>
          <a:bodyPr anchorCtr="0" anchor="t" bIns="0" lIns="0" spcFirstLastPara="1" rIns="0" wrap="square" tIns="120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Ejemplo:</a:t>
            </a:r>
            <a:endParaRPr sz="2800">
              <a:latin typeface="Calibri"/>
              <a:ea typeface="Calibri"/>
              <a:cs typeface="Calibri"/>
              <a:sym typeface="Calibri"/>
            </a:endParaRPr>
          </a:p>
        </p:txBody>
      </p:sp>
      <p:sp>
        <p:nvSpPr>
          <p:cNvPr id="166" name="Google Shape;166;p24"/>
          <p:cNvSpPr txBox="1"/>
          <p:nvPr/>
        </p:nvSpPr>
        <p:spPr>
          <a:xfrm>
            <a:off x="393191" y="4134611"/>
            <a:ext cx="8345805" cy="49403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96111"/>
              </a:lnSpc>
              <a:spcBef>
                <a:spcPts val="0"/>
              </a:spcBef>
              <a:spcAft>
                <a:spcPts val="0"/>
              </a:spcAft>
              <a:buNone/>
            </a:pPr>
            <a:r>
              <a:rPr b="1" lang="en-US" sz="1800">
                <a:solidFill>
                  <a:srgbClr val="4E3629"/>
                </a:solidFill>
                <a:latin typeface="Courier New"/>
                <a:ea typeface="Courier New"/>
                <a:cs typeface="Courier New"/>
                <a:sym typeface="Courier New"/>
              </a:rPr>
              <a:t>CREATE USER user</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IDENTIFIED BY password;</a:t>
            </a:r>
            <a:endParaRPr sz="1800">
              <a:latin typeface="Courier New"/>
              <a:ea typeface="Courier New"/>
              <a:cs typeface="Courier New"/>
              <a:sym typeface="Courier New"/>
            </a:endParaRPr>
          </a:p>
        </p:txBody>
      </p:sp>
      <p:sp>
        <p:nvSpPr>
          <p:cNvPr id="167" name="Google Shape;167;p24"/>
          <p:cNvSpPr/>
          <p:nvPr/>
        </p:nvSpPr>
        <p:spPr>
          <a:xfrm>
            <a:off x="393191" y="5120640"/>
            <a:ext cx="8345805" cy="494030"/>
          </a:xfrm>
          <a:custGeom>
            <a:rect b="b" l="l" r="r" t="t"/>
            <a:pathLst>
              <a:path extrusionOk="0" h="494029" w="8345805">
                <a:moveTo>
                  <a:pt x="8345424" y="0"/>
                </a:moveTo>
                <a:lnTo>
                  <a:pt x="0" y="0"/>
                </a:lnTo>
                <a:lnTo>
                  <a:pt x="0" y="493775"/>
                </a:lnTo>
                <a:lnTo>
                  <a:pt x="8345424" y="493775"/>
                </a:lnTo>
                <a:lnTo>
                  <a:pt x="8345424" y="0"/>
                </a:lnTo>
                <a:close/>
              </a:path>
            </a:pathLst>
          </a:custGeom>
          <a:solidFill>
            <a:srgbClr val="9DBDC4">
              <a:alpha val="4980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8" name="Google Shape;168;p24"/>
          <p:cNvSpPr txBox="1"/>
          <p:nvPr/>
        </p:nvSpPr>
        <p:spPr>
          <a:xfrm>
            <a:off x="393191" y="5052755"/>
            <a:ext cx="3289300" cy="574040"/>
          </a:xfrm>
          <a:prstGeom prst="rect">
            <a:avLst/>
          </a:prstGeom>
          <a:noFill/>
          <a:ln>
            <a:noFill/>
          </a:ln>
        </p:spPr>
        <p:txBody>
          <a:bodyPr anchorCtr="0" anchor="t" bIns="0" lIns="0" spcFirstLastPara="1" rIns="0" wrap="square" tIns="12700">
            <a:spAutoFit/>
          </a:bodyPr>
          <a:lstStyle/>
          <a:p>
            <a:pPr indent="0" lvl="0" marL="0" marR="508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CREATE USER	scott IDENTIFIED BY ur35scott;</a:t>
            </a:r>
            <a:endParaRPr sz="1800">
              <a:latin typeface="Courier New"/>
              <a:ea typeface="Courier New"/>
              <a:cs typeface="Courier New"/>
              <a:sym typeface="Courier New"/>
            </a:endParaRPr>
          </a:p>
        </p:txBody>
      </p:sp>
      <p:sp>
        <p:nvSpPr>
          <p:cNvPr id="169" name="Google Shape;169;p24"/>
          <p:cNvSpPr txBox="1"/>
          <p:nvPr>
            <p:ph idx="10" type="dt"/>
          </p:nvPr>
        </p:nvSpPr>
        <p:spPr>
          <a:xfrm>
            <a:off x="2874191" y="6516395"/>
            <a:ext cx="1536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17-1</a:t>
            </a:r>
            <a:endParaRPr/>
          </a:p>
          <a:p>
            <a:pPr indent="0" lvl="0" marL="12700" rtl="0" algn="l">
              <a:lnSpc>
                <a:spcPct val="120624"/>
              </a:lnSpc>
              <a:spcBef>
                <a:spcPts val="0"/>
              </a:spcBef>
              <a:spcAft>
                <a:spcPts val="0"/>
              </a:spcAft>
              <a:buNone/>
            </a:pPr>
            <a:r>
              <a:rPr lang="en-US"/>
              <a:t>Control del Acceso de los Usuarios</a:t>
            </a:r>
            <a:endParaRPr/>
          </a:p>
        </p:txBody>
      </p:sp>
      <p:sp>
        <p:nvSpPr>
          <p:cNvPr id="170" name="Google Shape;170;p24"/>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71" name="Google Shape;171;p2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5"/>
          <p:cNvSpPr txBox="1"/>
          <p:nvPr>
            <p:ph type="title"/>
          </p:nvPr>
        </p:nvSpPr>
        <p:spPr>
          <a:xfrm>
            <a:off x="392112" y="748031"/>
            <a:ext cx="6522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Privilegios del Sistema</a:t>
            </a:r>
            <a:endParaRPr/>
          </a:p>
        </p:txBody>
      </p:sp>
      <p:sp>
        <p:nvSpPr>
          <p:cNvPr id="177" name="Google Shape;177;p25"/>
          <p:cNvSpPr txBox="1"/>
          <p:nvPr/>
        </p:nvSpPr>
        <p:spPr>
          <a:xfrm>
            <a:off x="483552" y="1415417"/>
            <a:ext cx="7869555" cy="13220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Mediante la sentencia ALTER USER, un usuario puede 	cambiar su contraseña</a:t>
            </a:r>
            <a:endParaRPr sz="2800">
              <a:latin typeface="Calibri"/>
              <a:ea typeface="Calibri"/>
              <a:cs typeface="Calibri"/>
              <a:sym typeface="Calibri"/>
            </a:endParaRPr>
          </a:p>
          <a:p>
            <a:pPr indent="-177800" lvl="0" marL="183515"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Ejemplo:</a:t>
            </a:r>
            <a:endParaRPr sz="2800">
              <a:latin typeface="Calibri"/>
              <a:ea typeface="Calibri"/>
              <a:cs typeface="Calibri"/>
              <a:sym typeface="Calibri"/>
            </a:endParaRPr>
          </a:p>
        </p:txBody>
      </p:sp>
      <p:grpSp>
        <p:nvGrpSpPr>
          <p:cNvPr id="178" name="Google Shape;178;p25"/>
          <p:cNvGrpSpPr/>
          <p:nvPr/>
        </p:nvGrpSpPr>
        <p:grpSpPr>
          <a:xfrm>
            <a:off x="3512820" y="4274820"/>
            <a:ext cx="2118359" cy="2583180"/>
            <a:chOff x="3512820" y="4274820"/>
            <a:chExt cx="2118359" cy="2583180"/>
          </a:xfrm>
        </p:grpSpPr>
        <p:pic>
          <p:nvPicPr>
            <p:cNvPr id="179" name="Google Shape;179;p25"/>
            <p:cNvPicPr preferRelativeResize="0"/>
            <p:nvPr/>
          </p:nvPicPr>
          <p:blipFill rotWithShape="1">
            <a:blip r:embed="rId3">
              <a:alphaModFix/>
            </a:blip>
            <a:srcRect b="0" l="0" r="0" t="0"/>
            <a:stretch/>
          </p:blipFill>
          <p:spPr>
            <a:xfrm>
              <a:off x="3512820" y="5623560"/>
              <a:ext cx="2118359" cy="1234440"/>
            </a:xfrm>
            <a:prstGeom prst="rect">
              <a:avLst/>
            </a:prstGeom>
            <a:noFill/>
            <a:ln>
              <a:noFill/>
            </a:ln>
          </p:spPr>
        </p:pic>
        <p:pic>
          <p:nvPicPr>
            <p:cNvPr id="180" name="Google Shape;180;p25"/>
            <p:cNvPicPr preferRelativeResize="0"/>
            <p:nvPr/>
          </p:nvPicPr>
          <p:blipFill rotWithShape="1">
            <a:blip r:embed="rId4">
              <a:alphaModFix/>
            </a:blip>
            <a:srcRect b="0" l="0" r="0" t="0"/>
            <a:stretch/>
          </p:blipFill>
          <p:spPr>
            <a:xfrm>
              <a:off x="3528060" y="4274820"/>
              <a:ext cx="2087880" cy="1359408"/>
            </a:xfrm>
            <a:prstGeom prst="rect">
              <a:avLst/>
            </a:prstGeom>
            <a:noFill/>
            <a:ln>
              <a:noFill/>
            </a:ln>
          </p:spPr>
        </p:pic>
      </p:grpSp>
      <p:sp>
        <p:nvSpPr>
          <p:cNvPr id="181" name="Google Shape;181;p25"/>
          <p:cNvSpPr txBox="1"/>
          <p:nvPr/>
        </p:nvSpPr>
        <p:spPr>
          <a:xfrm>
            <a:off x="405384" y="2935223"/>
            <a:ext cx="8345805" cy="49403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95833"/>
              </a:lnSpc>
              <a:spcBef>
                <a:spcPts val="0"/>
              </a:spcBef>
              <a:spcAft>
                <a:spcPts val="0"/>
              </a:spcAft>
              <a:buNone/>
            </a:pPr>
            <a:r>
              <a:rPr b="1" lang="en-US" sz="1800">
                <a:solidFill>
                  <a:srgbClr val="4E3629"/>
                </a:solidFill>
                <a:latin typeface="Courier New"/>
                <a:ea typeface="Courier New"/>
                <a:cs typeface="Courier New"/>
                <a:sym typeface="Courier New"/>
              </a:rPr>
              <a:t>ALTER USER scott</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IDENTIFIED BY imscott35;</a:t>
            </a:r>
            <a:endParaRPr sz="1800">
              <a:latin typeface="Courier New"/>
              <a:ea typeface="Courier New"/>
              <a:cs typeface="Courier New"/>
              <a:sym typeface="Courier New"/>
            </a:endParaRPr>
          </a:p>
        </p:txBody>
      </p:sp>
      <p:sp>
        <p:nvSpPr>
          <p:cNvPr id="182" name="Google Shape;182;p25"/>
          <p:cNvSpPr txBox="1"/>
          <p:nvPr>
            <p:ph idx="10" type="dt"/>
          </p:nvPr>
        </p:nvSpPr>
        <p:spPr>
          <a:xfrm>
            <a:off x="2874191" y="6516395"/>
            <a:ext cx="1536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17-1</a:t>
            </a:r>
            <a:endParaRPr/>
          </a:p>
          <a:p>
            <a:pPr indent="0" lvl="0" marL="12700" rtl="0" algn="l">
              <a:lnSpc>
                <a:spcPct val="120624"/>
              </a:lnSpc>
              <a:spcBef>
                <a:spcPts val="0"/>
              </a:spcBef>
              <a:spcAft>
                <a:spcPts val="0"/>
              </a:spcAft>
              <a:buNone/>
            </a:pPr>
            <a:r>
              <a:rPr lang="en-US"/>
              <a:t>Control del Acceso de los Usuarios</a:t>
            </a:r>
            <a:endParaRPr/>
          </a:p>
        </p:txBody>
      </p:sp>
      <p:sp>
        <p:nvSpPr>
          <p:cNvPr id="183" name="Google Shape;183;p2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84" name="Google Shape;184;p2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6"/>
          <p:cNvSpPr txBox="1"/>
          <p:nvPr>
            <p:ph type="title"/>
          </p:nvPr>
        </p:nvSpPr>
        <p:spPr>
          <a:xfrm>
            <a:off x="392112" y="748031"/>
            <a:ext cx="6522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Privilegios del Sistema de Usuario</a:t>
            </a:r>
            <a:endParaRPr/>
          </a:p>
        </p:txBody>
      </p:sp>
      <p:sp>
        <p:nvSpPr>
          <p:cNvPr id="190" name="Google Shape;190;p26"/>
          <p:cNvSpPr txBox="1"/>
          <p:nvPr/>
        </p:nvSpPr>
        <p:spPr>
          <a:xfrm>
            <a:off x="483552" y="1415417"/>
            <a:ext cx="8171815" cy="2576195"/>
          </a:xfrm>
          <a:prstGeom prst="rect">
            <a:avLst/>
          </a:prstGeom>
          <a:noFill/>
          <a:ln>
            <a:noFill/>
          </a:ln>
        </p:spPr>
        <p:txBody>
          <a:bodyPr anchorCtr="0" anchor="t" bIns="0" lIns="0" spcFirstLastPara="1" rIns="0" wrap="square" tIns="59675">
            <a:spAutoFit/>
          </a:bodyPr>
          <a:lstStyle/>
          <a:p>
            <a:pPr indent="-177800" lvl="0" marL="182880" marR="134874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DBA utiliza la sentencia GRANT para asignar 	privilegios del sistema al usuario</a:t>
            </a:r>
            <a:endParaRPr sz="2800">
              <a:latin typeface="Calibri"/>
              <a:ea typeface="Calibri"/>
              <a:cs typeface="Calibri"/>
              <a:sym typeface="Calibri"/>
            </a:endParaRPr>
          </a:p>
          <a:p>
            <a:pPr indent="-177800" lvl="0" marL="182880" marR="706755"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Estos privilegios del sistema determinan lo que el 	usuario puede realizar en el nivel de base de datos</a:t>
            </a:r>
            <a:endParaRPr sz="2800">
              <a:latin typeface="Calibri"/>
              <a:ea typeface="Calibri"/>
              <a:cs typeface="Calibri"/>
              <a:sym typeface="Calibri"/>
            </a:endParaRPr>
          </a:p>
          <a:p>
            <a:pPr indent="-177800" lvl="0" marL="182880" marR="5080"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vez que el usuario ha otorgado los privilegios, el 	usuario puede utilizar estos privilegios inmediatamente</a:t>
            </a:r>
            <a:endParaRPr sz="2800">
              <a:latin typeface="Calibri"/>
              <a:ea typeface="Calibri"/>
              <a:cs typeface="Calibri"/>
              <a:sym typeface="Calibri"/>
            </a:endParaRPr>
          </a:p>
        </p:txBody>
      </p:sp>
      <p:sp>
        <p:nvSpPr>
          <p:cNvPr id="191" name="Google Shape;191;p26"/>
          <p:cNvSpPr txBox="1"/>
          <p:nvPr/>
        </p:nvSpPr>
        <p:spPr>
          <a:xfrm>
            <a:off x="405384" y="4133088"/>
            <a:ext cx="8345805" cy="49530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96388"/>
              </a:lnSpc>
              <a:spcBef>
                <a:spcPts val="0"/>
              </a:spcBef>
              <a:spcAft>
                <a:spcPts val="0"/>
              </a:spcAft>
              <a:buNone/>
            </a:pPr>
            <a:r>
              <a:rPr b="1" lang="en-US" sz="1800">
                <a:solidFill>
                  <a:srgbClr val="4E3629"/>
                </a:solidFill>
                <a:latin typeface="Courier New"/>
                <a:ea typeface="Courier New"/>
                <a:cs typeface="Courier New"/>
                <a:sym typeface="Courier New"/>
              </a:rPr>
              <a:t>GRANT privilege [, privilege...]</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TO user [, user| role, PUBLIC...];</a:t>
            </a:r>
            <a:endParaRPr sz="1800">
              <a:latin typeface="Courier New"/>
              <a:ea typeface="Courier New"/>
              <a:cs typeface="Courier New"/>
              <a:sym typeface="Courier New"/>
            </a:endParaRPr>
          </a:p>
        </p:txBody>
      </p:sp>
      <p:sp>
        <p:nvSpPr>
          <p:cNvPr id="192" name="Google Shape;192;p26"/>
          <p:cNvSpPr/>
          <p:nvPr/>
        </p:nvSpPr>
        <p:spPr>
          <a:xfrm>
            <a:off x="399288" y="4904232"/>
            <a:ext cx="8345805" cy="932815"/>
          </a:xfrm>
          <a:custGeom>
            <a:rect b="b" l="l" r="r" t="t"/>
            <a:pathLst>
              <a:path extrusionOk="0" h="932814" w="8345805">
                <a:moveTo>
                  <a:pt x="8345424" y="0"/>
                </a:moveTo>
                <a:lnTo>
                  <a:pt x="0" y="0"/>
                </a:lnTo>
                <a:lnTo>
                  <a:pt x="0" y="932688"/>
                </a:lnTo>
                <a:lnTo>
                  <a:pt x="8345424" y="932688"/>
                </a:lnTo>
                <a:lnTo>
                  <a:pt x="8345424" y="0"/>
                </a:lnTo>
                <a:close/>
              </a:path>
            </a:pathLst>
          </a:custGeom>
          <a:solidFill>
            <a:srgbClr val="9DBDC4">
              <a:alpha val="4980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3" name="Google Shape;193;p26"/>
          <p:cNvSpPr txBox="1"/>
          <p:nvPr/>
        </p:nvSpPr>
        <p:spPr>
          <a:xfrm>
            <a:off x="399002" y="4918765"/>
            <a:ext cx="8202930" cy="848360"/>
          </a:xfrm>
          <a:prstGeom prst="rect">
            <a:avLst/>
          </a:prstGeom>
          <a:noFill/>
          <a:ln>
            <a:noFill/>
          </a:ln>
        </p:spPr>
        <p:txBody>
          <a:bodyPr anchorCtr="0" anchor="t" bIns="0" lIns="0" spcFirstLastPara="1" rIns="0" wrap="square" tIns="12700">
            <a:spAutoFit/>
          </a:bodyPr>
          <a:lstStyle/>
          <a:p>
            <a:pPr indent="0" lvl="0" marL="0" marR="508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GRANT	create session, create table, create sequence, create view</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TO scott;</a:t>
            </a:r>
            <a:endParaRPr sz="1800">
              <a:latin typeface="Courier New"/>
              <a:ea typeface="Courier New"/>
              <a:cs typeface="Courier New"/>
              <a:sym typeface="Courier New"/>
            </a:endParaRPr>
          </a:p>
        </p:txBody>
      </p:sp>
      <p:sp>
        <p:nvSpPr>
          <p:cNvPr id="194" name="Google Shape;194;p26"/>
          <p:cNvSpPr txBox="1"/>
          <p:nvPr>
            <p:ph idx="10" type="dt"/>
          </p:nvPr>
        </p:nvSpPr>
        <p:spPr>
          <a:xfrm>
            <a:off x="2874191" y="6516395"/>
            <a:ext cx="1536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17-1</a:t>
            </a:r>
            <a:endParaRPr/>
          </a:p>
          <a:p>
            <a:pPr indent="0" lvl="0" marL="12700" rtl="0" algn="l">
              <a:lnSpc>
                <a:spcPct val="120624"/>
              </a:lnSpc>
              <a:spcBef>
                <a:spcPts val="0"/>
              </a:spcBef>
              <a:spcAft>
                <a:spcPts val="0"/>
              </a:spcAft>
              <a:buNone/>
            </a:pPr>
            <a:r>
              <a:rPr lang="en-US"/>
              <a:t>Control del Acceso de los Usuarios</a:t>
            </a:r>
            <a:endParaRPr/>
          </a:p>
        </p:txBody>
      </p:sp>
      <p:sp>
        <p:nvSpPr>
          <p:cNvPr id="195" name="Google Shape;195;p2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96" name="Google Shape;196;p2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7"/>
          <p:cNvSpPr txBox="1"/>
          <p:nvPr>
            <p:ph type="title"/>
          </p:nvPr>
        </p:nvSpPr>
        <p:spPr>
          <a:xfrm>
            <a:off x="392112" y="748031"/>
            <a:ext cx="6522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Privilegios del Sistema de Usuario</a:t>
            </a:r>
            <a:endParaRPr/>
          </a:p>
        </p:txBody>
      </p:sp>
      <p:sp>
        <p:nvSpPr>
          <p:cNvPr id="202" name="Google Shape;202;p27"/>
          <p:cNvSpPr txBox="1"/>
          <p:nvPr>
            <p:ph idx="10" type="dt"/>
          </p:nvPr>
        </p:nvSpPr>
        <p:spPr>
          <a:xfrm>
            <a:off x="2874191" y="6516395"/>
            <a:ext cx="1536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17-1</a:t>
            </a:r>
            <a:endParaRPr/>
          </a:p>
          <a:p>
            <a:pPr indent="0" lvl="0" marL="12700" rtl="0" algn="l">
              <a:lnSpc>
                <a:spcPct val="120624"/>
              </a:lnSpc>
              <a:spcBef>
                <a:spcPts val="0"/>
              </a:spcBef>
              <a:spcAft>
                <a:spcPts val="0"/>
              </a:spcAft>
              <a:buNone/>
            </a:pPr>
            <a:r>
              <a:rPr lang="en-US"/>
              <a:t>Control del Acceso de los Usuarios</a:t>
            </a:r>
            <a:endParaRPr/>
          </a:p>
        </p:txBody>
      </p:sp>
      <p:sp>
        <p:nvSpPr>
          <p:cNvPr id="203" name="Google Shape;203;p2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04" name="Google Shape;204;p2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05" name="Google Shape;205;p27"/>
          <p:cNvSpPr txBox="1"/>
          <p:nvPr/>
        </p:nvSpPr>
        <p:spPr>
          <a:xfrm>
            <a:off x="483552" y="1415417"/>
            <a:ext cx="7995920" cy="247459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 usuario debe tener un privilegio CREATE SESSION y 	un identificador de usuario si debe poder acceder a 	una base de datos</a:t>
            </a:r>
            <a:endParaRPr sz="2800">
              <a:latin typeface="Calibri"/>
              <a:ea typeface="Calibri"/>
              <a:cs typeface="Calibri"/>
              <a:sym typeface="Calibri"/>
            </a:endParaRPr>
          </a:p>
          <a:p>
            <a:pPr indent="-177800" lvl="0" marL="182880" marR="13589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No puede emitir el comando CREATE SESSION en 	Oracle Application Express; esto se produce de forma 	automática en segundo plano</a:t>
            </a:r>
            <a:endParaRPr sz="2800">
              <a:latin typeface="Calibri"/>
              <a:ea typeface="Calibri"/>
              <a:cs typeface="Calibri"/>
              <a:sym typeface="Calibri"/>
            </a:endParaRPr>
          </a:p>
        </p:txBody>
      </p:sp>
      <p:graphicFrame>
        <p:nvGraphicFramePr>
          <p:cNvPr id="206" name="Google Shape;206;p27"/>
          <p:cNvGraphicFramePr/>
          <p:nvPr/>
        </p:nvGraphicFramePr>
        <p:xfrm>
          <a:off x="798515" y="3881649"/>
          <a:ext cx="3000000" cy="3000000"/>
        </p:xfrm>
        <a:graphic>
          <a:graphicData uri="http://schemas.openxmlformats.org/drawingml/2006/table">
            <a:tbl>
              <a:tblPr bandRow="1" firstRow="1">
                <a:noFill/>
                <a:tableStyleId>{1A59D6E8-2001-4B59-B43F-F63A19415E12}</a:tableStyleId>
              </a:tblPr>
              <a:tblGrid>
                <a:gridCol w="2123450"/>
                <a:gridCol w="5475600"/>
              </a:tblGrid>
              <a:tr h="334650">
                <a:tc>
                  <a:txBody>
                    <a:bodyPr/>
                    <a:lstStyle/>
                    <a:p>
                      <a:pPr indent="0" lvl="0" marL="9080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Privilegio del Sistema</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Operaciones Autorizadas</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34650">
                <a:tc>
                  <a:txBody>
                    <a:bodyPr/>
                    <a:lstStyle/>
                    <a:p>
                      <a:pPr indent="0" lvl="0" marL="9080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CREATE SESSION</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Conectar a la base de datos.</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34650">
                <a:tc>
                  <a:txBody>
                    <a:bodyPr/>
                    <a:lstStyle/>
                    <a:p>
                      <a:pPr indent="0" lvl="0" marL="9080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CREATE TABLE</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Crear tablas en el esquema del usuario.</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34650">
                <a:tc>
                  <a:txBody>
                    <a:bodyPr/>
                    <a:lstStyle/>
                    <a:p>
                      <a:pPr indent="0" lvl="0" marL="9080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CREATE SEQUENCE</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Crear una secuencia en el esquema del usuario.</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34650">
                <a:tc>
                  <a:txBody>
                    <a:bodyPr/>
                    <a:lstStyle/>
                    <a:p>
                      <a:pPr indent="0" lvl="0" marL="9080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CREATE VIEW</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Crear una vista en el esquema del usuario.</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578475">
                <a:tc>
                  <a:txBody>
                    <a:bodyPr/>
                    <a:lstStyle/>
                    <a:p>
                      <a:pPr indent="0" lvl="0" marL="9080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CREATE PROCEDURE</a:t>
                      </a:r>
                      <a:endParaRPr sz="1600" u="none" cap="none" strike="noStrike">
                        <a:latin typeface="Calibri"/>
                        <a:ea typeface="Calibri"/>
                        <a:cs typeface="Calibri"/>
                        <a:sym typeface="Calibri"/>
                      </a:endParaRPr>
                    </a:p>
                  </a:txBody>
                  <a:tcPr marT="1562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264160" rtl="0" algn="l">
                        <a:lnSpc>
                          <a:spcPct val="100699"/>
                        </a:lnSpc>
                        <a:spcBef>
                          <a:spcPts val="0"/>
                        </a:spcBef>
                        <a:spcAft>
                          <a:spcPts val="0"/>
                        </a:spcAft>
                        <a:buNone/>
                      </a:pPr>
                      <a:r>
                        <a:rPr lang="en-US" sz="1600" u="none" cap="none" strike="noStrike">
                          <a:solidFill>
                            <a:srgbClr val="4E3629"/>
                          </a:solidFill>
                          <a:latin typeface="Calibri"/>
                          <a:ea typeface="Calibri"/>
                          <a:cs typeface="Calibri"/>
                          <a:sym typeface="Calibri"/>
                        </a:rPr>
                        <a:t>Crear un paquete, función o procedimiento en el esquema del usuario.</a:t>
                      </a:r>
                      <a:endParaRPr sz="1600" u="none" cap="none" strike="noStrike">
                        <a:latin typeface="Calibri"/>
                        <a:ea typeface="Calibri"/>
                        <a:cs typeface="Calibri"/>
                        <a:sym typeface="Calibri"/>
                      </a:endParaRPr>
                    </a:p>
                  </a:txBody>
                  <a:tcPr marT="3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8"/>
          <p:cNvSpPr txBox="1"/>
          <p:nvPr>
            <p:ph type="title"/>
          </p:nvPr>
        </p:nvSpPr>
        <p:spPr>
          <a:xfrm>
            <a:off x="392112" y="748031"/>
            <a:ext cx="6522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Seguridad de Objetos</a:t>
            </a:r>
            <a:endParaRPr/>
          </a:p>
        </p:txBody>
      </p:sp>
      <p:sp>
        <p:nvSpPr>
          <p:cNvPr id="212" name="Google Shape;212;p28"/>
          <p:cNvSpPr txBox="1"/>
          <p:nvPr/>
        </p:nvSpPr>
        <p:spPr>
          <a:xfrm>
            <a:off x="483552" y="1415417"/>
            <a:ext cx="8049895" cy="12204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Este nivel de seguridad abarca el acceso y el uso de los 	objetos de la base de datos así como las acciones que 	los usuarios puedan realizar en dichos objetos</a:t>
            </a:r>
            <a:endParaRPr sz="2800">
              <a:latin typeface="Calibri"/>
              <a:ea typeface="Calibri"/>
              <a:cs typeface="Calibri"/>
              <a:sym typeface="Calibri"/>
            </a:endParaRPr>
          </a:p>
        </p:txBody>
      </p:sp>
      <p:grpSp>
        <p:nvGrpSpPr>
          <p:cNvPr id="213" name="Google Shape;213;p28"/>
          <p:cNvGrpSpPr/>
          <p:nvPr/>
        </p:nvGrpSpPr>
        <p:grpSpPr>
          <a:xfrm>
            <a:off x="2907792" y="3000755"/>
            <a:ext cx="3328415" cy="3857244"/>
            <a:chOff x="2907792" y="3000755"/>
            <a:chExt cx="3328415" cy="3857244"/>
          </a:xfrm>
        </p:grpSpPr>
        <p:pic>
          <p:nvPicPr>
            <p:cNvPr id="214" name="Google Shape;214;p28"/>
            <p:cNvPicPr preferRelativeResize="0"/>
            <p:nvPr/>
          </p:nvPicPr>
          <p:blipFill rotWithShape="1">
            <a:blip r:embed="rId3">
              <a:alphaModFix/>
            </a:blip>
            <a:srcRect b="0" l="0" r="0" t="0"/>
            <a:stretch/>
          </p:blipFill>
          <p:spPr>
            <a:xfrm>
              <a:off x="2907792" y="5134355"/>
              <a:ext cx="3328415" cy="1723644"/>
            </a:xfrm>
            <a:prstGeom prst="rect">
              <a:avLst/>
            </a:prstGeom>
            <a:noFill/>
            <a:ln>
              <a:noFill/>
            </a:ln>
          </p:spPr>
        </p:pic>
        <p:pic>
          <p:nvPicPr>
            <p:cNvPr id="215" name="Google Shape;215;p28"/>
            <p:cNvPicPr preferRelativeResize="0"/>
            <p:nvPr/>
          </p:nvPicPr>
          <p:blipFill rotWithShape="1">
            <a:blip r:embed="rId4">
              <a:alphaModFix/>
            </a:blip>
            <a:srcRect b="0" l="0" r="0" t="0"/>
            <a:stretch/>
          </p:blipFill>
          <p:spPr>
            <a:xfrm>
              <a:off x="2923032" y="3000755"/>
              <a:ext cx="3297936" cy="2144270"/>
            </a:xfrm>
            <a:prstGeom prst="rect">
              <a:avLst/>
            </a:prstGeom>
            <a:noFill/>
            <a:ln>
              <a:noFill/>
            </a:ln>
          </p:spPr>
        </p:pic>
      </p:grpSp>
      <p:sp>
        <p:nvSpPr>
          <p:cNvPr id="216" name="Google Shape;216;p28"/>
          <p:cNvSpPr txBox="1"/>
          <p:nvPr>
            <p:ph idx="10" type="dt"/>
          </p:nvPr>
        </p:nvSpPr>
        <p:spPr>
          <a:xfrm>
            <a:off x="2874191" y="6516395"/>
            <a:ext cx="1536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17-1</a:t>
            </a:r>
            <a:endParaRPr/>
          </a:p>
          <a:p>
            <a:pPr indent="0" lvl="0" marL="12700" rtl="0" algn="l">
              <a:lnSpc>
                <a:spcPct val="120624"/>
              </a:lnSpc>
              <a:spcBef>
                <a:spcPts val="0"/>
              </a:spcBef>
              <a:spcAft>
                <a:spcPts val="0"/>
              </a:spcAft>
              <a:buNone/>
            </a:pPr>
            <a:r>
              <a:rPr lang="en-US"/>
              <a:t>Control del Acceso de los Usuarios</a:t>
            </a:r>
            <a:endParaRPr/>
          </a:p>
        </p:txBody>
      </p:sp>
      <p:sp>
        <p:nvSpPr>
          <p:cNvPr id="217" name="Google Shape;217;p2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18" name="Google Shape;218;p2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9"/>
          <p:cNvSpPr txBox="1"/>
          <p:nvPr>
            <p:ph type="title"/>
          </p:nvPr>
        </p:nvSpPr>
        <p:spPr>
          <a:xfrm>
            <a:off x="392112" y="748031"/>
            <a:ext cx="6522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Privilegios de Objeto</a:t>
            </a:r>
            <a:endParaRPr/>
          </a:p>
        </p:txBody>
      </p:sp>
      <p:sp>
        <p:nvSpPr>
          <p:cNvPr id="224" name="Google Shape;224;p29"/>
          <p:cNvSpPr txBox="1"/>
          <p:nvPr>
            <p:ph idx="10" type="dt"/>
          </p:nvPr>
        </p:nvSpPr>
        <p:spPr>
          <a:xfrm>
            <a:off x="2874191" y="6516395"/>
            <a:ext cx="1536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17-1</a:t>
            </a:r>
            <a:endParaRPr/>
          </a:p>
          <a:p>
            <a:pPr indent="0" lvl="0" marL="12700" rtl="0" algn="l">
              <a:lnSpc>
                <a:spcPct val="120624"/>
              </a:lnSpc>
              <a:spcBef>
                <a:spcPts val="0"/>
              </a:spcBef>
              <a:spcAft>
                <a:spcPts val="0"/>
              </a:spcAft>
              <a:buNone/>
            </a:pPr>
            <a:r>
              <a:rPr lang="en-US"/>
              <a:t>Control del Acceso de los Usuarios</a:t>
            </a:r>
            <a:endParaRPr/>
          </a:p>
        </p:txBody>
      </p:sp>
      <p:sp>
        <p:nvSpPr>
          <p:cNvPr id="225" name="Google Shape;225;p2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26" name="Google Shape;226;p2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27" name="Google Shape;227;p29"/>
          <p:cNvSpPr txBox="1"/>
          <p:nvPr/>
        </p:nvSpPr>
        <p:spPr>
          <a:xfrm>
            <a:off x="483552" y="1415417"/>
            <a:ext cx="8034655" cy="17062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Cada objeto tiene un juego determinado de privilegios 	que se pueden otorgar</a:t>
            </a:r>
            <a:endParaRPr sz="2800">
              <a:latin typeface="Calibri"/>
              <a:ea typeface="Calibri"/>
              <a:cs typeface="Calibri"/>
              <a:sym typeface="Calibri"/>
            </a:endParaRPr>
          </a:p>
          <a:p>
            <a:pPr indent="-177800" lvl="0" marL="182880" marR="34290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la tabla siguiente se muestran los privilegios para 	varios objetos</a:t>
            </a:r>
            <a:endParaRPr sz="2800">
              <a:latin typeface="Calibri"/>
              <a:ea typeface="Calibri"/>
              <a:cs typeface="Calibri"/>
              <a:sym typeface="Calibri"/>
            </a:endParaRPr>
          </a:p>
        </p:txBody>
      </p:sp>
      <p:graphicFrame>
        <p:nvGraphicFramePr>
          <p:cNvPr id="228" name="Google Shape;228;p29"/>
          <p:cNvGraphicFramePr/>
          <p:nvPr/>
        </p:nvGraphicFramePr>
        <p:xfrm>
          <a:off x="797011" y="3247358"/>
          <a:ext cx="3000000" cy="3000000"/>
        </p:xfrm>
        <a:graphic>
          <a:graphicData uri="http://schemas.openxmlformats.org/drawingml/2006/table">
            <a:tbl>
              <a:tblPr bandRow="1" firstRow="1">
                <a:noFill/>
                <a:tableStyleId>{1A59D6E8-2001-4B59-B43F-F63A19415E12}</a:tableStyleId>
              </a:tblPr>
              <a:tblGrid>
                <a:gridCol w="1994525"/>
                <a:gridCol w="1290950"/>
                <a:gridCol w="1299850"/>
                <a:gridCol w="1299850"/>
                <a:gridCol w="1652900"/>
              </a:tblGrid>
              <a:tr h="298450">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Privilegio de Objeto</a:t>
                      </a:r>
                      <a:endParaRPr sz="1600" u="none" cap="none" strike="noStrike">
                        <a:latin typeface="Calibri"/>
                        <a:ea typeface="Calibri"/>
                        <a:cs typeface="Calibri"/>
                        <a:sym typeface="Calibri"/>
                      </a:endParaRPr>
                    </a:p>
                  </a:txBody>
                  <a:tcPr marT="15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Tabla</a:t>
                      </a:r>
                      <a:endParaRPr sz="1600" u="none" cap="none" strike="noStrike">
                        <a:latin typeface="Calibri"/>
                        <a:ea typeface="Calibri"/>
                        <a:cs typeface="Calibri"/>
                        <a:sym typeface="Calibri"/>
                      </a:endParaRPr>
                    </a:p>
                  </a:txBody>
                  <a:tcPr marT="15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Ver</a:t>
                      </a:r>
                      <a:endParaRPr sz="1600" u="none" cap="none" strike="noStrike">
                        <a:latin typeface="Calibri"/>
                        <a:ea typeface="Calibri"/>
                        <a:cs typeface="Calibri"/>
                        <a:sym typeface="Calibri"/>
                      </a:endParaRPr>
                    </a:p>
                  </a:txBody>
                  <a:tcPr marT="15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Secuencia</a:t>
                      </a:r>
                      <a:endParaRPr sz="1600" u="none" cap="none" strike="noStrike">
                        <a:latin typeface="Calibri"/>
                        <a:ea typeface="Calibri"/>
                        <a:cs typeface="Calibri"/>
                        <a:sym typeface="Calibri"/>
                      </a:endParaRPr>
                    </a:p>
                  </a:txBody>
                  <a:tcPr marT="15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Procedimiento</a:t>
                      </a:r>
                      <a:endParaRPr sz="1600" u="none" cap="none" strike="noStrike">
                        <a:latin typeface="Calibri"/>
                        <a:ea typeface="Calibri"/>
                        <a:cs typeface="Calibri"/>
                        <a:sym typeface="Calibri"/>
                      </a:endParaRPr>
                    </a:p>
                  </a:txBody>
                  <a:tcPr marT="15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984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ALTER</a:t>
                      </a:r>
                      <a:endParaRPr sz="1600" u="none" cap="none" strike="noStrike">
                        <a:latin typeface="Calibri"/>
                        <a:ea typeface="Calibri"/>
                        <a:cs typeface="Calibri"/>
                        <a:sym typeface="Calibri"/>
                      </a:endParaRPr>
                    </a:p>
                  </a:txBody>
                  <a:tcPr marT="16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554990" rtl="0" algn="r">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X</a:t>
                      </a:r>
                      <a:endParaRPr sz="1600" u="none" cap="none" strike="noStrike">
                        <a:latin typeface="Calibri"/>
                        <a:ea typeface="Calibri"/>
                        <a:cs typeface="Calibri"/>
                        <a:sym typeface="Calibri"/>
                      </a:endParaRPr>
                    </a:p>
                  </a:txBody>
                  <a:tcPr marT="16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9690" marR="0" rtl="0" algn="ctr">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X</a:t>
                      </a:r>
                      <a:endParaRPr sz="1600" u="none" cap="none" strike="noStrike">
                        <a:latin typeface="Calibri"/>
                        <a:ea typeface="Calibri"/>
                        <a:cs typeface="Calibri"/>
                        <a:sym typeface="Calibri"/>
                      </a:endParaRPr>
                    </a:p>
                  </a:txBody>
                  <a:tcPr marT="16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84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DELETE</a:t>
                      </a:r>
                      <a:endParaRPr sz="1600" u="none" cap="none" strike="noStrike">
                        <a:latin typeface="Calibri"/>
                        <a:ea typeface="Calibri"/>
                        <a:cs typeface="Calibri"/>
                        <a:sym typeface="Calibri"/>
                      </a:endParaRPr>
                    </a:p>
                  </a:txBody>
                  <a:tcPr marT="16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554990" rtl="0" algn="r">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X</a:t>
                      </a:r>
                      <a:endParaRPr sz="1600" u="none" cap="none" strike="noStrike">
                        <a:latin typeface="Calibri"/>
                        <a:ea typeface="Calibri"/>
                        <a:cs typeface="Calibri"/>
                        <a:sym typeface="Calibri"/>
                      </a:endParaRPr>
                    </a:p>
                  </a:txBody>
                  <a:tcPr marT="16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559435" rtl="0" algn="r">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X</a:t>
                      </a:r>
                      <a:endParaRPr sz="1600" u="none" cap="none" strike="noStrike">
                        <a:latin typeface="Calibri"/>
                        <a:ea typeface="Calibri"/>
                        <a:cs typeface="Calibri"/>
                        <a:sym typeface="Calibri"/>
                      </a:endParaRPr>
                    </a:p>
                  </a:txBody>
                  <a:tcPr marT="16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84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EXECUTE</a:t>
                      </a:r>
                      <a:endParaRPr sz="1600" u="none" cap="none" strike="noStrike">
                        <a:latin typeface="Calibri"/>
                        <a:ea typeface="Calibri"/>
                        <a:cs typeface="Calibri"/>
                        <a:sym typeface="Calibri"/>
                      </a:endParaRPr>
                    </a:p>
                  </a:txBody>
                  <a:tcPr marT="16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7150" marR="0" rtl="0" algn="ctr">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X</a:t>
                      </a:r>
                      <a:endParaRPr sz="1600" u="none" cap="none" strike="noStrike">
                        <a:latin typeface="Calibri"/>
                        <a:ea typeface="Calibri"/>
                        <a:cs typeface="Calibri"/>
                        <a:sym typeface="Calibri"/>
                      </a:endParaRPr>
                    </a:p>
                  </a:txBody>
                  <a:tcPr marT="16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84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INDEX</a:t>
                      </a:r>
                      <a:endParaRPr sz="1600" u="none" cap="none" strike="noStrike">
                        <a:latin typeface="Calibri"/>
                        <a:ea typeface="Calibri"/>
                        <a:cs typeface="Calibri"/>
                        <a:sym typeface="Calibri"/>
                      </a:endParaRPr>
                    </a:p>
                  </a:txBody>
                  <a:tcPr marT="16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554990" rtl="0" algn="r">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X</a:t>
                      </a:r>
                      <a:endParaRPr sz="1600" u="none" cap="none" strike="noStrike">
                        <a:latin typeface="Calibri"/>
                        <a:ea typeface="Calibri"/>
                        <a:cs typeface="Calibri"/>
                        <a:sym typeface="Calibri"/>
                      </a:endParaRPr>
                    </a:p>
                  </a:txBody>
                  <a:tcPr marT="16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559435" rtl="0" algn="r">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X</a:t>
                      </a:r>
                      <a:endParaRPr sz="1600" u="none" cap="none" strike="noStrike">
                        <a:latin typeface="Calibri"/>
                        <a:ea typeface="Calibri"/>
                        <a:cs typeface="Calibri"/>
                        <a:sym typeface="Calibri"/>
                      </a:endParaRPr>
                    </a:p>
                  </a:txBody>
                  <a:tcPr marT="16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84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INSERT</a:t>
                      </a:r>
                      <a:endParaRPr sz="1600" u="none" cap="none" strike="noStrike">
                        <a:latin typeface="Calibri"/>
                        <a:ea typeface="Calibri"/>
                        <a:cs typeface="Calibri"/>
                        <a:sym typeface="Calibri"/>
                      </a:endParaRPr>
                    </a:p>
                  </a:txBody>
                  <a:tcPr marT="16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554990" rtl="0" algn="r">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X</a:t>
                      </a:r>
                      <a:endParaRPr sz="1600" u="none" cap="none" strike="noStrike">
                        <a:latin typeface="Calibri"/>
                        <a:ea typeface="Calibri"/>
                        <a:cs typeface="Calibri"/>
                        <a:sym typeface="Calibri"/>
                      </a:endParaRPr>
                    </a:p>
                  </a:txBody>
                  <a:tcPr marT="16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560070" rtl="0" algn="r">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X</a:t>
                      </a:r>
                      <a:endParaRPr sz="1600" u="none" cap="none" strike="noStrike">
                        <a:latin typeface="Calibri"/>
                        <a:ea typeface="Calibri"/>
                        <a:cs typeface="Calibri"/>
                        <a:sym typeface="Calibri"/>
                      </a:endParaRPr>
                    </a:p>
                  </a:txBody>
                  <a:tcPr marT="16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8450">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REFERENCES</a:t>
                      </a:r>
                      <a:endParaRPr sz="1600" u="none" cap="none" strike="noStrike">
                        <a:latin typeface="Calibri"/>
                        <a:ea typeface="Calibri"/>
                        <a:cs typeface="Calibri"/>
                        <a:sym typeface="Calibri"/>
                      </a:endParaRPr>
                    </a:p>
                  </a:txBody>
                  <a:tcPr marT="16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555625" rtl="0" algn="r">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X</a:t>
                      </a:r>
                      <a:endParaRPr sz="1600" u="none" cap="none" strike="noStrike">
                        <a:latin typeface="Calibri"/>
                        <a:ea typeface="Calibri"/>
                        <a:cs typeface="Calibri"/>
                        <a:sym typeface="Calibri"/>
                      </a:endParaRPr>
                    </a:p>
                  </a:txBody>
                  <a:tcPr marT="16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8450">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SELECT</a:t>
                      </a:r>
                      <a:endParaRPr sz="1600" u="none" cap="none" strike="noStrike">
                        <a:latin typeface="Calibri"/>
                        <a:ea typeface="Calibri"/>
                        <a:cs typeface="Calibri"/>
                        <a:sym typeface="Calibri"/>
                      </a:endParaRPr>
                    </a:p>
                  </a:txBody>
                  <a:tcPr marT="16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555625" rtl="0" algn="r">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X</a:t>
                      </a:r>
                      <a:endParaRPr sz="1600" u="none" cap="none" strike="noStrike">
                        <a:latin typeface="Calibri"/>
                        <a:ea typeface="Calibri"/>
                        <a:cs typeface="Calibri"/>
                        <a:sym typeface="Calibri"/>
                      </a:endParaRPr>
                    </a:p>
                  </a:txBody>
                  <a:tcPr marT="16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560070" rtl="0" algn="r">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X</a:t>
                      </a:r>
                      <a:endParaRPr sz="1600" u="none" cap="none" strike="noStrike">
                        <a:latin typeface="Calibri"/>
                        <a:ea typeface="Calibri"/>
                        <a:cs typeface="Calibri"/>
                        <a:sym typeface="Calibri"/>
                      </a:endParaRPr>
                    </a:p>
                  </a:txBody>
                  <a:tcPr marT="16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58419" marR="0" rtl="0" algn="ctr">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X</a:t>
                      </a:r>
                      <a:endParaRPr sz="1600" u="none" cap="none" strike="noStrike">
                        <a:latin typeface="Calibri"/>
                        <a:ea typeface="Calibri"/>
                        <a:cs typeface="Calibri"/>
                        <a:sym typeface="Calibri"/>
                      </a:endParaRPr>
                    </a:p>
                  </a:txBody>
                  <a:tcPr marT="16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98450">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UPDATE</a:t>
                      </a:r>
                      <a:endParaRPr sz="1600" u="none" cap="none" strike="noStrike">
                        <a:latin typeface="Calibri"/>
                        <a:ea typeface="Calibri"/>
                        <a:cs typeface="Calibri"/>
                        <a:sym typeface="Calibri"/>
                      </a:endParaRPr>
                    </a:p>
                  </a:txBody>
                  <a:tcPr marT="17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555625" rtl="0" algn="r">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X</a:t>
                      </a:r>
                      <a:endParaRPr sz="1600" u="none" cap="none" strike="noStrike">
                        <a:latin typeface="Calibri"/>
                        <a:ea typeface="Calibri"/>
                        <a:cs typeface="Calibri"/>
                        <a:sym typeface="Calibri"/>
                      </a:endParaRPr>
                    </a:p>
                  </a:txBody>
                  <a:tcPr marT="17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560070" rtl="0" algn="r">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X</a:t>
                      </a:r>
                      <a:endParaRPr sz="1600" u="none" cap="none" strike="noStrike">
                        <a:latin typeface="Calibri"/>
                        <a:ea typeface="Calibri"/>
                        <a:cs typeface="Calibri"/>
                        <a:sym typeface="Calibri"/>
                      </a:endParaRPr>
                    </a:p>
                  </a:txBody>
                  <a:tcPr marT="17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type="title"/>
          </p:nvPr>
        </p:nvSpPr>
        <p:spPr>
          <a:xfrm>
            <a:off x="392112" y="748031"/>
            <a:ext cx="6522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Privilegios de Objeto</a:t>
            </a:r>
            <a:endParaRPr/>
          </a:p>
        </p:txBody>
      </p:sp>
      <p:sp>
        <p:nvSpPr>
          <p:cNvPr id="234" name="Google Shape;234;p30"/>
          <p:cNvSpPr txBox="1"/>
          <p:nvPr>
            <p:ph idx="10" type="dt"/>
          </p:nvPr>
        </p:nvSpPr>
        <p:spPr>
          <a:xfrm>
            <a:off x="2874191" y="6516395"/>
            <a:ext cx="1536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17-1</a:t>
            </a:r>
            <a:endParaRPr/>
          </a:p>
          <a:p>
            <a:pPr indent="0" lvl="0" marL="12700" rtl="0" algn="l">
              <a:lnSpc>
                <a:spcPct val="120624"/>
              </a:lnSpc>
              <a:spcBef>
                <a:spcPts val="0"/>
              </a:spcBef>
              <a:spcAft>
                <a:spcPts val="0"/>
              </a:spcAft>
              <a:buNone/>
            </a:pPr>
            <a:r>
              <a:rPr lang="en-US"/>
              <a:t>Control del Acceso de los Usuarios</a:t>
            </a:r>
            <a:endParaRPr/>
          </a:p>
        </p:txBody>
      </p:sp>
      <p:sp>
        <p:nvSpPr>
          <p:cNvPr id="235" name="Google Shape;235;p3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36" name="Google Shape;236;p3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37" name="Google Shape;237;p30"/>
          <p:cNvSpPr txBox="1"/>
          <p:nvPr/>
        </p:nvSpPr>
        <p:spPr>
          <a:xfrm>
            <a:off x="483552" y="1415417"/>
            <a:ext cx="8010525" cy="2966720"/>
          </a:xfrm>
          <a:prstGeom prst="rect">
            <a:avLst/>
          </a:prstGeom>
          <a:noFill/>
          <a:ln>
            <a:noFill/>
          </a:ln>
        </p:spPr>
        <p:txBody>
          <a:bodyPr anchorCtr="0" anchor="t" bIns="0" lIns="0" spcFirstLastPara="1" rIns="0" wrap="square" tIns="59675">
            <a:spAutoFit/>
          </a:bodyPr>
          <a:lstStyle/>
          <a:p>
            <a:pPr indent="-177800" lvl="0" marL="182880" marR="40576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 importante tener en cuenta los siguientes cuatro 	puntos sobre los privilegios de objeto:</a:t>
            </a:r>
            <a:endParaRPr sz="2800">
              <a:latin typeface="Calibri"/>
              <a:ea typeface="Calibri"/>
              <a:cs typeface="Calibri"/>
              <a:sym typeface="Calibri"/>
            </a:endParaRPr>
          </a:p>
          <a:p>
            <a:pPr indent="-175260" lvl="0" marL="530860" marR="501015" rtl="0" algn="l">
              <a:lnSpc>
                <a:spcPct val="107916"/>
              </a:lnSpc>
              <a:spcBef>
                <a:spcPts val="42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Los únicos privilegios que se aplican a una secuencia son SELECT y ALTER</a:t>
            </a:r>
            <a:endParaRPr sz="2400">
              <a:latin typeface="Calibri"/>
              <a:ea typeface="Calibri"/>
              <a:cs typeface="Calibri"/>
              <a:sym typeface="Calibri"/>
            </a:endParaRPr>
          </a:p>
          <a:p>
            <a:pPr indent="-175260" lvl="0" marL="530860" marR="234315"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Recuerde que una secuencia utiliza ALTER para cambiar las opciones INCREMENT, MAXVALUE, CACHE/NOCACHE o CYCLE/NOCYCLE</a:t>
            </a:r>
            <a:endParaRPr sz="2400">
              <a:latin typeface="Calibri"/>
              <a:ea typeface="Calibri"/>
              <a:cs typeface="Calibri"/>
              <a:sym typeface="Calibri"/>
            </a:endParaRPr>
          </a:p>
          <a:p>
            <a:pPr indent="0" lvl="0" marL="355600" rtl="0" algn="l">
              <a:lnSpc>
                <a:spcPct val="100000"/>
              </a:lnSpc>
              <a:spcBef>
                <a:spcPts val="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La opción START WITH no se puede cambiar mediante ALTER</a:t>
            </a:r>
            <a:endParaRPr sz="2400">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1"/>
          <p:cNvSpPr txBox="1"/>
          <p:nvPr>
            <p:ph type="title"/>
          </p:nvPr>
        </p:nvSpPr>
        <p:spPr>
          <a:xfrm>
            <a:off x="392112" y="748031"/>
            <a:ext cx="6522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Privilegios de Objeto</a:t>
            </a:r>
            <a:endParaRPr/>
          </a:p>
        </p:txBody>
      </p:sp>
      <p:sp>
        <p:nvSpPr>
          <p:cNvPr id="243" name="Google Shape;243;p31"/>
          <p:cNvSpPr txBox="1"/>
          <p:nvPr/>
        </p:nvSpPr>
        <p:spPr>
          <a:xfrm>
            <a:off x="483552" y="1415417"/>
            <a:ext cx="7769859" cy="13220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Puede otorgar los privilegios UPDATE, REFERENCES e 	INSERT en columnas individuales de una tabla</a:t>
            </a:r>
            <a:endParaRPr sz="2800">
              <a:latin typeface="Calibri"/>
              <a:ea typeface="Calibri"/>
              <a:cs typeface="Calibri"/>
              <a:sym typeface="Calibri"/>
            </a:endParaRPr>
          </a:p>
          <a:p>
            <a:pPr indent="-177800" lvl="0" marL="183515"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ejemplo:</a:t>
            </a:r>
            <a:endParaRPr sz="2800">
              <a:latin typeface="Calibri"/>
              <a:ea typeface="Calibri"/>
              <a:cs typeface="Calibri"/>
              <a:sym typeface="Calibri"/>
            </a:endParaRPr>
          </a:p>
        </p:txBody>
      </p:sp>
      <p:sp>
        <p:nvSpPr>
          <p:cNvPr id="244" name="Google Shape;244;p31"/>
          <p:cNvSpPr txBox="1"/>
          <p:nvPr/>
        </p:nvSpPr>
        <p:spPr>
          <a:xfrm>
            <a:off x="483552" y="3256409"/>
            <a:ext cx="7979409" cy="17062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 privilegio SELECT se puede restringir mediante la 	creación de una vista con un subjuego y otorgamiento 	del privilegio SELECT solo en la vista</a:t>
            </a:r>
            <a:endParaRPr sz="2800">
              <a:latin typeface="Calibri"/>
              <a:ea typeface="Calibri"/>
              <a:cs typeface="Calibri"/>
              <a:sym typeface="Calibri"/>
            </a:endParaRPr>
          </a:p>
          <a:p>
            <a:pPr indent="-177800" lvl="0" marL="183515" rtl="0" algn="l">
              <a:lnSpc>
                <a:spcPct val="100000"/>
              </a:lnSpc>
              <a:spcBef>
                <a:spcPts val="409"/>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No puede otorgar SELECT en columnas individuales</a:t>
            </a:r>
            <a:endParaRPr sz="2800">
              <a:latin typeface="Calibri"/>
              <a:ea typeface="Calibri"/>
              <a:cs typeface="Calibri"/>
              <a:sym typeface="Calibri"/>
            </a:endParaRPr>
          </a:p>
        </p:txBody>
      </p:sp>
      <p:sp>
        <p:nvSpPr>
          <p:cNvPr id="245" name="Google Shape;245;p31"/>
          <p:cNvSpPr txBox="1"/>
          <p:nvPr/>
        </p:nvSpPr>
        <p:spPr>
          <a:xfrm>
            <a:off x="405384" y="2798064"/>
            <a:ext cx="8345805" cy="49403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95833"/>
              </a:lnSpc>
              <a:spcBef>
                <a:spcPts val="0"/>
              </a:spcBef>
              <a:spcAft>
                <a:spcPts val="0"/>
              </a:spcAft>
              <a:buNone/>
            </a:pPr>
            <a:r>
              <a:rPr b="1" lang="en-US" sz="1800">
                <a:solidFill>
                  <a:srgbClr val="4E3629"/>
                </a:solidFill>
                <a:latin typeface="Courier New"/>
                <a:ea typeface="Courier New"/>
                <a:cs typeface="Courier New"/>
                <a:sym typeface="Courier New"/>
              </a:rPr>
              <a:t>GRANT UPDATE (salary)</a:t>
            </a:r>
            <a:endParaRPr sz="1800">
              <a:latin typeface="Courier New"/>
              <a:ea typeface="Courier New"/>
              <a:cs typeface="Courier New"/>
              <a:sym typeface="Courier New"/>
            </a:endParaRPr>
          </a:p>
          <a:p>
            <a:pPr indent="0" lvl="0" marL="81915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ON employees TO steven_king</a:t>
            </a:r>
            <a:endParaRPr sz="1800">
              <a:latin typeface="Courier New"/>
              <a:ea typeface="Courier New"/>
              <a:cs typeface="Courier New"/>
              <a:sym typeface="Courier New"/>
            </a:endParaRPr>
          </a:p>
        </p:txBody>
      </p:sp>
      <p:pic>
        <p:nvPicPr>
          <p:cNvPr id="246" name="Google Shape;246;p31"/>
          <p:cNvPicPr preferRelativeResize="0"/>
          <p:nvPr/>
        </p:nvPicPr>
        <p:blipFill rotWithShape="1">
          <a:blip r:embed="rId3">
            <a:alphaModFix/>
          </a:blip>
          <a:srcRect b="0" l="0" r="0" t="0"/>
          <a:stretch/>
        </p:blipFill>
        <p:spPr>
          <a:xfrm>
            <a:off x="7415783" y="5119115"/>
            <a:ext cx="1488947" cy="1373123"/>
          </a:xfrm>
          <a:prstGeom prst="rect">
            <a:avLst/>
          </a:prstGeom>
          <a:noFill/>
          <a:ln>
            <a:noFill/>
          </a:ln>
        </p:spPr>
      </p:pic>
      <p:sp>
        <p:nvSpPr>
          <p:cNvPr id="247" name="Google Shape;247;p31"/>
          <p:cNvSpPr txBox="1"/>
          <p:nvPr>
            <p:ph idx="10" type="dt"/>
          </p:nvPr>
        </p:nvSpPr>
        <p:spPr>
          <a:xfrm>
            <a:off x="2874191" y="6516395"/>
            <a:ext cx="1536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17-1</a:t>
            </a:r>
            <a:endParaRPr/>
          </a:p>
          <a:p>
            <a:pPr indent="0" lvl="0" marL="12700" rtl="0" algn="l">
              <a:lnSpc>
                <a:spcPct val="120624"/>
              </a:lnSpc>
              <a:spcBef>
                <a:spcPts val="0"/>
              </a:spcBef>
              <a:spcAft>
                <a:spcPts val="0"/>
              </a:spcAft>
              <a:buNone/>
            </a:pPr>
            <a:r>
              <a:rPr lang="en-US"/>
              <a:t>Control del Acceso de los Usuarios</a:t>
            </a:r>
            <a:endParaRPr/>
          </a:p>
        </p:txBody>
      </p:sp>
      <p:sp>
        <p:nvSpPr>
          <p:cNvPr id="248" name="Google Shape;248;p3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49" name="Google Shape;249;p3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2"/>
          <p:cNvSpPr txBox="1"/>
          <p:nvPr>
            <p:ph type="title"/>
          </p:nvPr>
        </p:nvSpPr>
        <p:spPr>
          <a:xfrm>
            <a:off x="392112" y="748031"/>
            <a:ext cx="6522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Privilegios de Objeto</a:t>
            </a:r>
            <a:endParaRPr/>
          </a:p>
        </p:txBody>
      </p:sp>
      <p:sp>
        <p:nvSpPr>
          <p:cNvPr id="255" name="Google Shape;255;p32"/>
          <p:cNvSpPr txBox="1"/>
          <p:nvPr>
            <p:ph idx="10" type="dt"/>
          </p:nvPr>
        </p:nvSpPr>
        <p:spPr>
          <a:xfrm>
            <a:off x="2874191" y="6516395"/>
            <a:ext cx="1536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17-1</a:t>
            </a:r>
            <a:endParaRPr/>
          </a:p>
          <a:p>
            <a:pPr indent="0" lvl="0" marL="12700" rtl="0" algn="l">
              <a:lnSpc>
                <a:spcPct val="120624"/>
              </a:lnSpc>
              <a:spcBef>
                <a:spcPts val="0"/>
              </a:spcBef>
              <a:spcAft>
                <a:spcPts val="0"/>
              </a:spcAft>
              <a:buNone/>
            </a:pPr>
            <a:r>
              <a:rPr lang="en-US"/>
              <a:t>Control del Acceso de los Usuarios</a:t>
            </a:r>
            <a:endParaRPr/>
          </a:p>
        </p:txBody>
      </p:sp>
      <p:sp>
        <p:nvSpPr>
          <p:cNvPr id="256" name="Google Shape;256;p32"/>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57" name="Google Shape;257;p3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58" name="Google Shape;258;p32"/>
          <p:cNvSpPr txBox="1"/>
          <p:nvPr/>
        </p:nvSpPr>
        <p:spPr>
          <a:xfrm>
            <a:off x="483552" y="1415417"/>
            <a:ext cx="8164195" cy="29603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 privilegio otorgado en un sinónimo se convierte en 	un privilegio en la tabla base a la que hace referencia el 	sinónimo</a:t>
            </a:r>
            <a:endParaRPr sz="2800">
              <a:latin typeface="Calibri"/>
              <a:ea typeface="Calibri"/>
              <a:cs typeface="Calibri"/>
              <a:sym typeface="Calibri"/>
            </a:endParaRPr>
          </a:p>
          <a:p>
            <a:pPr indent="-177800" lvl="0" marL="182880" marR="1137285"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 decir, un sinónimo es simplemente un nuevo 	nombre más fácil de utilizar</a:t>
            </a:r>
            <a:endParaRPr sz="2800">
              <a:latin typeface="Calibri"/>
              <a:ea typeface="Calibri"/>
              <a:cs typeface="Calibri"/>
              <a:sym typeface="Calibri"/>
            </a:endParaRPr>
          </a:p>
          <a:p>
            <a:pPr indent="-177800" lvl="0" marL="182880" marR="29337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uso de este nombre para otorgar un privilegio es lo 	mismo que otorga el privilegio en la propia tabla</a:t>
            </a:r>
            <a:endParaRPr sz="2800">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3"/>
          <p:cNvSpPr txBox="1"/>
          <p:nvPr>
            <p:ph type="title"/>
          </p:nvPr>
        </p:nvSpPr>
        <p:spPr>
          <a:xfrm>
            <a:off x="392112" y="748031"/>
            <a:ext cx="6522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Palabra Clave PUBLIC</a:t>
            </a:r>
            <a:endParaRPr/>
          </a:p>
        </p:txBody>
      </p:sp>
      <p:sp>
        <p:nvSpPr>
          <p:cNvPr id="264" name="Google Shape;264;p33"/>
          <p:cNvSpPr txBox="1"/>
          <p:nvPr>
            <p:ph idx="10" type="dt"/>
          </p:nvPr>
        </p:nvSpPr>
        <p:spPr>
          <a:xfrm>
            <a:off x="2874191" y="6516395"/>
            <a:ext cx="1536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17-1</a:t>
            </a:r>
            <a:endParaRPr/>
          </a:p>
          <a:p>
            <a:pPr indent="0" lvl="0" marL="12700" rtl="0" algn="l">
              <a:lnSpc>
                <a:spcPct val="120624"/>
              </a:lnSpc>
              <a:spcBef>
                <a:spcPts val="0"/>
              </a:spcBef>
              <a:spcAft>
                <a:spcPts val="0"/>
              </a:spcAft>
              <a:buNone/>
            </a:pPr>
            <a:r>
              <a:rPr lang="en-US"/>
              <a:t>Control del Acceso de los Usuarios</a:t>
            </a:r>
            <a:endParaRPr/>
          </a:p>
        </p:txBody>
      </p:sp>
      <p:sp>
        <p:nvSpPr>
          <p:cNvPr id="265" name="Google Shape;265;p3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66" name="Google Shape;266;p3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67" name="Google Shape;267;p33"/>
          <p:cNvSpPr txBox="1"/>
          <p:nvPr/>
        </p:nvSpPr>
        <p:spPr>
          <a:xfrm>
            <a:off x="483552" y="1415417"/>
            <a:ext cx="8051800" cy="2090420"/>
          </a:xfrm>
          <a:prstGeom prst="rect">
            <a:avLst/>
          </a:prstGeom>
          <a:noFill/>
          <a:ln>
            <a:noFill/>
          </a:ln>
        </p:spPr>
        <p:txBody>
          <a:bodyPr anchorCtr="0" anchor="t" bIns="0" lIns="0" spcFirstLastPara="1" rIns="0" wrap="square" tIns="59675">
            <a:spAutoFit/>
          </a:bodyPr>
          <a:lstStyle/>
          <a:p>
            <a:pPr indent="-177800" lvl="0" marL="182880" marR="38163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 propietario de una tabla puede otorgar acceso a 	todos los usuarios mediante la palabra clave PUBLIC</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el segundo ejemplo que se muestra a continuación, 	se permite a todos los usuarios del sistema consultar 	datos de la tabla DEPARTMENTS de Alice</a:t>
            </a:r>
            <a:endParaRPr sz="2800">
              <a:latin typeface="Calibri"/>
              <a:ea typeface="Calibri"/>
              <a:cs typeface="Calibri"/>
              <a:sym typeface="Calibri"/>
            </a:endParaRPr>
          </a:p>
        </p:txBody>
      </p:sp>
      <p:sp>
        <p:nvSpPr>
          <p:cNvPr id="268" name="Google Shape;268;p33"/>
          <p:cNvSpPr txBox="1"/>
          <p:nvPr/>
        </p:nvSpPr>
        <p:spPr>
          <a:xfrm>
            <a:off x="405384" y="3758184"/>
            <a:ext cx="8345805" cy="845819"/>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2777"/>
              </a:lnSpc>
              <a:spcBef>
                <a:spcPts val="0"/>
              </a:spcBef>
              <a:spcAft>
                <a:spcPts val="0"/>
              </a:spcAft>
              <a:buNone/>
            </a:pPr>
            <a:r>
              <a:rPr b="1" lang="en-US" sz="1800">
                <a:solidFill>
                  <a:srgbClr val="4E3629"/>
                </a:solidFill>
                <a:latin typeface="Courier New"/>
                <a:ea typeface="Courier New"/>
                <a:cs typeface="Courier New"/>
                <a:sym typeface="Courier New"/>
              </a:rPr>
              <a:t>GRANT select</a:t>
            </a:r>
            <a:endParaRPr sz="1800">
              <a:latin typeface="Courier New"/>
              <a:ea typeface="Courier New"/>
              <a:cs typeface="Courier New"/>
              <a:sym typeface="Courier New"/>
            </a:endParaRPr>
          </a:p>
          <a:p>
            <a:pPr indent="409575" lvl="0" marL="0" marR="520065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ON alice.departments TO PUBLIC;</a:t>
            </a:r>
            <a:endParaRPr sz="1800">
              <a:latin typeface="Courier New"/>
              <a:ea typeface="Courier New"/>
              <a:cs typeface="Courier New"/>
              <a:sym typeface="Courier New"/>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4"/>
          <p:cNvSpPr txBox="1"/>
          <p:nvPr>
            <p:ph type="title"/>
          </p:nvPr>
        </p:nvSpPr>
        <p:spPr>
          <a:xfrm>
            <a:off x="392112" y="748031"/>
            <a:ext cx="6522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Palabra Clave PUBLIC</a:t>
            </a:r>
            <a:endParaRPr/>
          </a:p>
        </p:txBody>
      </p:sp>
      <p:sp>
        <p:nvSpPr>
          <p:cNvPr id="274" name="Google Shape;274;p34"/>
          <p:cNvSpPr txBox="1"/>
          <p:nvPr>
            <p:ph idx="10" type="dt"/>
          </p:nvPr>
        </p:nvSpPr>
        <p:spPr>
          <a:xfrm>
            <a:off x="2874191" y="6516395"/>
            <a:ext cx="1536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17-1</a:t>
            </a:r>
            <a:endParaRPr/>
          </a:p>
          <a:p>
            <a:pPr indent="0" lvl="0" marL="12700" rtl="0" algn="l">
              <a:lnSpc>
                <a:spcPct val="120624"/>
              </a:lnSpc>
              <a:spcBef>
                <a:spcPts val="0"/>
              </a:spcBef>
              <a:spcAft>
                <a:spcPts val="0"/>
              </a:spcAft>
              <a:buNone/>
            </a:pPr>
            <a:r>
              <a:rPr lang="en-US"/>
              <a:t>Control del Acceso de los Usuarios</a:t>
            </a:r>
            <a:endParaRPr/>
          </a:p>
        </p:txBody>
      </p:sp>
      <p:sp>
        <p:nvSpPr>
          <p:cNvPr id="275" name="Google Shape;275;p34"/>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76" name="Google Shape;276;p3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77" name="Google Shape;277;p34"/>
          <p:cNvSpPr txBox="1"/>
          <p:nvPr/>
        </p:nvSpPr>
        <p:spPr>
          <a:xfrm>
            <a:off x="483552" y="1415417"/>
            <a:ext cx="8151495" cy="4497070"/>
          </a:xfrm>
          <a:prstGeom prst="rect">
            <a:avLst/>
          </a:prstGeom>
          <a:noFill/>
          <a:ln>
            <a:noFill/>
          </a:ln>
        </p:spPr>
        <p:txBody>
          <a:bodyPr anchorCtr="0" anchor="t" bIns="0" lIns="0" spcFirstLastPara="1" rIns="0" wrap="square" tIns="59675">
            <a:spAutoFit/>
          </a:bodyPr>
          <a:lstStyle/>
          <a:p>
            <a:pPr indent="-177800" lvl="0" marL="182880" marR="22860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una sentencia no utiliza el nombre completo de un 	objeto, Oracle Server incluye implícitamente en el 	nombre de objeto el nombre del usuario (o esquema) 	actual como prefijo</a:t>
            </a:r>
            <a:endParaRPr sz="2800">
              <a:latin typeface="Calibri"/>
              <a:ea typeface="Calibri"/>
              <a:cs typeface="Calibri"/>
              <a:sym typeface="Calibri"/>
            </a:endParaRPr>
          </a:p>
          <a:p>
            <a:pPr indent="-177800" lvl="0" marL="182880" marR="64769"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el usuario Scott consulta la tabla DEPARTMENTS, por 	ejemplo, el sistema selecciona en la tabla 	SCOTT.DEPARTMENTS</a:t>
            </a:r>
            <a:endParaRPr sz="2800">
              <a:latin typeface="Calibri"/>
              <a:ea typeface="Calibri"/>
              <a:cs typeface="Calibri"/>
              <a:sym typeface="Calibri"/>
            </a:endParaRPr>
          </a:p>
          <a:p>
            <a:pPr indent="-177800" lvl="0" marL="182880" marR="50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una sentencia no utiliza el nombre completo de un 	objeto y el usuario actual no es propietario de un 	objeto con ese nombre, el sistema incluye como prefijo 	PUBLIC en el nombre de objeto</a:t>
            </a:r>
            <a:endParaRPr sz="2800">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5"/>
          <p:cNvSpPr txBox="1"/>
          <p:nvPr>
            <p:ph type="title"/>
          </p:nvPr>
        </p:nvSpPr>
        <p:spPr>
          <a:xfrm>
            <a:off x="392112" y="748031"/>
            <a:ext cx="6522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Palabra Clave PUBLIC</a:t>
            </a:r>
            <a:endParaRPr/>
          </a:p>
        </p:txBody>
      </p:sp>
      <p:sp>
        <p:nvSpPr>
          <p:cNvPr id="283" name="Google Shape;283;p35"/>
          <p:cNvSpPr txBox="1"/>
          <p:nvPr/>
        </p:nvSpPr>
        <p:spPr>
          <a:xfrm>
            <a:off x="483552" y="1415417"/>
            <a:ext cx="8164830" cy="198882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ejemplo, si el usuario Scott consulta la vista 	USER_OBJECTS y Scott no es propietario de dicha tabla, 	el sistema realiza selecciones en la vista del diccionario 	de datos mediante el sinónimo público 	PUBLIC.USER_OBJECTS</a:t>
            </a:r>
            <a:endParaRPr sz="2800">
              <a:latin typeface="Calibri"/>
              <a:ea typeface="Calibri"/>
              <a:cs typeface="Calibri"/>
              <a:sym typeface="Calibri"/>
            </a:endParaRPr>
          </a:p>
        </p:txBody>
      </p:sp>
      <p:pic>
        <p:nvPicPr>
          <p:cNvPr id="284" name="Google Shape;284;p35"/>
          <p:cNvPicPr preferRelativeResize="0"/>
          <p:nvPr/>
        </p:nvPicPr>
        <p:blipFill rotWithShape="1">
          <a:blip r:embed="rId3">
            <a:alphaModFix/>
          </a:blip>
          <a:srcRect b="0" l="0" r="0" t="0"/>
          <a:stretch/>
        </p:blipFill>
        <p:spPr>
          <a:xfrm>
            <a:off x="3493008" y="3762755"/>
            <a:ext cx="1839474" cy="2452767"/>
          </a:xfrm>
          <a:prstGeom prst="rect">
            <a:avLst/>
          </a:prstGeom>
          <a:noFill/>
          <a:ln>
            <a:noFill/>
          </a:ln>
        </p:spPr>
      </p:pic>
      <p:sp>
        <p:nvSpPr>
          <p:cNvPr id="285" name="Google Shape;285;p35"/>
          <p:cNvSpPr txBox="1"/>
          <p:nvPr>
            <p:ph idx="10" type="dt"/>
          </p:nvPr>
        </p:nvSpPr>
        <p:spPr>
          <a:xfrm>
            <a:off x="2874191" y="6516395"/>
            <a:ext cx="1536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17-1</a:t>
            </a:r>
            <a:endParaRPr/>
          </a:p>
          <a:p>
            <a:pPr indent="0" lvl="0" marL="12700" rtl="0" algn="l">
              <a:lnSpc>
                <a:spcPct val="120624"/>
              </a:lnSpc>
              <a:spcBef>
                <a:spcPts val="0"/>
              </a:spcBef>
              <a:spcAft>
                <a:spcPts val="0"/>
              </a:spcAft>
              <a:buNone/>
            </a:pPr>
            <a:r>
              <a:rPr lang="en-US"/>
              <a:t>Control del Acceso de los Usuarios</a:t>
            </a:r>
            <a:endParaRPr/>
          </a:p>
        </p:txBody>
      </p:sp>
      <p:sp>
        <p:nvSpPr>
          <p:cNvPr id="286" name="Google Shape;286;p3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87" name="Google Shape;287;p3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6"/>
          <p:cNvSpPr txBox="1"/>
          <p:nvPr>
            <p:ph type="title"/>
          </p:nvPr>
        </p:nvSpPr>
        <p:spPr>
          <a:xfrm>
            <a:off x="392112" y="748031"/>
            <a:ext cx="6522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Confirmación de Privilegios Otorgados</a:t>
            </a:r>
            <a:endParaRPr/>
          </a:p>
        </p:txBody>
      </p:sp>
      <p:sp>
        <p:nvSpPr>
          <p:cNvPr id="293" name="Google Shape;293;p36"/>
          <p:cNvSpPr txBox="1"/>
          <p:nvPr>
            <p:ph idx="10" type="dt"/>
          </p:nvPr>
        </p:nvSpPr>
        <p:spPr>
          <a:xfrm>
            <a:off x="2874191" y="6516395"/>
            <a:ext cx="1536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17-1</a:t>
            </a:r>
            <a:endParaRPr/>
          </a:p>
          <a:p>
            <a:pPr indent="0" lvl="0" marL="12700" rtl="0" algn="l">
              <a:lnSpc>
                <a:spcPct val="120624"/>
              </a:lnSpc>
              <a:spcBef>
                <a:spcPts val="0"/>
              </a:spcBef>
              <a:spcAft>
                <a:spcPts val="0"/>
              </a:spcAft>
              <a:buNone/>
            </a:pPr>
            <a:r>
              <a:rPr lang="en-US"/>
              <a:t>Control del Acceso de los Usuarios</a:t>
            </a:r>
            <a:endParaRPr/>
          </a:p>
        </p:txBody>
      </p:sp>
      <p:sp>
        <p:nvSpPr>
          <p:cNvPr id="294" name="Google Shape;294;p3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95" name="Google Shape;295;p3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96" name="Google Shape;296;p36"/>
          <p:cNvSpPr txBox="1"/>
          <p:nvPr>
            <p:ph idx="1" type="body"/>
          </p:nvPr>
        </p:nvSpPr>
        <p:spPr>
          <a:xfrm>
            <a:off x="483552" y="1415417"/>
            <a:ext cx="8113500" cy="4629900"/>
          </a:xfrm>
          <a:prstGeom prst="rect">
            <a:avLst/>
          </a:prstGeom>
          <a:noFill/>
          <a:ln>
            <a:noFill/>
          </a:ln>
        </p:spPr>
        <p:txBody>
          <a:bodyPr anchorCtr="0" anchor="t" bIns="0" lIns="0" spcFirstLastPara="1" rIns="0" wrap="square" tIns="59675">
            <a:spAutoFit/>
          </a:bodyPr>
          <a:lstStyle/>
          <a:p>
            <a:pPr indent="-177800" lvl="0" marL="182880" marR="245745" rtl="0" algn="l">
              <a:lnSpc>
                <a:spcPct val="108214"/>
              </a:lnSpc>
              <a:spcBef>
                <a:spcPts val="0"/>
              </a:spcBef>
              <a:spcAft>
                <a:spcPts val="0"/>
              </a:spcAft>
              <a:buClr>
                <a:srgbClr val="D1350F"/>
              </a:buClr>
              <a:buSzPts val="2800"/>
              <a:buFont typeface="Arial"/>
              <a:buChar char="•"/>
            </a:pPr>
            <a:r>
              <a:rPr lang="en-US"/>
              <a:t>Si intenta realizar una operación no autorizada, como 	la supresión de una fila de una tabla para la que no 	tiene el privilegio DELETE, el servidor de Oracle no 	permite que se produzca la operación</a:t>
            </a:r>
            <a:endParaRPr/>
          </a:p>
          <a:p>
            <a:pPr indent="-177800" lvl="0" marL="182880" marR="5080" rtl="0" algn="just">
              <a:lnSpc>
                <a:spcPct val="108214"/>
              </a:lnSpc>
              <a:spcBef>
                <a:spcPts val="780"/>
              </a:spcBef>
              <a:spcAft>
                <a:spcPts val="0"/>
              </a:spcAft>
              <a:buClr>
                <a:srgbClr val="D1350F"/>
              </a:buClr>
              <a:buSzPts val="2800"/>
              <a:buFont typeface="Arial"/>
              <a:buChar char="•"/>
            </a:pPr>
            <a:r>
              <a:rPr lang="en-US"/>
              <a:t>Si recibe el mensaje de error de Oracle Server "table or 	view does not exist", es porque ha realizado una de las 	siguientes acciones:</a:t>
            </a:r>
            <a:endParaRPr/>
          </a:p>
          <a:p>
            <a:pPr indent="0" lvl="0" marL="355600" rtl="0" algn="l">
              <a:lnSpc>
                <a:spcPct val="100000"/>
              </a:lnSpc>
              <a:spcBef>
                <a:spcPts val="80"/>
              </a:spcBef>
              <a:spcAft>
                <a:spcPts val="0"/>
              </a:spcAft>
              <a:buNone/>
            </a:pPr>
            <a:r>
              <a:rPr lang="en-US" sz="2400">
                <a:solidFill>
                  <a:srgbClr val="D1350F"/>
                </a:solidFill>
              </a:rPr>
              <a:t>−</a:t>
            </a:r>
            <a:r>
              <a:rPr lang="en-US" sz="2400"/>
              <a:t>Asignar un nombre a una tabla o vista que no existe</a:t>
            </a:r>
            <a:endParaRPr sz="2400"/>
          </a:p>
          <a:p>
            <a:pPr indent="-175260" lvl="0" marL="530860" marR="389255" rtl="0" algn="l">
              <a:lnSpc>
                <a:spcPct val="107916"/>
              </a:lnSpc>
              <a:spcBef>
                <a:spcPts val="445"/>
              </a:spcBef>
              <a:spcAft>
                <a:spcPts val="1200"/>
              </a:spcAft>
              <a:buNone/>
            </a:pPr>
            <a:r>
              <a:rPr lang="en-US" sz="2400">
                <a:solidFill>
                  <a:srgbClr val="D1350F"/>
                </a:solidFill>
              </a:rPr>
              <a:t>−</a:t>
            </a:r>
            <a:r>
              <a:rPr lang="en-US" sz="2400"/>
              <a:t>Intentar realizar una operación en una tabla o vista para la que no tiene el privilegio adecuado</a:t>
            </a:r>
            <a:endParaRPr sz="24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7"/>
          <p:cNvSpPr txBox="1"/>
          <p:nvPr>
            <p:ph type="title"/>
          </p:nvPr>
        </p:nvSpPr>
        <p:spPr>
          <a:xfrm>
            <a:off x="392112" y="748031"/>
            <a:ext cx="6522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Privilegios de Visualización</a:t>
            </a:r>
            <a:endParaRPr/>
          </a:p>
        </p:txBody>
      </p:sp>
      <p:sp>
        <p:nvSpPr>
          <p:cNvPr id="302" name="Google Shape;302;p37"/>
          <p:cNvSpPr txBox="1"/>
          <p:nvPr>
            <p:ph idx="10" type="dt"/>
          </p:nvPr>
        </p:nvSpPr>
        <p:spPr>
          <a:xfrm>
            <a:off x="2874191" y="6516395"/>
            <a:ext cx="1536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17-1</a:t>
            </a:r>
            <a:endParaRPr/>
          </a:p>
          <a:p>
            <a:pPr indent="0" lvl="0" marL="12700" rtl="0" algn="l">
              <a:lnSpc>
                <a:spcPct val="120624"/>
              </a:lnSpc>
              <a:spcBef>
                <a:spcPts val="0"/>
              </a:spcBef>
              <a:spcAft>
                <a:spcPts val="0"/>
              </a:spcAft>
              <a:buNone/>
            </a:pPr>
            <a:r>
              <a:rPr lang="en-US"/>
              <a:t>Control del Acceso de los Usuarios</a:t>
            </a:r>
            <a:endParaRPr/>
          </a:p>
        </p:txBody>
      </p:sp>
      <p:sp>
        <p:nvSpPr>
          <p:cNvPr id="303" name="Google Shape;303;p3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04" name="Google Shape;304;p3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05" name="Google Shape;305;p37"/>
          <p:cNvSpPr txBox="1"/>
          <p:nvPr/>
        </p:nvSpPr>
        <p:spPr>
          <a:xfrm>
            <a:off x="483552" y="1415417"/>
            <a:ext cx="7950200" cy="3444875"/>
          </a:xfrm>
          <a:prstGeom prst="rect">
            <a:avLst/>
          </a:prstGeom>
          <a:noFill/>
          <a:ln>
            <a:noFill/>
          </a:ln>
        </p:spPr>
        <p:txBody>
          <a:bodyPr anchorCtr="0" anchor="t" bIns="0" lIns="0" spcFirstLastPara="1" rIns="0" wrap="square" tIns="59675">
            <a:spAutoFit/>
          </a:bodyPr>
          <a:lstStyle/>
          <a:p>
            <a:pPr indent="-177800" lvl="0" marL="182880" marR="55880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Puede acceder al diccionario de datos para ver los 	privilegios que tiene</a:t>
            </a:r>
            <a:endParaRPr sz="2800">
              <a:latin typeface="Calibri"/>
              <a:ea typeface="Calibri"/>
              <a:cs typeface="Calibri"/>
              <a:sym typeface="Calibri"/>
            </a:endParaRPr>
          </a:p>
          <a:p>
            <a:pPr indent="-177800" lvl="0" marL="182880" marR="319405"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el gráfico mostrado se describen varias vistas del 	diccionario de datos</a:t>
            </a:r>
            <a:endParaRPr sz="2800">
              <a:latin typeface="Calibri"/>
              <a:ea typeface="Calibri"/>
              <a:cs typeface="Calibri"/>
              <a:sym typeface="Calibri"/>
            </a:endParaRPr>
          </a:p>
          <a:p>
            <a:pPr indent="-177800" lvl="0" marL="182880" marR="714375"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Mediante Oracle Application Express Developer, 	acceda a SQL Workshop, Utilities, Object Reports</a:t>
            </a:r>
            <a:endParaRPr sz="2800">
              <a:latin typeface="Calibri"/>
              <a:ea typeface="Calibri"/>
              <a:cs typeface="Calibri"/>
              <a:sym typeface="Calibri"/>
            </a:endParaRPr>
          </a:p>
          <a:p>
            <a:pPr indent="-177800" lvl="0" marL="182880" marR="508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privilegios del usuario se pueden ver en la sección 	Security Reports</a:t>
            </a:r>
            <a:endParaRPr sz="2800">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8"/>
          <p:cNvSpPr txBox="1"/>
          <p:nvPr>
            <p:ph type="title"/>
          </p:nvPr>
        </p:nvSpPr>
        <p:spPr>
          <a:xfrm>
            <a:off x="392112" y="748031"/>
            <a:ext cx="6522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Privilegios de Visualización</a:t>
            </a:r>
            <a:endParaRPr/>
          </a:p>
        </p:txBody>
      </p:sp>
      <p:sp>
        <p:nvSpPr>
          <p:cNvPr id="311" name="Google Shape;311;p38"/>
          <p:cNvSpPr txBox="1"/>
          <p:nvPr>
            <p:ph idx="10" type="dt"/>
          </p:nvPr>
        </p:nvSpPr>
        <p:spPr>
          <a:xfrm>
            <a:off x="2874191" y="6516395"/>
            <a:ext cx="1536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17-1</a:t>
            </a:r>
            <a:endParaRPr/>
          </a:p>
          <a:p>
            <a:pPr indent="0" lvl="0" marL="12700" rtl="0" algn="l">
              <a:lnSpc>
                <a:spcPct val="120624"/>
              </a:lnSpc>
              <a:spcBef>
                <a:spcPts val="0"/>
              </a:spcBef>
              <a:spcAft>
                <a:spcPts val="0"/>
              </a:spcAft>
              <a:buNone/>
            </a:pPr>
            <a:r>
              <a:rPr lang="en-US"/>
              <a:t>Control del Acceso de los Usuarios</a:t>
            </a:r>
            <a:endParaRPr/>
          </a:p>
        </p:txBody>
      </p:sp>
      <p:sp>
        <p:nvSpPr>
          <p:cNvPr id="312" name="Google Shape;312;p3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13" name="Google Shape;313;p3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graphicFrame>
        <p:nvGraphicFramePr>
          <p:cNvPr id="314" name="Google Shape;314;p38"/>
          <p:cNvGraphicFramePr/>
          <p:nvPr/>
        </p:nvGraphicFramePr>
        <p:xfrm>
          <a:off x="398461" y="1487606"/>
          <a:ext cx="3000000" cy="3000000"/>
        </p:xfrm>
        <a:graphic>
          <a:graphicData uri="http://schemas.openxmlformats.org/drawingml/2006/table">
            <a:tbl>
              <a:tblPr bandRow="1" firstRow="1">
                <a:noFill/>
                <a:tableStyleId>{1A59D6E8-2001-4B59-B43F-F63A19415E12}</a:tableStyleId>
              </a:tblPr>
              <a:tblGrid>
                <a:gridCol w="2753350"/>
                <a:gridCol w="5471150"/>
              </a:tblGrid>
              <a:tr h="319400">
                <a:tc>
                  <a:txBody>
                    <a:bodyPr/>
                    <a:lstStyle/>
                    <a:p>
                      <a:pPr indent="0" lvl="0" marL="91440" marR="0" rtl="0" algn="l">
                        <a:lnSpc>
                          <a:spcPct val="100000"/>
                        </a:lnSpc>
                        <a:spcBef>
                          <a:spcPts val="0"/>
                        </a:spcBef>
                        <a:spcAft>
                          <a:spcPts val="0"/>
                        </a:spcAft>
                        <a:buNone/>
                      </a:pPr>
                      <a:r>
                        <a:rPr b="1" lang="en-US" sz="1500" u="none" cap="none" strike="noStrike">
                          <a:solidFill>
                            <a:srgbClr val="4E3629"/>
                          </a:solidFill>
                          <a:latin typeface="Calibri"/>
                          <a:ea typeface="Calibri"/>
                          <a:cs typeface="Calibri"/>
                          <a:sym typeface="Calibri"/>
                        </a:rPr>
                        <a:t>Vista del Diccionario de Datos</a:t>
                      </a:r>
                      <a:endParaRPr sz="1500" u="none" cap="none" strike="noStrike">
                        <a:latin typeface="Calibri"/>
                        <a:ea typeface="Calibri"/>
                        <a:cs typeface="Calibri"/>
                        <a:sym typeface="Calibri"/>
                      </a:endParaRPr>
                    </a:p>
                  </a:txBody>
                  <a:tcPr marT="349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b="1" lang="en-US" sz="1500" u="none" cap="none" strike="noStrike">
                          <a:solidFill>
                            <a:srgbClr val="4E3629"/>
                          </a:solidFill>
                          <a:latin typeface="Calibri"/>
                          <a:ea typeface="Calibri"/>
                          <a:cs typeface="Calibri"/>
                          <a:sym typeface="Calibri"/>
                        </a:rPr>
                        <a:t>Description</a:t>
                      </a:r>
                      <a:endParaRPr sz="1500" u="none" cap="none" strike="noStrike">
                        <a:latin typeface="Calibri"/>
                        <a:ea typeface="Calibri"/>
                        <a:cs typeface="Calibri"/>
                        <a:sym typeface="Calibri"/>
                      </a:endParaRPr>
                    </a:p>
                  </a:txBody>
                  <a:tcPr marT="349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87675">
                <a:tc>
                  <a:txBody>
                    <a:bodyPr/>
                    <a:lstStyle/>
                    <a:p>
                      <a:pPr indent="0" lvl="0" marL="91440"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ROLE_SYS_PRIVS</a:t>
                      </a:r>
                      <a:endParaRPr sz="1500" u="none" cap="none" strike="noStrike">
                        <a:latin typeface="Calibri"/>
                        <a:ea typeface="Calibri"/>
                        <a:cs typeface="Calibri"/>
                        <a:sym typeface="Calibri"/>
                      </a:endParaRPr>
                    </a:p>
                  </a:txBody>
                  <a:tcPr marT="1187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Privilegios del sistema otorgados a roles</a:t>
                      </a:r>
                      <a:endParaRPr sz="1500" u="none" cap="none" strike="noStrike">
                        <a:latin typeface="Calibri"/>
                        <a:ea typeface="Calibri"/>
                        <a:cs typeface="Calibri"/>
                        <a:sym typeface="Calibri"/>
                      </a:endParaRPr>
                    </a:p>
                  </a:txBody>
                  <a:tcPr marT="1187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19400">
                <a:tc>
                  <a:txBody>
                    <a:bodyPr/>
                    <a:lstStyle/>
                    <a:p>
                      <a:pPr indent="0" lvl="0" marL="91440"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ROLE_TAB_PRIVS</a:t>
                      </a:r>
                      <a:endParaRPr sz="1500" u="none" cap="none" strike="noStrike">
                        <a:latin typeface="Calibri"/>
                        <a:ea typeface="Calibri"/>
                        <a:cs typeface="Calibri"/>
                        <a:sym typeface="Calibri"/>
                      </a:endParaRPr>
                    </a:p>
                  </a:txBody>
                  <a:tcPr marT="349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Privilegios de tabla otorgados a roles</a:t>
                      </a:r>
                      <a:endParaRPr sz="1500" u="none" cap="none" strike="noStrike">
                        <a:latin typeface="Calibri"/>
                        <a:ea typeface="Calibri"/>
                        <a:cs typeface="Calibri"/>
                        <a:sym typeface="Calibri"/>
                      </a:endParaRPr>
                    </a:p>
                  </a:txBody>
                  <a:tcPr marT="349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19400">
                <a:tc>
                  <a:txBody>
                    <a:bodyPr/>
                    <a:lstStyle/>
                    <a:p>
                      <a:pPr indent="0" lvl="0" marL="91440"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USER_ROLE_PRIVS</a:t>
                      </a:r>
                      <a:endParaRPr sz="1500" u="none" cap="none" strike="noStrike">
                        <a:latin typeface="Calibri"/>
                        <a:ea typeface="Calibri"/>
                        <a:cs typeface="Calibri"/>
                        <a:sym typeface="Calibri"/>
                      </a:endParaRPr>
                    </a:p>
                  </a:txBody>
                  <a:tcPr marT="349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Roles a los que puede acceder el usuario</a:t>
                      </a:r>
                      <a:endParaRPr sz="1500" u="none" cap="none" strike="noStrike">
                        <a:latin typeface="Calibri"/>
                        <a:ea typeface="Calibri"/>
                        <a:cs typeface="Calibri"/>
                        <a:sym typeface="Calibri"/>
                      </a:endParaRPr>
                    </a:p>
                  </a:txBody>
                  <a:tcPr marT="349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87675">
                <a:tc>
                  <a:txBody>
                    <a:bodyPr/>
                    <a:lstStyle/>
                    <a:p>
                      <a:pPr indent="0" lvl="0" marL="91440"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USER_TAB_PRIVS_MADE</a:t>
                      </a:r>
                      <a:endParaRPr sz="1500" u="none" cap="none" strike="noStrike">
                        <a:latin typeface="Calibri"/>
                        <a:ea typeface="Calibri"/>
                        <a:cs typeface="Calibri"/>
                        <a:sym typeface="Calibri"/>
                      </a:endParaRPr>
                    </a:p>
                  </a:txBody>
                  <a:tcPr marT="1193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Privilegios de objeto otorgados a objetos del usuario</a:t>
                      </a:r>
                      <a:endParaRPr sz="1500" u="none" cap="none" strike="noStrike">
                        <a:latin typeface="Calibri"/>
                        <a:ea typeface="Calibri"/>
                        <a:cs typeface="Calibri"/>
                        <a:sym typeface="Calibri"/>
                      </a:endParaRPr>
                    </a:p>
                  </a:txBody>
                  <a:tcPr marT="1193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87675">
                <a:tc>
                  <a:txBody>
                    <a:bodyPr/>
                    <a:lstStyle/>
                    <a:p>
                      <a:pPr indent="0" lvl="0" marL="91440"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USER_TAB_PRIVS_RECD</a:t>
                      </a:r>
                      <a:endParaRPr sz="1500" u="none" cap="none" strike="noStrike">
                        <a:latin typeface="Calibri"/>
                        <a:ea typeface="Calibri"/>
                        <a:cs typeface="Calibri"/>
                        <a:sym typeface="Calibri"/>
                      </a:endParaRPr>
                    </a:p>
                  </a:txBody>
                  <a:tcPr marT="1187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Privilegios de objeto otorgados al usuario</a:t>
                      </a:r>
                      <a:endParaRPr sz="1500" u="none" cap="none" strike="noStrike">
                        <a:latin typeface="Calibri"/>
                        <a:ea typeface="Calibri"/>
                        <a:cs typeface="Calibri"/>
                        <a:sym typeface="Calibri"/>
                      </a:endParaRPr>
                    </a:p>
                  </a:txBody>
                  <a:tcPr marT="1187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87675">
                <a:tc>
                  <a:txBody>
                    <a:bodyPr/>
                    <a:lstStyle/>
                    <a:p>
                      <a:pPr indent="0" lvl="0" marL="91440"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USER_COL_PRIVS_MADE</a:t>
                      </a:r>
                      <a:endParaRPr sz="1500" u="none" cap="none" strike="noStrike">
                        <a:latin typeface="Calibri"/>
                        <a:ea typeface="Calibri"/>
                        <a:cs typeface="Calibri"/>
                        <a:sym typeface="Calibri"/>
                      </a:endParaRPr>
                    </a:p>
                  </a:txBody>
                  <a:tcPr marT="1187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Privilegios de objeto otorgados a columnas de objetos del usuario</a:t>
                      </a:r>
                      <a:endParaRPr sz="1500" u="none" cap="none" strike="noStrike">
                        <a:latin typeface="Calibri"/>
                        <a:ea typeface="Calibri"/>
                        <a:cs typeface="Calibri"/>
                        <a:sym typeface="Calibri"/>
                      </a:endParaRPr>
                    </a:p>
                  </a:txBody>
                  <a:tcPr marT="1187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87675">
                <a:tc>
                  <a:txBody>
                    <a:bodyPr/>
                    <a:lstStyle/>
                    <a:p>
                      <a:pPr indent="0" lvl="0" marL="91440"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USER_COL_PRIVS_RECD</a:t>
                      </a:r>
                      <a:endParaRPr sz="1500" u="none" cap="none" strike="noStrike">
                        <a:latin typeface="Calibri"/>
                        <a:ea typeface="Calibri"/>
                        <a:cs typeface="Calibri"/>
                        <a:sym typeface="Calibri"/>
                      </a:endParaRPr>
                    </a:p>
                  </a:txBody>
                  <a:tcPr marT="1187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Privilegios de objeto otorgados al usuario en columnas específicas</a:t>
                      </a:r>
                      <a:endParaRPr sz="1500" u="none" cap="none" strike="noStrike">
                        <a:latin typeface="Calibri"/>
                        <a:ea typeface="Calibri"/>
                        <a:cs typeface="Calibri"/>
                        <a:sym typeface="Calibri"/>
                      </a:endParaRPr>
                    </a:p>
                  </a:txBody>
                  <a:tcPr marT="1187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87675">
                <a:tc>
                  <a:txBody>
                    <a:bodyPr/>
                    <a:lstStyle/>
                    <a:p>
                      <a:pPr indent="0" lvl="0" marL="91440"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USER_SYS_PRIVS</a:t>
                      </a:r>
                      <a:endParaRPr sz="1500" u="none" cap="none" strike="noStrike">
                        <a:latin typeface="Calibri"/>
                        <a:ea typeface="Calibri"/>
                        <a:cs typeface="Calibri"/>
                        <a:sym typeface="Calibri"/>
                      </a:endParaRPr>
                    </a:p>
                  </a:txBody>
                  <a:tcPr marT="1187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0805" marR="0" rtl="0" algn="l">
                        <a:lnSpc>
                          <a:spcPct val="100000"/>
                        </a:lnSpc>
                        <a:spcBef>
                          <a:spcPts val="0"/>
                        </a:spcBef>
                        <a:spcAft>
                          <a:spcPts val="0"/>
                        </a:spcAft>
                        <a:buNone/>
                      </a:pPr>
                      <a:r>
                        <a:rPr lang="en-US" sz="1500" u="none" cap="none" strike="noStrike">
                          <a:solidFill>
                            <a:srgbClr val="4E3629"/>
                          </a:solidFill>
                          <a:latin typeface="Calibri"/>
                          <a:ea typeface="Calibri"/>
                          <a:cs typeface="Calibri"/>
                          <a:sym typeface="Calibri"/>
                        </a:rPr>
                        <a:t>Muestra privilegios del sistema otorgados al usuario</a:t>
                      </a:r>
                      <a:endParaRPr sz="1500" u="none" cap="none" strike="noStrike">
                        <a:latin typeface="Calibri"/>
                        <a:ea typeface="Calibri"/>
                        <a:cs typeface="Calibri"/>
                        <a:sym typeface="Calibri"/>
                      </a:endParaRPr>
                    </a:p>
                  </a:txBody>
                  <a:tcPr marT="1187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9"/>
          <p:cNvSpPr txBox="1"/>
          <p:nvPr>
            <p:ph type="title"/>
          </p:nvPr>
        </p:nvSpPr>
        <p:spPr>
          <a:xfrm>
            <a:off x="392112" y="748031"/>
            <a:ext cx="6522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Terminología</a:t>
            </a:r>
            <a:endParaRPr/>
          </a:p>
        </p:txBody>
      </p:sp>
      <p:sp>
        <p:nvSpPr>
          <p:cNvPr id="320" name="Google Shape;320;p39"/>
          <p:cNvSpPr txBox="1"/>
          <p:nvPr>
            <p:ph idx="10" type="dt"/>
          </p:nvPr>
        </p:nvSpPr>
        <p:spPr>
          <a:xfrm>
            <a:off x="2874191" y="6516395"/>
            <a:ext cx="1536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17-1</a:t>
            </a:r>
            <a:endParaRPr/>
          </a:p>
          <a:p>
            <a:pPr indent="0" lvl="0" marL="12700" rtl="0" algn="l">
              <a:lnSpc>
                <a:spcPct val="120624"/>
              </a:lnSpc>
              <a:spcBef>
                <a:spcPts val="0"/>
              </a:spcBef>
              <a:spcAft>
                <a:spcPts val="0"/>
              </a:spcAft>
              <a:buNone/>
            </a:pPr>
            <a:r>
              <a:rPr lang="en-US"/>
              <a:t>Control del Acceso de los Usuarios</a:t>
            </a:r>
            <a:endParaRPr/>
          </a:p>
        </p:txBody>
      </p:sp>
      <p:sp>
        <p:nvSpPr>
          <p:cNvPr id="321" name="Google Shape;321;p3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22" name="Google Shape;322;p3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23" name="Google Shape;323;p39"/>
          <p:cNvSpPr txBox="1"/>
          <p:nvPr/>
        </p:nvSpPr>
        <p:spPr>
          <a:xfrm>
            <a:off x="483552" y="1415417"/>
            <a:ext cx="7704455" cy="350012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Privilegio CREATE SESSION</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Privilegio GRANT</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Privilegios de Objeto</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Seguridad de objetos</a:t>
            </a:r>
            <a:endParaRPr sz="2400">
              <a:latin typeface="Calibri"/>
              <a:ea typeface="Calibri"/>
              <a:cs typeface="Calibri"/>
              <a:sym typeface="Calibri"/>
            </a:endParaRPr>
          </a:p>
          <a:p>
            <a:pPr indent="0" lvl="0" marL="35560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de Objeto</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Privilegio PUBLIC</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Role</a:t>
            </a:r>
            <a:endParaRPr sz="2400">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0"/>
          <p:cNvSpPr txBox="1"/>
          <p:nvPr>
            <p:ph type="title"/>
          </p:nvPr>
        </p:nvSpPr>
        <p:spPr>
          <a:xfrm>
            <a:off x="392112" y="748031"/>
            <a:ext cx="6522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Terminología</a:t>
            </a:r>
            <a:endParaRPr/>
          </a:p>
        </p:txBody>
      </p:sp>
      <p:sp>
        <p:nvSpPr>
          <p:cNvPr id="329" name="Google Shape;329;p40"/>
          <p:cNvSpPr txBox="1"/>
          <p:nvPr>
            <p:ph idx="10" type="dt"/>
          </p:nvPr>
        </p:nvSpPr>
        <p:spPr>
          <a:xfrm>
            <a:off x="2874191" y="6516395"/>
            <a:ext cx="1536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17-1</a:t>
            </a:r>
            <a:endParaRPr/>
          </a:p>
          <a:p>
            <a:pPr indent="0" lvl="0" marL="12700" rtl="0" algn="l">
              <a:lnSpc>
                <a:spcPct val="120624"/>
              </a:lnSpc>
              <a:spcBef>
                <a:spcPts val="0"/>
              </a:spcBef>
              <a:spcAft>
                <a:spcPts val="0"/>
              </a:spcAft>
              <a:buNone/>
            </a:pPr>
            <a:r>
              <a:rPr lang="en-US"/>
              <a:t>Control del Acceso de los Usuarios</a:t>
            </a:r>
            <a:endParaRPr/>
          </a:p>
        </p:txBody>
      </p:sp>
      <p:sp>
        <p:nvSpPr>
          <p:cNvPr id="330" name="Google Shape;330;p4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31" name="Google Shape;331;p4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32" name="Google Shape;332;p40"/>
          <p:cNvSpPr txBox="1"/>
          <p:nvPr/>
        </p:nvSpPr>
        <p:spPr>
          <a:xfrm>
            <a:off x="483552" y="1415417"/>
            <a:ext cx="7704455" cy="197929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Esquema</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Privilegios del Sistema</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Seguridad del sistema</a:t>
            </a:r>
            <a:endParaRPr sz="2400">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1"/>
          <p:cNvSpPr txBox="1"/>
          <p:nvPr>
            <p:ph type="title"/>
          </p:nvPr>
        </p:nvSpPr>
        <p:spPr>
          <a:xfrm>
            <a:off x="392112" y="748031"/>
            <a:ext cx="6522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Resumen</a:t>
            </a:r>
            <a:endParaRPr/>
          </a:p>
        </p:txBody>
      </p:sp>
      <p:sp>
        <p:nvSpPr>
          <p:cNvPr id="338" name="Google Shape;338;p41"/>
          <p:cNvSpPr txBox="1"/>
          <p:nvPr/>
        </p:nvSpPr>
        <p:spPr>
          <a:xfrm>
            <a:off x="483552" y="1393401"/>
            <a:ext cx="7967345" cy="3973829"/>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debe haber aprendido lo siguiente:</a:t>
            </a:r>
            <a:endParaRPr sz="2800">
              <a:latin typeface="Calibri"/>
              <a:ea typeface="Calibri"/>
              <a:cs typeface="Calibri"/>
              <a:sym typeface="Calibri"/>
            </a:endParaRPr>
          </a:p>
          <a:p>
            <a:pPr indent="-175260" lvl="0" marL="530860" marR="1101090"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Comparar la diferencia entre privilegios de objeto y privilegios del sistema</a:t>
            </a:r>
            <a:endParaRPr sz="2400">
              <a:latin typeface="Calibri"/>
              <a:ea typeface="Calibri"/>
              <a:cs typeface="Calibri"/>
              <a:sym typeface="Calibri"/>
            </a:endParaRPr>
          </a:p>
          <a:p>
            <a:pPr indent="-175260" lvl="0" marL="530860" marR="508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Construir los dos comandos necesarios para permitir que un usuario tenga acceso a una base de datos</a:t>
            </a:r>
            <a:endParaRPr sz="2400">
              <a:latin typeface="Calibri"/>
              <a:ea typeface="Calibri"/>
              <a:cs typeface="Calibri"/>
              <a:sym typeface="Calibri"/>
            </a:endParaRPr>
          </a:p>
          <a:p>
            <a:pPr indent="-175260" lvl="0" marL="530860" marR="33655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Construir y ejecutar una sentencia GRANT… ON …TO para asignar privilegios a objetos de un esquema para otros usuarios y/o a PUBLIC</a:t>
            </a:r>
            <a:endParaRPr sz="2400">
              <a:latin typeface="Calibri"/>
              <a:ea typeface="Calibri"/>
              <a:cs typeface="Calibri"/>
              <a:sym typeface="Calibri"/>
            </a:endParaRPr>
          </a:p>
          <a:p>
            <a:pPr indent="-175260" lvl="0" marL="530860" marR="4145915" rtl="0" algn="l">
              <a:lnSpc>
                <a:spcPct val="107916"/>
              </a:lnSpc>
              <a:spcBef>
                <a:spcPts val="41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Consultar el diccionario de datos para confirmar los privilegios otorgados</a:t>
            </a:r>
            <a:endParaRPr sz="2400">
              <a:latin typeface="Calibri"/>
              <a:ea typeface="Calibri"/>
              <a:cs typeface="Calibri"/>
              <a:sym typeface="Calibri"/>
            </a:endParaRPr>
          </a:p>
        </p:txBody>
      </p:sp>
      <p:grpSp>
        <p:nvGrpSpPr>
          <p:cNvPr id="339" name="Google Shape;339;p41"/>
          <p:cNvGrpSpPr/>
          <p:nvPr/>
        </p:nvGrpSpPr>
        <p:grpSpPr>
          <a:xfrm>
            <a:off x="4512564" y="3997452"/>
            <a:ext cx="4139183" cy="2261615"/>
            <a:chOff x="4512564" y="3997452"/>
            <a:chExt cx="4139183" cy="2261615"/>
          </a:xfrm>
        </p:grpSpPr>
        <p:pic>
          <p:nvPicPr>
            <p:cNvPr id="340" name="Google Shape;340;p41"/>
            <p:cNvPicPr preferRelativeResize="0"/>
            <p:nvPr/>
          </p:nvPicPr>
          <p:blipFill rotWithShape="1">
            <a:blip r:embed="rId3">
              <a:alphaModFix/>
            </a:blip>
            <a:srcRect b="0" l="0" r="0" t="0"/>
            <a:stretch/>
          </p:blipFill>
          <p:spPr>
            <a:xfrm>
              <a:off x="4512564" y="3997452"/>
              <a:ext cx="4139183" cy="2261615"/>
            </a:xfrm>
            <a:prstGeom prst="rect">
              <a:avLst/>
            </a:prstGeom>
            <a:noFill/>
            <a:ln>
              <a:noFill/>
            </a:ln>
          </p:spPr>
        </p:pic>
        <p:pic>
          <p:nvPicPr>
            <p:cNvPr id="341" name="Google Shape;341;p41"/>
            <p:cNvPicPr preferRelativeResize="0"/>
            <p:nvPr/>
          </p:nvPicPr>
          <p:blipFill rotWithShape="1">
            <a:blip r:embed="rId4">
              <a:alphaModFix/>
            </a:blip>
            <a:srcRect b="0" l="0" r="0" t="0"/>
            <a:stretch/>
          </p:blipFill>
          <p:spPr>
            <a:xfrm>
              <a:off x="4704588" y="4189476"/>
              <a:ext cx="3755135" cy="1877567"/>
            </a:xfrm>
            <a:prstGeom prst="rect">
              <a:avLst/>
            </a:prstGeom>
            <a:noFill/>
            <a:ln>
              <a:noFill/>
            </a:ln>
          </p:spPr>
        </p:pic>
      </p:grpSp>
      <p:sp>
        <p:nvSpPr>
          <p:cNvPr id="342" name="Google Shape;342;p41"/>
          <p:cNvSpPr txBox="1"/>
          <p:nvPr>
            <p:ph idx="10" type="dt"/>
          </p:nvPr>
        </p:nvSpPr>
        <p:spPr>
          <a:xfrm>
            <a:off x="2874191" y="6516395"/>
            <a:ext cx="15366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17-1</a:t>
            </a:r>
            <a:endParaRPr/>
          </a:p>
          <a:p>
            <a:pPr indent="0" lvl="0" marL="12700" rtl="0" algn="l">
              <a:lnSpc>
                <a:spcPct val="120624"/>
              </a:lnSpc>
              <a:spcBef>
                <a:spcPts val="0"/>
              </a:spcBef>
              <a:spcAft>
                <a:spcPts val="0"/>
              </a:spcAft>
              <a:buNone/>
            </a:pPr>
            <a:r>
              <a:rPr lang="en-US"/>
              <a:t>Control del Acceso de los Usuarios</a:t>
            </a:r>
            <a:endParaRPr/>
          </a:p>
        </p:txBody>
      </p:sp>
      <p:sp>
        <p:nvSpPr>
          <p:cNvPr id="343" name="Google Shape;343;p4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44" name="Google Shape;344;p4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