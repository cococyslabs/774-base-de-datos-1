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EAE24AE-3F24-4AC2-B96C-FBD4E8975A46}">
  <a:tblStyle styleId="{1EAE24AE-3F24-4AC2-B96C-FBD4E8975A46}"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14:14:45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El uso de roles hace que el proceso de otorgar privilegios sea mucho más fácil. En lugar de asignar privilegios individuales a cientos de usuarios, el DBA puede crear un rol, asignar privilegios al rol y, a continuación, otorgar el rol a los usuarios.</a:t>
            </a:r>
            <a:endParaRPr/>
          </a:p>
        </p:txBody>
      </p:sp>
      <p:sp>
        <p:nvSpPr>
          <p:cNvPr id="107" name="Google Shape;107;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9" name="Google Shape;599;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4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60750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415417"/>
            <a:ext cx="8015700" cy="3344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516395"/>
            <a:ext cx="20808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6" name="Shape 56"/>
        <p:cNvGrpSpPr/>
        <p:nvPr/>
      </p:nvGrpSpPr>
      <p:grpSpPr>
        <a:xfrm>
          <a:off x="0" y="0"/>
          <a:ext cx="0" cy="0"/>
          <a:chOff x="0" y="0"/>
          <a:chExt cx="0" cy="0"/>
        </a:xfrm>
      </p:grpSpPr>
      <p:sp>
        <p:nvSpPr>
          <p:cNvPr id="57" name="Google Shape;57;p14"/>
          <p:cNvSpPr txBox="1"/>
          <p:nvPr>
            <p:ph type="title"/>
          </p:nvPr>
        </p:nvSpPr>
        <p:spPr>
          <a:xfrm>
            <a:off x="392112" y="748031"/>
            <a:ext cx="60750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14"/>
          <p:cNvSpPr txBox="1"/>
          <p:nvPr>
            <p:ph idx="1" type="body"/>
          </p:nvPr>
        </p:nvSpPr>
        <p:spPr>
          <a:xfrm>
            <a:off x="457200" y="1577340"/>
            <a:ext cx="3977700" cy="4526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9" name="Google Shape;59;p14"/>
          <p:cNvSpPr txBox="1"/>
          <p:nvPr>
            <p:ph idx="2" type="body"/>
          </p:nvPr>
        </p:nvSpPr>
        <p:spPr>
          <a:xfrm>
            <a:off x="5446776" y="1447800"/>
            <a:ext cx="3523500" cy="41505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a:solidFill>
                  <a:schemeClr val="dk1"/>
                </a:solidFill>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60" name="Google Shape;60;p14"/>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4"/>
          <p:cNvSpPr txBox="1"/>
          <p:nvPr>
            <p:ph idx="10" type="dt"/>
          </p:nvPr>
        </p:nvSpPr>
        <p:spPr>
          <a:xfrm>
            <a:off x="2874191" y="6516395"/>
            <a:ext cx="20808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9.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 name="Shape 66"/>
        <p:cNvGrpSpPr/>
        <p:nvPr/>
      </p:nvGrpSpPr>
      <p:grpSpPr>
        <a:xfrm>
          <a:off x="0" y="0"/>
          <a:ext cx="0" cy="0"/>
          <a:chOff x="0" y="0"/>
          <a:chExt cx="0" cy="0"/>
        </a:xfrm>
      </p:grpSpPr>
      <p:grpSp>
        <p:nvGrpSpPr>
          <p:cNvPr id="67" name="Google Shape;67;p15"/>
          <p:cNvGrpSpPr/>
          <p:nvPr/>
        </p:nvGrpSpPr>
        <p:grpSpPr>
          <a:xfrm>
            <a:off x="0" y="0"/>
            <a:ext cx="9144000" cy="6858000"/>
            <a:chOff x="0" y="0"/>
            <a:chExt cx="9144000" cy="6858000"/>
          </a:xfrm>
        </p:grpSpPr>
        <p:pic>
          <p:nvPicPr>
            <p:cNvPr id="68" name="Google Shape;68;p15"/>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9" name="Google Shape;69;p15"/>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0" name="Google Shape;70;p15"/>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71" name="Google Shape;71;p15"/>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72" name="Google Shape;72;p15"/>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73" name="Google Shape;73;p15"/>
          <p:cNvSpPr txBox="1"/>
          <p:nvPr/>
        </p:nvSpPr>
        <p:spPr>
          <a:xfrm>
            <a:off x="962879" y="2400950"/>
            <a:ext cx="590677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17-2</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Creación y Revocación de Privilegios de Objeto</a:t>
            </a:r>
            <a:endParaRPr sz="2400">
              <a:latin typeface="Calibri"/>
              <a:ea typeface="Calibri"/>
              <a:cs typeface="Calibri"/>
              <a:sym typeface="Calibri"/>
            </a:endParaRPr>
          </a:p>
        </p:txBody>
      </p:sp>
      <p:pic>
        <p:nvPicPr>
          <p:cNvPr id="74" name="Google Shape;74;p15"/>
          <p:cNvPicPr preferRelativeResize="0"/>
          <p:nvPr/>
        </p:nvPicPr>
        <p:blipFill rotWithShape="1">
          <a:blip r:embed="rId5">
            <a:alphaModFix/>
          </a:blip>
          <a:srcRect b="0" l="0" r="0" t="0"/>
          <a:stretch/>
        </p:blipFill>
        <p:spPr>
          <a:xfrm>
            <a:off x="-312303" y="3596888"/>
            <a:ext cx="5058157"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80" name="Google Shape;80;p16"/>
          <p:cNvSpPr txBox="1"/>
          <p:nvPr/>
        </p:nvSpPr>
        <p:spPr>
          <a:xfrm>
            <a:off x="483552" y="1393401"/>
            <a:ext cx="8166100" cy="364426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qué es un ROL y cuáles son sus ventajas</a:t>
            </a:r>
            <a:endParaRPr sz="2400">
              <a:latin typeface="Calibri"/>
              <a:ea typeface="Calibri"/>
              <a:cs typeface="Calibri"/>
              <a:sym typeface="Calibri"/>
            </a:endParaRPr>
          </a:p>
          <a:p>
            <a:pPr indent="-175260" lvl="0" marL="530860" marR="2689225"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sentencia para crear un ROL y OTORGARLE privilegios</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sentencia GRANT .. ON .. TO.. WITH GRANT OPTION para asignar privilegios a objetos de su esquema para otros usuarios y/o a PUBLIC</a:t>
            </a:r>
            <a:endParaRPr sz="2400">
              <a:latin typeface="Calibri"/>
              <a:ea typeface="Calibri"/>
              <a:cs typeface="Calibri"/>
              <a:sym typeface="Calibri"/>
            </a:endParaRPr>
          </a:p>
          <a:p>
            <a:pPr indent="-175260" lvl="0" marL="530860" marR="3226435" rtl="0" algn="just">
              <a:lnSpc>
                <a:spcPct val="107916"/>
              </a:lnSpc>
              <a:spcBef>
                <a:spcPts val="41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para REVOCAR los privilegios de objeto a otros usuarios y/o PUBLIC</a:t>
            </a:r>
            <a:endParaRPr sz="2400">
              <a:latin typeface="Calibri"/>
              <a:ea typeface="Calibri"/>
              <a:cs typeface="Calibri"/>
              <a:sym typeface="Calibri"/>
            </a:endParaRPr>
          </a:p>
        </p:txBody>
      </p:sp>
      <p:grpSp>
        <p:nvGrpSpPr>
          <p:cNvPr id="81" name="Google Shape;81;p16"/>
          <p:cNvGrpSpPr/>
          <p:nvPr/>
        </p:nvGrpSpPr>
        <p:grpSpPr>
          <a:xfrm>
            <a:off x="5458967" y="3732276"/>
            <a:ext cx="3337559" cy="2638043"/>
            <a:chOff x="5458967" y="3732276"/>
            <a:chExt cx="3337559" cy="2638043"/>
          </a:xfrm>
        </p:grpSpPr>
        <p:pic>
          <p:nvPicPr>
            <p:cNvPr id="82" name="Google Shape;82;p16"/>
            <p:cNvPicPr preferRelativeResize="0"/>
            <p:nvPr/>
          </p:nvPicPr>
          <p:blipFill rotWithShape="1">
            <a:blip r:embed="rId3">
              <a:alphaModFix/>
            </a:blip>
            <a:srcRect b="0" l="0" r="0" t="0"/>
            <a:stretch/>
          </p:blipFill>
          <p:spPr>
            <a:xfrm>
              <a:off x="5458967" y="3732276"/>
              <a:ext cx="3337559" cy="2638043"/>
            </a:xfrm>
            <a:prstGeom prst="rect">
              <a:avLst/>
            </a:prstGeom>
            <a:noFill/>
            <a:ln>
              <a:noFill/>
            </a:ln>
          </p:spPr>
        </p:pic>
        <p:pic>
          <p:nvPicPr>
            <p:cNvPr id="83" name="Google Shape;83;p16"/>
            <p:cNvPicPr preferRelativeResize="0"/>
            <p:nvPr/>
          </p:nvPicPr>
          <p:blipFill rotWithShape="1">
            <a:blip r:embed="rId4">
              <a:alphaModFix/>
            </a:blip>
            <a:srcRect b="0" l="0" r="0" t="0"/>
            <a:stretch/>
          </p:blipFill>
          <p:spPr>
            <a:xfrm>
              <a:off x="5650991" y="3924300"/>
              <a:ext cx="2953511" cy="2253995"/>
            </a:xfrm>
            <a:prstGeom prst="rect">
              <a:avLst/>
            </a:prstGeom>
            <a:noFill/>
            <a:ln>
              <a:noFill/>
            </a:ln>
          </p:spPr>
        </p:pic>
      </p:grpSp>
      <p:sp>
        <p:nvSpPr>
          <p:cNvPr id="84" name="Google Shape;84;p16"/>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85" name="Google Shape;85;p1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6" name="Google Shape;86;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92" name="Google Shape;92;p17"/>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93" name="Google Shape;93;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4" name="Google Shape;94;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5" name="Google Shape;95;p17"/>
          <p:cNvSpPr txBox="1"/>
          <p:nvPr/>
        </p:nvSpPr>
        <p:spPr>
          <a:xfrm>
            <a:off x="483552" y="1393401"/>
            <a:ext cx="7527925" cy="123825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Distinción entre Privilegios y Roles</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el objetivo de un enlace de base de datos</a:t>
            </a:r>
            <a:endParaRPr sz="24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101" name="Google Shape;101;p18"/>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102" name="Google Shape;102;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3" name="Google Shape;103;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4" name="Google Shape;104;p18"/>
          <p:cNvSpPr txBox="1"/>
          <p:nvPr/>
        </p:nvSpPr>
        <p:spPr>
          <a:xfrm>
            <a:off x="483552" y="1419989"/>
            <a:ext cx="8185784" cy="4293235"/>
          </a:xfrm>
          <a:prstGeom prst="rect">
            <a:avLst/>
          </a:prstGeom>
          <a:noFill/>
          <a:ln>
            <a:noFill/>
          </a:ln>
        </p:spPr>
        <p:txBody>
          <a:bodyPr anchorCtr="0" anchor="t" bIns="0" lIns="0" spcFirstLastPara="1" rIns="0" wrap="square" tIns="57775">
            <a:spAutoFit/>
          </a:bodyPr>
          <a:lstStyle/>
          <a:p>
            <a:pPr indent="-172720" lvl="0" marL="184785" marR="5080" rtl="0" algn="l">
              <a:lnSpc>
                <a:spcPct val="10807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Si comparte una computadora con otros usuarios, ya sea en la escuela o en casa, probablemente otra persona haya visto, cambiado o suprimido algo con lo que haya trabajado</a:t>
            </a:r>
            <a:endParaRPr sz="2600">
              <a:latin typeface="Calibri"/>
              <a:ea typeface="Calibri"/>
              <a:cs typeface="Calibri"/>
              <a:sym typeface="Calibri"/>
            </a:endParaRPr>
          </a:p>
          <a:p>
            <a:pPr indent="-172720" lvl="0" marL="184785" marR="689610" rtl="0" algn="l">
              <a:lnSpc>
                <a:spcPct val="108076"/>
              </a:lnSpc>
              <a:spcBef>
                <a:spcPts val="7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¿No sería fantástico poder controlar los privilegios que otros usuarios tienen a sus archivos personales?</a:t>
            </a:r>
            <a:endParaRPr sz="2600">
              <a:latin typeface="Calibri"/>
              <a:ea typeface="Calibri"/>
              <a:cs typeface="Calibri"/>
              <a:sym typeface="Calibri"/>
            </a:endParaRPr>
          </a:p>
          <a:p>
            <a:pPr indent="-172720" lvl="0" marL="184785" marR="55244" rtl="0" algn="l">
              <a:lnSpc>
                <a:spcPct val="108076"/>
              </a:lnSpc>
              <a:spcBef>
                <a:spcPts val="79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En el caso de bases de datos, al igual que en la escuela o en casa, la seguridad de los datos es muy importante</a:t>
            </a:r>
            <a:endParaRPr sz="2600">
              <a:latin typeface="Calibri"/>
              <a:ea typeface="Calibri"/>
              <a:cs typeface="Calibri"/>
              <a:sym typeface="Calibri"/>
            </a:endParaRPr>
          </a:p>
          <a:p>
            <a:pPr indent="-172720" lvl="0" marL="184785" marR="186055" rtl="0" algn="l">
              <a:lnSpc>
                <a:spcPct val="108076"/>
              </a:lnSpc>
              <a:spcBef>
                <a:spcPts val="80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En esta lección, aprenderá a otorgar o quitar acceso a los objetos de base de datos como un medio para controlar quién puede modificar, suprimir, actualizar, insertar, indexar o hacer referencia a esos objetos de base de datos</a:t>
            </a:r>
            <a:endParaRPr sz="26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a:t>
            </a:r>
            <a:endParaRPr/>
          </a:p>
        </p:txBody>
      </p:sp>
      <p:sp>
        <p:nvSpPr>
          <p:cNvPr id="110" name="Google Shape;110;p19"/>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111" name="Google Shape;111;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2" name="Google Shape;112;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3" name="Google Shape;113;p19"/>
          <p:cNvSpPr txBox="1"/>
          <p:nvPr/>
        </p:nvSpPr>
        <p:spPr>
          <a:xfrm>
            <a:off x="483552" y="1415417"/>
            <a:ext cx="8108315" cy="3444875"/>
          </a:xfrm>
          <a:prstGeom prst="rect">
            <a:avLst/>
          </a:prstGeom>
          <a:noFill/>
          <a:ln>
            <a:noFill/>
          </a:ln>
        </p:spPr>
        <p:txBody>
          <a:bodyPr anchorCtr="0" anchor="t" bIns="0" lIns="0" spcFirstLastPara="1" rIns="0" wrap="square" tIns="59675">
            <a:spAutoFit/>
          </a:bodyPr>
          <a:lstStyle/>
          <a:p>
            <a:pPr indent="-177800" lvl="0" marL="182880" marR="8636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rol es un grupo con nombre de privilegios 	relacionados que se pueden otorgar a un usuario</a:t>
            </a:r>
            <a:endParaRPr sz="2800">
              <a:latin typeface="Calibri"/>
              <a:ea typeface="Calibri"/>
              <a:cs typeface="Calibri"/>
              <a:sym typeface="Calibri"/>
            </a:endParaRPr>
          </a:p>
          <a:p>
            <a:pPr indent="-177800" lvl="0" marL="182880" marR="20891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Este método facilita la revocación y el mantenimiento 	de los privilegios</a:t>
            </a:r>
            <a:endParaRPr sz="2800">
              <a:latin typeface="Calibri"/>
              <a:ea typeface="Calibri"/>
              <a:cs typeface="Calibri"/>
              <a:sym typeface="Calibri"/>
            </a:endParaRPr>
          </a:p>
          <a:p>
            <a:pPr indent="-177800" lvl="0" marL="182880" marR="28003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usuario puede tener acceso a diferentes roles y el 	mismo rol se puede asignar a diferentes usuarios</a:t>
            </a:r>
            <a:endParaRPr sz="2800">
              <a:latin typeface="Calibri"/>
              <a:ea typeface="Calibri"/>
              <a:cs typeface="Calibri"/>
              <a:sym typeface="Calibri"/>
            </a:endParaRPr>
          </a:p>
          <a:p>
            <a:pPr indent="-177800" lvl="0" marL="182880"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roles normalmente se crean para una aplicación de 	base de datos</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a:t>
            </a:r>
            <a:endParaRPr/>
          </a:p>
        </p:txBody>
      </p:sp>
      <p:sp>
        <p:nvSpPr>
          <p:cNvPr id="119" name="Google Shape;119;p20"/>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120" name="Google Shape;120;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1" name="Google Shape;121;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2" name="Google Shape;122;p20"/>
          <p:cNvSpPr txBox="1"/>
          <p:nvPr/>
        </p:nvSpPr>
        <p:spPr>
          <a:xfrm>
            <a:off x="483552" y="1415417"/>
            <a:ext cx="8169275"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crear y asignar un rol, en primer lugar el DBA debe 	crear el rol</a:t>
            </a:r>
            <a:endParaRPr sz="2800">
              <a:latin typeface="Calibri"/>
              <a:ea typeface="Calibri"/>
              <a:cs typeface="Calibri"/>
              <a:sym typeface="Calibri"/>
            </a:endParaRPr>
          </a:p>
          <a:p>
            <a:pPr indent="-177800" lvl="0" marL="182880" marR="14732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el DBA puede asignar privilegios al rol, 	y dicho rol a los usuarios</a:t>
            </a:r>
            <a:endParaRPr sz="2800">
              <a:latin typeface="Calibri"/>
              <a:ea typeface="Calibri"/>
              <a:cs typeface="Calibri"/>
              <a:sym typeface="Calibri"/>
            </a:endParaRPr>
          </a:p>
        </p:txBody>
      </p:sp>
      <p:sp>
        <p:nvSpPr>
          <p:cNvPr id="123" name="Google Shape;123;p20"/>
          <p:cNvSpPr txBox="1"/>
          <p:nvPr/>
        </p:nvSpPr>
        <p:spPr>
          <a:xfrm>
            <a:off x="883603" y="3938991"/>
            <a:ext cx="161226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ourier New"/>
                <a:ea typeface="Courier New"/>
                <a:cs typeface="Courier New"/>
                <a:sym typeface="Courier New"/>
              </a:rPr>
              <a:t>Role created.</a:t>
            </a:r>
            <a:endParaRPr sz="1600">
              <a:latin typeface="Courier New"/>
              <a:ea typeface="Courier New"/>
              <a:cs typeface="Courier New"/>
              <a:sym typeface="Courier New"/>
            </a:endParaRPr>
          </a:p>
        </p:txBody>
      </p:sp>
      <p:sp>
        <p:nvSpPr>
          <p:cNvPr id="124" name="Google Shape;124;p20"/>
          <p:cNvSpPr txBox="1"/>
          <p:nvPr/>
        </p:nvSpPr>
        <p:spPr>
          <a:xfrm>
            <a:off x="888265" y="4609293"/>
            <a:ext cx="197802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ourier New"/>
                <a:ea typeface="Courier New"/>
                <a:cs typeface="Courier New"/>
                <a:sym typeface="Courier New"/>
              </a:rPr>
              <a:t>Grant succeeded.</a:t>
            </a:r>
            <a:endParaRPr sz="1600">
              <a:latin typeface="Courier New"/>
              <a:ea typeface="Courier New"/>
              <a:cs typeface="Courier New"/>
              <a:sym typeface="Courier New"/>
            </a:endParaRPr>
          </a:p>
        </p:txBody>
      </p:sp>
      <p:sp>
        <p:nvSpPr>
          <p:cNvPr id="125" name="Google Shape;125;p20"/>
          <p:cNvSpPr txBox="1"/>
          <p:nvPr/>
        </p:nvSpPr>
        <p:spPr>
          <a:xfrm>
            <a:off x="883603" y="5271083"/>
            <a:ext cx="197802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ourier New"/>
                <a:ea typeface="Courier New"/>
                <a:cs typeface="Courier New"/>
                <a:sym typeface="Courier New"/>
              </a:rPr>
              <a:t>Grant succeeded.</a:t>
            </a:r>
            <a:endParaRPr sz="1600">
              <a:latin typeface="Courier New"/>
              <a:ea typeface="Courier New"/>
              <a:cs typeface="Courier New"/>
              <a:sym typeface="Courier New"/>
            </a:endParaRPr>
          </a:p>
        </p:txBody>
      </p:sp>
      <p:sp>
        <p:nvSpPr>
          <p:cNvPr id="126" name="Google Shape;126;p20"/>
          <p:cNvSpPr txBox="1"/>
          <p:nvPr/>
        </p:nvSpPr>
        <p:spPr>
          <a:xfrm>
            <a:off x="417576" y="3613403"/>
            <a:ext cx="8345805" cy="3079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277"/>
              </a:lnSpc>
              <a:spcBef>
                <a:spcPts val="0"/>
              </a:spcBef>
              <a:spcAft>
                <a:spcPts val="0"/>
              </a:spcAft>
              <a:buNone/>
            </a:pPr>
            <a:r>
              <a:rPr b="1" lang="en-US" sz="1800">
                <a:solidFill>
                  <a:srgbClr val="4E3629"/>
                </a:solidFill>
                <a:latin typeface="Courier New"/>
                <a:ea typeface="Courier New"/>
                <a:cs typeface="Courier New"/>
                <a:sym typeface="Courier New"/>
              </a:rPr>
              <a:t>CREATE ROLE manager;</a:t>
            </a:r>
            <a:endParaRPr sz="1800">
              <a:latin typeface="Courier New"/>
              <a:ea typeface="Courier New"/>
              <a:cs typeface="Courier New"/>
              <a:sym typeface="Courier New"/>
            </a:endParaRPr>
          </a:p>
        </p:txBody>
      </p:sp>
      <p:sp>
        <p:nvSpPr>
          <p:cNvPr id="127" name="Google Shape;127;p20"/>
          <p:cNvSpPr txBox="1"/>
          <p:nvPr/>
        </p:nvSpPr>
        <p:spPr>
          <a:xfrm>
            <a:off x="405384" y="4335779"/>
            <a:ext cx="8347075" cy="3079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277"/>
              </a:lnSpc>
              <a:spcBef>
                <a:spcPts val="0"/>
              </a:spcBef>
              <a:spcAft>
                <a:spcPts val="0"/>
              </a:spcAft>
              <a:buNone/>
            </a:pPr>
            <a:r>
              <a:rPr b="1" lang="en-US" sz="1800">
                <a:solidFill>
                  <a:srgbClr val="4E3629"/>
                </a:solidFill>
                <a:latin typeface="Courier New"/>
                <a:ea typeface="Courier New"/>
                <a:cs typeface="Courier New"/>
                <a:sym typeface="Courier New"/>
              </a:rPr>
              <a:t>GRANT create table, create view TO manager;</a:t>
            </a:r>
            <a:endParaRPr sz="1800">
              <a:latin typeface="Courier New"/>
              <a:ea typeface="Courier New"/>
              <a:cs typeface="Courier New"/>
              <a:sym typeface="Courier New"/>
            </a:endParaRPr>
          </a:p>
        </p:txBody>
      </p:sp>
      <p:sp>
        <p:nvSpPr>
          <p:cNvPr id="128" name="Google Shape;128;p20"/>
          <p:cNvSpPr txBox="1"/>
          <p:nvPr/>
        </p:nvSpPr>
        <p:spPr>
          <a:xfrm>
            <a:off x="405384" y="5018532"/>
            <a:ext cx="8345805" cy="3079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555"/>
              </a:lnSpc>
              <a:spcBef>
                <a:spcPts val="0"/>
              </a:spcBef>
              <a:spcAft>
                <a:spcPts val="0"/>
              </a:spcAft>
              <a:buNone/>
            </a:pPr>
            <a:r>
              <a:rPr b="1" lang="en-US" sz="1800">
                <a:solidFill>
                  <a:srgbClr val="4E3629"/>
                </a:solidFill>
                <a:latin typeface="Courier New"/>
                <a:ea typeface="Courier New"/>
                <a:cs typeface="Courier New"/>
                <a:sym typeface="Courier New"/>
              </a:rPr>
              <a:t>GRANT manager TO jennifer_cho;</a:t>
            </a:r>
            <a:endParaRPr sz="1800">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a:t>
            </a:r>
            <a:endParaRPr/>
          </a:p>
        </p:txBody>
      </p:sp>
      <p:sp>
        <p:nvSpPr>
          <p:cNvPr id="134" name="Google Shape;134;p21"/>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135" name="Google Shape;135;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6" name="Google Shape;136;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7" name="Google Shape;137;p21"/>
          <p:cNvSpPr txBox="1"/>
          <p:nvPr/>
        </p:nvSpPr>
        <p:spPr>
          <a:xfrm>
            <a:off x="483552" y="1415417"/>
            <a:ext cx="6539230"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Utilice la sintaxis siguiente para crear un rol:</a:t>
            </a:r>
            <a:endParaRPr sz="2800">
              <a:latin typeface="Calibri"/>
              <a:ea typeface="Calibri"/>
              <a:cs typeface="Calibri"/>
              <a:sym typeface="Calibri"/>
            </a:endParaRPr>
          </a:p>
        </p:txBody>
      </p:sp>
      <p:sp>
        <p:nvSpPr>
          <p:cNvPr id="138" name="Google Shape;138;p21"/>
          <p:cNvSpPr txBox="1"/>
          <p:nvPr/>
        </p:nvSpPr>
        <p:spPr>
          <a:xfrm>
            <a:off x="483552" y="2387729"/>
            <a:ext cx="7931784"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Después de crear el rol, el DBA puede utilizar la 	sentencia GRANT para asignar el rol a los usuarios, así 	como asignar privilegios al rol</a:t>
            </a:r>
            <a:endParaRPr sz="2800">
              <a:latin typeface="Calibri"/>
              <a:ea typeface="Calibri"/>
              <a:cs typeface="Calibri"/>
              <a:sym typeface="Calibri"/>
            </a:endParaRPr>
          </a:p>
        </p:txBody>
      </p:sp>
      <p:sp>
        <p:nvSpPr>
          <p:cNvPr id="139" name="Google Shape;139;p21"/>
          <p:cNvSpPr txBox="1"/>
          <p:nvPr/>
        </p:nvSpPr>
        <p:spPr>
          <a:xfrm>
            <a:off x="405384" y="1978151"/>
            <a:ext cx="8345805" cy="3079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277"/>
              </a:lnSpc>
              <a:spcBef>
                <a:spcPts val="0"/>
              </a:spcBef>
              <a:spcAft>
                <a:spcPts val="0"/>
              </a:spcAft>
              <a:buNone/>
            </a:pPr>
            <a:r>
              <a:rPr b="1" lang="en-US" sz="1800">
                <a:solidFill>
                  <a:srgbClr val="4E3629"/>
                </a:solidFill>
                <a:latin typeface="Courier New"/>
                <a:ea typeface="Courier New"/>
                <a:cs typeface="Courier New"/>
                <a:sym typeface="Courier New"/>
              </a:rPr>
              <a:t>CREATE ROLE role_name;</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a:t>
            </a:r>
            <a:endParaRPr/>
          </a:p>
        </p:txBody>
      </p:sp>
      <p:sp>
        <p:nvSpPr>
          <p:cNvPr id="145" name="Google Shape;145;p22"/>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146" name="Google Shape;146;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7" name="Google Shape;147;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8" name="Google Shape;148;p22"/>
          <p:cNvSpPr txBox="1"/>
          <p:nvPr/>
        </p:nvSpPr>
        <p:spPr>
          <a:xfrm>
            <a:off x="483552" y="1415417"/>
            <a:ext cx="8131175" cy="2192020"/>
          </a:xfrm>
          <a:prstGeom prst="rect">
            <a:avLst/>
          </a:prstGeom>
          <a:noFill/>
          <a:ln>
            <a:noFill/>
          </a:ln>
        </p:spPr>
        <p:txBody>
          <a:bodyPr anchorCtr="0" anchor="t" bIns="0" lIns="0" spcFirstLastPara="1" rIns="0" wrap="square" tIns="59675">
            <a:spAutoFit/>
          </a:bodyPr>
          <a:lstStyle/>
          <a:p>
            <a:pPr indent="-177800" lvl="0" marL="182880"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que se muestra se crea un rol manager y, 	a continuación, se permite a los gestores crear tablas y 	vistas</a:t>
            </a:r>
            <a:endParaRPr sz="2800">
              <a:latin typeface="Calibri"/>
              <a:ea typeface="Calibri"/>
              <a:cs typeface="Calibri"/>
              <a:sym typeface="Calibri"/>
            </a:endParaRPr>
          </a:p>
          <a:p>
            <a:pPr indent="-177800" lvl="0" marL="183515" rtl="0" algn="just">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se otorga el rol a un usuario</a:t>
            </a:r>
            <a:endParaRPr sz="2800">
              <a:latin typeface="Calibri"/>
              <a:ea typeface="Calibri"/>
              <a:cs typeface="Calibri"/>
              <a:sym typeface="Calibri"/>
            </a:endParaRPr>
          </a:p>
          <a:p>
            <a:pPr indent="-177800" lvl="0" marL="183515" rtl="0" algn="just">
              <a:lnSpc>
                <a:spcPct val="100000"/>
              </a:lnSpc>
              <a:spcBef>
                <a:spcPts val="4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Ahora el usuario puede crear tablas y vistas</a:t>
            </a:r>
            <a:endParaRPr sz="2800">
              <a:latin typeface="Calibri"/>
              <a:ea typeface="Calibri"/>
              <a:cs typeface="Calibri"/>
              <a:sym typeface="Calibri"/>
            </a:endParaRPr>
          </a:p>
        </p:txBody>
      </p:sp>
      <p:sp>
        <p:nvSpPr>
          <p:cNvPr id="149" name="Google Shape;149;p22"/>
          <p:cNvSpPr txBox="1"/>
          <p:nvPr/>
        </p:nvSpPr>
        <p:spPr>
          <a:xfrm>
            <a:off x="883602" y="4136034"/>
            <a:ext cx="148907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ourier New"/>
                <a:ea typeface="Courier New"/>
                <a:cs typeface="Courier New"/>
                <a:sym typeface="Courier New"/>
              </a:rPr>
              <a:t>Role created</a:t>
            </a:r>
            <a:endParaRPr sz="1600">
              <a:latin typeface="Courier New"/>
              <a:ea typeface="Courier New"/>
              <a:cs typeface="Courier New"/>
              <a:sym typeface="Courier New"/>
            </a:endParaRPr>
          </a:p>
        </p:txBody>
      </p:sp>
      <p:sp>
        <p:nvSpPr>
          <p:cNvPr id="150" name="Google Shape;150;p22"/>
          <p:cNvSpPr txBox="1"/>
          <p:nvPr/>
        </p:nvSpPr>
        <p:spPr>
          <a:xfrm>
            <a:off x="888264" y="4847280"/>
            <a:ext cx="185610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ourier New"/>
                <a:ea typeface="Courier New"/>
                <a:cs typeface="Courier New"/>
                <a:sym typeface="Courier New"/>
              </a:rPr>
              <a:t>Grant succeeded</a:t>
            </a:r>
            <a:endParaRPr sz="1600">
              <a:latin typeface="Courier New"/>
              <a:ea typeface="Courier New"/>
              <a:cs typeface="Courier New"/>
              <a:sym typeface="Courier New"/>
            </a:endParaRPr>
          </a:p>
        </p:txBody>
      </p:sp>
      <p:sp>
        <p:nvSpPr>
          <p:cNvPr id="151" name="Google Shape;151;p22"/>
          <p:cNvSpPr txBox="1"/>
          <p:nvPr/>
        </p:nvSpPr>
        <p:spPr>
          <a:xfrm>
            <a:off x="883602" y="5509069"/>
            <a:ext cx="185610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ourier New"/>
                <a:ea typeface="Courier New"/>
                <a:cs typeface="Courier New"/>
                <a:sym typeface="Courier New"/>
              </a:rPr>
              <a:t>Grant succeeded</a:t>
            </a:r>
            <a:endParaRPr sz="1600">
              <a:latin typeface="Courier New"/>
              <a:ea typeface="Courier New"/>
              <a:cs typeface="Courier New"/>
              <a:sym typeface="Courier New"/>
            </a:endParaRPr>
          </a:p>
        </p:txBody>
      </p:sp>
      <p:sp>
        <p:nvSpPr>
          <p:cNvPr id="152" name="Google Shape;152;p22"/>
          <p:cNvSpPr txBox="1"/>
          <p:nvPr/>
        </p:nvSpPr>
        <p:spPr>
          <a:xfrm>
            <a:off x="405384" y="3768852"/>
            <a:ext cx="8345805" cy="3079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277"/>
              </a:lnSpc>
              <a:spcBef>
                <a:spcPts val="0"/>
              </a:spcBef>
              <a:spcAft>
                <a:spcPts val="0"/>
              </a:spcAft>
              <a:buNone/>
            </a:pPr>
            <a:r>
              <a:rPr b="1" lang="en-US" sz="1800">
                <a:solidFill>
                  <a:srgbClr val="4E3629"/>
                </a:solidFill>
                <a:latin typeface="Courier New"/>
                <a:ea typeface="Courier New"/>
                <a:cs typeface="Courier New"/>
                <a:sym typeface="Courier New"/>
              </a:rPr>
              <a:t>CREATE ROLE manager;</a:t>
            </a:r>
            <a:endParaRPr sz="1800">
              <a:latin typeface="Courier New"/>
              <a:ea typeface="Courier New"/>
              <a:cs typeface="Courier New"/>
              <a:sym typeface="Courier New"/>
            </a:endParaRPr>
          </a:p>
        </p:txBody>
      </p:sp>
      <p:sp>
        <p:nvSpPr>
          <p:cNvPr id="153" name="Google Shape;153;p22"/>
          <p:cNvSpPr txBox="1"/>
          <p:nvPr/>
        </p:nvSpPr>
        <p:spPr>
          <a:xfrm>
            <a:off x="405384" y="4529328"/>
            <a:ext cx="8345805" cy="3079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277"/>
              </a:lnSpc>
              <a:spcBef>
                <a:spcPts val="0"/>
              </a:spcBef>
              <a:spcAft>
                <a:spcPts val="0"/>
              </a:spcAft>
              <a:buNone/>
            </a:pPr>
            <a:r>
              <a:rPr b="1" lang="en-US" sz="1800">
                <a:solidFill>
                  <a:srgbClr val="4E3629"/>
                </a:solidFill>
                <a:latin typeface="Courier New"/>
                <a:ea typeface="Courier New"/>
                <a:cs typeface="Courier New"/>
                <a:sym typeface="Courier New"/>
              </a:rPr>
              <a:t>GRANT create table, create view TO manager;</a:t>
            </a:r>
            <a:endParaRPr sz="1800">
              <a:latin typeface="Courier New"/>
              <a:ea typeface="Courier New"/>
              <a:cs typeface="Courier New"/>
              <a:sym typeface="Courier New"/>
            </a:endParaRPr>
          </a:p>
        </p:txBody>
      </p:sp>
      <p:sp>
        <p:nvSpPr>
          <p:cNvPr id="154" name="Google Shape;154;p22"/>
          <p:cNvSpPr txBox="1"/>
          <p:nvPr/>
        </p:nvSpPr>
        <p:spPr>
          <a:xfrm>
            <a:off x="405384" y="5190744"/>
            <a:ext cx="8345805" cy="3079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555"/>
              </a:lnSpc>
              <a:spcBef>
                <a:spcPts val="0"/>
              </a:spcBef>
              <a:spcAft>
                <a:spcPts val="0"/>
              </a:spcAft>
              <a:buNone/>
            </a:pPr>
            <a:r>
              <a:rPr b="1" lang="en-US" sz="1800">
                <a:solidFill>
                  <a:srgbClr val="4E3629"/>
                </a:solidFill>
                <a:latin typeface="Courier New"/>
                <a:ea typeface="Courier New"/>
                <a:cs typeface="Courier New"/>
                <a:sym typeface="Courier New"/>
              </a:rPr>
              <a:t>GRANT manager TO jennifer_cho;</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a:t>
            </a:r>
            <a:endParaRPr/>
          </a:p>
        </p:txBody>
      </p:sp>
      <p:sp>
        <p:nvSpPr>
          <p:cNvPr id="160" name="Google Shape;160;p23"/>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161" name="Google Shape;161;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2" name="Google Shape;162;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3" name="Google Shape;163;p23"/>
          <p:cNvSpPr txBox="1"/>
          <p:nvPr/>
        </p:nvSpPr>
        <p:spPr>
          <a:xfrm>
            <a:off x="483552" y="1415417"/>
            <a:ext cx="8034655" cy="1706245"/>
          </a:xfrm>
          <a:prstGeom prst="rect">
            <a:avLst/>
          </a:prstGeom>
          <a:noFill/>
          <a:ln>
            <a:noFill/>
          </a:ln>
        </p:spPr>
        <p:txBody>
          <a:bodyPr anchorCtr="0" anchor="t" bIns="0" lIns="0" spcFirstLastPara="1" rIns="0" wrap="square" tIns="59675">
            <a:spAutoFit/>
          </a:bodyPr>
          <a:lstStyle/>
          <a:p>
            <a:pPr indent="-177800" lvl="0" marL="182880" marR="489584"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los usuarios tiene varios roles otorgados, reciben 	todos los privilegios asociados a todos los roles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Nota: CREATE ROLE es un privilegio del sistema que no 	se ha emitido para las clases de Academy</a:t>
            </a:r>
            <a:endParaRPr sz="2800">
              <a:latin typeface="Calibri"/>
              <a:ea typeface="Calibri"/>
              <a:cs typeface="Calibri"/>
              <a:sym typeface="Calibri"/>
            </a:endParaRPr>
          </a:p>
        </p:txBody>
      </p:sp>
      <p:sp>
        <p:nvSpPr>
          <p:cNvPr id="164" name="Google Shape;164;p23"/>
          <p:cNvSpPr txBox="1"/>
          <p:nvPr/>
        </p:nvSpPr>
        <p:spPr>
          <a:xfrm>
            <a:off x="883602" y="4136034"/>
            <a:ext cx="148907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ourier New"/>
                <a:ea typeface="Courier New"/>
                <a:cs typeface="Courier New"/>
                <a:sym typeface="Courier New"/>
              </a:rPr>
              <a:t>Role created</a:t>
            </a:r>
            <a:endParaRPr sz="1600">
              <a:latin typeface="Courier New"/>
              <a:ea typeface="Courier New"/>
              <a:cs typeface="Courier New"/>
              <a:sym typeface="Courier New"/>
            </a:endParaRPr>
          </a:p>
        </p:txBody>
      </p:sp>
      <p:sp>
        <p:nvSpPr>
          <p:cNvPr id="165" name="Google Shape;165;p23"/>
          <p:cNvSpPr txBox="1"/>
          <p:nvPr/>
        </p:nvSpPr>
        <p:spPr>
          <a:xfrm>
            <a:off x="888264" y="4847280"/>
            <a:ext cx="185610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ourier New"/>
                <a:ea typeface="Courier New"/>
                <a:cs typeface="Courier New"/>
                <a:sym typeface="Courier New"/>
              </a:rPr>
              <a:t>Grant succeeded</a:t>
            </a:r>
            <a:endParaRPr sz="1600">
              <a:latin typeface="Courier New"/>
              <a:ea typeface="Courier New"/>
              <a:cs typeface="Courier New"/>
              <a:sym typeface="Courier New"/>
            </a:endParaRPr>
          </a:p>
        </p:txBody>
      </p:sp>
      <p:sp>
        <p:nvSpPr>
          <p:cNvPr id="166" name="Google Shape;166;p23"/>
          <p:cNvSpPr txBox="1"/>
          <p:nvPr/>
        </p:nvSpPr>
        <p:spPr>
          <a:xfrm>
            <a:off x="883602" y="5509069"/>
            <a:ext cx="185610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ourier New"/>
                <a:ea typeface="Courier New"/>
                <a:cs typeface="Courier New"/>
                <a:sym typeface="Courier New"/>
              </a:rPr>
              <a:t>Grant succeeded</a:t>
            </a:r>
            <a:endParaRPr sz="1600">
              <a:latin typeface="Courier New"/>
              <a:ea typeface="Courier New"/>
              <a:cs typeface="Courier New"/>
              <a:sym typeface="Courier New"/>
            </a:endParaRPr>
          </a:p>
        </p:txBody>
      </p:sp>
      <p:sp>
        <p:nvSpPr>
          <p:cNvPr id="167" name="Google Shape;167;p23"/>
          <p:cNvSpPr txBox="1"/>
          <p:nvPr/>
        </p:nvSpPr>
        <p:spPr>
          <a:xfrm>
            <a:off x="405384" y="3768852"/>
            <a:ext cx="8345805" cy="3079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277"/>
              </a:lnSpc>
              <a:spcBef>
                <a:spcPts val="0"/>
              </a:spcBef>
              <a:spcAft>
                <a:spcPts val="0"/>
              </a:spcAft>
              <a:buNone/>
            </a:pPr>
            <a:r>
              <a:rPr b="1" lang="en-US" sz="1800">
                <a:solidFill>
                  <a:srgbClr val="4E3629"/>
                </a:solidFill>
                <a:latin typeface="Courier New"/>
                <a:ea typeface="Courier New"/>
                <a:cs typeface="Courier New"/>
                <a:sym typeface="Courier New"/>
              </a:rPr>
              <a:t>CREATE ROLE manager;</a:t>
            </a:r>
            <a:endParaRPr sz="1800">
              <a:latin typeface="Courier New"/>
              <a:ea typeface="Courier New"/>
              <a:cs typeface="Courier New"/>
              <a:sym typeface="Courier New"/>
            </a:endParaRPr>
          </a:p>
        </p:txBody>
      </p:sp>
      <p:sp>
        <p:nvSpPr>
          <p:cNvPr id="168" name="Google Shape;168;p23"/>
          <p:cNvSpPr txBox="1"/>
          <p:nvPr/>
        </p:nvSpPr>
        <p:spPr>
          <a:xfrm>
            <a:off x="405384" y="4529328"/>
            <a:ext cx="8345805" cy="3079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277"/>
              </a:lnSpc>
              <a:spcBef>
                <a:spcPts val="0"/>
              </a:spcBef>
              <a:spcAft>
                <a:spcPts val="0"/>
              </a:spcAft>
              <a:buNone/>
            </a:pPr>
            <a:r>
              <a:rPr b="1" lang="en-US" sz="1800">
                <a:solidFill>
                  <a:srgbClr val="4E3629"/>
                </a:solidFill>
                <a:latin typeface="Courier New"/>
                <a:ea typeface="Courier New"/>
                <a:cs typeface="Courier New"/>
                <a:sym typeface="Courier New"/>
              </a:rPr>
              <a:t>GRANT create table, create view TO manager;</a:t>
            </a:r>
            <a:endParaRPr sz="1800">
              <a:latin typeface="Courier New"/>
              <a:ea typeface="Courier New"/>
              <a:cs typeface="Courier New"/>
              <a:sym typeface="Courier New"/>
            </a:endParaRPr>
          </a:p>
        </p:txBody>
      </p:sp>
      <p:sp>
        <p:nvSpPr>
          <p:cNvPr id="169" name="Google Shape;169;p23"/>
          <p:cNvSpPr txBox="1"/>
          <p:nvPr/>
        </p:nvSpPr>
        <p:spPr>
          <a:xfrm>
            <a:off x="405384" y="5190744"/>
            <a:ext cx="8345805" cy="3079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555"/>
              </a:lnSpc>
              <a:spcBef>
                <a:spcPts val="0"/>
              </a:spcBef>
              <a:spcAft>
                <a:spcPts val="0"/>
              </a:spcAft>
              <a:buNone/>
            </a:pPr>
            <a:r>
              <a:rPr b="1" lang="en-US" sz="1800">
                <a:solidFill>
                  <a:srgbClr val="4E3629"/>
                </a:solidFill>
                <a:latin typeface="Courier New"/>
                <a:ea typeface="Courier New"/>
                <a:cs typeface="Courier New"/>
                <a:sym typeface="Courier New"/>
              </a:rPr>
              <a:t>GRANT manager TO jennifer_cho;</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nvSpPr>
        <p:spPr>
          <a:xfrm>
            <a:off x="51721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175" name="Google Shape;175;p24"/>
          <p:cNvSpPr txBox="1"/>
          <p:nvPr/>
        </p:nvSpPr>
        <p:spPr>
          <a:xfrm>
            <a:off x="2874191" y="6489343"/>
            <a:ext cx="2080895" cy="271145"/>
          </a:xfrm>
          <a:prstGeom prst="rect">
            <a:avLst/>
          </a:prstGeom>
          <a:noFill/>
          <a:ln>
            <a:noFill/>
          </a:ln>
        </p:spPr>
        <p:txBody>
          <a:bodyPr anchorCtr="0" anchor="t" bIns="0" lIns="0" spcFirstLastPara="1" rIns="0" wrap="square" tIns="12700">
            <a:spAutoFit/>
          </a:bodyPr>
          <a:lstStyle/>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DP 17-2</a:t>
            </a:r>
            <a:endParaRPr sz="850">
              <a:latin typeface="Calibri"/>
              <a:ea typeface="Calibri"/>
              <a:cs typeface="Calibri"/>
              <a:sym typeface="Calibri"/>
            </a:endParaRPr>
          </a:p>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Creación y Revocación de Privilegios de Objeto</a:t>
            </a:r>
            <a:endParaRPr sz="850">
              <a:latin typeface="Calibri"/>
              <a:ea typeface="Calibri"/>
              <a:cs typeface="Calibri"/>
              <a:sym typeface="Calibri"/>
            </a:endParaRPr>
          </a:p>
        </p:txBody>
      </p:sp>
      <p:sp>
        <p:nvSpPr>
          <p:cNvPr id="176" name="Google Shape;176;p24"/>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Características de los Roles</a:t>
            </a:r>
            <a:endParaRPr/>
          </a:p>
        </p:txBody>
      </p:sp>
      <p:sp>
        <p:nvSpPr>
          <p:cNvPr id="177" name="Google Shape;177;p24"/>
          <p:cNvSpPr txBox="1"/>
          <p:nvPr/>
        </p:nvSpPr>
        <p:spPr>
          <a:xfrm>
            <a:off x="483552" y="1415417"/>
            <a:ext cx="7713345" cy="1808480"/>
          </a:xfrm>
          <a:prstGeom prst="rect">
            <a:avLst/>
          </a:prstGeom>
          <a:noFill/>
          <a:ln>
            <a:noFill/>
          </a:ln>
        </p:spPr>
        <p:txBody>
          <a:bodyPr anchorCtr="0" anchor="t" bIns="0" lIns="0" spcFirstLastPara="1" rIns="0" wrap="square" tIns="59675">
            <a:spAutoFit/>
          </a:bodyPr>
          <a:lstStyle/>
          <a:p>
            <a:pPr indent="-177800" lvl="0" marL="182880" marR="77660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roles son grupos con nombre de privilegios 	relacionados</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pueden otorgar a usuarios</a:t>
            </a:r>
            <a:endParaRPr sz="2800">
              <a:latin typeface="Calibri"/>
              <a:ea typeface="Calibri"/>
              <a:cs typeface="Calibri"/>
              <a:sym typeface="Calibri"/>
            </a:endParaRPr>
          </a:p>
          <a:p>
            <a:pPr indent="-177800" lvl="0" marL="183515" rtl="0" algn="l">
              <a:lnSpc>
                <a:spcPct val="100000"/>
              </a:lnSpc>
              <a:spcBef>
                <a:spcPts val="4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Simplifican el proceso de otorgamiento y revocación</a:t>
            </a:r>
            <a:endParaRPr sz="2800">
              <a:latin typeface="Calibri"/>
              <a:ea typeface="Calibri"/>
              <a:cs typeface="Calibri"/>
              <a:sym typeface="Calibri"/>
            </a:endParaRPr>
          </a:p>
        </p:txBody>
      </p:sp>
      <p:sp>
        <p:nvSpPr>
          <p:cNvPr id="178" name="Google Shape;178;p24"/>
          <p:cNvSpPr txBox="1"/>
          <p:nvPr/>
        </p:nvSpPr>
        <p:spPr>
          <a:xfrm>
            <a:off x="483552" y="3097627"/>
            <a:ext cx="2521585" cy="994410"/>
          </a:xfrm>
          <a:prstGeom prst="rect">
            <a:avLst/>
          </a:prstGeom>
          <a:noFill/>
          <a:ln>
            <a:noFill/>
          </a:ln>
        </p:spPr>
        <p:txBody>
          <a:bodyPr anchorCtr="0" anchor="t" bIns="0" lIns="0" spcFirstLastPara="1" rIns="0" wrap="square" tIns="70475">
            <a:spAutoFit/>
          </a:bodyPr>
          <a:lstStyle/>
          <a:p>
            <a:pPr indent="0" lvl="0" marL="184785" rtl="0" algn="l">
              <a:lnSpc>
                <a:spcPct val="100000"/>
              </a:lnSpc>
              <a:spcBef>
                <a:spcPts val="0"/>
              </a:spcBef>
              <a:spcAft>
                <a:spcPts val="0"/>
              </a:spcAft>
              <a:buNone/>
            </a:pPr>
            <a:r>
              <a:rPr lang="en-US" sz="2800">
                <a:solidFill>
                  <a:srgbClr val="4E3629"/>
                </a:solidFill>
                <a:latin typeface="Calibri"/>
                <a:ea typeface="Calibri"/>
                <a:cs typeface="Calibri"/>
                <a:sym typeface="Calibri"/>
              </a:rPr>
              <a:t>de privilegios</a:t>
            </a:r>
            <a:endParaRPr sz="2800">
              <a:latin typeface="Calibri"/>
              <a:ea typeface="Calibri"/>
              <a:cs typeface="Calibri"/>
              <a:sym typeface="Calibri"/>
            </a:endParaRPr>
          </a:p>
          <a:p>
            <a:pPr indent="-177800" lvl="0" marL="183515" rtl="0" algn="l">
              <a:lnSpc>
                <a:spcPct val="100000"/>
              </a:lnSpc>
              <a:spcBef>
                <a:spcPts val="45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crea un DBA</a:t>
            </a:r>
            <a:endParaRPr sz="2800">
              <a:latin typeface="Calibri"/>
              <a:ea typeface="Calibri"/>
              <a:cs typeface="Calibri"/>
              <a:sym typeface="Calibri"/>
            </a:endParaRPr>
          </a:p>
        </p:txBody>
      </p:sp>
      <p:sp>
        <p:nvSpPr>
          <p:cNvPr id="179" name="Google Shape;179;p24"/>
          <p:cNvSpPr txBox="1"/>
          <p:nvPr/>
        </p:nvSpPr>
        <p:spPr>
          <a:xfrm>
            <a:off x="8626856" y="6562597"/>
            <a:ext cx="135255"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11</a:t>
            </a:r>
            <a:endParaRPr sz="850">
              <a:latin typeface="Calibri"/>
              <a:ea typeface="Calibri"/>
              <a:cs typeface="Calibri"/>
              <a:sym typeface="Calibri"/>
            </a:endParaRPr>
          </a:p>
        </p:txBody>
      </p:sp>
      <p:pic>
        <p:nvPicPr>
          <p:cNvPr id="180" name="Google Shape;180;p24"/>
          <p:cNvPicPr preferRelativeResize="0"/>
          <p:nvPr/>
        </p:nvPicPr>
        <p:blipFill rotWithShape="1">
          <a:blip r:embed="rId3">
            <a:alphaModFix/>
          </a:blip>
          <a:srcRect b="0" l="0" r="0" t="0"/>
          <a:stretch/>
        </p:blipFill>
        <p:spPr>
          <a:xfrm>
            <a:off x="4701540" y="3656076"/>
            <a:ext cx="3421379" cy="1414271"/>
          </a:xfrm>
          <a:prstGeom prst="rect">
            <a:avLst/>
          </a:prstGeom>
          <a:noFill/>
          <a:ln>
            <a:noFill/>
          </a:ln>
        </p:spPr>
      </p:pic>
      <p:sp>
        <p:nvSpPr>
          <p:cNvPr id="181" name="Google Shape;181;p24"/>
          <p:cNvSpPr txBox="1"/>
          <p:nvPr/>
        </p:nvSpPr>
        <p:spPr>
          <a:xfrm>
            <a:off x="4764940" y="5266648"/>
            <a:ext cx="1338580" cy="848360"/>
          </a:xfrm>
          <a:prstGeom prst="rect">
            <a:avLst/>
          </a:prstGeom>
          <a:noFill/>
          <a:ln>
            <a:noFill/>
          </a:ln>
        </p:spPr>
        <p:txBody>
          <a:bodyPr anchorCtr="0" anchor="t" bIns="0" lIns="0" spcFirstLastPara="1" rIns="0" wrap="square" tIns="12700">
            <a:spAutoFit/>
          </a:bodyPr>
          <a:lstStyle/>
          <a:p>
            <a:pPr indent="-169545" lvl="0" marL="181610" marR="5080" rtl="0" algn="l">
              <a:lnSpc>
                <a:spcPct val="100000"/>
              </a:lnSpc>
              <a:spcBef>
                <a:spcPts val="0"/>
              </a:spcBef>
              <a:spcAft>
                <a:spcPts val="0"/>
              </a:spcAft>
              <a:buNone/>
            </a:pPr>
            <a:r>
              <a:rPr b="1" lang="en-US" sz="1800">
                <a:solidFill>
                  <a:srgbClr val="4E3629"/>
                </a:solidFill>
                <a:latin typeface="Calibri"/>
                <a:ea typeface="Calibri"/>
                <a:cs typeface="Calibri"/>
                <a:sym typeface="Calibri"/>
              </a:rPr>
              <a:t>Asignación de privilegios sin un rol</a:t>
            </a:r>
            <a:endParaRPr sz="1800">
              <a:latin typeface="Calibri"/>
              <a:ea typeface="Calibri"/>
              <a:cs typeface="Calibri"/>
              <a:sym typeface="Calibri"/>
            </a:endParaRPr>
          </a:p>
        </p:txBody>
      </p:sp>
      <p:sp>
        <p:nvSpPr>
          <p:cNvPr id="182" name="Google Shape;182;p24"/>
          <p:cNvSpPr txBox="1"/>
          <p:nvPr/>
        </p:nvSpPr>
        <p:spPr>
          <a:xfrm>
            <a:off x="5984293" y="3442420"/>
            <a:ext cx="85471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alibri"/>
                <a:ea typeface="Calibri"/>
                <a:cs typeface="Calibri"/>
                <a:sym typeface="Calibri"/>
              </a:rPr>
              <a:t>Usuarios</a:t>
            </a:r>
            <a:endParaRPr sz="1800">
              <a:latin typeface="Calibri"/>
              <a:ea typeface="Calibri"/>
              <a:cs typeface="Calibri"/>
              <a:sym typeface="Calibri"/>
            </a:endParaRPr>
          </a:p>
        </p:txBody>
      </p:sp>
      <p:sp>
        <p:nvSpPr>
          <p:cNvPr id="183" name="Google Shape;183;p24"/>
          <p:cNvSpPr txBox="1"/>
          <p:nvPr/>
        </p:nvSpPr>
        <p:spPr>
          <a:xfrm>
            <a:off x="5995494" y="4546329"/>
            <a:ext cx="99885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alibri"/>
                <a:ea typeface="Calibri"/>
                <a:cs typeface="Calibri"/>
                <a:sym typeface="Calibri"/>
              </a:rPr>
              <a:t>Privilegios</a:t>
            </a:r>
            <a:endParaRPr sz="1800">
              <a:latin typeface="Calibri"/>
              <a:ea typeface="Calibri"/>
              <a:cs typeface="Calibri"/>
              <a:sym typeface="Calibri"/>
            </a:endParaRPr>
          </a:p>
        </p:txBody>
      </p:sp>
      <p:sp>
        <p:nvSpPr>
          <p:cNvPr id="184" name="Google Shape;184;p24"/>
          <p:cNvSpPr txBox="1"/>
          <p:nvPr/>
        </p:nvSpPr>
        <p:spPr>
          <a:xfrm>
            <a:off x="7080430" y="5266648"/>
            <a:ext cx="1338580" cy="848360"/>
          </a:xfrm>
          <a:prstGeom prst="rect">
            <a:avLst/>
          </a:prstGeom>
          <a:noFill/>
          <a:ln>
            <a:noFill/>
          </a:ln>
        </p:spPr>
        <p:txBody>
          <a:bodyPr anchorCtr="0" anchor="t" bIns="0" lIns="0" spcFirstLastPara="1" rIns="0" wrap="square" tIns="12700">
            <a:spAutoFit/>
          </a:bodyPr>
          <a:lstStyle/>
          <a:p>
            <a:pPr indent="0" lvl="0" marL="12065" marR="5080" rtl="0" algn="ctr">
              <a:lnSpc>
                <a:spcPct val="100000"/>
              </a:lnSpc>
              <a:spcBef>
                <a:spcPts val="0"/>
              </a:spcBef>
              <a:spcAft>
                <a:spcPts val="0"/>
              </a:spcAft>
              <a:buNone/>
            </a:pPr>
            <a:r>
              <a:rPr b="1" lang="en-US" sz="1800">
                <a:solidFill>
                  <a:srgbClr val="4E3629"/>
                </a:solidFill>
                <a:latin typeface="Calibri"/>
                <a:ea typeface="Calibri"/>
                <a:cs typeface="Calibri"/>
                <a:sym typeface="Calibri"/>
              </a:rPr>
              <a:t>Asignación de privilegios con un rol</a:t>
            </a:r>
            <a:endParaRPr sz="1800">
              <a:latin typeface="Calibri"/>
              <a:ea typeface="Calibri"/>
              <a:cs typeface="Calibri"/>
              <a:sym typeface="Calibri"/>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5"/>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Asignación de Privilegios de Objeto</a:t>
            </a:r>
            <a:endParaRPr/>
          </a:p>
        </p:txBody>
      </p:sp>
      <p:sp>
        <p:nvSpPr>
          <p:cNvPr id="190" name="Google Shape;190;p25"/>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191" name="Google Shape;191;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2" name="Google Shape;192;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3" name="Google Shape;193;p25"/>
          <p:cNvSpPr txBox="1"/>
          <p:nvPr/>
        </p:nvSpPr>
        <p:spPr>
          <a:xfrm>
            <a:off x="483552" y="1415417"/>
            <a:ext cx="7836534"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Utilice la siguiente sintaxis para otorgar privilegios de 	objeto:</a:t>
            </a:r>
            <a:endParaRPr sz="2800">
              <a:latin typeface="Calibri"/>
              <a:ea typeface="Calibri"/>
              <a:cs typeface="Calibri"/>
              <a:sym typeface="Calibri"/>
            </a:endParaRPr>
          </a:p>
        </p:txBody>
      </p:sp>
      <p:graphicFrame>
        <p:nvGraphicFramePr>
          <p:cNvPr id="194" name="Google Shape;194;p25"/>
          <p:cNvGraphicFramePr/>
          <p:nvPr/>
        </p:nvGraphicFramePr>
        <p:xfrm>
          <a:off x="803177" y="3336926"/>
          <a:ext cx="3000000" cy="3000000"/>
        </p:xfrm>
        <a:graphic>
          <a:graphicData uri="http://schemas.openxmlformats.org/drawingml/2006/table">
            <a:tbl>
              <a:tblPr bandRow="1" firstRow="1">
                <a:noFill/>
                <a:tableStyleId>{1EAE24AE-3F24-4AC2-B96C-FBD4E8975A46}</a:tableStyleId>
              </a:tblPr>
              <a:tblGrid>
                <a:gridCol w="2284100"/>
                <a:gridCol w="5240650"/>
              </a:tblGrid>
              <a:tr h="334650">
                <a:tc>
                  <a:txBody>
                    <a:bodyPr/>
                    <a:lstStyle/>
                    <a:p>
                      <a:pPr indent="0" lvl="0" marL="914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Sintaxis</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Definida</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4650">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object_priv</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es un privilegio de objeto que se va a otorgar</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78475">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column_list</a:t>
                      </a:r>
                      <a:endParaRPr sz="16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712470" rtl="0" algn="l">
                        <a:lnSpc>
                          <a:spcPct val="100699"/>
                        </a:lnSpc>
                        <a:spcBef>
                          <a:spcPts val="0"/>
                        </a:spcBef>
                        <a:spcAft>
                          <a:spcPts val="0"/>
                        </a:spcAft>
                        <a:buNone/>
                      </a:pPr>
                      <a:r>
                        <a:rPr lang="en-US" sz="1600" u="none" cap="none" strike="noStrike">
                          <a:solidFill>
                            <a:srgbClr val="4E3629"/>
                          </a:solidFill>
                          <a:latin typeface="Calibri"/>
                          <a:ea typeface="Calibri"/>
                          <a:cs typeface="Calibri"/>
                          <a:sym typeface="Calibri"/>
                        </a:rPr>
                        <a:t>especifica la columna de una tabla o vista en la que se otorgan los privilegios</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4650">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ON object_name</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es el objeto sobre el que se otorgan los privilegios</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4650">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TO user|role</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identifica el usuario o rol al que se le otorga el privilegio</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4650">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PUBLIC</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otorga privilegios de objeto a todos los usuarios</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78475">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WITH GRANT OPTION</a:t>
                      </a:r>
                      <a:endParaRPr sz="16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613410" rtl="0" algn="l">
                        <a:lnSpc>
                          <a:spcPct val="100699"/>
                        </a:lnSpc>
                        <a:spcBef>
                          <a:spcPts val="0"/>
                        </a:spcBef>
                        <a:spcAft>
                          <a:spcPts val="0"/>
                        </a:spcAft>
                        <a:buNone/>
                      </a:pPr>
                      <a:r>
                        <a:rPr lang="en-US" sz="1600" u="none" cap="none" strike="noStrike">
                          <a:solidFill>
                            <a:srgbClr val="4E3629"/>
                          </a:solidFill>
                          <a:latin typeface="Calibri"/>
                          <a:ea typeface="Calibri"/>
                          <a:cs typeface="Calibri"/>
                          <a:sym typeface="Calibri"/>
                        </a:rPr>
                        <a:t>permite al usuario con privilegios otorgar privilegios de objeto a otros usuarios y roles</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95" name="Google Shape;195;p25"/>
          <p:cNvSpPr txBox="1"/>
          <p:nvPr/>
        </p:nvSpPr>
        <p:spPr>
          <a:xfrm>
            <a:off x="405384" y="2214372"/>
            <a:ext cx="8345805" cy="108077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4444"/>
              </a:lnSpc>
              <a:spcBef>
                <a:spcPts val="0"/>
              </a:spcBef>
              <a:spcAft>
                <a:spcPts val="0"/>
              </a:spcAft>
              <a:buNone/>
            </a:pPr>
            <a:r>
              <a:rPr b="1" lang="en-US" sz="1800">
                <a:solidFill>
                  <a:srgbClr val="4E3629"/>
                </a:solidFill>
                <a:latin typeface="Courier New"/>
                <a:ea typeface="Courier New"/>
                <a:cs typeface="Courier New"/>
                <a:sym typeface="Courier New"/>
              </a:rPr>
              <a:t>GRANT object_priv [(column_list)]</a:t>
            </a:r>
            <a:endParaRPr sz="1800">
              <a:latin typeface="Courier New"/>
              <a:ea typeface="Courier New"/>
              <a:cs typeface="Courier New"/>
              <a:sym typeface="Courier New"/>
            </a:endParaRPr>
          </a:p>
          <a:p>
            <a:pPr indent="0" lvl="0" marL="2736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ON object_name</a:t>
            </a:r>
            <a:endParaRPr sz="1800">
              <a:latin typeface="Courier New"/>
              <a:ea typeface="Courier New"/>
              <a:cs typeface="Courier New"/>
              <a:sym typeface="Courier New"/>
            </a:endParaRPr>
          </a:p>
          <a:p>
            <a:pPr indent="-273685" lvl="0" marL="273685" marR="53346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TO {user|role|PUBLIC} [WITH GRANT OPTION];</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6"/>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Directrices de Privilegios de Objeto</a:t>
            </a:r>
            <a:endParaRPr/>
          </a:p>
        </p:txBody>
      </p:sp>
      <p:sp>
        <p:nvSpPr>
          <p:cNvPr id="201" name="Google Shape;201;p26"/>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202" name="Google Shape;202;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3" name="Google Shape;203;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4" name="Google Shape;204;p26"/>
          <p:cNvSpPr txBox="1"/>
          <p:nvPr/>
        </p:nvSpPr>
        <p:spPr>
          <a:xfrm>
            <a:off x="483552" y="1415417"/>
            <a:ext cx="8093709" cy="33445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otorgar privilegios en un objeto, el objeto debe 	estar en el propio esquema o debe otorgar el privilegio 	con WITH GRANT OPTION</a:t>
            </a:r>
            <a:endParaRPr sz="2800">
              <a:latin typeface="Calibri"/>
              <a:ea typeface="Calibri"/>
              <a:cs typeface="Calibri"/>
              <a:sym typeface="Calibri"/>
            </a:endParaRPr>
          </a:p>
          <a:p>
            <a:pPr indent="-177800" lvl="0" marL="182880" marR="124460" rtl="0" algn="just">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propietario de objeto puede otorgar privilegios de 	objeto en el objeto a cualquier otro usuario o rol de la 	base de datos</a:t>
            </a:r>
            <a:endParaRPr sz="2800">
              <a:latin typeface="Calibri"/>
              <a:ea typeface="Calibri"/>
              <a:cs typeface="Calibri"/>
              <a:sym typeface="Calibri"/>
            </a:endParaRPr>
          </a:p>
          <a:p>
            <a:pPr indent="-177800" lvl="0" marL="182880" marR="22860" rtl="0" algn="just">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propietario de un objeto adquiere automáticamente 	todos los privilegios de objeto en dicho objeto</a:t>
            </a:r>
            <a:endParaRPr sz="28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7"/>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Ejemplos de GRANT</a:t>
            </a:r>
            <a:endParaRPr/>
          </a:p>
        </p:txBody>
      </p:sp>
      <p:sp>
        <p:nvSpPr>
          <p:cNvPr id="210" name="Google Shape;210;p27"/>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211" name="Google Shape;211;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2" name="Google Shape;212;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3" name="Google Shape;213;p27"/>
          <p:cNvSpPr txBox="1"/>
          <p:nvPr/>
        </p:nvSpPr>
        <p:spPr>
          <a:xfrm>
            <a:off x="483552" y="1387985"/>
            <a:ext cx="4450715" cy="4429760"/>
          </a:xfrm>
          <a:prstGeom prst="rect">
            <a:avLst/>
          </a:prstGeom>
          <a:noFill/>
          <a:ln>
            <a:noFill/>
          </a:ln>
        </p:spPr>
        <p:txBody>
          <a:bodyPr anchorCtr="0" anchor="t" bIns="0" lIns="0" spcFirstLastPara="1" rIns="0" wrap="square" tIns="89525">
            <a:spAutoFit/>
          </a:bodyPr>
          <a:lstStyle/>
          <a:p>
            <a:pPr indent="-172720" lvl="0" marL="184785" marR="50800" rtl="0" algn="l">
              <a:lnSpc>
                <a:spcPct val="9615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Scott King (nombre de usuario scott_king) ha creado una tabla de clientes</a:t>
            </a:r>
            <a:endParaRPr sz="2600">
              <a:latin typeface="Calibri"/>
              <a:ea typeface="Calibri"/>
              <a:cs typeface="Calibri"/>
              <a:sym typeface="Calibri"/>
            </a:endParaRPr>
          </a:p>
          <a:p>
            <a:pPr indent="-172720" lvl="0" marL="184785" marR="5080" rtl="0" algn="l">
              <a:lnSpc>
                <a:spcPct val="96153"/>
              </a:lnSpc>
              <a:spcBef>
                <a:spcPts val="79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En el ejemplo 1 de la derecha, a todos los usuarios se les ha otorgado permiso para SELECCIONAR en la tabla de clientes de Scott</a:t>
            </a:r>
            <a:endParaRPr sz="2600">
              <a:latin typeface="Calibri"/>
              <a:ea typeface="Calibri"/>
              <a:cs typeface="Calibri"/>
              <a:sym typeface="Calibri"/>
            </a:endParaRPr>
          </a:p>
          <a:p>
            <a:pPr indent="-172720" lvl="0" marL="184785" marR="158750" rtl="0" algn="l">
              <a:lnSpc>
                <a:spcPct val="96153"/>
              </a:lnSpc>
              <a:spcBef>
                <a:spcPts val="77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En el ejemplo 2 se otorgan privilegios UPDATE a Jennifer y al rol de gestor en columnas específicas de la tabla de clientes de Scott</a:t>
            </a:r>
            <a:endParaRPr sz="2600">
              <a:latin typeface="Calibri"/>
              <a:ea typeface="Calibri"/>
              <a:cs typeface="Calibri"/>
              <a:sym typeface="Calibri"/>
            </a:endParaRPr>
          </a:p>
        </p:txBody>
      </p:sp>
      <p:sp>
        <p:nvSpPr>
          <p:cNvPr id="214" name="Google Shape;214;p27"/>
          <p:cNvSpPr txBox="1"/>
          <p:nvPr/>
        </p:nvSpPr>
        <p:spPr>
          <a:xfrm>
            <a:off x="5521452" y="1524000"/>
            <a:ext cx="3525520" cy="4150360"/>
          </a:xfrm>
          <a:prstGeom prst="rect">
            <a:avLst/>
          </a:prstGeom>
          <a:solidFill>
            <a:srgbClr val="9DBDC4">
              <a:alpha val="49804"/>
            </a:srgbClr>
          </a:solidFill>
          <a:ln>
            <a:noFill/>
          </a:ln>
        </p:spPr>
        <p:txBody>
          <a:bodyPr anchorCtr="0" anchor="t" bIns="0" lIns="0" spcFirstLastPara="1" rIns="0" wrap="square" tIns="0">
            <a:spAutoFit/>
          </a:bodyPr>
          <a:lstStyle/>
          <a:p>
            <a:pPr indent="-365125" lvl="0" marL="365125" rtl="0" algn="l">
              <a:lnSpc>
                <a:spcPct val="109687"/>
              </a:lnSpc>
              <a:spcBef>
                <a:spcPts val="0"/>
              </a:spcBef>
              <a:spcAft>
                <a:spcPts val="0"/>
              </a:spcAft>
              <a:buClr>
                <a:srgbClr val="4E3629"/>
              </a:buClr>
              <a:buSzPts val="1600"/>
              <a:buFont typeface="Courier New"/>
              <a:buAutoNum type="arabicPeriod"/>
            </a:pPr>
            <a:r>
              <a:rPr b="1" lang="en-US" sz="1600">
                <a:solidFill>
                  <a:srgbClr val="4E3629"/>
                </a:solidFill>
                <a:latin typeface="Courier New"/>
                <a:ea typeface="Courier New"/>
                <a:cs typeface="Courier New"/>
                <a:sym typeface="Courier New"/>
              </a:rPr>
              <a:t>GRANT SELECT</a:t>
            </a:r>
            <a:endParaRPr sz="1600">
              <a:latin typeface="Courier New"/>
              <a:ea typeface="Courier New"/>
              <a:cs typeface="Courier New"/>
              <a:sym typeface="Courier New"/>
            </a:endParaRPr>
          </a:p>
          <a:p>
            <a:pPr indent="0" lvl="0" marL="365760" marR="1929764"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ON clients TO PUBLIC;</a:t>
            </a:r>
            <a:endParaRPr sz="1600">
              <a:latin typeface="Courier New"/>
              <a:ea typeface="Courier New"/>
              <a:cs typeface="Courier New"/>
              <a:sym typeface="Courier New"/>
            </a:endParaRPr>
          </a:p>
          <a:p>
            <a:pPr indent="0" lvl="0" marL="0" rtl="0" algn="l">
              <a:lnSpc>
                <a:spcPct val="100000"/>
              </a:lnSpc>
              <a:spcBef>
                <a:spcPts val="105"/>
              </a:spcBef>
              <a:spcAft>
                <a:spcPts val="0"/>
              </a:spcAft>
              <a:buNone/>
            </a:pPr>
            <a:r>
              <a:t/>
            </a:r>
            <a:endParaRPr sz="1600">
              <a:latin typeface="Courier New"/>
              <a:ea typeface="Courier New"/>
              <a:cs typeface="Courier New"/>
              <a:sym typeface="Courier New"/>
            </a:endParaRPr>
          </a:p>
          <a:p>
            <a:pPr indent="-365125" lvl="0" marL="365125" rtl="0" algn="l">
              <a:lnSpc>
                <a:spcPct val="100000"/>
              </a:lnSpc>
              <a:spcBef>
                <a:spcPts val="0"/>
              </a:spcBef>
              <a:spcAft>
                <a:spcPts val="0"/>
              </a:spcAft>
              <a:buClr>
                <a:srgbClr val="4E3629"/>
              </a:buClr>
              <a:buSzPts val="1600"/>
              <a:buFont typeface="Courier New"/>
              <a:buAutoNum type="arabicPeriod" startAt="2"/>
            </a:pPr>
            <a:r>
              <a:rPr b="1" lang="en-US" sz="1600">
                <a:solidFill>
                  <a:srgbClr val="4E3629"/>
                </a:solidFill>
                <a:latin typeface="Courier New"/>
                <a:ea typeface="Courier New"/>
                <a:cs typeface="Courier New"/>
                <a:sym typeface="Courier New"/>
              </a:rPr>
              <a:t>GRANT UPDATE(first_name,</a:t>
            </a:r>
            <a:endParaRPr sz="1600">
              <a:latin typeface="Courier New"/>
              <a:ea typeface="Courier New"/>
              <a:cs typeface="Courier New"/>
              <a:sym typeface="Courier New"/>
            </a:endParaRPr>
          </a:p>
          <a:p>
            <a:pPr indent="0" lvl="0" marL="2075814"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last_name)</a:t>
            </a:r>
            <a:endParaRPr sz="1600">
              <a:latin typeface="Courier New"/>
              <a:ea typeface="Courier New"/>
              <a:cs typeface="Courier New"/>
              <a:sym typeface="Courier New"/>
            </a:endParaRPr>
          </a:p>
          <a:p>
            <a:pPr indent="0" lvl="0" marL="36576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ON clients</a:t>
            </a:r>
            <a:endParaRPr sz="1600">
              <a:latin typeface="Courier New"/>
              <a:ea typeface="Courier New"/>
              <a:cs typeface="Courier New"/>
              <a:sym typeface="Courier New"/>
            </a:endParaRPr>
          </a:p>
          <a:p>
            <a:pPr indent="0" lvl="0" marL="36576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TO jennifer_cho, manager;</a:t>
            </a:r>
            <a:endParaRPr sz="1600">
              <a:latin typeface="Courier New"/>
              <a:ea typeface="Courier New"/>
              <a:cs typeface="Courier New"/>
              <a:sym typeface="Courier New"/>
            </a:endParaRPr>
          </a:p>
          <a:p>
            <a:pPr indent="0" lvl="0" marL="0" rtl="0" algn="l">
              <a:lnSpc>
                <a:spcPct val="100000"/>
              </a:lnSpc>
              <a:spcBef>
                <a:spcPts val="105"/>
              </a:spcBef>
              <a:spcAft>
                <a:spcPts val="0"/>
              </a:spcAft>
              <a:buNone/>
            </a:pPr>
            <a:r>
              <a:t/>
            </a:r>
            <a:endParaRPr sz="1600">
              <a:latin typeface="Courier New"/>
              <a:ea typeface="Courier New"/>
              <a:cs typeface="Courier New"/>
              <a:sym typeface="Courier New"/>
            </a:endParaRPr>
          </a:p>
          <a:p>
            <a:pPr indent="-365125" lvl="0" marL="365760" rtl="0" algn="l">
              <a:lnSpc>
                <a:spcPct val="100000"/>
              </a:lnSpc>
              <a:spcBef>
                <a:spcPts val="5"/>
              </a:spcBef>
              <a:spcAft>
                <a:spcPts val="0"/>
              </a:spcAft>
              <a:buClr>
                <a:srgbClr val="4E3629"/>
              </a:buClr>
              <a:buSzPts val="1600"/>
              <a:buFont typeface="Courier New"/>
              <a:buAutoNum type="arabicPeriod" startAt="3"/>
            </a:pPr>
            <a:r>
              <a:rPr b="1" lang="en-US" sz="1600">
                <a:solidFill>
                  <a:srgbClr val="4E3629"/>
                </a:solidFill>
                <a:latin typeface="Courier New"/>
                <a:ea typeface="Courier New"/>
                <a:cs typeface="Courier New"/>
                <a:sym typeface="Courier New"/>
              </a:rPr>
              <a:t>SELECT	*</a:t>
            </a:r>
            <a:endParaRPr sz="1600">
              <a:latin typeface="Courier New"/>
              <a:ea typeface="Courier New"/>
              <a:cs typeface="Courier New"/>
              <a:sym typeface="Courier New"/>
            </a:endParaRPr>
          </a:p>
          <a:p>
            <a:pPr indent="0" lvl="0" marL="36576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FROM scott_king.clients;</a:t>
            </a:r>
            <a:endParaRPr sz="1600">
              <a:latin typeface="Courier New"/>
              <a:ea typeface="Courier New"/>
              <a:cs typeface="Courier New"/>
              <a:sym typeface="Courier New"/>
            </a:endParaRPr>
          </a:p>
          <a:p>
            <a:pPr indent="0" lvl="0" marL="0" rtl="0" algn="l">
              <a:lnSpc>
                <a:spcPct val="100000"/>
              </a:lnSpc>
              <a:spcBef>
                <a:spcPts val="105"/>
              </a:spcBef>
              <a:spcAft>
                <a:spcPts val="0"/>
              </a:spcAft>
              <a:buNone/>
            </a:pPr>
            <a:r>
              <a:t/>
            </a:r>
            <a:endParaRPr sz="1600">
              <a:latin typeface="Courier New"/>
              <a:ea typeface="Courier New"/>
              <a:cs typeface="Courier New"/>
              <a:sym typeface="Courier New"/>
            </a:endParaRPr>
          </a:p>
          <a:p>
            <a:pPr indent="-364490" lvl="0" marL="364490" marR="342265" rtl="0" algn="l">
              <a:lnSpc>
                <a:spcPct val="100000"/>
              </a:lnSpc>
              <a:spcBef>
                <a:spcPts val="0"/>
              </a:spcBef>
              <a:spcAft>
                <a:spcPts val="0"/>
              </a:spcAft>
              <a:buClr>
                <a:srgbClr val="4E3629"/>
              </a:buClr>
              <a:buSzPts val="1600"/>
              <a:buFont typeface="Courier New"/>
              <a:buAutoNum type="arabicPeriod" startAt="4"/>
            </a:pPr>
            <a:r>
              <a:rPr b="1" lang="en-US" sz="1600">
                <a:solidFill>
                  <a:srgbClr val="4E3629"/>
                </a:solidFill>
                <a:latin typeface="Courier New"/>
                <a:ea typeface="Courier New"/>
                <a:cs typeface="Courier New"/>
                <a:sym typeface="Courier New"/>
              </a:rPr>
              <a:t>CREATE SYNONYM clients 	FOR scott_king.clients;</a:t>
            </a:r>
            <a:endParaRPr sz="1600">
              <a:latin typeface="Courier New"/>
              <a:ea typeface="Courier New"/>
              <a:cs typeface="Courier New"/>
              <a:sym typeface="Courier New"/>
            </a:endParaRPr>
          </a:p>
          <a:p>
            <a:pPr indent="0" lvl="0" marL="0" rtl="0" algn="l">
              <a:lnSpc>
                <a:spcPct val="100000"/>
              </a:lnSpc>
              <a:spcBef>
                <a:spcPts val="105"/>
              </a:spcBef>
              <a:spcAft>
                <a:spcPts val="0"/>
              </a:spcAft>
              <a:buClr>
                <a:srgbClr val="4E3629"/>
              </a:buClr>
              <a:buSzPts val="1600"/>
              <a:buFont typeface="Courier New"/>
              <a:buNone/>
            </a:pPr>
            <a:r>
              <a:t/>
            </a:r>
            <a:endParaRPr sz="1600">
              <a:latin typeface="Courier New"/>
              <a:ea typeface="Courier New"/>
              <a:cs typeface="Courier New"/>
              <a:sym typeface="Courier New"/>
            </a:endParaRPr>
          </a:p>
          <a:p>
            <a:pPr indent="-365125" lvl="0" marL="365760" rtl="0" algn="l">
              <a:lnSpc>
                <a:spcPct val="100000"/>
              </a:lnSpc>
              <a:spcBef>
                <a:spcPts val="5"/>
              </a:spcBef>
              <a:spcAft>
                <a:spcPts val="0"/>
              </a:spcAft>
              <a:buClr>
                <a:srgbClr val="4E3629"/>
              </a:buClr>
              <a:buSzPts val="1600"/>
              <a:buFont typeface="Courier New"/>
              <a:buAutoNum type="arabicPeriod" startAt="4"/>
            </a:pPr>
            <a:r>
              <a:rPr b="1" lang="en-US" sz="1600">
                <a:solidFill>
                  <a:srgbClr val="4E3629"/>
                </a:solidFill>
                <a:latin typeface="Courier New"/>
                <a:ea typeface="Courier New"/>
                <a:cs typeface="Courier New"/>
                <a:sym typeface="Courier New"/>
              </a:rPr>
              <a:t>SELECT *</a:t>
            </a:r>
            <a:endParaRPr sz="1600">
              <a:latin typeface="Courier New"/>
              <a:ea typeface="Courier New"/>
              <a:cs typeface="Courier New"/>
              <a:sym typeface="Courier New"/>
            </a:endParaRPr>
          </a:p>
          <a:p>
            <a:pPr indent="0" lvl="0" marL="36639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FROM clients;</a:t>
            </a:r>
            <a:endParaRPr sz="1600">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8"/>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Ejemplos de GRANT</a:t>
            </a:r>
            <a:endParaRPr/>
          </a:p>
        </p:txBody>
      </p:sp>
      <p:sp>
        <p:nvSpPr>
          <p:cNvPr id="220" name="Google Shape;220;p28"/>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221" name="Google Shape;221;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2" name="Google Shape;222;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3" name="Google Shape;223;p28"/>
          <p:cNvSpPr txBox="1"/>
          <p:nvPr/>
        </p:nvSpPr>
        <p:spPr>
          <a:xfrm>
            <a:off x="483552" y="1415417"/>
            <a:ext cx="4726305" cy="4496435"/>
          </a:xfrm>
          <a:prstGeom prst="rect">
            <a:avLst/>
          </a:prstGeom>
          <a:noFill/>
          <a:ln>
            <a:noFill/>
          </a:ln>
        </p:spPr>
        <p:txBody>
          <a:bodyPr anchorCtr="0" anchor="t" bIns="0" lIns="0" spcFirstLastPara="1" rIns="0" wrap="square" tIns="59675">
            <a:spAutoFit/>
          </a:bodyPr>
          <a:lstStyle/>
          <a:p>
            <a:pPr indent="-177800" lvl="0" marL="182880" marR="9080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Jennifer ahora desea 	SELECCIONAR datos de la tabla 	de Scott, la sintaxis que debe 	utilizar se muestra en el 	ejemplo 3</a:t>
            </a:r>
            <a:endParaRPr sz="2800">
              <a:latin typeface="Calibri"/>
              <a:ea typeface="Calibri"/>
              <a:cs typeface="Calibri"/>
              <a:sym typeface="Calibri"/>
            </a:endParaRPr>
          </a:p>
          <a:p>
            <a:pPr indent="-177800" lvl="0" marL="182880" marR="508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Asimismo, Jennifer puede crear 	un sinónimo para la tabla de 	Scott y SELECCIONAR en el 	sinónimo</a:t>
            </a:r>
            <a:endParaRPr sz="2800">
              <a:latin typeface="Calibri"/>
              <a:ea typeface="Calibri"/>
              <a:cs typeface="Calibri"/>
              <a:sym typeface="Calibri"/>
            </a:endParaRPr>
          </a:p>
          <a:p>
            <a:pPr indent="-177800" lvl="0" marL="182880" marR="864869"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Consulte la sintaxis en los 	ejemplos 4 y 5</a:t>
            </a:r>
            <a:endParaRPr sz="2800">
              <a:latin typeface="Calibri"/>
              <a:ea typeface="Calibri"/>
              <a:cs typeface="Calibri"/>
              <a:sym typeface="Calibri"/>
            </a:endParaRPr>
          </a:p>
        </p:txBody>
      </p:sp>
      <p:sp>
        <p:nvSpPr>
          <p:cNvPr id="224" name="Google Shape;224;p28"/>
          <p:cNvSpPr txBox="1"/>
          <p:nvPr/>
        </p:nvSpPr>
        <p:spPr>
          <a:xfrm>
            <a:off x="5521452" y="1440180"/>
            <a:ext cx="3525520" cy="4150360"/>
          </a:xfrm>
          <a:prstGeom prst="rect">
            <a:avLst/>
          </a:prstGeom>
          <a:solidFill>
            <a:srgbClr val="9DBDC4">
              <a:alpha val="49804"/>
            </a:srgbClr>
          </a:solidFill>
          <a:ln>
            <a:noFill/>
          </a:ln>
        </p:spPr>
        <p:txBody>
          <a:bodyPr anchorCtr="0" anchor="t" bIns="0" lIns="0" spcFirstLastPara="1" rIns="0" wrap="square" tIns="0">
            <a:spAutoFit/>
          </a:bodyPr>
          <a:lstStyle/>
          <a:p>
            <a:pPr indent="-365125" lvl="0" marL="365125" rtl="0" algn="l">
              <a:lnSpc>
                <a:spcPct val="109687"/>
              </a:lnSpc>
              <a:spcBef>
                <a:spcPts val="0"/>
              </a:spcBef>
              <a:spcAft>
                <a:spcPts val="0"/>
              </a:spcAft>
              <a:buClr>
                <a:srgbClr val="4E3629"/>
              </a:buClr>
              <a:buSzPts val="1600"/>
              <a:buFont typeface="Courier New"/>
              <a:buAutoNum type="arabicPeriod"/>
            </a:pPr>
            <a:r>
              <a:rPr b="1" lang="en-US" sz="1600">
                <a:solidFill>
                  <a:srgbClr val="4E3629"/>
                </a:solidFill>
                <a:latin typeface="Courier New"/>
                <a:ea typeface="Courier New"/>
                <a:cs typeface="Courier New"/>
                <a:sym typeface="Courier New"/>
              </a:rPr>
              <a:t>GRANT SELECT</a:t>
            </a:r>
            <a:endParaRPr sz="1600">
              <a:latin typeface="Courier New"/>
              <a:ea typeface="Courier New"/>
              <a:cs typeface="Courier New"/>
              <a:sym typeface="Courier New"/>
            </a:endParaRPr>
          </a:p>
          <a:p>
            <a:pPr indent="0" lvl="0" marL="365760" marR="1929764"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ON clients TO PUBLIC;</a:t>
            </a:r>
            <a:endParaRPr sz="1600">
              <a:latin typeface="Courier New"/>
              <a:ea typeface="Courier New"/>
              <a:cs typeface="Courier New"/>
              <a:sym typeface="Courier New"/>
            </a:endParaRPr>
          </a:p>
          <a:p>
            <a:pPr indent="0" lvl="0" marL="0" rtl="0" algn="l">
              <a:lnSpc>
                <a:spcPct val="100000"/>
              </a:lnSpc>
              <a:spcBef>
                <a:spcPts val="105"/>
              </a:spcBef>
              <a:spcAft>
                <a:spcPts val="0"/>
              </a:spcAft>
              <a:buNone/>
            </a:pPr>
            <a:r>
              <a:t/>
            </a:r>
            <a:endParaRPr sz="1600">
              <a:latin typeface="Courier New"/>
              <a:ea typeface="Courier New"/>
              <a:cs typeface="Courier New"/>
              <a:sym typeface="Courier New"/>
            </a:endParaRPr>
          </a:p>
          <a:p>
            <a:pPr indent="-365125" lvl="0" marL="365125" rtl="0" algn="l">
              <a:lnSpc>
                <a:spcPct val="100000"/>
              </a:lnSpc>
              <a:spcBef>
                <a:spcPts val="0"/>
              </a:spcBef>
              <a:spcAft>
                <a:spcPts val="0"/>
              </a:spcAft>
              <a:buClr>
                <a:srgbClr val="4E3629"/>
              </a:buClr>
              <a:buSzPts val="1600"/>
              <a:buFont typeface="Courier New"/>
              <a:buAutoNum type="arabicPeriod" startAt="2"/>
            </a:pPr>
            <a:r>
              <a:rPr b="1" lang="en-US" sz="1600">
                <a:solidFill>
                  <a:srgbClr val="4E3629"/>
                </a:solidFill>
                <a:latin typeface="Courier New"/>
                <a:ea typeface="Courier New"/>
                <a:cs typeface="Courier New"/>
                <a:sym typeface="Courier New"/>
              </a:rPr>
              <a:t>GRANT UPDATE(first_name,</a:t>
            </a:r>
            <a:endParaRPr sz="1600">
              <a:latin typeface="Courier New"/>
              <a:ea typeface="Courier New"/>
              <a:cs typeface="Courier New"/>
              <a:sym typeface="Courier New"/>
            </a:endParaRPr>
          </a:p>
          <a:p>
            <a:pPr indent="0" lvl="0" marL="2075814"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last_name)</a:t>
            </a:r>
            <a:endParaRPr sz="1600">
              <a:latin typeface="Courier New"/>
              <a:ea typeface="Courier New"/>
              <a:cs typeface="Courier New"/>
              <a:sym typeface="Courier New"/>
            </a:endParaRPr>
          </a:p>
          <a:p>
            <a:pPr indent="0" lvl="0" marL="36576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ON clients</a:t>
            </a:r>
            <a:endParaRPr sz="1600">
              <a:latin typeface="Courier New"/>
              <a:ea typeface="Courier New"/>
              <a:cs typeface="Courier New"/>
              <a:sym typeface="Courier New"/>
            </a:endParaRPr>
          </a:p>
          <a:p>
            <a:pPr indent="0" lvl="0" marL="36576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TO jennifer_cho, manager;</a:t>
            </a:r>
            <a:endParaRPr sz="1600">
              <a:latin typeface="Courier New"/>
              <a:ea typeface="Courier New"/>
              <a:cs typeface="Courier New"/>
              <a:sym typeface="Courier New"/>
            </a:endParaRPr>
          </a:p>
          <a:p>
            <a:pPr indent="0" lvl="0" marL="0" rtl="0" algn="l">
              <a:lnSpc>
                <a:spcPct val="100000"/>
              </a:lnSpc>
              <a:spcBef>
                <a:spcPts val="105"/>
              </a:spcBef>
              <a:spcAft>
                <a:spcPts val="0"/>
              </a:spcAft>
              <a:buNone/>
            </a:pPr>
            <a:r>
              <a:t/>
            </a:r>
            <a:endParaRPr sz="1600">
              <a:latin typeface="Courier New"/>
              <a:ea typeface="Courier New"/>
              <a:cs typeface="Courier New"/>
              <a:sym typeface="Courier New"/>
            </a:endParaRPr>
          </a:p>
          <a:p>
            <a:pPr indent="-365125" lvl="0" marL="365760" rtl="0" algn="l">
              <a:lnSpc>
                <a:spcPct val="100000"/>
              </a:lnSpc>
              <a:spcBef>
                <a:spcPts val="5"/>
              </a:spcBef>
              <a:spcAft>
                <a:spcPts val="0"/>
              </a:spcAft>
              <a:buClr>
                <a:srgbClr val="4E3629"/>
              </a:buClr>
              <a:buSzPts val="1600"/>
              <a:buFont typeface="Courier New"/>
              <a:buAutoNum type="arabicPeriod" startAt="3"/>
            </a:pPr>
            <a:r>
              <a:rPr b="1" lang="en-US" sz="1600">
                <a:solidFill>
                  <a:srgbClr val="4E3629"/>
                </a:solidFill>
                <a:latin typeface="Courier New"/>
                <a:ea typeface="Courier New"/>
                <a:cs typeface="Courier New"/>
                <a:sym typeface="Courier New"/>
              </a:rPr>
              <a:t>SELECT	*</a:t>
            </a:r>
            <a:endParaRPr sz="1600">
              <a:latin typeface="Courier New"/>
              <a:ea typeface="Courier New"/>
              <a:cs typeface="Courier New"/>
              <a:sym typeface="Courier New"/>
            </a:endParaRPr>
          </a:p>
          <a:p>
            <a:pPr indent="0" lvl="0" marL="36576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FROM scott_king.clients;</a:t>
            </a:r>
            <a:endParaRPr sz="1600">
              <a:latin typeface="Courier New"/>
              <a:ea typeface="Courier New"/>
              <a:cs typeface="Courier New"/>
              <a:sym typeface="Courier New"/>
            </a:endParaRPr>
          </a:p>
          <a:p>
            <a:pPr indent="0" lvl="0" marL="0" rtl="0" algn="l">
              <a:lnSpc>
                <a:spcPct val="100000"/>
              </a:lnSpc>
              <a:spcBef>
                <a:spcPts val="105"/>
              </a:spcBef>
              <a:spcAft>
                <a:spcPts val="0"/>
              </a:spcAft>
              <a:buNone/>
            </a:pPr>
            <a:r>
              <a:t/>
            </a:r>
            <a:endParaRPr sz="1600">
              <a:latin typeface="Courier New"/>
              <a:ea typeface="Courier New"/>
              <a:cs typeface="Courier New"/>
              <a:sym typeface="Courier New"/>
            </a:endParaRPr>
          </a:p>
          <a:p>
            <a:pPr indent="-364490" lvl="0" marL="364490" marR="342265" rtl="0" algn="l">
              <a:lnSpc>
                <a:spcPct val="100000"/>
              </a:lnSpc>
              <a:spcBef>
                <a:spcPts val="0"/>
              </a:spcBef>
              <a:spcAft>
                <a:spcPts val="0"/>
              </a:spcAft>
              <a:buClr>
                <a:srgbClr val="4E3629"/>
              </a:buClr>
              <a:buSzPts val="1600"/>
              <a:buFont typeface="Courier New"/>
              <a:buAutoNum type="arabicPeriod" startAt="4"/>
            </a:pPr>
            <a:r>
              <a:rPr b="1" lang="en-US" sz="1600">
                <a:solidFill>
                  <a:srgbClr val="4E3629"/>
                </a:solidFill>
                <a:latin typeface="Courier New"/>
                <a:ea typeface="Courier New"/>
                <a:cs typeface="Courier New"/>
                <a:sym typeface="Courier New"/>
              </a:rPr>
              <a:t>CREATE SYNONYM clients 	FOR scott_king.clients;</a:t>
            </a:r>
            <a:endParaRPr sz="1600">
              <a:latin typeface="Courier New"/>
              <a:ea typeface="Courier New"/>
              <a:cs typeface="Courier New"/>
              <a:sym typeface="Courier New"/>
            </a:endParaRPr>
          </a:p>
          <a:p>
            <a:pPr indent="0" lvl="0" marL="0" rtl="0" algn="l">
              <a:lnSpc>
                <a:spcPct val="100000"/>
              </a:lnSpc>
              <a:spcBef>
                <a:spcPts val="105"/>
              </a:spcBef>
              <a:spcAft>
                <a:spcPts val="0"/>
              </a:spcAft>
              <a:buClr>
                <a:srgbClr val="4E3629"/>
              </a:buClr>
              <a:buSzPts val="1600"/>
              <a:buFont typeface="Courier New"/>
              <a:buNone/>
            </a:pPr>
            <a:r>
              <a:t/>
            </a:r>
            <a:endParaRPr sz="1600">
              <a:latin typeface="Courier New"/>
              <a:ea typeface="Courier New"/>
              <a:cs typeface="Courier New"/>
              <a:sym typeface="Courier New"/>
            </a:endParaRPr>
          </a:p>
          <a:p>
            <a:pPr indent="-365125" lvl="0" marL="365760" rtl="0" algn="l">
              <a:lnSpc>
                <a:spcPct val="100000"/>
              </a:lnSpc>
              <a:spcBef>
                <a:spcPts val="5"/>
              </a:spcBef>
              <a:spcAft>
                <a:spcPts val="0"/>
              </a:spcAft>
              <a:buClr>
                <a:srgbClr val="4E3629"/>
              </a:buClr>
              <a:buSzPts val="1600"/>
              <a:buFont typeface="Courier New"/>
              <a:buAutoNum type="arabicPeriod" startAt="4"/>
            </a:pPr>
            <a:r>
              <a:rPr b="1" lang="en-US" sz="1600">
                <a:solidFill>
                  <a:srgbClr val="4E3629"/>
                </a:solidFill>
                <a:latin typeface="Courier New"/>
                <a:ea typeface="Courier New"/>
                <a:cs typeface="Courier New"/>
                <a:sym typeface="Courier New"/>
              </a:rPr>
              <a:t>SELECT *</a:t>
            </a:r>
            <a:endParaRPr sz="1600">
              <a:latin typeface="Courier New"/>
              <a:ea typeface="Courier New"/>
              <a:cs typeface="Courier New"/>
              <a:sym typeface="Courier New"/>
            </a:endParaRPr>
          </a:p>
          <a:p>
            <a:pPr indent="0" lvl="0" marL="36639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FROM clients;</a:t>
            </a:r>
            <a:endParaRPr sz="1600">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Ejemplos de GRANT</a:t>
            </a:r>
            <a:endParaRPr/>
          </a:p>
        </p:txBody>
      </p:sp>
      <p:sp>
        <p:nvSpPr>
          <p:cNvPr id="230" name="Google Shape;230;p29"/>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231" name="Google Shape;231;p2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lnSpc>
                <a:spcPct val="104499"/>
              </a:lnSpc>
              <a:spcBef>
                <a:spcPts val="0"/>
              </a:spcBef>
              <a:spcAft>
                <a:spcPts val="0"/>
              </a:spcAft>
              <a:buNone/>
            </a:pPr>
            <a:fld id="{00000000-1234-1234-1234-123412341234}" type="slidenum">
              <a:rPr lang="en-US"/>
              <a:t>‹#›</a:t>
            </a:fld>
            <a:endParaRPr/>
          </a:p>
        </p:txBody>
      </p:sp>
      <p:sp>
        <p:nvSpPr>
          <p:cNvPr id="232" name="Google Shape;232;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3" name="Google Shape;233;p29"/>
          <p:cNvSpPr txBox="1"/>
          <p:nvPr/>
        </p:nvSpPr>
        <p:spPr>
          <a:xfrm>
            <a:off x="483552" y="1359029"/>
            <a:ext cx="4118610" cy="4231640"/>
          </a:xfrm>
          <a:prstGeom prst="rect">
            <a:avLst/>
          </a:prstGeom>
          <a:noFill/>
          <a:ln>
            <a:noFill/>
          </a:ln>
        </p:spPr>
        <p:txBody>
          <a:bodyPr anchorCtr="0" anchor="t" bIns="0" lIns="0" spcFirstLastPara="1" rIns="0" wrap="square" tIns="13325">
            <a:spAutoFit/>
          </a:bodyPr>
          <a:lstStyle/>
          <a:p>
            <a:pPr indent="-172085" lvl="0" marL="184785" rtl="0" algn="l">
              <a:lnSpc>
                <a:spcPct val="10192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Hay disponibles diferentes</a:t>
            </a:r>
            <a:endParaRPr sz="2600">
              <a:latin typeface="Calibri"/>
              <a:ea typeface="Calibri"/>
              <a:cs typeface="Calibri"/>
              <a:sym typeface="Calibri"/>
            </a:endParaRPr>
          </a:p>
          <a:p>
            <a:pPr indent="0" lvl="0" marL="184785" rtl="0" algn="l">
              <a:lnSpc>
                <a:spcPct val="84038"/>
              </a:lnSpc>
              <a:spcBef>
                <a:spcPts val="0"/>
              </a:spcBef>
              <a:spcAft>
                <a:spcPts val="0"/>
              </a:spcAft>
              <a:buNone/>
            </a:pPr>
            <a:r>
              <a:rPr lang="en-US" sz="2600">
                <a:solidFill>
                  <a:srgbClr val="4E3629"/>
                </a:solidFill>
                <a:latin typeface="Calibri"/>
                <a:ea typeface="Calibri"/>
                <a:cs typeface="Calibri"/>
                <a:sym typeface="Calibri"/>
              </a:rPr>
              <a:t>privilegios de objeto para</a:t>
            </a:r>
            <a:endParaRPr sz="2600">
              <a:latin typeface="Calibri"/>
              <a:ea typeface="Calibri"/>
              <a:cs typeface="Calibri"/>
              <a:sym typeface="Calibri"/>
            </a:endParaRPr>
          </a:p>
          <a:p>
            <a:pPr indent="0" lvl="0" marL="184785" marR="146050" rtl="0" algn="l">
              <a:lnSpc>
                <a:spcPct val="70000"/>
              </a:lnSpc>
              <a:spcBef>
                <a:spcPts val="465"/>
              </a:spcBef>
              <a:spcAft>
                <a:spcPts val="0"/>
              </a:spcAft>
              <a:buNone/>
            </a:pPr>
            <a:r>
              <a:rPr lang="en-US" sz="2600">
                <a:solidFill>
                  <a:srgbClr val="4E3629"/>
                </a:solidFill>
                <a:latin typeface="Calibri"/>
                <a:ea typeface="Calibri"/>
                <a:cs typeface="Calibri"/>
                <a:sym typeface="Calibri"/>
              </a:rPr>
              <a:t>distintos tipos de objetos de esquema</a:t>
            </a:r>
            <a:endParaRPr sz="2600">
              <a:latin typeface="Calibri"/>
              <a:ea typeface="Calibri"/>
              <a:cs typeface="Calibri"/>
              <a:sym typeface="Calibri"/>
            </a:endParaRPr>
          </a:p>
          <a:p>
            <a:pPr indent="-172085" lvl="0" marL="184785" rtl="0" algn="l">
              <a:lnSpc>
                <a:spcPct val="9634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Un usuario automáticamente</a:t>
            </a:r>
            <a:endParaRPr sz="2600">
              <a:latin typeface="Calibri"/>
              <a:ea typeface="Calibri"/>
              <a:cs typeface="Calibri"/>
              <a:sym typeface="Calibri"/>
            </a:endParaRPr>
          </a:p>
          <a:p>
            <a:pPr indent="0" lvl="0" marL="184785" rtl="0" algn="l">
              <a:lnSpc>
                <a:spcPct val="84038"/>
              </a:lnSpc>
              <a:spcBef>
                <a:spcPts val="0"/>
              </a:spcBef>
              <a:spcAft>
                <a:spcPts val="0"/>
              </a:spcAft>
              <a:buNone/>
            </a:pPr>
            <a:r>
              <a:rPr lang="en-US" sz="2600">
                <a:solidFill>
                  <a:srgbClr val="4E3629"/>
                </a:solidFill>
                <a:latin typeface="Calibri"/>
                <a:ea typeface="Calibri"/>
                <a:cs typeface="Calibri"/>
                <a:sym typeface="Calibri"/>
              </a:rPr>
              <a:t>tiene todos los privilegios de</a:t>
            </a:r>
            <a:endParaRPr sz="2600">
              <a:latin typeface="Calibri"/>
              <a:ea typeface="Calibri"/>
              <a:cs typeface="Calibri"/>
              <a:sym typeface="Calibri"/>
            </a:endParaRPr>
          </a:p>
          <a:p>
            <a:pPr indent="0" lvl="0" marL="184785" rtl="0" algn="l">
              <a:lnSpc>
                <a:spcPct val="84038"/>
              </a:lnSpc>
              <a:spcBef>
                <a:spcPts val="0"/>
              </a:spcBef>
              <a:spcAft>
                <a:spcPts val="0"/>
              </a:spcAft>
              <a:buNone/>
            </a:pPr>
            <a:r>
              <a:rPr lang="en-US" sz="2600">
                <a:solidFill>
                  <a:srgbClr val="4E3629"/>
                </a:solidFill>
                <a:latin typeface="Calibri"/>
                <a:ea typeface="Calibri"/>
                <a:cs typeface="Calibri"/>
                <a:sym typeface="Calibri"/>
              </a:rPr>
              <a:t>objeto para los objetos de</a:t>
            </a:r>
            <a:endParaRPr sz="2600">
              <a:latin typeface="Calibri"/>
              <a:ea typeface="Calibri"/>
              <a:cs typeface="Calibri"/>
              <a:sym typeface="Calibri"/>
            </a:endParaRPr>
          </a:p>
          <a:p>
            <a:pPr indent="0" lvl="0" marL="184785" marR="527050" rtl="0" algn="l">
              <a:lnSpc>
                <a:spcPct val="70000"/>
              </a:lnSpc>
              <a:spcBef>
                <a:spcPts val="470"/>
              </a:spcBef>
              <a:spcAft>
                <a:spcPts val="0"/>
              </a:spcAft>
              <a:buNone/>
            </a:pPr>
            <a:r>
              <a:rPr lang="en-US" sz="2600">
                <a:solidFill>
                  <a:srgbClr val="4E3629"/>
                </a:solidFill>
                <a:latin typeface="Calibri"/>
                <a:ea typeface="Calibri"/>
                <a:cs typeface="Calibri"/>
                <a:sym typeface="Calibri"/>
              </a:rPr>
              <a:t>esquema que están en su esquema</a:t>
            </a:r>
            <a:endParaRPr sz="2600">
              <a:latin typeface="Calibri"/>
              <a:ea typeface="Calibri"/>
              <a:cs typeface="Calibri"/>
              <a:sym typeface="Calibri"/>
            </a:endParaRPr>
          </a:p>
          <a:p>
            <a:pPr indent="-172085" lvl="0" marL="184785" rtl="0" algn="l">
              <a:lnSpc>
                <a:spcPct val="96730"/>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Un usuario puede otorgar</a:t>
            </a:r>
            <a:endParaRPr sz="2600">
              <a:latin typeface="Calibri"/>
              <a:ea typeface="Calibri"/>
              <a:cs typeface="Calibri"/>
              <a:sym typeface="Calibri"/>
            </a:endParaRPr>
          </a:p>
          <a:p>
            <a:pPr indent="0" lvl="0" marL="184785" rtl="0" algn="l">
              <a:lnSpc>
                <a:spcPct val="84038"/>
              </a:lnSpc>
              <a:spcBef>
                <a:spcPts val="0"/>
              </a:spcBef>
              <a:spcAft>
                <a:spcPts val="0"/>
              </a:spcAft>
              <a:buNone/>
            </a:pPr>
            <a:r>
              <a:rPr lang="en-US" sz="2600">
                <a:solidFill>
                  <a:srgbClr val="4E3629"/>
                </a:solidFill>
                <a:latin typeface="Calibri"/>
                <a:ea typeface="Calibri"/>
                <a:cs typeface="Calibri"/>
                <a:sym typeface="Calibri"/>
              </a:rPr>
              <a:t>privilegios de objeto sobre</a:t>
            </a:r>
            <a:endParaRPr sz="2600">
              <a:latin typeface="Calibri"/>
              <a:ea typeface="Calibri"/>
              <a:cs typeface="Calibri"/>
              <a:sym typeface="Calibri"/>
            </a:endParaRPr>
          </a:p>
          <a:p>
            <a:pPr indent="0" lvl="0" marL="184785" rtl="0" algn="l">
              <a:lnSpc>
                <a:spcPct val="84038"/>
              </a:lnSpc>
              <a:spcBef>
                <a:spcPts val="0"/>
              </a:spcBef>
              <a:spcAft>
                <a:spcPts val="0"/>
              </a:spcAft>
              <a:buNone/>
            </a:pPr>
            <a:r>
              <a:rPr lang="en-US" sz="2600">
                <a:solidFill>
                  <a:srgbClr val="4E3629"/>
                </a:solidFill>
                <a:latin typeface="Calibri"/>
                <a:ea typeface="Calibri"/>
                <a:cs typeface="Calibri"/>
                <a:sym typeface="Calibri"/>
              </a:rPr>
              <a:t>cualquier objeto de esquema</a:t>
            </a:r>
            <a:endParaRPr sz="2600">
              <a:latin typeface="Calibri"/>
              <a:ea typeface="Calibri"/>
              <a:cs typeface="Calibri"/>
              <a:sym typeface="Calibri"/>
            </a:endParaRPr>
          </a:p>
          <a:p>
            <a:pPr indent="0" lvl="0" marL="184785" marR="274955" rtl="0" algn="l">
              <a:lnSpc>
                <a:spcPct val="70000"/>
              </a:lnSpc>
              <a:spcBef>
                <a:spcPts val="470"/>
              </a:spcBef>
              <a:spcAft>
                <a:spcPts val="0"/>
              </a:spcAft>
              <a:buNone/>
            </a:pPr>
            <a:r>
              <a:rPr lang="en-US" sz="2600">
                <a:solidFill>
                  <a:srgbClr val="4E3629"/>
                </a:solidFill>
                <a:latin typeface="Calibri"/>
                <a:ea typeface="Calibri"/>
                <a:cs typeface="Calibri"/>
                <a:sym typeface="Calibri"/>
              </a:rPr>
              <a:t>que el usuario posea a otro usuario o rol</a:t>
            </a:r>
            <a:endParaRPr sz="2600">
              <a:latin typeface="Calibri"/>
              <a:ea typeface="Calibri"/>
              <a:cs typeface="Calibri"/>
              <a:sym typeface="Calibri"/>
            </a:endParaRPr>
          </a:p>
        </p:txBody>
      </p:sp>
      <p:sp>
        <p:nvSpPr>
          <p:cNvPr id="234" name="Google Shape;234;p29"/>
          <p:cNvSpPr txBox="1"/>
          <p:nvPr/>
        </p:nvSpPr>
        <p:spPr>
          <a:xfrm>
            <a:off x="5446776" y="1447800"/>
            <a:ext cx="3523615" cy="4150360"/>
          </a:xfrm>
          <a:prstGeom prst="rect">
            <a:avLst/>
          </a:prstGeom>
          <a:solidFill>
            <a:srgbClr val="9DBDC4">
              <a:alpha val="49804"/>
            </a:srgbClr>
          </a:solidFill>
          <a:ln>
            <a:noFill/>
          </a:ln>
        </p:spPr>
        <p:txBody>
          <a:bodyPr anchorCtr="0" anchor="t" bIns="0" lIns="0" spcFirstLastPara="1" rIns="0" wrap="square" tIns="0">
            <a:spAutoFit/>
          </a:bodyPr>
          <a:lstStyle/>
          <a:p>
            <a:pPr indent="-364490" lvl="0" marL="364490" rtl="0" algn="l">
              <a:lnSpc>
                <a:spcPct val="109687"/>
              </a:lnSpc>
              <a:spcBef>
                <a:spcPts val="0"/>
              </a:spcBef>
              <a:spcAft>
                <a:spcPts val="0"/>
              </a:spcAft>
              <a:buClr>
                <a:srgbClr val="4E3629"/>
              </a:buClr>
              <a:buSzPts val="1600"/>
              <a:buFont typeface="Courier New"/>
              <a:buAutoNum type="arabicPeriod"/>
            </a:pPr>
            <a:r>
              <a:rPr b="1" lang="en-US" sz="1600">
                <a:solidFill>
                  <a:srgbClr val="4E3629"/>
                </a:solidFill>
                <a:latin typeface="Courier New"/>
                <a:ea typeface="Courier New"/>
                <a:cs typeface="Courier New"/>
                <a:sym typeface="Courier New"/>
              </a:rPr>
              <a:t>GRANT SELECT</a:t>
            </a:r>
            <a:endParaRPr sz="1600">
              <a:latin typeface="Courier New"/>
              <a:ea typeface="Courier New"/>
              <a:cs typeface="Courier New"/>
              <a:sym typeface="Courier New"/>
            </a:endParaRPr>
          </a:p>
          <a:p>
            <a:pPr indent="0" lvl="0" marL="365125" marR="192849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ON clients TO PUBLIC;</a:t>
            </a:r>
            <a:endParaRPr sz="1600">
              <a:latin typeface="Courier New"/>
              <a:ea typeface="Courier New"/>
              <a:cs typeface="Courier New"/>
              <a:sym typeface="Courier New"/>
            </a:endParaRPr>
          </a:p>
          <a:p>
            <a:pPr indent="0" lvl="0" marL="0" rtl="0" algn="l">
              <a:lnSpc>
                <a:spcPct val="100000"/>
              </a:lnSpc>
              <a:spcBef>
                <a:spcPts val="105"/>
              </a:spcBef>
              <a:spcAft>
                <a:spcPts val="0"/>
              </a:spcAft>
              <a:buNone/>
            </a:pPr>
            <a:r>
              <a:t/>
            </a:r>
            <a:endParaRPr sz="1600">
              <a:latin typeface="Courier New"/>
              <a:ea typeface="Courier New"/>
              <a:cs typeface="Courier New"/>
              <a:sym typeface="Courier New"/>
            </a:endParaRPr>
          </a:p>
          <a:p>
            <a:pPr indent="-364490" lvl="0" marL="364490" rtl="0" algn="l">
              <a:lnSpc>
                <a:spcPct val="100000"/>
              </a:lnSpc>
              <a:spcBef>
                <a:spcPts val="0"/>
              </a:spcBef>
              <a:spcAft>
                <a:spcPts val="0"/>
              </a:spcAft>
              <a:buClr>
                <a:srgbClr val="4E3629"/>
              </a:buClr>
              <a:buSzPts val="1600"/>
              <a:buFont typeface="Courier New"/>
              <a:buAutoNum type="arabicPeriod" startAt="2"/>
            </a:pPr>
            <a:r>
              <a:rPr b="1" lang="en-US" sz="1600">
                <a:solidFill>
                  <a:srgbClr val="4E3629"/>
                </a:solidFill>
                <a:latin typeface="Courier New"/>
                <a:ea typeface="Courier New"/>
                <a:cs typeface="Courier New"/>
                <a:sym typeface="Courier New"/>
              </a:rPr>
              <a:t>GRANT UPDATE(first_name,</a:t>
            </a:r>
            <a:endParaRPr sz="1600">
              <a:latin typeface="Courier New"/>
              <a:ea typeface="Courier New"/>
              <a:cs typeface="Courier New"/>
              <a:sym typeface="Courier New"/>
            </a:endParaRPr>
          </a:p>
          <a:p>
            <a:pPr indent="0" lvl="0" marL="207518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last_name)</a:t>
            </a:r>
            <a:endParaRPr sz="1600">
              <a:latin typeface="Courier New"/>
              <a:ea typeface="Courier New"/>
              <a:cs typeface="Courier New"/>
              <a:sym typeface="Courier New"/>
            </a:endParaRPr>
          </a:p>
          <a:p>
            <a:pPr indent="0" lvl="0" marL="36512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ON clients</a:t>
            </a:r>
            <a:endParaRPr sz="1600">
              <a:latin typeface="Courier New"/>
              <a:ea typeface="Courier New"/>
              <a:cs typeface="Courier New"/>
              <a:sym typeface="Courier New"/>
            </a:endParaRPr>
          </a:p>
          <a:p>
            <a:pPr indent="0" lvl="0" marL="36512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TO jennifer_cho, manager;</a:t>
            </a:r>
            <a:endParaRPr sz="1600">
              <a:latin typeface="Courier New"/>
              <a:ea typeface="Courier New"/>
              <a:cs typeface="Courier New"/>
              <a:sym typeface="Courier New"/>
            </a:endParaRPr>
          </a:p>
          <a:p>
            <a:pPr indent="0" lvl="0" marL="0" rtl="0" algn="l">
              <a:lnSpc>
                <a:spcPct val="100000"/>
              </a:lnSpc>
              <a:spcBef>
                <a:spcPts val="105"/>
              </a:spcBef>
              <a:spcAft>
                <a:spcPts val="0"/>
              </a:spcAft>
              <a:buNone/>
            </a:pPr>
            <a:r>
              <a:t/>
            </a:r>
            <a:endParaRPr sz="1600">
              <a:latin typeface="Courier New"/>
              <a:ea typeface="Courier New"/>
              <a:cs typeface="Courier New"/>
              <a:sym typeface="Courier New"/>
            </a:endParaRPr>
          </a:p>
          <a:p>
            <a:pPr indent="-365125" lvl="0" marL="365125" rtl="0" algn="l">
              <a:lnSpc>
                <a:spcPct val="100000"/>
              </a:lnSpc>
              <a:spcBef>
                <a:spcPts val="5"/>
              </a:spcBef>
              <a:spcAft>
                <a:spcPts val="0"/>
              </a:spcAft>
              <a:buClr>
                <a:srgbClr val="4E3629"/>
              </a:buClr>
              <a:buSzPts val="1600"/>
              <a:buFont typeface="Courier New"/>
              <a:buAutoNum type="arabicPeriod" startAt="3"/>
            </a:pPr>
            <a:r>
              <a:rPr b="1" lang="en-US" sz="1600">
                <a:solidFill>
                  <a:srgbClr val="4E3629"/>
                </a:solidFill>
                <a:latin typeface="Courier New"/>
                <a:ea typeface="Courier New"/>
                <a:cs typeface="Courier New"/>
                <a:sym typeface="Courier New"/>
              </a:rPr>
              <a:t>SELECT	*</a:t>
            </a:r>
            <a:endParaRPr sz="1600">
              <a:latin typeface="Courier New"/>
              <a:ea typeface="Courier New"/>
              <a:cs typeface="Courier New"/>
              <a:sym typeface="Courier New"/>
            </a:endParaRPr>
          </a:p>
          <a:p>
            <a:pPr indent="0" lvl="0" marL="36512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FROM scott_king.clients;</a:t>
            </a:r>
            <a:endParaRPr sz="1600">
              <a:latin typeface="Courier New"/>
              <a:ea typeface="Courier New"/>
              <a:cs typeface="Courier New"/>
              <a:sym typeface="Courier New"/>
            </a:endParaRPr>
          </a:p>
          <a:p>
            <a:pPr indent="0" lvl="0" marL="0" rtl="0" algn="l">
              <a:lnSpc>
                <a:spcPct val="100000"/>
              </a:lnSpc>
              <a:spcBef>
                <a:spcPts val="105"/>
              </a:spcBef>
              <a:spcAft>
                <a:spcPts val="0"/>
              </a:spcAft>
              <a:buNone/>
            </a:pPr>
            <a:r>
              <a:t/>
            </a:r>
            <a:endParaRPr sz="1600">
              <a:latin typeface="Courier New"/>
              <a:ea typeface="Courier New"/>
              <a:cs typeface="Courier New"/>
              <a:sym typeface="Courier New"/>
            </a:endParaRPr>
          </a:p>
          <a:p>
            <a:pPr indent="-363855" lvl="0" marL="363855" marR="341630" rtl="0" algn="l">
              <a:lnSpc>
                <a:spcPct val="100000"/>
              </a:lnSpc>
              <a:spcBef>
                <a:spcPts val="0"/>
              </a:spcBef>
              <a:spcAft>
                <a:spcPts val="0"/>
              </a:spcAft>
              <a:buClr>
                <a:srgbClr val="4E3629"/>
              </a:buClr>
              <a:buSzPts val="1600"/>
              <a:buFont typeface="Courier New"/>
              <a:buAutoNum type="arabicPeriod" startAt="4"/>
            </a:pPr>
            <a:r>
              <a:rPr b="1" lang="en-US" sz="1600">
                <a:solidFill>
                  <a:srgbClr val="4E3629"/>
                </a:solidFill>
                <a:latin typeface="Courier New"/>
                <a:ea typeface="Courier New"/>
                <a:cs typeface="Courier New"/>
                <a:sym typeface="Courier New"/>
              </a:rPr>
              <a:t>CREATE SYNONYM clients 	FOR scott_king.clients;</a:t>
            </a:r>
            <a:endParaRPr sz="1600">
              <a:latin typeface="Courier New"/>
              <a:ea typeface="Courier New"/>
              <a:cs typeface="Courier New"/>
              <a:sym typeface="Courier New"/>
            </a:endParaRPr>
          </a:p>
          <a:p>
            <a:pPr indent="0" lvl="0" marL="0" rtl="0" algn="l">
              <a:lnSpc>
                <a:spcPct val="100000"/>
              </a:lnSpc>
              <a:spcBef>
                <a:spcPts val="105"/>
              </a:spcBef>
              <a:spcAft>
                <a:spcPts val="0"/>
              </a:spcAft>
              <a:buClr>
                <a:srgbClr val="4E3629"/>
              </a:buClr>
              <a:buSzPts val="1600"/>
              <a:buFont typeface="Courier New"/>
              <a:buNone/>
            </a:pPr>
            <a:r>
              <a:t/>
            </a:r>
            <a:endParaRPr sz="1600">
              <a:latin typeface="Courier New"/>
              <a:ea typeface="Courier New"/>
              <a:cs typeface="Courier New"/>
              <a:sym typeface="Courier New"/>
            </a:endParaRPr>
          </a:p>
          <a:p>
            <a:pPr indent="-365125" lvl="0" marL="365125" rtl="0" algn="l">
              <a:lnSpc>
                <a:spcPct val="100000"/>
              </a:lnSpc>
              <a:spcBef>
                <a:spcPts val="5"/>
              </a:spcBef>
              <a:spcAft>
                <a:spcPts val="0"/>
              </a:spcAft>
              <a:buClr>
                <a:srgbClr val="4E3629"/>
              </a:buClr>
              <a:buSzPts val="1600"/>
              <a:buFont typeface="Courier New"/>
              <a:buAutoNum type="arabicPeriod" startAt="4"/>
            </a:pPr>
            <a:r>
              <a:rPr b="1" lang="en-US" sz="1600">
                <a:solidFill>
                  <a:srgbClr val="4E3629"/>
                </a:solidFill>
                <a:latin typeface="Courier New"/>
                <a:ea typeface="Courier New"/>
                <a:cs typeface="Courier New"/>
                <a:sym typeface="Courier New"/>
              </a:rPr>
              <a:t>SELECT *</a:t>
            </a:r>
            <a:endParaRPr sz="1600">
              <a:latin typeface="Courier New"/>
              <a:ea typeface="Courier New"/>
              <a:cs typeface="Courier New"/>
              <a:sym typeface="Courier New"/>
            </a:endParaRPr>
          </a:p>
          <a:p>
            <a:pPr indent="0" lvl="0" marL="36576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FROM clients;</a:t>
            </a:r>
            <a:endParaRPr sz="1600">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0"/>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WITH GRANT OPTION</a:t>
            </a:r>
            <a:endParaRPr/>
          </a:p>
        </p:txBody>
      </p:sp>
      <p:sp>
        <p:nvSpPr>
          <p:cNvPr id="240" name="Google Shape;240;p30"/>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241" name="Google Shape;241;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2" name="Google Shape;242;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3" name="Google Shape;243;p30"/>
          <p:cNvSpPr txBox="1"/>
          <p:nvPr>
            <p:ph idx="1" type="body"/>
          </p:nvPr>
        </p:nvSpPr>
        <p:spPr>
          <a:xfrm>
            <a:off x="483552" y="1415417"/>
            <a:ext cx="8015700" cy="29238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a:t>El usuario con privilegios puede transferir un privilegio 	que se otorga con la cláusula WITH GRANT OPTION a 	otros usuarios y roles</a:t>
            </a:r>
            <a:endParaRPr/>
          </a:p>
          <a:p>
            <a:pPr indent="-177800" lvl="0" marL="182880" marR="635635" rtl="0" algn="l">
              <a:lnSpc>
                <a:spcPct val="108214"/>
              </a:lnSpc>
              <a:spcBef>
                <a:spcPts val="785"/>
              </a:spcBef>
              <a:spcAft>
                <a:spcPts val="1200"/>
              </a:spcAft>
              <a:buClr>
                <a:srgbClr val="D1350F"/>
              </a:buClr>
              <a:buSzPts val="2800"/>
              <a:buFont typeface="Arial"/>
              <a:buChar char="•"/>
            </a:pPr>
            <a:r>
              <a:rPr lang="en-US"/>
              <a:t>Los privilegios de objeto otorgados con la cláusula 	WITH GRANT OPTION se revocan si se revoca el 	privilegio del otorgante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1"/>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WITH GRANT OPTION</a:t>
            </a:r>
            <a:endParaRPr/>
          </a:p>
        </p:txBody>
      </p:sp>
      <p:sp>
        <p:nvSpPr>
          <p:cNvPr id="249" name="Google Shape;249;p31"/>
          <p:cNvSpPr txBox="1"/>
          <p:nvPr/>
        </p:nvSpPr>
        <p:spPr>
          <a:xfrm>
            <a:off x="483552" y="1415417"/>
            <a:ext cx="8084184" cy="20904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siguiente se proporciona al usuario Scott 	acceso a la tabla de clientes con los privilegios para 	consultar la tabla y agregar filas a la tabla</a:t>
            </a:r>
            <a:endParaRPr sz="2800">
              <a:latin typeface="Calibri"/>
              <a:ea typeface="Calibri"/>
              <a:cs typeface="Calibri"/>
              <a:sym typeface="Calibri"/>
            </a:endParaRPr>
          </a:p>
          <a:p>
            <a:pPr indent="-177800" lvl="0" marL="182880" marR="57213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también se permite a Scott otorgar a 	otros usuarios estos privilegios:</a:t>
            </a:r>
            <a:endParaRPr sz="2800">
              <a:latin typeface="Calibri"/>
              <a:ea typeface="Calibri"/>
              <a:cs typeface="Calibri"/>
              <a:sym typeface="Calibri"/>
            </a:endParaRPr>
          </a:p>
        </p:txBody>
      </p:sp>
      <p:sp>
        <p:nvSpPr>
          <p:cNvPr id="250" name="Google Shape;250;p31"/>
          <p:cNvSpPr/>
          <p:nvPr/>
        </p:nvSpPr>
        <p:spPr>
          <a:xfrm>
            <a:off x="405384" y="3643884"/>
            <a:ext cx="8345805" cy="1080770"/>
          </a:xfrm>
          <a:custGeom>
            <a:rect b="b" l="l" r="r" t="t"/>
            <a:pathLst>
              <a:path extrusionOk="0" h="1080770" w="8345805">
                <a:moveTo>
                  <a:pt x="8345424" y="0"/>
                </a:moveTo>
                <a:lnTo>
                  <a:pt x="0" y="0"/>
                </a:lnTo>
                <a:lnTo>
                  <a:pt x="0" y="1080516"/>
                </a:lnTo>
                <a:lnTo>
                  <a:pt x="8345424" y="1080516"/>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1" name="Google Shape;251;p31"/>
          <p:cNvSpPr txBox="1"/>
          <p:nvPr/>
        </p:nvSpPr>
        <p:spPr>
          <a:xfrm>
            <a:off x="404812" y="3594953"/>
            <a:ext cx="2880995" cy="112268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GRANT	SELECT, INSERT</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ON	clients</a:t>
            </a:r>
            <a:endParaRPr sz="1800">
              <a:latin typeface="Courier New"/>
              <a:ea typeface="Courier New"/>
              <a:cs typeface="Courier New"/>
              <a:sym typeface="Courier New"/>
            </a:endParaRPr>
          </a:p>
          <a:p>
            <a:pPr indent="0" lvl="0" marL="0" marR="1435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TO	scott_king WITH	GRANT OPTION;</a:t>
            </a:r>
            <a:endParaRPr sz="1800">
              <a:latin typeface="Courier New"/>
              <a:ea typeface="Courier New"/>
              <a:cs typeface="Courier New"/>
              <a:sym typeface="Courier New"/>
            </a:endParaRPr>
          </a:p>
        </p:txBody>
      </p:sp>
      <p:sp>
        <p:nvSpPr>
          <p:cNvPr id="252" name="Google Shape;252;p31"/>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253" name="Google Shape;253;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4" name="Google Shape;254;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2"/>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Palabra Clave PUBLIC</a:t>
            </a:r>
            <a:endParaRPr/>
          </a:p>
        </p:txBody>
      </p:sp>
      <p:sp>
        <p:nvSpPr>
          <p:cNvPr id="260" name="Google Shape;260;p32"/>
          <p:cNvSpPr txBox="1"/>
          <p:nvPr/>
        </p:nvSpPr>
        <p:spPr>
          <a:xfrm>
            <a:off x="483552" y="1415417"/>
            <a:ext cx="7931784" cy="2090420"/>
          </a:xfrm>
          <a:prstGeom prst="rect">
            <a:avLst/>
          </a:prstGeom>
          <a:noFill/>
          <a:ln>
            <a:noFill/>
          </a:ln>
        </p:spPr>
        <p:txBody>
          <a:bodyPr anchorCtr="0" anchor="t" bIns="0" lIns="0" spcFirstLastPara="1" rIns="0" wrap="square" tIns="59675">
            <a:spAutoFit/>
          </a:bodyPr>
          <a:lstStyle/>
          <a:p>
            <a:pPr indent="-177800" lvl="0" marL="182880" marR="26162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propietario de una tabla puede otorgar acceso a 	todos los usuarios mediante la palabra clave PUBLIC</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segundo ejemplo de la diapositiva permite a todos 	los usuarios del sistema consultar datos de la tabla de 	clientes de Jason</a:t>
            </a:r>
            <a:endParaRPr sz="2800">
              <a:latin typeface="Calibri"/>
              <a:ea typeface="Calibri"/>
              <a:cs typeface="Calibri"/>
              <a:sym typeface="Calibri"/>
            </a:endParaRPr>
          </a:p>
        </p:txBody>
      </p:sp>
      <p:sp>
        <p:nvSpPr>
          <p:cNvPr id="261" name="Google Shape;261;p32"/>
          <p:cNvSpPr/>
          <p:nvPr/>
        </p:nvSpPr>
        <p:spPr>
          <a:xfrm>
            <a:off x="405384" y="3758184"/>
            <a:ext cx="8345805" cy="859790"/>
          </a:xfrm>
          <a:custGeom>
            <a:rect b="b" l="l" r="r" t="t"/>
            <a:pathLst>
              <a:path extrusionOk="0" h="859789" w="8345805">
                <a:moveTo>
                  <a:pt x="8345424" y="0"/>
                </a:moveTo>
                <a:lnTo>
                  <a:pt x="0" y="0"/>
                </a:lnTo>
                <a:lnTo>
                  <a:pt x="0" y="859536"/>
                </a:lnTo>
                <a:lnTo>
                  <a:pt x="8345424" y="859536"/>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2" name="Google Shape;262;p32"/>
          <p:cNvSpPr txBox="1"/>
          <p:nvPr/>
        </p:nvSpPr>
        <p:spPr>
          <a:xfrm>
            <a:off x="404812" y="3736083"/>
            <a:ext cx="3560445" cy="84836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GRANT	SELECT</a:t>
            </a:r>
            <a:endParaRPr sz="1800">
              <a:latin typeface="Courier New"/>
              <a:ea typeface="Courier New"/>
              <a:cs typeface="Courier New"/>
              <a:sym typeface="Courier New"/>
            </a:endParaRPr>
          </a:p>
          <a:p>
            <a:pPr indent="0" lvl="0" marL="0"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ON	jason_tsang.clients TO	PUBLIC;</a:t>
            </a:r>
            <a:endParaRPr sz="1800">
              <a:latin typeface="Courier New"/>
              <a:ea typeface="Courier New"/>
              <a:cs typeface="Courier New"/>
              <a:sym typeface="Courier New"/>
            </a:endParaRPr>
          </a:p>
        </p:txBody>
      </p:sp>
      <p:sp>
        <p:nvSpPr>
          <p:cNvPr id="263" name="Google Shape;263;p32"/>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264" name="Google Shape;264;p3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5" name="Google Shape;265;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3"/>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Objeto DELETE</a:t>
            </a:r>
            <a:endParaRPr/>
          </a:p>
        </p:txBody>
      </p:sp>
      <p:sp>
        <p:nvSpPr>
          <p:cNvPr id="271" name="Google Shape;271;p33"/>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272" name="Google Shape;272;p3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3" name="Google Shape;273;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4" name="Google Shape;274;p33"/>
          <p:cNvSpPr txBox="1"/>
          <p:nvPr/>
        </p:nvSpPr>
        <p:spPr>
          <a:xfrm>
            <a:off x="483552" y="1415417"/>
            <a:ext cx="8113395" cy="3951604"/>
          </a:xfrm>
          <a:prstGeom prst="rect">
            <a:avLst/>
          </a:prstGeom>
          <a:noFill/>
          <a:ln>
            <a:noFill/>
          </a:ln>
        </p:spPr>
        <p:txBody>
          <a:bodyPr anchorCtr="0" anchor="t" bIns="0" lIns="0" spcFirstLastPara="1" rIns="0" wrap="square" tIns="59675">
            <a:spAutoFit/>
          </a:bodyPr>
          <a:lstStyle/>
          <a:p>
            <a:pPr indent="-177800" lvl="0" marL="182880" marR="355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intenta realizar una operación no autorizada, como 	la supresión de una fila de una tabla en la que no tiene 	el privilegio DELETE, Oracle Server no permite que se 	produzca la operación</a:t>
            </a:r>
            <a:endParaRPr sz="2800">
              <a:latin typeface="Calibri"/>
              <a:ea typeface="Calibri"/>
              <a:cs typeface="Calibri"/>
              <a:sym typeface="Calibri"/>
            </a:endParaRPr>
          </a:p>
          <a:p>
            <a:pPr indent="-177800" lvl="0" marL="182880" marR="5080" rtl="0" algn="just">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recibe el mensaje de error de Oracle Server "table or 	view does not exist", es porque ha realizado una de las 	siguientes acciones:</a:t>
            </a:r>
            <a:endParaRPr sz="2800">
              <a:latin typeface="Calibri"/>
              <a:ea typeface="Calibri"/>
              <a:cs typeface="Calibri"/>
              <a:sym typeface="Calibri"/>
            </a:endParaRPr>
          </a:p>
          <a:p>
            <a:pPr indent="0" lvl="0" marL="355600" rtl="0" algn="l">
              <a:lnSpc>
                <a:spcPct val="100000"/>
              </a:lnSpc>
              <a:spcBef>
                <a:spcPts val="8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Hacer referencia a una tabla o vista que no existe</a:t>
            </a:r>
            <a:endParaRPr sz="2400">
              <a:latin typeface="Calibri"/>
              <a:ea typeface="Calibri"/>
              <a:cs typeface="Calibri"/>
              <a:sym typeface="Calibri"/>
            </a:endParaRPr>
          </a:p>
          <a:p>
            <a:pPr indent="-175260" lvl="0" marL="530860" marR="389255" rtl="0" algn="l">
              <a:lnSpc>
                <a:spcPct val="107916"/>
              </a:lnSpc>
              <a:spcBef>
                <a:spcPts val="4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Intentar realizar una operación en una tabla o vista para la que no tiene los privilegios adecuados</a:t>
            </a:r>
            <a:endParaRPr sz="24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4"/>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Revocación de Privilegios de Objeto</a:t>
            </a:r>
            <a:endParaRPr/>
          </a:p>
        </p:txBody>
      </p:sp>
      <p:sp>
        <p:nvSpPr>
          <p:cNvPr id="280" name="Google Shape;280;p34"/>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281" name="Google Shape;281;p3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2" name="Google Shape;282;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3" name="Google Shape;283;p34"/>
          <p:cNvSpPr txBox="1"/>
          <p:nvPr/>
        </p:nvSpPr>
        <p:spPr>
          <a:xfrm>
            <a:off x="483552" y="1415417"/>
            <a:ext cx="8112125" cy="2474595"/>
          </a:xfrm>
          <a:prstGeom prst="rect">
            <a:avLst/>
          </a:prstGeom>
          <a:noFill/>
          <a:ln>
            <a:noFill/>
          </a:ln>
        </p:spPr>
        <p:txBody>
          <a:bodyPr anchorCtr="0" anchor="t" bIns="0" lIns="0" spcFirstLastPara="1" rIns="0" wrap="square" tIns="59675">
            <a:spAutoFit/>
          </a:bodyPr>
          <a:lstStyle/>
          <a:p>
            <a:pPr indent="-177800" lvl="0" marL="182880" marR="109156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eliminar los privilegios otorgados a otros 	usuarios mediante la sentencia REVOKE</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utilizar la sentencia REVOKE, los privilegios que 	especifique se revocarán a los usuarios que designe y a 	otros usuarios a los que se haya otorgado estos 	privilegios con las palabras clave WITH GRANT OPTION</a:t>
            </a:r>
            <a:endParaRPr sz="28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5"/>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Revocación de Privilegios de Objeto</a:t>
            </a:r>
            <a:endParaRPr/>
          </a:p>
        </p:txBody>
      </p:sp>
      <p:sp>
        <p:nvSpPr>
          <p:cNvPr id="289" name="Google Shape;289;p35"/>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290" name="Google Shape;290;p3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91" name="Google Shape;291;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92" name="Google Shape;292;p35"/>
          <p:cNvSpPr txBox="1"/>
          <p:nvPr/>
        </p:nvSpPr>
        <p:spPr>
          <a:xfrm>
            <a:off x="483552" y="1415417"/>
            <a:ext cx="785114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Utilice la siguiente sintaxis para revocar privilegios de 	objeto:</a:t>
            </a:r>
            <a:endParaRPr sz="2800">
              <a:latin typeface="Calibri"/>
              <a:ea typeface="Calibri"/>
              <a:cs typeface="Calibri"/>
              <a:sym typeface="Calibri"/>
            </a:endParaRPr>
          </a:p>
        </p:txBody>
      </p:sp>
      <p:sp>
        <p:nvSpPr>
          <p:cNvPr id="293" name="Google Shape;293;p35"/>
          <p:cNvSpPr txBox="1"/>
          <p:nvPr/>
        </p:nvSpPr>
        <p:spPr>
          <a:xfrm>
            <a:off x="483552" y="3742565"/>
            <a:ext cx="7687945" cy="16046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CASCADE CONSTRAINTS es obligatorio para eliminar 	todas las restricciones de integridad referenciales 	realizadas sobre el objeto mediante el privilegio 	REFERENCES</a:t>
            </a:r>
            <a:endParaRPr sz="2800">
              <a:latin typeface="Calibri"/>
              <a:ea typeface="Calibri"/>
              <a:cs typeface="Calibri"/>
              <a:sym typeface="Calibri"/>
            </a:endParaRPr>
          </a:p>
        </p:txBody>
      </p:sp>
      <p:sp>
        <p:nvSpPr>
          <p:cNvPr id="294" name="Google Shape;294;p35"/>
          <p:cNvSpPr txBox="1"/>
          <p:nvPr/>
        </p:nvSpPr>
        <p:spPr>
          <a:xfrm>
            <a:off x="393191" y="2343911"/>
            <a:ext cx="8345805" cy="1187450"/>
          </a:xfrm>
          <a:prstGeom prst="rect">
            <a:avLst/>
          </a:prstGeom>
          <a:solidFill>
            <a:srgbClr val="9DBDC4">
              <a:alpha val="49804"/>
            </a:srgbClr>
          </a:solidFill>
          <a:ln>
            <a:noFill/>
          </a:ln>
        </p:spPr>
        <p:txBody>
          <a:bodyPr anchorCtr="0" anchor="t" bIns="0" lIns="0" spcFirstLastPara="1" rIns="0" wrap="square" tIns="17125">
            <a:spAutoFit/>
          </a:bodyPr>
          <a:lstStyle/>
          <a:p>
            <a:pPr indent="0" lvl="0" marL="0" marR="30143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REVOKE {privilege [, privilege...]|ALL} ON	object</a:t>
            </a:r>
            <a:endParaRPr sz="1800">
              <a:latin typeface="Courier New"/>
              <a:ea typeface="Courier New"/>
              <a:cs typeface="Courier New"/>
              <a:sym typeface="Courier New"/>
            </a:endParaRPr>
          </a:p>
          <a:p>
            <a:pPr indent="0" lvl="0" marL="0" marR="34226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{user[, user...]|role|PUBLIC} [CASCADE CONSTRAINTS];</a:t>
            </a:r>
            <a:endParaRPr sz="1800">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6"/>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With Grant Option</a:t>
            </a:r>
            <a:endParaRPr/>
          </a:p>
        </p:txBody>
      </p:sp>
      <p:sp>
        <p:nvSpPr>
          <p:cNvPr id="300" name="Google Shape;300;p36"/>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301" name="Google Shape;301;p3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02" name="Google Shape;302;p3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03" name="Google Shape;303;p36"/>
          <p:cNvSpPr txBox="1"/>
          <p:nvPr/>
        </p:nvSpPr>
        <p:spPr>
          <a:xfrm>
            <a:off x="483552" y="1381889"/>
            <a:ext cx="8007984" cy="1134110"/>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siguiente, se revocan los privilegios 	SELECT e INSERT proporcionados al usuario Scott en la 	tabla de clientes</a:t>
            </a:r>
            <a:endParaRPr sz="2800">
              <a:latin typeface="Calibri"/>
              <a:ea typeface="Calibri"/>
              <a:cs typeface="Calibri"/>
              <a:sym typeface="Calibri"/>
            </a:endParaRPr>
          </a:p>
        </p:txBody>
      </p:sp>
      <p:sp>
        <p:nvSpPr>
          <p:cNvPr id="304" name="Google Shape;304;p36"/>
          <p:cNvSpPr txBox="1"/>
          <p:nvPr/>
        </p:nvSpPr>
        <p:spPr>
          <a:xfrm>
            <a:off x="483552" y="3393569"/>
            <a:ext cx="8026400" cy="2602230"/>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se otorga a un usuario un privilegio con la cláusula 	WITH GRANT OPTION, dicho usuario también puede 	otorgar el privilegio mediante la cláusula WITH GRANT 	OPTION</a:t>
            </a:r>
            <a:endParaRPr sz="2800">
              <a:latin typeface="Calibri"/>
              <a:ea typeface="Calibri"/>
              <a:cs typeface="Calibri"/>
              <a:sym typeface="Calibri"/>
            </a:endParaRPr>
          </a:p>
          <a:p>
            <a:pPr indent="-177800" lvl="0" marL="182880" marR="216535"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 significa que es posible una larga cadena de 	usuarios con privilegios, pero no se permiten otorgar 	permisos de forma circular</a:t>
            </a:r>
            <a:endParaRPr sz="2800">
              <a:latin typeface="Calibri"/>
              <a:ea typeface="Calibri"/>
              <a:cs typeface="Calibri"/>
              <a:sym typeface="Calibri"/>
            </a:endParaRPr>
          </a:p>
        </p:txBody>
      </p:sp>
      <p:sp>
        <p:nvSpPr>
          <p:cNvPr id="305" name="Google Shape;305;p36"/>
          <p:cNvSpPr txBox="1"/>
          <p:nvPr/>
        </p:nvSpPr>
        <p:spPr>
          <a:xfrm>
            <a:off x="393191" y="2516123"/>
            <a:ext cx="8345805" cy="79883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2777"/>
              </a:lnSpc>
              <a:spcBef>
                <a:spcPts val="0"/>
              </a:spcBef>
              <a:spcAft>
                <a:spcPts val="0"/>
              </a:spcAft>
              <a:buNone/>
            </a:pPr>
            <a:r>
              <a:rPr b="1" lang="en-US" sz="1800">
                <a:solidFill>
                  <a:srgbClr val="4E3629"/>
                </a:solidFill>
                <a:latin typeface="Courier New"/>
                <a:ea typeface="Courier New"/>
                <a:cs typeface="Courier New"/>
                <a:sym typeface="Courier New"/>
              </a:rPr>
              <a:t>REVOKE SELECT, INSERT</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ON clients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scott_king;</a:t>
            </a:r>
            <a:endParaRPr sz="1800">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7"/>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With Grant Option</a:t>
            </a:r>
            <a:endParaRPr/>
          </a:p>
        </p:txBody>
      </p:sp>
      <p:sp>
        <p:nvSpPr>
          <p:cNvPr id="311" name="Google Shape;311;p37"/>
          <p:cNvSpPr txBox="1"/>
          <p:nvPr/>
        </p:nvSpPr>
        <p:spPr>
          <a:xfrm>
            <a:off x="483552" y="1415417"/>
            <a:ext cx="8058784" cy="16046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el propietario revoca un privilegio de un usuario que 	ha otorgado privilegios a otros usuarios, la sentencia 	de revocación tiene un efecto en cascada en todos los 	privilegios otorgados</a:t>
            </a:r>
            <a:endParaRPr sz="2800">
              <a:latin typeface="Calibri"/>
              <a:ea typeface="Calibri"/>
              <a:cs typeface="Calibri"/>
              <a:sym typeface="Calibri"/>
            </a:endParaRPr>
          </a:p>
        </p:txBody>
      </p:sp>
      <p:pic>
        <p:nvPicPr>
          <p:cNvPr id="312" name="Google Shape;312;p37"/>
          <p:cNvPicPr preferRelativeResize="0"/>
          <p:nvPr/>
        </p:nvPicPr>
        <p:blipFill rotWithShape="1">
          <a:blip r:embed="rId3">
            <a:alphaModFix/>
          </a:blip>
          <a:srcRect b="0" l="0" r="0" t="0"/>
          <a:stretch/>
        </p:blipFill>
        <p:spPr>
          <a:xfrm>
            <a:off x="2639567" y="5792723"/>
            <a:ext cx="3864863" cy="780275"/>
          </a:xfrm>
          <a:prstGeom prst="rect">
            <a:avLst/>
          </a:prstGeom>
          <a:noFill/>
          <a:ln>
            <a:noFill/>
          </a:ln>
        </p:spPr>
      </p:pic>
      <p:pic>
        <p:nvPicPr>
          <p:cNvPr id="313" name="Google Shape;313;p37"/>
          <p:cNvPicPr preferRelativeResize="0"/>
          <p:nvPr/>
        </p:nvPicPr>
        <p:blipFill rotWithShape="1">
          <a:blip r:embed="rId4">
            <a:alphaModFix/>
          </a:blip>
          <a:srcRect b="0" l="0" r="0" t="0"/>
          <a:stretch/>
        </p:blipFill>
        <p:spPr>
          <a:xfrm>
            <a:off x="2595372" y="3142488"/>
            <a:ext cx="3953243" cy="2487167"/>
          </a:xfrm>
          <a:prstGeom prst="rect">
            <a:avLst/>
          </a:prstGeom>
          <a:noFill/>
          <a:ln>
            <a:noFill/>
          </a:ln>
        </p:spPr>
      </p:pic>
      <p:sp>
        <p:nvSpPr>
          <p:cNvPr id="314" name="Google Shape;314;p37"/>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315" name="Google Shape;315;p3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16" name="Google Shape;316;p3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8"/>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With Grant Option</a:t>
            </a:r>
            <a:endParaRPr/>
          </a:p>
        </p:txBody>
      </p:sp>
      <p:sp>
        <p:nvSpPr>
          <p:cNvPr id="322" name="Google Shape;322;p38"/>
          <p:cNvSpPr txBox="1"/>
          <p:nvPr/>
        </p:nvSpPr>
        <p:spPr>
          <a:xfrm>
            <a:off x="483552" y="1415417"/>
            <a:ext cx="8094345" cy="19888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si el usuario A otorga un privilegio SELECT 	en una tabla al usuario B, con la cláusula WITH GRANT 	OPTION, el usuario B puede otorgar al usuario C el 	privilegio SELECT también con la cláusula WITH GRANT 	OPTION</a:t>
            </a:r>
            <a:endParaRPr sz="2800">
              <a:latin typeface="Calibri"/>
              <a:ea typeface="Calibri"/>
              <a:cs typeface="Calibri"/>
              <a:sym typeface="Calibri"/>
            </a:endParaRPr>
          </a:p>
        </p:txBody>
      </p:sp>
      <p:grpSp>
        <p:nvGrpSpPr>
          <p:cNvPr id="323" name="Google Shape;323;p38"/>
          <p:cNvGrpSpPr/>
          <p:nvPr/>
        </p:nvGrpSpPr>
        <p:grpSpPr>
          <a:xfrm>
            <a:off x="2322563" y="3462528"/>
            <a:ext cx="875042" cy="660400"/>
            <a:chOff x="2322563" y="3462528"/>
            <a:chExt cx="875042" cy="660400"/>
          </a:xfrm>
        </p:grpSpPr>
        <p:sp>
          <p:nvSpPr>
            <p:cNvPr id="324" name="Google Shape;324;p38"/>
            <p:cNvSpPr/>
            <p:nvPr/>
          </p:nvSpPr>
          <p:spPr>
            <a:xfrm>
              <a:off x="2322563" y="3462528"/>
              <a:ext cx="875030" cy="660400"/>
            </a:xfrm>
            <a:custGeom>
              <a:rect b="b" l="l" r="r" t="t"/>
              <a:pathLst>
                <a:path extrusionOk="0" h="660400" w="875030">
                  <a:moveTo>
                    <a:pt x="742238" y="0"/>
                  </a:moveTo>
                  <a:lnTo>
                    <a:pt x="136169" y="0"/>
                  </a:lnTo>
                  <a:lnTo>
                    <a:pt x="136169" y="438315"/>
                  </a:lnTo>
                  <a:lnTo>
                    <a:pt x="742238" y="438315"/>
                  </a:lnTo>
                  <a:lnTo>
                    <a:pt x="742238" y="0"/>
                  </a:lnTo>
                  <a:close/>
                </a:path>
                <a:path extrusionOk="0" h="660400" w="875030">
                  <a:moveTo>
                    <a:pt x="874788" y="607250"/>
                  </a:moveTo>
                  <a:lnTo>
                    <a:pt x="742226" y="460336"/>
                  </a:lnTo>
                  <a:lnTo>
                    <a:pt x="135267" y="460336"/>
                  </a:lnTo>
                  <a:lnTo>
                    <a:pt x="0" y="607250"/>
                  </a:lnTo>
                  <a:lnTo>
                    <a:pt x="12" y="659892"/>
                  </a:lnTo>
                  <a:lnTo>
                    <a:pt x="874788" y="659892"/>
                  </a:lnTo>
                  <a:lnTo>
                    <a:pt x="874788" y="607250"/>
                  </a:lnTo>
                  <a:close/>
                </a:path>
              </a:pathLst>
            </a:custGeom>
            <a:solidFill>
              <a:srgbClr val="C0C0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5" name="Google Shape;325;p38"/>
            <p:cNvSpPr/>
            <p:nvPr/>
          </p:nvSpPr>
          <p:spPr>
            <a:xfrm>
              <a:off x="2458732" y="3462528"/>
              <a:ext cx="606425" cy="438784"/>
            </a:xfrm>
            <a:custGeom>
              <a:rect b="b" l="l" r="r" t="t"/>
              <a:pathLst>
                <a:path extrusionOk="0" h="438785" w="606425">
                  <a:moveTo>
                    <a:pt x="0" y="0"/>
                  </a:moveTo>
                  <a:lnTo>
                    <a:pt x="606069" y="0"/>
                  </a:lnTo>
                  <a:lnTo>
                    <a:pt x="606069" y="438315"/>
                  </a:lnTo>
                  <a:lnTo>
                    <a:pt x="0" y="438315"/>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6" name="Google Shape;326;p38"/>
            <p:cNvSpPr/>
            <p:nvPr/>
          </p:nvSpPr>
          <p:spPr>
            <a:xfrm>
              <a:off x="2322574" y="3922863"/>
              <a:ext cx="875030" cy="147320"/>
            </a:xfrm>
            <a:custGeom>
              <a:rect b="b" l="l" r="r" t="t"/>
              <a:pathLst>
                <a:path extrusionOk="0" h="147320" w="875030">
                  <a:moveTo>
                    <a:pt x="135267" y="0"/>
                  </a:moveTo>
                  <a:lnTo>
                    <a:pt x="0" y="146913"/>
                  </a:lnTo>
                  <a:lnTo>
                    <a:pt x="874776" y="146913"/>
                  </a:lnTo>
                  <a:lnTo>
                    <a:pt x="742226" y="0"/>
                  </a:lnTo>
                  <a:lnTo>
                    <a:pt x="13526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7" name="Google Shape;327;p38"/>
            <p:cNvSpPr/>
            <p:nvPr/>
          </p:nvSpPr>
          <p:spPr>
            <a:xfrm>
              <a:off x="2322575" y="3509060"/>
              <a:ext cx="875030" cy="613410"/>
            </a:xfrm>
            <a:custGeom>
              <a:rect b="b" l="l" r="r" t="t"/>
              <a:pathLst>
                <a:path extrusionOk="0" h="613410" w="875030">
                  <a:moveTo>
                    <a:pt x="0" y="613359"/>
                  </a:moveTo>
                  <a:lnTo>
                    <a:pt x="874776" y="613359"/>
                  </a:lnTo>
                  <a:lnTo>
                    <a:pt x="874776" y="560717"/>
                  </a:lnTo>
                  <a:lnTo>
                    <a:pt x="0" y="560717"/>
                  </a:lnTo>
                  <a:lnTo>
                    <a:pt x="0" y="613359"/>
                  </a:lnTo>
                  <a:close/>
                </a:path>
                <a:path extrusionOk="0" h="613410" w="875030">
                  <a:moveTo>
                    <a:pt x="169532" y="0"/>
                  </a:moveTo>
                  <a:lnTo>
                    <a:pt x="710641" y="0"/>
                  </a:lnTo>
                  <a:lnTo>
                    <a:pt x="710641" y="342811"/>
                  </a:lnTo>
                  <a:lnTo>
                    <a:pt x="169532" y="342811"/>
                  </a:lnTo>
                  <a:lnTo>
                    <a:pt x="1695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8" name="Google Shape;328;p38"/>
            <p:cNvSpPr/>
            <p:nvPr/>
          </p:nvSpPr>
          <p:spPr>
            <a:xfrm>
              <a:off x="2440707" y="3937558"/>
              <a:ext cx="640715" cy="17145"/>
            </a:xfrm>
            <a:custGeom>
              <a:rect b="b" l="l" r="r" t="t"/>
              <a:pathLst>
                <a:path extrusionOk="0" h="17145" w="640714">
                  <a:moveTo>
                    <a:pt x="16243" y="0"/>
                  </a:moveTo>
                  <a:lnTo>
                    <a:pt x="0" y="17145"/>
                  </a:lnTo>
                  <a:lnTo>
                    <a:pt x="640295" y="17145"/>
                  </a:lnTo>
                  <a:lnTo>
                    <a:pt x="624090" y="0"/>
                  </a:lnTo>
                  <a:lnTo>
                    <a:pt x="16243"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9" name="Google Shape;329;p38"/>
            <p:cNvSpPr/>
            <p:nvPr/>
          </p:nvSpPr>
          <p:spPr>
            <a:xfrm>
              <a:off x="2563388" y="4022030"/>
              <a:ext cx="398145" cy="17145"/>
            </a:xfrm>
            <a:custGeom>
              <a:rect b="b" l="l" r="r" t="t"/>
              <a:pathLst>
                <a:path extrusionOk="0" h="17145" w="398144">
                  <a:moveTo>
                    <a:pt x="10807" y="0"/>
                  </a:moveTo>
                  <a:lnTo>
                    <a:pt x="0" y="17145"/>
                  </a:lnTo>
                  <a:lnTo>
                    <a:pt x="397687" y="17145"/>
                  </a:lnTo>
                  <a:lnTo>
                    <a:pt x="386880" y="0"/>
                  </a:lnTo>
                  <a:lnTo>
                    <a:pt x="1080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0" name="Google Shape;330;p38"/>
            <p:cNvSpPr/>
            <p:nvPr/>
          </p:nvSpPr>
          <p:spPr>
            <a:xfrm>
              <a:off x="2419974" y="3965726"/>
              <a:ext cx="683895" cy="18415"/>
            </a:xfrm>
            <a:custGeom>
              <a:rect b="b" l="l" r="r" t="t"/>
              <a:pathLst>
                <a:path extrusionOk="0" h="18414" w="683894">
                  <a:moveTo>
                    <a:pt x="17132" y="0"/>
                  </a:moveTo>
                  <a:lnTo>
                    <a:pt x="0" y="18364"/>
                  </a:lnTo>
                  <a:lnTo>
                    <a:pt x="683577" y="18364"/>
                  </a:lnTo>
                  <a:lnTo>
                    <a:pt x="665556" y="0"/>
                  </a:lnTo>
                  <a:lnTo>
                    <a:pt x="171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1" name="Google Shape;331;p38"/>
            <p:cNvSpPr/>
            <p:nvPr/>
          </p:nvSpPr>
          <p:spPr>
            <a:xfrm>
              <a:off x="2398350" y="3992641"/>
              <a:ext cx="728980" cy="18415"/>
            </a:xfrm>
            <a:custGeom>
              <a:rect b="b" l="l" r="r" t="t"/>
              <a:pathLst>
                <a:path extrusionOk="0" h="18414" w="728980">
                  <a:moveTo>
                    <a:pt x="18021" y="0"/>
                  </a:moveTo>
                  <a:lnTo>
                    <a:pt x="0" y="18364"/>
                  </a:lnTo>
                  <a:lnTo>
                    <a:pt x="728649" y="18364"/>
                  </a:lnTo>
                  <a:lnTo>
                    <a:pt x="709701" y="0"/>
                  </a:lnTo>
                  <a:lnTo>
                    <a:pt x="18021"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332" name="Google Shape;332;p38"/>
          <p:cNvGrpSpPr/>
          <p:nvPr/>
        </p:nvGrpSpPr>
        <p:grpSpPr>
          <a:xfrm>
            <a:off x="3721595" y="4069079"/>
            <a:ext cx="875042" cy="660400"/>
            <a:chOff x="3721595" y="4069079"/>
            <a:chExt cx="875042" cy="660400"/>
          </a:xfrm>
        </p:grpSpPr>
        <p:sp>
          <p:nvSpPr>
            <p:cNvPr id="333" name="Google Shape;333;p38"/>
            <p:cNvSpPr/>
            <p:nvPr/>
          </p:nvSpPr>
          <p:spPr>
            <a:xfrm>
              <a:off x="3721595" y="4069079"/>
              <a:ext cx="875030" cy="660400"/>
            </a:xfrm>
            <a:custGeom>
              <a:rect b="b" l="l" r="r" t="t"/>
              <a:pathLst>
                <a:path extrusionOk="0" h="660400" w="875029">
                  <a:moveTo>
                    <a:pt x="742238" y="0"/>
                  </a:moveTo>
                  <a:lnTo>
                    <a:pt x="136169" y="0"/>
                  </a:lnTo>
                  <a:lnTo>
                    <a:pt x="136169" y="438315"/>
                  </a:lnTo>
                  <a:lnTo>
                    <a:pt x="742238" y="438315"/>
                  </a:lnTo>
                  <a:lnTo>
                    <a:pt x="742238" y="0"/>
                  </a:lnTo>
                  <a:close/>
                </a:path>
                <a:path extrusionOk="0" h="660400" w="875029">
                  <a:moveTo>
                    <a:pt x="874788" y="607250"/>
                  </a:moveTo>
                  <a:lnTo>
                    <a:pt x="742226" y="460336"/>
                  </a:lnTo>
                  <a:lnTo>
                    <a:pt x="135267" y="460336"/>
                  </a:lnTo>
                  <a:lnTo>
                    <a:pt x="0" y="607250"/>
                  </a:lnTo>
                  <a:lnTo>
                    <a:pt x="12" y="659892"/>
                  </a:lnTo>
                  <a:lnTo>
                    <a:pt x="874788" y="659892"/>
                  </a:lnTo>
                  <a:lnTo>
                    <a:pt x="874788" y="607250"/>
                  </a:lnTo>
                  <a:close/>
                </a:path>
              </a:pathLst>
            </a:custGeom>
            <a:solidFill>
              <a:srgbClr val="C0C0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4" name="Google Shape;334;p38"/>
            <p:cNvSpPr/>
            <p:nvPr/>
          </p:nvSpPr>
          <p:spPr>
            <a:xfrm>
              <a:off x="3857764" y="4069079"/>
              <a:ext cx="606425" cy="438784"/>
            </a:xfrm>
            <a:custGeom>
              <a:rect b="b" l="l" r="r" t="t"/>
              <a:pathLst>
                <a:path extrusionOk="0" h="438785" w="606425">
                  <a:moveTo>
                    <a:pt x="0" y="0"/>
                  </a:moveTo>
                  <a:lnTo>
                    <a:pt x="606069" y="0"/>
                  </a:lnTo>
                  <a:lnTo>
                    <a:pt x="606069" y="438315"/>
                  </a:lnTo>
                  <a:lnTo>
                    <a:pt x="0" y="438315"/>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5" name="Google Shape;335;p38"/>
            <p:cNvSpPr/>
            <p:nvPr/>
          </p:nvSpPr>
          <p:spPr>
            <a:xfrm>
              <a:off x="3721606" y="4529415"/>
              <a:ext cx="875030" cy="147320"/>
            </a:xfrm>
            <a:custGeom>
              <a:rect b="b" l="l" r="r" t="t"/>
              <a:pathLst>
                <a:path extrusionOk="0" h="147320" w="875029">
                  <a:moveTo>
                    <a:pt x="135267" y="0"/>
                  </a:moveTo>
                  <a:lnTo>
                    <a:pt x="0" y="146913"/>
                  </a:lnTo>
                  <a:lnTo>
                    <a:pt x="874776" y="146913"/>
                  </a:lnTo>
                  <a:lnTo>
                    <a:pt x="742226" y="0"/>
                  </a:lnTo>
                  <a:lnTo>
                    <a:pt x="13526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6" name="Google Shape;336;p38"/>
            <p:cNvSpPr/>
            <p:nvPr/>
          </p:nvSpPr>
          <p:spPr>
            <a:xfrm>
              <a:off x="3721607" y="4115612"/>
              <a:ext cx="875030" cy="613410"/>
            </a:xfrm>
            <a:custGeom>
              <a:rect b="b" l="l" r="r" t="t"/>
              <a:pathLst>
                <a:path extrusionOk="0" h="613410" w="875029">
                  <a:moveTo>
                    <a:pt x="0" y="613359"/>
                  </a:moveTo>
                  <a:lnTo>
                    <a:pt x="874776" y="613359"/>
                  </a:lnTo>
                  <a:lnTo>
                    <a:pt x="874776" y="560717"/>
                  </a:lnTo>
                  <a:lnTo>
                    <a:pt x="0" y="560717"/>
                  </a:lnTo>
                  <a:lnTo>
                    <a:pt x="0" y="613359"/>
                  </a:lnTo>
                  <a:close/>
                </a:path>
                <a:path extrusionOk="0" h="613410" w="875029">
                  <a:moveTo>
                    <a:pt x="169532" y="0"/>
                  </a:moveTo>
                  <a:lnTo>
                    <a:pt x="710641" y="0"/>
                  </a:lnTo>
                  <a:lnTo>
                    <a:pt x="710641" y="342811"/>
                  </a:lnTo>
                  <a:lnTo>
                    <a:pt x="169532" y="342811"/>
                  </a:lnTo>
                  <a:lnTo>
                    <a:pt x="1695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7" name="Google Shape;337;p38"/>
            <p:cNvSpPr/>
            <p:nvPr/>
          </p:nvSpPr>
          <p:spPr>
            <a:xfrm>
              <a:off x="3839739" y="4544110"/>
              <a:ext cx="640715" cy="17145"/>
            </a:xfrm>
            <a:custGeom>
              <a:rect b="b" l="l" r="r" t="t"/>
              <a:pathLst>
                <a:path extrusionOk="0" h="17145" w="640714">
                  <a:moveTo>
                    <a:pt x="16243" y="0"/>
                  </a:moveTo>
                  <a:lnTo>
                    <a:pt x="0" y="17145"/>
                  </a:lnTo>
                  <a:lnTo>
                    <a:pt x="640295" y="17145"/>
                  </a:lnTo>
                  <a:lnTo>
                    <a:pt x="624090" y="0"/>
                  </a:lnTo>
                  <a:lnTo>
                    <a:pt x="16243"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8" name="Google Shape;338;p38"/>
            <p:cNvSpPr/>
            <p:nvPr/>
          </p:nvSpPr>
          <p:spPr>
            <a:xfrm>
              <a:off x="3962420" y="4628582"/>
              <a:ext cx="398145" cy="17145"/>
            </a:xfrm>
            <a:custGeom>
              <a:rect b="b" l="l" r="r" t="t"/>
              <a:pathLst>
                <a:path extrusionOk="0" h="17145" w="398145">
                  <a:moveTo>
                    <a:pt x="10807" y="0"/>
                  </a:moveTo>
                  <a:lnTo>
                    <a:pt x="0" y="17145"/>
                  </a:lnTo>
                  <a:lnTo>
                    <a:pt x="397687" y="17145"/>
                  </a:lnTo>
                  <a:lnTo>
                    <a:pt x="386880" y="0"/>
                  </a:lnTo>
                  <a:lnTo>
                    <a:pt x="1080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9" name="Google Shape;339;p38"/>
            <p:cNvSpPr/>
            <p:nvPr/>
          </p:nvSpPr>
          <p:spPr>
            <a:xfrm>
              <a:off x="3819006" y="4572278"/>
              <a:ext cx="683895" cy="18415"/>
            </a:xfrm>
            <a:custGeom>
              <a:rect b="b" l="l" r="r" t="t"/>
              <a:pathLst>
                <a:path extrusionOk="0" h="18414" w="683895">
                  <a:moveTo>
                    <a:pt x="17132" y="0"/>
                  </a:moveTo>
                  <a:lnTo>
                    <a:pt x="0" y="18364"/>
                  </a:lnTo>
                  <a:lnTo>
                    <a:pt x="683577" y="18364"/>
                  </a:lnTo>
                  <a:lnTo>
                    <a:pt x="665556" y="0"/>
                  </a:lnTo>
                  <a:lnTo>
                    <a:pt x="171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0" name="Google Shape;340;p38"/>
            <p:cNvSpPr/>
            <p:nvPr/>
          </p:nvSpPr>
          <p:spPr>
            <a:xfrm>
              <a:off x="3797382" y="4599193"/>
              <a:ext cx="728980" cy="18415"/>
            </a:xfrm>
            <a:custGeom>
              <a:rect b="b" l="l" r="r" t="t"/>
              <a:pathLst>
                <a:path extrusionOk="0" h="18414" w="728979">
                  <a:moveTo>
                    <a:pt x="18021" y="0"/>
                  </a:moveTo>
                  <a:lnTo>
                    <a:pt x="0" y="18364"/>
                  </a:lnTo>
                  <a:lnTo>
                    <a:pt x="728649" y="18364"/>
                  </a:lnTo>
                  <a:lnTo>
                    <a:pt x="709701" y="0"/>
                  </a:lnTo>
                  <a:lnTo>
                    <a:pt x="18021"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41" name="Google Shape;341;p38"/>
          <p:cNvSpPr txBox="1"/>
          <p:nvPr/>
        </p:nvSpPr>
        <p:spPr>
          <a:xfrm>
            <a:off x="2323234" y="4492242"/>
            <a:ext cx="111950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Otorga select</a:t>
            </a:r>
            <a:endParaRPr sz="1600">
              <a:latin typeface="Calibri"/>
              <a:ea typeface="Calibri"/>
              <a:cs typeface="Calibri"/>
              <a:sym typeface="Calibri"/>
            </a:endParaRPr>
          </a:p>
        </p:txBody>
      </p:sp>
      <p:sp>
        <p:nvSpPr>
          <p:cNvPr id="342" name="Google Shape;342;p38"/>
          <p:cNvSpPr txBox="1"/>
          <p:nvPr/>
        </p:nvSpPr>
        <p:spPr>
          <a:xfrm>
            <a:off x="3170892" y="3520942"/>
            <a:ext cx="2331720" cy="82296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Usuario A</a:t>
            </a:r>
            <a:endParaRPr sz="1600">
              <a:latin typeface="Calibri"/>
              <a:ea typeface="Calibri"/>
              <a:cs typeface="Calibri"/>
              <a:sym typeface="Calibri"/>
            </a:endParaRPr>
          </a:p>
          <a:p>
            <a:pPr indent="0" lvl="0" marL="0" rtl="0" algn="l">
              <a:lnSpc>
                <a:spcPct val="100000"/>
              </a:lnSpc>
              <a:spcBef>
                <a:spcPts val="484"/>
              </a:spcBef>
              <a:spcAft>
                <a:spcPts val="0"/>
              </a:spcAft>
              <a:buNone/>
            </a:pPr>
            <a:r>
              <a:t/>
            </a:r>
            <a:endParaRPr sz="1600">
              <a:latin typeface="Calibri"/>
              <a:ea typeface="Calibri"/>
              <a:cs typeface="Calibri"/>
              <a:sym typeface="Calibri"/>
            </a:endParaRPr>
          </a:p>
          <a:p>
            <a:pPr indent="0" lvl="0" marL="1524000" rtl="0" algn="l">
              <a:lnSpc>
                <a:spcPct val="100000"/>
              </a:lnSpc>
              <a:spcBef>
                <a:spcPts val="0"/>
              </a:spcBef>
              <a:spcAft>
                <a:spcPts val="0"/>
              </a:spcAft>
              <a:buNone/>
            </a:pPr>
            <a:r>
              <a:rPr lang="en-US" sz="1600">
                <a:solidFill>
                  <a:srgbClr val="4E3629"/>
                </a:solidFill>
                <a:latin typeface="Calibri"/>
                <a:ea typeface="Calibri"/>
                <a:cs typeface="Calibri"/>
                <a:sym typeface="Calibri"/>
              </a:rPr>
              <a:t>Usuario B</a:t>
            </a:r>
            <a:endParaRPr sz="1600">
              <a:latin typeface="Calibri"/>
              <a:ea typeface="Calibri"/>
              <a:cs typeface="Calibri"/>
              <a:sym typeface="Calibri"/>
            </a:endParaRPr>
          </a:p>
        </p:txBody>
      </p:sp>
      <p:sp>
        <p:nvSpPr>
          <p:cNvPr id="343" name="Google Shape;343;p38"/>
          <p:cNvSpPr/>
          <p:nvPr/>
        </p:nvSpPr>
        <p:spPr>
          <a:xfrm>
            <a:off x="2650998" y="4101843"/>
            <a:ext cx="35560" cy="381000"/>
          </a:xfrm>
          <a:custGeom>
            <a:rect b="b" l="l" r="r" t="t"/>
            <a:pathLst>
              <a:path extrusionOk="0" h="381000" w="35560">
                <a:moveTo>
                  <a:pt x="0" y="285407"/>
                </a:moveTo>
                <a:lnTo>
                  <a:pt x="8763" y="285407"/>
                </a:lnTo>
                <a:lnTo>
                  <a:pt x="8763" y="0"/>
                </a:lnTo>
                <a:lnTo>
                  <a:pt x="26288" y="0"/>
                </a:lnTo>
                <a:lnTo>
                  <a:pt x="26288" y="285407"/>
                </a:lnTo>
                <a:lnTo>
                  <a:pt x="35052" y="285407"/>
                </a:lnTo>
                <a:lnTo>
                  <a:pt x="17526" y="380999"/>
                </a:lnTo>
                <a:lnTo>
                  <a:pt x="0" y="285407"/>
                </a:lnTo>
                <a:close/>
              </a:path>
            </a:pathLst>
          </a:custGeom>
          <a:noFill/>
          <a:ln cap="flat" cmpd="sng" w="38100">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4" name="Google Shape;344;p38"/>
          <p:cNvSpPr/>
          <p:nvPr/>
        </p:nvSpPr>
        <p:spPr>
          <a:xfrm>
            <a:off x="2824733" y="4741926"/>
            <a:ext cx="568960" cy="236220"/>
          </a:xfrm>
          <a:custGeom>
            <a:rect b="b" l="l" r="r" t="t"/>
            <a:pathLst>
              <a:path extrusionOk="0" h="236220" w="568960">
                <a:moveTo>
                  <a:pt x="0" y="59055"/>
                </a:moveTo>
                <a:lnTo>
                  <a:pt x="388848" y="59055"/>
                </a:lnTo>
                <a:lnTo>
                  <a:pt x="388848" y="0"/>
                </a:lnTo>
                <a:lnTo>
                  <a:pt x="568452" y="118110"/>
                </a:lnTo>
                <a:lnTo>
                  <a:pt x="388848" y="236220"/>
                </a:lnTo>
                <a:lnTo>
                  <a:pt x="388848" y="177165"/>
                </a:lnTo>
                <a:lnTo>
                  <a:pt x="0" y="177165"/>
                </a:lnTo>
                <a:lnTo>
                  <a:pt x="0" y="59055"/>
                </a:lnTo>
                <a:close/>
              </a:path>
            </a:pathLst>
          </a:custGeom>
          <a:noFill/>
          <a:ln cap="flat" cmpd="sng" w="38100">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5" name="Google Shape;345;p38"/>
          <p:cNvSpPr/>
          <p:nvPr/>
        </p:nvSpPr>
        <p:spPr>
          <a:xfrm>
            <a:off x="4010405" y="4722111"/>
            <a:ext cx="35560" cy="381000"/>
          </a:xfrm>
          <a:custGeom>
            <a:rect b="b" l="l" r="r" t="t"/>
            <a:pathLst>
              <a:path extrusionOk="0" h="381000" w="35560">
                <a:moveTo>
                  <a:pt x="0" y="285407"/>
                </a:moveTo>
                <a:lnTo>
                  <a:pt x="8763" y="285407"/>
                </a:lnTo>
                <a:lnTo>
                  <a:pt x="8763" y="0"/>
                </a:lnTo>
                <a:lnTo>
                  <a:pt x="26288" y="0"/>
                </a:lnTo>
                <a:lnTo>
                  <a:pt x="26288" y="285407"/>
                </a:lnTo>
                <a:lnTo>
                  <a:pt x="35052" y="285407"/>
                </a:lnTo>
                <a:lnTo>
                  <a:pt x="17526" y="381000"/>
                </a:lnTo>
                <a:lnTo>
                  <a:pt x="0" y="285407"/>
                </a:lnTo>
                <a:close/>
              </a:path>
            </a:pathLst>
          </a:custGeom>
          <a:noFill/>
          <a:ln cap="flat" cmpd="sng" w="38100">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346" name="Google Shape;346;p38"/>
          <p:cNvGrpSpPr/>
          <p:nvPr/>
        </p:nvGrpSpPr>
        <p:grpSpPr>
          <a:xfrm>
            <a:off x="5120627" y="4613147"/>
            <a:ext cx="875043" cy="1099564"/>
            <a:chOff x="5120627" y="4613147"/>
            <a:chExt cx="875043" cy="1099564"/>
          </a:xfrm>
        </p:grpSpPr>
        <p:sp>
          <p:nvSpPr>
            <p:cNvPr id="347" name="Google Shape;347;p38"/>
            <p:cNvSpPr/>
            <p:nvPr/>
          </p:nvSpPr>
          <p:spPr>
            <a:xfrm>
              <a:off x="5120627" y="4613147"/>
              <a:ext cx="875030" cy="660400"/>
            </a:xfrm>
            <a:custGeom>
              <a:rect b="b" l="l" r="r" t="t"/>
              <a:pathLst>
                <a:path extrusionOk="0" h="660400" w="875029">
                  <a:moveTo>
                    <a:pt x="742238" y="0"/>
                  </a:moveTo>
                  <a:lnTo>
                    <a:pt x="136169" y="0"/>
                  </a:lnTo>
                  <a:lnTo>
                    <a:pt x="136169" y="438315"/>
                  </a:lnTo>
                  <a:lnTo>
                    <a:pt x="742238" y="438315"/>
                  </a:lnTo>
                  <a:lnTo>
                    <a:pt x="742238" y="0"/>
                  </a:lnTo>
                  <a:close/>
                </a:path>
                <a:path extrusionOk="0" h="660400" w="875029">
                  <a:moveTo>
                    <a:pt x="874788" y="607250"/>
                  </a:moveTo>
                  <a:lnTo>
                    <a:pt x="742226" y="460336"/>
                  </a:lnTo>
                  <a:lnTo>
                    <a:pt x="135267" y="460336"/>
                  </a:lnTo>
                  <a:lnTo>
                    <a:pt x="0" y="607250"/>
                  </a:lnTo>
                  <a:lnTo>
                    <a:pt x="12" y="659892"/>
                  </a:lnTo>
                  <a:lnTo>
                    <a:pt x="874788" y="659892"/>
                  </a:lnTo>
                  <a:lnTo>
                    <a:pt x="874788" y="607250"/>
                  </a:lnTo>
                  <a:close/>
                </a:path>
              </a:pathLst>
            </a:custGeom>
            <a:solidFill>
              <a:srgbClr val="C0C0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8" name="Google Shape;348;p38"/>
            <p:cNvSpPr/>
            <p:nvPr/>
          </p:nvSpPr>
          <p:spPr>
            <a:xfrm>
              <a:off x="5256796" y="4613148"/>
              <a:ext cx="606425" cy="438784"/>
            </a:xfrm>
            <a:custGeom>
              <a:rect b="b" l="l" r="r" t="t"/>
              <a:pathLst>
                <a:path extrusionOk="0" h="438785" w="606425">
                  <a:moveTo>
                    <a:pt x="0" y="0"/>
                  </a:moveTo>
                  <a:lnTo>
                    <a:pt x="606069" y="0"/>
                  </a:lnTo>
                  <a:lnTo>
                    <a:pt x="606069" y="438315"/>
                  </a:lnTo>
                  <a:lnTo>
                    <a:pt x="0" y="438315"/>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9" name="Google Shape;349;p38"/>
            <p:cNvSpPr/>
            <p:nvPr/>
          </p:nvSpPr>
          <p:spPr>
            <a:xfrm>
              <a:off x="5120638" y="5073483"/>
              <a:ext cx="875030" cy="147320"/>
            </a:xfrm>
            <a:custGeom>
              <a:rect b="b" l="l" r="r" t="t"/>
              <a:pathLst>
                <a:path extrusionOk="0" h="147320" w="875029">
                  <a:moveTo>
                    <a:pt x="135267" y="0"/>
                  </a:moveTo>
                  <a:lnTo>
                    <a:pt x="0" y="146913"/>
                  </a:lnTo>
                  <a:lnTo>
                    <a:pt x="874776" y="146913"/>
                  </a:lnTo>
                  <a:lnTo>
                    <a:pt x="742226" y="0"/>
                  </a:lnTo>
                  <a:lnTo>
                    <a:pt x="13526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0" name="Google Shape;350;p38"/>
            <p:cNvSpPr/>
            <p:nvPr/>
          </p:nvSpPr>
          <p:spPr>
            <a:xfrm>
              <a:off x="5120640" y="4659680"/>
              <a:ext cx="875030" cy="613410"/>
            </a:xfrm>
            <a:custGeom>
              <a:rect b="b" l="l" r="r" t="t"/>
              <a:pathLst>
                <a:path extrusionOk="0" h="613410" w="875029">
                  <a:moveTo>
                    <a:pt x="0" y="613359"/>
                  </a:moveTo>
                  <a:lnTo>
                    <a:pt x="874776" y="613359"/>
                  </a:lnTo>
                  <a:lnTo>
                    <a:pt x="874776" y="560717"/>
                  </a:lnTo>
                  <a:lnTo>
                    <a:pt x="0" y="560717"/>
                  </a:lnTo>
                  <a:lnTo>
                    <a:pt x="0" y="613359"/>
                  </a:lnTo>
                  <a:close/>
                </a:path>
                <a:path extrusionOk="0" h="613410" w="875029">
                  <a:moveTo>
                    <a:pt x="169532" y="0"/>
                  </a:moveTo>
                  <a:lnTo>
                    <a:pt x="710641" y="0"/>
                  </a:lnTo>
                  <a:lnTo>
                    <a:pt x="710641" y="342811"/>
                  </a:lnTo>
                  <a:lnTo>
                    <a:pt x="169532" y="342811"/>
                  </a:lnTo>
                  <a:lnTo>
                    <a:pt x="1695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1" name="Google Shape;351;p38"/>
            <p:cNvSpPr/>
            <p:nvPr/>
          </p:nvSpPr>
          <p:spPr>
            <a:xfrm>
              <a:off x="5238771" y="5088178"/>
              <a:ext cx="640715" cy="17145"/>
            </a:xfrm>
            <a:custGeom>
              <a:rect b="b" l="l" r="r" t="t"/>
              <a:pathLst>
                <a:path extrusionOk="0" h="17145" w="640714">
                  <a:moveTo>
                    <a:pt x="16243" y="0"/>
                  </a:moveTo>
                  <a:lnTo>
                    <a:pt x="0" y="17145"/>
                  </a:lnTo>
                  <a:lnTo>
                    <a:pt x="640295" y="17145"/>
                  </a:lnTo>
                  <a:lnTo>
                    <a:pt x="624090" y="0"/>
                  </a:lnTo>
                  <a:lnTo>
                    <a:pt x="16243"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2" name="Google Shape;352;p38"/>
            <p:cNvSpPr/>
            <p:nvPr/>
          </p:nvSpPr>
          <p:spPr>
            <a:xfrm>
              <a:off x="5361451" y="5172650"/>
              <a:ext cx="398145" cy="17145"/>
            </a:xfrm>
            <a:custGeom>
              <a:rect b="b" l="l" r="r" t="t"/>
              <a:pathLst>
                <a:path extrusionOk="0" h="17145" w="398145">
                  <a:moveTo>
                    <a:pt x="10807" y="0"/>
                  </a:moveTo>
                  <a:lnTo>
                    <a:pt x="0" y="17145"/>
                  </a:lnTo>
                  <a:lnTo>
                    <a:pt x="397687" y="17145"/>
                  </a:lnTo>
                  <a:lnTo>
                    <a:pt x="386880" y="0"/>
                  </a:lnTo>
                  <a:lnTo>
                    <a:pt x="1080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3" name="Google Shape;353;p38"/>
            <p:cNvSpPr/>
            <p:nvPr/>
          </p:nvSpPr>
          <p:spPr>
            <a:xfrm>
              <a:off x="5218038" y="5116346"/>
              <a:ext cx="683895" cy="18415"/>
            </a:xfrm>
            <a:custGeom>
              <a:rect b="b" l="l" r="r" t="t"/>
              <a:pathLst>
                <a:path extrusionOk="0" h="18414" w="683895">
                  <a:moveTo>
                    <a:pt x="17132" y="0"/>
                  </a:moveTo>
                  <a:lnTo>
                    <a:pt x="0" y="18364"/>
                  </a:lnTo>
                  <a:lnTo>
                    <a:pt x="683577" y="18364"/>
                  </a:lnTo>
                  <a:lnTo>
                    <a:pt x="665556" y="0"/>
                  </a:lnTo>
                  <a:lnTo>
                    <a:pt x="171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4" name="Google Shape;354;p38"/>
            <p:cNvSpPr/>
            <p:nvPr/>
          </p:nvSpPr>
          <p:spPr>
            <a:xfrm>
              <a:off x="5196413" y="5143261"/>
              <a:ext cx="728980" cy="18415"/>
            </a:xfrm>
            <a:custGeom>
              <a:rect b="b" l="l" r="r" t="t"/>
              <a:pathLst>
                <a:path extrusionOk="0" h="18414" w="728979">
                  <a:moveTo>
                    <a:pt x="18021" y="0"/>
                  </a:moveTo>
                  <a:lnTo>
                    <a:pt x="0" y="18364"/>
                  </a:lnTo>
                  <a:lnTo>
                    <a:pt x="728649" y="18364"/>
                  </a:lnTo>
                  <a:lnTo>
                    <a:pt x="709701" y="0"/>
                  </a:lnTo>
                  <a:lnTo>
                    <a:pt x="18021"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5" name="Google Shape;355;p38"/>
            <p:cNvSpPr/>
            <p:nvPr/>
          </p:nvSpPr>
          <p:spPr>
            <a:xfrm>
              <a:off x="5505450" y="5331711"/>
              <a:ext cx="35560" cy="381000"/>
            </a:xfrm>
            <a:custGeom>
              <a:rect b="b" l="l" r="r" t="t"/>
              <a:pathLst>
                <a:path extrusionOk="0" h="381000" w="35560">
                  <a:moveTo>
                    <a:pt x="0" y="285407"/>
                  </a:moveTo>
                  <a:lnTo>
                    <a:pt x="8763" y="285407"/>
                  </a:lnTo>
                  <a:lnTo>
                    <a:pt x="8763" y="0"/>
                  </a:lnTo>
                  <a:lnTo>
                    <a:pt x="26288" y="0"/>
                  </a:lnTo>
                  <a:lnTo>
                    <a:pt x="26288" y="285407"/>
                  </a:lnTo>
                  <a:lnTo>
                    <a:pt x="35052" y="285407"/>
                  </a:lnTo>
                  <a:lnTo>
                    <a:pt x="17526" y="381000"/>
                  </a:lnTo>
                  <a:lnTo>
                    <a:pt x="0" y="285407"/>
                  </a:lnTo>
                  <a:close/>
                </a:path>
              </a:pathLst>
            </a:custGeom>
            <a:noFill/>
            <a:ln cap="flat" cmpd="sng" w="38100">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56" name="Google Shape;356;p38"/>
          <p:cNvSpPr txBox="1"/>
          <p:nvPr/>
        </p:nvSpPr>
        <p:spPr>
          <a:xfrm>
            <a:off x="3722137" y="5112841"/>
            <a:ext cx="111950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Otorga select</a:t>
            </a:r>
            <a:endParaRPr sz="1600">
              <a:latin typeface="Calibri"/>
              <a:ea typeface="Calibri"/>
              <a:cs typeface="Calibri"/>
              <a:sym typeface="Calibri"/>
            </a:endParaRPr>
          </a:p>
        </p:txBody>
      </p:sp>
      <p:sp>
        <p:nvSpPr>
          <p:cNvPr id="357" name="Google Shape;357;p38"/>
          <p:cNvSpPr txBox="1"/>
          <p:nvPr/>
        </p:nvSpPr>
        <p:spPr>
          <a:xfrm>
            <a:off x="5922764" y="4604489"/>
            <a:ext cx="81788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Usuario C</a:t>
            </a:r>
            <a:endParaRPr sz="1600">
              <a:latin typeface="Calibri"/>
              <a:ea typeface="Calibri"/>
              <a:cs typeface="Calibri"/>
              <a:sym typeface="Calibri"/>
            </a:endParaRPr>
          </a:p>
        </p:txBody>
      </p:sp>
      <p:grpSp>
        <p:nvGrpSpPr>
          <p:cNvPr id="358" name="Google Shape;358;p38"/>
          <p:cNvGrpSpPr/>
          <p:nvPr/>
        </p:nvGrpSpPr>
        <p:grpSpPr>
          <a:xfrm>
            <a:off x="6574523" y="5513831"/>
            <a:ext cx="875042" cy="658559"/>
            <a:chOff x="6574523" y="5513831"/>
            <a:chExt cx="875042" cy="658559"/>
          </a:xfrm>
        </p:grpSpPr>
        <p:sp>
          <p:nvSpPr>
            <p:cNvPr id="359" name="Google Shape;359;p38"/>
            <p:cNvSpPr/>
            <p:nvPr/>
          </p:nvSpPr>
          <p:spPr>
            <a:xfrm>
              <a:off x="6574523" y="5513831"/>
              <a:ext cx="875030" cy="658495"/>
            </a:xfrm>
            <a:custGeom>
              <a:rect b="b" l="l" r="r" t="t"/>
              <a:pathLst>
                <a:path extrusionOk="0" h="658495" w="875029">
                  <a:moveTo>
                    <a:pt x="742226" y="0"/>
                  </a:moveTo>
                  <a:lnTo>
                    <a:pt x="136169" y="0"/>
                  </a:lnTo>
                  <a:lnTo>
                    <a:pt x="136169" y="437299"/>
                  </a:lnTo>
                  <a:lnTo>
                    <a:pt x="742226" y="437299"/>
                  </a:lnTo>
                  <a:lnTo>
                    <a:pt x="742226" y="0"/>
                  </a:lnTo>
                  <a:close/>
                </a:path>
                <a:path extrusionOk="0" h="658495" w="875029">
                  <a:moveTo>
                    <a:pt x="874788" y="605853"/>
                  </a:moveTo>
                  <a:lnTo>
                    <a:pt x="742226" y="459282"/>
                  </a:lnTo>
                  <a:lnTo>
                    <a:pt x="135267" y="459282"/>
                  </a:lnTo>
                  <a:lnTo>
                    <a:pt x="0" y="605853"/>
                  </a:lnTo>
                  <a:lnTo>
                    <a:pt x="0" y="658368"/>
                  </a:lnTo>
                  <a:lnTo>
                    <a:pt x="874788" y="658368"/>
                  </a:lnTo>
                  <a:lnTo>
                    <a:pt x="874788" y="605853"/>
                  </a:lnTo>
                  <a:close/>
                </a:path>
              </a:pathLst>
            </a:custGeom>
            <a:solidFill>
              <a:srgbClr val="C0C0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0" name="Google Shape;360;p38"/>
            <p:cNvSpPr/>
            <p:nvPr/>
          </p:nvSpPr>
          <p:spPr>
            <a:xfrm>
              <a:off x="6710692" y="5513831"/>
              <a:ext cx="606425" cy="437515"/>
            </a:xfrm>
            <a:custGeom>
              <a:rect b="b" l="l" r="r" t="t"/>
              <a:pathLst>
                <a:path extrusionOk="0" h="437514" w="606425">
                  <a:moveTo>
                    <a:pt x="0" y="0"/>
                  </a:moveTo>
                  <a:lnTo>
                    <a:pt x="606069" y="0"/>
                  </a:lnTo>
                  <a:lnTo>
                    <a:pt x="606069" y="437299"/>
                  </a:lnTo>
                  <a:lnTo>
                    <a:pt x="0" y="437299"/>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1" name="Google Shape;361;p38"/>
            <p:cNvSpPr/>
            <p:nvPr/>
          </p:nvSpPr>
          <p:spPr>
            <a:xfrm>
              <a:off x="6574534" y="5973103"/>
              <a:ext cx="875030" cy="146685"/>
            </a:xfrm>
            <a:custGeom>
              <a:rect b="b" l="l" r="r" t="t"/>
              <a:pathLst>
                <a:path extrusionOk="0" h="146685" w="875029">
                  <a:moveTo>
                    <a:pt x="135267" y="0"/>
                  </a:moveTo>
                  <a:lnTo>
                    <a:pt x="0" y="146583"/>
                  </a:lnTo>
                  <a:lnTo>
                    <a:pt x="874775" y="146583"/>
                  </a:lnTo>
                  <a:lnTo>
                    <a:pt x="742226" y="0"/>
                  </a:lnTo>
                  <a:lnTo>
                    <a:pt x="13526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2" name="Google Shape;362;p38"/>
            <p:cNvSpPr/>
            <p:nvPr/>
          </p:nvSpPr>
          <p:spPr>
            <a:xfrm>
              <a:off x="6574535" y="5560250"/>
              <a:ext cx="875030" cy="612140"/>
            </a:xfrm>
            <a:custGeom>
              <a:rect b="b" l="l" r="r" t="t"/>
              <a:pathLst>
                <a:path extrusionOk="0" h="612139" w="875029">
                  <a:moveTo>
                    <a:pt x="0" y="611949"/>
                  </a:moveTo>
                  <a:lnTo>
                    <a:pt x="874776" y="611949"/>
                  </a:lnTo>
                  <a:lnTo>
                    <a:pt x="874776" y="559435"/>
                  </a:lnTo>
                  <a:lnTo>
                    <a:pt x="0" y="559435"/>
                  </a:lnTo>
                  <a:lnTo>
                    <a:pt x="0" y="611949"/>
                  </a:lnTo>
                  <a:close/>
                </a:path>
                <a:path extrusionOk="0" h="612139" w="875029">
                  <a:moveTo>
                    <a:pt x="169532" y="0"/>
                  </a:moveTo>
                  <a:lnTo>
                    <a:pt x="710641" y="0"/>
                  </a:lnTo>
                  <a:lnTo>
                    <a:pt x="710641" y="342011"/>
                  </a:lnTo>
                  <a:lnTo>
                    <a:pt x="169532" y="342011"/>
                  </a:lnTo>
                  <a:lnTo>
                    <a:pt x="1695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3" name="Google Shape;363;p38"/>
            <p:cNvSpPr/>
            <p:nvPr/>
          </p:nvSpPr>
          <p:spPr>
            <a:xfrm>
              <a:off x="6692667" y="5987764"/>
              <a:ext cx="640715" cy="17145"/>
            </a:xfrm>
            <a:custGeom>
              <a:rect b="b" l="l" r="r" t="t"/>
              <a:pathLst>
                <a:path extrusionOk="0" h="17145" w="640715">
                  <a:moveTo>
                    <a:pt x="16243" y="0"/>
                  </a:moveTo>
                  <a:lnTo>
                    <a:pt x="0" y="17094"/>
                  </a:lnTo>
                  <a:lnTo>
                    <a:pt x="640295" y="17094"/>
                  </a:lnTo>
                  <a:lnTo>
                    <a:pt x="624090" y="0"/>
                  </a:lnTo>
                  <a:lnTo>
                    <a:pt x="16243"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4" name="Google Shape;364;p38"/>
            <p:cNvSpPr/>
            <p:nvPr/>
          </p:nvSpPr>
          <p:spPr>
            <a:xfrm>
              <a:off x="6815348" y="6072041"/>
              <a:ext cx="398145" cy="17145"/>
            </a:xfrm>
            <a:custGeom>
              <a:rect b="b" l="l" r="r" t="t"/>
              <a:pathLst>
                <a:path extrusionOk="0" h="17145" w="398145">
                  <a:moveTo>
                    <a:pt x="10807" y="0"/>
                  </a:moveTo>
                  <a:lnTo>
                    <a:pt x="0" y="17094"/>
                  </a:lnTo>
                  <a:lnTo>
                    <a:pt x="397687" y="17094"/>
                  </a:lnTo>
                  <a:lnTo>
                    <a:pt x="386880" y="0"/>
                  </a:lnTo>
                  <a:lnTo>
                    <a:pt x="1080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5" name="Google Shape;365;p38"/>
            <p:cNvSpPr/>
            <p:nvPr/>
          </p:nvSpPr>
          <p:spPr>
            <a:xfrm>
              <a:off x="6671934" y="6015866"/>
              <a:ext cx="683895" cy="18415"/>
            </a:xfrm>
            <a:custGeom>
              <a:rect b="b" l="l" r="r" t="t"/>
              <a:pathLst>
                <a:path extrusionOk="0" h="18414" w="683895">
                  <a:moveTo>
                    <a:pt x="17132" y="0"/>
                  </a:moveTo>
                  <a:lnTo>
                    <a:pt x="0" y="18313"/>
                  </a:lnTo>
                  <a:lnTo>
                    <a:pt x="683577" y="18313"/>
                  </a:lnTo>
                  <a:lnTo>
                    <a:pt x="665556" y="0"/>
                  </a:lnTo>
                  <a:lnTo>
                    <a:pt x="171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6" name="Google Shape;366;p38"/>
            <p:cNvSpPr/>
            <p:nvPr/>
          </p:nvSpPr>
          <p:spPr>
            <a:xfrm>
              <a:off x="6650309" y="6042719"/>
              <a:ext cx="728980" cy="18415"/>
            </a:xfrm>
            <a:custGeom>
              <a:rect b="b" l="l" r="r" t="t"/>
              <a:pathLst>
                <a:path extrusionOk="0" h="18414" w="728979">
                  <a:moveTo>
                    <a:pt x="18021" y="0"/>
                  </a:moveTo>
                  <a:lnTo>
                    <a:pt x="0" y="18313"/>
                  </a:lnTo>
                  <a:lnTo>
                    <a:pt x="728649" y="18313"/>
                  </a:lnTo>
                  <a:lnTo>
                    <a:pt x="709701" y="0"/>
                  </a:lnTo>
                  <a:lnTo>
                    <a:pt x="18021"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67" name="Google Shape;367;p38"/>
          <p:cNvSpPr txBox="1"/>
          <p:nvPr/>
        </p:nvSpPr>
        <p:spPr>
          <a:xfrm>
            <a:off x="5217946" y="5518659"/>
            <a:ext cx="3050540" cy="472440"/>
          </a:xfrm>
          <a:prstGeom prst="rect">
            <a:avLst/>
          </a:prstGeom>
          <a:noFill/>
          <a:ln>
            <a:noFill/>
          </a:ln>
        </p:spPr>
        <p:txBody>
          <a:bodyPr anchorCtr="0" anchor="t" bIns="0" lIns="0" spcFirstLastPara="1" rIns="0" wrap="square" tIns="12050">
            <a:spAutoFit/>
          </a:bodyPr>
          <a:lstStyle/>
          <a:p>
            <a:pPr indent="0" lvl="0" marL="2228850" rtl="0" algn="l">
              <a:lnSpc>
                <a:spcPct val="110000"/>
              </a:lnSpc>
              <a:spcBef>
                <a:spcPts val="0"/>
              </a:spcBef>
              <a:spcAft>
                <a:spcPts val="0"/>
              </a:spcAft>
              <a:buNone/>
            </a:pPr>
            <a:r>
              <a:rPr lang="en-US" sz="1600">
                <a:solidFill>
                  <a:srgbClr val="4E3629"/>
                </a:solidFill>
                <a:latin typeface="Calibri"/>
                <a:ea typeface="Calibri"/>
                <a:cs typeface="Calibri"/>
                <a:sym typeface="Calibri"/>
              </a:rPr>
              <a:t>Usuario D</a:t>
            </a:r>
            <a:endParaRPr sz="1600">
              <a:latin typeface="Calibri"/>
              <a:ea typeface="Calibri"/>
              <a:cs typeface="Calibri"/>
              <a:sym typeface="Calibri"/>
            </a:endParaRPr>
          </a:p>
          <a:p>
            <a:pPr indent="0" lvl="0" marL="12700" rtl="0" algn="l">
              <a:lnSpc>
                <a:spcPct val="110000"/>
              </a:lnSpc>
              <a:spcBef>
                <a:spcPts val="0"/>
              </a:spcBef>
              <a:spcAft>
                <a:spcPts val="0"/>
              </a:spcAft>
              <a:buNone/>
            </a:pPr>
            <a:r>
              <a:rPr lang="en-US" sz="1600">
                <a:solidFill>
                  <a:srgbClr val="4E3629"/>
                </a:solidFill>
                <a:latin typeface="Calibri"/>
                <a:ea typeface="Calibri"/>
                <a:cs typeface="Calibri"/>
                <a:sym typeface="Calibri"/>
              </a:rPr>
              <a:t>Otorga select</a:t>
            </a:r>
            <a:endParaRPr sz="1600">
              <a:latin typeface="Calibri"/>
              <a:ea typeface="Calibri"/>
              <a:cs typeface="Calibri"/>
              <a:sym typeface="Calibri"/>
            </a:endParaRPr>
          </a:p>
        </p:txBody>
      </p:sp>
      <p:sp>
        <p:nvSpPr>
          <p:cNvPr id="368" name="Google Shape;368;p38"/>
          <p:cNvSpPr/>
          <p:nvPr/>
        </p:nvSpPr>
        <p:spPr>
          <a:xfrm>
            <a:off x="5752338" y="5991605"/>
            <a:ext cx="568960" cy="236220"/>
          </a:xfrm>
          <a:custGeom>
            <a:rect b="b" l="l" r="r" t="t"/>
            <a:pathLst>
              <a:path extrusionOk="0" h="236220" w="568960">
                <a:moveTo>
                  <a:pt x="0" y="59055"/>
                </a:moveTo>
                <a:lnTo>
                  <a:pt x="388848" y="59055"/>
                </a:lnTo>
                <a:lnTo>
                  <a:pt x="388848" y="0"/>
                </a:lnTo>
                <a:lnTo>
                  <a:pt x="568452" y="118110"/>
                </a:lnTo>
                <a:lnTo>
                  <a:pt x="388848" y="236220"/>
                </a:lnTo>
                <a:lnTo>
                  <a:pt x="388848" y="177165"/>
                </a:lnTo>
                <a:lnTo>
                  <a:pt x="0" y="177165"/>
                </a:lnTo>
                <a:lnTo>
                  <a:pt x="0" y="59055"/>
                </a:lnTo>
                <a:close/>
              </a:path>
            </a:pathLst>
          </a:custGeom>
          <a:noFill/>
          <a:ln cap="flat" cmpd="sng" w="3807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9" name="Google Shape;369;p38"/>
          <p:cNvSpPr/>
          <p:nvPr/>
        </p:nvSpPr>
        <p:spPr>
          <a:xfrm>
            <a:off x="4312158" y="5391150"/>
            <a:ext cx="568960" cy="236220"/>
          </a:xfrm>
          <a:custGeom>
            <a:rect b="b" l="l" r="r" t="t"/>
            <a:pathLst>
              <a:path extrusionOk="0" h="236220" w="568960">
                <a:moveTo>
                  <a:pt x="0" y="59055"/>
                </a:moveTo>
                <a:lnTo>
                  <a:pt x="388848" y="59055"/>
                </a:lnTo>
                <a:lnTo>
                  <a:pt x="388848" y="0"/>
                </a:lnTo>
                <a:lnTo>
                  <a:pt x="568452" y="118110"/>
                </a:lnTo>
                <a:lnTo>
                  <a:pt x="388848" y="236220"/>
                </a:lnTo>
                <a:lnTo>
                  <a:pt x="388848" y="177165"/>
                </a:lnTo>
                <a:lnTo>
                  <a:pt x="0" y="177165"/>
                </a:lnTo>
                <a:lnTo>
                  <a:pt x="0" y="59055"/>
                </a:lnTo>
                <a:close/>
              </a:path>
            </a:pathLst>
          </a:custGeom>
          <a:noFill/>
          <a:ln cap="flat" cmpd="sng" w="38100">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0" name="Google Shape;370;p38"/>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371" name="Google Shape;371;p3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72" name="Google Shape;372;p3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9"/>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With Grant Option</a:t>
            </a:r>
            <a:endParaRPr/>
          </a:p>
        </p:txBody>
      </p:sp>
      <p:sp>
        <p:nvSpPr>
          <p:cNvPr id="378" name="Google Shape;378;p39"/>
          <p:cNvSpPr txBox="1"/>
          <p:nvPr/>
        </p:nvSpPr>
        <p:spPr>
          <a:xfrm>
            <a:off x="483552" y="1415417"/>
            <a:ext cx="718693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Ahora, el usuario C puede otorgar al usuario D el 	privilegio SELECT</a:t>
            </a:r>
            <a:endParaRPr sz="2800">
              <a:latin typeface="Calibri"/>
              <a:ea typeface="Calibri"/>
              <a:cs typeface="Calibri"/>
              <a:sym typeface="Calibri"/>
            </a:endParaRPr>
          </a:p>
        </p:txBody>
      </p:sp>
      <p:grpSp>
        <p:nvGrpSpPr>
          <p:cNvPr id="379" name="Google Shape;379;p39"/>
          <p:cNvGrpSpPr/>
          <p:nvPr/>
        </p:nvGrpSpPr>
        <p:grpSpPr>
          <a:xfrm>
            <a:off x="2322563" y="3462528"/>
            <a:ext cx="875042" cy="660400"/>
            <a:chOff x="2322563" y="3462528"/>
            <a:chExt cx="875042" cy="660400"/>
          </a:xfrm>
        </p:grpSpPr>
        <p:sp>
          <p:nvSpPr>
            <p:cNvPr id="380" name="Google Shape;380;p39"/>
            <p:cNvSpPr/>
            <p:nvPr/>
          </p:nvSpPr>
          <p:spPr>
            <a:xfrm>
              <a:off x="2322563" y="3462528"/>
              <a:ext cx="875030" cy="660400"/>
            </a:xfrm>
            <a:custGeom>
              <a:rect b="b" l="l" r="r" t="t"/>
              <a:pathLst>
                <a:path extrusionOk="0" h="660400" w="875030">
                  <a:moveTo>
                    <a:pt x="742238" y="0"/>
                  </a:moveTo>
                  <a:lnTo>
                    <a:pt x="136169" y="0"/>
                  </a:lnTo>
                  <a:lnTo>
                    <a:pt x="136169" y="438315"/>
                  </a:lnTo>
                  <a:lnTo>
                    <a:pt x="742238" y="438315"/>
                  </a:lnTo>
                  <a:lnTo>
                    <a:pt x="742238" y="0"/>
                  </a:lnTo>
                  <a:close/>
                </a:path>
                <a:path extrusionOk="0" h="660400" w="875030">
                  <a:moveTo>
                    <a:pt x="874788" y="607250"/>
                  </a:moveTo>
                  <a:lnTo>
                    <a:pt x="742226" y="460336"/>
                  </a:lnTo>
                  <a:lnTo>
                    <a:pt x="135267" y="460336"/>
                  </a:lnTo>
                  <a:lnTo>
                    <a:pt x="0" y="607250"/>
                  </a:lnTo>
                  <a:lnTo>
                    <a:pt x="12" y="659892"/>
                  </a:lnTo>
                  <a:lnTo>
                    <a:pt x="874788" y="659892"/>
                  </a:lnTo>
                  <a:lnTo>
                    <a:pt x="874788" y="607250"/>
                  </a:lnTo>
                  <a:close/>
                </a:path>
              </a:pathLst>
            </a:custGeom>
            <a:solidFill>
              <a:srgbClr val="C0C0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1" name="Google Shape;381;p39"/>
            <p:cNvSpPr/>
            <p:nvPr/>
          </p:nvSpPr>
          <p:spPr>
            <a:xfrm>
              <a:off x="2458732" y="3462528"/>
              <a:ext cx="606425" cy="438784"/>
            </a:xfrm>
            <a:custGeom>
              <a:rect b="b" l="l" r="r" t="t"/>
              <a:pathLst>
                <a:path extrusionOk="0" h="438785" w="606425">
                  <a:moveTo>
                    <a:pt x="0" y="0"/>
                  </a:moveTo>
                  <a:lnTo>
                    <a:pt x="606069" y="0"/>
                  </a:lnTo>
                  <a:lnTo>
                    <a:pt x="606069" y="438315"/>
                  </a:lnTo>
                  <a:lnTo>
                    <a:pt x="0" y="438315"/>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2" name="Google Shape;382;p39"/>
            <p:cNvSpPr/>
            <p:nvPr/>
          </p:nvSpPr>
          <p:spPr>
            <a:xfrm>
              <a:off x="2322574" y="3922863"/>
              <a:ext cx="875030" cy="147320"/>
            </a:xfrm>
            <a:custGeom>
              <a:rect b="b" l="l" r="r" t="t"/>
              <a:pathLst>
                <a:path extrusionOk="0" h="147320" w="875030">
                  <a:moveTo>
                    <a:pt x="135267" y="0"/>
                  </a:moveTo>
                  <a:lnTo>
                    <a:pt x="0" y="146913"/>
                  </a:lnTo>
                  <a:lnTo>
                    <a:pt x="874776" y="146913"/>
                  </a:lnTo>
                  <a:lnTo>
                    <a:pt x="742226" y="0"/>
                  </a:lnTo>
                  <a:lnTo>
                    <a:pt x="13526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3" name="Google Shape;383;p39"/>
            <p:cNvSpPr/>
            <p:nvPr/>
          </p:nvSpPr>
          <p:spPr>
            <a:xfrm>
              <a:off x="2322575" y="3509060"/>
              <a:ext cx="875030" cy="613410"/>
            </a:xfrm>
            <a:custGeom>
              <a:rect b="b" l="l" r="r" t="t"/>
              <a:pathLst>
                <a:path extrusionOk="0" h="613410" w="875030">
                  <a:moveTo>
                    <a:pt x="0" y="613359"/>
                  </a:moveTo>
                  <a:lnTo>
                    <a:pt x="874776" y="613359"/>
                  </a:lnTo>
                  <a:lnTo>
                    <a:pt x="874776" y="560717"/>
                  </a:lnTo>
                  <a:lnTo>
                    <a:pt x="0" y="560717"/>
                  </a:lnTo>
                  <a:lnTo>
                    <a:pt x="0" y="613359"/>
                  </a:lnTo>
                  <a:close/>
                </a:path>
                <a:path extrusionOk="0" h="613410" w="875030">
                  <a:moveTo>
                    <a:pt x="169532" y="0"/>
                  </a:moveTo>
                  <a:lnTo>
                    <a:pt x="710641" y="0"/>
                  </a:lnTo>
                  <a:lnTo>
                    <a:pt x="710641" y="342811"/>
                  </a:lnTo>
                  <a:lnTo>
                    <a:pt x="169532" y="342811"/>
                  </a:lnTo>
                  <a:lnTo>
                    <a:pt x="1695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4" name="Google Shape;384;p39"/>
            <p:cNvSpPr/>
            <p:nvPr/>
          </p:nvSpPr>
          <p:spPr>
            <a:xfrm>
              <a:off x="2440707" y="3937558"/>
              <a:ext cx="640715" cy="17145"/>
            </a:xfrm>
            <a:custGeom>
              <a:rect b="b" l="l" r="r" t="t"/>
              <a:pathLst>
                <a:path extrusionOk="0" h="17145" w="640714">
                  <a:moveTo>
                    <a:pt x="16243" y="0"/>
                  </a:moveTo>
                  <a:lnTo>
                    <a:pt x="0" y="17145"/>
                  </a:lnTo>
                  <a:lnTo>
                    <a:pt x="640295" y="17145"/>
                  </a:lnTo>
                  <a:lnTo>
                    <a:pt x="624090" y="0"/>
                  </a:lnTo>
                  <a:lnTo>
                    <a:pt x="16243"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5" name="Google Shape;385;p39"/>
            <p:cNvSpPr/>
            <p:nvPr/>
          </p:nvSpPr>
          <p:spPr>
            <a:xfrm>
              <a:off x="2563388" y="4022030"/>
              <a:ext cx="398145" cy="17145"/>
            </a:xfrm>
            <a:custGeom>
              <a:rect b="b" l="l" r="r" t="t"/>
              <a:pathLst>
                <a:path extrusionOk="0" h="17145" w="398144">
                  <a:moveTo>
                    <a:pt x="10807" y="0"/>
                  </a:moveTo>
                  <a:lnTo>
                    <a:pt x="0" y="17145"/>
                  </a:lnTo>
                  <a:lnTo>
                    <a:pt x="397687" y="17145"/>
                  </a:lnTo>
                  <a:lnTo>
                    <a:pt x="386880" y="0"/>
                  </a:lnTo>
                  <a:lnTo>
                    <a:pt x="1080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6" name="Google Shape;386;p39"/>
            <p:cNvSpPr/>
            <p:nvPr/>
          </p:nvSpPr>
          <p:spPr>
            <a:xfrm>
              <a:off x="2419974" y="3965726"/>
              <a:ext cx="683895" cy="18415"/>
            </a:xfrm>
            <a:custGeom>
              <a:rect b="b" l="l" r="r" t="t"/>
              <a:pathLst>
                <a:path extrusionOk="0" h="18414" w="683894">
                  <a:moveTo>
                    <a:pt x="17132" y="0"/>
                  </a:moveTo>
                  <a:lnTo>
                    <a:pt x="0" y="18364"/>
                  </a:lnTo>
                  <a:lnTo>
                    <a:pt x="683577" y="18364"/>
                  </a:lnTo>
                  <a:lnTo>
                    <a:pt x="665556" y="0"/>
                  </a:lnTo>
                  <a:lnTo>
                    <a:pt x="171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7" name="Google Shape;387;p39"/>
            <p:cNvSpPr/>
            <p:nvPr/>
          </p:nvSpPr>
          <p:spPr>
            <a:xfrm>
              <a:off x="2398350" y="3992641"/>
              <a:ext cx="728980" cy="18415"/>
            </a:xfrm>
            <a:custGeom>
              <a:rect b="b" l="l" r="r" t="t"/>
              <a:pathLst>
                <a:path extrusionOk="0" h="18414" w="728980">
                  <a:moveTo>
                    <a:pt x="18021" y="0"/>
                  </a:moveTo>
                  <a:lnTo>
                    <a:pt x="0" y="18364"/>
                  </a:lnTo>
                  <a:lnTo>
                    <a:pt x="728649" y="18364"/>
                  </a:lnTo>
                  <a:lnTo>
                    <a:pt x="709701" y="0"/>
                  </a:lnTo>
                  <a:lnTo>
                    <a:pt x="18021"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388" name="Google Shape;388;p39"/>
          <p:cNvGrpSpPr/>
          <p:nvPr/>
        </p:nvGrpSpPr>
        <p:grpSpPr>
          <a:xfrm>
            <a:off x="3721595" y="4069079"/>
            <a:ext cx="875042" cy="660400"/>
            <a:chOff x="3721595" y="4069079"/>
            <a:chExt cx="875042" cy="660400"/>
          </a:xfrm>
        </p:grpSpPr>
        <p:sp>
          <p:nvSpPr>
            <p:cNvPr id="389" name="Google Shape;389;p39"/>
            <p:cNvSpPr/>
            <p:nvPr/>
          </p:nvSpPr>
          <p:spPr>
            <a:xfrm>
              <a:off x="3721595" y="4069079"/>
              <a:ext cx="875030" cy="660400"/>
            </a:xfrm>
            <a:custGeom>
              <a:rect b="b" l="l" r="r" t="t"/>
              <a:pathLst>
                <a:path extrusionOk="0" h="660400" w="875029">
                  <a:moveTo>
                    <a:pt x="742238" y="0"/>
                  </a:moveTo>
                  <a:lnTo>
                    <a:pt x="136169" y="0"/>
                  </a:lnTo>
                  <a:lnTo>
                    <a:pt x="136169" y="438315"/>
                  </a:lnTo>
                  <a:lnTo>
                    <a:pt x="742238" y="438315"/>
                  </a:lnTo>
                  <a:lnTo>
                    <a:pt x="742238" y="0"/>
                  </a:lnTo>
                  <a:close/>
                </a:path>
                <a:path extrusionOk="0" h="660400" w="875029">
                  <a:moveTo>
                    <a:pt x="874788" y="607250"/>
                  </a:moveTo>
                  <a:lnTo>
                    <a:pt x="742226" y="460336"/>
                  </a:lnTo>
                  <a:lnTo>
                    <a:pt x="135267" y="460336"/>
                  </a:lnTo>
                  <a:lnTo>
                    <a:pt x="0" y="607250"/>
                  </a:lnTo>
                  <a:lnTo>
                    <a:pt x="12" y="659892"/>
                  </a:lnTo>
                  <a:lnTo>
                    <a:pt x="874788" y="659892"/>
                  </a:lnTo>
                  <a:lnTo>
                    <a:pt x="874788" y="607250"/>
                  </a:lnTo>
                  <a:close/>
                </a:path>
              </a:pathLst>
            </a:custGeom>
            <a:solidFill>
              <a:srgbClr val="C0C0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0" name="Google Shape;390;p39"/>
            <p:cNvSpPr/>
            <p:nvPr/>
          </p:nvSpPr>
          <p:spPr>
            <a:xfrm>
              <a:off x="3857764" y="4069079"/>
              <a:ext cx="606425" cy="438784"/>
            </a:xfrm>
            <a:custGeom>
              <a:rect b="b" l="l" r="r" t="t"/>
              <a:pathLst>
                <a:path extrusionOk="0" h="438785" w="606425">
                  <a:moveTo>
                    <a:pt x="0" y="0"/>
                  </a:moveTo>
                  <a:lnTo>
                    <a:pt x="606069" y="0"/>
                  </a:lnTo>
                  <a:lnTo>
                    <a:pt x="606069" y="438315"/>
                  </a:lnTo>
                  <a:lnTo>
                    <a:pt x="0" y="438315"/>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1" name="Google Shape;391;p39"/>
            <p:cNvSpPr/>
            <p:nvPr/>
          </p:nvSpPr>
          <p:spPr>
            <a:xfrm>
              <a:off x="3721606" y="4529415"/>
              <a:ext cx="875030" cy="147320"/>
            </a:xfrm>
            <a:custGeom>
              <a:rect b="b" l="l" r="r" t="t"/>
              <a:pathLst>
                <a:path extrusionOk="0" h="147320" w="875029">
                  <a:moveTo>
                    <a:pt x="135267" y="0"/>
                  </a:moveTo>
                  <a:lnTo>
                    <a:pt x="0" y="146913"/>
                  </a:lnTo>
                  <a:lnTo>
                    <a:pt x="874776" y="146913"/>
                  </a:lnTo>
                  <a:lnTo>
                    <a:pt x="742226" y="0"/>
                  </a:lnTo>
                  <a:lnTo>
                    <a:pt x="13526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2" name="Google Shape;392;p39"/>
            <p:cNvSpPr/>
            <p:nvPr/>
          </p:nvSpPr>
          <p:spPr>
            <a:xfrm>
              <a:off x="3721607" y="4115612"/>
              <a:ext cx="875030" cy="613410"/>
            </a:xfrm>
            <a:custGeom>
              <a:rect b="b" l="l" r="r" t="t"/>
              <a:pathLst>
                <a:path extrusionOk="0" h="613410" w="875029">
                  <a:moveTo>
                    <a:pt x="0" y="613359"/>
                  </a:moveTo>
                  <a:lnTo>
                    <a:pt x="874776" y="613359"/>
                  </a:lnTo>
                  <a:lnTo>
                    <a:pt x="874776" y="560717"/>
                  </a:lnTo>
                  <a:lnTo>
                    <a:pt x="0" y="560717"/>
                  </a:lnTo>
                  <a:lnTo>
                    <a:pt x="0" y="613359"/>
                  </a:lnTo>
                  <a:close/>
                </a:path>
                <a:path extrusionOk="0" h="613410" w="875029">
                  <a:moveTo>
                    <a:pt x="169532" y="0"/>
                  </a:moveTo>
                  <a:lnTo>
                    <a:pt x="710641" y="0"/>
                  </a:lnTo>
                  <a:lnTo>
                    <a:pt x="710641" y="342811"/>
                  </a:lnTo>
                  <a:lnTo>
                    <a:pt x="169532" y="342811"/>
                  </a:lnTo>
                  <a:lnTo>
                    <a:pt x="1695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3" name="Google Shape;393;p39"/>
            <p:cNvSpPr/>
            <p:nvPr/>
          </p:nvSpPr>
          <p:spPr>
            <a:xfrm>
              <a:off x="3839739" y="4544110"/>
              <a:ext cx="640715" cy="17145"/>
            </a:xfrm>
            <a:custGeom>
              <a:rect b="b" l="l" r="r" t="t"/>
              <a:pathLst>
                <a:path extrusionOk="0" h="17145" w="640714">
                  <a:moveTo>
                    <a:pt x="16243" y="0"/>
                  </a:moveTo>
                  <a:lnTo>
                    <a:pt x="0" y="17145"/>
                  </a:lnTo>
                  <a:lnTo>
                    <a:pt x="640295" y="17145"/>
                  </a:lnTo>
                  <a:lnTo>
                    <a:pt x="624090" y="0"/>
                  </a:lnTo>
                  <a:lnTo>
                    <a:pt x="16243"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4" name="Google Shape;394;p39"/>
            <p:cNvSpPr/>
            <p:nvPr/>
          </p:nvSpPr>
          <p:spPr>
            <a:xfrm>
              <a:off x="3962420" y="4628582"/>
              <a:ext cx="398145" cy="17145"/>
            </a:xfrm>
            <a:custGeom>
              <a:rect b="b" l="l" r="r" t="t"/>
              <a:pathLst>
                <a:path extrusionOk="0" h="17145" w="398145">
                  <a:moveTo>
                    <a:pt x="10807" y="0"/>
                  </a:moveTo>
                  <a:lnTo>
                    <a:pt x="0" y="17145"/>
                  </a:lnTo>
                  <a:lnTo>
                    <a:pt x="397687" y="17145"/>
                  </a:lnTo>
                  <a:lnTo>
                    <a:pt x="386880" y="0"/>
                  </a:lnTo>
                  <a:lnTo>
                    <a:pt x="1080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5" name="Google Shape;395;p39"/>
            <p:cNvSpPr/>
            <p:nvPr/>
          </p:nvSpPr>
          <p:spPr>
            <a:xfrm>
              <a:off x="3819006" y="4572278"/>
              <a:ext cx="683895" cy="18415"/>
            </a:xfrm>
            <a:custGeom>
              <a:rect b="b" l="l" r="r" t="t"/>
              <a:pathLst>
                <a:path extrusionOk="0" h="18414" w="683895">
                  <a:moveTo>
                    <a:pt x="17132" y="0"/>
                  </a:moveTo>
                  <a:lnTo>
                    <a:pt x="0" y="18364"/>
                  </a:lnTo>
                  <a:lnTo>
                    <a:pt x="683577" y="18364"/>
                  </a:lnTo>
                  <a:lnTo>
                    <a:pt x="665556" y="0"/>
                  </a:lnTo>
                  <a:lnTo>
                    <a:pt x="171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6" name="Google Shape;396;p39"/>
            <p:cNvSpPr/>
            <p:nvPr/>
          </p:nvSpPr>
          <p:spPr>
            <a:xfrm>
              <a:off x="3797382" y="4599193"/>
              <a:ext cx="728980" cy="18415"/>
            </a:xfrm>
            <a:custGeom>
              <a:rect b="b" l="l" r="r" t="t"/>
              <a:pathLst>
                <a:path extrusionOk="0" h="18414" w="728979">
                  <a:moveTo>
                    <a:pt x="18021" y="0"/>
                  </a:moveTo>
                  <a:lnTo>
                    <a:pt x="0" y="18364"/>
                  </a:lnTo>
                  <a:lnTo>
                    <a:pt x="728649" y="18364"/>
                  </a:lnTo>
                  <a:lnTo>
                    <a:pt x="709701" y="0"/>
                  </a:lnTo>
                  <a:lnTo>
                    <a:pt x="18021"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97" name="Google Shape;397;p39"/>
          <p:cNvSpPr txBox="1"/>
          <p:nvPr/>
        </p:nvSpPr>
        <p:spPr>
          <a:xfrm>
            <a:off x="2323234" y="4492242"/>
            <a:ext cx="111950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Otorga select</a:t>
            </a:r>
            <a:endParaRPr sz="1600">
              <a:latin typeface="Calibri"/>
              <a:ea typeface="Calibri"/>
              <a:cs typeface="Calibri"/>
              <a:sym typeface="Calibri"/>
            </a:endParaRPr>
          </a:p>
        </p:txBody>
      </p:sp>
      <p:sp>
        <p:nvSpPr>
          <p:cNvPr id="398" name="Google Shape;398;p39"/>
          <p:cNvSpPr txBox="1"/>
          <p:nvPr/>
        </p:nvSpPr>
        <p:spPr>
          <a:xfrm>
            <a:off x="3170892" y="3520942"/>
            <a:ext cx="2331720" cy="82296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Usuario A</a:t>
            </a:r>
            <a:endParaRPr sz="1600">
              <a:latin typeface="Calibri"/>
              <a:ea typeface="Calibri"/>
              <a:cs typeface="Calibri"/>
              <a:sym typeface="Calibri"/>
            </a:endParaRPr>
          </a:p>
          <a:p>
            <a:pPr indent="0" lvl="0" marL="0" rtl="0" algn="l">
              <a:lnSpc>
                <a:spcPct val="100000"/>
              </a:lnSpc>
              <a:spcBef>
                <a:spcPts val="484"/>
              </a:spcBef>
              <a:spcAft>
                <a:spcPts val="0"/>
              </a:spcAft>
              <a:buNone/>
            </a:pPr>
            <a:r>
              <a:t/>
            </a:r>
            <a:endParaRPr sz="1600">
              <a:latin typeface="Calibri"/>
              <a:ea typeface="Calibri"/>
              <a:cs typeface="Calibri"/>
              <a:sym typeface="Calibri"/>
            </a:endParaRPr>
          </a:p>
          <a:p>
            <a:pPr indent="0" lvl="0" marL="1524000" rtl="0" algn="l">
              <a:lnSpc>
                <a:spcPct val="100000"/>
              </a:lnSpc>
              <a:spcBef>
                <a:spcPts val="0"/>
              </a:spcBef>
              <a:spcAft>
                <a:spcPts val="0"/>
              </a:spcAft>
              <a:buNone/>
            </a:pPr>
            <a:r>
              <a:rPr lang="en-US" sz="1600">
                <a:solidFill>
                  <a:srgbClr val="4E3629"/>
                </a:solidFill>
                <a:latin typeface="Calibri"/>
                <a:ea typeface="Calibri"/>
                <a:cs typeface="Calibri"/>
                <a:sym typeface="Calibri"/>
              </a:rPr>
              <a:t>Usuario B</a:t>
            </a:r>
            <a:endParaRPr sz="1600">
              <a:latin typeface="Calibri"/>
              <a:ea typeface="Calibri"/>
              <a:cs typeface="Calibri"/>
              <a:sym typeface="Calibri"/>
            </a:endParaRPr>
          </a:p>
        </p:txBody>
      </p:sp>
      <p:sp>
        <p:nvSpPr>
          <p:cNvPr id="399" name="Google Shape;399;p39"/>
          <p:cNvSpPr/>
          <p:nvPr/>
        </p:nvSpPr>
        <p:spPr>
          <a:xfrm>
            <a:off x="2650998" y="4101843"/>
            <a:ext cx="35560" cy="381000"/>
          </a:xfrm>
          <a:custGeom>
            <a:rect b="b" l="l" r="r" t="t"/>
            <a:pathLst>
              <a:path extrusionOk="0" h="381000" w="35560">
                <a:moveTo>
                  <a:pt x="0" y="285407"/>
                </a:moveTo>
                <a:lnTo>
                  <a:pt x="8763" y="285407"/>
                </a:lnTo>
                <a:lnTo>
                  <a:pt x="8763" y="0"/>
                </a:lnTo>
                <a:lnTo>
                  <a:pt x="26288" y="0"/>
                </a:lnTo>
                <a:lnTo>
                  <a:pt x="26288" y="285407"/>
                </a:lnTo>
                <a:lnTo>
                  <a:pt x="35052" y="285407"/>
                </a:lnTo>
                <a:lnTo>
                  <a:pt x="17526" y="380999"/>
                </a:lnTo>
                <a:lnTo>
                  <a:pt x="0" y="285407"/>
                </a:lnTo>
                <a:close/>
              </a:path>
            </a:pathLst>
          </a:custGeom>
          <a:noFill/>
          <a:ln cap="flat" cmpd="sng" w="38100">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0" name="Google Shape;400;p39"/>
          <p:cNvSpPr/>
          <p:nvPr/>
        </p:nvSpPr>
        <p:spPr>
          <a:xfrm>
            <a:off x="2824733" y="4741926"/>
            <a:ext cx="568960" cy="236220"/>
          </a:xfrm>
          <a:custGeom>
            <a:rect b="b" l="l" r="r" t="t"/>
            <a:pathLst>
              <a:path extrusionOk="0" h="236220" w="568960">
                <a:moveTo>
                  <a:pt x="0" y="59055"/>
                </a:moveTo>
                <a:lnTo>
                  <a:pt x="388848" y="59055"/>
                </a:lnTo>
                <a:lnTo>
                  <a:pt x="388848" y="0"/>
                </a:lnTo>
                <a:lnTo>
                  <a:pt x="568452" y="118110"/>
                </a:lnTo>
                <a:lnTo>
                  <a:pt x="388848" y="236220"/>
                </a:lnTo>
                <a:lnTo>
                  <a:pt x="388848" y="177165"/>
                </a:lnTo>
                <a:lnTo>
                  <a:pt x="0" y="177165"/>
                </a:lnTo>
                <a:lnTo>
                  <a:pt x="0" y="59055"/>
                </a:lnTo>
                <a:close/>
              </a:path>
            </a:pathLst>
          </a:custGeom>
          <a:noFill/>
          <a:ln cap="flat" cmpd="sng" w="38100">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1" name="Google Shape;401;p39"/>
          <p:cNvSpPr/>
          <p:nvPr/>
        </p:nvSpPr>
        <p:spPr>
          <a:xfrm>
            <a:off x="4010405" y="4722111"/>
            <a:ext cx="35560" cy="381000"/>
          </a:xfrm>
          <a:custGeom>
            <a:rect b="b" l="l" r="r" t="t"/>
            <a:pathLst>
              <a:path extrusionOk="0" h="381000" w="35560">
                <a:moveTo>
                  <a:pt x="0" y="285407"/>
                </a:moveTo>
                <a:lnTo>
                  <a:pt x="8763" y="285407"/>
                </a:lnTo>
                <a:lnTo>
                  <a:pt x="8763" y="0"/>
                </a:lnTo>
                <a:lnTo>
                  <a:pt x="26288" y="0"/>
                </a:lnTo>
                <a:lnTo>
                  <a:pt x="26288" y="285407"/>
                </a:lnTo>
                <a:lnTo>
                  <a:pt x="35052" y="285407"/>
                </a:lnTo>
                <a:lnTo>
                  <a:pt x="17526" y="381000"/>
                </a:lnTo>
                <a:lnTo>
                  <a:pt x="0" y="285407"/>
                </a:lnTo>
                <a:close/>
              </a:path>
            </a:pathLst>
          </a:custGeom>
          <a:noFill/>
          <a:ln cap="flat" cmpd="sng" w="38100">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402" name="Google Shape;402;p39"/>
          <p:cNvGrpSpPr/>
          <p:nvPr/>
        </p:nvGrpSpPr>
        <p:grpSpPr>
          <a:xfrm>
            <a:off x="5120627" y="4613147"/>
            <a:ext cx="875043" cy="1099564"/>
            <a:chOff x="5120627" y="4613147"/>
            <a:chExt cx="875043" cy="1099564"/>
          </a:xfrm>
        </p:grpSpPr>
        <p:sp>
          <p:nvSpPr>
            <p:cNvPr id="403" name="Google Shape;403;p39"/>
            <p:cNvSpPr/>
            <p:nvPr/>
          </p:nvSpPr>
          <p:spPr>
            <a:xfrm>
              <a:off x="5120627" y="4613147"/>
              <a:ext cx="875030" cy="660400"/>
            </a:xfrm>
            <a:custGeom>
              <a:rect b="b" l="l" r="r" t="t"/>
              <a:pathLst>
                <a:path extrusionOk="0" h="660400" w="875029">
                  <a:moveTo>
                    <a:pt x="742238" y="0"/>
                  </a:moveTo>
                  <a:lnTo>
                    <a:pt x="136169" y="0"/>
                  </a:lnTo>
                  <a:lnTo>
                    <a:pt x="136169" y="438315"/>
                  </a:lnTo>
                  <a:lnTo>
                    <a:pt x="742238" y="438315"/>
                  </a:lnTo>
                  <a:lnTo>
                    <a:pt x="742238" y="0"/>
                  </a:lnTo>
                  <a:close/>
                </a:path>
                <a:path extrusionOk="0" h="660400" w="875029">
                  <a:moveTo>
                    <a:pt x="874788" y="607250"/>
                  </a:moveTo>
                  <a:lnTo>
                    <a:pt x="742226" y="460336"/>
                  </a:lnTo>
                  <a:lnTo>
                    <a:pt x="135267" y="460336"/>
                  </a:lnTo>
                  <a:lnTo>
                    <a:pt x="0" y="607250"/>
                  </a:lnTo>
                  <a:lnTo>
                    <a:pt x="12" y="659892"/>
                  </a:lnTo>
                  <a:lnTo>
                    <a:pt x="874788" y="659892"/>
                  </a:lnTo>
                  <a:lnTo>
                    <a:pt x="874788" y="607250"/>
                  </a:lnTo>
                  <a:close/>
                </a:path>
              </a:pathLst>
            </a:custGeom>
            <a:solidFill>
              <a:srgbClr val="C0C0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4" name="Google Shape;404;p39"/>
            <p:cNvSpPr/>
            <p:nvPr/>
          </p:nvSpPr>
          <p:spPr>
            <a:xfrm>
              <a:off x="5256796" y="4613148"/>
              <a:ext cx="606425" cy="438784"/>
            </a:xfrm>
            <a:custGeom>
              <a:rect b="b" l="l" r="r" t="t"/>
              <a:pathLst>
                <a:path extrusionOk="0" h="438785" w="606425">
                  <a:moveTo>
                    <a:pt x="0" y="0"/>
                  </a:moveTo>
                  <a:lnTo>
                    <a:pt x="606069" y="0"/>
                  </a:lnTo>
                  <a:lnTo>
                    <a:pt x="606069" y="438315"/>
                  </a:lnTo>
                  <a:lnTo>
                    <a:pt x="0" y="438315"/>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5" name="Google Shape;405;p39"/>
            <p:cNvSpPr/>
            <p:nvPr/>
          </p:nvSpPr>
          <p:spPr>
            <a:xfrm>
              <a:off x="5120638" y="5073483"/>
              <a:ext cx="875030" cy="147320"/>
            </a:xfrm>
            <a:custGeom>
              <a:rect b="b" l="l" r="r" t="t"/>
              <a:pathLst>
                <a:path extrusionOk="0" h="147320" w="875029">
                  <a:moveTo>
                    <a:pt x="135267" y="0"/>
                  </a:moveTo>
                  <a:lnTo>
                    <a:pt x="0" y="146913"/>
                  </a:lnTo>
                  <a:lnTo>
                    <a:pt x="874776" y="146913"/>
                  </a:lnTo>
                  <a:lnTo>
                    <a:pt x="742226" y="0"/>
                  </a:lnTo>
                  <a:lnTo>
                    <a:pt x="13526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6" name="Google Shape;406;p39"/>
            <p:cNvSpPr/>
            <p:nvPr/>
          </p:nvSpPr>
          <p:spPr>
            <a:xfrm>
              <a:off x="5120640" y="4659680"/>
              <a:ext cx="875030" cy="613410"/>
            </a:xfrm>
            <a:custGeom>
              <a:rect b="b" l="l" r="r" t="t"/>
              <a:pathLst>
                <a:path extrusionOk="0" h="613410" w="875029">
                  <a:moveTo>
                    <a:pt x="0" y="613359"/>
                  </a:moveTo>
                  <a:lnTo>
                    <a:pt x="874776" y="613359"/>
                  </a:lnTo>
                  <a:lnTo>
                    <a:pt x="874776" y="560717"/>
                  </a:lnTo>
                  <a:lnTo>
                    <a:pt x="0" y="560717"/>
                  </a:lnTo>
                  <a:lnTo>
                    <a:pt x="0" y="613359"/>
                  </a:lnTo>
                  <a:close/>
                </a:path>
                <a:path extrusionOk="0" h="613410" w="875029">
                  <a:moveTo>
                    <a:pt x="169532" y="0"/>
                  </a:moveTo>
                  <a:lnTo>
                    <a:pt x="710641" y="0"/>
                  </a:lnTo>
                  <a:lnTo>
                    <a:pt x="710641" y="342811"/>
                  </a:lnTo>
                  <a:lnTo>
                    <a:pt x="169532" y="342811"/>
                  </a:lnTo>
                  <a:lnTo>
                    <a:pt x="1695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7" name="Google Shape;407;p39"/>
            <p:cNvSpPr/>
            <p:nvPr/>
          </p:nvSpPr>
          <p:spPr>
            <a:xfrm>
              <a:off x="5238771" y="5088178"/>
              <a:ext cx="640715" cy="17145"/>
            </a:xfrm>
            <a:custGeom>
              <a:rect b="b" l="l" r="r" t="t"/>
              <a:pathLst>
                <a:path extrusionOk="0" h="17145" w="640714">
                  <a:moveTo>
                    <a:pt x="16243" y="0"/>
                  </a:moveTo>
                  <a:lnTo>
                    <a:pt x="0" y="17145"/>
                  </a:lnTo>
                  <a:lnTo>
                    <a:pt x="640295" y="17145"/>
                  </a:lnTo>
                  <a:lnTo>
                    <a:pt x="624090" y="0"/>
                  </a:lnTo>
                  <a:lnTo>
                    <a:pt x="16243"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8" name="Google Shape;408;p39"/>
            <p:cNvSpPr/>
            <p:nvPr/>
          </p:nvSpPr>
          <p:spPr>
            <a:xfrm>
              <a:off x="5361451" y="5172650"/>
              <a:ext cx="398145" cy="17145"/>
            </a:xfrm>
            <a:custGeom>
              <a:rect b="b" l="l" r="r" t="t"/>
              <a:pathLst>
                <a:path extrusionOk="0" h="17145" w="398145">
                  <a:moveTo>
                    <a:pt x="10807" y="0"/>
                  </a:moveTo>
                  <a:lnTo>
                    <a:pt x="0" y="17145"/>
                  </a:lnTo>
                  <a:lnTo>
                    <a:pt x="397687" y="17145"/>
                  </a:lnTo>
                  <a:lnTo>
                    <a:pt x="386880" y="0"/>
                  </a:lnTo>
                  <a:lnTo>
                    <a:pt x="1080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9" name="Google Shape;409;p39"/>
            <p:cNvSpPr/>
            <p:nvPr/>
          </p:nvSpPr>
          <p:spPr>
            <a:xfrm>
              <a:off x="5218038" y="5116346"/>
              <a:ext cx="683895" cy="18415"/>
            </a:xfrm>
            <a:custGeom>
              <a:rect b="b" l="l" r="r" t="t"/>
              <a:pathLst>
                <a:path extrusionOk="0" h="18414" w="683895">
                  <a:moveTo>
                    <a:pt x="17132" y="0"/>
                  </a:moveTo>
                  <a:lnTo>
                    <a:pt x="0" y="18364"/>
                  </a:lnTo>
                  <a:lnTo>
                    <a:pt x="683577" y="18364"/>
                  </a:lnTo>
                  <a:lnTo>
                    <a:pt x="665556" y="0"/>
                  </a:lnTo>
                  <a:lnTo>
                    <a:pt x="171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0" name="Google Shape;410;p39"/>
            <p:cNvSpPr/>
            <p:nvPr/>
          </p:nvSpPr>
          <p:spPr>
            <a:xfrm>
              <a:off x="5196413" y="5143261"/>
              <a:ext cx="728980" cy="18415"/>
            </a:xfrm>
            <a:custGeom>
              <a:rect b="b" l="l" r="r" t="t"/>
              <a:pathLst>
                <a:path extrusionOk="0" h="18414" w="728979">
                  <a:moveTo>
                    <a:pt x="18021" y="0"/>
                  </a:moveTo>
                  <a:lnTo>
                    <a:pt x="0" y="18364"/>
                  </a:lnTo>
                  <a:lnTo>
                    <a:pt x="728649" y="18364"/>
                  </a:lnTo>
                  <a:lnTo>
                    <a:pt x="709701" y="0"/>
                  </a:lnTo>
                  <a:lnTo>
                    <a:pt x="18021"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1" name="Google Shape;411;p39"/>
            <p:cNvSpPr/>
            <p:nvPr/>
          </p:nvSpPr>
          <p:spPr>
            <a:xfrm>
              <a:off x="5505450" y="5331711"/>
              <a:ext cx="35560" cy="381000"/>
            </a:xfrm>
            <a:custGeom>
              <a:rect b="b" l="l" r="r" t="t"/>
              <a:pathLst>
                <a:path extrusionOk="0" h="381000" w="35560">
                  <a:moveTo>
                    <a:pt x="0" y="285407"/>
                  </a:moveTo>
                  <a:lnTo>
                    <a:pt x="8763" y="285407"/>
                  </a:lnTo>
                  <a:lnTo>
                    <a:pt x="8763" y="0"/>
                  </a:lnTo>
                  <a:lnTo>
                    <a:pt x="26288" y="0"/>
                  </a:lnTo>
                  <a:lnTo>
                    <a:pt x="26288" y="285407"/>
                  </a:lnTo>
                  <a:lnTo>
                    <a:pt x="35052" y="285407"/>
                  </a:lnTo>
                  <a:lnTo>
                    <a:pt x="17526" y="381000"/>
                  </a:lnTo>
                  <a:lnTo>
                    <a:pt x="0" y="285407"/>
                  </a:lnTo>
                  <a:close/>
                </a:path>
              </a:pathLst>
            </a:custGeom>
            <a:noFill/>
            <a:ln cap="flat" cmpd="sng" w="38100">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12" name="Google Shape;412;p39"/>
          <p:cNvSpPr txBox="1"/>
          <p:nvPr/>
        </p:nvSpPr>
        <p:spPr>
          <a:xfrm>
            <a:off x="3722137" y="5112841"/>
            <a:ext cx="111950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Otorga select</a:t>
            </a:r>
            <a:endParaRPr sz="1600">
              <a:latin typeface="Calibri"/>
              <a:ea typeface="Calibri"/>
              <a:cs typeface="Calibri"/>
              <a:sym typeface="Calibri"/>
            </a:endParaRPr>
          </a:p>
        </p:txBody>
      </p:sp>
      <p:sp>
        <p:nvSpPr>
          <p:cNvPr id="413" name="Google Shape;413;p39"/>
          <p:cNvSpPr txBox="1"/>
          <p:nvPr/>
        </p:nvSpPr>
        <p:spPr>
          <a:xfrm>
            <a:off x="5922764" y="4604489"/>
            <a:ext cx="81788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Usuario C</a:t>
            </a:r>
            <a:endParaRPr sz="1600">
              <a:latin typeface="Calibri"/>
              <a:ea typeface="Calibri"/>
              <a:cs typeface="Calibri"/>
              <a:sym typeface="Calibri"/>
            </a:endParaRPr>
          </a:p>
        </p:txBody>
      </p:sp>
      <p:grpSp>
        <p:nvGrpSpPr>
          <p:cNvPr id="414" name="Google Shape;414;p39"/>
          <p:cNvGrpSpPr/>
          <p:nvPr/>
        </p:nvGrpSpPr>
        <p:grpSpPr>
          <a:xfrm>
            <a:off x="6574523" y="5513831"/>
            <a:ext cx="875042" cy="658559"/>
            <a:chOff x="6574523" y="5513831"/>
            <a:chExt cx="875042" cy="658559"/>
          </a:xfrm>
        </p:grpSpPr>
        <p:sp>
          <p:nvSpPr>
            <p:cNvPr id="415" name="Google Shape;415;p39"/>
            <p:cNvSpPr/>
            <p:nvPr/>
          </p:nvSpPr>
          <p:spPr>
            <a:xfrm>
              <a:off x="6574523" y="5513831"/>
              <a:ext cx="875030" cy="658495"/>
            </a:xfrm>
            <a:custGeom>
              <a:rect b="b" l="l" r="r" t="t"/>
              <a:pathLst>
                <a:path extrusionOk="0" h="658495" w="875029">
                  <a:moveTo>
                    <a:pt x="742226" y="0"/>
                  </a:moveTo>
                  <a:lnTo>
                    <a:pt x="136169" y="0"/>
                  </a:lnTo>
                  <a:lnTo>
                    <a:pt x="136169" y="437299"/>
                  </a:lnTo>
                  <a:lnTo>
                    <a:pt x="742226" y="437299"/>
                  </a:lnTo>
                  <a:lnTo>
                    <a:pt x="742226" y="0"/>
                  </a:lnTo>
                  <a:close/>
                </a:path>
                <a:path extrusionOk="0" h="658495" w="875029">
                  <a:moveTo>
                    <a:pt x="874788" y="605853"/>
                  </a:moveTo>
                  <a:lnTo>
                    <a:pt x="742226" y="459282"/>
                  </a:lnTo>
                  <a:lnTo>
                    <a:pt x="135267" y="459282"/>
                  </a:lnTo>
                  <a:lnTo>
                    <a:pt x="0" y="605853"/>
                  </a:lnTo>
                  <a:lnTo>
                    <a:pt x="0" y="658368"/>
                  </a:lnTo>
                  <a:lnTo>
                    <a:pt x="874788" y="658368"/>
                  </a:lnTo>
                  <a:lnTo>
                    <a:pt x="874788" y="605853"/>
                  </a:lnTo>
                  <a:close/>
                </a:path>
              </a:pathLst>
            </a:custGeom>
            <a:solidFill>
              <a:srgbClr val="C0C0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6" name="Google Shape;416;p39"/>
            <p:cNvSpPr/>
            <p:nvPr/>
          </p:nvSpPr>
          <p:spPr>
            <a:xfrm>
              <a:off x="6710692" y="5513831"/>
              <a:ext cx="606425" cy="437515"/>
            </a:xfrm>
            <a:custGeom>
              <a:rect b="b" l="l" r="r" t="t"/>
              <a:pathLst>
                <a:path extrusionOk="0" h="437514" w="606425">
                  <a:moveTo>
                    <a:pt x="0" y="0"/>
                  </a:moveTo>
                  <a:lnTo>
                    <a:pt x="606069" y="0"/>
                  </a:lnTo>
                  <a:lnTo>
                    <a:pt x="606069" y="437299"/>
                  </a:lnTo>
                  <a:lnTo>
                    <a:pt x="0" y="437299"/>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7" name="Google Shape;417;p39"/>
            <p:cNvSpPr/>
            <p:nvPr/>
          </p:nvSpPr>
          <p:spPr>
            <a:xfrm>
              <a:off x="6574534" y="5973103"/>
              <a:ext cx="875030" cy="146685"/>
            </a:xfrm>
            <a:custGeom>
              <a:rect b="b" l="l" r="r" t="t"/>
              <a:pathLst>
                <a:path extrusionOk="0" h="146685" w="875029">
                  <a:moveTo>
                    <a:pt x="135267" y="0"/>
                  </a:moveTo>
                  <a:lnTo>
                    <a:pt x="0" y="146583"/>
                  </a:lnTo>
                  <a:lnTo>
                    <a:pt x="874775" y="146583"/>
                  </a:lnTo>
                  <a:lnTo>
                    <a:pt x="742226" y="0"/>
                  </a:lnTo>
                  <a:lnTo>
                    <a:pt x="13526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8" name="Google Shape;418;p39"/>
            <p:cNvSpPr/>
            <p:nvPr/>
          </p:nvSpPr>
          <p:spPr>
            <a:xfrm>
              <a:off x="6574535" y="5560250"/>
              <a:ext cx="875030" cy="612140"/>
            </a:xfrm>
            <a:custGeom>
              <a:rect b="b" l="l" r="r" t="t"/>
              <a:pathLst>
                <a:path extrusionOk="0" h="612139" w="875029">
                  <a:moveTo>
                    <a:pt x="0" y="611949"/>
                  </a:moveTo>
                  <a:lnTo>
                    <a:pt x="874776" y="611949"/>
                  </a:lnTo>
                  <a:lnTo>
                    <a:pt x="874776" y="559435"/>
                  </a:lnTo>
                  <a:lnTo>
                    <a:pt x="0" y="559435"/>
                  </a:lnTo>
                  <a:lnTo>
                    <a:pt x="0" y="611949"/>
                  </a:lnTo>
                  <a:close/>
                </a:path>
                <a:path extrusionOk="0" h="612139" w="875029">
                  <a:moveTo>
                    <a:pt x="169532" y="0"/>
                  </a:moveTo>
                  <a:lnTo>
                    <a:pt x="710641" y="0"/>
                  </a:lnTo>
                  <a:lnTo>
                    <a:pt x="710641" y="342011"/>
                  </a:lnTo>
                  <a:lnTo>
                    <a:pt x="169532" y="342011"/>
                  </a:lnTo>
                  <a:lnTo>
                    <a:pt x="1695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9" name="Google Shape;419;p39"/>
            <p:cNvSpPr/>
            <p:nvPr/>
          </p:nvSpPr>
          <p:spPr>
            <a:xfrm>
              <a:off x="6692667" y="5987764"/>
              <a:ext cx="640715" cy="17145"/>
            </a:xfrm>
            <a:custGeom>
              <a:rect b="b" l="l" r="r" t="t"/>
              <a:pathLst>
                <a:path extrusionOk="0" h="17145" w="640715">
                  <a:moveTo>
                    <a:pt x="16243" y="0"/>
                  </a:moveTo>
                  <a:lnTo>
                    <a:pt x="0" y="17094"/>
                  </a:lnTo>
                  <a:lnTo>
                    <a:pt x="640295" y="17094"/>
                  </a:lnTo>
                  <a:lnTo>
                    <a:pt x="624090" y="0"/>
                  </a:lnTo>
                  <a:lnTo>
                    <a:pt x="16243"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0" name="Google Shape;420;p39"/>
            <p:cNvSpPr/>
            <p:nvPr/>
          </p:nvSpPr>
          <p:spPr>
            <a:xfrm>
              <a:off x="6815348" y="6072041"/>
              <a:ext cx="398145" cy="17145"/>
            </a:xfrm>
            <a:custGeom>
              <a:rect b="b" l="l" r="r" t="t"/>
              <a:pathLst>
                <a:path extrusionOk="0" h="17145" w="398145">
                  <a:moveTo>
                    <a:pt x="10807" y="0"/>
                  </a:moveTo>
                  <a:lnTo>
                    <a:pt x="0" y="17094"/>
                  </a:lnTo>
                  <a:lnTo>
                    <a:pt x="397687" y="17094"/>
                  </a:lnTo>
                  <a:lnTo>
                    <a:pt x="386880" y="0"/>
                  </a:lnTo>
                  <a:lnTo>
                    <a:pt x="1080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1" name="Google Shape;421;p39"/>
            <p:cNvSpPr/>
            <p:nvPr/>
          </p:nvSpPr>
          <p:spPr>
            <a:xfrm>
              <a:off x="6671934" y="6015866"/>
              <a:ext cx="683895" cy="18415"/>
            </a:xfrm>
            <a:custGeom>
              <a:rect b="b" l="l" r="r" t="t"/>
              <a:pathLst>
                <a:path extrusionOk="0" h="18414" w="683895">
                  <a:moveTo>
                    <a:pt x="17132" y="0"/>
                  </a:moveTo>
                  <a:lnTo>
                    <a:pt x="0" y="18313"/>
                  </a:lnTo>
                  <a:lnTo>
                    <a:pt x="683577" y="18313"/>
                  </a:lnTo>
                  <a:lnTo>
                    <a:pt x="665556" y="0"/>
                  </a:lnTo>
                  <a:lnTo>
                    <a:pt x="171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2" name="Google Shape;422;p39"/>
            <p:cNvSpPr/>
            <p:nvPr/>
          </p:nvSpPr>
          <p:spPr>
            <a:xfrm>
              <a:off x="6650309" y="6042719"/>
              <a:ext cx="728980" cy="18415"/>
            </a:xfrm>
            <a:custGeom>
              <a:rect b="b" l="l" r="r" t="t"/>
              <a:pathLst>
                <a:path extrusionOk="0" h="18414" w="728979">
                  <a:moveTo>
                    <a:pt x="18021" y="0"/>
                  </a:moveTo>
                  <a:lnTo>
                    <a:pt x="0" y="18313"/>
                  </a:lnTo>
                  <a:lnTo>
                    <a:pt x="728649" y="18313"/>
                  </a:lnTo>
                  <a:lnTo>
                    <a:pt x="709701" y="0"/>
                  </a:lnTo>
                  <a:lnTo>
                    <a:pt x="18021"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23" name="Google Shape;423;p39"/>
          <p:cNvSpPr txBox="1"/>
          <p:nvPr/>
        </p:nvSpPr>
        <p:spPr>
          <a:xfrm>
            <a:off x="5217946" y="5518659"/>
            <a:ext cx="3050540" cy="472440"/>
          </a:xfrm>
          <a:prstGeom prst="rect">
            <a:avLst/>
          </a:prstGeom>
          <a:noFill/>
          <a:ln>
            <a:noFill/>
          </a:ln>
        </p:spPr>
        <p:txBody>
          <a:bodyPr anchorCtr="0" anchor="t" bIns="0" lIns="0" spcFirstLastPara="1" rIns="0" wrap="square" tIns="12050">
            <a:spAutoFit/>
          </a:bodyPr>
          <a:lstStyle/>
          <a:p>
            <a:pPr indent="0" lvl="0" marL="2228850" rtl="0" algn="l">
              <a:lnSpc>
                <a:spcPct val="110000"/>
              </a:lnSpc>
              <a:spcBef>
                <a:spcPts val="0"/>
              </a:spcBef>
              <a:spcAft>
                <a:spcPts val="0"/>
              </a:spcAft>
              <a:buNone/>
            </a:pPr>
            <a:r>
              <a:rPr lang="en-US" sz="1600">
                <a:solidFill>
                  <a:srgbClr val="4E3629"/>
                </a:solidFill>
                <a:latin typeface="Calibri"/>
                <a:ea typeface="Calibri"/>
                <a:cs typeface="Calibri"/>
                <a:sym typeface="Calibri"/>
              </a:rPr>
              <a:t>Usuario D</a:t>
            </a:r>
            <a:endParaRPr sz="1600">
              <a:latin typeface="Calibri"/>
              <a:ea typeface="Calibri"/>
              <a:cs typeface="Calibri"/>
              <a:sym typeface="Calibri"/>
            </a:endParaRPr>
          </a:p>
          <a:p>
            <a:pPr indent="0" lvl="0" marL="12700" rtl="0" algn="l">
              <a:lnSpc>
                <a:spcPct val="110000"/>
              </a:lnSpc>
              <a:spcBef>
                <a:spcPts val="0"/>
              </a:spcBef>
              <a:spcAft>
                <a:spcPts val="0"/>
              </a:spcAft>
              <a:buNone/>
            </a:pPr>
            <a:r>
              <a:rPr lang="en-US" sz="1600">
                <a:solidFill>
                  <a:srgbClr val="4E3629"/>
                </a:solidFill>
                <a:latin typeface="Calibri"/>
                <a:ea typeface="Calibri"/>
                <a:cs typeface="Calibri"/>
                <a:sym typeface="Calibri"/>
              </a:rPr>
              <a:t>Otorga select</a:t>
            </a:r>
            <a:endParaRPr sz="1600">
              <a:latin typeface="Calibri"/>
              <a:ea typeface="Calibri"/>
              <a:cs typeface="Calibri"/>
              <a:sym typeface="Calibri"/>
            </a:endParaRPr>
          </a:p>
        </p:txBody>
      </p:sp>
      <p:sp>
        <p:nvSpPr>
          <p:cNvPr id="424" name="Google Shape;424;p39"/>
          <p:cNvSpPr/>
          <p:nvPr/>
        </p:nvSpPr>
        <p:spPr>
          <a:xfrm>
            <a:off x="5752338" y="5991605"/>
            <a:ext cx="568960" cy="236220"/>
          </a:xfrm>
          <a:custGeom>
            <a:rect b="b" l="l" r="r" t="t"/>
            <a:pathLst>
              <a:path extrusionOk="0" h="236220" w="568960">
                <a:moveTo>
                  <a:pt x="0" y="59055"/>
                </a:moveTo>
                <a:lnTo>
                  <a:pt x="388848" y="59055"/>
                </a:lnTo>
                <a:lnTo>
                  <a:pt x="388848" y="0"/>
                </a:lnTo>
                <a:lnTo>
                  <a:pt x="568452" y="118110"/>
                </a:lnTo>
                <a:lnTo>
                  <a:pt x="388848" y="236220"/>
                </a:lnTo>
                <a:lnTo>
                  <a:pt x="388848" y="177165"/>
                </a:lnTo>
                <a:lnTo>
                  <a:pt x="0" y="177165"/>
                </a:lnTo>
                <a:lnTo>
                  <a:pt x="0" y="59055"/>
                </a:lnTo>
                <a:close/>
              </a:path>
            </a:pathLst>
          </a:custGeom>
          <a:noFill/>
          <a:ln cap="flat" cmpd="sng" w="3807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5" name="Google Shape;425;p39"/>
          <p:cNvSpPr/>
          <p:nvPr/>
        </p:nvSpPr>
        <p:spPr>
          <a:xfrm>
            <a:off x="4312158" y="5391150"/>
            <a:ext cx="568960" cy="236220"/>
          </a:xfrm>
          <a:custGeom>
            <a:rect b="b" l="l" r="r" t="t"/>
            <a:pathLst>
              <a:path extrusionOk="0" h="236220" w="568960">
                <a:moveTo>
                  <a:pt x="0" y="59055"/>
                </a:moveTo>
                <a:lnTo>
                  <a:pt x="388848" y="59055"/>
                </a:lnTo>
                <a:lnTo>
                  <a:pt x="388848" y="0"/>
                </a:lnTo>
                <a:lnTo>
                  <a:pt x="568452" y="118110"/>
                </a:lnTo>
                <a:lnTo>
                  <a:pt x="388848" y="236220"/>
                </a:lnTo>
                <a:lnTo>
                  <a:pt x="388848" y="177165"/>
                </a:lnTo>
                <a:lnTo>
                  <a:pt x="0" y="177165"/>
                </a:lnTo>
                <a:lnTo>
                  <a:pt x="0" y="59055"/>
                </a:lnTo>
                <a:close/>
              </a:path>
            </a:pathLst>
          </a:custGeom>
          <a:noFill/>
          <a:ln cap="flat" cmpd="sng" w="38100">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6" name="Google Shape;426;p39"/>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427" name="Google Shape;427;p3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28" name="Google Shape;428;p3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0"/>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With Grant Option</a:t>
            </a:r>
            <a:endParaRPr/>
          </a:p>
        </p:txBody>
      </p:sp>
      <p:sp>
        <p:nvSpPr>
          <p:cNvPr id="434" name="Google Shape;434;p40"/>
          <p:cNvSpPr txBox="1"/>
          <p:nvPr/>
        </p:nvSpPr>
        <p:spPr>
          <a:xfrm>
            <a:off x="483552" y="1415417"/>
            <a:ext cx="8049895"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embargo, si el usuario A revoca los privilegios del 	usuario B, los privilegios otorgados a los usuarios C y D 	también se revocan</a:t>
            </a:r>
            <a:endParaRPr sz="2800">
              <a:latin typeface="Calibri"/>
              <a:ea typeface="Calibri"/>
              <a:cs typeface="Calibri"/>
              <a:sym typeface="Calibri"/>
            </a:endParaRPr>
          </a:p>
        </p:txBody>
      </p:sp>
      <p:sp>
        <p:nvSpPr>
          <p:cNvPr id="435" name="Google Shape;435;p40"/>
          <p:cNvSpPr txBox="1"/>
          <p:nvPr/>
        </p:nvSpPr>
        <p:spPr>
          <a:xfrm>
            <a:off x="4163725" y="3393367"/>
            <a:ext cx="167830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FF0000"/>
                </a:solidFill>
                <a:latin typeface="Calibri"/>
                <a:ea typeface="Calibri"/>
                <a:cs typeface="Calibri"/>
                <a:sym typeface="Calibri"/>
              </a:rPr>
              <a:t>Revoca </a:t>
            </a:r>
            <a:r>
              <a:rPr b="1" lang="en-US" sz="1400">
                <a:solidFill>
                  <a:srgbClr val="FF0000"/>
                </a:solidFill>
                <a:latin typeface="Calibri"/>
                <a:ea typeface="Calibri"/>
                <a:cs typeface="Calibri"/>
                <a:sym typeface="Calibri"/>
              </a:rPr>
              <a:t>los privilegios</a:t>
            </a:r>
            <a:endParaRPr sz="1400">
              <a:latin typeface="Calibri"/>
              <a:ea typeface="Calibri"/>
              <a:cs typeface="Calibri"/>
              <a:sym typeface="Calibri"/>
            </a:endParaRPr>
          </a:p>
        </p:txBody>
      </p:sp>
      <p:grpSp>
        <p:nvGrpSpPr>
          <p:cNvPr id="436" name="Google Shape;436;p40"/>
          <p:cNvGrpSpPr/>
          <p:nvPr/>
        </p:nvGrpSpPr>
        <p:grpSpPr>
          <a:xfrm>
            <a:off x="1686305" y="3311651"/>
            <a:ext cx="977265" cy="1429005"/>
            <a:chOff x="1686305" y="3311651"/>
            <a:chExt cx="977265" cy="1429005"/>
          </a:xfrm>
        </p:grpSpPr>
        <p:sp>
          <p:nvSpPr>
            <p:cNvPr id="437" name="Google Shape;437;p40"/>
            <p:cNvSpPr/>
            <p:nvPr/>
          </p:nvSpPr>
          <p:spPr>
            <a:xfrm>
              <a:off x="1829367" y="4344954"/>
              <a:ext cx="690880" cy="327660"/>
            </a:xfrm>
            <a:custGeom>
              <a:rect b="b" l="l" r="r" t="t"/>
              <a:pathLst>
                <a:path extrusionOk="0" h="327660" w="690880">
                  <a:moveTo>
                    <a:pt x="0" y="0"/>
                  </a:moveTo>
                  <a:lnTo>
                    <a:pt x="690765" y="327596"/>
                  </a:lnTo>
                </a:path>
                <a:path extrusionOk="0" h="327660" w="690880">
                  <a:moveTo>
                    <a:pt x="690765" y="0"/>
                  </a:moveTo>
                  <a:lnTo>
                    <a:pt x="0" y="327596"/>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8" name="Google Shape;438;p40"/>
            <p:cNvSpPr/>
            <p:nvPr/>
          </p:nvSpPr>
          <p:spPr>
            <a:xfrm>
              <a:off x="1686305" y="4277106"/>
              <a:ext cx="977265" cy="463550"/>
            </a:xfrm>
            <a:custGeom>
              <a:rect b="b" l="l" r="r" t="t"/>
              <a:pathLst>
                <a:path extrusionOk="0" h="463550" w="977264">
                  <a:moveTo>
                    <a:pt x="0" y="231648"/>
                  </a:moveTo>
                  <a:lnTo>
                    <a:pt x="14917" y="174608"/>
                  </a:lnTo>
                  <a:lnTo>
                    <a:pt x="57228" y="122747"/>
                  </a:lnTo>
                  <a:lnTo>
                    <a:pt x="87512" y="99300"/>
                  </a:lnTo>
                  <a:lnTo>
                    <a:pt x="123271" y="77799"/>
                  </a:lnTo>
                  <a:lnTo>
                    <a:pt x="164047" y="58461"/>
                  </a:lnTo>
                  <a:lnTo>
                    <a:pt x="209383" y="41502"/>
                  </a:lnTo>
                  <a:lnTo>
                    <a:pt x="258822" y="27140"/>
                  </a:lnTo>
                  <a:lnTo>
                    <a:pt x="311904" y="15592"/>
                  </a:lnTo>
                  <a:lnTo>
                    <a:pt x="368174" y="7074"/>
                  </a:lnTo>
                  <a:lnTo>
                    <a:pt x="427172" y="1804"/>
                  </a:lnTo>
                  <a:lnTo>
                    <a:pt x="488442" y="0"/>
                  </a:lnTo>
                  <a:lnTo>
                    <a:pt x="549711" y="1804"/>
                  </a:lnTo>
                  <a:lnTo>
                    <a:pt x="608709" y="7074"/>
                  </a:lnTo>
                  <a:lnTo>
                    <a:pt x="664979" y="15592"/>
                  </a:lnTo>
                  <a:lnTo>
                    <a:pt x="718061" y="27140"/>
                  </a:lnTo>
                  <a:lnTo>
                    <a:pt x="767500" y="41502"/>
                  </a:lnTo>
                  <a:lnTo>
                    <a:pt x="812836" y="58461"/>
                  </a:lnTo>
                  <a:lnTo>
                    <a:pt x="853612" y="77799"/>
                  </a:lnTo>
                  <a:lnTo>
                    <a:pt x="889371" y="99300"/>
                  </a:lnTo>
                  <a:lnTo>
                    <a:pt x="919655" y="122747"/>
                  </a:lnTo>
                  <a:lnTo>
                    <a:pt x="961966" y="174608"/>
                  </a:lnTo>
                  <a:lnTo>
                    <a:pt x="976884" y="231648"/>
                  </a:lnTo>
                  <a:lnTo>
                    <a:pt x="973078" y="260706"/>
                  </a:lnTo>
                  <a:lnTo>
                    <a:pt x="944006" y="315373"/>
                  </a:lnTo>
                  <a:lnTo>
                    <a:pt x="889371" y="363995"/>
                  </a:lnTo>
                  <a:lnTo>
                    <a:pt x="853612" y="385496"/>
                  </a:lnTo>
                  <a:lnTo>
                    <a:pt x="812836" y="404834"/>
                  </a:lnTo>
                  <a:lnTo>
                    <a:pt x="767500" y="421793"/>
                  </a:lnTo>
                  <a:lnTo>
                    <a:pt x="718061" y="436155"/>
                  </a:lnTo>
                  <a:lnTo>
                    <a:pt x="664979" y="447703"/>
                  </a:lnTo>
                  <a:lnTo>
                    <a:pt x="608709" y="456221"/>
                  </a:lnTo>
                  <a:lnTo>
                    <a:pt x="549711" y="461491"/>
                  </a:lnTo>
                  <a:lnTo>
                    <a:pt x="488442" y="463296"/>
                  </a:lnTo>
                  <a:lnTo>
                    <a:pt x="427172" y="461491"/>
                  </a:lnTo>
                  <a:lnTo>
                    <a:pt x="368174" y="456221"/>
                  </a:lnTo>
                  <a:lnTo>
                    <a:pt x="311904" y="447703"/>
                  </a:lnTo>
                  <a:lnTo>
                    <a:pt x="258822" y="436155"/>
                  </a:lnTo>
                  <a:lnTo>
                    <a:pt x="209383" y="421793"/>
                  </a:lnTo>
                  <a:lnTo>
                    <a:pt x="164047" y="404834"/>
                  </a:lnTo>
                  <a:lnTo>
                    <a:pt x="123271" y="385496"/>
                  </a:lnTo>
                  <a:lnTo>
                    <a:pt x="87512" y="363995"/>
                  </a:lnTo>
                  <a:lnTo>
                    <a:pt x="57228" y="340548"/>
                  </a:lnTo>
                  <a:lnTo>
                    <a:pt x="14917" y="288687"/>
                  </a:lnTo>
                  <a:lnTo>
                    <a:pt x="0" y="231648"/>
                  </a:lnTo>
                  <a:close/>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9" name="Google Shape;439;p40"/>
            <p:cNvSpPr/>
            <p:nvPr/>
          </p:nvSpPr>
          <p:spPr>
            <a:xfrm>
              <a:off x="1741919" y="3311651"/>
              <a:ext cx="875030" cy="658495"/>
            </a:xfrm>
            <a:custGeom>
              <a:rect b="b" l="l" r="r" t="t"/>
              <a:pathLst>
                <a:path extrusionOk="0" h="658495" w="875030">
                  <a:moveTo>
                    <a:pt x="742238" y="0"/>
                  </a:moveTo>
                  <a:lnTo>
                    <a:pt x="136169" y="0"/>
                  </a:lnTo>
                  <a:lnTo>
                    <a:pt x="136169" y="437299"/>
                  </a:lnTo>
                  <a:lnTo>
                    <a:pt x="742238" y="437299"/>
                  </a:lnTo>
                  <a:lnTo>
                    <a:pt x="742238" y="0"/>
                  </a:lnTo>
                  <a:close/>
                </a:path>
                <a:path extrusionOk="0" h="658495" w="875030">
                  <a:moveTo>
                    <a:pt x="874788" y="605853"/>
                  </a:moveTo>
                  <a:lnTo>
                    <a:pt x="742226" y="459282"/>
                  </a:lnTo>
                  <a:lnTo>
                    <a:pt x="135267" y="459282"/>
                  </a:lnTo>
                  <a:lnTo>
                    <a:pt x="12" y="605853"/>
                  </a:lnTo>
                  <a:lnTo>
                    <a:pt x="12" y="658368"/>
                  </a:lnTo>
                  <a:lnTo>
                    <a:pt x="874788" y="658368"/>
                  </a:lnTo>
                  <a:lnTo>
                    <a:pt x="874788" y="605853"/>
                  </a:lnTo>
                  <a:close/>
                </a:path>
              </a:pathLst>
            </a:custGeom>
            <a:solidFill>
              <a:srgbClr val="C0C0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0" name="Google Shape;440;p40"/>
            <p:cNvSpPr/>
            <p:nvPr/>
          </p:nvSpPr>
          <p:spPr>
            <a:xfrm>
              <a:off x="1878088" y="3311652"/>
              <a:ext cx="606425" cy="437515"/>
            </a:xfrm>
            <a:custGeom>
              <a:rect b="b" l="l" r="r" t="t"/>
              <a:pathLst>
                <a:path extrusionOk="0" h="437514" w="606425">
                  <a:moveTo>
                    <a:pt x="0" y="0"/>
                  </a:moveTo>
                  <a:lnTo>
                    <a:pt x="606069" y="0"/>
                  </a:lnTo>
                  <a:lnTo>
                    <a:pt x="606069" y="437299"/>
                  </a:lnTo>
                  <a:lnTo>
                    <a:pt x="0" y="437299"/>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1" name="Google Shape;441;p40"/>
            <p:cNvSpPr/>
            <p:nvPr/>
          </p:nvSpPr>
          <p:spPr>
            <a:xfrm>
              <a:off x="1741930" y="3770924"/>
              <a:ext cx="875030" cy="146685"/>
            </a:xfrm>
            <a:custGeom>
              <a:rect b="b" l="l" r="r" t="t"/>
              <a:pathLst>
                <a:path extrusionOk="0" h="146685" w="875030">
                  <a:moveTo>
                    <a:pt x="135267" y="0"/>
                  </a:moveTo>
                  <a:lnTo>
                    <a:pt x="0" y="146583"/>
                  </a:lnTo>
                  <a:lnTo>
                    <a:pt x="874776" y="146583"/>
                  </a:lnTo>
                  <a:lnTo>
                    <a:pt x="742226" y="0"/>
                  </a:lnTo>
                  <a:lnTo>
                    <a:pt x="13526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2" name="Google Shape;442;p40"/>
            <p:cNvSpPr/>
            <p:nvPr/>
          </p:nvSpPr>
          <p:spPr>
            <a:xfrm>
              <a:off x="1741931" y="3358070"/>
              <a:ext cx="875030" cy="612140"/>
            </a:xfrm>
            <a:custGeom>
              <a:rect b="b" l="l" r="r" t="t"/>
              <a:pathLst>
                <a:path extrusionOk="0" h="612139" w="875030">
                  <a:moveTo>
                    <a:pt x="0" y="611949"/>
                  </a:moveTo>
                  <a:lnTo>
                    <a:pt x="874776" y="611949"/>
                  </a:lnTo>
                  <a:lnTo>
                    <a:pt x="874776" y="559434"/>
                  </a:lnTo>
                  <a:lnTo>
                    <a:pt x="0" y="559434"/>
                  </a:lnTo>
                  <a:lnTo>
                    <a:pt x="0" y="611949"/>
                  </a:lnTo>
                  <a:close/>
                </a:path>
                <a:path extrusionOk="0" h="612139" w="875030">
                  <a:moveTo>
                    <a:pt x="169532" y="0"/>
                  </a:moveTo>
                  <a:lnTo>
                    <a:pt x="710641" y="0"/>
                  </a:lnTo>
                  <a:lnTo>
                    <a:pt x="710641" y="342011"/>
                  </a:lnTo>
                  <a:lnTo>
                    <a:pt x="169532" y="342011"/>
                  </a:lnTo>
                  <a:lnTo>
                    <a:pt x="1695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3" name="Google Shape;443;p40"/>
            <p:cNvSpPr/>
            <p:nvPr/>
          </p:nvSpPr>
          <p:spPr>
            <a:xfrm>
              <a:off x="1860063" y="3785585"/>
              <a:ext cx="640715" cy="17145"/>
            </a:xfrm>
            <a:custGeom>
              <a:rect b="b" l="l" r="r" t="t"/>
              <a:pathLst>
                <a:path extrusionOk="0" h="17145" w="640714">
                  <a:moveTo>
                    <a:pt x="16243" y="0"/>
                  </a:moveTo>
                  <a:lnTo>
                    <a:pt x="0" y="17094"/>
                  </a:lnTo>
                  <a:lnTo>
                    <a:pt x="640295" y="17094"/>
                  </a:lnTo>
                  <a:lnTo>
                    <a:pt x="624090" y="0"/>
                  </a:lnTo>
                  <a:lnTo>
                    <a:pt x="16243"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4" name="Google Shape;444;p40"/>
            <p:cNvSpPr/>
            <p:nvPr/>
          </p:nvSpPr>
          <p:spPr>
            <a:xfrm>
              <a:off x="1982744" y="3869862"/>
              <a:ext cx="398145" cy="17145"/>
            </a:xfrm>
            <a:custGeom>
              <a:rect b="b" l="l" r="r" t="t"/>
              <a:pathLst>
                <a:path extrusionOk="0" h="17145" w="398144">
                  <a:moveTo>
                    <a:pt x="10807" y="0"/>
                  </a:moveTo>
                  <a:lnTo>
                    <a:pt x="0" y="17094"/>
                  </a:lnTo>
                  <a:lnTo>
                    <a:pt x="397687" y="17094"/>
                  </a:lnTo>
                  <a:lnTo>
                    <a:pt x="386880" y="0"/>
                  </a:lnTo>
                  <a:lnTo>
                    <a:pt x="1080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5" name="Google Shape;445;p40"/>
            <p:cNvSpPr/>
            <p:nvPr/>
          </p:nvSpPr>
          <p:spPr>
            <a:xfrm>
              <a:off x="1839330" y="3813688"/>
              <a:ext cx="683895" cy="18415"/>
            </a:xfrm>
            <a:custGeom>
              <a:rect b="b" l="l" r="r" t="t"/>
              <a:pathLst>
                <a:path extrusionOk="0" h="18414" w="683894">
                  <a:moveTo>
                    <a:pt x="17132" y="0"/>
                  </a:moveTo>
                  <a:lnTo>
                    <a:pt x="0" y="18313"/>
                  </a:lnTo>
                  <a:lnTo>
                    <a:pt x="683577" y="18313"/>
                  </a:lnTo>
                  <a:lnTo>
                    <a:pt x="665556" y="0"/>
                  </a:lnTo>
                  <a:lnTo>
                    <a:pt x="171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6" name="Google Shape;446;p40"/>
            <p:cNvSpPr/>
            <p:nvPr/>
          </p:nvSpPr>
          <p:spPr>
            <a:xfrm>
              <a:off x="1817706" y="3840541"/>
              <a:ext cx="728980" cy="18415"/>
            </a:xfrm>
            <a:custGeom>
              <a:rect b="b" l="l" r="r" t="t"/>
              <a:pathLst>
                <a:path extrusionOk="0" h="18414" w="728980">
                  <a:moveTo>
                    <a:pt x="18021" y="0"/>
                  </a:moveTo>
                  <a:lnTo>
                    <a:pt x="0" y="18313"/>
                  </a:lnTo>
                  <a:lnTo>
                    <a:pt x="728649" y="18313"/>
                  </a:lnTo>
                  <a:lnTo>
                    <a:pt x="709701" y="0"/>
                  </a:lnTo>
                  <a:lnTo>
                    <a:pt x="18021"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447" name="Google Shape;447;p40"/>
          <p:cNvGrpSpPr/>
          <p:nvPr/>
        </p:nvGrpSpPr>
        <p:grpSpPr>
          <a:xfrm>
            <a:off x="3140951" y="3918203"/>
            <a:ext cx="875043" cy="1033270"/>
            <a:chOff x="3140951" y="3918203"/>
            <a:chExt cx="875043" cy="1033270"/>
          </a:xfrm>
        </p:grpSpPr>
        <p:sp>
          <p:nvSpPr>
            <p:cNvPr id="448" name="Google Shape;448;p40"/>
            <p:cNvSpPr/>
            <p:nvPr/>
          </p:nvSpPr>
          <p:spPr>
            <a:xfrm>
              <a:off x="3140951" y="3918203"/>
              <a:ext cx="875030" cy="658495"/>
            </a:xfrm>
            <a:custGeom>
              <a:rect b="b" l="l" r="r" t="t"/>
              <a:pathLst>
                <a:path extrusionOk="0" h="658495" w="875029">
                  <a:moveTo>
                    <a:pt x="742238" y="0"/>
                  </a:moveTo>
                  <a:lnTo>
                    <a:pt x="136169" y="0"/>
                  </a:lnTo>
                  <a:lnTo>
                    <a:pt x="136169" y="437299"/>
                  </a:lnTo>
                  <a:lnTo>
                    <a:pt x="742238" y="437299"/>
                  </a:lnTo>
                  <a:lnTo>
                    <a:pt x="742238" y="0"/>
                  </a:lnTo>
                  <a:close/>
                </a:path>
                <a:path extrusionOk="0" h="658495" w="875029">
                  <a:moveTo>
                    <a:pt x="874788" y="605866"/>
                  </a:moveTo>
                  <a:lnTo>
                    <a:pt x="742226" y="459282"/>
                  </a:lnTo>
                  <a:lnTo>
                    <a:pt x="135267" y="459282"/>
                  </a:lnTo>
                  <a:lnTo>
                    <a:pt x="0" y="605866"/>
                  </a:lnTo>
                  <a:lnTo>
                    <a:pt x="12" y="658368"/>
                  </a:lnTo>
                  <a:lnTo>
                    <a:pt x="874788" y="658368"/>
                  </a:lnTo>
                  <a:lnTo>
                    <a:pt x="874788" y="605866"/>
                  </a:lnTo>
                  <a:close/>
                </a:path>
              </a:pathLst>
            </a:custGeom>
            <a:solidFill>
              <a:srgbClr val="C0C0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9" name="Google Shape;449;p40"/>
            <p:cNvSpPr/>
            <p:nvPr/>
          </p:nvSpPr>
          <p:spPr>
            <a:xfrm>
              <a:off x="3277120" y="3918203"/>
              <a:ext cx="606425" cy="437515"/>
            </a:xfrm>
            <a:custGeom>
              <a:rect b="b" l="l" r="r" t="t"/>
              <a:pathLst>
                <a:path extrusionOk="0" h="437514" w="606425">
                  <a:moveTo>
                    <a:pt x="0" y="0"/>
                  </a:moveTo>
                  <a:lnTo>
                    <a:pt x="606069" y="0"/>
                  </a:lnTo>
                  <a:lnTo>
                    <a:pt x="606069" y="437299"/>
                  </a:lnTo>
                  <a:lnTo>
                    <a:pt x="0" y="437299"/>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0" name="Google Shape;450;p40"/>
            <p:cNvSpPr/>
            <p:nvPr/>
          </p:nvSpPr>
          <p:spPr>
            <a:xfrm>
              <a:off x="3140964" y="4377476"/>
              <a:ext cx="875030" cy="146685"/>
            </a:xfrm>
            <a:custGeom>
              <a:rect b="b" l="l" r="r" t="t"/>
              <a:pathLst>
                <a:path extrusionOk="0" h="146685" w="875029">
                  <a:moveTo>
                    <a:pt x="135267" y="0"/>
                  </a:moveTo>
                  <a:lnTo>
                    <a:pt x="0" y="146583"/>
                  </a:lnTo>
                  <a:lnTo>
                    <a:pt x="874776" y="146583"/>
                  </a:lnTo>
                  <a:lnTo>
                    <a:pt x="742226" y="0"/>
                  </a:lnTo>
                  <a:lnTo>
                    <a:pt x="13526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1" name="Google Shape;451;p40"/>
            <p:cNvSpPr/>
            <p:nvPr/>
          </p:nvSpPr>
          <p:spPr>
            <a:xfrm>
              <a:off x="3140964" y="3964622"/>
              <a:ext cx="875030" cy="612140"/>
            </a:xfrm>
            <a:custGeom>
              <a:rect b="b" l="l" r="r" t="t"/>
              <a:pathLst>
                <a:path extrusionOk="0" h="612139" w="875029">
                  <a:moveTo>
                    <a:pt x="0" y="611949"/>
                  </a:moveTo>
                  <a:lnTo>
                    <a:pt x="874776" y="611949"/>
                  </a:lnTo>
                  <a:lnTo>
                    <a:pt x="874776" y="559435"/>
                  </a:lnTo>
                  <a:lnTo>
                    <a:pt x="0" y="559435"/>
                  </a:lnTo>
                  <a:lnTo>
                    <a:pt x="0" y="611949"/>
                  </a:lnTo>
                  <a:close/>
                </a:path>
                <a:path extrusionOk="0" h="612139" w="875029">
                  <a:moveTo>
                    <a:pt x="169532" y="0"/>
                  </a:moveTo>
                  <a:lnTo>
                    <a:pt x="710641" y="0"/>
                  </a:lnTo>
                  <a:lnTo>
                    <a:pt x="710641" y="342011"/>
                  </a:lnTo>
                  <a:lnTo>
                    <a:pt x="169532" y="342011"/>
                  </a:lnTo>
                  <a:lnTo>
                    <a:pt x="1695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2" name="Google Shape;452;p40"/>
            <p:cNvSpPr/>
            <p:nvPr/>
          </p:nvSpPr>
          <p:spPr>
            <a:xfrm>
              <a:off x="3259098" y="4392137"/>
              <a:ext cx="640715" cy="17145"/>
            </a:xfrm>
            <a:custGeom>
              <a:rect b="b" l="l" r="r" t="t"/>
              <a:pathLst>
                <a:path extrusionOk="0" h="17145" w="640714">
                  <a:moveTo>
                    <a:pt x="16243" y="0"/>
                  </a:moveTo>
                  <a:lnTo>
                    <a:pt x="0" y="17094"/>
                  </a:lnTo>
                  <a:lnTo>
                    <a:pt x="640295" y="17094"/>
                  </a:lnTo>
                  <a:lnTo>
                    <a:pt x="624090" y="0"/>
                  </a:lnTo>
                  <a:lnTo>
                    <a:pt x="16243"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3" name="Google Shape;453;p40"/>
            <p:cNvSpPr/>
            <p:nvPr/>
          </p:nvSpPr>
          <p:spPr>
            <a:xfrm>
              <a:off x="3381778" y="4476414"/>
              <a:ext cx="398145" cy="17145"/>
            </a:xfrm>
            <a:custGeom>
              <a:rect b="b" l="l" r="r" t="t"/>
              <a:pathLst>
                <a:path extrusionOk="0" h="17145" w="398145">
                  <a:moveTo>
                    <a:pt x="10807" y="0"/>
                  </a:moveTo>
                  <a:lnTo>
                    <a:pt x="0" y="17094"/>
                  </a:lnTo>
                  <a:lnTo>
                    <a:pt x="397687" y="17094"/>
                  </a:lnTo>
                  <a:lnTo>
                    <a:pt x="386880" y="0"/>
                  </a:lnTo>
                  <a:lnTo>
                    <a:pt x="1080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4" name="Google Shape;454;p40"/>
            <p:cNvSpPr/>
            <p:nvPr/>
          </p:nvSpPr>
          <p:spPr>
            <a:xfrm>
              <a:off x="3238365" y="4420239"/>
              <a:ext cx="683895" cy="18415"/>
            </a:xfrm>
            <a:custGeom>
              <a:rect b="b" l="l" r="r" t="t"/>
              <a:pathLst>
                <a:path extrusionOk="0" h="18414" w="683895">
                  <a:moveTo>
                    <a:pt x="17132" y="0"/>
                  </a:moveTo>
                  <a:lnTo>
                    <a:pt x="0" y="18313"/>
                  </a:lnTo>
                  <a:lnTo>
                    <a:pt x="683577" y="18313"/>
                  </a:lnTo>
                  <a:lnTo>
                    <a:pt x="665556" y="0"/>
                  </a:lnTo>
                  <a:lnTo>
                    <a:pt x="171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5" name="Google Shape;455;p40"/>
            <p:cNvSpPr/>
            <p:nvPr/>
          </p:nvSpPr>
          <p:spPr>
            <a:xfrm>
              <a:off x="3216741" y="4447092"/>
              <a:ext cx="728980" cy="18415"/>
            </a:xfrm>
            <a:custGeom>
              <a:rect b="b" l="l" r="r" t="t"/>
              <a:pathLst>
                <a:path extrusionOk="0" h="18414" w="728979">
                  <a:moveTo>
                    <a:pt x="18021" y="0"/>
                  </a:moveTo>
                  <a:lnTo>
                    <a:pt x="0" y="18313"/>
                  </a:lnTo>
                  <a:lnTo>
                    <a:pt x="728649" y="18313"/>
                  </a:lnTo>
                  <a:lnTo>
                    <a:pt x="709701" y="0"/>
                  </a:lnTo>
                  <a:lnTo>
                    <a:pt x="18021"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6" name="Google Shape;456;p40"/>
            <p:cNvSpPr/>
            <p:nvPr/>
          </p:nvSpPr>
          <p:spPr>
            <a:xfrm>
              <a:off x="3429000" y="4570473"/>
              <a:ext cx="35560" cy="381000"/>
            </a:xfrm>
            <a:custGeom>
              <a:rect b="b" l="l" r="r" t="t"/>
              <a:pathLst>
                <a:path extrusionOk="0" h="381000" w="35560">
                  <a:moveTo>
                    <a:pt x="0" y="285407"/>
                  </a:moveTo>
                  <a:lnTo>
                    <a:pt x="8763" y="285407"/>
                  </a:lnTo>
                  <a:lnTo>
                    <a:pt x="8763" y="0"/>
                  </a:lnTo>
                  <a:lnTo>
                    <a:pt x="26288" y="0"/>
                  </a:lnTo>
                  <a:lnTo>
                    <a:pt x="26288" y="285407"/>
                  </a:lnTo>
                  <a:lnTo>
                    <a:pt x="35052" y="285407"/>
                  </a:lnTo>
                  <a:lnTo>
                    <a:pt x="17526" y="381000"/>
                  </a:lnTo>
                  <a:lnTo>
                    <a:pt x="0" y="285407"/>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57" name="Google Shape;457;p40"/>
          <p:cNvSpPr txBox="1"/>
          <p:nvPr/>
        </p:nvSpPr>
        <p:spPr>
          <a:xfrm>
            <a:off x="2589867" y="3368911"/>
            <a:ext cx="826769"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Usuario A</a:t>
            </a:r>
            <a:endParaRPr sz="1600">
              <a:latin typeface="Calibri"/>
              <a:ea typeface="Calibri"/>
              <a:cs typeface="Calibri"/>
              <a:sym typeface="Calibri"/>
            </a:endParaRPr>
          </a:p>
        </p:txBody>
      </p:sp>
      <p:sp>
        <p:nvSpPr>
          <p:cNvPr id="458" name="Google Shape;458;p40"/>
          <p:cNvSpPr txBox="1"/>
          <p:nvPr/>
        </p:nvSpPr>
        <p:spPr>
          <a:xfrm>
            <a:off x="1742142" y="4249065"/>
            <a:ext cx="982344"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solidFill>
                  <a:srgbClr val="4E3629"/>
                </a:solidFill>
                <a:latin typeface="Calibri"/>
                <a:ea typeface="Calibri"/>
                <a:cs typeface="Calibri"/>
                <a:sym typeface="Calibri"/>
              </a:rPr>
              <a:t>Otorga select</a:t>
            </a:r>
            <a:endParaRPr sz="1400">
              <a:latin typeface="Calibri"/>
              <a:ea typeface="Calibri"/>
              <a:cs typeface="Calibri"/>
              <a:sym typeface="Calibri"/>
            </a:endParaRPr>
          </a:p>
        </p:txBody>
      </p:sp>
      <p:sp>
        <p:nvSpPr>
          <p:cNvPr id="459" name="Google Shape;459;p40"/>
          <p:cNvSpPr txBox="1"/>
          <p:nvPr/>
        </p:nvSpPr>
        <p:spPr>
          <a:xfrm>
            <a:off x="4101551" y="3922765"/>
            <a:ext cx="81978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Usuario B</a:t>
            </a:r>
            <a:endParaRPr sz="1600">
              <a:latin typeface="Calibri"/>
              <a:ea typeface="Calibri"/>
              <a:cs typeface="Calibri"/>
              <a:sym typeface="Calibri"/>
            </a:endParaRPr>
          </a:p>
        </p:txBody>
      </p:sp>
      <p:grpSp>
        <p:nvGrpSpPr>
          <p:cNvPr id="460" name="Google Shape;460;p40"/>
          <p:cNvGrpSpPr/>
          <p:nvPr/>
        </p:nvGrpSpPr>
        <p:grpSpPr>
          <a:xfrm>
            <a:off x="2069592" y="3948681"/>
            <a:ext cx="742696" cy="821439"/>
            <a:chOff x="2069592" y="3948681"/>
            <a:chExt cx="742696" cy="821439"/>
          </a:xfrm>
        </p:grpSpPr>
        <p:sp>
          <p:nvSpPr>
            <p:cNvPr id="461" name="Google Shape;461;p40"/>
            <p:cNvSpPr/>
            <p:nvPr/>
          </p:nvSpPr>
          <p:spPr>
            <a:xfrm>
              <a:off x="2069592" y="3948681"/>
              <a:ext cx="35560" cy="381000"/>
            </a:xfrm>
            <a:custGeom>
              <a:rect b="b" l="l" r="r" t="t"/>
              <a:pathLst>
                <a:path extrusionOk="0" h="381000" w="35560">
                  <a:moveTo>
                    <a:pt x="0" y="285407"/>
                  </a:moveTo>
                  <a:lnTo>
                    <a:pt x="8763" y="285407"/>
                  </a:lnTo>
                  <a:lnTo>
                    <a:pt x="8763" y="0"/>
                  </a:lnTo>
                  <a:lnTo>
                    <a:pt x="26288" y="0"/>
                  </a:lnTo>
                  <a:lnTo>
                    <a:pt x="26288" y="285407"/>
                  </a:lnTo>
                  <a:lnTo>
                    <a:pt x="35052" y="285407"/>
                  </a:lnTo>
                  <a:lnTo>
                    <a:pt x="17526" y="380999"/>
                  </a:lnTo>
                  <a:lnTo>
                    <a:pt x="0" y="285407"/>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2" name="Google Shape;462;p40"/>
            <p:cNvSpPr/>
            <p:nvPr/>
          </p:nvSpPr>
          <p:spPr>
            <a:xfrm>
              <a:off x="2243328" y="4533900"/>
              <a:ext cx="568960" cy="236220"/>
            </a:xfrm>
            <a:custGeom>
              <a:rect b="b" l="l" r="r" t="t"/>
              <a:pathLst>
                <a:path extrusionOk="0" h="236220" w="568960">
                  <a:moveTo>
                    <a:pt x="0" y="59055"/>
                  </a:moveTo>
                  <a:lnTo>
                    <a:pt x="388848" y="59055"/>
                  </a:lnTo>
                  <a:lnTo>
                    <a:pt x="388848" y="0"/>
                  </a:lnTo>
                  <a:lnTo>
                    <a:pt x="568452" y="118110"/>
                  </a:lnTo>
                  <a:lnTo>
                    <a:pt x="388848" y="236220"/>
                  </a:lnTo>
                  <a:lnTo>
                    <a:pt x="388848" y="177165"/>
                  </a:lnTo>
                  <a:lnTo>
                    <a:pt x="0" y="177165"/>
                  </a:lnTo>
                  <a:lnTo>
                    <a:pt x="0" y="59055"/>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463" name="Google Shape;463;p40"/>
          <p:cNvGrpSpPr/>
          <p:nvPr/>
        </p:nvGrpSpPr>
        <p:grpSpPr>
          <a:xfrm>
            <a:off x="4539983" y="4460747"/>
            <a:ext cx="875043" cy="660400"/>
            <a:chOff x="4539983" y="4460747"/>
            <a:chExt cx="875043" cy="660400"/>
          </a:xfrm>
        </p:grpSpPr>
        <p:sp>
          <p:nvSpPr>
            <p:cNvPr id="464" name="Google Shape;464;p40"/>
            <p:cNvSpPr/>
            <p:nvPr/>
          </p:nvSpPr>
          <p:spPr>
            <a:xfrm>
              <a:off x="4539983" y="4460747"/>
              <a:ext cx="875030" cy="660400"/>
            </a:xfrm>
            <a:custGeom>
              <a:rect b="b" l="l" r="r" t="t"/>
              <a:pathLst>
                <a:path extrusionOk="0" h="660400" w="875029">
                  <a:moveTo>
                    <a:pt x="742238" y="0"/>
                  </a:moveTo>
                  <a:lnTo>
                    <a:pt x="136169" y="0"/>
                  </a:lnTo>
                  <a:lnTo>
                    <a:pt x="136169" y="438315"/>
                  </a:lnTo>
                  <a:lnTo>
                    <a:pt x="742238" y="438315"/>
                  </a:lnTo>
                  <a:lnTo>
                    <a:pt x="742238" y="0"/>
                  </a:lnTo>
                  <a:close/>
                </a:path>
                <a:path extrusionOk="0" h="660400" w="875029">
                  <a:moveTo>
                    <a:pt x="874788" y="607250"/>
                  </a:moveTo>
                  <a:lnTo>
                    <a:pt x="742226" y="460336"/>
                  </a:lnTo>
                  <a:lnTo>
                    <a:pt x="135267" y="460336"/>
                  </a:lnTo>
                  <a:lnTo>
                    <a:pt x="0" y="607250"/>
                  </a:lnTo>
                  <a:lnTo>
                    <a:pt x="12" y="659892"/>
                  </a:lnTo>
                  <a:lnTo>
                    <a:pt x="874788" y="659892"/>
                  </a:lnTo>
                  <a:lnTo>
                    <a:pt x="874788" y="607250"/>
                  </a:lnTo>
                  <a:close/>
                </a:path>
              </a:pathLst>
            </a:custGeom>
            <a:solidFill>
              <a:srgbClr val="C0C0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5" name="Google Shape;465;p40"/>
            <p:cNvSpPr/>
            <p:nvPr/>
          </p:nvSpPr>
          <p:spPr>
            <a:xfrm>
              <a:off x="4676152" y="4460748"/>
              <a:ext cx="606425" cy="438784"/>
            </a:xfrm>
            <a:custGeom>
              <a:rect b="b" l="l" r="r" t="t"/>
              <a:pathLst>
                <a:path extrusionOk="0" h="438785" w="606425">
                  <a:moveTo>
                    <a:pt x="0" y="0"/>
                  </a:moveTo>
                  <a:lnTo>
                    <a:pt x="606069" y="0"/>
                  </a:lnTo>
                  <a:lnTo>
                    <a:pt x="606069" y="438315"/>
                  </a:lnTo>
                  <a:lnTo>
                    <a:pt x="0" y="438315"/>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6" name="Google Shape;466;p40"/>
            <p:cNvSpPr/>
            <p:nvPr/>
          </p:nvSpPr>
          <p:spPr>
            <a:xfrm>
              <a:off x="4539994" y="4921083"/>
              <a:ext cx="875030" cy="147320"/>
            </a:xfrm>
            <a:custGeom>
              <a:rect b="b" l="l" r="r" t="t"/>
              <a:pathLst>
                <a:path extrusionOk="0" h="147320" w="875029">
                  <a:moveTo>
                    <a:pt x="135267" y="0"/>
                  </a:moveTo>
                  <a:lnTo>
                    <a:pt x="0" y="146913"/>
                  </a:lnTo>
                  <a:lnTo>
                    <a:pt x="874776" y="146913"/>
                  </a:lnTo>
                  <a:lnTo>
                    <a:pt x="742226" y="0"/>
                  </a:lnTo>
                  <a:lnTo>
                    <a:pt x="13526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7" name="Google Shape;467;p40"/>
            <p:cNvSpPr/>
            <p:nvPr/>
          </p:nvSpPr>
          <p:spPr>
            <a:xfrm>
              <a:off x="4539996" y="4507280"/>
              <a:ext cx="875030" cy="613410"/>
            </a:xfrm>
            <a:custGeom>
              <a:rect b="b" l="l" r="r" t="t"/>
              <a:pathLst>
                <a:path extrusionOk="0" h="613410" w="875029">
                  <a:moveTo>
                    <a:pt x="0" y="613359"/>
                  </a:moveTo>
                  <a:lnTo>
                    <a:pt x="874776" y="613359"/>
                  </a:lnTo>
                  <a:lnTo>
                    <a:pt x="874776" y="560717"/>
                  </a:lnTo>
                  <a:lnTo>
                    <a:pt x="0" y="560717"/>
                  </a:lnTo>
                  <a:lnTo>
                    <a:pt x="0" y="613359"/>
                  </a:lnTo>
                  <a:close/>
                </a:path>
                <a:path extrusionOk="0" h="613410" w="875029">
                  <a:moveTo>
                    <a:pt x="169532" y="0"/>
                  </a:moveTo>
                  <a:lnTo>
                    <a:pt x="710641" y="0"/>
                  </a:lnTo>
                  <a:lnTo>
                    <a:pt x="710641" y="342811"/>
                  </a:lnTo>
                  <a:lnTo>
                    <a:pt x="169532" y="342811"/>
                  </a:lnTo>
                  <a:lnTo>
                    <a:pt x="1695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8" name="Google Shape;468;p40"/>
            <p:cNvSpPr/>
            <p:nvPr/>
          </p:nvSpPr>
          <p:spPr>
            <a:xfrm>
              <a:off x="4658127" y="4935778"/>
              <a:ext cx="640715" cy="17145"/>
            </a:xfrm>
            <a:custGeom>
              <a:rect b="b" l="l" r="r" t="t"/>
              <a:pathLst>
                <a:path extrusionOk="0" h="17145" w="640714">
                  <a:moveTo>
                    <a:pt x="16243" y="0"/>
                  </a:moveTo>
                  <a:lnTo>
                    <a:pt x="0" y="17145"/>
                  </a:lnTo>
                  <a:lnTo>
                    <a:pt x="640295" y="17145"/>
                  </a:lnTo>
                  <a:lnTo>
                    <a:pt x="624090" y="0"/>
                  </a:lnTo>
                  <a:lnTo>
                    <a:pt x="16243"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9" name="Google Shape;469;p40"/>
            <p:cNvSpPr/>
            <p:nvPr/>
          </p:nvSpPr>
          <p:spPr>
            <a:xfrm>
              <a:off x="4780807" y="5020250"/>
              <a:ext cx="398145" cy="17145"/>
            </a:xfrm>
            <a:custGeom>
              <a:rect b="b" l="l" r="r" t="t"/>
              <a:pathLst>
                <a:path extrusionOk="0" h="17145" w="398145">
                  <a:moveTo>
                    <a:pt x="10807" y="0"/>
                  </a:moveTo>
                  <a:lnTo>
                    <a:pt x="0" y="17145"/>
                  </a:lnTo>
                  <a:lnTo>
                    <a:pt x="397687" y="17145"/>
                  </a:lnTo>
                  <a:lnTo>
                    <a:pt x="386880" y="0"/>
                  </a:lnTo>
                  <a:lnTo>
                    <a:pt x="1080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0" name="Google Shape;470;p40"/>
            <p:cNvSpPr/>
            <p:nvPr/>
          </p:nvSpPr>
          <p:spPr>
            <a:xfrm>
              <a:off x="4637394" y="4963946"/>
              <a:ext cx="683895" cy="18415"/>
            </a:xfrm>
            <a:custGeom>
              <a:rect b="b" l="l" r="r" t="t"/>
              <a:pathLst>
                <a:path extrusionOk="0" h="18414" w="683895">
                  <a:moveTo>
                    <a:pt x="17132" y="0"/>
                  </a:moveTo>
                  <a:lnTo>
                    <a:pt x="0" y="18364"/>
                  </a:lnTo>
                  <a:lnTo>
                    <a:pt x="683577" y="18364"/>
                  </a:lnTo>
                  <a:lnTo>
                    <a:pt x="665556" y="0"/>
                  </a:lnTo>
                  <a:lnTo>
                    <a:pt x="171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1" name="Google Shape;471;p40"/>
            <p:cNvSpPr/>
            <p:nvPr/>
          </p:nvSpPr>
          <p:spPr>
            <a:xfrm>
              <a:off x="4615769" y="4990861"/>
              <a:ext cx="728980" cy="18415"/>
            </a:xfrm>
            <a:custGeom>
              <a:rect b="b" l="l" r="r" t="t"/>
              <a:pathLst>
                <a:path extrusionOk="0" h="18414" w="728979">
                  <a:moveTo>
                    <a:pt x="18021" y="0"/>
                  </a:moveTo>
                  <a:lnTo>
                    <a:pt x="0" y="18364"/>
                  </a:lnTo>
                  <a:lnTo>
                    <a:pt x="728649" y="18364"/>
                  </a:lnTo>
                  <a:lnTo>
                    <a:pt x="709701" y="0"/>
                  </a:lnTo>
                  <a:lnTo>
                    <a:pt x="18021"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72" name="Google Shape;472;p40"/>
          <p:cNvSpPr txBox="1"/>
          <p:nvPr/>
        </p:nvSpPr>
        <p:spPr>
          <a:xfrm>
            <a:off x="3141112" y="4869595"/>
            <a:ext cx="982344"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solidFill>
                  <a:srgbClr val="4E3629"/>
                </a:solidFill>
                <a:latin typeface="Calibri"/>
                <a:ea typeface="Calibri"/>
                <a:cs typeface="Calibri"/>
                <a:sym typeface="Calibri"/>
              </a:rPr>
              <a:t>Otorga select</a:t>
            </a:r>
            <a:endParaRPr sz="1400">
              <a:latin typeface="Calibri"/>
              <a:ea typeface="Calibri"/>
              <a:cs typeface="Calibri"/>
              <a:sym typeface="Calibri"/>
            </a:endParaRPr>
          </a:p>
        </p:txBody>
      </p:sp>
      <p:sp>
        <p:nvSpPr>
          <p:cNvPr id="473" name="Google Shape;473;p40"/>
          <p:cNvSpPr txBox="1"/>
          <p:nvPr/>
        </p:nvSpPr>
        <p:spPr>
          <a:xfrm>
            <a:off x="5341771" y="4452456"/>
            <a:ext cx="81788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Usuario C</a:t>
            </a:r>
            <a:endParaRPr sz="1600">
              <a:latin typeface="Calibri"/>
              <a:ea typeface="Calibri"/>
              <a:cs typeface="Calibri"/>
              <a:sym typeface="Calibri"/>
            </a:endParaRPr>
          </a:p>
        </p:txBody>
      </p:sp>
      <p:grpSp>
        <p:nvGrpSpPr>
          <p:cNvPr id="474" name="Google Shape;474;p40"/>
          <p:cNvGrpSpPr/>
          <p:nvPr/>
        </p:nvGrpSpPr>
        <p:grpSpPr>
          <a:xfrm>
            <a:off x="5993879" y="5361431"/>
            <a:ext cx="875043" cy="658559"/>
            <a:chOff x="5993879" y="5361431"/>
            <a:chExt cx="875043" cy="658559"/>
          </a:xfrm>
        </p:grpSpPr>
        <p:sp>
          <p:nvSpPr>
            <p:cNvPr id="475" name="Google Shape;475;p40"/>
            <p:cNvSpPr/>
            <p:nvPr/>
          </p:nvSpPr>
          <p:spPr>
            <a:xfrm>
              <a:off x="5993879" y="5361431"/>
              <a:ext cx="875030" cy="658495"/>
            </a:xfrm>
            <a:custGeom>
              <a:rect b="b" l="l" r="r" t="t"/>
              <a:pathLst>
                <a:path extrusionOk="0" h="658495" w="875029">
                  <a:moveTo>
                    <a:pt x="742238" y="0"/>
                  </a:moveTo>
                  <a:lnTo>
                    <a:pt x="136169" y="0"/>
                  </a:lnTo>
                  <a:lnTo>
                    <a:pt x="136169" y="437299"/>
                  </a:lnTo>
                  <a:lnTo>
                    <a:pt x="742238" y="437299"/>
                  </a:lnTo>
                  <a:lnTo>
                    <a:pt x="742238" y="0"/>
                  </a:lnTo>
                  <a:close/>
                </a:path>
                <a:path extrusionOk="0" h="658495" w="875029">
                  <a:moveTo>
                    <a:pt x="874776" y="605853"/>
                  </a:moveTo>
                  <a:lnTo>
                    <a:pt x="742226" y="459282"/>
                  </a:lnTo>
                  <a:lnTo>
                    <a:pt x="135267" y="459282"/>
                  </a:lnTo>
                  <a:lnTo>
                    <a:pt x="12" y="605853"/>
                  </a:lnTo>
                  <a:lnTo>
                    <a:pt x="12" y="658368"/>
                  </a:lnTo>
                  <a:lnTo>
                    <a:pt x="874776" y="658368"/>
                  </a:lnTo>
                  <a:lnTo>
                    <a:pt x="874776" y="605866"/>
                  </a:lnTo>
                  <a:close/>
                </a:path>
              </a:pathLst>
            </a:custGeom>
            <a:solidFill>
              <a:srgbClr val="C0C0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6" name="Google Shape;476;p40"/>
            <p:cNvSpPr/>
            <p:nvPr/>
          </p:nvSpPr>
          <p:spPr>
            <a:xfrm>
              <a:off x="6130048" y="5361431"/>
              <a:ext cx="606425" cy="437515"/>
            </a:xfrm>
            <a:custGeom>
              <a:rect b="b" l="l" r="r" t="t"/>
              <a:pathLst>
                <a:path extrusionOk="0" h="437514" w="606425">
                  <a:moveTo>
                    <a:pt x="0" y="0"/>
                  </a:moveTo>
                  <a:lnTo>
                    <a:pt x="606069" y="0"/>
                  </a:lnTo>
                  <a:lnTo>
                    <a:pt x="606069" y="437299"/>
                  </a:lnTo>
                  <a:lnTo>
                    <a:pt x="0" y="437299"/>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7" name="Google Shape;477;p40"/>
            <p:cNvSpPr/>
            <p:nvPr/>
          </p:nvSpPr>
          <p:spPr>
            <a:xfrm>
              <a:off x="5993887" y="5820703"/>
              <a:ext cx="875030" cy="146685"/>
            </a:xfrm>
            <a:custGeom>
              <a:rect b="b" l="l" r="r" t="t"/>
              <a:pathLst>
                <a:path extrusionOk="0" h="146685" w="875029">
                  <a:moveTo>
                    <a:pt x="135267" y="0"/>
                  </a:moveTo>
                  <a:lnTo>
                    <a:pt x="0" y="146583"/>
                  </a:lnTo>
                  <a:lnTo>
                    <a:pt x="874776" y="146583"/>
                  </a:lnTo>
                  <a:lnTo>
                    <a:pt x="742226" y="0"/>
                  </a:lnTo>
                  <a:lnTo>
                    <a:pt x="13526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8" name="Google Shape;478;p40"/>
            <p:cNvSpPr/>
            <p:nvPr/>
          </p:nvSpPr>
          <p:spPr>
            <a:xfrm>
              <a:off x="5993892" y="5407850"/>
              <a:ext cx="875030" cy="612140"/>
            </a:xfrm>
            <a:custGeom>
              <a:rect b="b" l="l" r="r" t="t"/>
              <a:pathLst>
                <a:path extrusionOk="0" h="612139" w="875029">
                  <a:moveTo>
                    <a:pt x="0" y="611949"/>
                  </a:moveTo>
                  <a:lnTo>
                    <a:pt x="874775" y="611949"/>
                  </a:lnTo>
                  <a:lnTo>
                    <a:pt x="874775" y="559435"/>
                  </a:lnTo>
                  <a:lnTo>
                    <a:pt x="0" y="559435"/>
                  </a:lnTo>
                  <a:lnTo>
                    <a:pt x="0" y="611949"/>
                  </a:lnTo>
                  <a:close/>
                </a:path>
                <a:path extrusionOk="0" h="612139" w="875029">
                  <a:moveTo>
                    <a:pt x="169519" y="0"/>
                  </a:moveTo>
                  <a:lnTo>
                    <a:pt x="710628" y="0"/>
                  </a:lnTo>
                  <a:lnTo>
                    <a:pt x="710628" y="342011"/>
                  </a:lnTo>
                  <a:lnTo>
                    <a:pt x="169519" y="342011"/>
                  </a:lnTo>
                  <a:lnTo>
                    <a:pt x="169519"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9" name="Google Shape;479;p40"/>
            <p:cNvSpPr/>
            <p:nvPr/>
          </p:nvSpPr>
          <p:spPr>
            <a:xfrm>
              <a:off x="6112018" y="5835364"/>
              <a:ext cx="640715" cy="17145"/>
            </a:xfrm>
            <a:custGeom>
              <a:rect b="b" l="l" r="r" t="t"/>
              <a:pathLst>
                <a:path extrusionOk="0" h="17145" w="640715">
                  <a:moveTo>
                    <a:pt x="16243" y="0"/>
                  </a:moveTo>
                  <a:lnTo>
                    <a:pt x="0" y="17094"/>
                  </a:lnTo>
                  <a:lnTo>
                    <a:pt x="640295" y="17094"/>
                  </a:lnTo>
                  <a:lnTo>
                    <a:pt x="624090" y="0"/>
                  </a:lnTo>
                  <a:lnTo>
                    <a:pt x="16243"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0" name="Google Shape;480;p40"/>
            <p:cNvSpPr/>
            <p:nvPr/>
          </p:nvSpPr>
          <p:spPr>
            <a:xfrm>
              <a:off x="6234699" y="5919641"/>
              <a:ext cx="398145" cy="17145"/>
            </a:xfrm>
            <a:custGeom>
              <a:rect b="b" l="l" r="r" t="t"/>
              <a:pathLst>
                <a:path extrusionOk="0" h="17145" w="398145">
                  <a:moveTo>
                    <a:pt x="10807" y="0"/>
                  </a:moveTo>
                  <a:lnTo>
                    <a:pt x="0" y="17094"/>
                  </a:lnTo>
                  <a:lnTo>
                    <a:pt x="397687" y="17094"/>
                  </a:lnTo>
                  <a:lnTo>
                    <a:pt x="386880" y="0"/>
                  </a:lnTo>
                  <a:lnTo>
                    <a:pt x="10807"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1" name="Google Shape;481;p40"/>
            <p:cNvSpPr/>
            <p:nvPr/>
          </p:nvSpPr>
          <p:spPr>
            <a:xfrm>
              <a:off x="6091285" y="5863466"/>
              <a:ext cx="683895" cy="18415"/>
            </a:xfrm>
            <a:custGeom>
              <a:rect b="b" l="l" r="r" t="t"/>
              <a:pathLst>
                <a:path extrusionOk="0" h="18414" w="683895">
                  <a:moveTo>
                    <a:pt x="17132" y="0"/>
                  </a:moveTo>
                  <a:lnTo>
                    <a:pt x="0" y="18313"/>
                  </a:lnTo>
                  <a:lnTo>
                    <a:pt x="683577" y="18313"/>
                  </a:lnTo>
                  <a:lnTo>
                    <a:pt x="665556" y="0"/>
                  </a:lnTo>
                  <a:lnTo>
                    <a:pt x="17132"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2" name="Google Shape;482;p40"/>
            <p:cNvSpPr/>
            <p:nvPr/>
          </p:nvSpPr>
          <p:spPr>
            <a:xfrm>
              <a:off x="6069660" y="5890319"/>
              <a:ext cx="728980" cy="18415"/>
            </a:xfrm>
            <a:custGeom>
              <a:rect b="b" l="l" r="r" t="t"/>
              <a:pathLst>
                <a:path extrusionOk="0" h="18414" w="728979">
                  <a:moveTo>
                    <a:pt x="18021" y="0"/>
                  </a:moveTo>
                  <a:lnTo>
                    <a:pt x="0" y="18313"/>
                  </a:lnTo>
                  <a:lnTo>
                    <a:pt x="728649" y="18313"/>
                  </a:lnTo>
                  <a:lnTo>
                    <a:pt x="709701" y="0"/>
                  </a:lnTo>
                  <a:lnTo>
                    <a:pt x="18021"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83" name="Google Shape;483;p40"/>
          <p:cNvSpPr txBox="1"/>
          <p:nvPr/>
        </p:nvSpPr>
        <p:spPr>
          <a:xfrm>
            <a:off x="6853070" y="5366627"/>
            <a:ext cx="83439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Usuario D</a:t>
            </a:r>
            <a:endParaRPr sz="1600">
              <a:latin typeface="Calibri"/>
              <a:ea typeface="Calibri"/>
              <a:cs typeface="Calibri"/>
              <a:sym typeface="Calibri"/>
            </a:endParaRPr>
          </a:p>
        </p:txBody>
      </p:sp>
      <p:sp>
        <p:nvSpPr>
          <p:cNvPr id="484" name="Google Shape;484;p40"/>
          <p:cNvSpPr/>
          <p:nvPr/>
        </p:nvSpPr>
        <p:spPr>
          <a:xfrm>
            <a:off x="4924044" y="5178549"/>
            <a:ext cx="35560" cy="381000"/>
          </a:xfrm>
          <a:custGeom>
            <a:rect b="b" l="l" r="r" t="t"/>
            <a:pathLst>
              <a:path extrusionOk="0" h="381000" w="35560">
                <a:moveTo>
                  <a:pt x="0" y="285407"/>
                </a:moveTo>
                <a:lnTo>
                  <a:pt x="8763" y="285407"/>
                </a:lnTo>
                <a:lnTo>
                  <a:pt x="8763" y="0"/>
                </a:lnTo>
                <a:lnTo>
                  <a:pt x="26288" y="0"/>
                </a:lnTo>
                <a:lnTo>
                  <a:pt x="26288" y="285407"/>
                </a:lnTo>
                <a:lnTo>
                  <a:pt x="35052" y="285407"/>
                </a:lnTo>
                <a:lnTo>
                  <a:pt x="17526" y="381000"/>
                </a:lnTo>
                <a:lnTo>
                  <a:pt x="0" y="285407"/>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5" name="Google Shape;485;p40"/>
          <p:cNvSpPr txBox="1"/>
          <p:nvPr/>
        </p:nvSpPr>
        <p:spPr>
          <a:xfrm>
            <a:off x="4636921" y="5478660"/>
            <a:ext cx="982344"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solidFill>
                  <a:srgbClr val="4E3629"/>
                </a:solidFill>
                <a:latin typeface="Calibri"/>
                <a:ea typeface="Calibri"/>
                <a:cs typeface="Calibri"/>
                <a:sym typeface="Calibri"/>
              </a:rPr>
              <a:t>Otorga select</a:t>
            </a:r>
            <a:endParaRPr sz="1400">
              <a:latin typeface="Calibri"/>
              <a:ea typeface="Calibri"/>
              <a:cs typeface="Calibri"/>
              <a:sym typeface="Calibri"/>
            </a:endParaRPr>
          </a:p>
        </p:txBody>
      </p:sp>
      <p:grpSp>
        <p:nvGrpSpPr>
          <p:cNvPr id="486" name="Google Shape;486;p40"/>
          <p:cNvGrpSpPr/>
          <p:nvPr/>
        </p:nvGrpSpPr>
        <p:grpSpPr>
          <a:xfrm>
            <a:off x="3508248" y="3419856"/>
            <a:ext cx="568960" cy="236220"/>
            <a:chOff x="3508248" y="3419856"/>
            <a:chExt cx="568960" cy="236220"/>
          </a:xfrm>
        </p:grpSpPr>
        <p:sp>
          <p:nvSpPr>
            <p:cNvPr id="487" name="Google Shape;487;p40"/>
            <p:cNvSpPr/>
            <p:nvPr/>
          </p:nvSpPr>
          <p:spPr>
            <a:xfrm>
              <a:off x="3508248" y="3419856"/>
              <a:ext cx="568960" cy="236220"/>
            </a:xfrm>
            <a:custGeom>
              <a:rect b="b" l="l" r="r" t="t"/>
              <a:pathLst>
                <a:path extrusionOk="0" h="236220" w="568960">
                  <a:moveTo>
                    <a:pt x="388848" y="0"/>
                  </a:moveTo>
                  <a:lnTo>
                    <a:pt x="388848" y="59054"/>
                  </a:lnTo>
                  <a:lnTo>
                    <a:pt x="0" y="59054"/>
                  </a:lnTo>
                  <a:lnTo>
                    <a:pt x="0" y="177164"/>
                  </a:lnTo>
                  <a:lnTo>
                    <a:pt x="388848" y="177164"/>
                  </a:lnTo>
                  <a:lnTo>
                    <a:pt x="388848" y="236219"/>
                  </a:lnTo>
                  <a:lnTo>
                    <a:pt x="568452" y="118109"/>
                  </a:lnTo>
                  <a:lnTo>
                    <a:pt x="388848"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8" name="Google Shape;488;p40"/>
            <p:cNvSpPr/>
            <p:nvPr/>
          </p:nvSpPr>
          <p:spPr>
            <a:xfrm>
              <a:off x="3508248" y="3419856"/>
              <a:ext cx="568960" cy="236220"/>
            </a:xfrm>
            <a:custGeom>
              <a:rect b="b" l="l" r="r" t="t"/>
              <a:pathLst>
                <a:path extrusionOk="0" h="236220" w="568960">
                  <a:moveTo>
                    <a:pt x="0" y="59054"/>
                  </a:moveTo>
                  <a:lnTo>
                    <a:pt x="388848" y="59054"/>
                  </a:lnTo>
                  <a:lnTo>
                    <a:pt x="388848" y="0"/>
                  </a:lnTo>
                  <a:lnTo>
                    <a:pt x="568452" y="118109"/>
                  </a:lnTo>
                  <a:lnTo>
                    <a:pt x="388848" y="236219"/>
                  </a:lnTo>
                  <a:lnTo>
                    <a:pt x="388848" y="177164"/>
                  </a:lnTo>
                  <a:lnTo>
                    <a:pt x="0" y="177164"/>
                  </a:lnTo>
                  <a:lnTo>
                    <a:pt x="0" y="59054"/>
                  </a:lnTo>
                  <a:close/>
                </a:path>
              </a:pathLst>
            </a:custGeom>
            <a:noFill/>
            <a:ln cap="flat" cmpd="sng" w="952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489" name="Google Shape;489;p40"/>
          <p:cNvGrpSpPr/>
          <p:nvPr/>
        </p:nvGrpSpPr>
        <p:grpSpPr>
          <a:xfrm>
            <a:off x="3141726" y="4889753"/>
            <a:ext cx="1159510" cy="529590"/>
            <a:chOff x="3141726" y="4889753"/>
            <a:chExt cx="1159510" cy="529590"/>
          </a:xfrm>
        </p:grpSpPr>
        <p:sp>
          <p:nvSpPr>
            <p:cNvPr id="490" name="Google Shape;490;p40"/>
            <p:cNvSpPr/>
            <p:nvPr/>
          </p:nvSpPr>
          <p:spPr>
            <a:xfrm>
              <a:off x="3732276" y="5183123"/>
              <a:ext cx="568960" cy="236220"/>
            </a:xfrm>
            <a:custGeom>
              <a:rect b="b" l="l" r="r" t="t"/>
              <a:pathLst>
                <a:path extrusionOk="0" h="236220" w="568960">
                  <a:moveTo>
                    <a:pt x="0" y="59054"/>
                  </a:moveTo>
                  <a:lnTo>
                    <a:pt x="388848" y="59054"/>
                  </a:lnTo>
                  <a:lnTo>
                    <a:pt x="388848" y="0"/>
                  </a:lnTo>
                  <a:lnTo>
                    <a:pt x="568452" y="118109"/>
                  </a:lnTo>
                  <a:lnTo>
                    <a:pt x="388848" y="236219"/>
                  </a:lnTo>
                  <a:lnTo>
                    <a:pt x="388848" y="177164"/>
                  </a:lnTo>
                  <a:lnTo>
                    <a:pt x="0" y="177164"/>
                  </a:lnTo>
                  <a:lnTo>
                    <a:pt x="0" y="59054"/>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1" name="Google Shape;491;p40"/>
            <p:cNvSpPr/>
            <p:nvPr/>
          </p:nvSpPr>
          <p:spPr>
            <a:xfrm>
              <a:off x="3285011" y="4957602"/>
              <a:ext cx="692150" cy="327660"/>
            </a:xfrm>
            <a:custGeom>
              <a:rect b="b" l="l" r="r" t="t"/>
              <a:pathLst>
                <a:path extrusionOk="0" h="327660" w="692150">
                  <a:moveTo>
                    <a:pt x="0" y="0"/>
                  </a:moveTo>
                  <a:lnTo>
                    <a:pt x="691832" y="327596"/>
                  </a:lnTo>
                </a:path>
                <a:path extrusionOk="0" h="327660" w="692150">
                  <a:moveTo>
                    <a:pt x="691832" y="0"/>
                  </a:moveTo>
                  <a:lnTo>
                    <a:pt x="0" y="327596"/>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2" name="Google Shape;492;p40"/>
            <p:cNvSpPr/>
            <p:nvPr/>
          </p:nvSpPr>
          <p:spPr>
            <a:xfrm>
              <a:off x="3141726" y="4889753"/>
              <a:ext cx="978535" cy="463550"/>
            </a:xfrm>
            <a:custGeom>
              <a:rect b="b" l="l" r="r" t="t"/>
              <a:pathLst>
                <a:path extrusionOk="0" h="463550" w="978535">
                  <a:moveTo>
                    <a:pt x="0" y="231648"/>
                  </a:moveTo>
                  <a:lnTo>
                    <a:pt x="14940" y="174608"/>
                  </a:lnTo>
                  <a:lnTo>
                    <a:pt x="57317" y="122747"/>
                  </a:lnTo>
                  <a:lnTo>
                    <a:pt x="87649" y="99300"/>
                  </a:lnTo>
                  <a:lnTo>
                    <a:pt x="123463" y="77799"/>
                  </a:lnTo>
                  <a:lnTo>
                    <a:pt x="164304" y="58461"/>
                  </a:lnTo>
                  <a:lnTo>
                    <a:pt x="209711" y="41502"/>
                  </a:lnTo>
                  <a:lnTo>
                    <a:pt x="259226" y="27140"/>
                  </a:lnTo>
                  <a:lnTo>
                    <a:pt x="312392" y="15592"/>
                  </a:lnTo>
                  <a:lnTo>
                    <a:pt x="368749" y="7074"/>
                  </a:lnTo>
                  <a:lnTo>
                    <a:pt x="427839" y="1804"/>
                  </a:lnTo>
                  <a:lnTo>
                    <a:pt x="489204" y="0"/>
                  </a:lnTo>
                  <a:lnTo>
                    <a:pt x="550568" y="1804"/>
                  </a:lnTo>
                  <a:lnTo>
                    <a:pt x="609658" y="7074"/>
                  </a:lnTo>
                  <a:lnTo>
                    <a:pt x="666015" y="15592"/>
                  </a:lnTo>
                  <a:lnTo>
                    <a:pt x="719181" y="27140"/>
                  </a:lnTo>
                  <a:lnTo>
                    <a:pt x="768696" y="41502"/>
                  </a:lnTo>
                  <a:lnTo>
                    <a:pt x="814103" y="58461"/>
                  </a:lnTo>
                  <a:lnTo>
                    <a:pt x="854944" y="77799"/>
                  </a:lnTo>
                  <a:lnTo>
                    <a:pt x="890758" y="99300"/>
                  </a:lnTo>
                  <a:lnTo>
                    <a:pt x="921090" y="122747"/>
                  </a:lnTo>
                  <a:lnTo>
                    <a:pt x="963467" y="174608"/>
                  </a:lnTo>
                  <a:lnTo>
                    <a:pt x="978408" y="231648"/>
                  </a:lnTo>
                  <a:lnTo>
                    <a:pt x="974596" y="260706"/>
                  </a:lnTo>
                  <a:lnTo>
                    <a:pt x="945478" y="315373"/>
                  </a:lnTo>
                  <a:lnTo>
                    <a:pt x="890758" y="363995"/>
                  </a:lnTo>
                  <a:lnTo>
                    <a:pt x="854944" y="385496"/>
                  </a:lnTo>
                  <a:lnTo>
                    <a:pt x="814103" y="404834"/>
                  </a:lnTo>
                  <a:lnTo>
                    <a:pt x="768696" y="421793"/>
                  </a:lnTo>
                  <a:lnTo>
                    <a:pt x="719181" y="436155"/>
                  </a:lnTo>
                  <a:lnTo>
                    <a:pt x="666015" y="447703"/>
                  </a:lnTo>
                  <a:lnTo>
                    <a:pt x="609658" y="456221"/>
                  </a:lnTo>
                  <a:lnTo>
                    <a:pt x="550568" y="461491"/>
                  </a:lnTo>
                  <a:lnTo>
                    <a:pt x="489204" y="463296"/>
                  </a:lnTo>
                  <a:lnTo>
                    <a:pt x="427839" y="461491"/>
                  </a:lnTo>
                  <a:lnTo>
                    <a:pt x="368749" y="456221"/>
                  </a:lnTo>
                  <a:lnTo>
                    <a:pt x="312392" y="447703"/>
                  </a:lnTo>
                  <a:lnTo>
                    <a:pt x="259226" y="436155"/>
                  </a:lnTo>
                  <a:lnTo>
                    <a:pt x="209711" y="421793"/>
                  </a:lnTo>
                  <a:lnTo>
                    <a:pt x="164304" y="404834"/>
                  </a:lnTo>
                  <a:lnTo>
                    <a:pt x="123463" y="385496"/>
                  </a:lnTo>
                  <a:lnTo>
                    <a:pt x="87649" y="363995"/>
                  </a:lnTo>
                  <a:lnTo>
                    <a:pt x="57317" y="340548"/>
                  </a:lnTo>
                  <a:lnTo>
                    <a:pt x="14940" y="288687"/>
                  </a:lnTo>
                  <a:lnTo>
                    <a:pt x="0" y="231648"/>
                  </a:lnTo>
                  <a:close/>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493" name="Google Shape;493;p40"/>
          <p:cNvGrpSpPr/>
          <p:nvPr/>
        </p:nvGrpSpPr>
        <p:grpSpPr>
          <a:xfrm>
            <a:off x="4629150" y="5467350"/>
            <a:ext cx="1112265" cy="552449"/>
            <a:chOff x="4629150" y="5467350"/>
            <a:chExt cx="1112265" cy="552449"/>
          </a:xfrm>
        </p:grpSpPr>
        <p:sp>
          <p:nvSpPr>
            <p:cNvPr id="494" name="Google Shape;494;p40"/>
            <p:cNvSpPr/>
            <p:nvPr/>
          </p:nvSpPr>
          <p:spPr>
            <a:xfrm>
              <a:off x="5172455" y="5783579"/>
              <a:ext cx="568960" cy="236220"/>
            </a:xfrm>
            <a:custGeom>
              <a:rect b="b" l="l" r="r" t="t"/>
              <a:pathLst>
                <a:path extrusionOk="0" h="236220" w="568960">
                  <a:moveTo>
                    <a:pt x="0" y="59055"/>
                  </a:moveTo>
                  <a:lnTo>
                    <a:pt x="388848" y="59055"/>
                  </a:lnTo>
                  <a:lnTo>
                    <a:pt x="388848" y="0"/>
                  </a:lnTo>
                  <a:lnTo>
                    <a:pt x="568452" y="118110"/>
                  </a:lnTo>
                  <a:lnTo>
                    <a:pt x="388848" y="236220"/>
                  </a:lnTo>
                  <a:lnTo>
                    <a:pt x="388848" y="177165"/>
                  </a:lnTo>
                  <a:lnTo>
                    <a:pt x="0" y="177165"/>
                  </a:lnTo>
                  <a:lnTo>
                    <a:pt x="0" y="59055"/>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5" name="Google Shape;495;p40"/>
            <p:cNvSpPr/>
            <p:nvPr/>
          </p:nvSpPr>
          <p:spPr>
            <a:xfrm>
              <a:off x="4772435" y="5535198"/>
              <a:ext cx="692150" cy="327660"/>
            </a:xfrm>
            <a:custGeom>
              <a:rect b="b" l="l" r="r" t="t"/>
              <a:pathLst>
                <a:path extrusionOk="0" h="327660" w="692150">
                  <a:moveTo>
                    <a:pt x="0" y="0"/>
                  </a:moveTo>
                  <a:lnTo>
                    <a:pt x="691832" y="327596"/>
                  </a:lnTo>
                </a:path>
                <a:path extrusionOk="0" h="327660" w="692150">
                  <a:moveTo>
                    <a:pt x="691832" y="0"/>
                  </a:moveTo>
                  <a:lnTo>
                    <a:pt x="0" y="327596"/>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6" name="Google Shape;496;p40"/>
            <p:cNvSpPr/>
            <p:nvPr/>
          </p:nvSpPr>
          <p:spPr>
            <a:xfrm>
              <a:off x="4629150" y="5467350"/>
              <a:ext cx="978535" cy="463550"/>
            </a:xfrm>
            <a:custGeom>
              <a:rect b="b" l="l" r="r" t="t"/>
              <a:pathLst>
                <a:path extrusionOk="0" h="463550" w="978535">
                  <a:moveTo>
                    <a:pt x="0" y="231647"/>
                  </a:moveTo>
                  <a:lnTo>
                    <a:pt x="14940" y="174608"/>
                  </a:lnTo>
                  <a:lnTo>
                    <a:pt x="57317" y="122747"/>
                  </a:lnTo>
                  <a:lnTo>
                    <a:pt x="87649" y="99300"/>
                  </a:lnTo>
                  <a:lnTo>
                    <a:pt x="123463" y="77799"/>
                  </a:lnTo>
                  <a:lnTo>
                    <a:pt x="164304" y="58461"/>
                  </a:lnTo>
                  <a:lnTo>
                    <a:pt x="209711" y="41502"/>
                  </a:lnTo>
                  <a:lnTo>
                    <a:pt x="259226" y="27140"/>
                  </a:lnTo>
                  <a:lnTo>
                    <a:pt x="312392" y="15592"/>
                  </a:lnTo>
                  <a:lnTo>
                    <a:pt x="368749" y="7074"/>
                  </a:lnTo>
                  <a:lnTo>
                    <a:pt x="427839" y="1804"/>
                  </a:lnTo>
                  <a:lnTo>
                    <a:pt x="489204" y="0"/>
                  </a:lnTo>
                  <a:lnTo>
                    <a:pt x="550568" y="1804"/>
                  </a:lnTo>
                  <a:lnTo>
                    <a:pt x="609658" y="7074"/>
                  </a:lnTo>
                  <a:lnTo>
                    <a:pt x="666015" y="15592"/>
                  </a:lnTo>
                  <a:lnTo>
                    <a:pt x="719181" y="27140"/>
                  </a:lnTo>
                  <a:lnTo>
                    <a:pt x="768696" y="41502"/>
                  </a:lnTo>
                  <a:lnTo>
                    <a:pt x="814103" y="58461"/>
                  </a:lnTo>
                  <a:lnTo>
                    <a:pt x="854944" y="77799"/>
                  </a:lnTo>
                  <a:lnTo>
                    <a:pt x="890758" y="99300"/>
                  </a:lnTo>
                  <a:lnTo>
                    <a:pt x="921090" y="122747"/>
                  </a:lnTo>
                  <a:lnTo>
                    <a:pt x="963467" y="174608"/>
                  </a:lnTo>
                  <a:lnTo>
                    <a:pt x="978408" y="231647"/>
                  </a:lnTo>
                  <a:lnTo>
                    <a:pt x="974596" y="260706"/>
                  </a:lnTo>
                  <a:lnTo>
                    <a:pt x="945478" y="315373"/>
                  </a:lnTo>
                  <a:lnTo>
                    <a:pt x="890758" y="363995"/>
                  </a:lnTo>
                  <a:lnTo>
                    <a:pt x="854944" y="385496"/>
                  </a:lnTo>
                  <a:lnTo>
                    <a:pt x="814103" y="404834"/>
                  </a:lnTo>
                  <a:lnTo>
                    <a:pt x="768696" y="421793"/>
                  </a:lnTo>
                  <a:lnTo>
                    <a:pt x="719181" y="436155"/>
                  </a:lnTo>
                  <a:lnTo>
                    <a:pt x="666015" y="447703"/>
                  </a:lnTo>
                  <a:lnTo>
                    <a:pt x="609658" y="456221"/>
                  </a:lnTo>
                  <a:lnTo>
                    <a:pt x="550568" y="461491"/>
                  </a:lnTo>
                  <a:lnTo>
                    <a:pt x="489204" y="463295"/>
                  </a:lnTo>
                  <a:lnTo>
                    <a:pt x="427839" y="461491"/>
                  </a:lnTo>
                  <a:lnTo>
                    <a:pt x="368749" y="456221"/>
                  </a:lnTo>
                  <a:lnTo>
                    <a:pt x="312392" y="447703"/>
                  </a:lnTo>
                  <a:lnTo>
                    <a:pt x="259226" y="436155"/>
                  </a:lnTo>
                  <a:lnTo>
                    <a:pt x="209711" y="421793"/>
                  </a:lnTo>
                  <a:lnTo>
                    <a:pt x="164304" y="404834"/>
                  </a:lnTo>
                  <a:lnTo>
                    <a:pt x="123463" y="385496"/>
                  </a:lnTo>
                  <a:lnTo>
                    <a:pt x="87649" y="363995"/>
                  </a:lnTo>
                  <a:lnTo>
                    <a:pt x="57317" y="340548"/>
                  </a:lnTo>
                  <a:lnTo>
                    <a:pt x="14940" y="288687"/>
                  </a:lnTo>
                  <a:lnTo>
                    <a:pt x="0" y="231647"/>
                  </a:lnTo>
                  <a:close/>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97" name="Google Shape;497;p40"/>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498" name="Google Shape;498;p4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99" name="Google Shape;499;p4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1"/>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Sinónimos Privados y Públicos</a:t>
            </a:r>
            <a:endParaRPr/>
          </a:p>
        </p:txBody>
      </p:sp>
      <p:sp>
        <p:nvSpPr>
          <p:cNvPr id="505" name="Google Shape;505;p41"/>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506" name="Google Shape;506;p4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507" name="Google Shape;507;p4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508" name="Google Shape;508;p41"/>
          <p:cNvSpPr txBox="1"/>
          <p:nvPr/>
        </p:nvSpPr>
        <p:spPr>
          <a:xfrm>
            <a:off x="483552" y="1415417"/>
            <a:ext cx="8009255" cy="3242310"/>
          </a:xfrm>
          <a:prstGeom prst="rect">
            <a:avLst/>
          </a:prstGeom>
          <a:noFill/>
          <a:ln>
            <a:noFill/>
          </a:ln>
        </p:spPr>
        <p:txBody>
          <a:bodyPr anchorCtr="0" anchor="t" bIns="0" lIns="0" spcFirstLastPara="1" rIns="0" wrap="square" tIns="59675">
            <a:spAutoFit/>
          </a:bodyPr>
          <a:lstStyle/>
          <a:p>
            <a:pPr indent="-177800" lvl="0" marL="182880" marR="486409"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se ha mencionado anteriormente en esta 	lección, puede crear un sinónimo para eliminar la 	necesidad de cualificar el nombre del objeto con el 	esquema y se ofrecen nombres alternativos para 	tablas, vistas, secuencias, procedimientos u</a:t>
            </a:r>
            <a:endParaRPr sz="2800">
              <a:latin typeface="Calibri"/>
              <a:ea typeface="Calibri"/>
              <a:cs typeface="Calibri"/>
              <a:sym typeface="Calibri"/>
            </a:endParaRPr>
          </a:p>
          <a:p>
            <a:pPr indent="0" lvl="0" marL="184785" rtl="0" algn="l">
              <a:lnSpc>
                <a:spcPct val="105714"/>
              </a:lnSpc>
              <a:spcBef>
                <a:spcPts val="0"/>
              </a:spcBef>
              <a:spcAft>
                <a:spcPts val="0"/>
              </a:spcAft>
              <a:buNone/>
            </a:pPr>
            <a:r>
              <a:rPr lang="en-US" sz="2800">
                <a:solidFill>
                  <a:srgbClr val="4E3629"/>
                </a:solidFill>
                <a:latin typeface="Calibri"/>
                <a:ea typeface="Calibri"/>
                <a:cs typeface="Calibri"/>
                <a:sym typeface="Calibri"/>
              </a:rPr>
              <a:t>otros objetos</a:t>
            </a:r>
            <a:endParaRPr sz="2800">
              <a:latin typeface="Calibri"/>
              <a:ea typeface="Calibri"/>
              <a:cs typeface="Calibri"/>
              <a:sym typeface="Calibri"/>
            </a:endParaRPr>
          </a:p>
          <a:p>
            <a:pPr indent="-177800" lvl="0" marL="182880" marR="5080" rtl="0" algn="l">
              <a:lnSpc>
                <a:spcPct val="108214"/>
              </a:lnSpc>
              <a:spcBef>
                <a:spcPts val="84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sinónimos pueden ser privados (valor por defecto) 	o públicos</a:t>
            </a:r>
            <a:endParaRPr sz="280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2"/>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Sinónimos Privados y Públicos</a:t>
            </a:r>
            <a:endParaRPr/>
          </a:p>
        </p:txBody>
      </p:sp>
      <p:sp>
        <p:nvSpPr>
          <p:cNvPr id="514" name="Google Shape;514;p42"/>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515" name="Google Shape;515;p4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516" name="Google Shape;516;p4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517" name="Google Shape;517;p42"/>
          <p:cNvSpPr txBox="1"/>
          <p:nvPr/>
        </p:nvSpPr>
        <p:spPr>
          <a:xfrm>
            <a:off x="483552" y="1415417"/>
            <a:ext cx="7888605" cy="2858135"/>
          </a:xfrm>
          <a:prstGeom prst="rect">
            <a:avLst/>
          </a:prstGeom>
          <a:noFill/>
          <a:ln>
            <a:noFill/>
          </a:ln>
        </p:spPr>
        <p:txBody>
          <a:bodyPr anchorCtr="0" anchor="t" bIns="0" lIns="0" spcFirstLastPara="1" rIns="0" wrap="square" tIns="59675">
            <a:spAutoFit/>
          </a:bodyPr>
          <a:lstStyle/>
          <a:p>
            <a:pPr indent="-177800" lvl="0" marL="182880" marR="7175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sinónimo público lo pueden crear los 	administradores de base de datos o usuarios de base 	de datos a los que se haya dado los privilegios para 	hacerlo, pero no todo el mundo puede crear 	automáticamente sinónimos públicos</a:t>
            </a:r>
            <a:endParaRPr sz="2800">
              <a:latin typeface="Calibri"/>
              <a:ea typeface="Calibri"/>
              <a:cs typeface="Calibri"/>
              <a:sym typeface="Calibri"/>
            </a:endParaRPr>
          </a:p>
          <a:p>
            <a:pPr indent="-177800" lvl="0" marL="182880" marR="508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Nota: el privilegio CREATE PUBLIC SYNONYM no se ha 	otorgado a los alumnos de Academy</a:t>
            </a:r>
            <a:endParaRPr sz="2800">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3"/>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Roles y Privilegios</a:t>
            </a:r>
            <a:endParaRPr/>
          </a:p>
        </p:txBody>
      </p:sp>
      <p:sp>
        <p:nvSpPr>
          <p:cNvPr id="523" name="Google Shape;523;p43"/>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524" name="Google Shape;524;p4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525" name="Google Shape;525;p4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526" name="Google Shape;526;p43"/>
          <p:cNvSpPr txBox="1"/>
          <p:nvPr/>
        </p:nvSpPr>
        <p:spPr>
          <a:xfrm>
            <a:off x="483552" y="1381889"/>
            <a:ext cx="8134350" cy="4219575"/>
          </a:xfrm>
          <a:prstGeom prst="rect">
            <a:avLst/>
          </a:prstGeom>
          <a:noFill/>
          <a:ln>
            <a:noFill/>
          </a:ln>
        </p:spPr>
        <p:txBody>
          <a:bodyPr anchorCtr="0" anchor="t" bIns="0" lIns="0" spcFirstLastPara="1" rIns="0" wrap="square" tIns="12050">
            <a:spAutoFit/>
          </a:bodyPr>
          <a:lstStyle/>
          <a:p>
            <a:pPr indent="-177800" lvl="0" marL="183515" rtl="0" algn="l">
              <a:lnSpc>
                <a:spcPct val="117107"/>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roles y privilegios difieren de varias formas:</a:t>
            </a:r>
            <a:endParaRPr sz="2800">
              <a:latin typeface="Calibri"/>
              <a:ea typeface="Calibri"/>
              <a:cs typeface="Calibri"/>
              <a:sym typeface="Calibri"/>
            </a:endParaRPr>
          </a:p>
          <a:p>
            <a:pPr indent="-175260" lvl="0" marL="530860" marR="188595" rtl="0" algn="l">
              <a:lnSpc>
                <a:spcPct val="95833"/>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 privilegio de usuario es un derecho para ejecutar un tipo concreto de sentencia SQL o un derecho para acceder a un objeto de otro usuario</a:t>
            </a:r>
            <a:endParaRPr sz="2400">
              <a:latin typeface="Calibri"/>
              <a:ea typeface="Calibri"/>
              <a:cs typeface="Calibri"/>
              <a:sym typeface="Calibri"/>
            </a:endParaRPr>
          </a:p>
          <a:p>
            <a:pPr indent="0" lvl="0" marL="355600" rtl="0" algn="l">
              <a:lnSpc>
                <a:spcPct val="110416"/>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Oracle define todos los privilegios</a:t>
            </a:r>
            <a:endParaRPr sz="2400">
              <a:latin typeface="Calibri"/>
              <a:ea typeface="Calibri"/>
              <a:cs typeface="Calibri"/>
              <a:sym typeface="Calibri"/>
            </a:endParaRPr>
          </a:p>
          <a:p>
            <a:pPr indent="-175260" lvl="0" marL="530860" marR="5080" rtl="0" algn="l">
              <a:lnSpc>
                <a:spcPct val="80000"/>
              </a:lnSpc>
              <a:spcBef>
                <a:spcPts val="48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Los roles, por otra parte, los crean los usuarios (normalmente administradores) y se utilizan para agrupar los privilegios u otros roles</a:t>
            </a:r>
            <a:endParaRPr sz="2400">
              <a:latin typeface="Calibri"/>
              <a:ea typeface="Calibri"/>
              <a:cs typeface="Calibri"/>
              <a:sym typeface="Calibri"/>
            </a:endParaRPr>
          </a:p>
          <a:p>
            <a:pPr indent="-175260" lvl="0" marL="530860" marR="103505" rtl="0" algn="l">
              <a:lnSpc>
                <a:spcPct val="95833"/>
              </a:lnSpc>
              <a:spcBef>
                <a:spcPts val="38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 crean para que sea más fácil gestionar el otorgamiento de varios privilegios o roles a los usuarios</a:t>
            </a:r>
            <a:endParaRPr sz="2400">
              <a:latin typeface="Calibri"/>
              <a:ea typeface="Calibri"/>
              <a:cs typeface="Calibri"/>
              <a:sym typeface="Calibri"/>
            </a:endParaRPr>
          </a:p>
          <a:p>
            <a:pPr indent="-175260" lvl="0" marL="530860" marR="126364" rtl="0" algn="l">
              <a:lnSpc>
                <a:spcPct val="95833"/>
              </a:lnSpc>
              <a:spcBef>
                <a:spcPts val="41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Los privilegios se incluyen con la base de datos y los roles los realizan los administradores de base de datos o los usuarios de una base de datos concreta</a:t>
            </a:r>
            <a:endParaRPr sz="2400">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4"/>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Enlaces de Base de Datos</a:t>
            </a:r>
            <a:endParaRPr/>
          </a:p>
        </p:txBody>
      </p:sp>
      <p:sp>
        <p:nvSpPr>
          <p:cNvPr id="532" name="Google Shape;532;p44"/>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533" name="Google Shape;533;p4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534" name="Google Shape;534;p4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535" name="Google Shape;535;p44"/>
          <p:cNvSpPr txBox="1"/>
          <p:nvPr>
            <p:ph idx="1" type="body"/>
          </p:nvPr>
        </p:nvSpPr>
        <p:spPr>
          <a:xfrm>
            <a:off x="483552" y="1415417"/>
            <a:ext cx="8015700" cy="3958800"/>
          </a:xfrm>
          <a:prstGeom prst="rect">
            <a:avLst/>
          </a:prstGeom>
          <a:noFill/>
          <a:ln>
            <a:noFill/>
          </a:ln>
        </p:spPr>
        <p:txBody>
          <a:bodyPr anchorCtr="0" anchor="t" bIns="0" lIns="0" spcFirstLastPara="1" rIns="0" wrap="square" tIns="59675">
            <a:spAutoFit/>
          </a:bodyPr>
          <a:lstStyle/>
          <a:p>
            <a:pPr indent="-177800" lvl="0" marL="182880" marR="34290" rtl="0" algn="l">
              <a:lnSpc>
                <a:spcPct val="108214"/>
              </a:lnSpc>
              <a:spcBef>
                <a:spcPts val="0"/>
              </a:spcBef>
              <a:spcAft>
                <a:spcPts val="0"/>
              </a:spcAft>
              <a:buClr>
                <a:srgbClr val="D1350F"/>
              </a:buClr>
              <a:buSzPts val="2800"/>
              <a:buFont typeface="Arial"/>
              <a:buChar char="•"/>
            </a:pPr>
            <a:r>
              <a:rPr lang="en-US"/>
              <a:t>Un enlace de base de datos es un puntero que define 	una ruta de acceso de comunicación unidireccional de 	una base de datos Oracle a otra base de datos</a:t>
            </a:r>
            <a:endParaRPr/>
          </a:p>
          <a:p>
            <a:pPr indent="-177800" lvl="0" marL="182880" marR="332105" rtl="0" algn="l">
              <a:lnSpc>
                <a:spcPct val="108214"/>
              </a:lnSpc>
              <a:spcBef>
                <a:spcPts val="785"/>
              </a:spcBef>
              <a:spcAft>
                <a:spcPts val="0"/>
              </a:spcAft>
              <a:buClr>
                <a:srgbClr val="D1350F"/>
              </a:buClr>
              <a:buSzPts val="2800"/>
              <a:buFont typeface="Arial"/>
              <a:buChar char="•"/>
            </a:pPr>
            <a:r>
              <a:rPr lang="en-US"/>
              <a:t>El puntero del enlace se define realmente como una 	entrada en la tabla del diccionario de datos</a:t>
            </a:r>
            <a:endParaRPr/>
          </a:p>
          <a:p>
            <a:pPr indent="-177800" lvl="0" marL="182880" marR="5080" rtl="0" algn="l">
              <a:lnSpc>
                <a:spcPct val="108214"/>
              </a:lnSpc>
              <a:spcBef>
                <a:spcPts val="795"/>
              </a:spcBef>
              <a:spcAft>
                <a:spcPts val="1200"/>
              </a:spcAft>
              <a:buClr>
                <a:srgbClr val="D1350F"/>
              </a:buClr>
              <a:buSzPts val="2800"/>
              <a:buFont typeface="Arial"/>
              <a:buChar char="•"/>
            </a:pPr>
            <a:r>
              <a:rPr lang="en-US"/>
              <a:t>Para acceder al enlace, debe estar conectado a la base 	de datos local que contiene la entrada del diccionario 	de datos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5"/>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Enlaces de Base de Datos</a:t>
            </a:r>
            <a:endParaRPr/>
          </a:p>
        </p:txBody>
      </p:sp>
      <p:sp>
        <p:nvSpPr>
          <p:cNvPr id="541" name="Google Shape;541;p45"/>
          <p:cNvSpPr txBox="1"/>
          <p:nvPr/>
        </p:nvSpPr>
        <p:spPr>
          <a:xfrm>
            <a:off x="483552" y="1415417"/>
            <a:ext cx="8066405" cy="31413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conexión de enlace de base de datos es 	"unidireccional" en el sentido de que un cliente 	conectado a la base de datos local A puede utilizar un 	enlace almacenado en la base de datos A para acceder 	a información de la base de datos remota B, pero los 	usuarios conectados a la base de datos B no pueden 	utilizar el mismo enlace para acceder a los datos de la 	base de datos A</a:t>
            </a:r>
            <a:endParaRPr sz="2800">
              <a:latin typeface="Calibri"/>
              <a:ea typeface="Calibri"/>
              <a:cs typeface="Calibri"/>
              <a:sym typeface="Calibri"/>
            </a:endParaRPr>
          </a:p>
        </p:txBody>
      </p:sp>
      <p:pic>
        <p:nvPicPr>
          <p:cNvPr id="542" name="Google Shape;542;p45"/>
          <p:cNvPicPr preferRelativeResize="0"/>
          <p:nvPr/>
        </p:nvPicPr>
        <p:blipFill rotWithShape="1">
          <a:blip r:embed="rId3">
            <a:alphaModFix/>
          </a:blip>
          <a:srcRect b="0" l="0" r="0" t="0"/>
          <a:stretch/>
        </p:blipFill>
        <p:spPr>
          <a:xfrm>
            <a:off x="4564379" y="4402836"/>
            <a:ext cx="3704843" cy="1142999"/>
          </a:xfrm>
          <a:prstGeom prst="rect">
            <a:avLst/>
          </a:prstGeom>
          <a:noFill/>
          <a:ln>
            <a:noFill/>
          </a:ln>
        </p:spPr>
      </p:pic>
      <p:sp>
        <p:nvSpPr>
          <p:cNvPr id="543" name="Google Shape;543;p45"/>
          <p:cNvSpPr txBox="1"/>
          <p:nvPr/>
        </p:nvSpPr>
        <p:spPr>
          <a:xfrm>
            <a:off x="4280598" y="5464705"/>
            <a:ext cx="124523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scott_king</a:t>
            </a:r>
            <a:endParaRPr sz="1600">
              <a:latin typeface="Courier New"/>
              <a:ea typeface="Courier New"/>
              <a:cs typeface="Courier New"/>
              <a:sym typeface="Courier New"/>
            </a:endParaRPr>
          </a:p>
        </p:txBody>
      </p:sp>
      <p:sp>
        <p:nvSpPr>
          <p:cNvPr id="544" name="Google Shape;544;p45"/>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545" name="Google Shape;545;p4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546" name="Google Shape;546;p4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547" name="Google Shape;547;p45"/>
          <p:cNvSpPr txBox="1"/>
          <p:nvPr/>
        </p:nvSpPr>
        <p:spPr>
          <a:xfrm>
            <a:off x="5512965" y="5869481"/>
            <a:ext cx="161226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SELECT * FROM</a:t>
            </a:r>
            <a:endParaRPr sz="1600">
              <a:latin typeface="Courier New"/>
              <a:ea typeface="Courier New"/>
              <a:cs typeface="Courier New"/>
              <a:sym typeface="Courier New"/>
            </a:endParaRPr>
          </a:p>
        </p:txBody>
      </p:sp>
      <p:sp>
        <p:nvSpPr>
          <p:cNvPr id="548" name="Google Shape;548;p45"/>
          <p:cNvSpPr txBox="1"/>
          <p:nvPr/>
        </p:nvSpPr>
        <p:spPr>
          <a:xfrm>
            <a:off x="5512965" y="6113320"/>
            <a:ext cx="185610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emp@HQ_ACME.COM</a:t>
            </a:r>
            <a:endParaRPr sz="1600">
              <a:latin typeface="Courier New"/>
              <a:ea typeface="Courier New"/>
              <a:cs typeface="Courier New"/>
              <a:sym typeface="Courier New"/>
            </a:endParaRPr>
          </a:p>
        </p:txBody>
      </p:sp>
      <p:sp>
        <p:nvSpPr>
          <p:cNvPr id="549" name="Google Shape;549;p45"/>
          <p:cNvSpPr txBox="1"/>
          <p:nvPr/>
        </p:nvSpPr>
        <p:spPr>
          <a:xfrm>
            <a:off x="7124164" y="5477678"/>
            <a:ext cx="1614170" cy="523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Base de datos</a:t>
            </a:r>
            <a:endParaRPr sz="1600">
              <a:latin typeface="Courier New"/>
              <a:ea typeface="Courier New"/>
              <a:cs typeface="Courier New"/>
              <a:sym typeface="Courier New"/>
            </a:endParaRPr>
          </a:p>
          <a:p>
            <a:pPr indent="0" lvl="0" marL="259079" rtl="0" algn="l">
              <a:lnSpc>
                <a:spcPct val="100000"/>
              </a:lnSpc>
              <a:spcBef>
                <a:spcPts val="85"/>
              </a:spcBef>
              <a:spcAft>
                <a:spcPts val="0"/>
              </a:spcAft>
              <a:buNone/>
            </a:pPr>
            <a:r>
              <a:rPr b="1" lang="en-US" sz="1600">
                <a:solidFill>
                  <a:srgbClr val="4E3629"/>
                </a:solidFill>
                <a:latin typeface="Calibri"/>
                <a:ea typeface="Calibri"/>
                <a:cs typeface="Calibri"/>
                <a:sym typeface="Calibri"/>
              </a:rPr>
              <a:t>HQ_ACME.COM</a:t>
            </a:r>
            <a:endParaRPr sz="1600">
              <a:latin typeface="Calibri"/>
              <a:ea typeface="Calibri"/>
              <a:cs typeface="Calibri"/>
              <a:sym typeface="Calibri"/>
            </a:endParaRPr>
          </a:p>
        </p:txBody>
      </p:sp>
      <p:sp>
        <p:nvSpPr>
          <p:cNvPr id="550" name="Google Shape;550;p45"/>
          <p:cNvSpPr txBox="1"/>
          <p:nvPr/>
        </p:nvSpPr>
        <p:spPr>
          <a:xfrm>
            <a:off x="6139284" y="4757716"/>
            <a:ext cx="454659"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FFFF00"/>
                </a:solidFill>
                <a:latin typeface="Calibri"/>
                <a:ea typeface="Calibri"/>
                <a:cs typeface="Calibri"/>
                <a:sym typeface="Calibri"/>
              </a:rPr>
              <a:t>Local</a:t>
            </a:r>
            <a:endParaRPr sz="1600">
              <a:latin typeface="Calibri"/>
              <a:ea typeface="Calibri"/>
              <a:cs typeface="Calibri"/>
              <a:sym typeface="Calibri"/>
            </a:endParaRPr>
          </a:p>
        </p:txBody>
      </p:sp>
      <p:sp>
        <p:nvSpPr>
          <p:cNvPr id="551" name="Google Shape;551;p45"/>
          <p:cNvSpPr txBox="1"/>
          <p:nvPr/>
        </p:nvSpPr>
        <p:spPr>
          <a:xfrm>
            <a:off x="7563195" y="4737244"/>
            <a:ext cx="68199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FFFF00"/>
                </a:solidFill>
                <a:latin typeface="Calibri"/>
                <a:ea typeface="Calibri"/>
                <a:cs typeface="Calibri"/>
                <a:sym typeface="Calibri"/>
              </a:rPr>
              <a:t>Remota</a:t>
            </a:r>
            <a:endParaRPr sz="1600">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id="556" name="Google Shape;556;p46"/>
          <p:cNvPicPr preferRelativeResize="0"/>
          <p:nvPr/>
        </p:nvPicPr>
        <p:blipFill rotWithShape="1">
          <a:blip r:embed="rId3">
            <a:alphaModFix/>
          </a:blip>
          <a:srcRect b="0" l="0" r="0" t="0"/>
          <a:stretch/>
        </p:blipFill>
        <p:spPr>
          <a:xfrm>
            <a:off x="4680203" y="4591811"/>
            <a:ext cx="3706367" cy="1142999"/>
          </a:xfrm>
          <a:prstGeom prst="rect">
            <a:avLst/>
          </a:prstGeom>
          <a:noFill/>
          <a:ln>
            <a:noFill/>
          </a:ln>
        </p:spPr>
      </p:pic>
      <p:sp>
        <p:nvSpPr>
          <p:cNvPr id="557" name="Google Shape;557;p46"/>
          <p:cNvSpPr txBox="1"/>
          <p:nvPr/>
        </p:nvSpPr>
        <p:spPr>
          <a:xfrm>
            <a:off x="4396713" y="5654916"/>
            <a:ext cx="1090295"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4E3629"/>
                </a:solidFill>
                <a:latin typeface="Courier New"/>
                <a:ea typeface="Courier New"/>
                <a:cs typeface="Courier New"/>
                <a:sym typeface="Courier New"/>
              </a:rPr>
              <a:t>scott_king</a:t>
            </a:r>
            <a:endParaRPr sz="1400">
              <a:latin typeface="Courier New"/>
              <a:ea typeface="Courier New"/>
              <a:cs typeface="Courier New"/>
              <a:sym typeface="Courier New"/>
            </a:endParaRPr>
          </a:p>
        </p:txBody>
      </p:sp>
      <p:sp>
        <p:nvSpPr>
          <p:cNvPr id="558" name="Google Shape;558;p46"/>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559" name="Google Shape;559;p4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560" name="Google Shape;560;p4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561" name="Google Shape;561;p46"/>
          <p:cNvSpPr txBox="1"/>
          <p:nvPr/>
        </p:nvSpPr>
        <p:spPr>
          <a:xfrm>
            <a:off x="5725821" y="5802198"/>
            <a:ext cx="1409065"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4E3629"/>
                </a:solidFill>
                <a:latin typeface="Courier New"/>
                <a:ea typeface="Courier New"/>
                <a:cs typeface="Courier New"/>
                <a:sym typeface="Courier New"/>
              </a:rPr>
              <a:t>SELECT * FROM</a:t>
            </a:r>
            <a:endParaRPr sz="1400">
              <a:latin typeface="Courier New"/>
              <a:ea typeface="Courier New"/>
              <a:cs typeface="Courier New"/>
              <a:sym typeface="Courier New"/>
            </a:endParaRPr>
          </a:p>
        </p:txBody>
      </p:sp>
      <p:sp>
        <p:nvSpPr>
          <p:cNvPr id="562" name="Google Shape;562;p46"/>
          <p:cNvSpPr txBox="1"/>
          <p:nvPr/>
        </p:nvSpPr>
        <p:spPr>
          <a:xfrm>
            <a:off x="5725821" y="6015633"/>
            <a:ext cx="1621155"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4E3629"/>
                </a:solidFill>
                <a:latin typeface="Courier New"/>
                <a:ea typeface="Courier New"/>
                <a:cs typeface="Courier New"/>
                <a:sym typeface="Courier New"/>
              </a:rPr>
              <a:t>emp@HQ_ACME.COM</a:t>
            </a:r>
            <a:endParaRPr sz="1400">
              <a:latin typeface="Courier New"/>
              <a:ea typeface="Courier New"/>
              <a:cs typeface="Courier New"/>
              <a:sym typeface="Courier New"/>
            </a:endParaRPr>
          </a:p>
        </p:txBody>
      </p:sp>
      <p:sp>
        <p:nvSpPr>
          <p:cNvPr id="563" name="Google Shape;563;p46"/>
          <p:cNvSpPr txBox="1"/>
          <p:nvPr/>
        </p:nvSpPr>
        <p:spPr>
          <a:xfrm>
            <a:off x="7217188" y="5655451"/>
            <a:ext cx="1409065"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4E3629"/>
                </a:solidFill>
                <a:latin typeface="Courier New"/>
                <a:ea typeface="Courier New"/>
                <a:cs typeface="Courier New"/>
                <a:sym typeface="Courier New"/>
              </a:rPr>
              <a:t>Base de datos</a:t>
            </a:r>
            <a:endParaRPr sz="1400">
              <a:latin typeface="Courier New"/>
              <a:ea typeface="Courier New"/>
              <a:cs typeface="Courier New"/>
              <a:sym typeface="Courier New"/>
            </a:endParaRPr>
          </a:p>
        </p:txBody>
      </p:sp>
      <p:sp>
        <p:nvSpPr>
          <p:cNvPr id="564" name="Google Shape;564;p46"/>
          <p:cNvSpPr txBox="1"/>
          <p:nvPr/>
        </p:nvSpPr>
        <p:spPr>
          <a:xfrm>
            <a:off x="7419925" y="5877979"/>
            <a:ext cx="1205865"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4E3629"/>
                </a:solidFill>
                <a:latin typeface="Calibri"/>
                <a:ea typeface="Calibri"/>
                <a:cs typeface="Calibri"/>
                <a:sym typeface="Calibri"/>
              </a:rPr>
              <a:t>HQ_ACME.COM</a:t>
            </a:r>
            <a:endParaRPr sz="1400">
              <a:latin typeface="Calibri"/>
              <a:ea typeface="Calibri"/>
              <a:cs typeface="Calibri"/>
              <a:sym typeface="Calibri"/>
            </a:endParaRPr>
          </a:p>
        </p:txBody>
      </p:sp>
      <p:sp>
        <p:nvSpPr>
          <p:cNvPr id="565" name="Google Shape;565;p46"/>
          <p:cNvSpPr txBox="1"/>
          <p:nvPr/>
        </p:nvSpPr>
        <p:spPr>
          <a:xfrm>
            <a:off x="6255402" y="4946197"/>
            <a:ext cx="454659"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FFFF00"/>
                </a:solidFill>
                <a:latin typeface="Calibri"/>
                <a:ea typeface="Calibri"/>
                <a:cs typeface="Calibri"/>
                <a:sym typeface="Calibri"/>
              </a:rPr>
              <a:t>Local</a:t>
            </a:r>
            <a:endParaRPr sz="1600">
              <a:latin typeface="Calibri"/>
              <a:ea typeface="Calibri"/>
              <a:cs typeface="Calibri"/>
              <a:sym typeface="Calibri"/>
            </a:endParaRPr>
          </a:p>
        </p:txBody>
      </p:sp>
      <p:sp>
        <p:nvSpPr>
          <p:cNvPr id="566" name="Google Shape;566;p46"/>
          <p:cNvSpPr txBox="1"/>
          <p:nvPr/>
        </p:nvSpPr>
        <p:spPr>
          <a:xfrm>
            <a:off x="7679314" y="4925726"/>
            <a:ext cx="68199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FFFF00"/>
                </a:solidFill>
                <a:latin typeface="Calibri"/>
                <a:ea typeface="Calibri"/>
                <a:cs typeface="Calibri"/>
                <a:sym typeface="Calibri"/>
              </a:rPr>
              <a:t>Remota</a:t>
            </a:r>
            <a:endParaRPr sz="1600">
              <a:latin typeface="Calibri"/>
              <a:ea typeface="Calibri"/>
              <a:cs typeface="Calibri"/>
              <a:sym typeface="Calibri"/>
            </a:endParaRPr>
          </a:p>
        </p:txBody>
      </p:sp>
      <p:sp>
        <p:nvSpPr>
          <p:cNvPr id="567" name="Google Shape;567;p46"/>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Enlaces de Base de Datos</a:t>
            </a:r>
            <a:endParaRPr/>
          </a:p>
        </p:txBody>
      </p:sp>
      <p:sp>
        <p:nvSpPr>
          <p:cNvPr id="568" name="Google Shape;568;p46"/>
          <p:cNvSpPr txBox="1"/>
          <p:nvPr/>
        </p:nvSpPr>
        <p:spPr>
          <a:xfrm>
            <a:off x="483552" y="1415417"/>
            <a:ext cx="8084820" cy="3344545"/>
          </a:xfrm>
          <a:prstGeom prst="rect">
            <a:avLst/>
          </a:prstGeom>
          <a:noFill/>
          <a:ln>
            <a:noFill/>
          </a:ln>
        </p:spPr>
        <p:txBody>
          <a:bodyPr anchorCtr="0" anchor="t" bIns="0" lIns="0" spcFirstLastPara="1" rIns="0" wrap="square" tIns="59675">
            <a:spAutoFit/>
          </a:bodyPr>
          <a:lstStyle/>
          <a:p>
            <a:pPr indent="-177800" lvl="0" marL="182880"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CREATE DATABASE LINK: en Oracle Application Express, 	no hay una conexión constante a la base de datos y, en 	consecuencia, esta función no está disponible</a:t>
            </a:r>
            <a:endParaRPr sz="2800">
              <a:latin typeface="Calibri"/>
              <a:ea typeface="Calibri"/>
              <a:cs typeface="Calibri"/>
              <a:sym typeface="Calibri"/>
            </a:endParaRPr>
          </a:p>
          <a:p>
            <a:pPr indent="-177800" lvl="0" marL="182880" marR="7810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los usuarios locales de la base de datos B desean 	acceder a los datos de la base de datos A, deben 	definir un enlace que se almacena en el diccionario de 	datos de la base de datos B</a:t>
            </a:r>
            <a:endParaRPr sz="2800">
              <a:latin typeface="Calibri"/>
              <a:ea typeface="Calibri"/>
              <a:cs typeface="Calibri"/>
              <a:sym typeface="Calibri"/>
            </a:endParaRPr>
          </a:p>
          <a:p>
            <a:pPr indent="-177800" lvl="0" marL="183515"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conexión de enlace de base de datos proporciona</a:t>
            </a:r>
            <a:endParaRPr sz="2800">
              <a:latin typeface="Calibri"/>
              <a:ea typeface="Calibri"/>
              <a:cs typeface="Calibri"/>
              <a:sym typeface="Calibri"/>
            </a:endParaRPr>
          </a:p>
        </p:txBody>
      </p:sp>
      <p:sp>
        <p:nvSpPr>
          <p:cNvPr id="569" name="Google Shape;569;p46"/>
          <p:cNvSpPr txBox="1"/>
          <p:nvPr/>
        </p:nvSpPr>
        <p:spPr>
          <a:xfrm>
            <a:off x="655764" y="4692017"/>
            <a:ext cx="4101465" cy="835660"/>
          </a:xfrm>
          <a:prstGeom prst="rect">
            <a:avLst/>
          </a:prstGeom>
          <a:noFill/>
          <a:ln>
            <a:noFill/>
          </a:ln>
        </p:spPr>
        <p:txBody>
          <a:bodyPr anchorCtr="0" anchor="t" bIns="0" lIns="0" spcFirstLastPara="1" rIns="0" wrap="square" tIns="60950">
            <a:spAutoFit/>
          </a:bodyPr>
          <a:lstStyle/>
          <a:p>
            <a:pPr indent="0" lvl="0" marL="12700" marR="5080" rtl="0" algn="l">
              <a:lnSpc>
                <a:spcPct val="107857"/>
              </a:lnSpc>
              <a:spcBef>
                <a:spcPts val="0"/>
              </a:spcBef>
              <a:spcAft>
                <a:spcPts val="0"/>
              </a:spcAft>
              <a:buNone/>
            </a:pPr>
            <a:r>
              <a:rPr lang="en-US" sz="2800">
                <a:solidFill>
                  <a:srgbClr val="4E3629"/>
                </a:solidFill>
                <a:latin typeface="Calibri"/>
                <a:ea typeface="Calibri"/>
                <a:cs typeface="Calibri"/>
                <a:sym typeface="Calibri"/>
              </a:rPr>
              <a:t>a los usuarios locales acceso a los datos en una base</a:t>
            </a:r>
            <a:endParaRPr sz="2800">
              <a:latin typeface="Calibri"/>
              <a:ea typeface="Calibri"/>
              <a:cs typeface="Calibri"/>
              <a:sym typeface="Calibri"/>
            </a:endParaRPr>
          </a:p>
        </p:txBody>
      </p:sp>
      <p:sp>
        <p:nvSpPr>
          <p:cNvPr id="570" name="Google Shape;570;p46"/>
          <p:cNvSpPr txBox="1"/>
          <p:nvPr/>
        </p:nvSpPr>
        <p:spPr>
          <a:xfrm>
            <a:off x="655764" y="5460113"/>
            <a:ext cx="239776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solidFill>
                  <a:srgbClr val="4E3629"/>
                </a:solidFill>
                <a:latin typeface="Calibri"/>
                <a:ea typeface="Calibri"/>
                <a:cs typeface="Calibri"/>
                <a:sym typeface="Calibri"/>
              </a:rPr>
              <a:t>de datos remota</a:t>
            </a:r>
            <a:endParaRPr sz="2800">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7"/>
          <p:cNvSpPr txBox="1"/>
          <p:nvPr/>
        </p:nvSpPr>
        <p:spPr>
          <a:xfrm>
            <a:off x="483552" y="1415417"/>
            <a:ext cx="8131809" cy="44970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que se produzca esta conexión, cada base de 	datos del sistema distribuido debe tener un nombre de 	base de datos global único</a:t>
            </a:r>
            <a:endParaRPr sz="2800">
              <a:latin typeface="Calibri"/>
              <a:ea typeface="Calibri"/>
              <a:cs typeface="Calibri"/>
              <a:sym typeface="Calibri"/>
            </a:endParaRPr>
          </a:p>
          <a:p>
            <a:pPr indent="-177800" lvl="0" marL="182880" marR="18034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nombre de base de datos global identifica de forma 	única un servidor de base de datos en un sistema 	distribuido</a:t>
            </a:r>
            <a:endParaRPr sz="2800">
              <a:latin typeface="Calibri"/>
              <a:ea typeface="Calibri"/>
              <a:cs typeface="Calibri"/>
              <a:sym typeface="Calibri"/>
            </a:endParaRPr>
          </a:p>
          <a:p>
            <a:pPr indent="-177800" lvl="0" marL="182880" marR="7810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gran ventaja de los enlaces de base de datos es que 	permiten a los usuarios acceder a objetos de otros 	usuarios en una base de datos remota, para que estén 	limitados por el juego de privilegios del propietario del 	objeto</a:t>
            </a:r>
            <a:endParaRPr sz="2800">
              <a:latin typeface="Calibri"/>
              <a:ea typeface="Calibri"/>
              <a:cs typeface="Calibri"/>
              <a:sym typeface="Calibri"/>
            </a:endParaRPr>
          </a:p>
        </p:txBody>
      </p:sp>
      <p:sp>
        <p:nvSpPr>
          <p:cNvPr id="576" name="Google Shape;576;p47"/>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577" name="Google Shape;577;p4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578" name="Google Shape;578;p4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579" name="Google Shape;579;p47"/>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Enlaces de Base de Datos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8"/>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Enlaces de Base de Datos</a:t>
            </a:r>
            <a:endParaRPr/>
          </a:p>
        </p:txBody>
      </p:sp>
      <p:sp>
        <p:nvSpPr>
          <p:cNvPr id="585" name="Google Shape;585;p48"/>
          <p:cNvSpPr txBox="1"/>
          <p:nvPr/>
        </p:nvSpPr>
        <p:spPr>
          <a:xfrm>
            <a:off x="483552" y="1415417"/>
            <a:ext cx="8015605" cy="33445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decir, un usuario local puede acceder a una base de 	datos remota sin tener que ser un usuario en la base 	de datos remota</a:t>
            </a:r>
            <a:endParaRPr sz="2800">
              <a:latin typeface="Calibri"/>
              <a:ea typeface="Calibri"/>
              <a:cs typeface="Calibri"/>
              <a:sym typeface="Calibri"/>
            </a:endParaRPr>
          </a:p>
          <a:p>
            <a:pPr indent="-177800" lvl="0" marL="182880" marR="9588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aparece un usuario scott_king que 	accede a la tabla EMP en la base de datos remota con 	el nombre global HQ.ACME.COM</a:t>
            </a:r>
            <a:endParaRPr sz="2800">
              <a:latin typeface="Calibri"/>
              <a:ea typeface="Calibri"/>
              <a:cs typeface="Calibri"/>
              <a:sym typeface="Calibri"/>
            </a:endParaRPr>
          </a:p>
          <a:p>
            <a:pPr indent="-177800" lvl="0" marL="182880" marR="16510" rtl="0" algn="l">
              <a:lnSpc>
                <a:spcPct val="107857"/>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Normalmente, el administrador de base de datos es el 	responsable de crear</a:t>
            </a:r>
            <a:endParaRPr sz="2800">
              <a:latin typeface="Calibri"/>
              <a:ea typeface="Calibri"/>
              <a:cs typeface="Calibri"/>
              <a:sym typeface="Calibri"/>
            </a:endParaRPr>
          </a:p>
        </p:txBody>
      </p:sp>
      <p:sp>
        <p:nvSpPr>
          <p:cNvPr id="586" name="Google Shape;586;p48"/>
          <p:cNvSpPr txBox="1"/>
          <p:nvPr/>
        </p:nvSpPr>
        <p:spPr>
          <a:xfrm>
            <a:off x="655764" y="4692017"/>
            <a:ext cx="2833370" cy="835660"/>
          </a:xfrm>
          <a:prstGeom prst="rect">
            <a:avLst/>
          </a:prstGeom>
          <a:noFill/>
          <a:ln>
            <a:noFill/>
          </a:ln>
        </p:spPr>
        <p:txBody>
          <a:bodyPr anchorCtr="0" anchor="t" bIns="0" lIns="0" spcFirstLastPara="1" rIns="0" wrap="square" tIns="60950">
            <a:spAutoFit/>
          </a:bodyPr>
          <a:lstStyle/>
          <a:p>
            <a:pPr indent="0" lvl="0" marL="12700" marR="5080" rtl="0" algn="l">
              <a:lnSpc>
                <a:spcPct val="107857"/>
              </a:lnSpc>
              <a:spcBef>
                <a:spcPts val="0"/>
              </a:spcBef>
              <a:spcAft>
                <a:spcPts val="0"/>
              </a:spcAft>
              <a:buNone/>
            </a:pPr>
            <a:r>
              <a:rPr lang="en-US" sz="2800">
                <a:solidFill>
                  <a:srgbClr val="4E3629"/>
                </a:solidFill>
                <a:latin typeface="Calibri"/>
                <a:ea typeface="Calibri"/>
                <a:cs typeface="Calibri"/>
                <a:sym typeface="Calibri"/>
              </a:rPr>
              <a:t>el enlace de la base de datos</a:t>
            </a:r>
            <a:endParaRPr sz="2800">
              <a:latin typeface="Calibri"/>
              <a:ea typeface="Calibri"/>
              <a:cs typeface="Calibri"/>
              <a:sym typeface="Calibri"/>
            </a:endParaRPr>
          </a:p>
        </p:txBody>
      </p:sp>
      <p:pic>
        <p:nvPicPr>
          <p:cNvPr id="587" name="Google Shape;587;p48"/>
          <p:cNvPicPr preferRelativeResize="0"/>
          <p:nvPr/>
        </p:nvPicPr>
        <p:blipFill rotWithShape="1">
          <a:blip r:embed="rId3">
            <a:alphaModFix/>
          </a:blip>
          <a:srcRect b="0" l="0" r="0" t="0"/>
          <a:stretch/>
        </p:blipFill>
        <p:spPr>
          <a:xfrm>
            <a:off x="4564379" y="4402836"/>
            <a:ext cx="3704843" cy="1142999"/>
          </a:xfrm>
          <a:prstGeom prst="rect">
            <a:avLst/>
          </a:prstGeom>
          <a:noFill/>
          <a:ln>
            <a:noFill/>
          </a:ln>
        </p:spPr>
      </p:pic>
      <p:sp>
        <p:nvSpPr>
          <p:cNvPr id="588" name="Google Shape;588;p48"/>
          <p:cNvSpPr txBox="1"/>
          <p:nvPr/>
        </p:nvSpPr>
        <p:spPr>
          <a:xfrm>
            <a:off x="6139284" y="4757716"/>
            <a:ext cx="454659"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FFFF00"/>
                </a:solidFill>
                <a:latin typeface="Calibri"/>
                <a:ea typeface="Calibri"/>
                <a:cs typeface="Calibri"/>
                <a:sym typeface="Calibri"/>
              </a:rPr>
              <a:t>Local</a:t>
            </a:r>
            <a:endParaRPr sz="1600">
              <a:latin typeface="Calibri"/>
              <a:ea typeface="Calibri"/>
              <a:cs typeface="Calibri"/>
              <a:sym typeface="Calibri"/>
            </a:endParaRPr>
          </a:p>
        </p:txBody>
      </p:sp>
      <p:sp>
        <p:nvSpPr>
          <p:cNvPr id="589" name="Google Shape;589;p48"/>
          <p:cNvSpPr txBox="1"/>
          <p:nvPr/>
        </p:nvSpPr>
        <p:spPr>
          <a:xfrm>
            <a:off x="4280598" y="5498652"/>
            <a:ext cx="1245235" cy="255270"/>
          </a:xfrm>
          <a:prstGeom prst="rect">
            <a:avLst/>
          </a:prstGeom>
          <a:noFill/>
          <a:ln>
            <a:noFill/>
          </a:ln>
        </p:spPr>
        <p:txBody>
          <a:bodyPr anchorCtr="0" anchor="t" bIns="0" lIns="0" spcFirstLastPara="1" rIns="0" wrap="square" tIns="0">
            <a:spAutoFit/>
          </a:bodyPr>
          <a:lstStyle/>
          <a:p>
            <a:pPr indent="0" lvl="0" marL="12700" rtl="0" algn="l">
              <a:lnSpc>
                <a:spcPct val="109375"/>
              </a:lnSpc>
              <a:spcBef>
                <a:spcPts val="0"/>
              </a:spcBef>
              <a:spcAft>
                <a:spcPts val="0"/>
              </a:spcAft>
              <a:buNone/>
            </a:pPr>
            <a:r>
              <a:rPr b="1" lang="en-US" sz="1600">
                <a:solidFill>
                  <a:srgbClr val="4E3629"/>
                </a:solidFill>
                <a:latin typeface="Courier New"/>
                <a:ea typeface="Courier New"/>
                <a:cs typeface="Courier New"/>
                <a:sym typeface="Courier New"/>
              </a:rPr>
              <a:t>scott_king</a:t>
            </a:r>
            <a:endParaRPr sz="1600">
              <a:latin typeface="Courier New"/>
              <a:ea typeface="Courier New"/>
              <a:cs typeface="Courier New"/>
              <a:sym typeface="Courier New"/>
            </a:endParaRPr>
          </a:p>
        </p:txBody>
      </p:sp>
      <p:sp>
        <p:nvSpPr>
          <p:cNvPr id="590" name="Google Shape;590;p48"/>
          <p:cNvSpPr txBox="1"/>
          <p:nvPr/>
        </p:nvSpPr>
        <p:spPr>
          <a:xfrm>
            <a:off x="7124164" y="5511625"/>
            <a:ext cx="1614170" cy="499745"/>
          </a:xfrm>
          <a:prstGeom prst="rect">
            <a:avLst/>
          </a:prstGeom>
          <a:noFill/>
          <a:ln>
            <a:noFill/>
          </a:ln>
        </p:spPr>
        <p:txBody>
          <a:bodyPr anchorCtr="0" anchor="t" bIns="0" lIns="0" spcFirstLastPara="1" rIns="0" wrap="square" tIns="0">
            <a:spAutoFit/>
          </a:bodyPr>
          <a:lstStyle/>
          <a:p>
            <a:pPr indent="0" lvl="0" marL="12700" rtl="0" algn="l">
              <a:lnSpc>
                <a:spcPct val="109375"/>
              </a:lnSpc>
              <a:spcBef>
                <a:spcPts val="0"/>
              </a:spcBef>
              <a:spcAft>
                <a:spcPts val="0"/>
              </a:spcAft>
              <a:buNone/>
            </a:pPr>
            <a:r>
              <a:rPr b="1" lang="en-US" sz="1600">
                <a:solidFill>
                  <a:srgbClr val="4E3629"/>
                </a:solidFill>
                <a:latin typeface="Courier New"/>
                <a:ea typeface="Courier New"/>
                <a:cs typeface="Courier New"/>
                <a:sym typeface="Courier New"/>
              </a:rPr>
              <a:t>Base de datos</a:t>
            </a:r>
            <a:endParaRPr sz="1600">
              <a:latin typeface="Courier New"/>
              <a:ea typeface="Courier New"/>
              <a:cs typeface="Courier New"/>
              <a:sym typeface="Courier New"/>
            </a:endParaRPr>
          </a:p>
          <a:p>
            <a:pPr indent="0" lvl="0" marL="259079" rtl="0" algn="l">
              <a:lnSpc>
                <a:spcPct val="100000"/>
              </a:lnSpc>
              <a:spcBef>
                <a:spcPts val="85"/>
              </a:spcBef>
              <a:spcAft>
                <a:spcPts val="0"/>
              </a:spcAft>
              <a:buNone/>
            </a:pPr>
            <a:r>
              <a:rPr b="1" lang="en-US" sz="1600">
                <a:solidFill>
                  <a:srgbClr val="4E3629"/>
                </a:solidFill>
                <a:latin typeface="Calibri"/>
                <a:ea typeface="Calibri"/>
                <a:cs typeface="Calibri"/>
                <a:sym typeface="Calibri"/>
              </a:rPr>
              <a:t>HQ_ACME.COM</a:t>
            </a:r>
            <a:endParaRPr sz="1600">
              <a:latin typeface="Calibri"/>
              <a:ea typeface="Calibri"/>
              <a:cs typeface="Calibri"/>
              <a:sym typeface="Calibri"/>
            </a:endParaRPr>
          </a:p>
        </p:txBody>
      </p:sp>
      <p:sp>
        <p:nvSpPr>
          <p:cNvPr id="591" name="Google Shape;591;p48"/>
          <p:cNvSpPr txBox="1"/>
          <p:nvPr/>
        </p:nvSpPr>
        <p:spPr>
          <a:xfrm>
            <a:off x="5512965" y="5903428"/>
            <a:ext cx="1612265" cy="255270"/>
          </a:xfrm>
          <a:prstGeom prst="rect">
            <a:avLst/>
          </a:prstGeom>
          <a:noFill/>
          <a:ln>
            <a:noFill/>
          </a:ln>
        </p:spPr>
        <p:txBody>
          <a:bodyPr anchorCtr="0" anchor="t" bIns="0" lIns="0" spcFirstLastPara="1" rIns="0" wrap="square" tIns="0">
            <a:spAutoFit/>
          </a:bodyPr>
          <a:lstStyle/>
          <a:p>
            <a:pPr indent="0" lvl="0" marL="12700" rtl="0" algn="l">
              <a:lnSpc>
                <a:spcPct val="109375"/>
              </a:lnSpc>
              <a:spcBef>
                <a:spcPts val="0"/>
              </a:spcBef>
              <a:spcAft>
                <a:spcPts val="0"/>
              </a:spcAft>
              <a:buNone/>
            </a:pPr>
            <a:r>
              <a:rPr b="1" lang="en-US" sz="1600">
                <a:solidFill>
                  <a:srgbClr val="4E3629"/>
                </a:solidFill>
                <a:latin typeface="Courier New"/>
                <a:ea typeface="Courier New"/>
                <a:cs typeface="Courier New"/>
                <a:sym typeface="Courier New"/>
              </a:rPr>
              <a:t>SELECT * FROM</a:t>
            </a:r>
            <a:endParaRPr sz="1600">
              <a:latin typeface="Courier New"/>
              <a:ea typeface="Courier New"/>
              <a:cs typeface="Courier New"/>
              <a:sym typeface="Courier New"/>
            </a:endParaRPr>
          </a:p>
        </p:txBody>
      </p:sp>
      <p:sp>
        <p:nvSpPr>
          <p:cNvPr id="592" name="Google Shape;592;p48"/>
          <p:cNvSpPr txBox="1"/>
          <p:nvPr/>
        </p:nvSpPr>
        <p:spPr>
          <a:xfrm>
            <a:off x="5512965" y="6147267"/>
            <a:ext cx="1856105" cy="255270"/>
          </a:xfrm>
          <a:prstGeom prst="rect">
            <a:avLst/>
          </a:prstGeom>
          <a:noFill/>
          <a:ln>
            <a:noFill/>
          </a:ln>
        </p:spPr>
        <p:txBody>
          <a:bodyPr anchorCtr="0" anchor="t" bIns="0" lIns="0" spcFirstLastPara="1" rIns="0" wrap="square" tIns="0">
            <a:spAutoFit/>
          </a:bodyPr>
          <a:lstStyle/>
          <a:p>
            <a:pPr indent="0" lvl="0" marL="12700" rtl="0" algn="l">
              <a:lnSpc>
                <a:spcPct val="109375"/>
              </a:lnSpc>
              <a:spcBef>
                <a:spcPts val="0"/>
              </a:spcBef>
              <a:spcAft>
                <a:spcPts val="0"/>
              </a:spcAft>
              <a:buNone/>
            </a:pPr>
            <a:r>
              <a:rPr b="1" lang="en-US" sz="1600">
                <a:solidFill>
                  <a:srgbClr val="4E3629"/>
                </a:solidFill>
                <a:latin typeface="Courier New"/>
                <a:ea typeface="Courier New"/>
                <a:cs typeface="Courier New"/>
                <a:sym typeface="Courier New"/>
              </a:rPr>
              <a:t>emp@HQ_ACME.COM</a:t>
            </a:r>
            <a:endParaRPr sz="1600">
              <a:latin typeface="Courier New"/>
              <a:ea typeface="Courier New"/>
              <a:cs typeface="Courier New"/>
              <a:sym typeface="Courier New"/>
            </a:endParaRPr>
          </a:p>
        </p:txBody>
      </p:sp>
      <p:sp>
        <p:nvSpPr>
          <p:cNvPr id="593" name="Google Shape;593;p48"/>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594" name="Google Shape;594;p4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595" name="Google Shape;595;p4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596" name="Google Shape;596;p48"/>
          <p:cNvSpPr txBox="1"/>
          <p:nvPr/>
        </p:nvSpPr>
        <p:spPr>
          <a:xfrm>
            <a:off x="7563195" y="4737244"/>
            <a:ext cx="68199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FFFF00"/>
                </a:solidFill>
                <a:latin typeface="Calibri"/>
                <a:ea typeface="Calibri"/>
                <a:cs typeface="Calibri"/>
                <a:sym typeface="Calibri"/>
              </a:rPr>
              <a:t>Remota</a:t>
            </a:r>
            <a:endParaRPr sz="1600">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49"/>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Enlaces de Base de Datos</a:t>
            </a:r>
            <a:endParaRPr/>
          </a:p>
        </p:txBody>
      </p:sp>
      <p:sp>
        <p:nvSpPr>
          <p:cNvPr id="602" name="Google Shape;602;p49"/>
          <p:cNvSpPr txBox="1"/>
          <p:nvPr/>
        </p:nvSpPr>
        <p:spPr>
          <a:xfrm>
            <a:off x="483552" y="1415417"/>
            <a:ext cx="8180070" cy="33445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vista del diccionario USER_DB_LINKS contiene 	información sobre los enlaces a los que tiene acceso un 	usuario</a:t>
            </a:r>
            <a:endParaRPr sz="2800">
              <a:latin typeface="Calibri"/>
              <a:ea typeface="Calibri"/>
              <a:cs typeface="Calibri"/>
              <a:sym typeface="Calibri"/>
            </a:endParaRPr>
          </a:p>
          <a:p>
            <a:pPr indent="-177800" lvl="0" marL="182880" marR="13398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vez que se ha creado el enlace de base de datos, 	puede escribir sentencias SQL para los datos en el sitio 	remoto</a:t>
            </a:r>
            <a:endParaRPr sz="2800">
              <a:latin typeface="Calibri"/>
              <a:ea typeface="Calibri"/>
              <a:cs typeface="Calibri"/>
              <a:sym typeface="Calibri"/>
            </a:endParaRPr>
          </a:p>
          <a:p>
            <a:pPr indent="-177800" lvl="0" marL="182880" marR="22161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se configura un sinónimo, puede escribir sentencias 	SQL mediante el sinónimo</a:t>
            </a:r>
            <a:endParaRPr sz="2800">
              <a:latin typeface="Calibri"/>
              <a:ea typeface="Calibri"/>
              <a:cs typeface="Calibri"/>
              <a:sym typeface="Calibri"/>
            </a:endParaRPr>
          </a:p>
        </p:txBody>
      </p:sp>
      <p:pic>
        <p:nvPicPr>
          <p:cNvPr id="603" name="Google Shape;603;p49"/>
          <p:cNvPicPr preferRelativeResize="0"/>
          <p:nvPr/>
        </p:nvPicPr>
        <p:blipFill rotWithShape="1">
          <a:blip r:embed="rId3">
            <a:alphaModFix/>
          </a:blip>
          <a:srcRect b="0" l="0" r="0" t="0"/>
          <a:stretch/>
        </p:blipFill>
        <p:spPr>
          <a:xfrm>
            <a:off x="4564379" y="4402836"/>
            <a:ext cx="3704843" cy="1142999"/>
          </a:xfrm>
          <a:prstGeom prst="rect">
            <a:avLst/>
          </a:prstGeom>
          <a:noFill/>
          <a:ln>
            <a:noFill/>
          </a:ln>
        </p:spPr>
      </p:pic>
      <p:sp>
        <p:nvSpPr>
          <p:cNvPr id="604" name="Google Shape;604;p49"/>
          <p:cNvSpPr txBox="1"/>
          <p:nvPr/>
        </p:nvSpPr>
        <p:spPr>
          <a:xfrm>
            <a:off x="6139284" y="4757716"/>
            <a:ext cx="454659"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FFFF00"/>
                </a:solidFill>
                <a:latin typeface="Calibri"/>
                <a:ea typeface="Calibri"/>
                <a:cs typeface="Calibri"/>
                <a:sym typeface="Calibri"/>
              </a:rPr>
              <a:t>Local</a:t>
            </a:r>
            <a:endParaRPr sz="1600">
              <a:latin typeface="Calibri"/>
              <a:ea typeface="Calibri"/>
              <a:cs typeface="Calibri"/>
              <a:sym typeface="Calibri"/>
            </a:endParaRPr>
          </a:p>
        </p:txBody>
      </p:sp>
      <p:sp>
        <p:nvSpPr>
          <p:cNvPr id="605" name="Google Shape;605;p49"/>
          <p:cNvSpPr txBox="1"/>
          <p:nvPr/>
        </p:nvSpPr>
        <p:spPr>
          <a:xfrm>
            <a:off x="4280598" y="5498652"/>
            <a:ext cx="1245235" cy="255270"/>
          </a:xfrm>
          <a:prstGeom prst="rect">
            <a:avLst/>
          </a:prstGeom>
          <a:noFill/>
          <a:ln>
            <a:noFill/>
          </a:ln>
        </p:spPr>
        <p:txBody>
          <a:bodyPr anchorCtr="0" anchor="t" bIns="0" lIns="0" spcFirstLastPara="1" rIns="0" wrap="square" tIns="0">
            <a:spAutoFit/>
          </a:bodyPr>
          <a:lstStyle/>
          <a:p>
            <a:pPr indent="0" lvl="0" marL="12700" rtl="0" algn="l">
              <a:lnSpc>
                <a:spcPct val="109375"/>
              </a:lnSpc>
              <a:spcBef>
                <a:spcPts val="0"/>
              </a:spcBef>
              <a:spcAft>
                <a:spcPts val="0"/>
              </a:spcAft>
              <a:buNone/>
            </a:pPr>
            <a:r>
              <a:rPr b="1" lang="en-US" sz="1600">
                <a:solidFill>
                  <a:srgbClr val="4E3629"/>
                </a:solidFill>
                <a:latin typeface="Courier New"/>
                <a:ea typeface="Courier New"/>
                <a:cs typeface="Courier New"/>
                <a:sym typeface="Courier New"/>
              </a:rPr>
              <a:t>scott_king</a:t>
            </a:r>
            <a:endParaRPr sz="1600">
              <a:latin typeface="Courier New"/>
              <a:ea typeface="Courier New"/>
              <a:cs typeface="Courier New"/>
              <a:sym typeface="Courier New"/>
            </a:endParaRPr>
          </a:p>
        </p:txBody>
      </p:sp>
      <p:sp>
        <p:nvSpPr>
          <p:cNvPr id="606" name="Google Shape;606;p49"/>
          <p:cNvSpPr txBox="1"/>
          <p:nvPr/>
        </p:nvSpPr>
        <p:spPr>
          <a:xfrm>
            <a:off x="7124164" y="5511625"/>
            <a:ext cx="1614170" cy="499745"/>
          </a:xfrm>
          <a:prstGeom prst="rect">
            <a:avLst/>
          </a:prstGeom>
          <a:noFill/>
          <a:ln>
            <a:noFill/>
          </a:ln>
        </p:spPr>
        <p:txBody>
          <a:bodyPr anchorCtr="0" anchor="t" bIns="0" lIns="0" spcFirstLastPara="1" rIns="0" wrap="square" tIns="0">
            <a:spAutoFit/>
          </a:bodyPr>
          <a:lstStyle/>
          <a:p>
            <a:pPr indent="0" lvl="0" marL="12700" rtl="0" algn="l">
              <a:lnSpc>
                <a:spcPct val="109375"/>
              </a:lnSpc>
              <a:spcBef>
                <a:spcPts val="0"/>
              </a:spcBef>
              <a:spcAft>
                <a:spcPts val="0"/>
              </a:spcAft>
              <a:buNone/>
            </a:pPr>
            <a:r>
              <a:rPr b="1" lang="en-US" sz="1600">
                <a:solidFill>
                  <a:srgbClr val="4E3629"/>
                </a:solidFill>
                <a:latin typeface="Courier New"/>
                <a:ea typeface="Courier New"/>
                <a:cs typeface="Courier New"/>
                <a:sym typeface="Courier New"/>
              </a:rPr>
              <a:t>Base de datos</a:t>
            </a:r>
            <a:endParaRPr sz="1600">
              <a:latin typeface="Courier New"/>
              <a:ea typeface="Courier New"/>
              <a:cs typeface="Courier New"/>
              <a:sym typeface="Courier New"/>
            </a:endParaRPr>
          </a:p>
          <a:p>
            <a:pPr indent="0" lvl="0" marL="259079" rtl="0" algn="l">
              <a:lnSpc>
                <a:spcPct val="100000"/>
              </a:lnSpc>
              <a:spcBef>
                <a:spcPts val="85"/>
              </a:spcBef>
              <a:spcAft>
                <a:spcPts val="0"/>
              </a:spcAft>
              <a:buNone/>
            </a:pPr>
            <a:r>
              <a:rPr b="1" lang="en-US" sz="1600">
                <a:solidFill>
                  <a:srgbClr val="4E3629"/>
                </a:solidFill>
                <a:latin typeface="Calibri"/>
                <a:ea typeface="Calibri"/>
                <a:cs typeface="Calibri"/>
                <a:sym typeface="Calibri"/>
              </a:rPr>
              <a:t>HQ_ACME.COM</a:t>
            </a:r>
            <a:endParaRPr sz="1600">
              <a:latin typeface="Calibri"/>
              <a:ea typeface="Calibri"/>
              <a:cs typeface="Calibri"/>
              <a:sym typeface="Calibri"/>
            </a:endParaRPr>
          </a:p>
        </p:txBody>
      </p:sp>
      <p:sp>
        <p:nvSpPr>
          <p:cNvPr id="607" name="Google Shape;607;p49"/>
          <p:cNvSpPr txBox="1"/>
          <p:nvPr/>
        </p:nvSpPr>
        <p:spPr>
          <a:xfrm>
            <a:off x="5512965" y="5903428"/>
            <a:ext cx="1612265" cy="255270"/>
          </a:xfrm>
          <a:prstGeom prst="rect">
            <a:avLst/>
          </a:prstGeom>
          <a:noFill/>
          <a:ln>
            <a:noFill/>
          </a:ln>
        </p:spPr>
        <p:txBody>
          <a:bodyPr anchorCtr="0" anchor="t" bIns="0" lIns="0" spcFirstLastPara="1" rIns="0" wrap="square" tIns="0">
            <a:spAutoFit/>
          </a:bodyPr>
          <a:lstStyle/>
          <a:p>
            <a:pPr indent="0" lvl="0" marL="12700" rtl="0" algn="l">
              <a:lnSpc>
                <a:spcPct val="109375"/>
              </a:lnSpc>
              <a:spcBef>
                <a:spcPts val="0"/>
              </a:spcBef>
              <a:spcAft>
                <a:spcPts val="0"/>
              </a:spcAft>
              <a:buNone/>
            </a:pPr>
            <a:r>
              <a:rPr b="1" lang="en-US" sz="1600">
                <a:solidFill>
                  <a:srgbClr val="4E3629"/>
                </a:solidFill>
                <a:latin typeface="Courier New"/>
                <a:ea typeface="Courier New"/>
                <a:cs typeface="Courier New"/>
                <a:sym typeface="Courier New"/>
              </a:rPr>
              <a:t>SELECT * FROM</a:t>
            </a:r>
            <a:endParaRPr sz="1600">
              <a:latin typeface="Courier New"/>
              <a:ea typeface="Courier New"/>
              <a:cs typeface="Courier New"/>
              <a:sym typeface="Courier New"/>
            </a:endParaRPr>
          </a:p>
        </p:txBody>
      </p:sp>
      <p:sp>
        <p:nvSpPr>
          <p:cNvPr id="608" name="Google Shape;608;p49"/>
          <p:cNvSpPr txBox="1"/>
          <p:nvPr/>
        </p:nvSpPr>
        <p:spPr>
          <a:xfrm>
            <a:off x="5512965" y="6147267"/>
            <a:ext cx="1856105" cy="255270"/>
          </a:xfrm>
          <a:prstGeom prst="rect">
            <a:avLst/>
          </a:prstGeom>
          <a:noFill/>
          <a:ln>
            <a:noFill/>
          </a:ln>
        </p:spPr>
        <p:txBody>
          <a:bodyPr anchorCtr="0" anchor="t" bIns="0" lIns="0" spcFirstLastPara="1" rIns="0" wrap="square" tIns="0">
            <a:spAutoFit/>
          </a:bodyPr>
          <a:lstStyle/>
          <a:p>
            <a:pPr indent="0" lvl="0" marL="12700" rtl="0" algn="l">
              <a:lnSpc>
                <a:spcPct val="109375"/>
              </a:lnSpc>
              <a:spcBef>
                <a:spcPts val="0"/>
              </a:spcBef>
              <a:spcAft>
                <a:spcPts val="0"/>
              </a:spcAft>
              <a:buNone/>
            </a:pPr>
            <a:r>
              <a:rPr b="1" lang="en-US" sz="1600">
                <a:solidFill>
                  <a:srgbClr val="4E3629"/>
                </a:solidFill>
                <a:latin typeface="Courier New"/>
                <a:ea typeface="Courier New"/>
                <a:cs typeface="Courier New"/>
                <a:sym typeface="Courier New"/>
              </a:rPr>
              <a:t>emp@HQ_ACME.COM</a:t>
            </a:r>
            <a:endParaRPr sz="1600">
              <a:latin typeface="Courier New"/>
              <a:ea typeface="Courier New"/>
              <a:cs typeface="Courier New"/>
              <a:sym typeface="Courier New"/>
            </a:endParaRPr>
          </a:p>
        </p:txBody>
      </p:sp>
      <p:sp>
        <p:nvSpPr>
          <p:cNvPr id="609" name="Google Shape;609;p49"/>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610" name="Google Shape;610;p4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611" name="Google Shape;611;p4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612" name="Google Shape;612;p49"/>
          <p:cNvSpPr txBox="1"/>
          <p:nvPr/>
        </p:nvSpPr>
        <p:spPr>
          <a:xfrm>
            <a:off x="7563195" y="4737244"/>
            <a:ext cx="68199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FFFF00"/>
                </a:solidFill>
                <a:latin typeface="Calibri"/>
                <a:ea typeface="Calibri"/>
                <a:cs typeface="Calibri"/>
                <a:sym typeface="Calibri"/>
              </a:rPr>
              <a:t>Remota</a:t>
            </a:r>
            <a:endParaRPr sz="1600">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50"/>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Enlaces de Base de Datos</a:t>
            </a:r>
            <a:endParaRPr/>
          </a:p>
        </p:txBody>
      </p:sp>
      <p:sp>
        <p:nvSpPr>
          <p:cNvPr id="618" name="Google Shape;618;p50"/>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619" name="Google Shape;619;p5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620" name="Google Shape;620;p5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621" name="Google Shape;621;p50"/>
          <p:cNvSpPr txBox="1"/>
          <p:nvPr/>
        </p:nvSpPr>
        <p:spPr>
          <a:xfrm>
            <a:off x="483552" y="1415417"/>
            <a:ext cx="2037714"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a:t>
            </a:r>
            <a:endParaRPr sz="2800">
              <a:latin typeface="Calibri"/>
              <a:ea typeface="Calibri"/>
              <a:cs typeface="Calibri"/>
              <a:sym typeface="Calibri"/>
            </a:endParaRPr>
          </a:p>
        </p:txBody>
      </p:sp>
      <p:sp>
        <p:nvSpPr>
          <p:cNvPr id="622" name="Google Shape;622;p50"/>
          <p:cNvSpPr txBox="1"/>
          <p:nvPr/>
        </p:nvSpPr>
        <p:spPr>
          <a:xfrm>
            <a:off x="483552" y="2872361"/>
            <a:ext cx="7544434"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escriba la sentencia SQL que utiliza 	el sinónimo:</a:t>
            </a:r>
            <a:endParaRPr sz="2800">
              <a:latin typeface="Calibri"/>
              <a:ea typeface="Calibri"/>
              <a:cs typeface="Calibri"/>
              <a:sym typeface="Calibri"/>
            </a:endParaRPr>
          </a:p>
        </p:txBody>
      </p:sp>
      <p:sp>
        <p:nvSpPr>
          <p:cNvPr id="623" name="Google Shape;623;p50"/>
          <p:cNvSpPr txBox="1"/>
          <p:nvPr/>
        </p:nvSpPr>
        <p:spPr>
          <a:xfrm>
            <a:off x="483552" y="4713353"/>
            <a:ext cx="7151370"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puede otorgar privilegios en objetos remotos</a:t>
            </a:r>
            <a:endParaRPr sz="2800">
              <a:latin typeface="Calibri"/>
              <a:ea typeface="Calibri"/>
              <a:cs typeface="Calibri"/>
              <a:sym typeface="Calibri"/>
            </a:endParaRPr>
          </a:p>
        </p:txBody>
      </p:sp>
      <p:sp>
        <p:nvSpPr>
          <p:cNvPr id="624" name="Google Shape;624;p50"/>
          <p:cNvSpPr txBox="1"/>
          <p:nvPr/>
        </p:nvSpPr>
        <p:spPr>
          <a:xfrm>
            <a:off x="405384" y="2031492"/>
            <a:ext cx="8345805" cy="622300"/>
          </a:xfrm>
          <a:prstGeom prst="rect">
            <a:avLst/>
          </a:prstGeom>
          <a:solidFill>
            <a:srgbClr val="9DBDC4">
              <a:alpha val="49804"/>
            </a:srgbClr>
          </a:solidFill>
          <a:ln>
            <a:noFill/>
          </a:ln>
        </p:spPr>
        <p:txBody>
          <a:bodyPr anchorCtr="0" anchor="t" bIns="0" lIns="0" spcFirstLastPara="1" rIns="0" wrap="square" tIns="8875">
            <a:spAutoFit/>
          </a:bodyPr>
          <a:lstStyle/>
          <a:p>
            <a:pPr indent="-136525" lvl="0" marL="136525" marR="45161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PUBLIC SYNONYM HQ_EMP FOR emp@HQ.ACME.COM;</a:t>
            </a:r>
            <a:endParaRPr sz="1800">
              <a:latin typeface="Courier New"/>
              <a:ea typeface="Courier New"/>
              <a:cs typeface="Courier New"/>
              <a:sym typeface="Courier New"/>
            </a:endParaRPr>
          </a:p>
        </p:txBody>
      </p:sp>
      <p:sp>
        <p:nvSpPr>
          <p:cNvPr id="625" name="Google Shape;625;p50"/>
          <p:cNvSpPr txBox="1"/>
          <p:nvPr/>
        </p:nvSpPr>
        <p:spPr>
          <a:xfrm>
            <a:off x="393191" y="3895344"/>
            <a:ext cx="8345805" cy="620395"/>
          </a:xfrm>
          <a:prstGeom prst="rect">
            <a:avLst/>
          </a:prstGeom>
          <a:solidFill>
            <a:srgbClr val="9DBDC4">
              <a:alpha val="49804"/>
            </a:srgbClr>
          </a:solidFill>
          <a:ln>
            <a:noFill/>
          </a:ln>
        </p:spPr>
        <p:txBody>
          <a:bodyPr anchorCtr="0" anchor="t" bIns="0" lIns="0" spcFirstLastPara="1" rIns="0" wrap="square" tIns="8250">
            <a:spAutoFit/>
          </a:bodyPr>
          <a:lstStyle/>
          <a:p>
            <a:pPr indent="0" lvl="0" marL="0" marR="66992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 FROM HQ_EMP;</a:t>
            </a:r>
            <a:endParaRPr sz="1800">
              <a:latin typeface="Courier New"/>
              <a:ea typeface="Courier New"/>
              <a:cs typeface="Courier New"/>
              <a:sym typeface="Courier New"/>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1"/>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631" name="Google Shape;631;p51"/>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632" name="Google Shape;632;p5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633" name="Google Shape;633;p5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634" name="Google Shape;634;p51"/>
          <p:cNvSpPr txBox="1"/>
          <p:nvPr/>
        </p:nvSpPr>
        <p:spPr>
          <a:xfrm>
            <a:off x="483552" y="1415417"/>
            <a:ext cx="7705725" cy="35001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Privilegio CREATE ROLE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WITH GRANT OPTION</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Privilegio REVOKE</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Sentencia REVOKE</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PUBLIC SYNONYM</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PRIVATE SYNONYM</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Enlaces de Base de Datos</a:t>
            </a:r>
            <a:endParaRPr sz="2400">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52"/>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640" name="Google Shape;640;p52"/>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641" name="Google Shape;641;p5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642" name="Google Shape;642;p5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643" name="Google Shape;643;p52"/>
          <p:cNvSpPr txBox="1"/>
          <p:nvPr/>
        </p:nvSpPr>
        <p:spPr>
          <a:xfrm>
            <a:off x="483552" y="1393401"/>
            <a:ext cx="8166100" cy="331533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qué es un ROL y cuáles son sus ventajas</a:t>
            </a:r>
            <a:endParaRPr sz="2400">
              <a:latin typeface="Calibri"/>
              <a:ea typeface="Calibri"/>
              <a:cs typeface="Calibri"/>
              <a:sym typeface="Calibri"/>
            </a:endParaRPr>
          </a:p>
          <a:p>
            <a:pPr indent="-175260" lvl="0" marL="530860" marR="2689225"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sentencia para crear un ROL y OTORGARLE privilegios</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sentencia GRANT .. ON .. TO.. WITH GRANT OPTION para asignar privilegios a objetos de su esquema para otros usuarios y/o a PUBLIC</a:t>
            </a:r>
            <a:endParaRPr sz="2400">
              <a:latin typeface="Calibri"/>
              <a:ea typeface="Calibri"/>
              <a:cs typeface="Calibri"/>
              <a:sym typeface="Calibri"/>
            </a:endParaRPr>
          </a:p>
          <a:p>
            <a:pPr indent="-175260" lvl="0" marL="530860" marR="255270" rtl="0" algn="l">
              <a:lnSpc>
                <a:spcPct val="107916"/>
              </a:lnSpc>
              <a:spcBef>
                <a:spcPts val="41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para REVOCAR los privilegios de objeto a otros usuarios y/o PUBLIC</a:t>
            </a:r>
            <a:endParaRPr sz="2400">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53"/>
          <p:cNvSpPr txBox="1"/>
          <p:nvPr>
            <p:ph type="title"/>
          </p:nvPr>
        </p:nvSpPr>
        <p:spPr>
          <a:xfrm>
            <a:off x="392112" y="748031"/>
            <a:ext cx="6075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649" name="Google Shape;649;p53"/>
          <p:cNvSpPr txBox="1"/>
          <p:nvPr>
            <p:ph idx="10" type="dt"/>
          </p:nvPr>
        </p:nvSpPr>
        <p:spPr>
          <a:xfrm>
            <a:off x="2874191" y="6516395"/>
            <a:ext cx="2080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17-2</a:t>
            </a:r>
            <a:endParaRPr/>
          </a:p>
          <a:p>
            <a:pPr indent="0" lvl="0" marL="12700" rtl="0" algn="l">
              <a:lnSpc>
                <a:spcPct val="120624"/>
              </a:lnSpc>
              <a:spcBef>
                <a:spcPts val="0"/>
              </a:spcBef>
              <a:spcAft>
                <a:spcPts val="0"/>
              </a:spcAft>
              <a:buNone/>
            </a:pPr>
            <a:r>
              <a:rPr lang="en-US"/>
              <a:t>Creación y Revocación de Privilegios de Objeto</a:t>
            </a:r>
            <a:endParaRPr/>
          </a:p>
        </p:txBody>
      </p:sp>
      <p:sp>
        <p:nvSpPr>
          <p:cNvPr id="650" name="Google Shape;650;p5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651" name="Google Shape;651;p5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652" name="Google Shape;652;p53"/>
          <p:cNvSpPr txBox="1"/>
          <p:nvPr/>
        </p:nvSpPr>
        <p:spPr>
          <a:xfrm>
            <a:off x="483552" y="1393401"/>
            <a:ext cx="7548880" cy="123825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Distinción entre Privilegios y Roles</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el objetivo de un enlace de base de datos</a:t>
            </a:r>
            <a:endParaRPr sz="24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