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13:49:15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¿Cómo puede averiguar si el nombre y apellido de los empleados de la tabla employees se almacena en mayúsculas, minúsculas o mayúsculas y minúsculas? Ejecute una sentencia SELECT para consultar la salida. SELECT first_name, last_name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employees;</a:t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13:49:16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funciones de una sola fila se tratan en mayor profundidad en la siguiente sección. Las funciones de varias filas se tratan más adelante en el curso.</a:t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13:49:17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 argumento puede ser uno de los siguientes elementos: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Constante proporcionada por el usuario Valor de variable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Nombre de la columna Expresión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Entre las funciones adicionales de una sola fila se incluyen: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Posibilidad de devolver un valor de datos de un tipo diferente al que se hace referencia Posibilidad de esperar uno o más argumentos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pueden utilizar en cláusulas SELECT, WHERE y ORDER BY.</a:t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112" y="748031"/>
            <a:ext cx="44919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393401"/>
            <a:ext cx="77019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3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55904" y="6510552"/>
            <a:ext cx="12738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0479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SQL</a:t>
            </a:r>
            <a:endParaRPr sz="4800"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3597910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3-3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Introducción a las Funciones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78600" y="3289325"/>
            <a:ext cx="3597926" cy="342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483552" y="1393401"/>
            <a:ext cx="7655559" cy="260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Identificar las aplicaciones adecuadas de funciones de fila única en las sentencias de consulta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78359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Clasificar una función como función de una sola fila o de varias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3845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Diferenciar entre funciones de una sola fila y funciones de varias filas y los resultados devueltos por cada una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5280659" y="3890771"/>
            <a:ext cx="3130295" cy="2479547"/>
            <a:chOff x="5280659" y="3890771"/>
            <a:chExt cx="3130295" cy="2479547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80659" y="3890771"/>
              <a:ext cx="3130295" cy="24795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72684" y="4082795"/>
              <a:ext cx="2746247" cy="2095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83552" y="1415417"/>
            <a:ext cx="7992109" cy="4306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introducir dinero en una máquina de bebidas, 	ocurre algo entre el momento en el que se deposita el 	dinero y en el que se dispensa su bebida favorita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máquina procesa la transacción internamente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 dinero es la entrada y la bebida es la salida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máquina realiza una función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máquina: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Cuenta su dinero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asegura de que ha seleccionado su elección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Devuelve cambio, si es necesario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483552" y="1415417"/>
            <a:ext cx="8088630" cy="334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SQL, existen muchos tipos de funciones que se 	utilizan para transformar la entrada de una forma en la 	salida de otra forma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8257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Estas funciones se utilizan para manipular los valores 	de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39370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son pequeños programas que realizan 	una acción en un valor o columna y producen algo 	distinto como salida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483552" y="1415417"/>
            <a:ext cx="7633334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tienen tanto entrada como salida. La 	entrada en una función se conoce como argumento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483552" y="3256409"/>
            <a:ext cx="7954009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ejemplo de la máquina de bebidas, la entrada es 	el dinero y la salida es una bebida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3371088" y="2548127"/>
            <a:ext cx="2312035" cy="556260"/>
          </a:xfrm>
          <a:prstGeom prst="rect">
            <a:avLst/>
          </a:prstGeom>
          <a:solidFill>
            <a:srgbClr val="D1350F"/>
          </a:solidFill>
          <a:ln cap="flat" cmpd="sng" w="12175">
            <a:solidFill>
              <a:srgbClr val="992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57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Función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18"/>
          <p:cNvGrpSpPr/>
          <p:nvPr/>
        </p:nvGrpSpPr>
        <p:grpSpPr>
          <a:xfrm>
            <a:off x="2868929" y="2768304"/>
            <a:ext cx="466090" cy="133350"/>
            <a:chOff x="2868929" y="2768304"/>
            <a:chExt cx="466090" cy="133350"/>
          </a:xfrm>
        </p:grpSpPr>
        <p:sp>
          <p:nvSpPr>
            <p:cNvPr id="107" name="Google Shape;107;p18"/>
            <p:cNvSpPr/>
            <p:nvPr/>
          </p:nvSpPr>
          <p:spPr>
            <a:xfrm>
              <a:off x="2868929" y="2833877"/>
              <a:ext cx="466090" cy="1905"/>
            </a:xfrm>
            <a:custGeom>
              <a:rect b="b" l="l" r="r" t="t"/>
              <a:pathLst>
                <a:path extrusionOk="0" h="1905" w="466089">
                  <a:moveTo>
                    <a:pt x="0" y="0"/>
                  </a:moveTo>
                  <a:lnTo>
                    <a:pt x="465518" y="1473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8"/>
            <p:cNvSpPr/>
            <p:nvPr/>
          </p:nvSpPr>
          <p:spPr>
            <a:xfrm>
              <a:off x="3219931" y="2768304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431" y="0"/>
                  </a:moveTo>
                  <a:lnTo>
                    <a:pt x="114515" y="67043"/>
                  </a:lnTo>
                  <a:lnTo>
                    <a:pt x="0" y="13335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18"/>
          <p:cNvGrpSpPr/>
          <p:nvPr/>
        </p:nvGrpSpPr>
        <p:grpSpPr>
          <a:xfrm>
            <a:off x="5683758" y="2777864"/>
            <a:ext cx="615315" cy="133350"/>
            <a:chOff x="5683758" y="2777864"/>
            <a:chExt cx="615315" cy="133350"/>
          </a:xfrm>
        </p:grpSpPr>
        <p:sp>
          <p:nvSpPr>
            <p:cNvPr id="110" name="Google Shape;110;p18"/>
            <p:cNvSpPr/>
            <p:nvPr/>
          </p:nvSpPr>
          <p:spPr>
            <a:xfrm>
              <a:off x="5683758" y="2844546"/>
              <a:ext cx="615315" cy="0"/>
            </a:xfrm>
            <a:custGeom>
              <a:rect b="b" l="l" r="r" t="t"/>
              <a:pathLst>
                <a:path extrusionOk="0" h="120000" w="615314">
                  <a:moveTo>
                    <a:pt x="0" y="0"/>
                  </a:moveTo>
                  <a:lnTo>
                    <a:pt x="614743" y="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6184204" y="2777864"/>
              <a:ext cx="114300" cy="133350"/>
            </a:xfrm>
            <a:custGeom>
              <a:rect b="b" l="l" r="r" t="t"/>
              <a:pathLst>
                <a:path extrusionOk="0" h="133350" w="114300">
                  <a:moveTo>
                    <a:pt x="0" y="0"/>
                  </a:moveTo>
                  <a:lnTo>
                    <a:pt x="114300" y="66675"/>
                  </a:lnTo>
                  <a:lnTo>
                    <a:pt x="0" y="13335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18"/>
          <p:cNvSpPr txBox="1"/>
          <p:nvPr/>
        </p:nvSpPr>
        <p:spPr>
          <a:xfrm>
            <a:off x="2012429" y="2566399"/>
            <a:ext cx="7632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Entrada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2012429" y="2840719"/>
            <a:ext cx="12382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(Argumento)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6438125" y="2671098"/>
            <a:ext cx="5956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Salida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3465576" y="4527803"/>
            <a:ext cx="2312035" cy="556260"/>
          </a:xfrm>
          <a:prstGeom prst="rect">
            <a:avLst/>
          </a:prstGeom>
          <a:solidFill>
            <a:srgbClr val="D1350F"/>
          </a:solidFill>
          <a:ln cap="flat" cmpd="sng" w="12175">
            <a:solidFill>
              <a:srgbClr val="992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5725">
            <a:spAutoFit/>
          </a:bodyPr>
          <a:lstStyle/>
          <a:p>
            <a:pPr indent="0" lvl="0" marL="1885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Máquina de bebidas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18"/>
          <p:cNvGrpSpPr/>
          <p:nvPr/>
        </p:nvGrpSpPr>
        <p:grpSpPr>
          <a:xfrm>
            <a:off x="2963417" y="4747979"/>
            <a:ext cx="466090" cy="133350"/>
            <a:chOff x="2963417" y="4747979"/>
            <a:chExt cx="466090" cy="133350"/>
          </a:xfrm>
        </p:grpSpPr>
        <p:sp>
          <p:nvSpPr>
            <p:cNvPr id="117" name="Google Shape;117;p18"/>
            <p:cNvSpPr/>
            <p:nvPr/>
          </p:nvSpPr>
          <p:spPr>
            <a:xfrm>
              <a:off x="2963417" y="4813553"/>
              <a:ext cx="466090" cy="1905"/>
            </a:xfrm>
            <a:custGeom>
              <a:rect b="b" l="l" r="r" t="t"/>
              <a:pathLst>
                <a:path extrusionOk="0" h="1904" w="466089">
                  <a:moveTo>
                    <a:pt x="0" y="0"/>
                  </a:moveTo>
                  <a:lnTo>
                    <a:pt x="465518" y="1473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8"/>
            <p:cNvSpPr/>
            <p:nvPr/>
          </p:nvSpPr>
          <p:spPr>
            <a:xfrm>
              <a:off x="3314419" y="4747979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431" y="0"/>
                  </a:moveTo>
                  <a:lnTo>
                    <a:pt x="114515" y="67043"/>
                  </a:lnTo>
                  <a:lnTo>
                    <a:pt x="0" y="13335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18"/>
          <p:cNvGrpSpPr/>
          <p:nvPr/>
        </p:nvGrpSpPr>
        <p:grpSpPr>
          <a:xfrm>
            <a:off x="5778246" y="4757540"/>
            <a:ext cx="615315" cy="133350"/>
            <a:chOff x="5778246" y="4757540"/>
            <a:chExt cx="615315" cy="133350"/>
          </a:xfrm>
        </p:grpSpPr>
        <p:sp>
          <p:nvSpPr>
            <p:cNvPr id="120" name="Google Shape;120;p18"/>
            <p:cNvSpPr/>
            <p:nvPr/>
          </p:nvSpPr>
          <p:spPr>
            <a:xfrm>
              <a:off x="5778246" y="4824221"/>
              <a:ext cx="615315" cy="0"/>
            </a:xfrm>
            <a:custGeom>
              <a:rect b="b" l="l" r="r" t="t"/>
              <a:pathLst>
                <a:path extrusionOk="0" h="120000" w="615314">
                  <a:moveTo>
                    <a:pt x="0" y="0"/>
                  </a:moveTo>
                  <a:lnTo>
                    <a:pt x="614743" y="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6278692" y="4757540"/>
              <a:ext cx="114300" cy="133350"/>
            </a:xfrm>
            <a:custGeom>
              <a:rect b="b" l="l" r="r" t="t"/>
              <a:pathLst>
                <a:path extrusionOk="0" h="133350" w="114300">
                  <a:moveTo>
                    <a:pt x="0" y="0"/>
                  </a:moveTo>
                  <a:lnTo>
                    <a:pt x="114300" y="66674"/>
                  </a:lnTo>
                  <a:lnTo>
                    <a:pt x="0" y="133349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/>
        </p:nvSpPr>
        <p:spPr>
          <a:xfrm>
            <a:off x="2184294" y="4634423"/>
            <a:ext cx="6667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Dinero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124" name="Google Shape;124;p1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6511921" y="4650882"/>
            <a:ext cx="686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Bebida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483552" y="1393401"/>
            <a:ext cx="774319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cuenta con dos tipos de funciones diferentes: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una sola fila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varias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19"/>
          <p:cNvGrpSpPr/>
          <p:nvPr/>
        </p:nvGrpSpPr>
        <p:grpSpPr>
          <a:xfrm>
            <a:off x="2020061" y="3503676"/>
            <a:ext cx="4706620" cy="1149861"/>
            <a:chOff x="2020061" y="3503676"/>
            <a:chExt cx="4706620" cy="1149861"/>
          </a:xfrm>
        </p:grpSpPr>
        <p:sp>
          <p:nvSpPr>
            <p:cNvPr id="134" name="Google Shape;134;p19"/>
            <p:cNvSpPr/>
            <p:nvPr/>
          </p:nvSpPr>
          <p:spPr>
            <a:xfrm>
              <a:off x="4325873" y="3503676"/>
              <a:ext cx="0" cy="636270"/>
            </a:xfrm>
            <a:custGeom>
              <a:rect b="b" l="l" r="r" t="t"/>
              <a:pathLst>
                <a:path extrusionOk="0" h="636270" w="120000">
                  <a:moveTo>
                    <a:pt x="0" y="0"/>
                  </a:moveTo>
                  <a:lnTo>
                    <a:pt x="0" y="636269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2020061" y="4120137"/>
              <a:ext cx="4706620" cy="533400"/>
            </a:xfrm>
            <a:custGeom>
              <a:rect b="b" l="l" r="r" t="t"/>
              <a:pathLst>
                <a:path extrusionOk="0" h="533400" w="4706620">
                  <a:moveTo>
                    <a:pt x="0" y="501586"/>
                  </a:moveTo>
                  <a:lnTo>
                    <a:pt x="0" y="0"/>
                  </a:lnTo>
                  <a:lnTo>
                    <a:pt x="4706048" y="0"/>
                  </a:lnTo>
                  <a:lnTo>
                    <a:pt x="4706048" y="234911"/>
                  </a:lnTo>
                  <a:lnTo>
                    <a:pt x="4706048" y="533336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9"/>
          <p:cNvSpPr txBox="1"/>
          <p:nvPr/>
        </p:nvSpPr>
        <p:spPr>
          <a:xfrm>
            <a:off x="3168395" y="2980944"/>
            <a:ext cx="2322830" cy="523240"/>
          </a:xfrm>
          <a:prstGeom prst="rect">
            <a:avLst/>
          </a:prstGeom>
          <a:solidFill>
            <a:srgbClr val="D1350F"/>
          </a:solidFill>
          <a:ln cap="flat" cmpd="sng" w="12175">
            <a:solidFill>
              <a:srgbClr val="992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9200">
            <a:spAutoFit/>
          </a:bodyPr>
          <a:lstStyle/>
          <a:p>
            <a:pPr indent="0" lvl="0" marL="678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1424939" y="4622291"/>
            <a:ext cx="2284730" cy="935990"/>
          </a:xfrm>
          <a:prstGeom prst="rect">
            <a:avLst/>
          </a:prstGeom>
          <a:solidFill>
            <a:srgbClr val="D1350F"/>
          </a:solidFill>
          <a:ln cap="flat" cmpd="sng" w="12175">
            <a:solidFill>
              <a:srgbClr val="992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77150">
            <a:spAutoFit/>
          </a:bodyPr>
          <a:lstStyle/>
          <a:p>
            <a:pPr indent="-74930" lvl="0" marL="572135" marR="539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Funciones de una sola fila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5490971" y="4622291"/>
            <a:ext cx="2275840" cy="935990"/>
          </a:xfrm>
          <a:prstGeom prst="rect">
            <a:avLst/>
          </a:prstGeom>
          <a:solidFill>
            <a:srgbClr val="D1350F"/>
          </a:solidFill>
          <a:ln cap="flat" cmpd="sng" w="12175">
            <a:solidFill>
              <a:srgbClr val="992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78425">
            <a:spAutoFit/>
          </a:bodyPr>
          <a:lstStyle/>
          <a:p>
            <a:pPr indent="-121920" lvl="0" marL="643890" marR="5054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Funciones de varias filas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oogle Shape;139;p19"/>
          <p:cNvGrpSpPr/>
          <p:nvPr/>
        </p:nvGrpSpPr>
        <p:grpSpPr>
          <a:xfrm>
            <a:off x="4877561" y="5015477"/>
            <a:ext cx="609600" cy="151130"/>
            <a:chOff x="4877561" y="5015477"/>
            <a:chExt cx="609600" cy="151130"/>
          </a:xfrm>
        </p:grpSpPr>
        <p:sp>
          <p:nvSpPr>
            <p:cNvPr id="140" name="Google Shape;140;p19"/>
            <p:cNvSpPr/>
            <p:nvPr/>
          </p:nvSpPr>
          <p:spPr>
            <a:xfrm>
              <a:off x="4877561" y="5090921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5235701" y="5015477"/>
              <a:ext cx="251460" cy="151130"/>
            </a:xfrm>
            <a:custGeom>
              <a:rect b="b" l="l" r="r" t="t"/>
              <a:pathLst>
                <a:path extrusionOk="0" h="151129" w="251460">
                  <a:moveTo>
                    <a:pt x="0" y="0"/>
                  </a:moveTo>
                  <a:lnTo>
                    <a:pt x="100584" y="75438"/>
                  </a:lnTo>
                  <a:lnTo>
                    <a:pt x="0" y="150876"/>
                  </a:lnTo>
                  <a:lnTo>
                    <a:pt x="251460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19"/>
          <p:cNvGrpSpPr/>
          <p:nvPr/>
        </p:nvGrpSpPr>
        <p:grpSpPr>
          <a:xfrm>
            <a:off x="7792973" y="5015477"/>
            <a:ext cx="609600" cy="151130"/>
            <a:chOff x="7792973" y="5015477"/>
            <a:chExt cx="609600" cy="151130"/>
          </a:xfrm>
        </p:grpSpPr>
        <p:sp>
          <p:nvSpPr>
            <p:cNvPr id="143" name="Google Shape;143;p19"/>
            <p:cNvSpPr/>
            <p:nvPr/>
          </p:nvSpPr>
          <p:spPr>
            <a:xfrm>
              <a:off x="7792973" y="5090921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8151113" y="5015477"/>
              <a:ext cx="251460" cy="151130"/>
            </a:xfrm>
            <a:custGeom>
              <a:rect b="b" l="l" r="r" t="t"/>
              <a:pathLst>
                <a:path extrusionOk="0" h="151129" w="251459">
                  <a:moveTo>
                    <a:pt x="0" y="0"/>
                  </a:moveTo>
                  <a:lnTo>
                    <a:pt x="100583" y="75438"/>
                  </a:lnTo>
                  <a:lnTo>
                    <a:pt x="0" y="150876"/>
                  </a:lnTo>
                  <a:lnTo>
                    <a:pt x="251459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4877561" y="4710677"/>
            <a:ext cx="609600" cy="151130"/>
            <a:chOff x="4877561" y="4710677"/>
            <a:chExt cx="609600" cy="151130"/>
          </a:xfrm>
        </p:grpSpPr>
        <p:sp>
          <p:nvSpPr>
            <p:cNvPr id="146" name="Google Shape;146;p19"/>
            <p:cNvSpPr/>
            <p:nvPr/>
          </p:nvSpPr>
          <p:spPr>
            <a:xfrm>
              <a:off x="4877561" y="4786121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5235701" y="4710677"/>
              <a:ext cx="251460" cy="151130"/>
            </a:xfrm>
            <a:custGeom>
              <a:rect b="b" l="l" r="r" t="t"/>
              <a:pathLst>
                <a:path extrusionOk="0" h="151129" w="251460">
                  <a:moveTo>
                    <a:pt x="0" y="0"/>
                  </a:moveTo>
                  <a:lnTo>
                    <a:pt x="100584" y="75438"/>
                  </a:lnTo>
                  <a:lnTo>
                    <a:pt x="0" y="150876"/>
                  </a:lnTo>
                  <a:lnTo>
                    <a:pt x="251460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4877561" y="5262365"/>
            <a:ext cx="609600" cy="151130"/>
            <a:chOff x="4877561" y="5262365"/>
            <a:chExt cx="609600" cy="151130"/>
          </a:xfrm>
        </p:grpSpPr>
        <p:sp>
          <p:nvSpPr>
            <p:cNvPr id="149" name="Google Shape;149;p19"/>
            <p:cNvSpPr/>
            <p:nvPr/>
          </p:nvSpPr>
          <p:spPr>
            <a:xfrm>
              <a:off x="4877561" y="5337809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5235701" y="5262365"/>
              <a:ext cx="251460" cy="151130"/>
            </a:xfrm>
            <a:custGeom>
              <a:rect b="b" l="l" r="r" t="t"/>
              <a:pathLst>
                <a:path extrusionOk="0" h="151129" w="251460">
                  <a:moveTo>
                    <a:pt x="0" y="0"/>
                  </a:moveTo>
                  <a:lnTo>
                    <a:pt x="100584" y="75437"/>
                  </a:lnTo>
                  <a:lnTo>
                    <a:pt x="0" y="150875"/>
                  </a:lnTo>
                  <a:lnTo>
                    <a:pt x="251460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805433" y="5081009"/>
            <a:ext cx="609600" cy="151130"/>
            <a:chOff x="805433" y="5081009"/>
            <a:chExt cx="609600" cy="151130"/>
          </a:xfrm>
        </p:grpSpPr>
        <p:sp>
          <p:nvSpPr>
            <p:cNvPr id="152" name="Google Shape;152;p19"/>
            <p:cNvSpPr/>
            <p:nvPr/>
          </p:nvSpPr>
          <p:spPr>
            <a:xfrm>
              <a:off x="805433" y="5156453"/>
              <a:ext cx="459105" cy="0"/>
            </a:xfrm>
            <a:custGeom>
              <a:rect b="b" l="l" r="r" t="t"/>
              <a:pathLst>
                <a:path extrusionOk="0" h="120000" w="459105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1163573" y="5081009"/>
              <a:ext cx="251460" cy="151130"/>
            </a:xfrm>
            <a:custGeom>
              <a:rect b="b" l="l" r="r" t="t"/>
              <a:pathLst>
                <a:path extrusionOk="0" h="151129" w="251459">
                  <a:moveTo>
                    <a:pt x="0" y="0"/>
                  </a:moveTo>
                  <a:lnTo>
                    <a:pt x="100584" y="75437"/>
                  </a:lnTo>
                  <a:lnTo>
                    <a:pt x="0" y="150875"/>
                  </a:lnTo>
                  <a:lnTo>
                    <a:pt x="251460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19"/>
          <p:cNvGrpSpPr/>
          <p:nvPr/>
        </p:nvGrpSpPr>
        <p:grpSpPr>
          <a:xfrm>
            <a:off x="3720846" y="5042909"/>
            <a:ext cx="609600" cy="151130"/>
            <a:chOff x="3720846" y="5042909"/>
            <a:chExt cx="609600" cy="151130"/>
          </a:xfrm>
        </p:grpSpPr>
        <p:sp>
          <p:nvSpPr>
            <p:cNvPr id="155" name="Google Shape;155;p19"/>
            <p:cNvSpPr/>
            <p:nvPr/>
          </p:nvSpPr>
          <p:spPr>
            <a:xfrm>
              <a:off x="3720846" y="5118353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4078986" y="5042909"/>
              <a:ext cx="251460" cy="151130"/>
            </a:xfrm>
            <a:custGeom>
              <a:rect b="b" l="l" r="r" t="t"/>
              <a:pathLst>
                <a:path extrusionOk="0" h="151129" w="251460">
                  <a:moveTo>
                    <a:pt x="0" y="0"/>
                  </a:moveTo>
                  <a:lnTo>
                    <a:pt x="100584" y="75437"/>
                  </a:lnTo>
                  <a:lnTo>
                    <a:pt x="0" y="150875"/>
                  </a:lnTo>
                  <a:lnTo>
                    <a:pt x="251460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9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392112" y="385319"/>
            <a:ext cx="75018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Funciones de una Sola Fila frente a Funciones de Varias Filas</a:t>
            </a:r>
            <a:endParaRPr sz="3000"/>
          </a:p>
        </p:txBody>
      </p:sp>
      <p:sp>
        <p:nvSpPr>
          <p:cNvPr id="165" name="Google Shape;165;p20"/>
          <p:cNvSpPr txBox="1"/>
          <p:nvPr/>
        </p:nvSpPr>
        <p:spPr>
          <a:xfrm>
            <a:off x="483552" y="1381889"/>
            <a:ext cx="7700645" cy="123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288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una sola fila funcionan solo en filas 	únicas y devuelven un resultado por fila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Existen distintos tipos de funciones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655764" y="2508126"/>
            <a:ext cx="4652645" cy="1134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0" lvl="0" marL="1270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una sola fila, como funciones de carácter, número, fecha y conversión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83552" y="3632837"/>
            <a:ext cx="7972425" cy="793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288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varias filas pueden manipular grupos 	de filas para proporcionar un resultado por grupo de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83552" y="4315324"/>
            <a:ext cx="4094479" cy="157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84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filas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96071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Estas funciones también se 	conocen como funciones 	de grupo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996940" y="2814827"/>
            <a:ext cx="2284730" cy="669290"/>
          </a:xfrm>
          <a:prstGeom prst="rect">
            <a:avLst/>
          </a:prstGeom>
          <a:solidFill>
            <a:srgbClr val="D1350F"/>
          </a:solidFill>
          <a:ln cap="flat" cmpd="sng" w="12175">
            <a:solidFill>
              <a:srgbClr val="992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85725" lvl="0" marL="506730" marR="473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Funciones de una sola fila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6016752" y="4721352"/>
            <a:ext cx="2265045" cy="951230"/>
          </a:xfrm>
          <a:prstGeom prst="rect">
            <a:avLst/>
          </a:prstGeom>
          <a:solidFill>
            <a:srgbClr val="D1350F"/>
          </a:solidFill>
          <a:ln cap="flat" cmpd="sng" w="12175">
            <a:solidFill>
              <a:srgbClr val="992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3175">
            <a:spAutoFit/>
          </a:bodyPr>
          <a:lstStyle/>
          <a:p>
            <a:pPr indent="27305" lvl="0" marL="345440" marR="336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Funciones de de varias filas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" name="Google Shape;171;p20"/>
          <p:cNvGrpSpPr/>
          <p:nvPr/>
        </p:nvGrpSpPr>
        <p:grpSpPr>
          <a:xfrm>
            <a:off x="5377434" y="3136385"/>
            <a:ext cx="609600" cy="151130"/>
            <a:chOff x="5377434" y="3136385"/>
            <a:chExt cx="609600" cy="151130"/>
          </a:xfrm>
        </p:grpSpPr>
        <p:sp>
          <p:nvSpPr>
            <p:cNvPr id="172" name="Google Shape;172;p20"/>
            <p:cNvSpPr/>
            <p:nvPr/>
          </p:nvSpPr>
          <p:spPr>
            <a:xfrm>
              <a:off x="5377434" y="3211830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5735574" y="3136385"/>
              <a:ext cx="251460" cy="151130"/>
            </a:xfrm>
            <a:custGeom>
              <a:rect b="b" l="l" r="r" t="t"/>
              <a:pathLst>
                <a:path extrusionOk="0" h="151129" w="251460">
                  <a:moveTo>
                    <a:pt x="0" y="0"/>
                  </a:moveTo>
                  <a:lnTo>
                    <a:pt x="100584" y="75437"/>
                  </a:lnTo>
                  <a:lnTo>
                    <a:pt x="0" y="150875"/>
                  </a:lnTo>
                  <a:lnTo>
                    <a:pt x="251460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20"/>
          <p:cNvGrpSpPr/>
          <p:nvPr/>
        </p:nvGrpSpPr>
        <p:grpSpPr>
          <a:xfrm>
            <a:off x="8292845" y="3098285"/>
            <a:ext cx="609600" cy="151130"/>
            <a:chOff x="8292845" y="3098285"/>
            <a:chExt cx="609600" cy="151130"/>
          </a:xfrm>
        </p:grpSpPr>
        <p:sp>
          <p:nvSpPr>
            <p:cNvPr id="175" name="Google Shape;175;p20"/>
            <p:cNvSpPr/>
            <p:nvPr/>
          </p:nvSpPr>
          <p:spPr>
            <a:xfrm>
              <a:off x="8292845" y="3173730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650985" y="3098285"/>
              <a:ext cx="251460" cy="151130"/>
            </a:xfrm>
            <a:custGeom>
              <a:rect b="b" l="l" r="r" t="t"/>
              <a:pathLst>
                <a:path extrusionOk="0" h="151130" w="251459">
                  <a:moveTo>
                    <a:pt x="0" y="0"/>
                  </a:moveTo>
                  <a:lnTo>
                    <a:pt x="100583" y="75437"/>
                  </a:lnTo>
                  <a:lnTo>
                    <a:pt x="0" y="150875"/>
                  </a:lnTo>
                  <a:lnTo>
                    <a:pt x="251459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5380482" y="5154161"/>
            <a:ext cx="609600" cy="151130"/>
            <a:chOff x="5380482" y="5154161"/>
            <a:chExt cx="609600" cy="151130"/>
          </a:xfrm>
        </p:grpSpPr>
        <p:sp>
          <p:nvSpPr>
            <p:cNvPr id="178" name="Google Shape;178;p20"/>
            <p:cNvSpPr/>
            <p:nvPr/>
          </p:nvSpPr>
          <p:spPr>
            <a:xfrm>
              <a:off x="5380482" y="5229606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5738622" y="5154161"/>
              <a:ext cx="251460" cy="151130"/>
            </a:xfrm>
            <a:custGeom>
              <a:rect b="b" l="l" r="r" t="t"/>
              <a:pathLst>
                <a:path extrusionOk="0" h="151129" w="251460">
                  <a:moveTo>
                    <a:pt x="0" y="0"/>
                  </a:moveTo>
                  <a:lnTo>
                    <a:pt x="100584" y="75437"/>
                  </a:lnTo>
                  <a:lnTo>
                    <a:pt x="0" y="150875"/>
                  </a:lnTo>
                  <a:lnTo>
                    <a:pt x="251460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p20"/>
          <p:cNvGrpSpPr/>
          <p:nvPr/>
        </p:nvGrpSpPr>
        <p:grpSpPr>
          <a:xfrm>
            <a:off x="8295893" y="5154161"/>
            <a:ext cx="609600" cy="151130"/>
            <a:chOff x="8295893" y="5154161"/>
            <a:chExt cx="609600" cy="151130"/>
          </a:xfrm>
        </p:grpSpPr>
        <p:sp>
          <p:nvSpPr>
            <p:cNvPr id="181" name="Google Shape;181;p20"/>
            <p:cNvSpPr/>
            <p:nvPr/>
          </p:nvSpPr>
          <p:spPr>
            <a:xfrm>
              <a:off x="8295893" y="5229606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8654033" y="5154161"/>
              <a:ext cx="251460" cy="151130"/>
            </a:xfrm>
            <a:custGeom>
              <a:rect b="b" l="l" r="r" t="t"/>
              <a:pathLst>
                <a:path extrusionOk="0" h="151129" w="251459">
                  <a:moveTo>
                    <a:pt x="0" y="0"/>
                  </a:moveTo>
                  <a:lnTo>
                    <a:pt x="100583" y="75437"/>
                  </a:lnTo>
                  <a:lnTo>
                    <a:pt x="0" y="150875"/>
                  </a:lnTo>
                  <a:lnTo>
                    <a:pt x="251459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5380482" y="4849361"/>
            <a:ext cx="609600" cy="151130"/>
            <a:chOff x="5380482" y="4849361"/>
            <a:chExt cx="609600" cy="151130"/>
          </a:xfrm>
        </p:grpSpPr>
        <p:sp>
          <p:nvSpPr>
            <p:cNvPr id="184" name="Google Shape;184;p20"/>
            <p:cNvSpPr/>
            <p:nvPr/>
          </p:nvSpPr>
          <p:spPr>
            <a:xfrm>
              <a:off x="5380482" y="4924806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5738622" y="4849361"/>
              <a:ext cx="251460" cy="151130"/>
            </a:xfrm>
            <a:custGeom>
              <a:rect b="b" l="l" r="r" t="t"/>
              <a:pathLst>
                <a:path extrusionOk="0" h="151129" w="251460">
                  <a:moveTo>
                    <a:pt x="0" y="0"/>
                  </a:moveTo>
                  <a:lnTo>
                    <a:pt x="100584" y="75437"/>
                  </a:lnTo>
                  <a:lnTo>
                    <a:pt x="0" y="150875"/>
                  </a:lnTo>
                  <a:lnTo>
                    <a:pt x="251460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20"/>
          <p:cNvGrpSpPr/>
          <p:nvPr/>
        </p:nvGrpSpPr>
        <p:grpSpPr>
          <a:xfrm>
            <a:off x="5380482" y="5402573"/>
            <a:ext cx="609600" cy="151130"/>
            <a:chOff x="5380482" y="5402573"/>
            <a:chExt cx="609600" cy="151130"/>
          </a:xfrm>
        </p:grpSpPr>
        <p:sp>
          <p:nvSpPr>
            <p:cNvPr id="187" name="Google Shape;187;p20"/>
            <p:cNvSpPr/>
            <p:nvPr/>
          </p:nvSpPr>
          <p:spPr>
            <a:xfrm>
              <a:off x="5380482" y="5478018"/>
              <a:ext cx="459105" cy="0"/>
            </a:xfrm>
            <a:custGeom>
              <a:rect b="b" l="l" r="r" t="t"/>
              <a:pathLst>
                <a:path extrusionOk="0" h="120000" w="459104">
                  <a:moveTo>
                    <a:pt x="0" y="0"/>
                  </a:moveTo>
                  <a:lnTo>
                    <a:pt x="458723" y="0"/>
                  </a:lnTo>
                </a:path>
              </a:pathLst>
            </a:custGeom>
            <a:noFill/>
            <a:ln cap="flat" cmpd="sng" w="50275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5738622" y="5402573"/>
              <a:ext cx="251460" cy="151130"/>
            </a:xfrm>
            <a:custGeom>
              <a:rect b="b" l="l" r="r" t="t"/>
              <a:pathLst>
                <a:path extrusionOk="0" h="151129" w="251460">
                  <a:moveTo>
                    <a:pt x="0" y="0"/>
                  </a:moveTo>
                  <a:lnTo>
                    <a:pt x="100584" y="75438"/>
                  </a:lnTo>
                  <a:lnTo>
                    <a:pt x="0" y="150876"/>
                  </a:lnTo>
                  <a:lnTo>
                    <a:pt x="251460" y="7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20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190" name="Google Shape;190;p20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>
            <a:off x="4572761" y="1524761"/>
            <a:ext cx="0" cy="4419600"/>
          </a:xfrm>
          <a:custGeom>
            <a:rect b="b" l="l" r="r" t="t"/>
            <a:pathLst>
              <a:path extrusionOk="0" h="4419600" w="120000">
                <a:moveTo>
                  <a:pt x="0" y="0"/>
                </a:moveTo>
                <a:lnTo>
                  <a:pt x="0" y="4419600"/>
                </a:lnTo>
              </a:path>
            </a:pathLst>
          </a:custGeom>
          <a:noFill/>
          <a:ln cap="flat" cmpd="sng" w="19800">
            <a:solidFill>
              <a:srgbClr val="DFE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83552" y="1491489"/>
            <a:ext cx="3522345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457200" lvl="0" marL="46990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SQL, las funciones de una sola fila se pueden utilizar para: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826452" y="2704593"/>
            <a:ext cx="3456940" cy="307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342900" lvl="0" marL="35560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Realizar cálculos como redondear números para una determinada posición decimal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762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	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Modificar elementos de datos individuales como la conversión de valores de caracteres de mayúsculas a minúsculas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una Sola Fila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046470" y="1928622"/>
            <a:ext cx="1447800" cy="410209"/>
          </a:xfrm>
          <a:prstGeom prst="rect">
            <a:avLst/>
          </a:prstGeom>
          <a:solidFill>
            <a:srgbClr val="FF9900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CARÁCTER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302758" y="2896361"/>
            <a:ext cx="1106805" cy="411480"/>
          </a:xfrm>
          <a:prstGeom prst="rect">
            <a:avLst/>
          </a:prstGeom>
          <a:solidFill>
            <a:srgbClr val="FF00FF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7314438" y="2896361"/>
            <a:ext cx="1176655" cy="411480"/>
          </a:xfrm>
          <a:prstGeom prst="rect">
            <a:avLst/>
          </a:prstGeom>
          <a:solidFill>
            <a:srgbClr val="00AF50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0" lvl="0" marL="1911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208270" y="4831841"/>
            <a:ext cx="1431290" cy="410209"/>
          </a:xfrm>
          <a:prstGeom prst="rect">
            <a:avLst/>
          </a:prstGeom>
          <a:solidFill>
            <a:srgbClr val="FF9900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0" lvl="0" marL="149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CONVERSIÓN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7462266" y="4831841"/>
            <a:ext cx="1106805" cy="410209"/>
          </a:xfrm>
          <a:prstGeom prst="rect">
            <a:avLst/>
          </a:prstGeom>
          <a:solidFill>
            <a:srgbClr val="00AFEF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4925">
            <a:spAutoFit/>
          </a:bodyPr>
          <a:lstStyle/>
          <a:p>
            <a:pPr indent="0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803135" y="2336292"/>
            <a:ext cx="0" cy="1360170"/>
          </a:xfrm>
          <a:custGeom>
            <a:rect b="b" l="l" r="r" t="t"/>
            <a:pathLst>
              <a:path extrusionOk="0" h="1360170" w="120000">
                <a:moveTo>
                  <a:pt x="0" y="0"/>
                </a:moveTo>
                <a:lnTo>
                  <a:pt x="0" y="1360169"/>
                </a:lnTo>
              </a:path>
            </a:pathLst>
          </a:custGeom>
          <a:noFill/>
          <a:ln cap="flat" cmpd="sng" w="3960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823965" y="3294126"/>
            <a:ext cx="509270" cy="452755"/>
          </a:xfrm>
          <a:custGeom>
            <a:rect b="b" l="l" r="r" t="t"/>
            <a:pathLst>
              <a:path extrusionOk="0" h="452754" w="509270">
                <a:moveTo>
                  <a:pt x="0" y="0"/>
                </a:moveTo>
                <a:lnTo>
                  <a:pt x="509016" y="452628"/>
                </a:lnTo>
              </a:path>
            </a:pathLst>
          </a:custGeom>
          <a:noFill/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7274814" y="3307841"/>
            <a:ext cx="219710" cy="414655"/>
          </a:xfrm>
          <a:custGeom>
            <a:rect b="b" l="l" r="r" t="t"/>
            <a:pathLst>
              <a:path extrusionOk="0" h="414654" w="219709">
                <a:moveTo>
                  <a:pt x="219455" y="0"/>
                </a:moveTo>
                <a:lnTo>
                  <a:pt x="0" y="414528"/>
                </a:lnTo>
              </a:path>
            </a:pathLst>
          </a:custGeom>
          <a:noFill/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6208014" y="4217670"/>
            <a:ext cx="315595" cy="614680"/>
          </a:xfrm>
          <a:custGeom>
            <a:rect b="b" l="l" r="r" t="t"/>
            <a:pathLst>
              <a:path extrusionOk="0" h="614679" w="315595">
                <a:moveTo>
                  <a:pt x="0" y="614171"/>
                </a:moveTo>
                <a:lnTo>
                  <a:pt x="315468" y="0"/>
                </a:lnTo>
              </a:path>
            </a:pathLst>
          </a:custGeom>
          <a:noFill/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7274814" y="4217670"/>
            <a:ext cx="464820" cy="614680"/>
          </a:xfrm>
          <a:custGeom>
            <a:rect b="b" l="l" r="r" t="t"/>
            <a:pathLst>
              <a:path extrusionOk="0" h="614679" w="464820">
                <a:moveTo>
                  <a:pt x="464820" y="614171"/>
                </a:moveTo>
                <a:lnTo>
                  <a:pt x="0" y="0"/>
                </a:lnTo>
              </a:path>
            </a:pathLst>
          </a:custGeom>
          <a:noFill/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046470" y="3696461"/>
            <a:ext cx="1595755" cy="681355"/>
          </a:xfrm>
          <a:prstGeom prst="rect">
            <a:avLst/>
          </a:prstGeom>
          <a:solidFill>
            <a:srgbClr val="99CC00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975">
            <a:spAutoFit/>
          </a:bodyPr>
          <a:lstStyle/>
          <a:p>
            <a:pPr indent="42545" lvl="0" marL="153035" marR="1308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FUNCIONES DE UNA SOLA FILA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una Sola Fila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483552" y="1415417"/>
            <a:ext cx="4810760" cy="3242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Dar formato a fechas y números 	para su visualización como, por 	ejemplo, convertir el formato 	de fecha de una base de datos 	numérico interno en un 	formato estándar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368300" rtl="0" algn="l">
              <a:lnSpc>
                <a:spcPct val="108214"/>
              </a:lnSpc>
              <a:spcBef>
                <a:spcPts val="77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Convertir los tipos de dato de 	columna, como la conversión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655764" y="4590232"/>
            <a:ext cx="414274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270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 una cadena de caracteres en un número o fecha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046470" y="1928622"/>
            <a:ext cx="1447800" cy="410209"/>
          </a:xfrm>
          <a:prstGeom prst="rect">
            <a:avLst/>
          </a:prstGeom>
          <a:solidFill>
            <a:srgbClr val="FF9900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CARÁCTER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302758" y="2896361"/>
            <a:ext cx="1106805" cy="411480"/>
          </a:xfrm>
          <a:prstGeom prst="rect">
            <a:avLst/>
          </a:prstGeom>
          <a:solidFill>
            <a:srgbClr val="FF00FF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7314438" y="2896361"/>
            <a:ext cx="1176655" cy="411480"/>
          </a:xfrm>
          <a:prstGeom prst="rect">
            <a:avLst/>
          </a:prstGeom>
          <a:solidFill>
            <a:srgbClr val="00AF50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0" lvl="0" marL="1911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5208270" y="4831841"/>
            <a:ext cx="1431290" cy="410209"/>
          </a:xfrm>
          <a:prstGeom prst="rect">
            <a:avLst/>
          </a:prstGeom>
          <a:solidFill>
            <a:srgbClr val="FF9900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0" lvl="0" marL="149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CONVERSIÓN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7462266" y="4831841"/>
            <a:ext cx="1106805" cy="410209"/>
          </a:xfrm>
          <a:prstGeom prst="rect">
            <a:avLst/>
          </a:prstGeom>
          <a:solidFill>
            <a:srgbClr val="00AFEF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4925">
            <a:spAutoFit/>
          </a:bodyPr>
          <a:lstStyle/>
          <a:p>
            <a:pPr indent="0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803135" y="2336292"/>
            <a:ext cx="0" cy="1360170"/>
          </a:xfrm>
          <a:custGeom>
            <a:rect b="b" l="l" r="r" t="t"/>
            <a:pathLst>
              <a:path extrusionOk="0" h="1360170" w="120000">
                <a:moveTo>
                  <a:pt x="0" y="0"/>
                </a:moveTo>
                <a:lnTo>
                  <a:pt x="0" y="1360169"/>
                </a:lnTo>
              </a:path>
            </a:pathLst>
          </a:custGeom>
          <a:noFill/>
          <a:ln cap="flat" cmpd="sng" w="3960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823965" y="3294126"/>
            <a:ext cx="509270" cy="452755"/>
          </a:xfrm>
          <a:custGeom>
            <a:rect b="b" l="l" r="r" t="t"/>
            <a:pathLst>
              <a:path extrusionOk="0" h="452754" w="509270">
                <a:moveTo>
                  <a:pt x="0" y="0"/>
                </a:moveTo>
                <a:lnTo>
                  <a:pt x="509016" y="452628"/>
                </a:lnTo>
              </a:path>
            </a:pathLst>
          </a:custGeom>
          <a:noFill/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7274814" y="3307841"/>
            <a:ext cx="219710" cy="414655"/>
          </a:xfrm>
          <a:custGeom>
            <a:rect b="b" l="l" r="r" t="t"/>
            <a:pathLst>
              <a:path extrusionOk="0" h="414654" w="219709">
                <a:moveTo>
                  <a:pt x="219455" y="0"/>
                </a:moveTo>
                <a:lnTo>
                  <a:pt x="0" y="414528"/>
                </a:lnTo>
              </a:path>
            </a:pathLst>
          </a:custGeom>
          <a:noFill/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6208014" y="4217670"/>
            <a:ext cx="315595" cy="614680"/>
          </a:xfrm>
          <a:custGeom>
            <a:rect b="b" l="l" r="r" t="t"/>
            <a:pathLst>
              <a:path extrusionOk="0" h="614679" w="315595">
                <a:moveTo>
                  <a:pt x="0" y="614171"/>
                </a:moveTo>
                <a:lnTo>
                  <a:pt x="315468" y="0"/>
                </a:lnTo>
              </a:path>
            </a:pathLst>
          </a:custGeom>
          <a:noFill/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7274814" y="4217670"/>
            <a:ext cx="464820" cy="614680"/>
          </a:xfrm>
          <a:custGeom>
            <a:rect b="b" l="l" r="r" t="t"/>
            <a:pathLst>
              <a:path extrusionOk="0" h="614679" w="464820">
                <a:moveTo>
                  <a:pt x="464820" y="614171"/>
                </a:moveTo>
                <a:lnTo>
                  <a:pt x="0" y="0"/>
                </a:lnTo>
              </a:path>
            </a:pathLst>
          </a:custGeom>
          <a:noFill/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046470" y="3696461"/>
            <a:ext cx="1595755" cy="681355"/>
          </a:xfrm>
          <a:prstGeom prst="rect">
            <a:avLst/>
          </a:prstGeom>
          <a:solidFill>
            <a:srgbClr val="99CC00"/>
          </a:solidFill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6975">
            <a:spAutoFit/>
          </a:bodyPr>
          <a:lstStyle/>
          <a:p>
            <a:pPr indent="42545" lvl="0" marL="153035" marR="1308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FUNCIONES DE UNA SOLA FILA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233" name="Google Shape;233;p22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una Sola Fila</a:t>
            </a:r>
            <a:endParaRPr/>
          </a:p>
        </p:txBody>
      </p:sp>
      <p:sp>
        <p:nvSpPr>
          <p:cNvPr id="240" name="Google Shape;240;p23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241" name="Google Shape;241;p2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483552" y="1419989"/>
            <a:ext cx="8169909" cy="452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-172720" lvl="0" marL="184785" marR="99695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una sola fila aceptan uno o más argumentos y devolverán un único resultado por fila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5080" rtl="0" algn="l">
              <a:lnSpc>
                <a:spcPct val="108076"/>
              </a:lnSpc>
              <a:spcBef>
                <a:spcPts val="80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lo tanto, si se aplica la función de una sola fila a 12 filas, obtendrá 12 resultados de la función de una sola fila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1195705" rtl="0" algn="l">
              <a:lnSpc>
                <a:spcPct val="108076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resumen, las funciones de una sola fila hacen lo siguiente: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Manipular elementos de datos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Aceptar argumentos y devolver un valor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Actuar en cada fila devuelta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Devolver un resultado por fila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Posibilidad de modificar el tipo de dato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Posibilidad de anidamiento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Varias Filas</a:t>
            </a:r>
            <a:endParaRPr/>
          </a:p>
        </p:txBody>
      </p:sp>
      <p:sp>
        <p:nvSpPr>
          <p:cNvPr id="249" name="Google Shape;249;p24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250" name="Google Shape;250;p24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4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483552" y="1415417"/>
            <a:ext cx="8091805" cy="4104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762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varias filas (o de grupo) toman 	muchas filas como entrada, y devuelven un valor único 	como salida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47752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entrada de filas puede ser toda la tabla o la tabla 	dividida en grupos más pequeños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ejemplos de las funciones de varias filas (de grupo) 	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MAX: busca el valor más alto en un grupo de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MIN: busca el valor más bajo en un grupo de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AVG: busca el valor medio de un grupo de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Terminología</a:t>
            </a:r>
            <a:endParaRPr/>
          </a:p>
        </p:txBody>
      </p:sp>
      <p:sp>
        <p:nvSpPr>
          <p:cNvPr id="258" name="Google Shape;258;p25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259" name="Google Shape;259;p2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61" name="Google Shape;261;p25"/>
          <p:cNvSpPr txBox="1"/>
          <p:nvPr>
            <p:ph idx="1" type="body"/>
          </p:nvPr>
        </p:nvSpPr>
        <p:spPr>
          <a:xfrm>
            <a:off x="483552" y="1393401"/>
            <a:ext cx="7701900" cy="17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Entre los términos clave utilizados en esta lección se 	incluyen:</a:t>
            </a:r>
            <a:endParaRPr/>
          </a:p>
          <a:p>
            <a:pPr indent="0" lvl="0" marL="35560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Función de una sola fila</a:t>
            </a:r>
            <a:endParaRPr sz="2400"/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Función de varias filas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 txBox="1"/>
          <p:nvPr>
            <p:ph type="title"/>
          </p:nvPr>
        </p:nvSpPr>
        <p:spPr>
          <a:xfrm>
            <a:off x="392112" y="748031"/>
            <a:ext cx="4491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267" name="Google Shape;267;p26"/>
          <p:cNvSpPr txBox="1"/>
          <p:nvPr>
            <p:ph idx="1" type="body"/>
          </p:nvPr>
        </p:nvSpPr>
        <p:spPr>
          <a:xfrm>
            <a:off x="483552" y="1393401"/>
            <a:ext cx="7701900" cy="29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lección, debe haber aprendido lo siguiente:</a:t>
            </a:r>
            <a:endParaRPr/>
          </a:p>
          <a:p>
            <a:pPr indent="-175260" lvl="0" marL="530860" marR="5143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Identificar las aplicaciones adecuadas de funciones de fila única en las sentencias de consulta</a:t>
            </a:r>
            <a:endParaRPr sz="2400"/>
          </a:p>
          <a:p>
            <a:pPr indent="-175260" lvl="0" marL="530860" marR="22034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Clasificar una función como función de una sola fila o de varias filas</a:t>
            </a:r>
            <a:endParaRPr sz="2400"/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Diferenciar entre funciones de una sola fila y funciones de varias filas y los resultados devueltos por cada una</a:t>
            </a:r>
            <a:endParaRPr sz="2400"/>
          </a:p>
        </p:txBody>
      </p:sp>
      <p:grpSp>
        <p:nvGrpSpPr>
          <p:cNvPr id="268" name="Google Shape;268;p26"/>
          <p:cNvGrpSpPr/>
          <p:nvPr/>
        </p:nvGrpSpPr>
        <p:grpSpPr>
          <a:xfrm>
            <a:off x="4497323" y="3997452"/>
            <a:ext cx="4140707" cy="2261615"/>
            <a:chOff x="4497323" y="3997452"/>
            <a:chExt cx="4140707" cy="226161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97323" y="3997452"/>
              <a:ext cx="4140707" cy="2261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89347" y="4189476"/>
              <a:ext cx="3756647" cy="18775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26"/>
          <p:cNvSpPr txBox="1"/>
          <p:nvPr>
            <p:ph idx="10" type="dt"/>
          </p:nvPr>
        </p:nvSpPr>
        <p:spPr>
          <a:xfrm>
            <a:off x="2855904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3-3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Introducción a las Funciones</a:t>
            </a:r>
            <a:endParaRPr/>
          </a:p>
        </p:txBody>
      </p:sp>
      <p:sp>
        <p:nvSpPr>
          <p:cNvPr id="272" name="Google Shape;272;p2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