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41EED2-5F50-4CC6-A257-232FEE93C673}">
  <a:tblStyle styleId="{7C41EED2-5F50-4CC6-A257-232FEE93C673}"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schemas.openxmlformats.org/officeDocument/2006/relationships/slide" Target="slides/slide18.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10:10:26</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Recordatorio: las fechas se deben  introducir entre comillas simples  y el formato por defecto es  dd/Mes/aaaa</a:t>
            </a:r>
            <a:endParaRPr/>
          </a:p>
        </p:txBody>
      </p:sp>
      <p:sp>
        <p:nvSpPr>
          <p:cNvPr id="135" name="Google Shape;135;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10:10:27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empleado Curtis Davis está en  el departamento 50 y su nombre  empieza por "C", por lo que lo  devuelve la cláusula AND. La  cláusula OR devuelve, a  continuación, cualquier  empleado cuyo apellido  contenga la letra "s".</a:t>
            </a:r>
            <a:endParaRPr/>
          </a:p>
          <a:p>
            <a:pPr indent="0" lvl="0" marL="0" rtl="0" algn="l">
              <a:spcBef>
                <a:spcPts val="0"/>
              </a:spcBef>
              <a:spcAft>
                <a:spcPts val="0"/>
              </a:spcAft>
              <a:buNone/>
            </a:pPr>
            <a:r>
              <a:rPr lang="en-US"/>
              <a:t>Si alguna de las condiciones no se  cumplen en la sentencia AND, la  condición OR tendría que  evaluar si son verdaderas para  devolver alguna fila.</a:t>
            </a:r>
            <a:endParaRPr/>
          </a:p>
        </p:txBody>
      </p:sp>
      <p:sp>
        <p:nvSpPr>
          <p:cNvPr id="189" name="Google Shape;189;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96799"/>
            <a:ext cx="7701300" cy="482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0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333599" y="2536202"/>
            <a:ext cx="7531200" cy="13971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1" i="0" sz="1800">
                <a:solidFill>
                  <a:srgbClr val="4E3629"/>
                </a:solidFill>
                <a:latin typeface="Courier New"/>
                <a:ea typeface="Courier New"/>
                <a:cs typeface="Courier New"/>
                <a:sym typeface="Courier New"/>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0" type="dt"/>
          </p:nvPr>
        </p:nvSpPr>
        <p:spPr>
          <a:xfrm>
            <a:off x="2855904" y="6510552"/>
            <a:ext cx="1994400" cy="249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lvl1pPr indent="0" lvl="0" marL="38100" marR="0" algn="l">
              <a:lnSpc>
                <a:spcPct val="107058"/>
              </a:lnSpc>
              <a:spcBef>
                <a:spcPts val="0"/>
              </a:spcBef>
              <a:buNone/>
              <a:defRPr b="0" i="0" sz="850">
                <a:solidFill>
                  <a:srgbClr val="4E3629"/>
                </a:solidFill>
                <a:latin typeface="Calibri"/>
                <a:ea typeface="Calibri"/>
                <a:cs typeface="Calibri"/>
                <a:sym typeface="Calibri"/>
              </a:defRPr>
            </a:lvl1pPr>
            <a:lvl2pPr indent="0" lvl="1" marL="38100" marR="0" algn="l">
              <a:lnSpc>
                <a:spcPct val="107058"/>
              </a:lnSpc>
              <a:spcBef>
                <a:spcPts val="0"/>
              </a:spcBef>
              <a:buNone/>
              <a:defRPr b="0" i="0" sz="850">
                <a:solidFill>
                  <a:srgbClr val="4E3629"/>
                </a:solidFill>
                <a:latin typeface="Calibri"/>
                <a:ea typeface="Calibri"/>
                <a:cs typeface="Calibri"/>
                <a:sym typeface="Calibri"/>
              </a:defRPr>
            </a:lvl2pPr>
            <a:lvl3pPr indent="0" lvl="2" marL="38100" marR="0" algn="l">
              <a:lnSpc>
                <a:spcPct val="107058"/>
              </a:lnSpc>
              <a:spcBef>
                <a:spcPts val="0"/>
              </a:spcBef>
              <a:buNone/>
              <a:defRPr b="0" i="0" sz="850">
                <a:solidFill>
                  <a:srgbClr val="4E3629"/>
                </a:solidFill>
                <a:latin typeface="Calibri"/>
                <a:ea typeface="Calibri"/>
                <a:cs typeface="Calibri"/>
                <a:sym typeface="Calibri"/>
              </a:defRPr>
            </a:lvl3pPr>
            <a:lvl4pPr indent="0" lvl="3" marL="38100" marR="0" algn="l">
              <a:lnSpc>
                <a:spcPct val="107058"/>
              </a:lnSpc>
              <a:spcBef>
                <a:spcPts val="0"/>
              </a:spcBef>
              <a:buNone/>
              <a:defRPr b="0" i="0" sz="850">
                <a:solidFill>
                  <a:srgbClr val="4E3629"/>
                </a:solidFill>
                <a:latin typeface="Calibri"/>
                <a:ea typeface="Calibri"/>
                <a:cs typeface="Calibri"/>
                <a:sym typeface="Calibri"/>
              </a:defRPr>
            </a:lvl4pPr>
            <a:lvl5pPr indent="0" lvl="4" marL="38100" marR="0" algn="l">
              <a:lnSpc>
                <a:spcPct val="107058"/>
              </a:lnSpc>
              <a:spcBef>
                <a:spcPts val="0"/>
              </a:spcBef>
              <a:buNone/>
              <a:defRPr b="0" i="0" sz="850">
                <a:solidFill>
                  <a:srgbClr val="4E3629"/>
                </a:solidFill>
                <a:latin typeface="Calibri"/>
                <a:ea typeface="Calibri"/>
                <a:cs typeface="Calibri"/>
                <a:sym typeface="Calibri"/>
              </a:defRPr>
            </a:lvl5pPr>
            <a:lvl6pPr indent="0" lvl="5" marL="38100" marR="0" algn="l">
              <a:lnSpc>
                <a:spcPct val="107058"/>
              </a:lnSpc>
              <a:spcBef>
                <a:spcPts val="0"/>
              </a:spcBef>
              <a:buNone/>
              <a:defRPr b="0" i="0" sz="850">
                <a:solidFill>
                  <a:srgbClr val="4E3629"/>
                </a:solidFill>
                <a:latin typeface="Calibri"/>
                <a:ea typeface="Calibri"/>
                <a:cs typeface="Calibri"/>
                <a:sym typeface="Calibri"/>
              </a:defRPr>
            </a:lvl6pPr>
            <a:lvl7pPr indent="0" lvl="6" marL="38100" marR="0" algn="l">
              <a:lnSpc>
                <a:spcPct val="107058"/>
              </a:lnSpc>
              <a:spcBef>
                <a:spcPts val="0"/>
              </a:spcBef>
              <a:buNone/>
              <a:defRPr b="0" i="0" sz="850">
                <a:solidFill>
                  <a:srgbClr val="4E3629"/>
                </a:solidFill>
                <a:latin typeface="Calibri"/>
                <a:ea typeface="Calibri"/>
                <a:cs typeface="Calibri"/>
                <a:sym typeface="Calibri"/>
              </a:defRPr>
            </a:lvl7pPr>
            <a:lvl8pPr indent="0" lvl="7" marL="38100" marR="0" algn="l">
              <a:lnSpc>
                <a:spcPct val="107058"/>
              </a:lnSpc>
              <a:spcBef>
                <a:spcPts val="0"/>
              </a:spcBef>
              <a:buNone/>
              <a:defRPr b="0" i="0" sz="850">
                <a:solidFill>
                  <a:srgbClr val="4E3629"/>
                </a:solidFill>
                <a:latin typeface="Calibri"/>
                <a:ea typeface="Calibri"/>
                <a:cs typeface="Calibri"/>
                <a:sym typeface="Calibri"/>
              </a:defRPr>
            </a:lvl8pPr>
            <a:lvl9pPr indent="0" lvl="8" marL="38100" marR="0" algn="l">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1990" cy="155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67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5666105" cy="888365"/>
          </a:xfrm>
          <a:prstGeom prst="rect">
            <a:avLst/>
          </a:prstGeom>
          <a:noFill/>
          <a:ln>
            <a:noFill/>
          </a:ln>
        </p:spPr>
        <p:txBody>
          <a:bodyPr anchorCtr="0" anchor="t" bIns="0" lIns="0" spcFirstLastPara="1" rIns="0" wrap="square" tIns="78100">
            <a:spAutoFit/>
          </a:bodyPr>
          <a:lstStyle/>
          <a:p>
            <a:pPr indent="0" lvl="0" marL="12700" marR="0" rtl="0" algn="l">
              <a:lnSpc>
                <a:spcPct val="100000"/>
              </a:lnSpc>
              <a:spcBef>
                <a:spcPts val="0"/>
              </a:spcBef>
              <a:spcAft>
                <a:spcPts val="0"/>
              </a:spcAft>
              <a:buNone/>
            </a:pPr>
            <a:r>
              <a:rPr b="1" lang="en-US" sz="2400">
                <a:solidFill>
                  <a:srgbClr val="4E3629"/>
                </a:solidFill>
                <a:latin typeface="Calibri"/>
                <a:ea typeface="Calibri"/>
                <a:cs typeface="Calibri"/>
                <a:sym typeface="Calibri"/>
              </a:rPr>
              <a:t>3-1</a:t>
            </a:r>
            <a:endParaRPr sz="2400">
              <a:latin typeface="Calibri"/>
              <a:ea typeface="Calibri"/>
              <a:cs typeface="Calibri"/>
              <a:sym typeface="Calibri"/>
            </a:endParaRPr>
          </a:p>
          <a:p>
            <a:pPr indent="0" lvl="0" marL="12700" marR="0" rtl="0" algn="l">
              <a:lnSpc>
                <a:spcPct val="100000"/>
              </a:lnSpc>
              <a:spcBef>
                <a:spcPts val="515"/>
              </a:spcBef>
              <a:spcAft>
                <a:spcPts val="0"/>
              </a:spcAft>
              <a:buNone/>
            </a:pPr>
            <a:r>
              <a:rPr b="1" lang="en-US" sz="2400">
                <a:solidFill>
                  <a:srgbClr val="4E3629"/>
                </a:solidFill>
                <a:latin typeface="Calibri"/>
                <a:ea typeface="Calibri"/>
                <a:cs typeface="Calibri"/>
                <a:sym typeface="Calibri"/>
              </a:rPr>
              <a:t>Comparaciones Lógicas y Reglas de Prioridad</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59778" y="3470588"/>
            <a:ext cx="5059680" cy="29657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16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Objetivos</a:t>
            </a:r>
            <a:endParaRPr sz="3300"/>
          </a:p>
        </p:txBody>
      </p:sp>
      <p:sp>
        <p:nvSpPr>
          <p:cNvPr id="73" name="Google Shape;73;p15"/>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74" name="Google Shape;74;p1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75" name="Google Shape;75;p15"/>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76" name="Google Shape;76;p15"/>
          <p:cNvSpPr txBox="1"/>
          <p:nvPr/>
        </p:nvSpPr>
        <p:spPr>
          <a:xfrm>
            <a:off x="483552" y="1393401"/>
            <a:ext cx="8041005" cy="1896110"/>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56515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Evaluar las comparaciones lógicas para restringir las filas  devueltas en función de dos o más condiciones</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Aplicar las reglas de prioridad para determinar el orden en el  que se evalúan y calculan las expresiones</a:t>
            </a:r>
            <a:endParaRPr sz="2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a:t>
            </a:r>
            <a:endParaRPr sz="3300"/>
          </a:p>
        </p:txBody>
      </p:sp>
      <p:sp>
        <p:nvSpPr>
          <p:cNvPr id="82" name="Google Shape;82;p16"/>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83" name="Google Shape;83;p1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4" name="Google Shape;84;p16"/>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85" name="Google Shape;85;p16"/>
          <p:cNvSpPr txBox="1"/>
          <p:nvPr/>
        </p:nvSpPr>
        <p:spPr>
          <a:xfrm>
            <a:off x="483552" y="1415417"/>
            <a:ext cx="8166100" cy="3829050"/>
          </a:xfrm>
          <a:prstGeom prst="rect">
            <a:avLst/>
          </a:prstGeom>
          <a:noFill/>
          <a:ln>
            <a:noFill/>
          </a:ln>
        </p:spPr>
        <p:txBody>
          <a:bodyPr anchorCtr="0" anchor="t" bIns="0" lIns="0" spcFirstLastPara="1" rIns="0" wrap="square" tIns="59675">
            <a:spAutoFit/>
          </a:bodyPr>
          <a:lstStyle/>
          <a:p>
            <a:pPr indent="-177800" lvl="0" marL="184785" marR="2019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hay muchas cosas en la vida que dependan de una  sola condición</a:t>
            </a:r>
            <a:endParaRPr sz="2800">
              <a:latin typeface="Calibri"/>
              <a:ea typeface="Calibri"/>
              <a:cs typeface="Calibri"/>
              <a:sym typeface="Calibri"/>
            </a:endParaRPr>
          </a:p>
          <a:p>
            <a:pPr indent="-177800" lvl="0" marL="184785" marR="46863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si desea ir a la universidad,  probablemente necesite buenas notas y dinero para  pagarla</a:t>
            </a:r>
            <a:endParaRPr sz="2800">
              <a:latin typeface="Calibri"/>
              <a:ea typeface="Calibri"/>
              <a:cs typeface="Calibri"/>
              <a:sym typeface="Calibri"/>
            </a:endParaRPr>
          </a:p>
          <a:p>
            <a:pPr indent="-177800" lvl="0" marL="184785" marR="0" rtl="0" algn="just">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tiene dinero adicional, puede guardarlo o gastarlo</a:t>
            </a:r>
            <a:endParaRPr sz="2800">
              <a:latin typeface="Calibri"/>
              <a:ea typeface="Calibri"/>
              <a:cs typeface="Calibri"/>
              <a:sym typeface="Calibri"/>
            </a:endParaRPr>
          </a:p>
          <a:p>
            <a:pPr indent="-177800" lvl="0" marL="184785" marR="5080" rtl="0" algn="just">
              <a:lnSpc>
                <a:spcPct val="108214"/>
              </a:lnSpc>
              <a:spcBef>
                <a:spcPts val="83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 ir al cine, es posible que no desee ir este fin de  semana y puede que no desee sentarse en las primeras  10 filas de la sala</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a:t>
            </a:r>
            <a:endParaRPr sz="3300"/>
          </a:p>
        </p:txBody>
      </p:sp>
      <p:sp>
        <p:nvSpPr>
          <p:cNvPr id="91" name="Google Shape;91;p17"/>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92" name="Google Shape;92;p1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3" name="Google Shape;93;p17"/>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94" name="Google Shape;94;p17"/>
          <p:cNvSpPr txBox="1"/>
          <p:nvPr/>
        </p:nvSpPr>
        <p:spPr>
          <a:xfrm>
            <a:off x="483552" y="1415417"/>
            <a:ext cx="8133715" cy="4213225"/>
          </a:xfrm>
          <a:prstGeom prst="rect">
            <a:avLst/>
          </a:prstGeom>
          <a:noFill/>
          <a:ln>
            <a:noFill/>
          </a:ln>
        </p:spPr>
        <p:txBody>
          <a:bodyPr anchorCtr="0" anchor="t" bIns="0" lIns="0" spcFirstLastPara="1" rIns="0" wrap="square" tIns="59675">
            <a:spAutoFit/>
          </a:bodyPr>
          <a:lstStyle/>
          <a:p>
            <a:pPr indent="-177800" lvl="0" marL="184785" marR="1676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SQL, por lo general, es aconsejable poder restringir  las filas devueltas en una consulta en función de dos  o más condiciones</a:t>
            </a:r>
            <a:endParaRPr sz="2800">
              <a:latin typeface="Calibri"/>
              <a:ea typeface="Calibri"/>
              <a:cs typeface="Calibri"/>
              <a:sym typeface="Calibri"/>
            </a:endParaRPr>
          </a:p>
          <a:p>
            <a:pPr indent="-177800" lvl="0" marL="184785" marR="508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jefe de un negocio de comida rápida, puede que  necesite conocer los nombres de su los empleados que  sean cocineros o los que toman los pedidos</a:t>
            </a:r>
            <a:endParaRPr sz="2800">
              <a:latin typeface="Calibri"/>
              <a:ea typeface="Calibri"/>
              <a:cs typeface="Calibri"/>
              <a:sym typeface="Calibri"/>
            </a:endParaRPr>
          </a:p>
          <a:p>
            <a:pPr indent="-177800" lvl="0" marL="184785" marR="72580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necesita ni desea una lista de todo el personal,  solo quiere un subjuego de ella</a:t>
            </a:r>
            <a:endParaRPr sz="2800">
              <a:latin typeface="Calibri"/>
              <a:ea typeface="Calibri"/>
              <a:cs typeface="Calibri"/>
              <a:sym typeface="Calibri"/>
            </a:endParaRPr>
          </a:p>
          <a:p>
            <a:pPr indent="-177800" lvl="0" marL="184785" marR="52832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operadores condicionales como AND, NOT y OR  facilitan el uso de este tipo de solicitudes</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92112" y="748031"/>
            <a:ext cx="3418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Condiciones Lógicas</a:t>
            </a:r>
            <a:endParaRPr sz="3300"/>
          </a:p>
        </p:txBody>
      </p:sp>
      <p:sp>
        <p:nvSpPr>
          <p:cNvPr id="100" name="Google Shape;100;p18"/>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01" name="Google Shape;101;p1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2" name="Google Shape;102;p18"/>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03" name="Google Shape;103;p18"/>
          <p:cNvSpPr txBox="1"/>
          <p:nvPr/>
        </p:nvSpPr>
        <p:spPr>
          <a:xfrm>
            <a:off x="483552" y="1415417"/>
            <a:ext cx="8170545" cy="3060700"/>
          </a:xfrm>
          <a:prstGeom prst="rect">
            <a:avLst/>
          </a:prstGeom>
          <a:noFill/>
          <a:ln>
            <a:noFill/>
          </a:ln>
        </p:spPr>
        <p:txBody>
          <a:bodyPr anchorCtr="0" anchor="t" bIns="0" lIns="0" spcFirstLastPara="1" rIns="0" wrap="square" tIns="59675">
            <a:spAutoFit/>
          </a:bodyPr>
          <a:lstStyle/>
          <a:p>
            <a:pPr indent="-177800" lvl="0" marL="184785" marR="33972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condiciones lógicas combinan el resultado de dos  condiciones de componentes para producir un único  resultado según dichas condiciones</a:t>
            </a:r>
            <a:endParaRPr sz="2800">
              <a:latin typeface="Calibri"/>
              <a:ea typeface="Calibri"/>
              <a:cs typeface="Calibri"/>
              <a:sym typeface="Calibri"/>
            </a:endParaRPr>
          </a:p>
          <a:p>
            <a:pPr indent="-177800" lvl="0" marL="184785" marR="310515"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para asistir a un concierto de rock, debe  adquirir una entrada y el transporte para llegar allí</a:t>
            </a:r>
            <a:endParaRPr sz="2800">
              <a:latin typeface="Calibri"/>
              <a:ea typeface="Calibri"/>
              <a:cs typeface="Calibri"/>
              <a:sym typeface="Calibri"/>
            </a:endParaRPr>
          </a:p>
          <a:p>
            <a:pPr indent="-177800" lvl="0" marL="184785" marR="0" rtl="0" algn="just">
              <a:lnSpc>
                <a:spcPct val="100000"/>
              </a:lnSpc>
              <a:spcBef>
                <a:spcPts val="42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cumplen las dos condiciones, puede ir al concierto</a:t>
            </a:r>
            <a:endParaRPr sz="2800">
              <a:latin typeface="Calibri"/>
              <a:ea typeface="Calibri"/>
              <a:cs typeface="Calibri"/>
              <a:sym typeface="Calibri"/>
            </a:endParaRPr>
          </a:p>
          <a:p>
            <a:pPr indent="-177800" lvl="0" marL="184785" marR="0" rtl="0" algn="just">
              <a:lnSpc>
                <a:spcPct val="100000"/>
              </a:lnSpc>
              <a:spcBef>
                <a:spcPts val="45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hacer si no puede obtener transporte, puede ir?</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92112" y="748031"/>
            <a:ext cx="3418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Condiciones Lógicas</a:t>
            </a:r>
            <a:endParaRPr sz="3300"/>
          </a:p>
        </p:txBody>
      </p:sp>
      <p:sp>
        <p:nvSpPr>
          <p:cNvPr id="109" name="Google Shape;109;p19"/>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10" name="Google Shape;110;p1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1" name="Google Shape;111;p19"/>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12" name="Google Shape;112;p19"/>
          <p:cNvSpPr txBox="1"/>
          <p:nvPr/>
        </p:nvSpPr>
        <p:spPr>
          <a:xfrm>
            <a:off x="483552" y="1415417"/>
            <a:ext cx="8152130" cy="2960370"/>
          </a:xfrm>
          <a:prstGeom prst="rect">
            <a:avLst/>
          </a:prstGeom>
          <a:noFill/>
          <a:ln>
            <a:noFill/>
          </a:ln>
        </p:spPr>
        <p:txBody>
          <a:bodyPr anchorCtr="0" anchor="t" bIns="0" lIns="0" spcFirstLastPara="1" rIns="0" wrap="square" tIns="59675">
            <a:spAutoFit/>
          </a:bodyPr>
          <a:lstStyle/>
          <a:p>
            <a:pPr indent="-177800" lvl="0" marL="184785" marR="76962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Otra condición lógica combina dos condiciones de  componentes con OR</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Todos los empleados recibirán un aumento si tienen un  registro de asistencia perfecto o cumplen con su cuota  de ventas mensual</a:t>
            </a:r>
            <a:endParaRPr sz="2800">
              <a:latin typeface="Calibri"/>
              <a:ea typeface="Calibri"/>
              <a:cs typeface="Calibri"/>
              <a:sym typeface="Calibri"/>
            </a:endParaRPr>
          </a:p>
          <a:p>
            <a:pPr indent="-177800" lvl="0" marL="184785" marR="113919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un empleado cumple cualquiera de estas dos  condiciones, el empleado obtiene un aumento</a:t>
            </a:r>
            <a:endParaRPr sz="28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392112" y="748031"/>
            <a:ext cx="3366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Operadores Lógicos</a:t>
            </a:r>
            <a:endParaRPr sz="3300"/>
          </a:p>
        </p:txBody>
      </p:sp>
      <p:sp>
        <p:nvSpPr>
          <p:cNvPr id="118" name="Google Shape;118;p20"/>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19" name="Google Shape;119;p2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0" name="Google Shape;120;p20"/>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21" name="Google Shape;121;p20"/>
          <p:cNvSpPr txBox="1"/>
          <p:nvPr/>
        </p:nvSpPr>
        <p:spPr>
          <a:xfrm>
            <a:off x="483552" y="1415417"/>
            <a:ext cx="8183880" cy="3931285"/>
          </a:xfrm>
          <a:prstGeom prst="rect">
            <a:avLst/>
          </a:prstGeom>
          <a:noFill/>
          <a:ln>
            <a:noFill/>
          </a:ln>
        </p:spPr>
        <p:txBody>
          <a:bodyPr anchorCtr="0" anchor="t" bIns="0" lIns="0" spcFirstLastPara="1" rIns="0" wrap="square" tIns="59675">
            <a:spAutoFit/>
          </a:bodyPr>
          <a:lstStyle/>
          <a:p>
            <a:pPr indent="-177800" lvl="0" marL="184785" marR="521334"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operador lógico combina los resultados de dos o  más condiciones para producir un único resultado</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devuelve un resultado SOLO SI el resultado global de  la condición es verdadero</a:t>
            </a:r>
            <a:endParaRPr sz="2800">
              <a:latin typeface="Calibri"/>
              <a:ea typeface="Calibri"/>
              <a:cs typeface="Calibri"/>
              <a:sym typeface="Calibri"/>
            </a:endParaRPr>
          </a:p>
          <a:p>
            <a:pPr indent="-177800" lvl="0" marL="184785" marR="11239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AND: devuelve TRUE (verdadero) si ambas condiciones  son verdaderas</a:t>
            </a:r>
            <a:endParaRPr sz="2800">
              <a:latin typeface="Calibri"/>
              <a:ea typeface="Calibri"/>
              <a:cs typeface="Calibri"/>
              <a:sym typeface="Calibri"/>
            </a:endParaRPr>
          </a:p>
          <a:p>
            <a:pPr indent="-177800" lvl="0" marL="184785" marR="26225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OR: devuelve TRUE (verdadero) si cualquier condición  es verdadera</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NOT: devuelve TRUE (verdadero) si la condición es falsa</a:t>
            </a:r>
            <a:endParaRPr sz="28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392112" y="748031"/>
            <a:ext cx="2523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Operador AND</a:t>
            </a:r>
            <a:endParaRPr sz="3300"/>
          </a:p>
        </p:txBody>
      </p:sp>
      <p:sp>
        <p:nvSpPr>
          <p:cNvPr id="127" name="Google Shape;127;p21"/>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28" name="Google Shape;128;p2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9" name="Google Shape;129;p21"/>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30" name="Google Shape;130;p21"/>
          <p:cNvSpPr txBox="1"/>
          <p:nvPr/>
        </p:nvSpPr>
        <p:spPr>
          <a:xfrm>
            <a:off x="483552" y="1415417"/>
            <a:ext cx="8093709" cy="1220470"/>
          </a:xfrm>
          <a:prstGeom prst="rect">
            <a:avLst/>
          </a:prstGeom>
          <a:noFill/>
          <a:ln>
            <a:noFill/>
          </a:ln>
        </p:spPr>
        <p:txBody>
          <a:bodyPr anchorCtr="0" anchor="t" bIns="0" lIns="0" spcFirstLastPara="1" rIns="0" wrap="square" tIns="59675">
            <a:spAutoFit/>
          </a:bodyPr>
          <a:lstStyle/>
          <a:p>
            <a:pPr indent="-177800" lvl="0" marL="184785" marR="508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siguiente consulta, los resultados devueltos serán  las filas que cumplan ambas condiciones especificadas  en la cláusula WHERE</a:t>
            </a:r>
            <a:endParaRPr sz="2800">
              <a:latin typeface="Calibri"/>
              <a:ea typeface="Calibri"/>
              <a:cs typeface="Calibri"/>
              <a:sym typeface="Calibri"/>
            </a:endParaRPr>
          </a:p>
        </p:txBody>
      </p:sp>
      <p:graphicFrame>
        <p:nvGraphicFramePr>
          <p:cNvPr id="131" name="Google Shape;131;p21"/>
          <p:cNvGraphicFramePr/>
          <p:nvPr/>
        </p:nvGraphicFramePr>
        <p:xfrm>
          <a:off x="2503244" y="3876752"/>
          <a:ext cx="3000000" cy="3000000"/>
        </p:xfrm>
        <a:graphic>
          <a:graphicData uri="http://schemas.openxmlformats.org/drawingml/2006/table">
            <a:tbl>
              <a:tblPr bandRow="1" firstRow="1">
                <a:noFill/>
                <a:tableStyleId>{7C41EED2-5F50-4CC6-A257-232FEE93C673}</a:tableStyleId>
              </a:tblPr>
              <a:tblGrid>
                <a:gridCol w="1450975"/>
                <a:gridCol w="2026275"/>
                <a:gridCol w="1175375"/>
              </a:tblGrid>
              <a:tr h="2972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1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972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1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1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972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1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39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972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13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13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13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32" name="Google Shape;132;p21"/>
          <p:cNvSpPr txBox="1"/>
          <p:nvPr/>
        </p:nvSpPr>
        <p:spPr>
          <a:xfrm>
            <a:off x="405384" y="2781300"/>
            <a:ext cx="8345805" cy="858519"/>
          </a:xfrm>
          <a:prstGeom prst="rect">
            <a:avLst/>
          </a:prstGeom>
          <a:solidFill>
            <a:srgbClr val="9DBDC4">
              <a:alpha val="49804"/>
            </a:srgbClr>
          </a:solidFill>
          <a:ln>
            <a:noFill/>
          </a:ln>
        </p:spPr>
        <p:txBody>
          <a:bodyPr anchorCtr="0" anchor="t" bIns="0" lIns="0" spcFirstLastPara="1" rIns="0" wrap="square" tIns="0">
            <a:spAutoFit/>
          </a:bodyPr>
          <a:lstStyle/>
          <a:p>
            <a:pPr indent="0" lvl="0" marL="121285" marR="0" rtl="0" algn="l">
              <a:lnSpc>
                <a:spcPct val="115555"/>
              </a:lnSpc>
              <a:spcBef>
                <a:spcPts val="0"/>
              </a:spcBef>
              <a:spcAft>
                <a:spcPts val="0"/>
              </a:spcAft>
              <a:buNone/>
            </a:pPr>
            <a:r>
              <a:rPr b="1" lang="en-US" sz="1800">
                <a:solidFill>
                  <a:srgbClr val="4E3629"/>
                </a:solidFill>
                <a:latin typeface="Courier New"/>
                <a:ea typeface="Courier New"/>
                <a:cs typeface="Courier New"/>
                <a:sym typeface="Courier New"/>
              </a:rPr>
              <a:t>SELECT last_name, department_id, salary</a:t>
            </a:r>
            <a:endParaRPr sz="1800">
              <a:latin typeface="Courier New"/>
              <a:ea typeface="Courier New"/>
              <a:cs typeface="Courier New"/>
              <a:sym typeface="Courier New"/>
            </a:endParaRPr>
          </a:p>
          <a:p>
            <a:pPr indent="0" lvl="0" marL="1212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1212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&gt; 50 AND salary &gt; 12000;</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392112" y="748031"/>
            <a:ext cx="2523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Operador AND</a:t>
            </a:r>
            <a:endParaRPr sz="3300"/>
          </a:p>
        </p:txBody>
      </p:sp>
      <p:sp>
        <p:nvSpPr>
          <p:cNvPr id="138" name="Google Shape;138;p22"/>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39" name="Google Shape;139;p2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40" name="Google Shape;140;p22"/>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41" name="Google Shape;141;p22"/>
          <p:cNvSpPr txBox="1"/>
          <p:nvPr/>
        </p:nvSpPr>
        <p:spPr>
          <a:xfrm>
            <a:off x="483552" y="1415417"/>
            <a:ext cx="7599045" cy="452120"/>
          </a:xfrm>
          <a:prstGeom prst="rect">
            <a:avLst/>
          </a:prstGeom>
          <a:noFill/>
          <a:ln>
            <a:noFill/>
          </a:ln>
        </p:spPr>
        <p:txBody>
          <a:bodyPr anchorCtr="0" anchor="t" bIns="0" lIns="0" spcFirstLastPara="1" rIns="0" wrap="square" tIns="120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Otro ejemplo del uso de AND en la cláusula WHERE</a:t>
            </a:r>
            <a:endParaRPr sz="2800">
              <a:latin typeface="Calibri"/>
              <a:ea typeface="Calibri"/>
              <a:cs typeface="Calibri"/>
              <a:sym typeface="Calibri"/>
            </a:endParaRPr>
          </a:p>
        </p:txBody>
      </p:sp>
      <p:graphicFrame>
        <p:nvGraphicFramePr>
          <p:cNvPr id="142" name="Google Shape;142;p22"/>
          <p:cNvGraphicFramePr/>
          <p:nvPr/>
        </p:nvGraphicFramePr>
        <p:xfrm>
          <a:off x="2400903" y="3520630"/>
          <a:ext cx="3000000" cy="3000000"/>
        </p:xfrm>
        <a:graphic>
          <a:graphicData uri="http://schemas.openxmlformats.org/drawingml/2006/table">
            <a:tbl>
              <a:tblPr bandRow="1" firstRow="1">
                <a:noFill/>
                <a:tableStyleId>{7C41EED2-5F50-4CC6-A257-232FEE93C673}</a:tableStyleId>
              </a:tblPr>
              <a:tblGrid>
                <a:gridCol w="1497325"/>
                <a:gridCol w="1497325"/>
                <a:gridCol w="1497325"/>
              </a:tblGrid>
              <a:tr h="4115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4115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Zlotkey</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29-Jan-2000</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SA_MAN</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4115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Taylor</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24-Mar-1998</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4115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Grant</a:t>
                      </a:r>
                      <a:endParaRPr sz="1600" u="none" cap="none" strike="noStrike">
                        <a:latin typeface="Calibri"/>
                        <a:ea typeface="Calibri"/>
                        <a:cs typeface="Calibri"/>
                        <a:sym typeface="Calibri"/>
                      </a:endParaRPr>
                    </a:p>
                  </a:txBody>
                  <a:tcPr marT="7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24-May-1999</a:t>
                      </a:r>
                      <a:endParaRPr sz="1600" u="none" cap="none" strike="noStrike">
                        <a:latin typeface="Calibri"/>
                        <a:ea typeface="Calibri"/>
                        <a:cs typeface="Calibri"/>
                        <a:sym typeface="Calibri"/>
                      </a:endParaRPr>
                    </a:p>
                  </a:txBody>
                  <a:tcPr marT="7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704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43" name="Google Shape;143;p22"/>
          <p:cNvSpPr txBox="1"/>
          <p:nvPr/>
        </p:nvSpPr>
        <p:spPr>
          <a:xfrm>
            <a:off x="405384" y="2180844"/>
            <a:ext cx="8345805" cy="858519"/>
          </a:xfrm>
          <a:prstGeom prst="rect">
            <a:avLst/>
          </a:prstGeom>
          <a:solidFill>
            <a:srgbClr val="9DBDC4">
              <a:alpha val="49804"/>
            </a:srgbClr>
          </a:solidFill>
          <a:ln>
            <a:noFill/>
          </a:ln>
        </p:spPr>
        <p:txBody>
          <a:bodyPr anchorCtr="0" anchor="t" bIns="0" lIns="0" spcFirstLastPara="1" rIns="0" wrap="square" tIns="0">
            <a:spAutoFit/>
          </a:bodyPr>
          <a:lstStyle/>
          <a:p>
            <a:pPr indent="0" lvl="0" marL="121285" marR="0" rtl="0" algn="l">
              <a:lnSpc>
                <a:spcPct val="115277"/>
              </a:lnSpc>
              <a:spcBef>
                <a:spcPts val="0"/>
              </a:spcBef>
              <a:spcAft>
                <a:spcPts val="0"/>
              </a:spcAft>
              <a:buNone/>
            </a:pPr>
            <a:r>
              <a:rPr b="1" lang="en-US" sz="1800">
                <a:solidFill>
                  <a:srgbClr val="4E3629"/>
                </a:solidFill>
                <a:latin typeface="Courier New"/>
                <a:ea typeface="Courier New"/>
                <a:cs typeface="Courier New"/>
                <a:sym typeface="Courier New"/>
              </a:rPr>
              <a:t>SELECT last_name, hire_date, job_id</a:t>
            </a:r>
            <a:endParaRPr sz="1800">
              <a:latin typeface="Courier New"/>
              <a:ea typeface="Courier New"/>
              <a:cs typeface="Courier New"/>
              <a:sym typeface="Courier New"/>
            </a:endParaRPr>
          </a:p>
          <a:p>
            <a:pPr indent="0" lvl="0" marL="1212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1212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hire_date &gt; '01-Jan-1998' AND job_id LIKE 'SA%';</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392112" y="748031"/>
            <a:ext cx="2256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Operador OR</a:t>
            </a:r>
            <a:endParaRPr sz="3300"/>
          </a:p>
        </p:txBody>
      </p:sp>
      <p:sp>
        <p:nvSpPr>
          <p:cNvPr id="149" name="Google Shape;149;p23"/>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50" name="Google Shape;150;p2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1" name="Google Shape;151;p23"/>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52" name="Google Shape;152;p23"/>
          <p:cNvSpPr txBox="1"/>
          <p:nvPr/>
        </p:nvSpPr>
        <p:spPr>
          <a:xfrm>
            <a:off x="483552" y="1415417"/>
            <a:ext cx="7706995" cy="2474595"/>
          </a:xfrm>
          <a:prstGeom prst="rect">
            <a:avLst/>
          </a:prstGeom>
          <a:noFill/>
          <a:ln>
            <a:noFill/>
          </a:ln>
        </p:spPr>
        <p:txBody>
          <a:bodyPr anchorCtr="0" anchor="t" bIns="0" lIns="0" spcFirstLastPara="1" rIns="0" wrap="square" tIns="59675">
            <a:spAutoFit/>
          </a:bodyPr>
          <a:lstStyle/>
          <a:p>
            <a:pPr indent="-177800" lvl="0" marL="184785" marR="1549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cláusula WHERE utiliza la condición OR, los  resultados devueltos de una consulta serán las filas  que cumplan una de las condiciones de OR</a:t>
            </a:r>
            <a:endParaRPr sz="2800">
              <a:latin typeface="Calibri"/>
              <a:ea typeface="Calibri"/>
              <a:cs typeface="Calibri"/>
              <a:sym typeface="Calibri"/>
            </a:endParaRPr>
          </a:p>
          <a:p>
            <a:pPr indent="-177800" lvl="0" marL="184150" marR="508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otras palabras, todas las filas devueltas tienen un  location_id de 2500 o tienen un manager_id igual a  124</a:t>
            </a:r>
            <a:endParaRPr sz="2800">
              <a:latin typeface="Calibri"/>
              <a:ea typeface="Calibri"/>
              <a:cs typeface="Calibri"/>
              <a:sym typeface="Calibri"/>
            </a:endParaRPr>
          </a:p>
        </p:txBody>
      </p:sp>
      <p:graphicFrame>
        <p:nvGraphicFramePr>
          <p:cNvPr id="153" name="Google Shape;153;p23"/>
          <p:cNvGraphicFramePr/>
          <p:nvPr/>
        </p:nvGraphicFramePr>
        <p:xfrm>
          <a:off x="1754682" y="5029654"/>
          <a:ext cx="3000000" cy="3000000"/>
        </p:xfrm>
        <a:graphic>
          <a:graphicData uri="http://schemas.openxmlformats.org/drawingml/2006/table">
            <a:tbl>
              <a:tblPr bandRow="1" firstRow="1">
                <a:noFill/>
                <a:tableStyleId>{7C41EED2-5F50-4CC6-A257-232FEE93C673}</a:tableStyleId>
              </a:tblPr>
              <a:tblGrid>
                <a:gridCol w="2257425"/>
                <a:gridCol w="1722125"/>
                <a:gridCol w="1989450"/>
              </a:tblGrid>
              <a:tr h="4035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DEPARTMENT_NAME</a:t>
                      </a:r>
                      <a:endParaRPr sz="1600" u="none" cap="none" strike="noStrike">
                        <a:latin typeface="Calibri"/>
                        <a:ea typeface="Calibri"/>
                        <a:cs typeface="Calibri"/>
                        <a:sym typeface="Calibri"/>
                      </a:endParaRPr>
                    </a:p>
                  </a:txBody>
                  <a:tcPr marT="66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MANAGER_ID</a:t>
                      </a:r>
                      <a:endParaRPr sz="1600" u="none" cap="none" strike="noStrike">
                        <a:latin typeface="Calibri"/>
                        <a:ea typeface="Calibri"/>
                        <a:cs typeface="Calibri"/>
                        <a:sym typeface="Calibri"/>
                      </a:endParaRPr>
                    </a:p>
                  </a:txBody>
                  <a:tcPr marT="66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666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51125">
                <a:tc>
                  <a:txBody>
                    <a:bodyPr/>
                    <a:lstStyle/>
                    <a:p>
                      <a:pPr indent="0" lvl="0" marL="71755" marR="0" rtl="0" algn="l">
                        <a:lnSpc>
                          <a:spcPct val="115625"/>
                        </a:lnSpc>
                        <a:spcBef>
                          <a:spcPts val="0"/>
                        </a:spcBef>
                        <a:spcAft>
                          <a:spcPts val="0"/>
                        </a:spcAft>
                        <a:buNone/>
                      </a:pPr>
                      <a:r>
                        <a:rPr lang="en-US" sz="1600" u="none" cap="none" strike="noStrike">
                          <a:solidFill>
                            <a:srgbClr val="4E3629"/>
                          </a:solidFill>
                          <a:latin typeface="Calibri"/>
                          <a:ea typeface="Calibri"/>
                          <a:cs typeface="Calibri"/>
                          <a:sym typeface="Calibri"/>
                        </a:rPr>
                        <a:t>Shipping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5625"/>
                        </a:lnSpc>
                        <a:spcBef>
                          <a:spcPts val="0"/>
                        </a:spcBef>
                        <a:spcAft>
                          <a:spcPts val="0"/>
                        </a:spcAft>
                        <a:buNone/>
                      </a:pPr>
                      <a:r>
                        <a:rPr lang="en-US" sz="1600" u="none" cap="none" strike="noStrike">
                          <a:solidFill>
                            <a:srgbClr val="4E3629"/>
                          </a:solidFill>
                          <a:latin typeface="Calibri"/>
                          <a:ea typeface="Calibri"/>
                          <a:cs typeface="Calibri"/>
                          <a:sym typeface="Calibri"/>
                        </a:rPr>
                        <a:t>124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5625"/>
                        </a:lnSpc>
                        <a:spcBef>
                          <a:spcPts val="0"/>
                        </a:spcBef>
                        <a:spcAft>
                          <a:spcPts val="0"/>
                        </a:spcAft>
                        <a:buNone/>
                      </a:pPr>
                      <a:r>
                        <a:rPr lang="en-US" sz="1600" u="none" cap="none" strike="noStrike">
                          <a:solidFill>
                            <a:srgbClr val="4E3629"/>
                          </a:solidFill>
                          <a:latin typeface="Calibri"/>
                          <a:ea typeface="Calibri"/>
                          <a:cs typeface="Calibri"/>
                          <a:sym typeface="Calibri"/>
                        </a:rPr>
                        <a:t>1500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51125">
                <a:tc>
                  <a:txBody>
                    <a:bodyPr/>
                    <a:lstStyle/>
                    <a:p>
                      <a:pPr indent="0" lvl="0" marL="71755" marR="0" rtl="0" algn="l">
                        <a:lnSpc>
                          <a:spcPct val="115625"/>
                        </a:lnSpc>
                        <a:spcBef>
                          <a:spcPts val="0"/>
                        </a:spcBef>
                        <a:spcAft>
                          <a:spcPts val="0"/>
                        </a:spcAft>
                        <a:buNone/>
                      </a:pPr>
                      <a:r>
                        <a:rPr lang="en-US" sz="1600" u="none" cap="none" strike="noStrike">
                          <a:solidFill>
                            <a:srgbClr val="4E3629"/>
                          </a:solidFill>
                          <a:latin typeface="Calibri"/>
                          <a:ea typeface="Calibri"/>
                          <a:cs typeface="Calibri"/>
                          <a:sym typeface="Calibri"/>
                        </a:rPr>
                        <a:t>Sales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5625"/>
                        </a:lnSpc>
                        <a:spcBef>
                          <a:spcPts val="0"/>
                        </a:spcBef>
                        <a:spcAft>
                          <a:spcPts val="0"/>
                        </a:spcAft>
                        <a:buNone/>
                      </a:pPr>
                      <a:r>
                        <a:rPr lang="en-US" sz="1600" u="none" cap="none" strike="noStrike">
                          <a:solidFill>
                            <a:srgbClr val="4E3629"/>
                          </a:solidFill>
                          <a:latin typeface="Calibri"/>
                          <a:ea typeface="Calibri"/>
                          <a:cs typeface="Calibri"/>
                          <a:sym typeface="Calibri"/>
                        </a:rPr>
                        <a:t>149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5625"/>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54" name="Google Shape;154;p23"/>
          <p:cNvSpPr txBox="1"/>
          <p:nvPr/>
        </p:nvSpPr>
        <p:spPr>
          <a:xfrm>
            <a:off x="405384" y="3931920"/>
            <a:ext cx="8345805" cy="858519"/>
          </a:xfrm>
          <a:prstGeom prst="rect">
            <a:avLst/>
          </a:prstGeom>
          <a:solidFill>
            <a:srgbClr val="9DBDC4">
              <a:alpha val="49804"/>
            </a:srgbClr>
          </a:solidFill>
          <a:ln>
            <a:noFill/>
          </a:ln>
        </p:spPr>
        <p:txBody>
          <a:bodyPr anchorCtr="0" anchor="t" bIns="0" lIns="0" spcFirstLastPara="1" rIns="0" wrap="square" tIns="0">
            <a:spAutoFit/>
          </a:bodyPr>
          <a:lstStyle/>
          <a:p>
            <a:pPr indent="0" lvl="0" marL="121285" marR="0" rtl="0" algn="l">
              <a:lnSpc>
                <a:spcPct val="115555"/>
              </a:lnSpc>
              <a:spcBef>
                <a:spcPts val="0"/>
              </a:spcBef>
              <a:spcAft>
                <a:spcPts val="0"/>
              </a:spcAft>
              <a:buNone/>
            </a:pPr>
            <a:r>
              <a:rPr b="1" lang="en-US" sz="1800">
                <a:solidFill>
                  <a:srgbClr val="4E3629"/>
                </a:solidFill>
                <a:latin typeface="Courier New"/>
                <a:ea typeface="Courier New"/>
                <a:cs typeface="Courier New"/>
                <a:sym typeface="Courier New"/>
              </a:rPr>
              <a:t>SELECT department_name, manager_id, location_id</a:t>
            </a:r>
            <a:endParaRPr sz="1800">
              <a:latin typeface="Courier New"/>
              <a:ea typeface="Courier New"/>
              <a:cs typeface="Courier New"/>
              <a:sym typeface="Courier New"/>
            </a:endParaRPr>
          </a:p>
          <a:p>
            <a:pPr indent="0" lvl="0" marL="1212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departments</a:t>
            </a:r>
            <a:endParaRPr sz="1800">
              <a:latin typeface="Courier New"/>
              <a:ea typeface="Courier New"/>
              <a:cs typeface="Courier New"/>
              <a:sym typeface="Courier New"/>
            </a:endParaRPr>
          </a:p>
          <a:p>
            <a:pPr indent="0" lvl="0" marL="12128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location_id = 2500 OR manager_id=124;</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txBox="1"/>
          <p:nvPr>
            <p:ph type="title"/>
          </p:nvPr>
        </p:nvSpPr>
        <p:spPr>
          <a:xfrm>
            <a:off x="392112" y="748031"/>
            <a:ext cx="2494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Operador NOT</a:t>
            </a:r>
            <a:endParaRPr sz="3300"/>
          </a:p>
        </p:txBody>
      </p:sp>
      <p:sp>
        <p:nvSpPr>
          <p:cNvPr id="160" name="Google Shape;160;p24"/>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61" name="Google Shape;161;p2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2" name="Google Shape;162;p24"/>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63" name="Google Shape;163;p24"/>
          <p:cNvSpPr txBox="1"/>
          <p:nvPr/>
        </p:nvSpPr>
        <p:spPr>
          <a:xfrm>
            <a:off x="483552" y="1415417"/>
            <a:ext cx="7608570"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operador NOT devolverá las filas que no cumplan  con la condición de la cláusula WHERE</a:t>
            </a:r>
            <a:endParaRPr sz="2800">
              <a:latin typeface="Calibri"/>
              <a:ea typeface="Calibri"/>
              <a:cs typeface="Calibri"/>
              <a:sym typeface="Calibri"/>
            </a:endParaRPr>
          </a:p>
        </p:txBody>
      </p:sp>
      <p:graphicFrame>
        <p:nvGraphicFramePr>
          <p:cNvPr id="164" name="Google Shape;164;p24"/>
          <p:cNvGraphicFramePr/>
          <p:nvPr/>
        </p:nvGraphicFramePr>
        <p:xfrm>
          <a:off x="2832936" y="3859940"/>
          <a:ext cx="3000000" cy="3000000"/>
        </p:xfrm>
        <a:graphic>
          <a:graphicData uri="http://schemas.openxmlformats.org/drawingml/2006/table">
            <a:tbl>
              <a:tblPr bandRow="1" firstRow="1">
                <a:noFill/>
                <a:tableStyleId>{7C41EED2-5F50-4CC6-A257-232FEE93C673}</a:tableStyleId>
              </a:tblPr>
              <a:tblGrid>
                <a:gridCol w="1997075"/>
                <a:gridCol w="1997075"/>
              </a:tblGrid>
              <a:tr h="3763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DEPARTMENT_NAME</a:t>
                      </a:r>
                      <a:endParaRPr sz="16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763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Shipping</a:t>
                      </a:r>
                      <a:endParaRPr sz="16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1500</a:t>
                      </a:r>
                      <a:endParaRPr sz="16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763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IT</a:t>
                      </a:r>
                      <a:endParaRPr sz="16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1400</a:t>
                      </a:r>
                      <a:endParaRPr sz="16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7635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Sales</a:t>
                      </a:r>
                      <a:endParaRPr sz="16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5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65" name="Google Shape;165;p24"/>
          <p:cNvSpPr txBox="1"/>
          <p:nvPr/>
        </p:nvSpPr>
        <p:spPr>
          <a:xfrm>
            <a:off x="393191" y="2519172"/>
            <a:ext cx="8345805" cy="858519"/>
          </a:xfrm>
          <a:prstGeom prst="rect">
            <a:avLst/>
          </a:prstGeom>
          <a:solidFill>
            <a:srgbClr val="9DBDC4">
              <a:alpha val="49804"/>
            </a:srgbClr>
          </a:solidFill>
          <a:ln>
            <a:noFill/>
          </a:ln>
        </p:spPr>
        <p:txBody>
          <a:bodyPr anchorCtr="0" anchor="t" bIns="0" lIns="0" spcFirstLastPara="1" rIns="0" wrap="square" tIns="0">
            <a:spAutoFit/>
          </a:bodyPr>
          <a:lstStyle/>
          <a:p>
            <a:pPr indent="0" lvl="0" marL="121920" marR="0" rtl="0" algn="l">
              <a:lnSpc>
                <a:spcPct val="115833"/>
              </a:lnSpc>
              <a:spcBef>
                <a:spcPts val="0"/>
              </a:spcBef>
              <a:spcAft>
                <a:spcPts val="0"/>
              </a:spcAft>
              <a:buNone/>
            </a:pPr>
            <a:r>
              <a:rPr b="1" lang="en-US" sz="1800">
                <a:solidFill>
                  <a:srgbClr val="4E3629"/>
                </a:solidFill>
                <a:latin typeface="Courier New"/>
                <a:ea typeface="Courier New"/>
                <a:cs typeface="Courier New"/>
                <a:sym typeface="Courier New"/>
              </a:rPr>
              <a:t>SELECT department_name, location_id</a:t>
            </a:r>
            <a:endParaRPr sz="1800">
              <a:latin typeface="Courier New"/>
              <a:ea typeface="Courier New"/>
              <a:cs typeface="Courier New"/>
              <a:sym typeface="Courier New"/>
            </a:endParaRPr>
          </a:p>
          <a:p>
            <a:pPr indent="0" lvl="0" marL="12192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departments</a:t>
            </a:r>
            <a:endParaRPr sz="1800">
              <a:latin typeface="Courier New"/>
              <a:ea typeface="Courier New"/>
              <a:cs typeface="Courier New"/>
              <a:sym typeface="Courier New"/>
            </a:endParaRPr>
          </a:p>
          <a:p>
            <a:pPr indent="0" lvl="0" marL="12192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location_id NOT IN (1700,1800);</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5"/>
          <p:cNvSpPr txBox="1"/>
          <p:nvPr>
            <p:ph type="title"/>
          </p:nvPr>
        </p:nvSpPr>
        <p:spPr>
          <a:xfrm>
            <a:off x="392112" y="796799"/>
            <a:ext cx="7701300" cy="474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Reglas de Prioridad o Qué Ocurre en Primer Lugar</a:t>
            </a:r>
            <a:endParaRPr/>
          </a:p>
        </p:txBody>
      </p:sp>
      <p:sp>
        <p:nvSpPr>
          <p:cNvPr id="171" name="Google Shape;171;p25"/>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72" name="Google Shape;172;p2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3" name="Google Shape;173;p25"/>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74" name="Google Shape;174;p25"/>
          <p:cNvSpPr txBox="1"/>
          <p:nvPr/>
        </p:nvSpPr>
        <p:spPr>
          <a:xfrm>
            <a:off x="483552" y="1355371"/>
            <a:ext cx="7894320" cy="998219"/>
          </a:xfrm>
          <a:prstGeom prst="rect">
            <a:avLst/>
          </a:prstGeom>
          <a:noFill/>
          <a:ln>
            <a:noFill/>
          </a:ln>
        </p:spPr>
        <p:txBody>
          <a:bodyPr anchorCtr="0" anchor="t" bIns="0" lIns="0" spcFirstLastPara="1" rIns="0" wrap="square" tIns="71750">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Considere la siguiente sentencia SELECT.</a:t>
            </a:r>
            <a:endParaRPr sz="2800">
              <a:latin typeface="Calibri"/>
              <a:ea typeface="Calibri"/>
              <a:cs typeface="Calibri"/>
              <a:sym typeface="Calibri"/>
            </a:endParaRPr>
          </a:p>
          <a:p>
            <a:pPr indent="-177800" lvl="0" marL="184785" marR="0" rtl="0" algn="l">
              <a:lnSpc>
                <a:spcPct val="100000"/>
              </a:lnSpc>
              <a:spcBef>
                <a:spcPts val="4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qué orden se evalúan las expresiones calculadas?</a:t>
            </a:r>
            <a:endParaRPr sz="2800">
              <a:latin typeface="Calibri"/>
              <a:ea typeface="Calibri"/>
              <a:cs typeface="Calibri"/>
              <a:sym typeface="Calibri"/>
            </a:endParaRPr>
          </a:p>
        </p:txBody>
      </p:sp>
      <p:sp>
        <p:nvSpPr>
          <p:cNvPr id="175" name="Google Shape;175;p25"/>
          <p:cNvSpPr txBox="1"/>
          <p:nvPr/>
        </p:nvSpPr>
        <p:spPr>
          <a:xfrm>
            <a:off x="483552" y="4329305"/>
            <a:ext cx="7743825" cy="122047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Afortunadamente, cuando las cosas se complican de  esta manera, SQL cuenta con algunas reglas básicas  fáciles de seguir</a:t>
            </a:r>
            <a:endParaRPr sz="2800">
              <a:latin typeface="Calibri"/>
              <a:ea typeface="Calibri"/>
              <a:cs typeface="Calibri"/>
              <a:sym typeface="Calibri"/>
            </a:endParaRPr>
          </a:p>
        </p:txBody>
      </p:sp>
      <p:sp>
        <p:nvSpPr>
          <p:cNvPr id="176" name="Google Shape;176;p25"/>
          <p:cNvSpPr txBox="1"/>
          <p:nvPr/>
        </p:nvSpPr>
        <p:spPr>
          <a:xfrm>
            <a:off x="393191" y="2785872"/>
            <a:ext cx="8345805" cy="1234440"/>
          </a:xfrm>
          <a:prstGeom prst="rect">
            <a:avLst/>
          </a:prstGeom>
          <a:solidFill>
            <a:srgbClr val="9DBDC4">
              <a:alpha val="49804"/>
            </a:srgbClr>
          </a:solidFill>
          <a:ln>
            <a:noFill/>
          </a:ln>
        </p:spPr>
        <p:txBody>
          <a:bodyPr anchorCtr="0" anchor="t" bIns="0" lIns="0" spcFirstLastPara="1" rIns="0" wrap="square" tIns="41275">
            <a:spAutoFit/>
          </a:bodyPr>
          <a:lstStyle/>
          <a:p>
            <a:pPr indent="0" lvl="0" marL="121920" marR="8439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'||salary*1.05 AS "Employee Raise"  FROM employees</a:t>
            </a:r>
            <a:endParaRPr sz="1800">
              <a:latin typeface="Courier New"/>
              <a:ea typeface="Courier New"/>
              <a:cs typeface="Courier New"/>
              <a:sym typeface="Courier New"/>
            </a:endParaRPr>
          </a:p>
          <a:p>
            <a:pPr indent="-274320" lvl="0" marL="395605" marR="8439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IN(50,80) AND first_name LIKE 'C%'  OR last_name LIKE '%s%';</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392112" y="796799"/>
            <a:ext cx="7701300" cy="474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Reglas de Prioridad o Qué Ocurre en Primer Lugar</a:t>
            </a:r>
            <a:endParaRPr/>
          </a:p>
        </p:txBody>
      </p:sp>
      <p:sp>
        <p:nvSpPr>
          <p:cNvPr id="182" name="Google Shape;182;p26"/>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83" name="Google Shape;183;p2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4" name="Google Shape;184;p26"/>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85" name="Google Shape;185;p26"/>
          <p:cNvSpPr txBox="1"/>
          <p:nvPr/>
        </p:nvSpPr>
        <p:spPr>
          <a:xfrm>
            <a:off x="483552" y="1415417"/>
            <a:ext cx="5090160" cy="4496435"/>
          </a:xfrm>
          <a:prstGeom prst="rect">
            <a:avLst/>
          </a:prstGeom>
          <a:noFill/>
          <a:ln>
            <a:noFill/>
          </a:ln>
        </p:spPr>
        <p:txBody>
          <a:bodyPr anchorCtr="0" anchor="t" bIns="0" lIns="0" spcFirstLastPara="1" rIns="0" wrap="square" tIns="59675">
            <a:spAutoFit/>
          </a:bodyPr>
          <a:lstStyle/>
          <a:p>
            <a:pPr indent="-177800" lvl="0" marL="184785" marR="16891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Tenga en cuenta que el operador  AND se evalúa antes que el  operador OR</a:t>
            </a:r>
            <a:endParaRPr sz="2800">
              <a:latin typeface="Calibri"/>
              <a:ea typeface="Calibri"/>
              <a:cs typeface="Calibri"/>
              <a:sym typeface="Calibri"/>
            </a:endParaRPr>
          </a:p>
          <a:p>
            <a:pPr indent="-177800" lvl="0" marL="184785"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Esto significa que, para que el  ejemplo en la diapositiva anterior,  si no se cumple alguna de las  condiciones de la sentencia AND,  se utilizará el operador OR para  seleccionar las filas</a:t>
            </a:r>
            <a:endParaRPr sz="2800">
              <a:latin typeface="Calibri"/>
              <a:ea typeface="Calibri"/>
              <a:cs typeface="Calibri"/>
              <a:sym typeface="Calibri"/>
            </a:endParaRPr>
          </a:p>
          <a:p>
            <a:pPr indent="-177800" lvl="0" marL="184785" marR="883919" rtl="0" algn="l">
              <a:lnSpc>
                <a:spcPct val="108214"/>
              </a:lnSpc>
              <a:spcBef>
                <a:spcPts val="7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importante recordar este  concepto</a:t>
            </a:r>
            <a:endParaRPr sz="2800">
              <a:latin typeface="Calibri"/>
              <a:ea typeface="Calibri"/>
              <a:cs typeface="Calibri"/>
              <a:sym typeface="Calibri"/>
            </a:endParaRPr>
          </a:p>
        </p:txBody>
      </p:sp>
      <p:graphicFrame>
        <p:nvGraphicFramePr>
          <p:cNvPr id="186" name="Google Shape;186;p26"/>
          <p:cNvGraphicFramePr/>
          <p:nvPr/>
        </p:nvGraphicFramePr>
        <p:xfrm>
          <a:off x="5942153" y="1575229"/>
          <a:ext cx="3000000" cy="3000000"/>
        </p:xfrm>
        <a:graphic>
          <a:graphicData uri="http://schemas.openxmlformats.org/drawingml/2006/table">
            <a:tbl>
              <a:tblPr bandRow="1" firstRow="1">
                <a:noFill/>
                <a:tableStyleId>{7C41EED2-5F50-4CC6-A257-232FEE93C673}</a:tableStyleId>
              </a:tblPr>
              <a:tblGrid>
                <a:gridCol w="838825"/>
                <a:gridCol w="1963425"/>
              </a:tblGrid>
              <a:tr h="381450">
                <a:tc>
                  <a:txBody>
                    <a:bodyPr/>
                    <a:lstStyle/>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ORDER</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OPERATOR</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81450">
                <a:tc>
                  <a:txBody>
                    <a:bodyPr/>
                    <a:lstStyle/>
                    <a:p>
                      <a:pPr indent="0" lvl="0" marL="9080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Arithmetic + - * /</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814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Concatenation||</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5791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Comparison &lt;, &lt;=, &gt;,</a:t>
                      </a:r>
                      <a:endParaRPr sz="1600" u="none" cap="none" strike="noStrike">
                        <a:latin typeface="Calibri"/>
                        <a:ea typeface="Calibri"/>
                        <a:cs typeface="Calibri"/>
                        <a:sym typeface="Calibri"/>
                      </a:endParaRPr>
                    </a:p>
                    <a:p>
                      <a:pPr indent="0" lvl="0" marL="91440" marR="0" rtl="0" algn="l">
                        <a:lnSpc>
                          <a:spcPct val="100000"/>
                        </a:lnSpc>
                        <a:spcBef>
                          <a:spcPts val="10"/>
                        </a:spcBef>
                        <a:spcAft>
                          <a:spcPts val="0"/>
                        </a:spcAft>
                        <a:buNone/>
                      </a:pPr>
                      <a:r>
                        <a:rPr lang="en-US" sz="1600" u="none" cap="none" strike="noStrike">
                          <a:solidFill>
                            <a:srgbClr val="4E3629"/>
                          </a:solidFill>
                          <a:latin typeface="Calibri"/>
                          <a:ea typeface="Calibri"/>
                          <a:cs typeface="Calibri"/>
                          <a:sym typeface="Calibri"/>
                        </a:rPr>
                        <a:t>&gt;=, &lt;&gt;</a:t>
                      </a:r>
                      <a:endParaRPr sz="1600" u="none" cap="none" strike="noStrike">
                        <a:latin typeface="Calibri"/>
                        <a:ea typeface="Calibri"/>
                        <a:cs typeface="Calibri"/>
                        <a:sym typeface="Calibri"/>
                      </a:endParaRPr>
                    </a:p>
                  </a:txBody>
                  <a:tcPr marT="330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5791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220345"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IS (NOT) NULL, LIKE,  (NOT) IN</a:t>
                      </a:r>
                      <a:endParaRPr sz="1600" u="none" cap="none" strike="noStrike">
                        <a:latin typeface="Calibri"/>
                        <a:ea typeface="Calibri"/>
                        <a:cs typeface="Calibri"/>
                        <a:sym typeface="Calibri"/>
                      </a:endParaRPr>
                    </a:p>
                  </a:txBody>
                  <a:tcPr marT="3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814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(NOT) BETWEEN</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814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NOT</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814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AND</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81450">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OR</a:t>
                      </a:r>
                      <a:endParaRPr sz="1600" u="none" cap="none" strike="noStrike">
                        <a:latin typeface="Calibri"/>
                        <a:ea typeface="Calibri"/>
                        <a:cs typeface="Calibri"/>
                        <a:sym typeface="Calibri"/>
                      </a:endParaRPr>
                    </a:p>
                  </a:txBody>
                  <a:tcPr marT="3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392112" y="796799"/>
            <a:ext cx="7701300" cy="474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Reglas de Prioridad o Qué Ocurre en Primer Lugar</a:t>
            </a:r>
            <a:endParaRPr/>
          </a:p>
        </p:txBody>
      </p:sp>
      <p:graphicFrame>
        <p:nvGraphicFramePr>
          <p:cNvPr id="192" name="Google Shape;192;p27"/>
          <p:cNvGraphicFramePr/>
          <p:nvPr/>
        </p:nvGraphicFramePr>
        <p:xfrm>
          <a:off x="5644722" y="3511913"/>
          <a:ext cx="3000000" cy="3000000"/>
        </p:xfrm>
        <a:graphic>
          <a:graphicData uri="http://schemas.openxmlformats.org/drawingml/2006/table">
            <a:tbl>
              <a:tblPr bandRow="1" firstRow="1">
                <a:noFill/>
                <a:tableStyleId>{7C41EED2-5F50-4CC6-A257-232FEE93C673}</a:tableStyleId>
              </a:tblPr>
              <a:tblGrid>
                <a:gridCol w="1292850"/>
                <a:gridCol w="1162675"/>
                <a:gridCol w="669925"/>
              </a:tblGrid>
              <a:tr h="426725">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Employee Raise</a:t>
                      </a:r>
                      <a:endParaRPr sz="1400" u="none" cap="none" strike="noStrike">
                        <a:latin typeface="Calibri"/>
                        <a:ea typeface="Calibri"/>
                        <a:cs typeface="Calibri"/>
                        <a:sym typeface="Calibri"/>
                      </a:endParaRPr>
                    </a:p>
                  </a:txBody>
                  <a:tcPr marT="94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13571"/>
                        </a:lnSpc>
                        <a:spcBef>
                          <a:spcPts val="0"/>
                        </a:spcBef>
                        <a:spcAft>
                          <a:spcPts val="0"/>
                        </a:spcAft>
                        <a:buNone/>
                      </a:pPr>
                      <a:r>
                        <a:rPr b="1" lang="en-US" sz="1400" u="none" cap="none" strike="noStrike">
                          <a:solidFill>
                            <a:srgbClr val="4E3629"/>
                          </a:solidFill>
                          <a:latin typeface="Calibri"/>
                          <a:ea typeface="Calibri"/>
                          <a:cs typeface="Calibri"/>
                          <a:sym typeface="Calibri"/>
                        </a:rPr>
                        <a:t>DEPARTMENT</a:t>
                      </a:r>
                      <a:endParaRPr sz="1400" u="none" cap="none" strike="noStrike">
                        <a:latin typeface="Calibri"/>
                        <a:ea typeface="Calibri"/>
                        <a:cs typeface="Calibri"/>
                        <a:sym typeface="Calibri"/>
                      </a:endParaRPr>
                    </a:p>
                    <a:p>
                      <a:pPr indent="0" lvl="0" marL="71755" marR="0" rtl="0" algn="l">
                        <a:lnSpc>
                          <a:spcPct val="119285"/>
                        </a:lnSpc>
                        <a:spcBef>
                          <a:spcPts val="0"/>
                        </a:spcBef>
                        <a:spcAft>
                          <a:spcPts val="0"/>
                        </a:spcAft>
                        <a:buNone/>
                      </a:pPr>
                      <a:r>
                        <a:rPr b="1" lang="en-US" sz="1400" u="none" cap="none" strike="noStrike">
                          <a:solidFill>
                            <a:srgbClr val="4E3629"/>
                          </a:solidFill>
                          <a:latin typeface="Calibri"/>
                          <a:ea typeface="Calibri"/>
                          <a:cs typeface="Calibri"/>
                          <a:sym typeface="Calibri"/>
                        </a:rPr>
                        <a:t>_ID</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13571"/>
                        </a:lnSpc>
                        <a:spcBef>
                          <a:spcPts val="0"/>
                        </a:spcBef>
                        <a:spcAft>
                          <a:spcPts val="0"/>
                        </a:spcAft>
                        <a:buNone/>
                      </a:pPr>
                      <a:r>
                        <a:rPr b="1" lang="en-US" sz="1400" u="none" cap="none" strike="noStrike">
                          <a:solidFill>
                            <a:srgbClr val="4E3629"/>
                          </a:solidFill>
                          <a:latin typeface="Calibri"/>
                          <a:ea typeface="Calibri"/>
                          <a:cs typeface="Calibri"/>
                          <a:sym typeface="Calibri"/>
                        </a:rPr>
                        <a:t>FIRST_</a:t>
                      </a:r>
                      <a:endParaRPr sz="1400" u="none" cap="none" strike="noStrike">
                        <a:latin typeface="Calibri"/>
                        <a:ea typeface="Calibri"/>
                        <a:cs typeface="Calibri"/>
                        <a:sym typeface="Calibri"/>
                      </a:endParaRPr>
                    </a:p>
                    <a:p>
                      <a:pPr indent="0" lvl="0" marL="71755" marR="0" rtl="0" algn="l">
                        <a:lnSpc>
                          <a:spcPct val="119285"/>
                        </a:lnSpc>
                        <a:spcBef>
                          <a:spcPts val="0"/>
                        </a:spcBef>
                        <a:spcAft>
                          <a:spcPts val="0"/>
                        </a:spcAft>
                        <a:buNone/>
                      </a:pPr>
                      <a:r>
                        <a:rPr b="1" lang="en-US" sz="1400" u="none" cap="none" strike="noStrike">
                          <a:solidFill>
                            <a:srgbClr val="4E3629"/>
                          </a:solidFill>
                          <a:latin typeface="Calibri"/>
                          <a:ea typeface="Calibri"/>
                          <a:cs typeface="Calibri"/>
                          <a:sym typeface="Calibri"/>
                        </a:rPr>
                        <a:t>NAME</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21950">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Higgins 12600</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Shelley</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21950">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Mourgos 6090</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50</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Kevin</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21950">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Rajs 3675</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50</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Trenna</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21950">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Davies 3255</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9050">
                      <a:solidFill>
                        <a:srgbClr val="D1350F"/>
                      </a:solidFill>
                      <a:prstDash val="solid"/>
                      <a:round/>
                      <a:headEnd len="sm" w="sm" type="none"/>
                      <a:tailEnd len="sm" w="sm" type="none"/>
                    </a:lnB>
                    <a:solidFill>
                      <a:srgbClr val="DFE1E0"/>
                    </a:solidFill>
                  </a:tcPr>
                </a:tc>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50</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9050">
                      <a:solidFill>
                        <a:srgbClr val="D1350F"/>
                      </a:solidFill>
                      <a:prstDash val="solid"/>
                      <a:round/>
                      <a:headEnd len="sm" w="sm" type="none"/>
                      <a:tailEnd len="sm" w="sm" type="none"/>
                    </a:lnB>
                    <a:solidFill>
                      <a:srgbClr val="DFE1E0"/>
                    </a:solidFill>
                  </a:tcPr>
                </a:tc>
                <a:tc>
                  <a:txBody>
                    <a:bodyPr/>
                    <a:lstStyle/>
                    <a:p>
                      <a:pPr indent="0" lvl="0" marL="7112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Curtis</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9050">
                      <a:solidFill>
                        <a:srgbClr val="D1350F"/>
                      </a:solidFill>
                      <a:prstDash val="solid"/>
                      <a:round/>
                      <a:headEnd len="sm" w="sm" type="none"/>
                      <a:tailEnd len="sm" w="sm" type="none"/>
                    </a:lnB>
                    <a:solidFill>
                      <a:srgbClr val="DFE1E0"/>
                    </a:solidFill>
                  </a:tcPr>
                </a:tc>
              </a:tr>
              <a:tr h="321950">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Matos 2730</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50</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Randall</a:t>
                      </a:r>
                      <a:endParaRPr sz="1400" u="none" cap="none" strike="noStrike">
                        <a:latin typeface="Calibri"/>
                        <a:ea typeface="Calibri"/>
                        <a:cs typeface="Calibri"/>
                        <a:sym typeface="Calibri"/>
                      </a:endParaRPr>
                    </a:p>
                  </a:txBody>
                  <a:tcPr marT="4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21950">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Vargas 2625</a:t>
                      </a:r>
                      <a:endParaRPr sz="1400" u="none" cap="none" strike="noStrike">
                        <a:latin typeface="Calibri"/>
                        <a:ea typeface="Calibri"/>
                        <a:cs typeface="Calibri"/>
                        <a:sym typeface="Calibri"/>
                      </a:endParaRPr>
                    </a:p>
                  </a:txBody>
                  <a:tcPr marT="4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50</a:t>
                      </a:r>
                      <a:endParaRPr sz="1400" u="none" cap="none" strike="noStrike">
                        <a:latin typeface="Calibri"/>
                        <a:ea typeface="Calibri"/>
                        <a:cs typeface="Calibri"/>
                        <a:sym typeface="Calibri"/>
                      </a:endParaRPr>
                    </a:p>
                  </a:txBody>
                  <a:tcPr marT="4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Peter</a:t>
                      </a:r>
                      <a:endParaRPr sz="1400" u="none" cap="none" strike="noStrike">
                        <a:latin typeface="Calibri"/>
                        <a:ea typeface="Calibri"/>
                        <a:cs typeface="Calibri"/>
                        <a:sym typeface="Calibri"/>
                      </a:endParaRPr>
                    </a:p>
                  </a:txBody>
                  <a:tcPr marT="4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21950">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Ernst 6300</a:t>
                      </a:r>
                      <a:endParaRPr sz="1400" u="none" cap="none" strike="noStrike">
                        <a:latin typeface="Calibri"/>
                        <a:ea typeface="Calibri"/>
                        <a:cs typeface="Calibri"/>
                        <a:sym typeface="Calibri"/>
                      </a:endParaRPr>
                    </a:p>
                  </a:txBody>
                  <a:tcPr marT="4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60</a:t>
                      </a:r>
                      <a:endParaRPr sz="1400" u="none" cap="none" strike="noStrike">
                        <a:latin typeface="Calibri"/>
                        <a:ea typeface="Calibri"/>
                        <a:cs typeface="Calibri"/>
                        <a:sym typeface="Calibri"/>
                      </a:endParaRPr>
                    </a:p>
                  </a:txBody>
                  <a:tcPr marT="4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Bruce</a:t>
                      </a:r>
                      <a:endParaRPr sz="1400" u="none" cap="none" strike="noStrike">
                        <a:latin typeface="Calibri"/>
                        <a:ea typeface="Calibri"/>
                        <a:cs typeface="Calibri"/>
                        <a:sym typeface="Calibri"/>
                      </a:endParaRPr>
                    </a:p>
                  </a:txBody>
                  <a:tcPr marT="4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21950">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Hartstein 13650</a:t>
                      </a:r>
                      <a:endParaRPr sz="1400" u="none" cap="none" strike="noStrike">
                        <a:latin typeface="Calibri"/>
                        <a:ea typeface="Calibri"/>
                        <a:cs typeface="Calibri"/>
                        <a:sym typeface="Calibri"/>
                      </a:endParaRPr>
                    </a:p>
                  </a:txBody>
                  <a:tcPr marT="4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048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a:t>
                      </a:r>
                      <a:endParaRPr sz="1400" u="none" cap="none" strike="noStrike">
                        <a:latin typeface="Calibri"/>
                        <a:ea typeface="Calibri"/>
                        <a:cs typeface="Calibri"/>
                        <a:sym typeface="Calibri"/>
                      </a:endParaRPr>
                    </a:p>
                  </a:txBody>
                  <a:tcPr marT="4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6985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Michael</a:t>
                      </a:r>
                      <a:endParaRPr sz="1400" u="none" cap="none" strike="noStrike">
                        <a:latin typeface="Calibri"/>
                        <a:ea typeface="Calibri"/>
                        <a:cs typeface="Calibri"/>
                        <a:sym typeface="Calibri"/>
                      </a:endParaRPr>
                    </a:p>
                  </a:txBody>
                  <a:tcPr marT="4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93" name="Google Shape;193;p27"/>
          <p:cNvSpPr/>
          <p:nvPr/>
        </p:nvSpPr>
        <p:spPr>
          <a:xfrm>
            <a:off x="405384" y="4338828"/>
            <a:ext cx="5168265" cy="1728470"/>
          </a:xfrm>
          <a:custGeom>
            <a:rect b="b" l="l" r="r" t="t"/>
            <a:pathLst>
              <a:path extrusionOk="0" h="1728470" w="5168265">
                <a:moveTo>
                  <a:pt x="5167884" y="0"/>
                </a:moveTo>
                <a:lnTo>
                  <a:pt x="0" y="0"/>
                </a:lnTo>
                <a:lnTo>
                  <a:pt x="0" y="1728216"/>
                </a:lnTo>
                <a:lnTo>
                  <a:pt x="5167884" y="1728216"/>
                </a:lnTo>
                <a:lnTo>
                  <a:pt x="5167884" y="0"/>
                </a:lnTo>
                <a:close/>
              </a:path>
            </a:pathLst>
          </a:custGeom>
          <a:solidFill>
            <a:srgbClr val="9DBDC4">
              <a:alpha val="4980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94" name="Google Shape;194;p27"/>
          <p:cNvSpPr txBox="1"/>
          <p:nvPr/>
        </p:nvSpPr>
        <p:spPr>
          <a:xfrm>
            <a:off x="483552" y="1415417"/>
            <a:ext cx="8093709" cy="4681855"/>
          </a:xfrm>
          <a:prstGeom prst="rect">
            <a:avLst/>
          </a:prstGeom>
          <a:noFill/>
          <a:ln>
            <a:noFill/>
          </a:ln>
        </p:spPr>
        <p:txBody>
          <a:bodyPr anchorCtr="0" anchor="t" bIns="0" lIns="0" spcFirstLastPara="1" rIns="0" wrap="square" tIns="59675">
            <a:spAutoFit/>
          </a:bodyPr>
          <a:lstStyle/>
          <a:p>
            <a:pPr indent="-177800" lvl="0" marL="184785" marR="241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primer lugar, se evalúa la condición AND, por lo que  se devolverán todos los empleados que trabajen en el  departamento 80 o 50, y tengan un nombre que  empiece por "C"</a:t>
            </a:r>
            <a:endParaRPr sz="2800">
              <a:latin typeface="Calibri"/>
              <a:ea typeface="Calibri"/>
              <a:cs typeface="Calibri"/>
              <a:sym typeface="Calibri"/>
            </a:endParaRPr>
          </a:p>
          <a:p>
            <a:pPr indent="-177800" lvl="0" marL="184785" marR="5080" rtl="0" algn="l">
              <a:lnSpc>
                <a:spcPct val="107857"/>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cláusula OR se evalúa a continuación y se devuelven  los empleados cuyo apellido</a:t>
            </a:r>
            <a:endParaRPr sz="2800">
              <a:latin typeface="Calibri"/>
              <a:ea typeface="Calibri"/>
              <a:cs typeface="Calibri"/>
              <a:sym typeface="Calibri"/>
            </a:endParaRPr>
          </a:p>
          <a:p>
            <a:pPr indent="0" lvl="0" marL="184785" marR="0" rtl="0" algn="l">
              <a:lnSpc>
                <a:spcPct val="106607"/>
              </a:lnSpc>
              <a:spcBef>
                <a:spcPts val="0"/>
              </a:spcBef>
              <a:spcAft>
                <a:spcPts val="0"/>
              </a:spcAft>
              <a:buNone/>
            </a:pPr>
            <a:r>
              <a:rPr lang="en-US" sz="2800">
                <a:solidFill>
                  <a:srgbClr val="4E3629"/>
                </a:solidFill>
                <a:latin typeface="Calibri"/>
                <a:ea typeface="Calibri"/>
                <a:cs typeface="Calibri"/>
                <a:sym typeface="Calibri"/>
              </a:rPr>
              <a:t>contenga "s"</a:t>
            </a:r>
            <a:endParaRPr sz="2800">
              <a:latin typeface="Calibri"/>
              <a:ea typeface="Calibri"/>
              <a:cs typeface="Calibri"/>
              <a:sym typeface="Calibri"/>
            </a:endParaRPr>
          </a:p>
          <a:p>
            <a:pPr indent="-259079" lvl="0" marL="301625" marR="3224530" rtl="0" algn="l">
              <a:lnSpc>
                <a:spcPct val="100000"/>
              </a:lnSpc>
              <a:spcBef>
                <a:spcPts val="80"/>
              </a:spcBef>
              <a:spcAft>
                <a:spcPts val="0"/>
              </a:spcAft>
              <a:buNone/>
            </a:pPr>
            <a:r>
              <a:rPr b="1" lang="en-US" sz="1700">
                <a:solidFill>
                  <a:srgbClr val="4E3629"/>
                </a:solidFill>
                <a:latin typeface="Courier New"/>
                <a:ea typeface="Courier New"/>
                <a:cs typeface="Courier New"/>
                <a:sym typeface="Courier New"/>
              </a:rPr>
              <a:t>SELECT last_name||' '||salary*1.05  AS "Employee Raise", department_id,</a:t>
            </a:r>
            <a:endParaRPr sz="1700">
              <a:latin typeface="Courier New"/>
              <a:ea typeface="Courier New"/>
              <a:cs typeface="Courier New"/>
              <a:sym typeface="Courier New"/>
            </a:endParaRPr>
          </a:p>
          <a:p>
            <a:pPr indent="0" lvl="0" marL="42545" marR="6220460" rtl="0" algn="l">
              <a:lnSpc>
                <a:spcPct val="100000"/>
              </a:lnSpc>
              <a:spcBef>
                <a:spcPts val="0"/>
              </a:spcBef>
              <a:spcAft>
                <a:spcPts val="0"/>
              </a:spcAft>
              <a:buNone/>
            </a:pPr>
            <a:r>
              <a:rPr b="1" lang="en-US" sz="1700">
                <a:solidFill>
                  <a:srgbClr val="4E3629"/>
                </a:solidFill>
                <a:latin typeface="Courier New"/>
                <a:ea typeface="Courier New"/>
                <a:cs typeface="Courier New"/>
                <a:sym typeface="Courier New"/>
              </a:rPr>
              <a:t>first_name  FROM employees</a:t>
            </a:r>
            <a:endParaRPr sz="1700">
              <a:latin typeface="Courier New"/>
              <a:ea typeface="Courier New"/>
              <a:cs typeface="Courier New"/>
              <a:sym typeface="Courier New"/>
            </a:endParaRPr>
          </a:p>
          <a:p>
            <a:pPr indent="-259715" lvl="0" marL="302260" marR="4266565" rtl="0" algn="l">
              <a:lnSpc>
                <a:spcPct val="100000"/>
              </a:lnSpc>
              <a:spcBef>
                <a:spcPts val="0"/>
              </a:spcBef>
              <a:spcAft>
                <a:spcPts val="0"/>
              </a:spcAft>
              <a:buNone/>
            </a:pPr>
            <a:r>
              <a:rPr b="1" lang="en-US" sz="1700">
                <a:solidFill>
                  <a:srgbClr val="4E3629"/>
                </a:solidFill>
                <a:latin typeface="Courier New"/>
                <a:ea typeface="Courier New"/>
                <a:cs typeface="Courier New"/>
                <a:sym typeface="Courier New"/>
              </a:rPr>
              <a:t>WHERE department_id IN(50,80)  AND first_name LIKE 'C%'  OR last_name LIKE '%s%';</a:t>
            </a:r>
            <a:endParaRPr sz="1700">
              <a:latin typeface="Courier New"/>
              <a:ea typeface="Courier New"/>
              <a:cs typeface="Courier New"/>
              <a:sym typeface="Courier New"/>
            </a:endParaRPr>
          </a:p>
        </p:txBody>
      </p:sp>
      <p:sp>
        <p:nvSpPr>
          <p:cNvPr id="195" name="Google Shape;195;p27"/>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196" name="Google Shape;196;p2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7" name="Google Shape;197;p27"/>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nvSpPr>
        <p:spPr>
          <a:xfrm>
            <a:off x="483552" y="1415417"/>
            <a:ext cx="8005445"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el orden de los operadores OR y AND  se ha invertido con respecto a la diapositiva anterior</a:t>
            </a:r>
            <a:endParaRPr sz="2800">
              <a:latin typeface="Calibri"/>
              <a:ea typeface="Calibri"/>
              <a:cs typeface="Calibri"/>
              <a:sym typeface="Calibri"/>
            </a:endParaRPr>
          </a:p>
        </p:txBody>
      </p:sp>
      <p:sp>
        <p:nvSpPr>
          <p:cNvPr id="203" name="Google Shape;203;p28"/>
          <p:cNvSpPr/>
          <p:nvPr/>
        </p:nvSpPr>
        <p:spPr>
          <a:xfrm>
            <a:off x="224027" y="2545079"/>
            <a:ext cx="8347075" cy="1983105"/>
          </a:xfrm>
          <a:custGeom>
            <a:rect b="b" l="l" r="r" t="t"/>
            <a:pathLst>
              <a:path extrusionOk="0" h="1983104" w="8347075">
                <a:moveTo>
                  <a:pt x="8346948" y="0"/>
                </a:moveTo>
                <a:lnTo>
                  <a:pt x="0" y="0"/>
                </a:lnTo>
                <a:lnTo>
                  <a:pt x="0" y="1982724"/>
                </a:lnTo>
                <a:lnTo>
                  <a:pt x="8346948" y="1982724"/>
                </a:lnTo>
                <a:lnTo>
                  <a:pt x="8346948" y="0"/>
                </a:lnTo>
                <a:close/>
              </a:path>
            </a:pathLst>
          </a:custGeom>
          <a:solidFill>
            <a:srgbClr val="9DBDC4">
              <a:alpha val="4980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04" name="Google Shape;204;p28"/>
          <p:cNvSpPr txBox="1"/>
          <p:nvPr>
            <p:ph idx="1" type="body"/>
          </p:nvPr>
        </p:nvSpPr>
        <p:spPr>
          <a:xfrm>
            <a:off x="333599" y="2536202"/>
            <a:ext cx="7531200" cy="17061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a:t>SELECT last_name||' '||salary*1.05 AS "Employee Raise",  department_id,</a:t>
            </a:r>
            <a:endParaRPr/>
          </a:p>
          <a:p>
            <a:pPr indent="274320" lvl="0" marL="12700" marR="5597525" rtl="0" algn="l">
              <a:lnSpc>
                <a:spcPct val="100000"/>
              </a:lnSpc>
              <a:spcBef>
                <a:spcPts val="1200"/>
              </a:spcBef>
              <a:spcAft>
                <a:spcPts val="0"/>
              </a:spcAft>
              <a:buNone/>
            </a:pPr>
            <a:r>
              <a:rPr lang="en-US"/>
              <a:t>first_name  FROM employees</a:t>
            </a:r>
            <a:endParaRPr/>
          </a:p>
          <a:p>
            <a:pPr indent="0" lvl="0" marL="12700" rtl="0" algn="l">
              <a:lnSpc>
                <a:spcPct val="100000"/>
              </a:lnSpc>
              <a:spcBef>
                <a:spcPts val="1200"/>
              </a:spcBef>
              <a:spcAft>
                <a:spcPts val="1200"/>
              </a:spcAft>
              <a:buNone/>
            </a:pPr>
            <a:r>
              <a:rPr lang="en-US"/>
              <a:t>WHERE department_id IN(50,80)</a:t>
            </a:r>
            <a:endParaRPr/>
          </a:p>
        </p:txBody>
      </p:sp>
      <p:sp>
        <p:nvSpPr>
          <p:cNvPr id="205" name="Google Shape;205;p28"/>
          <p:cNvSpPr txBox="1"/>
          <p:nvPr/>
        </p:nvSpPr>
        <p:spPr>
          <a:xfrm>
            <a:off x="607919" y="3907802"/>
            <a:ext cx="3437890" cy="574040"/>
          </a:xfrm>
          <a:prstGeom prst="rect">
            <a:avLst/>
          </a:prstGeom>
          <a:noFill/>
          <a:ln>
            <a:noFill/>
          </a:ln>
        </p:spPr>
        <p:txBody>
          <a:bodyPr anchorCtr="0" anchor="t" bIns="0" lIns="0" spcFirstLastPara="1" rIns="0" wrap="square" tIns="12700">
            <a:spAutoFit/>
          </a:bodyPr>
          <a:lstStyle/>
          <a:p>
            <a:pPr indent="-635" lvl="0" marL="12700" marR="50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 first_name LIKE 'C%'  AND last_name LIKE '%s%';</a:t>
            </a:r>
            <a:endParaRPr sz="1800">
              <a:latin typeface="Courier New"/>
              <a:ea typeface="Courier New"/>
              <a:cs typeface="Courier New"/>
              <a:sym typeface="Courier New"/>
            </a:endParaRPr>
          </a:p>
        </p:txBody>
      </p:sp>
      <p:sp>
        <p:nvSpPr>
          <p:cNvPr id="206" name="Google Shape;206;p28"/>
          <p:cNvSpPr txBox="1"/>
          <p:nvPr>
            <p:ph type="title"/>
          </p:nvPr>
        </p:nvSpPr>
        <p:spPr>
          <a:xfrm>
            <a:off x="392112" y="796799"/>
            <a:ext cx="7701300" cy="474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Reglas de Prioridad o Qué Ocurre en Primer Lugar</a:t>
            </a:r>
            <a:endParaRPr/>
          </a:p>
        </p:txBody>
      </p:sp>
      <p:grpSp>
        <p:nvGrpSpPr>
          <p:cNvPr id="207" name="Google Shape;207;p28"/>
          <p:cNvGrpSpPr/>
          <p:nvPr/>
        </p:nvGrpSpPr>
        <p:grpSpPr>
          <a:xfrm>
            <a:off x="4488865" y="3863225"/>
            <a:ext cx="4441825" cy="2315210"/>
            <a:chOff x="4488865" y="3863225"/>
            <a:chExt cx="4441825" cy="2315210"/>
          </a:xfrm>
        </p:grpSpPr>
        <p:sp>
          <p:nvSpPr>
            <p:cNvPr id="208" name="Google Shape;208;p28"/>
            <p:cNvSpPr/>
            <p:nvPr/>
          </p:nvSpPr>
          <p:spPr>
            <a:xfrm>
              <a:off x="4488865" y="3863225"/>
              <a:ext cx="4441825" cy="2315210"/>
            </a:xfrm>
            <a:custGeom>
              <a:rect b="b" l="l" r="r" t="t"/>
              <a:pathLst>
                <a:path extrusionOk="0" h="2315210" w="4441825">
                  <a:moveTo>
                    <a:pt x="0" y="0"/>
                  </a:moveTo>
                  <a:lnTo>
                    <a:pt x="1191082" y="1052690"/>
                  </a:lnTo>
                  <a:lnTo>
                    <a:pt x="1191082" y="2315070"/>
                  </a:lnTo>
                  <a:lnTo>
                    <a:pt x="4441774" y="2315070"/>
                  </a:lnTo>
                  <a:lnTo>
                    <a:pt x="4441774" y="150990"/>
                  </a:lnTo>
                  <a:lnTo>
                    <a:pt x="1191082" y="150990"/>
                  </a:lnTo>
                  <a:lnTo>
                    <a:pt x="1191082" y="511670"/>
                  </a:lnTo>
                  <a:lnTo>
                    <a:pt x="0"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09" name="Google Shape;209;p28"/>
            <p:cNvSpPr/>
            <p:nvPr/>
          </p:nvSpPr>
          <p:spPr>
            <a:xfrm>
              <a:off x="4488865" y="3863225"/>
              <a:ext cx="4441825" cy="2315210"/>
            </a:xfrm>
            <a:custGeom>
              <a:rect b="b" l="l" r="r" t="t"/>
              <a:pathLst>
                <a:path extrusionOk="0" h="2315210" w="4441825">
                  <a:moveTo>
                    <a:pt x="1191082" y="150990"/>
                  </a:moveTo>
                  <a:lnTo>
                    <a:pt x="1732864" y="150990"/>
                  </a:lnTo>
                  <a:lnTo>
                    <a:pt x="2545537" y="150990"/>
                  </a:lnTo>
                  <a:lnTo>
                    <a:pt x="4441774" y="150990"/>
                  </a:lnTo>
                  <a:lnTo>
                    <a:pt x="4441774" y="511670"/>
                  </a:lnTo>
                  <a:lnTo>
                    <a:pt x="4441774" y="1052690"/>
                  </a:lnTo>
                  <a:lnTo>
                    <a:pt x="4441774" y="2315070"/>
                  </a:lnTo>
                  <a:lnTo>
                    <a:pt x="2545537" y="2315070"/>
                  </a:lnTo>
                  <a:lnTo>
                    <a:pt x="1732864" y="2315070"/>
                  </a:lnTo>
                  <a:lnTo>
                    <a:pt x="1191082" y="2315070"/>
                  </a:lnTo>
                  <a:lnTo>
                    <a:pt x="1191082" y="1052690"/>
                  </a:lnTo>
                  <a:lnTo>
                    <a:pt x="0" y="0"/>
                  </a:lnTo>
                  <a:lnTo>
                    <a:pt x="1191082" y="511670"/>
                  </a:lnTo>
                  <a:lnTo>
                    <a:pt x="1191082" y="150990"/>
                  </a:lnTo>
                  <a:close/>
                </a:path>
              </a:pathLst>
            </a:custGeom>
            <a:noFill/>
            <a:ln cap="flat" cmpd="sng" w="12175">
              <a:solidFill>
                <a:srgbClr val="99230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10" name="Google Shape;210;p28"/>
          <p:cNvSpPr txBox="1"/>
          <p:nvPr/>
        </p:nvSpPr>
        <p:spPr>
          <a:xfrm>
            <a:off x="5786033" y="4042425"/>
            <a:ext cx="2869565"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rgbClr val="FFFFFF"/>
                </a:solidFill>
                <a:latin typeface="Arial"/>
                <a:ea typeface="Arial"/>
                <a:cs typeface="Arial"/>
                <a:sym typeface="Arial"/>
              </a:rPr>
              <a:t>El orden de las operaciones es:</a:t>
            </a:r>
            <a:endParaRPr sz="1600">
              <a:latin typeface="Arial"/>
              <a:ea typeface="Arial"/>
              <a:cs typeface="Arial"/>
              <a:sym typeface="Arial"/>
            </a:endParaRPr>
          </a:p>
        </p:txBody>
      </p:sp>
      <p:sp>
        <p:nvSpPr>
          <p:cNvPr id="211" name="Google Shape;211;p28"/>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212" name="Google Shape;212;p2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3" name="Google Shape;213;p28"/>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14" name="Google Shape;214;p28"/>
          <p:cNvSpPr txBox="1"/>
          <p:nvPr/>
        </p:nvSpPr>
        <p:spPr>
          <a:xfrm>
            <a:off x="5781371" y="4347274"/>
            <a:ext cx="284861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1600">
                <a:solidFill>
                  <a:srgbClr val="FFFFFF"/>
                </a:solidFill>
                <a:latin typeface="Arial"/>
                <a:ea typeface="Arial"/>
                <a:cs typeface="Arial"/>
                <a:sym typeface="Arial"/>
              </a:rPr>
              <a:t>1.first_name comienza con una</a:t>
            </a:r>
            <a:endParaRPr sz="1600">
              <a:latin typeface="Arial"/>
              <a:ea typeface="Arial"/>
              <a:cs typeface="Arial"/>
              <a:sym typeface="Arial"/>
            </a:endParaRPr>
          </a:p>
        </p:txBody>
      </p:sp>
      <p:sp>
        <p:nvSpPr>
          <p:cNvPr id="215" name="Google Shape;215;p28"/>
          <p:cNvSpPr txBox="1"/>
          <p:nvPr/>
        </p:nvSpPr>
        <p:spPr>
          <a:xfrm>
            <a:off x="5781371" y="4591112"/>
            <a:ext cx="3117850" cy="1549400"/>
          </a:xfrm>
          <a:prstGeom prst="rect">
            <a:avLst/>
          </a:prstGeom>
          <a:noFill/>
          <a:ln>
            <a:noFill/>
          </a:ln>
        </p:spPr>
        <p:txBody>
          <a:bodyPr anchorCtr="0" anchor="t" bIns="0" lIns="0" spcFirstLastPara="1" rIns="0" wrap="square" tIns="12050">
            <a:spAutoFit/>
          </a:bodyPr>
          <a:lstStyle/>
          <a:p>
            <a:pPr indent="0" lvl="0" marL="179705" marR="254635" rtl="0" algn="l">
              <a:lnSpc>
                <a:spcPct val="100000"/>
              </a:lnSpc>
              <a:spcBef>
                <a:spcPts val="0"/>
              </a:spcBef>
              <a:spcAft>
                <a:spcPts val="0"/>
              </a:spcAft>
              <a:buNone/>
            </a:pPr>
            <a:r>
              <a:rPr lang="en-US" sz="1600">
                <a:solidFill>
                  <a:srgbClr val="FFFFFF"/>
                </a:solidFill>
                <a:latin typeface="Arial"/>
                <a:ea typeface="Arial"/>
                <a:cs typeface="Arial"/>
                <a:sym typeface="Arial"/>
              </a:rPr>
              <a:t>"C" y last_name contiene una  "s". Deben cumplirse ambas  condiciones para devolverlas.</a:t>
            </a:r>
            <a:endParaRPr sz="1600">
              <a:latin typeface="Arial"/>
              <a:ea typeface="Arial"/>
              <a:cs typeface="Arial"/>
              <a:sym typeface="Arial"/>
            </a:endParaRPr>
          </a:p>
          <a:p>
            <a:pPr indent="-167640" lvl="0" marL="179705" marR="5080" rtl="0" algn="l">
              <a:lnSpc>
                <a:spcPct val="100000"/>
              </a:lnSpc>
              <a:spcBef>
                <a:spcPts val="480"/>
              </a:spcBef>
              <a:spcAft>
                <a:spcPts val="0"/>
              </a:spcAft>
              <a:buNone/>
            </a:pPr>
            <a:r>
              <a:rPr lang="en-US" sz="1600">
                <a:solidFill>
                  <a:srgbClr val="FFFFFF"/>
                </a:solidFill>
                <a:latin typeface="Arial"/>
                <a:ea typeface="Arial"/>
                <a:cs typeface="Arial"/>
                <a:sym typeface="Arial"/>
              </a:rPr>
              <a:t>2.Se devolverá cualquier instancia  de los empleados de los  departamentos 50 y 80.</a:t>
            </a:r>
            <a:endParaRPr sz="1600">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9"/>
          <p:cNvSpPr txBox="1"/>
          <p:nvPr/>
        </p:nvSpPr>
        <p:spPr>
          <a:xfrm>
            <a:off x="483552" y="1415417"/>
            <a:ext cx="8110855"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Agregar paréntesis cambia la forma en la que se evalúa  la cláusula WHERE y las filas devueltas</a:t>
            </a:r>
            <a:endParaRPr sz="2800">
              <a:latin typeface="Calibri"/>
              <a:ea typeface="Calibri"/>
              <a:cs typeface="Calibri"/>
              <a:sym typeface="Calibri"/>
            </a:endParaRPr>
          </a:p>
        </p:txBody>
      </p:sp>
      <p:grpSp>
        <p:nvGrpSpPr>
          <p:cNvPr id="221" name="Google Shape;221;p29"/>
          <p:cNvGrpSpPr/>
          <p:nvPr/>
        </p:nvGrpSpPr>
        <p:grpSpPr>
          <a:xfrm>
            <a:off x="393191" y="2325623"/>
            <a:ext cx="8553197" cy="3852685"/>
            <a:chOff x="393191" y="2325623"/>
            <a:chExt cx="8553197" cy="3852685"/>
          </a:xfrm>
        </p:grpSpPr>
        <p:sp>
          <p:nvSpPr>
            <p:cNvPr id="222" name="Google Shape;222;p29"/>
            <p:cNvSpPr/>
            <p:nvPr/>
          </p:nvSpPr>
          <p:spPr>
            <a:xfrm>
              <a:off x="393191" y="2325623"/>
              <a:ext cx="8345805" cy="1983105"/>
            </a:xfrm>
            <a:custGeom>
              <a:rect b="b" l="l" r="r" t="t"/>
              <a:pathLst>
                <a:path extrusionOk="0" h="1983104" w="8345805">
                  <a:moveTo>
                    <a:pt x="8345424" y="0"/>
                  </a:moveTo>
                  <a:lnTo>
                    <a:pt x="0" y="0"/>
                  </a:lnTo>
                  <a:lnTo>
                    <a:pt x="0" y="1982724"/>
                  </a:lnTo>
                  <a:lnTo>
                    <a:pt x="8345424" y="1982724"/>
                  </a:lnTo>
                  <a:lnTo>
                    <a:pt x="8345424" y="0"/>
                  </a:lnTo>
                  <a:close/>
                </a:path>
              </a:pathLst>
            </a:custGeom>
            <a:solidFill>
              <a:srgbClr val="9DBDC4">
                <a:alpha val="49804"/>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3" name="Google Shape;223;p29"/>
            <p:cNvSpPr/>
            <p:nvPr/>
          </p:nvSpPr>
          <p:spPr>
            <a:xfrm>
              <a:off x="4942713" y="3890403"/>
              <a:ext cx="4003675" cy="2287905"/>
            </a:xfrm>
            <a:custGeom>
              <a:rect b="b" l="l" r="r" t="t"/>
              <a:pathLst>
                <a:path extrusionOk="0" h="2287904" w="4003675">
                  <a:moveTo>
                    <a:pt x="0" y="0"/>
                  </a:moveTo>
                  <a:lnTo>
                    <a:pt x="645795" y="1064628"/>
                  </a:lnTo>
                  <a:lnTo>
                    <a:pt x="645795" y="2287892"/>
                  </a:lnTo>
                  <a:lnTo>
                    <a:pt x="4003167" y="2287892"/>
                  </a:lnTo>
                  <a:lnTo>
                    <a:pt x="4003167" y="190868"/>
                  </a:lnTo>
                  <a:lnTo>
                    <a:pt x="645795" y="190868"/>
                  </a:lnTo>
                  <a:lnTo>
                    <a:pt x="645795" y="540372"/>
                  </a:lnTo>
                  <a:lnTo>
                    <a:pt x="0"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224" name="Google Shape;224;p29"/>
            <p:cNvSpPr/>
            <p:nvPr/>
          </p:nvSpPr>
          <p:spPr>
            <a:xfrm>
              <a:off x="4942713" y="3890403"/>
              <a:ext cx="4003675" cy="2287905"/>
            </a:xfrm>
            <a:custGeom>
              <a:rect b="b" l="l" r="r" t="t"/>
              <a:pathLst>
                <a:path extrusionOk="0" h="2287904" w="4003675">
                  <a:moveTo>
                    <a:pt x="645795" y="190868"/>
                  </a:moveTo>
                  <a:lnTo>
                    <a:pt x="1205357" y="190868"/>
                  </a:lnTo>
                  <a:lnTo>
                    <a:pt x="2044700" y="190868"/>
                  </a:lnTo>
                  <a:lnTo>
                    <a:pt x="4003167" y="190868"/>
                  </a:lnTo>
                  <a:lnTo>
                    <a:pt x="4003167" y="540372"/>
                  </a:lnTo>
                  <a:lnTo>
                    <a:pt x="4003167" y="1064628"/>
                  </a:lnTo>
                  <a:lnTo>
                    <a:pt x="4003167" y="2287892"/>
                  </a:lnTo>
                  <a:lnTo>
                    <a:pt x="2044700" y="2287892"/>
                  </a:lnTo>
                  <a:lnTo>
                    <a:pt x="1205357" y="2287892"/>
                  </a:lnTo>
                  <a:lnTo>
                    <a:pt x="645795" y="2287892"/>
                  </a:lnTo>
                  <a:lnTo>
                    <a:pt x="645795" y="1064628"/>
                  </a:lnTo>
                  <a:lnTo>
                    <a:pt x="0" y="0"/>
                  </a:lnTo>
                  <a:lnTo>
                    <a:pt x="645795" y="540372"/>
                  </a:lnTo>
                  <a:lnTo>
                    <a:pt x="645795" y="190868"/>
                  </a:lnTo>
                  <a:close/>
                </a:path>
              </a:pathLst>
            </a:custGeom>
            <a:noFill/>
            <a:ln cap="flat" cmpd="sng" w="12175">
              <a:solidFill>
                <a:srgbClr val="992307"/>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225" name="Google Shape;225;p29"/>
          <p:cNvSpPr txBox="1"/>
          <p:nvPr>
            <p:ph type="title"/>
          </p:nvPr>
        </p:nvSpPr>
        <p:spPr>
          <a:xfrm>
            <a:off x="392112" y="796799"/>
            <a:ext cx="7701300" cy="474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Reglas de Prioridad o Qué Ocurre en Primer Lugar</a:t>
            </a:r>
            <a:endParaRPr/>
          </a:p>
        </p:txBody>
      </p:sp>
      <p:sp>
        <p:nvSpPr>
          <p:cNvPr id="226" name="Google Shape;226;p29"/>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227" name="Google Shape;227;p2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8" name="Google Shape;228;p29"/>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29" name="Google Shape;229;p29"/>
          <p:cNvSpPr txBox="1"/>
          <p:nvPr/>
        </p:nvSpPr>
        <p:spPr>
          <a:xfrm>
            <a:off x="502412" y="2453173"/>
            <a:ext cx="8068309" cy="3721100"/>
          </a:xfrm>
          <a:prstGeom prst="rect">
            <a:avLst/>
          </a:prstGeom>
          <a:noFill/>
          <a:ln>
            <a:noFill/>
          </a:ln>
        </p:spPr>
        <p:txBody>
          <a:bodyPr anchorCtr="0" anchor="t" bIns="0" lIns="0" spcFirstLastPara="1" rIns="0" wrap="square" tIns="12700">
            <a:spAutoFit/>
          </a:bodyPr>
          <a:lstStyle/>
          <a:p>
            <a:pPr indent="0" lvl="0" marL="12700" marR="54229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'||salary*1.05 AS "Employee Raise",  department_id,</a:t>
            </a:r>
            <a:endParaRPr sz="1800">
              <a:latin typeface="Courier New"/>
              <a:ea typeface="Courier New"/>
              <a:cs typeface="Courier New"/>
              <a:sym typeface="Courier New"/>
            </a:endParaRPr>
          </a:p>
          <a:p>
            <a:pPr indent="274320" lvl="0" marL="12700" marR="61347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first_name  FROM employees</a:t>
            </a:r>
            <a:endParaRPr sz="1800">
              <a:latin typeface="Courier New"/>
              <a:ea typeface="Courier New"/>
              <a:cs typeface="Courier New"/>
              <a:sym typeface="Courier New"/>
            </a:endParaRPr>
          </a:p>
          <a:p>
            <a:pPr indent="-274320" lvl="0" marL="286385" marR="54165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IN(50,80) OR first_name LIKE 'C%')  AND last_name LIKE '%s%';</a:t>
            </a:r>
            <a:endParaRPr sz="1800">
              <a:latin typeface="Courier New"/>
              <a:ea typeface="Courier New"/>
              <a:cs typeface="Courier New"/>
              <a:sym typeface="Courier New"/>
            </a:endParaRPr>
          </a:p>
          <a:p>
            <a:pPr indent="0" lvl="0" marL="5203825" marR="0" rtl="0" algn="l">
              <a:lnSpc>
                <a:spcPct val="108437"/>
              </a:lnSpc>
              <a:spcBef>
                <a:spcPts val="0"/>
              </a:spcBef>
              <a:spcAft>
                <a:spcPts val="0"/>
              </a:spcAft>
              <a:buNone/>
            </a:pPr>
            <a:r>
              <a:rPr lang="en-US" sz="1600">
                <a:solidFill>
                  <a:srgbClr val="FFFFFF"/>
                </a:solidFill>
                <a:latin typeface="Arial"/>
                <a:ea typeface="Arial"/>
                <a:cs typeface="Arial"/>
                <a:sym typeface="Arial"/>
              </a:rPr>
              <a:t>El orden de las operaciones es:</a:t>
            </a:r>
            <a:endParaRPr sz="1600">
              <a:latin typeface="Arial"/>
              <a:ea typeface="Arial"/>
              <a:cs typeface="Arial"/>
              <a:sym typeface="Arial"/>
            </a:endParaRPr>
          </a:p>
          <a:p>
            <a:pPr indent="-101600" lvl="0" marL="5199380" marR="5080" rtl="0" algn="l">
              <a:lnSpc>
                <a:spcPct val="100000"/>
              </a:lnSpc>
              <a:spcBef>
                <a:spcPts val="480"/>
              </a:spcBef>
              <a:spcAft>
                <a:spcPts val="0"/>
              </a:spcAft>
              <a:buClr>
                <a:srgbClr val="FFFFFF"/>
              </a:buClr>
              <a:buSzPts val="1600"/>
              <a:buFont typeface="Arial"/>
              <a:buAutoNum type="arabicPeriod"/>
            </a:pPr>
            <a:r>
              <a:rPr lang="en-US" sz="1600">
                <a:solidFill>
                  <a:srgbClr val="FFFFFF"/>
                </a:solidFill>
                <a:latin typeface="Arial"/>
                <a:ea typeface="Arial"/>
                <a:cs typeface="Arial"/>
                <a:sym typeface="Arial"/>
              </a:rPr>
              <a:t>Los valores de los paréntesis  están seleccionados.</a:t>
            </a:r>
            <a:endParaRPr sz="1600">
              <a:latin typeface="Arial"/>
              <a:ea typeface="Arial"/>
              <a:cs typeface="Arial"/>
              <a:sym typeface="Arial"/>
            </a:endParaRPr>
          </a:p>
          <a:p>
            <a:pPr indent="-101600" lvl="0" marL="5199380" marR="130810" rtl="0" algn="l">
              <a:lnSpc>
                <a:spcPct val="100000"/>
              </a:lnSpc>
              <a:spcBef>
                <a:spcPts val="480"/>
              </a:spcBef>
              <a:spcAft>
                <a:spcPts val="0"/>
              </a:spcAft>
              <a:buClr>
                <a:srgbClr val="FFFFFF"/>
              </a:buClr>
              <a:buSzPts val="1600"/>
              <a:buFont typeface="Arial"/>
              <a:buAutoNum type="arabicPeriod"/>
            </a:pPr>
            <a:r>
              <a:rPr lang="en-US" sz="1600">
                <a:solidFill>
                  <a:srgbClr val="FFFFFF"/>
                </a:solidFill>
                <a:latin typeface="Arial"/>
                <a:ea typeface="Arial"/>
                <a:cs typeface="Arial"/>
                <a:sym typeface="Arial"/>
              </a:rPr>
              <a:t>Se devolverán todas las  instancias de los valores entre  los paréntesis que también  contengan la letra "s" en su  last_name (apellido).</a:t>
            </a:r>
            <a:endParaRPr sz="160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Terminología</a:t>
            </a:r>
            <a:endParaRPr sz="3300"/>
          </a:p>
        </p:txBody>
      </p:sp>
      <p:sp>
        <p:nvSpPr>
          <p:cNvPr id="235" name="Google Shape;235;p30"/>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236" name="Google Shape;236;p3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7" name="Google Shape;237;p30"/>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38" name="Google Shape;238;p30"/>
          <p:cNvSpPr txBox="1"/>
          <p:nvPr/>
        </p:nvSpPr>
        <p:spPr>
          <a:xfrm>
            <a:off x="483552" y="1415417"/>
            <a:ext cx="7702550" cy="236029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AND</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OR</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NOT</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Reglas de prioridad</a:t>
            </a:r>
            <a:endParaRPr sz="24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1"/>
          <p:cNvSpPr txBox="1"/>
          <p:nvPr>
            <p:ph type="title"/>
          </p:nvPr>
        </p:nvSpPr>
        <p:spPr>
          <a:xfrm>
            <a:off x="392112" y="748031"/>
            <a:ext cx="1602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Resumen</a:t>
            </a:r>
            <a:endParaRPr sz="3300"/>
          </a:p>
        </p:txBody>
      </p:sp>
      <p:sp>
        <p:nvSpPr>
          <p:cNvPr id="244" name="Google Shape;244;p31"/>
          <p:cNvSpPr txBox="1"/>
          <p:nvPr>
            <p:ph idx="10" type="dt"/>
          </p:nvPr>
        </p:nvSpPr>
        <p:spPr>
          <a:xfrm>
            <a:off x="2855904" y="6510552"/>
            <a:ext cx="1994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3-1</a:t>
            </a:r>
            <a:endParaRPr/>
          </a:p>
          <a:p>
            <a:pPr indent="0" lvl="0" marL="12700" rtl="0" algn="l">
              <a:lnSpc>
                <a:spcPct val="120624"/>
              </a:lnSpc>
              <a:spcBef>
                <a:spcPts val="0"/>
              </a:spcBef>
              <a:spcAft>
                <a:spcPts val="0"/>
              </a:spcAft>
              <a:buNone/>
            </a:pPr>
            <a:r>
              <a:rPr lang="en-US"/>
              <a:t>Comparaciones Lógicas y Reglas de Prioridad</a:t>
            </a:r>
            <a:endParaRPr/>
          </a:p>
        </p:txBody>
      </p:sp>
      <p:sp>
        <p:nvSpPr>
          <p:cNvPr id="245" name="Google Shape;245;p3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6" name="Google Shape;246;p31"/>
          <p:cNvSpPr txBox="1"/>
          <p:nvPr>
            <p:ph idx="12" type="sldNum"/>
          </p:nvPr>
        </p:nvSpPr>
        <p:spPr>
          <a:xfrm>
            <a:off x="8601456" y="6589648"/>
            <a:ext cx="186000" cy="1308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47" name="Google Shape;247;p31"/>
          <p:cNvSpPr txBox="1"/>
          <p:nvPr/>
        </p:nvSpPr>
        <p:spPr>
          <a:xfrm>
            <a:off x="483552" y="1393401"/>
            <a:ext cx="8041005" cy="1896110"/>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56515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Evaluar las comparaciones lógicas para restringir las filas  devueltas en función de dos o más condiciones</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Aplicar las reglas de prioridad para determinar el orden en el  que se evalúan y calculan las expresiones</a:t>
            </a:r>
            <a:endParaRPr sz="24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