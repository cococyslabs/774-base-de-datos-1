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7BCCBB8-9A1F-418C-9DB1-96B411441FA6}">
  <a:tblStyle styleId="{77BCCBB8-9A1F-418C-9DB1-96B411441FA6}"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2021-05-06 10:10:42</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Si utiliza NULLS FIRST o NULLS LAST, deben estar al final de la cláusula ORDER BY, después de los nombres de columna. Por ejemplo: SELECT last_name, hire_date, department_id</a:t>
            </a:r>
            <a:endParaRPr/>
          </a:p>
          <a:p>
            <a:pPr indent="0" lvl="0" marL="0" rtl="0" algn="l">
              <a:spcBef>
                <a:spcPts val="0"/>
              </a:spcBef>
              <a:spcAft>
                <a:spcPts val="0"/>
              </a:spcAft>
              <a:buNone/>
            </a:pPr>
            <a:r>
              <a:rPr lang="en-US"/>
              <a:t>FROM employees</a:t>
            </a:r>
            <a:endParaRPr/>
          </a:p>
          <a:p>
            <a:pPr indent="0" lvl="0" marL="0" rtl="0" algn="l">
              <a:spcBef>
                <a:spcPts val="0"/>
              </a:spcBef>
              <a:spcAft>
                <a:spcPts val="0"/>
              </a:spcAft>
              <a:buNone/>
            </a:pPr>
            <a:r>
              <a:rPr lang="en-US"/>
              <a:t>ORDER BY department_id NULLS LAST;</a:t>
            </a:r>
            <a:endParaRPr/>
          </a:p>
        </p:txBody>
      </p:sp>
      <p:sp>
        <p:nvSpPr>
          <p:cNvPr id="106" name="Google Shape;106;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2021-05-06 10:10:43</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Si utiliza ASC o DESC en la cláusula ORDER BY influirá la colocación de los valores nulos: los valores nulos se muestran los últimos en orden ascendente y los primeros en orden descendente.</a:t>
            </a:r>
            <a:endParaRPr/>
          </a:p>
          <a:p>
            <a:pPr indent="0" lvl="0" marL="0" rtl="0" algn="l">
              <a:spcBef>
                <a:spcPts val="0"/>
              </a:spcBef>
              <a:spcAft>
                <a:spcPts val="0"/>
              </a:spcAft>
              <a:buNone/>
            </a:pPr>
            <a:r>
              <a:rPr lang="en-US"/>
              <a:t>Además, puede utilizar NULLS FIRST para especificar que los valores nulos se deben devolver antes de los valores no nulos. NULLS LAST especifica que los valores nulos se deben devolver después los valores no nulos.</a:t>
            </a:r>
            <a:endParaRPr/>
          </a:p>
        </p:txBody>
      </p:sp>
      <p:sp>
        <p:nvSpPr>
          <p:cNvPr id="126" name="Google Shape;126;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2021-05-06 10:10:44</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Es difícil verificar los resultados cuando se ordenan según una columna que no está seleccionada. En el mundo real, debería ejecutar la consulta seleccionando la columna last_name hasta que estuviera seguro de que obtenía los datos correctos. Después, podría eliminar dicha columna en la sentencia SELECT.</a:t>
            </a:r>
            <a:endParaRPr/>
          </a:p>
        </p:txBody>
      </p:sp>
      <p:sp>
        <p:nvSpPr>
          <p:cNvPr id="148" name="Google Shape;148;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2021-05-06 10:10:45</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Se ha invertido el orden para el valor de department_id (de la diapositiva anterior) con DESC, por lo que ahora se muestran del más alto al más bajo, el orden del apellido sigue siendo alfabético, de la A a la Z.</a:t>
            </a:r>
            <a:endParaRPr/>
          </a:p>
        </p:txBody>
      </p:sp>
      <p:sp>
        <p:nvSpPr>
          <p:cNvPr id="190" name="Google Shape;190;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392112" y="748031"/>
            <a:ext cx="60147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83552" y="1393401"/>
            <a:ext cx="8020200" cy="45066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0" type="dt"/>
          </p:nvPr>
        </p:nvSpPr>
        <p:spPr>
          <a:xfrm>
            <a:off x="2855904" y="6510552"/>
            <a:ext cx="8940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3"/>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lvl1pPr indent="0" lvl="0" marL="38100">
              <a:lnSpc>
                <a:spcPct val="107058"/>
              </a:lnSpc>
              <a:spcBef>
                <a:spcPts val="0"/>
              </a:spcBef>
              <a:buNone/>
              <a:defRPr b="0" i="0" sz="850">
                <a:solidFill>
                  <a:srgbClr val="4E3629"/>
                </a:solidFill>
                <a:latin typeface="Calibri"/>
                <a:ea typeface="Calibri"/>
                <a:cs typeface="Calibri"/>
                <a:sym typeface="Calibri"/>
              </a:defRPr>
            </a:lvl1pPr>
            <a:lvl2pPr indent="0" lvl="1" marL="38100">
              <a:lnSpc>
                <a:spcPct val="107058"/>
              </a:lnSpc>
              <a:spcBef>
                <a:spcPts val="0"/>
              </a:spcBef>
              <a:buNone/>
              <a:defRPr b="0" i="0" sz="850">
                <a:solidFill>
                  <a:srgbClr val="4E3629"/>
                </a:solidFill>
                <a:latin typeface="Calibri"/>
                <a:ea typeface="Calibri"/>
                <a:cs typeface="Calibri"/>
                <a:sym typeface="Calibri"/>
              </a:defRPr>
            </a:lvl2pPr>
            <a:lvl3pPr indent="0" lvl="2" marL="38100">
              <a:lnSpc>
                <a:spcPct val="107058"/>
              </a:lnSpc>
              <a:spcBef>
                <a:spcPts val="0"/>
              </a:spcBef>
              <a:buNone/>
              <a:defRPr b="0" i="0" sz="850">
                <a:solidFill>
                  <a:srgbClr val="4E3629"/>
                </a:solidFill>
                <a:latin typeface="Calibri"/>
                <a:ea typeface="Calibri"/>
                <a:cs typeface="Calibri"/>
                <a:sym typeface="Calibri"/>
              </a:defRPr>
            </a:lvl3pPr>
            <a:lvl4pPr indent="0" lvl="3" marL="38100">
              <a:lnSpc>
                <a:spcPct val="107058"/>
              </a:lnSpc>
              <a:spcBef>
                <a:spcPts val="0"/>
              </a:spcBef>
              <a:buNone/>
              <a:defRPr b="0" i="0" sz="850">
                <a:solidFill>
                  <a:srgbClr val="4E3629"/>
                </a:solidFill>
                <a:latin typeface="Calibri"/>
                <a:ea typeface="Calibri"/>
                <a:cs typeface="Calibri"/>
                <a:sym typeface="Calibri"/>
              </a:defRPr>
            </a:lvl4pPr>
            <a:lvl5pPr indent="0" lvl="4" marL="38100">
              <a:lnSpc>
                <a:spcPct val="107058"/>
              </a:lnSpc>
              <a:spcBef>
                <a:spcPts val="0"/>
              </a:spcBef>
              <a:buNone/>
              <a:defRPr b="0" i="0" sz="850">
                <a:solidFill>
                  <a:srgbClr val="4E3629"/>
                </a:solidFill>
                <a:latin typeface="Calibri"/>
                <a:ea typeface="Calibri"/>
                <a:cs typeface="Calibri"/>
                <a:sym typeface="Calibri"/>
              </a:defRPr>
            </a:lvl5pPr>
            <a:lvl6pPr indent="0" lvl="5" marL="38100">
              <a:lnSpc>
                <a:spcPct val="107058"/>
              </a:lnSpc>
              <a:spcBef>
                <a:spcPts val="0"/>
              </a:spcBef>
              <a:buNone/>
              <a:defRPr b="0" i="0" sz="850">
                <a:solidFill>
                  <a:srgbClr val="4E3629"/>
                </a:solidFill>
                <a:latin typeface="Calibri"/>
                <a:ea typeface="Calibri"/>
                <a:cs typeface="Calibri"/>
                <a:sym typeface="Calibri"/>
              </a:defRPr>
            </a:lvl6pPr>
            <a:lvl7pPr indent="0" lvl="6" marL="38100">
              <a:lnSpc>
                <a:spcPct val="107058"/>
              </a:lnSpc>
              <a:spcBef>
                <a:spcPts val="0"/>
              </a:spcBef>
              <a:buNone/>
              <a:defRPr b="0" i="0" sz="850">
                <a:solidFill>
                  <a:srgbClr val="4E3629"/>
                </a:solidFill>
                <a:latin typeface="Calibri"/>
                <a:ea typeface="Calibri"/>
                <a:cs typeface="Calibri"/>
                <a:sym typeface="Calibri"/>
              </a:defRPr>
            </a:lvl7pPr>
            <a:lvl8pPr indent="0" lvl="7" marL="38100">
              <a:lnSpc>
                <a:spcPct val="107058"/>
              </a:lnSpc>
              <a:spcBef>
                <a:spcPts val="0"/>
              </a:spcBef>
              <a:buNone/>
              <a:defRPr b="0" i="0" sz="850">
                <a:solidFill>
                  <a:srgbClr val="4E3629"/>
                </a:solidFill>
                <a:latin typeface="Calibri"/>
                <a:ea typeface="Calibri"/>
                <a:cs typeface="Calibri"/>
                <a:sym typeface="Calibri"/>
              </a:defRPr>
            </a:lvl8pPr>
            <a:lvl9pPr indent="0" lvl="8" marL="38100">
              <a:lnSpc>
                <a:spcPct val="107058"/>
              </a:lnSpc>
              <a:spcBef>
                <a:spcPts val="0"/>
              </a:spcBef>
              <a:buNone/>
              <a:defRPr b="0" i="0" sz="85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grpSp>
        <p:nvGrpSpPr>
          <p:cNvPr id="60" name="Google Shape;60;p14"/>
          <p:cNvGrpSpPr/>
          <p:nvPr/>
        </p:nvGrpSpPr>
        <p:grpSpPr>
          <a:xfrm>
            <a:off x="0" y="0"/>
            <a:ext cx="9144000" cy="6858000"/>
            <a:chOff x="0" y="0"/>
            <a:chExt cx="9144000" cy="6858000"/>
          </a:xfrm>
        </p:grpSpPr>
        <p:pic>
          <p:nvPicPr>
            <p:cNvPr id="61" name="Google Shape;61;p14"/>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2" name="Google Shape;62;p14"/>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3" name="Google Shape;63;p14"/>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64" name="Google Shape;64;p14"/>
          <p:cNvSpPr txBox="1"/>
          <p:nvPr/>
        </p:nvSpPr>
        <p:spPr>
          <a:xfrm>
            <a:off x="50578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65" name="Google Shape;65;p14"/>
          <p:cNvSpPr txBox="1"/>
          <p:nvPr>
            <p:ph type="title"/>
          </p:nvPr>
        </p:nvSpPr>
        <p:spPr>
          <a:xfrm>
            <a:off x="958315" y="862895"/>
            <a:ext cx="70479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66" name="Google Shape;66;p14"/>
          <p:cNvSpPr txBox="1"/>
          <p:nvPr/>
        </p:nvSpPr>
        <p:spPr>
          <a:xfrm>
            <a:off x="962879" y="2400950"/>
            <a:ext cx="2512060" cy="888365"/>
          </a:xfrm>
          <a:prstGeom prst="rect">
            <a:avLst/>
          </a:prstGeom>
          <a:noFill/>
          <a:ln>
            <a:noFill/>
          </a:ln>
        </p:spPr>
        <p:txBody>
          <a:bodyPr anchorCtr="0" anchor="t" bIns="0" lIns="0" spcFirstLastPara="1" rIns="0" wrap="square" tIns="78100">
            <a:spAutoFit/>
          </a:bodyPr>
          <a:lstStyle/>
          <a:p>
            <a:pPr indent="0" lvl="0" marL="12700" rtl="0" algn="l">
              <a:lnSpc>
                <a:spcPct val="100000"/>
              </a:lnSpc>
              <a:spcBef>
                <a:spcPts val="0"/>
              </a:spcBef>
              <a:spcAft>
                <a:spcPts val="0"/>
              </a:spcAft>
              <a:buNone/>
            </a:pPr>
            <a:r>
              <a:rPr b="1" lang="en-US" sz="2400">
                <a:solidFill>
                  <a:srgbClr val="4E3629"/>
                </a:solidFill>
                <a:latin typeface="Calibri"/>
                <a:ea typeface="Calibri"/>
                <a:cs typeface="Calibri"/>
                <a:sym typeface="Calibri"/>
              </a:rPr>
              <a:t>3-2</a:t>
            </a:r>
            <a:endParaRPr sz="2400">
              <a:latin typeface="Calibri"/>
              <a:ea typeface="Calibri"/>
              <a:cs typeface="Calibri"/>
              <a:sym typeface="Calibri"/>
            </a:endParaRPr>
          </a:p>
          <a:p>
            <a:pPr indent="0" lvl="0" marL="12700" rtl="0" algn="l">
              <a:lnSpc>
                <a:spcPct val="100000"/>
              </a:lnSpc>
              <a:spcBef>
                <a:spcPts val="515"/>
              </a:spcBef>
              <a:spcAft>
                <a:spcPts val="0"/>
              </a:spcAft>
              <a:buNone/>
            </a:pPr>
            <a:r>
              <a:rPr b="1" lang="en-US" sz="2400">
                <a:solidFill>
                  <a:srgbClr val="4E3629"/>
                </a:solidFill>
                <a:latin typeface="Calibri"/>
                <a:ea typeface="Calibri"/>
                <a:cs typeface="Calibri"/>
                <a:sym typeface="Calibri"/>
              </a:rPr>
              <a:t>Ordenación de Filas</a:t>
            </a:r>
            <a:endParaRPr sz="2400">
              <a:latin typeface="Calibri"/>
              <a:ea typeface="Calibri"/>
              <a:cs typeface="Calibri"/>
              <a:sym typeface="Calibri"/>
            </a:endParaRPr>
          </a:p>
        </p:txBody>
      </p:sp>
      <p:pic>
        <p:nvPicPr>
          <p:cNvPr id="67" name="Google Shape;67;p14"/>
          <p:cNvPicPr preferRelativeResize="0"/>
          <p:nvPr/>
        </p:nvPicPr>
        <p:blipFill rotWithShape="1">
          <a:blip r:embed="rId5">
            <a:alphaModFix/>
          </a:blip>
          <a:srcRect b="0" l="0" r="0" t="0"/>
          <a:stretch/>
        </p:blipFill>
        <p:spPr>
          <a:xfrm>
            <a:off x="-389378" y="3457900"/>
            <a:ext cx="5058157" cy="296570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92112" y="748031"/>
            <a:ext cx="6014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73" name="Google Shape;73;p15"/>
          <p:cNvSpPr txBox="1"/>
          <p:nvPr>
            <p:ph idx="10" type="dt"/>
          </p:nvPr>
        </p:nvSpPr>
        <p:spPr>
          <a:xfrm>
            <a:off x="2855904" y="6510552"/>
            <a:ext cx="894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3-2</a:t>
            </a:r>
            <a:endParaRPr/>
          </a:p>
          <a:p>
            <a:pPr indent="0" lvl="0" marL="12700" rtl="0" algn="l">
              <a:lnSpc>
                <a:spcPct val="120624"/>
              </a:lnSpc>
              <a:spcBef>
                <a:spcPts val="0"/>
              </a:spcBef>
              <a:spcAft>
                <a:spcPts val="0"/>
              </a:spcAft>
              <a:buNone/>
            </a:pPr>
            <a:r>
              <a:rPr lang="en-US"/>
              <a:t>Ordenación de Filas</a:t>
            </a:r>
            <a:endParaRPr/>
          </a:p>
        </p:txBody>
      </p:sp>
      <p:sp>
        <p:nvSpPr>
          <p:cNvPr id="74" name="Google Shape;74;p1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75" name="Google Shape;75;p15"/>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76" name="Google Shape;76;p15"/>
          <p:cNvSpPr txBox="1"/>
          <p:nvPr>
            <p:ph idx="1" type="body"/>
          </p:nvPr>
        </p:nvSpPr>
        <p:spPr>
          <a:xfrm>
            <a:off x="483552" y="1393401"/>
            <a:ext cx="8020200" cy="384180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a:t>En esta lección se abordan los siguientes objetivos:</a:t>
            </a:r>
            <a:endParaRPr/>
          </a:p>
          <a:p>
            <a:pPr indent="-175260" lvl="0" marL="530860" marR="245110" rtl="0" algn="l">
              <a:lnSpc>
                <a:spcPct val="107916"/>
              </a:lnSpc>
              <a:spcBef>
                <a:spcPts val="475"/>
              </a:spcBef>
              <a:spcAft>
                <a:spcPts val="0"/>
              </a:spcAft>
              <a:buNone/>
            </a:pPr>
            <a:r>
              <a:rPr lang="en-US" sz="2400">
                <a:solidFill>
                  <a:srgbClr val="D1350F"/>
                </a:solidFill>
              </a:rPr>
              <a:t>−</a:t>
            </a:r>
            <a:r>
              <a:rPr lang="en-US" sz="2400"/>
              <a:t>Crear una consulta para ordenar un juego de resultados en orden ascendente o descendente</a:t>
            </a:r>
            <a:endParaRPr sz="2400"/>
          </a:p>
          <a:p>
            <a:pPr indent="-175260" lvl="0" marL="530860" marR="850900" rtl="0" algn="l">
              <a:lnSpc>
                <a:spcPct val="107916"/>
              </a:lnSpc>
              <a:spcBef>
                <a:spcPts val="400"/>
              </a:spcBef>
              <a:spcAft>
                <a:spcPts val="0"/>
              </a:spcAft>
              <a:buNone/>
            </a:pPr>
            <a:r>
              <a:rPr lang="en-US" sz="2400">
                <a:solidFill>
                  <a:srgbClr val="D1350F"/>
                </a:solidFill>
              </a:rPr>
              <a:t>−</a:t>
            </a:r>
            <a:r>
              <a:rPr lang="en-US" sz="2400"/>
              <a:t>Establecer el orden en el que se evalúan y calculan las expresiones en función de las reglas de prioridad</a:t>
            </a:r>
            <a:endParaRPr sz="2400"/>
          </a:p>
          <a:p>
            <a:pPr indent="-175260" lvl="0" marL="530860" marR="111125" rtl="0" algn="l">
              <a:lnSpc>
                <a:spcPct val="107916"/>
              </a:lnSpc>
              <a:spcBef>
                <a:spcPts val="400"/>
              </a:spcBef>
              <a:spcAft>
                <a:spcPts val="0"/>
              </a:spcAft>
              <a:buNone/>
            </a:pPr>
            <a:r>
              <a:rPr lang="en-US" sz="2400">
                <a:solidFill>
                  <a:srgbClr val="D1350F"/>
                </a:solidFill>
              </a:rPr>
              <a:t>−</a:t>
            </a:r>
            <a:r>
              <a:rPr lang="en-US" sz="2400"/>
              <a:t>Crear una consulta para ordenar un juego de resultados con un alias de columna</a:t>
            </a:r>
            <a:endParaRPr sz="2400"/>
          </a:p>
          <a:p>
            <a:pPr indent="-175260" lvl="0" marL="530860" marR="5080" rtl="0" algn="l">
              <a:lnSpc>
                <a:spcPct val="107916"/>
              </a:lnSpc>
              <a:spcBef>
                <a:spcPts val="409"/>
              </a:spcBef>
              <a:spcAft>
                <a:spcPts val="1200"/>
              </a:spcAft>
              <a:buNone/>
            </a:pPr>
            <a:r>
              <a:rPr lang="en-US" sz="2400">
                <a:solidFill>
                  <a:srgbClr val="D1350F"/>
                </a:solidFill>
              </a:rPr>
              <a:t>−</a:t>
            </a:r>
            <a:r>
              <a:rPr lang="en-US" sz="2400"/>
              <a:t>Crear una consulta para ordenar un juego de resultados para una o varias columnas</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92112" y="748031"/>
            <a:ext cx="6014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82" name="Google Shape;82;p16"/>
          <p:cNvSpPr txBox="1"/>
          <p:nvPr>
            <p:ph idx="10" type="dt"/>
          </p:nvPr>
        </p:nvSpPr>
        <p:spPr>
          <a:xfrm>
            <a:off x="2855904" y="6510552"/>
            <a:ext cx="894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3-2</a:t>
            </a:r>
            <a:endParaRPr/>
          </a:p>
          <a:p>
            <a:pPr indent="0" lvl="0" marL="12700" rtl="0" algn="l">
              <a:lnSpc>
                <a:spcPct val="120624"/>
              </a:lnSpc>
              <a:spcBef>
                <a:spcPts val="0"/>
              </a:spcBef>
              <a:spcAft>
                <a:spcPts val="0"/>
              </a:spcAft>
              <a:buNone/>
            </a:pPr>
            <a:r>
              <a:rPr lang="en-US"/>
              <a:t>Ordenación de Filas</a:t>
            </a:r>
            <a:endParaRPr/>
          </a:p>
        </p:txBody>
      </p:sp>
      <p:sp>
        <p:nvSpPr>
          <p:cNvPr id="83" name="Google Shape;83;p1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84" name="Google Shape;84;p16"/>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85" name="Google Shape;85;p16"/>
          <p:cNvSpPr txBox="1"/>
          <p:nvPr>
            <p:ph idx="1" type="body"/>
          </p:nvPr>
        </p:nvSpPr>
        <p:spPr>
          <a:xfrm>
            <a:off x="483552" y="1393401"/>
            <a:ext cx="8020200" cy="4199400"/>
          </a:xfrm>
          <a:prstGeom prst="rect">
            <a:avLst/>
          </a:prstGeom>
          <a:noFill/>
          <a:ln>
            <a:noFill/>
          </a:ln>
        </p:spPr>
        <p:txBody>
          <a:bodyPr anchorCtr="0" anchor="t" bIns="0" lIns="0" spcFirstLastPara="1" rIns="0" wrap="square" tIns="97150">
            <a:spAutoFit/>
          </a:bodyPr>
          <a:lstStyle/>
          <a:p>
            <a:pPr indent="-177800" lvl="0" marL="182880" marR="408940" rtl="0" algn="l">
              <a:lnSpc>
                <a:spcPct val="80000"/>
              </a:lnSpc>
              <a:spcBef>
                <a:spcPts val="0"/>
              </a:spcBef>
              <a:spcAft>
                <a:spcPts val="0"/>
              </a:spcAft>
              <a:buClr>
                <a:srgbClr val="D1350F"/>
              </a:buClr>
              <a:buSzPts val="2800"/>
              <a:buFont typeface="Arial"/>
              <a:buChar char="•"/>
            </a:pPr>
            <a:r>
              <a:rPr lang="en-US"/>
              <a:t>Por naturaleza, la mayoría de nosotros necesitamos 	orden en nuestras vidas</a:t>
            </a:r>
            <a:endParaRPr/>
          </a:p>
          <a:p>
            <a:pPr indent="-177800" lvl="0" marL="182880" marR="205104" rtl="0" algn="l">
              <a:lnSpc>
                <a:spcPct val="80000"/>
              </a:lnSpc>
              <a:spcBef>
                <a:spcPts val="805"/>
              </a:spcBef>
              <a:spcAft>
                <a:spcPts val="0"/>
              </a:spcAft>
              <a:buClr>
                <a:srgbClr val="D1350F"/>
              </a:buClr>
              <a:buSzPts val="2800"/>
              <a:buFont typeface="Arial"/>
              <a:buChar char="•"/>
            </a:pPr>
            <a:r>
              <a:rPr lang="en-US"/>
              <a:t>Imagine que cada vez que cenara, tuviera que buscar 	en cada cajón o armario de la cocina para buscar un 	cuchillo y un tenedor</a:t>
            </a:r>
            <a:endParaRPr/>
          </a:p>
          <a:p>
            <a:pPr indent="-177800" lvl="0" marL="182880" marR="5080" rtl="0" algn="l">
              <a:lnSpc>
                <a:spcPct val="80000"/>
              </a:lnSpc>
              <a:spcBef>
                <a:spcPts val="795"/>
              </a:spcBef>
              <a:spcAft>
                <a:spcPts val="0"/>
              </a:spcAft>
              <a:buClr>
                <a:srgbClr val="D1350F"/>
              </a:buClr>
              <a:buSzPts val="2800"/>
              <a:buFont typeface="Arial"/>
              <a:buChar char="•"/>
            </a:pPr>
            <a:r>
              <a:rPr lang="en-US"/>
              <a:t>Ordenar, agrupar y clasificar facilita la búsqueda de las 	cosas</a:t>
            </a:r>
            <a:endParaRPr/>
          </a:p>
          <a:p>
            <a:pPr indent="-177800" lvl="0" marL="182880" marR="474980" rtl="0" algn="l">
              <a:lnSpc>
                <a:spcPct val="80000"/>
              </a:lnSpc>
              <a:spcBef>
                <a:spcPts val="805"/>
              </a:spcBef>
              <a:spcAft>
                <a:spcPts val="1200"/>
              </a:spcAft>
              <a:buClr>
                <a:srgbClr val="D1350F"/>
              </a:buClr>
              <a:buSzPts val="2800"/>
              <a:buFont typeface="Arial"/>
              <a:buChar char="•"/>
            </a:pPr>
            <a:r>
              <a:rPr lang="en-US"/>
              <a:t>Los biólogos agrupan a los animales en filos, los 	astrónomos ordenan el brillo de las estrellas por su 	magnitud y los programadores de Java organizan el 	código en clases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92112" y="748031"/>
            <a:ext cx="6014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91" name="Google Shape;91;p17"/>
          <p:cNvSpPr txBox="1"/>
          <p:nvPr>
            <p:ph idx="10" type="dt"/>
          </p:nvPr>
        </p:nvSpPr>
        <p:spPr>
          <a:xfrm>
            <a:off x="2855904" y="6510552"/>
            <a:ext cx="894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3-2</a:t>
            </a:r>
            <a:endParaRPr/>
          </a:p>
          <a:p>
            <a:pPr indent="0" lvl="0" marL="12700" rtl="0" algn="l">
              <a:lnSpc>
                <a:spcPct val="120624"/>
              </a:lnSpc>
              <a:spcBef>
                <a:spcPts val="0"/>
              </a:spcBef>
              <a:spcAft>
                <a:spcPts val="0"/>
              </a:spcAft>
              <a:buNone/>
            </a:pPr>
            <a:r>
              <a:rPr lang="en-US"/>
              <a:t>Ordenación de Filas</a:t>
            </a:r>
            <a:endParaRPr/>
          </a:p>
        </p:txBody>
      </p:sp>
      <p:sp>
        <p:nvSpPr>
          <p:cNvPr id="92" name="Google Shape;92;p1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3" name="Google Shape;93;p17"/>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94" name="Google Shape;94;p17"/>
          <p:cNvSpPr txBox="1"/>
          <p:nvPr>
            <p:ph idx="1" type="body"/>
          </p:nvPr>
        </p:nvSpPr>
        <p:spPr>
          <a:xfrm>
            <a:off x="483552" y="1393401"/>
            <a:ext cx="8020200" cy="5055300"/>
          </a:xfrm>
          <a:prstGeom prst="rect">
            <a:avLst/>
          </a:prstGeom>
          <a:noFill/>
          <a:ln>
            <a:noFill/>
          </a:ln>
        </p:spPr>
        <p:txBody>
          <a:bodyPr anchorCtr="0" anchor="t" bIns="0" lIns="0" spcFirstLastPara="1" rIns="0" wrap="square" tIns="34275">
            <a:spAutoFit/>
          </a:bodyPr>
          <a:lstStyle/>
          <a:p>
            <a:pPr indent="-177800" lvl="0" marL="183515" rtl="0" algn="just">
              <a:lnSpc>
                <a:spcPct val="100000"/>
              </a:lnSpc>
              <a:spcBef>
                <a:spcPts val="0"/>
              </a:spcBef>
              <a:spcAft>
                <a:spcPts val="0"/>
              </a:spcAft>
              <a:buClr>
                <a:srgbClr val="D1350F"/>
              </a:buClr>
              <a:buSzPts val="2800"/>
              <a:buFont typeface="Arial"/>
              <a:buChar char="•"/>
            </a:pPr>
            <a:r>
              <a:rPr lang="en-US"/>
              <a:t>La vida diaria está ordenada en muchas situaciones:</a:t>
            </a:r>
            <a:endParaRPr/>
          </a:p>
          <a:p>
            <a:pPr indent="0" lvl="0" marL="355600" rtl="0" algn="l">
              <a:lnSpc>
                <a:spcPct val="100000"/>
              </a:lnSpc>
              <a:spcBef>
                <a:spcPts val="145"/>
              </a:spcBef>
              <a:spcAft>
                <a:spcPts val="0"/>
              </a:spcAft>
              <a:buNone/>
            </a:pPr>
            <a:r>
              <a:rPr lang="en-US" sz="2400">
                <a:solidFill>
                  <a:srgbClr val="D1350F"/>
                </a:solidFill>
              </a:rPr>
              <a:t>−</a:t>
            </a:r>
            <a:r>
              <a:rPr lang="en-US" sz="2400"/>
              <a:t>Los libros en la biblioteca</a:t>
            </a:r>
            <a:endParaRPr sz="2400"/>
          </a:p>
          <a:p>
            <a:pPr indent="0" lvl="0" marL="355600" rtl="0" algn="l">
              <a:lnSpc>
                <a:spcPct val="100000"/>
              </a:lnSpc>
              <a:spcBef>
                <a:spcPts val="110"/>
              </a:spcBef>
              <a:spcAft>
                <a:spcPts val="0"/>
              </a:spcAft>
              <a:buNone/>
            </a:pPr>
            <a:r>
              <a:rPr lang="en-US" sz="2400">
                <a:solidFill>
                  <a:srgbClr val="D1350F"/>
                </a:solidFill>
              </a:rPr>
              <a:t>−</a:t>
            </a:r>
            <a:r>
              <a:rPr lang="en-US" sz="2400"/>
              <a:t>Las estanterías del supermercado</a:t>
            </a:r>
            <a:endParaRPr sz="2400"/>
          </a:p>
          <a:p>
            <a:pPr indent="0" lvl="0" marL="355600" rtl="0" algn="l">
              <a:lnSpc>
                <a:spcPct val="100000"/>
              </a:lnSpc>
              <a:spcBef>
                <a:spcPts val="105"/>
              </a:spcBef>
              <a:spcAft>
                <a:spcPts val="0"/>
              </a:spcAft>
              <a:buNone/>
            </a:pPr>
            <a:r>
              <a:rPr lang="en-US" sz="2400">
                <a:solidFill>
                  <a:srgbClr val="D1350F"/>
                </a:solidFill>
              </a:rPr>
              <a:t>−</a:t>
            </a:r>
            <a:r>
              <a:rPr lang="en-US" sz="2400"/>
              <a:t>Los documentos almacenados en archivadores</a:t>
            </a:r>
            <a:endParaRPr sz="2400"/>
          </a:p>
          <a:p>
            <a:pPr indent="-177800" lvl="0" marL="182880" marR="99060" rtl="0" algn="just">
              <a:lnSpc>
                <a:spcPct val="108214"/>
              </a:lnSpc>
              <a:spcBef>
                <a:spcPts val="820"/>
              </a:spcBef>
              <a:spcAft>
                <a:spcPts val="0"/>
              </a:spcAft>
              <a:buClr>
                <a:srgbClr val="D1350F"/>
              </a:buClr>
              <a:buSzPts val="2800"/>
              <a:buFont typeface="Arial"/>
              <a:buChar char="•"/>
            </a:pPr>
            <a:r>
              <a:rPr lang="en-US"/>
              <a:t>Poder ordenar resultados es una función útil en SQL y 	permite a los programadores mostrar información de 	muchas formas diferentes</a:t>
            </a:r>
            <a:endParaRPr/>
          </a:p>
          <a:p>
            <a:pPr indent="-177800" lvl="0" marL="182880" marR="5080" rtl="0" algn="l">
              <a:lnSpc>
                <a:spcPct val="108214"/>
              </a:lnSpc>
              <a:spcBef>
                <a:spcPts val="785"/>
              </a:spcBef>
              <a:spcAft>
                <a:spcPts val="1200"/>
              </a:spcAft>
              <a:buClr>
                <a:srgbClr val="D1350F"/>
              </a:buClr>
              <a:buSzPts val="2800"/>
              <a:buFont typeface="Arial"/>
              <a:buChar char="•"/>
            </a:pPr>
            <a:r>
              <a:rPr lang="en-US"/>
              <a:t>Para el diseño de bases de datos, las funciones de 	negocio se ordenan por entidades y atributos; en la 	información de la base de datos, SQL utiliza la cláusula 	ORDER BY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92112" y="748031"/>
            <a:ext cx="6014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Cláusula ORDER BY</a:t>
            </a:r>
            <a:endParaRPr/>
          </a:p>
        </p:txBody>
      </p:sp>
      <p:sp>
        <p:nvSpPr>
          <p:cNvPr id="100" name="Google Shape;100;p18"/>
          <p:cNvSpPr txBox="1"/>
          <p:nvPr>
            <p:ph idx="10" type="dt"/>
          </p:nvPr>
        </p:nvSpPr>
        <p:spPr>
          <a:xfrm>
            <a:off x="2855904" y="6510552"/>
            <a:ext cx="894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3-2</a:t>
            </a:r>
            <a:endParaRPr/>
          </a:p>
          <a:p>
            <a:pPr indent="0" lvl="0" marL="12700" rtl="0" algn="l">
              <a:lnSpc>
                <a:spcPct val="120624"/>
              </a:lnSpc>
              <a:spcBef>
                <a:spcPts val="0"/>
              </a:spcBef>
              <a:spcAft>
                <a:spcPts val="0"/>
              </a:spcAft>
              <a:buNone/>
            </a:pPr>
            <a:r>
              <a:rPr lang="en-US"/>
              <a:t>Ordenación de Filas</a:t>
            </a:r>
            <a:endParaRPr/>
          </a:p>
        </p:txBody>
      </p:sp>
      <p:sp>
        <p:nvSpPr>
          <p:cNvPr id="101" name="Google Shape;101;p1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2" name="Google Shape;102;p18"/>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03" name="Google Shape;103;p18"/>
          <p:cNvSpPr txBox="1"/>
          <p:nvPr/>
        </p:nvSpPr>
        <p:spPr>
          <a:xfrm>
            <a:off x="483552" y="1415417"/>
            <a:ext cx="7922895" cy="3829050"/>
          </a:xfrm>
          <a:prstGeom prst="rect">
            <a:avLst/>
          </a:prstGeom>
          <a:noFill/>
          <a:ln>
            <a:noFill/>
          </a:ln>
        </p:spPr>
        <p:txBody>
          <a:bodyPr anchorCtr="0" anchor="t" bIns="0" lIns="0" spcFirstLastPara="1" rIns="0" wrap="square" tIns="59675">
            <a:spAutoFit/>
          </a:bodyPr>
          <a:lstStyle/>
          <a:p>
            <a:pPr indent="-177800" lvl="0" marL="182880" marR="40640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información ordenada en orden ascendente nos 	es conocida</a:t>
            </a:r>
            <a:endParaRPr sz="2800">
              <a:latin typeface="Calibri"/>
              <a:ea typeface="Calibri"/>
              <a:cs typeface="Calibri"/>
              <a:sym typeface="Calibri"/>
            </a:endParaRPr>
          </a:p>
          <a:p>
            <a:pPr indent="-177800" lvl="0" marL="182880" marR="17843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 lo que hace que consultar un número en una 	agenda, buscar una palabra en el diccionario, o 	localizar una casa por su dirección sea relativamente 	fácil</a:t>
            </a:r>
            <a:endParaRPr sz="2800">
              <a:latin typeface="Calibri"/>
              <a:ea typeface="Calibri"/>
              <a:cs typeface="Calibri"/>
              <a:sym typeface="Calibri"/>
            </a:endParaRPr>
          </a:p>
          <a:p>
            <a:pPr indent="-177800" lvl="0" marL="183515" rtl="0" algn="l">
              <a:lnSpc>
                <a:spcPct val="100000"/>
              </a:lnSpc>
              <a:spcBef>
                <a:spcPts val="40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SQL utiliza la cláusula ORDER BY para ordenar datos.</a:t>
            </a:r>
            <a:endParaRPr sz="2800">
              <a:latin typeface="Calibri"/>
              <a:ea typeface="Calibri"/>
              <a:cs typeface="Calibri"/>
              <a:sym typeface="Calibri"/>
            </a:endParaRPr>
          </a:p>
          <a:p>
            <a:pPr indent="-177800" lvl="0" marL="182880" marR="5080" rtl="0" algn="l">
              <a:lnSpc>
                <a:spcPct val="108214"/>
              </a:lnSpc>
              <a:spcBef>
                <a:spcPts val="83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cláusula ORDER BY puede especificar varias formas 	en las que ordenar las filas devueltas en una consulta</a:t>
            </a:r>
            <a:endParaRPr sz="28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392112" y="748031"/>
            <a:ext cx="6014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Cláusula ORDER BY</a:t>
            </a:r>
            <a:endParaRPr/>
          </a:p>
        </p:txBody>
      </p:sp>
      <p:sp>
        <p:nvSpPr>
          <p:cNvPr id="109" name="Google Shape;109;p19"/>
          <p:cNvSpPr txBox="1"/>
          <p:nvPr>
            <p:ph idx="10" type="dt"/>
          </p:nvPr>
        </p:nvSpPr>
        <p:spPr>
          <a:xfrm>
            <a:off x="2855904" y="6510552"/>
            <a:ext cx="894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3-2</a:t>
            </a:r>
            <a:endParaRPr/>
          </a:p>
          <a:p>
            <a:pPr indent="0" lvl="0" marL="12700" rtl="0" algn="l">
              <a:lnSpc>
                <a:spcPct val="120624"/>
              </a:lnSpc>
              <a:spcBef>
                <a:spcPts val="0"/>
              </a:spcBef>
              <a:spcAft>
                <a:spcPts val="0"/>
              </a:spcAft>
              <a:buNone/>
            </a:pPr>
            <a:r>
              <a:rPr lang="en-US"/>
              <a:t>Ordenación de Filas</a:t>
            </a:r>
            <a:endParaRPr/>
          </a:p>
        </p:txBody>
      </p:sp>
      <p:sp>
        <p:nvSpPr>
          <p:cNvPr id="110" name="Google Shape;110;p1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11" name="Google Shape;111;p19"/>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12" name="Google Shape;112;p19"/>
          <p:cNvSpPr txBox="1"/>
          <p:nvPr/>
        </p:nvSpPr>
        <p:spPr>
          <a:xfrm>
            <a:off x="483552" y="1365735"/>
            <a:ext cx="8131175" cy="4541520"/>
          </a:xfrm>
          <a:prstGeom prst="rect">
            <a:avLst/>
          </a:prstGeom>
          <a:noFill/>
          <a:ln>
            <a:noFill/>
          </a:ln>
        </p:spPr>
        <p:txBody>
          <a:bodyPr anchorCtr="0" anchor="t" bIns="0" lIns="0" spcFirstLastPara="1" rIns="0" wrap="square" tIns="35550">
            <a:spAutoFit/>
          </a:bodyPr>
          <a:lstStyle/>
          <a:p>
            <a:pPr indent="-172085" lvl="0" marL="184785" rtl="0" algn="l">
              <a:lnSpc>
                <a:spcPct val="100000"/>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El orden por defecto es el orden ascendente</a:t>
            </a:r>
            <a:endParaRPr sz="2600">
              <a:latin typeface="Calibri"/>
              <a:ea typeface="Calibri"/>
              <a:cs typeface="Calibri"/>
              <a:sym typeface="Calibri"/>
            </a:endParaRPr>
          </a:p>
          <a:p>
            <a:pPr indent="-172085" lvl="0" marL="184785" rtl="0" algn="l">
              <a:lnSpc>
                <a:spcPct val="100000"/>
              </a:lnSpc>
              <a:spcBef>
                <a:spcPts val="18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Se muestran los valores numéricos del más bajo al más alto</a:t>
            </a:r>
            <a:endParaRPr sz="2600">
              <a:latin typeface="Calibri"/>
              <a:ea typeface="Calibri"/>
              <a:cs typeface="Calibri"/>
              <a:sym typeface="Calibri"/>
            </a:endParaRPr>
          </a:p>
          <a:p>
            <a:pPr indent="-172720" lvl="0" marL="184785" marR="116839" rtl="0" algn="l">
              <a:lnSpc>
                <a:spcPct val="96153"/>
              </a:lnSpc>
              <a:spcBef>
                <a:spcPts val="76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Los valores de fecha se muestran con el valor más reciente en primer lugar</a:t>
            </a:r>
            <a:endParaRPr sz="2600">
              <a:latin typeface="Calibri"/>
              <a:ea typeface="Calibri"/>
              <a:cs typeface="Calibri"/>
              <a:sym typeface="Calibri"/>
            </a:endParaRPr>
          </a:p>
          <a:p>
            <a:pPr indent="-172085" lvl="0" marL="184785" rtl="0" algn="l">
              <a:lnSpc>
                <a:spcPct val="100000"/>
              </a:lnSpc>
              <a:spcBef>
                <a:spcPts val="19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Los valores de caracteres se muestran en orden alfabético</a:t>
            </a:r>
            <a:endParaRPr sz="2600">
              <a:latin typeface="Calibri"/>
              <a:ea typeface="Calibri"/>
              <a:cs typeface="Calibri"/>
              <a:sym typeface="Calibri"/>
            </a:endParaRPr>
          </a:p>
          <a:p>
            <a:pPr indent="-172720" lvl="0" marL="184785" marR="342900" rtl="0" algn="l">
              <a:lnSpc>
                <a:spcPct val="96153"/>
              </a:lnSpc>
              <a:spcBef>
                <a:spcPts val="78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Los valores nulos se muestran al final para las secuencias ascendentes y al principio para las secuencias descendentes</a:t>
            </a:r>
            <a:endParaRPr sz="2600">
              <a:latin typeface="Calibri"/>
              <a:ea typeface="Calibri"/>
              <a:cs typeface="Calibri"/>
              <a:sym typeface="Calibri"/>
            </a:endParaRPr>
          </a:p>
          <a:p>
            <a:pPr indent="-172720" lvl="0" marL="184785" marR="737235" rtl="0" algn="l">
              <a:lnSpc>
                <a:spcPct val="96153"/>
              </a:lnSpc>
              <a:spcBef>
                <a:spcPts val="78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NULLS FIRST especifica que los valores nulos se deben devolver antes los valores no nulos</a:t>
            </a:r>
            <a:endParaRPr sz="2600">
              <a:latin typeface="Calibri"/>
              <a:ea typeface="Calibri"/>
              <a:cs typeface="Calibri"/>
              <a:sym typeface="Calibri"/>
            </a:endParaRPr>
          </a:p>
          <a:p>
            <a:pPr indent="-172720" lvl="0" marL="184785" marR="819150" rtl="0" algn="l">
              <a:lnSpc>
                <a:spcPct val="96153"/>
              </a:lnSpc>
              <a:spcBef>
                <a:spcPts val="80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NULLS LAST especifica que los valores nulos se deben devolver después los valores no nulos</a:t>
            </a:r>
            <a:endParaRPr sz="26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92112" y="748031"/>
            <a:ext cx="6014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Cláusula ORDER BY</a:t>
            </a:r>
            <a:endParaRPr/>
          </a:p>
        </p:txBody>
      </p:sp>
      <p:sp>
        <p:nvSpPr>
          <p:cNvPr id="118" name="Google Shape;118;p20"/>
          <p:cNvSpPr txBox="1"/>
          <p:nvPr>
            <p:ph idx="10" type="dt"/>
          </p:nvPr>
        </p:nvSpPr>
        <p:spPr>
          <a:xfrm>
            <a:off x="2855904" y="6510552"/>
            <a:ext cx="894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3-2</a:t>
            </a:r>
            <a:endParaRPr/>
          </a:p>
          <a:p>
            <a:pPr indent="0" lvl="0" marL="12700" rtl="0" algn="l">
              <a:lnSpc>
                <a:spcPct val="120624"/>
              </a:lnSpc>
              <a:spcBef>
                <a:spcPts val="0"/>
              </a:spcBef>
              <a:spcAft>
                <a:spcPts val="0"/>
              </a:spcAft>
              <a:buNone/>
            </a:pPr>
            <a:r>
              <a:rPr lang="en-US"/>
              <a:t>Ordenación de Filas</a:t>
            </a:r>
            <a:endParaRPr/>
          </a:p>
        </p:txBody>
      </p:sp>
      <p:sp>
        <p:nvSpPr>
          <p:cNvPr id="119" name="Google Shape;119;p2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0" name="Google Shape;120;p20"/>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21" name="Google Shape;121;p20"/>
          <p:cNvSpPr txBox="1"/>
          <p:nvPr/>
        </p:nvSpPr>
        <p:spPr>
          <a:xfrm>
            <a:off x="483552" y="1415417"/>
            <a:ext cx="8083550" cy="2090420"/>
          </a:xfrm>
          <a:prstGeom prst="rect">
            <a:avLst/>
          </a:prstGeom>
          <a:noFill/>
          <a:ln>
            <a:noFill/>
          </a:ln>
        </p:spPr>
        <p:txBody>
          <a:bodyPr anchorCtr="0" anchor="t" bIns="0" lIns="0" spcFirstLastPara="1" rIns="0" wrap="square" tIns="59675">
            <a:spAutoFit/>
          </a:bodyPr>
          <a:lstStyle/>
          <a:p>
            <a:pPr indent="-177800" lvl="0" marL="182880" marR="36512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siguiente ejemplo de empleados utiliza la cláusula 	ORDER BY para ordenar hire_date en orden 	ascendente (valor por defecto)</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Nota: La cláusula ORDER BY debe ser la última cláusula 	de la sentencia SQL</a:t>
            </a:r>
            <a:endParaRPr sz="2800">
              <a:latin typeface="Calibri"/>
              <a:ea typeface="Calibri"/>
              <a:cs typeface="Calibri"/>
              <a:sym typeface="Calibri"/>
            </a:endParaRPr>
          </a:p>
        </p:txBody>
      </p:sp>
      <p:graphicFrame>
        <p:nvGraphicFramePr>
          <p:cNvPr id="122" name="Google Shape;122;p20"/>
          <p:cNvGraphicFramePr/>
          <p:nvPr/>
        </p:nvGraphicFramePr>
        <p:xfrm>
          <a:off x="5220222" y="3487376"/>
          <a:ext cx="3000000" cy="3000000"/>
        </p:xfrm>
        <a:graphic>
          <a:graphicData uri="http://schemas.openxmlformats.org/drawingml/2006/table">
            <a:tbl>
              <a:tblPr bandRow="1" firstRow="1">
                <a:noFill/>
                <a:tableStyleId>{77BCCBB8-9A1F-418C-9DB1-96B411441FA6}</a:tableStyleId>
              </a:tblPr>
              <a:tblGrid>
                <a:gridCol w="1750700"/>
                <a:gridCol w="1750700"/>
              </a:tblGrid>
              <a:tr h="268600">
                <a:tc>
                  <a:txBody>
                    <a:bodyPr/>
                    <a:lstStyle/>
                    <a:p>
                      <a:pPr indent="0" lvl="0" marL="71755" marR="0" rtl="0" algn="l">
                        <a:lnSpc>
                          <a:spcPct val="12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20000"/>
                        </a:lnSpc>
                        <a:spcBef>
                          <a:spcPts val="0"/>
                        </a:spcBef>
                        <a:spcAft>
                          <a:spcPts val="0"/>
                        </a:spcAft>
                        <a:buNone/>
                      </a:pPr>
                      <a:r>
                        <a:rPr b="1" lang="en-US" sz="1600" u="none" cap="none" strike="noStrike">
                          <a:solidFill>
                            <a:srgbClr val="4E3629"/>
                          </a:solidFill>
                          <a:latin typeface="Calibri"/>
                          <a:ea typeface="Calibri"/>
                          <a:cs typeface="Calibri"/>
                          <a:sym typeface="Calibri"/>
                        </a:rPr>
                        <a:t>HIRE_DATE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68600">
                <a:tc>
                  <a:txBody>
                    <a:bodyPr/>
                    <a:lstStyle/>
                    <a:p>
                      <a:pPr indent="0" lvl="0" marL="71755" marR="0" rtl="0" algn="l">
                        <a:lnSpc>
                          <a:spcPct val="12000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20000"/>
                        </a:lnSpc>
                        <a:spcBef>
                          <a:spcPts val="0"/>
                        </a:spcBef>
                        <a:spcAft>
                          <a:spcPts val="0"/>
                        </a:spcAft>
                        <a:buNone/>
                      </a:pPr>
                      <a:r>
                        <a:rPr lang="en-US" sz="1600" u="none" cap="none" strike="noStrike">
                          <a:solidFill>
                            <a:srgbClr val="4E3629"/>
                          </a:solidFill>
                          <a:latin typeface="Calibri"/>
                          <a:ea typeface="Calibri"/>
                          <a:cs typeface="Calibri"/>
                          <a:sym typeface="Calibri"/>
                        </a:rPr>
                        <a:t>17-Jun-1987</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71755" marR="0" rtl="0" algn="l">
                        <a:lnSpc>
                          <a:spcPct val="120000"/>
                        </a:lnSpc>
                        <a:spcBef>
                          <a:spcPts val="0"/>
                        </a:spcBef>
                        <a:spcAft>
                          <a:spcPts val="0"/>
                        </a:spcAft>
                        <a:buNone/>
                      </a:pPr>
                      <a:r>
                        <a:rPr lang="en-US" sz="1600" u="none" cap="none" strike="noStrike">
                          <a:solidFill>
                            <a:srgbClr val="4E3629"/>
                          </a:solidFill>
                          <a:latin typeface="Calibri"/>
                          <a:ea typeface="Calibri"/>
                          <a:cs typeface="Calibri"/>
                          <a:sym typeface="Calibri"/>
                        </a:rPr>
                        <a:t>Whalen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20000"/>
                        </a:lnSpc>
                        <a:spcBef>
                          <a:spcPts val="0"/>
                        </a:spcBef>
                        <a:spcAft>
                          <a:spcPts val="0"/>
                        </a:spcAft>
                        <a:buNone/>
                      </a:pPr>
                      <a:r>
                        <a:rPr lang="en-US" sz="1600" u="none" cap="none" strike="noStrike">
                          <a:solidFill>
                            <a:srgbClr val="4E3629"/>
                          </a:solidFill>
                          <a:latin typeface="Calibri"/>
                          <a:ea typeface="Calibri"/>
                          <a:cs typeface="Calibri"/>
                          <a:sym typeface="Calibri"/>
                        </a:rPr>
                        <a:t>17-Sep-1987</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71120" marR="0" rtl="0" algn="l">
                        <a:lnSpc>
                          <a:spcPct val="12000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20000"/>
                        </a:lnSpc>
                        <a:spcBef>
                          <a:spcPts val="0"/>
                        </a:spcBef>
                        <a:spcAft>
                          <a:spcPts val="0"/>
                        </a:spcAft>
                        <a:buNone/>
                      </a:pPr>
                      <a:r>
                        <a:rPr lang="en-US" sz="1600" u="none" cap="none" strike="noStrike">
                          <a:solidFill>
                            <a:srgbClr val="4E3629"/>
                          </a:solidFill>
                          <a:latin typeface="Calibri"/>
                          <a:ea typeface="Calibri"/>
                          <a:cs typeface="Calibri"/>
                          <a:sym typeface="Calibri"/>
                        </a:rPr>
                        <a:t>21-Sep-1989</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71120" marR="0" rtl="0" algn="l">
                        <a:lnSpc>
                          <a:spcPct val="120000"/>
                        </a:lnSpc>
                        <a:spcBef>
                          <a:spcPts val="0"/>
                        </a:spcBef>
                        <a:spcAft>
                          <a:spcPts val="0"/>
                        </a:spcAft>
                        <a:buNone/>
                      </a:pPr>
                      <a:r>
                        <a:rPr lang="en-US" sz="1600" u="none" cap="none" strike="noStrike">
                          <a:solidFill>
                            <a:srgbClr val="4E3629"/>
                          </a:solidFill>
                          <a:latin typeface="Calibri"/>
                          <a:ea typeface="Calibri"/>
                          <a:cs typeface="Calibri"/>
                          <a:sym typeface="Calibri"/>
                        </a:rPr>
                        <a:t>Hunold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20000"/>
                        </a:lnSpc>
                        <a:spcBef>
                          <a:spcPts val="0"/>
                        </a:spcBef>
                        <a:spcAft>
                          <a:spcPts val="0"/>
                        </a:spcAft>
                        <a:buNone/>
                      </a:pPr>
                      <a:r>
                        <a:rPr lang="en-US" sz="1600" u="none" cap="none" strike="noStrike">
                          <a:solidFill>
                            <a:srgbClr val="4E3629"/>
                          </a:solidFill>
                          <a:latin typeface="Calibri"/>
                          <a:ea typeface="Calibri"/>
                          <a:cs typeface="Calibri"/>
                          <a:sym typeface="Calibri"/>
                        </a:rPr>
                        <a:t>03-Jan-1990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71120" marR="0" rtl="0" algn="l">
                        <a:lnSpc>
                          <a:spcPct val="120000"/>
                        </a:lnSpc>
                        <a:spcBef>
                          <a:spcPts val="0"/>
                        </a:spcBef>
                        <a:spcAft>
                          <a:spcPts val="0"/>
                        </a:spcAft>
                        <a:buNone/>
                      </a:pPr>
                      <a:r>
                        <a:rPr lang="en-US" sz="1600" u="none" cap="none" strike="noStrike">
                          <a:solidFill>
                            <a:srgbClr val="4E3629"/>
                          </a:solidFill>
                          <a:latin typeface="Calibri"/>
                          <a:ea typeface="Calibri"/>
                          <a:cs typeface="Calibri"/>
                          <a:sym typeface="Calibri"/>
                        </a:rPr>
                        <a:t>Ernst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20000"/>
                        </a:lnSpc>
                        <a:spcBef>
                          <a:spcPts val="0"/>
                        </a:spcBef>
                        <a:spcAft>
                          <a:spcPts val="0"/>
                        </a:spcAft>
                        <a:buNone/>
                      </a:pPr>
                      <a:r>
                        <a:rPr lang="en-US" sz="1600" u="none" cap="none" strike="noStrike">
                          <a:solidFill>
                            <a:srgbClr val="4E3629"/>
                          </a:solidFill>
                          <a:latin typeface="Calibri"/>
                          <a:ea typeface="Calibri"/>
                          <a:cs typeface="Calibri"/>
                          <a:sym typeface="Calibri"/>
                        </a:rPr>
                        <a:t>21-May-1991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70485" marR="0" rtl="0" algn="l">
                        <a:lnSpc>
                          <a:spcPct val="12000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20000"/>
                        </a:lnSpc>
                        <a:spcBef>
                          <a:spcPts val="0"/>
                        </a:spcBef>
                        <a:spcAft>
                          <a:spcPts val="0"/>
                        </a:spcAft>
                        <a:buNone/>
                      </a:pPr>
                      <a:r>
                        <a:rPr lang="en-US" sz="1600" u="none" cap="none" strike="noStrike">
                          <a:solidFill>
                            <a:srgbClr val="4E3629"/>
                          </a:solidFill>
                          <a:latin typeface="Calibri"/>
                          <a:ea typeface="Calibri"/>
                          <a:cs typeface="Calibri"/>
                          <a:sym typeface="Calibri"/>
                        </a:rPr>
                        <a:t>13-Jan-1993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70485" marR="0" rtl="0" algn="l">
                        <a:lnSpc>
                          <a:spcPct val="120000"/>
                        </a:lnSpc>
                        <a:spcBef>
                          <a:spcPts val="0"/>
                        </a:spcBef>
                        <a:spcAft>
                          <a:spcPts val="0"/>
                        </a:spcAft>
                        <a:buNone/>
                      </a:pPr>
                      <a:r>
                        <a:rPr lang="en-US" sz="1600" u="none" cap="none" strike="noStrike">
                          <a:solidFill>
                            <a:srgbClr val="4E3629"/>
                          </a:solidFill>
                          <a:latin typeface="Calibri"/>
                          <a:ea typeface="Calibri"/>
                          <a:cs typeface="Calibri"/>
                          <a:sym typeface="Calibri"/>
                        </a:rPr>
                        <a:t>Gietz</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20000"/>
                        </a:lnSpc>
                        <a:spcBef>
                          <a:spcPts val="0"/>
                        </a:spcBef>
                        <a:spcAft>
                          <a:spcPts val="0"/>
                        </a:spcAft>
                        <a:buNone/>
                      </a:pPr>
                      <a:r>
                        <a:rPr lang="en-US" sz="1600" u="none" cap="none" strike="noStrike">
                          <a:solidFill>
                            <a:srgbClr val="4E3629"/>
                          </a:solidFill>
                          <a:latin typeface="Calibri"/>
                          <a:ea typeface="Calibri"/>
                          <a:cs typeface="Calibri"/>
                          <a:sym typeface="Calibri"/>
                        </a:rPr>
                        <a:t>07-Jun-1994</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Higgins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07-Jun-1994</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Rajs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17-Oct-1995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Hartstein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17-Feb-1996</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23" name="Google Shape;123;p20"/>
          <p:cNvSpPr txBox="1"/>
          <p:nvPr/>
        </p:nvSpPr>
        <p:spPr>
          <a:xfrm>
            <a:off x="393191" y="3694176"/>
            <a:ext cx="4500880" cy="858519"/>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5555"/>
              </a:lnSpc>
              <a:spcBef>
                <a:spcPts val="0"/>
              </a:spcBef>
              <a:spcAft>
                <a:spcPts val="0"/>
              </a:spcAft>
              <a:buNone/>
            </a:pPr>
            <a:r>
              <a:rPr b="1" lang="en-US" sz="1800">
                <a:solidFill>
                  <a:srgbClr val="4E3629"/>
                </a:solidFill>
                <a:latin typeface="Courier New"/>
                <a:ea typeface="Courier New"/>
                <a:cs typeface="Courier New"/>
                <a:sym typeface="Courier New"/>
              </a:rPr>
              <a:t>SELECT last_name, hire_date</a:t>
            </a:r>
            <a:endParaRPr sz="1800">
              <a:latin typeface="Courier New"/>
              <a:ea typeface="Courier New"/>
              <a:cs typeface="Courier New"/>
              <a:sym typeface="Courier New"/>
            </a:endParaRPr>
          </a:p>
          <a:p>
            <a:pPr indent="0" lvl="0" marL="0" marR="18973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 ORDER BY hire_date;</a:t>
            </a:r>
            <a:endParaRPr sz="1800">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1"/>
          <p:cNvSpPr txBox="1"/>
          <p:nvPr>
            <p:ph type="title"/>
          </p:nvPr>
        </p:nvSpPr>
        <p:spPr>
          <a:xfrm>
            <a:off x="392112" y="748031"/>
            <a:ext cx="6014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Ordenación en Orden Descendente</a:t>
            </a:r>
            <a:endParaRPr/>
          </a:p>
        </p:txBody>
      </p:sp>
      <p:sp>
        <p:nvSpPr>
          <p:cNvPr id="129" name="Google Shape;129;p21"/>
          <p:cNvSpPr txBox="1"/>
          <p:nvPr>
            <p:ph idx="10" type="dt"/>
          </p:nvPr>
        </p:nvSpPr>
        <p:spPr>
          <a:xfrm>
            <a:off x="2855904" y="6510552"/>
            <a:ext cx="894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3-2</a:t>
            </a:r>
            <a:endParaRPr/>
          </a:p>
          <a:p>
            <a:pPr indent="0" lvl="0" marL="12700" rtl="0" algn="l">
              <a:lnSpc>
                <a:spcPct val="120624"/>
              </a:lnSpc>
              <a:spcBef>
                <a:spcPts val="0"/>
              </a:spcBef>
              <a:spcAft>
                <a:spcPts val="0"/>
              </a:spcAft>
              <a:buNone/>
            </a:pPr>
            <a:r>
              <a:rPr lang="en-US"/>
              <a:t>Ordenación de Filas</a:t>
            </a:r>
            <a:endParaRPr/>
          </a:p>
        </p:txBody>
      </p:sp>
      <p:sp>
        <p:nvSpPr>
          <p:cNvPr id="130" name="Google Shape;130;p2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1" name="Google Shape;131;p21"/>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32" name="Google Shape;132;p21"/>
          <p:cNvSpPr txBox="1"/>
          <p:nvPr/>
        </p:nvSpPr>
        <p:spPr>
          <a:xfrm>
            <a:off x="483552" y="1415417"/>
            <a:ext cx="7860030" cy="16046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Puede invertir el orden por defecto en la cláusula 	ORDER BY para que aparezcan en orden descendente 	especificando la palabra clave DESC después del 	nombre de columna en la cláusula ORDER BY</a:t>
            </a:r>
            <a:endParaRPr sz="2800">
              <a:latin typeface="Calibri"/>
              <a:ea typeface="Calibri"/>
              <a:cs typeface="Calibri"/>
              <a:sym typeface="Calibri"/>
            </a:endParaRPr>
          </a:p>
        </p:txBody>
      </p:sp>
      <p:graphicFrame>
        <p:nvGraphicFramePr>
          <p:cNvPr id="133" name="Google Shape;133;p21"/>
          <p:cNvGraphicFramePr/>
          <p:nvPr/>
        </p:nvGraphicFramePr>
        <p:xfrm>
          <a:off x="4677784" y="3110364"/>
          <a:ext cx="3000000" cy="3000000"/>
        </p:xfrm>
        <a:graphic>
          <a:graphicData uri="http://schemas.openxmlformats.org/drawingml/2006/table">
            <a:tbl>
              <a:tblPr bandRow="1" firstRow="1">
                <a:noFill/>
                <a:tableStyleId>{77BCCBB8-9A1F-418C-9DB1-96B411441FA6}</a:tableStyleId>
              </a:tblPr>
              <a:tblGrid>
                <a:gridCol w="2033275"/>
                <a:gridCol w="2033275"/>
              </a:tblGrid>
              <a:tr h="27560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HIRE_DATE</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75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Zlotkey</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29-Jan-2000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5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Mourgos</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16-Nov-1999</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5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Grant</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24-May-1999</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5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Lorentz</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07-Feb-1999</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5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Vargas</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09-Jul-1998</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5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Taylor</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24-Mar-1998</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5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Matos</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15-Mar-1998</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5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Fay</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17-Aug-1997</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5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Davies</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29-Jan-1997</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5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Abel</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11-May-1996</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34" name="Google Shape;134;p21"/>
          <p:cNvSpPr txBox="1"/>
          <p:nvPr/>
        </p:nvSpPr>
        <p:spPr>
          <a:xfrm>
            <a:off x="405384" y="3116579"/>
            <a:ext cx="3857625" cy="858519"/>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5555"/>
              </a:lnSpc>
              <a:spcBef>
                <a:spcPts val="0"/>
              </a:spcBef>
              <a:spcAft>
                <a:spcPts val="0"/>
              </a:spcAft>
              <a:buNone/>
            </a:pPr>
            <a:r>
              <a:rPr b="1" lang="en-US" sz="1800">
                <a:solidFill>
                  <a:srgbClr val="4E3629"/>
                </a:solidFill>
                <a:latin typeface="Courier New"/>
                <a:ea typeface="Courier New"/>
                <a:cs typeface="Courier New"/>
                <a:sym typeface="Courier New"/>
              </a:rPr>
              <a:t>SELECT last_name, hire_date</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ORDER BY hire_date DESC;</a:t>
            </a:r>
            <a:endParaRPr sz="1800">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2"/>
          <p:cNvSpPr txBox="1"/>
          <p:nvPr>
            <p:ph type="title"/>
          </p:nvPr>
        </p:nvSpPr>
        <p:spPr>
          <a:xfrm>
            <a:off x="392112" y="748031"/>
            <a:ext cx="6014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Alias de Columna</a:t>
            </a:r>
            <a:endParaRPr/>
          </a:p>
        </p:txBody>
      </p:sp>
      <p:sp>
        <p:nvSpPr>
          <p:cNvPr id="140" name="Google Shape;140;p22"/>
          <p:cNvSpPr txBox="1"/>
          <p:nvPr>
            <p:ph idx="10" type="dt"/>
          </p:nvPr>
        </p:nvSpPr>
        <p:spPr>
          <a:xfrm>
            <a:off x="2855904" y="6510552"/>
            <a:ext cx="894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3-2</a:t>
            </a:r>
            <a:endParaRPr/>
          </a:p>
          <a:p>
            <a:pPr indent="0" lvl="0" marL="12700" rtl="0" algn="l">
              <a:lnSpc>
                <a:spcPct val="120624"/>
              </a:lnSpc>
              <a:spcBef>
                <a:spcPts val="0"/>
              </a:spcBef>
              <a:spcAft>
                <a:spcPts val="0"/>
              </a:spcAft>
              <a:buNone/>
            </a:pPr>
            <a:r>
              <a:rPr lang="en-US"/>
              <a:t>Ordenación de Filas</a:t>
            </a:r>
            <a:endParaRPr/>
          </a:p>
        </p:txBody>
      </p:sp>
      <p:sp>
        <p:nvSpPr>
          <p:cNvPr id="141" name="Google Shape;141;p2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2" name="Google Shape;142;p22"/>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43" name="Google Shape;143;p22"/>
          <p:cNvSpPr txBox="1"/>
          <p:nvPr/>
        </p:nvSpPr>
        <p:spPr>
          <a:xfrm>
            <a:off x="483552" y="1355371"/>
            <a:ext cx="8107045" cy="1382395"/>
          </a:xfrm>
          <a:prstGeom prst="rect">
            <a:avLst/>
          </a:prstGeom>
          <a:noFill/>
          <a:ln>
            <a:noFill/>
          </a:ln>
        </p:spPr>
        <p:txBody>
          <a:bodyPr anchorCtr="0" anchor="t" bIns="0" lIns="0" spcFirstLastPara="1" rIns="0" wrap="square" tIns="717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Puede ordenar los datos mediante un alias de columna</a:t>
            </a:r>
            <a:endParaRPr sz="2800">
              <a:latin typeface="Calibri"/>
              <a:ea typeface="Calibri"/>
              <a:cs typeface="Calibri"/>
              <a:sym typeface="Calibri"/>
            </a:endParaRPr>
          </a:p>
          <a:p>
            <a:pPr indent="-177800" lvl="0" marL="182880" marR="535305"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alias utilizado en la sentencia SELECT es al que se 	hace referencia en la cláusula ORDER BY</a:t>
            </a:r>
            <a:endParaRPr sz="2800">
              <a:latin typeface="Calibri"/>
              <a:ea typeface="Calibri"/>
              <a:cs typeface="Calibri"/>
              <a:sym typeface="Calibri"/>
            </a:endParaRPr>
          </a:p>
        </p:txBody>
      </p:sp>
      <p:graphicFrame>
        <p:nvGraphicFramePr>
          <p:cNvPr id="144" name="Google Shape;144;p22"/>
          <p:cNvGraphicFramePr/>
          <p:nvPr/>
        </p:nvGraphicFramePr>
        <p:xfrm>
          <a:off x="5255300" y="3050908"/>
          <a:ext cx="3000000" cy="3000000"/>
        </p:xfrm>
        <a:graphic>
          <a:graphicData uri="http://schemas.openxmlformats.org/drawingml/2006/table">
            <a:tbl>
              <a:tblPr bandRow="1" firstRow="1">
                <a:noFill/>
                <a:tableStyleId>{77BCCBB8-9A1F-418C-9DB1-96B411441FA6}</a:tableStyleId>
              </a:tblPr>
              <a:tblGrid>
                <a:gridCol w="1744350"/>
                <a:gridCol w="1744350"/>
              </a:tblGrid>
              <a:tr h="28320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Date Started</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832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17-Jun-1987</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32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Whalen</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17-Sep-1987</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32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21-Sep-1989</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32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Hunold</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03-Jan-1990</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32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Ernst</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21-May-1991</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3200">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13-Jan-1993</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3200">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Gietz</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07-Jun-1994</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3200">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Higgins</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07-Jun-1994</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3200">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Rajs</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17-Oct-1995</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3200">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Hartstein</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17-Feb-1996</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45" name="Google Shape;145;p22"/>
          <p:cNvSpPr txBox="1"/>
          <p:nvPr/>
        </p:nvSpPr>
        <p:spPr>
          <a:xfrm>
            <a:off x="405384" y="3057144"/>
            <a:ext cx="4048125" cy="1117600"/>
          </a:xfrm>
          <a:prstGeom prst="rect">
            <a:avLst/>
          </a:prstGeom>
          <a:solidFill>
            <a:srgbClr val="9DBDC4">
              <a:alpha val="49804"/>
            </a:srgbClr>
          </a:solidFill>
          <a:ln>
            <a:noFill/>
          </a:ln>
        </p:spPr>
        <p:txBody>
          <a:bodyPr anchorCtr="0" anchor="t" bIns="0" lIns="0" spcFirstLastPara="1" rIns="0" wrap="square" tIns="0">
            <a:spAutoFit/>
          </a:bodyPr>
          <a:lstStyle/>
          <a:p>
            <a:pPr indent="0" lvl="0" marL="58419" rtl="0" algn="l">
              <a:lnSpc>
                <a:spcPct val="112222"/>
              </a:lnSpc>
              <a:spcBef>
                <a:spcPts val="0"/>
              </a:spcBef>
              <a:spcAft>
                <a:spcPts val="0"/>
              </a:spcAft>
              <a:buNone/>
            </a:pPr>
            <a:r>
              <a:rPr b="1" lang="en-US" sz="1800">
                <a:solidFill>
                  <a:srgbClr val="4E3629"/>
                </a:solidFill>
                <a:latin typeface="Courier New"/>
                <a:ea typeface="Courier New"/>
                <a:cs typeface="Courier New"/>
                <a:sym typeface="Courier New"/>
              </a:rPr>
              <a:t>SELECT last_name, hire_date</a:t>
            </a:r>
            <a:endParaRPr sz="1800">
              <a:latin typeface="Courier New"/>
              <a:ea typeface="Courier New"/>
              <a:cs typeface="Courier New"/>
              <a:sym typeface="Courier New"/>
            </a:endParaRPr>
          </a:p>
          <a:p>
            <a:pPr indent="176530" lvl="0" marL="58419" marR="148336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AS "Date Started" FROM employees</a:t>
            </a:r>
            <a:endParaRPr sz="1800">
              <a:latin typeface="Courier New"/>
              <a:ea typeface="Courier New"/>
              <a:cs typeface="Courier New"/>
              <a:sym typeface="Courier New"/>
            </a:endParaRPr>
          </a:p>
          <a:p>
            <a:pPr indent="0" lvl="0" marL="58419"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ORDER BY "Date Started";</a:t>
            </a:r>
            <a:endParaRPr sz="1800">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3"/>
          <p:cNvSpPr txBox="1"/>
          <p:nvPr>
            <p:ph type="title"/>
          </p:nvPr>
        </p:nvSpPr>
        <p:spPr>
          <a:xfrm>
            <a:off x="392112" y="748031"/>
            <a:ext cx="6014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Ordenación con Otras Columnas</a:t>
            </a:r>
            <a:endParaRPr/>
          </a:p>
        </p:txBody>
      </p:sp>
      <p:sp>
        <p:nvSpPr>
          <p:cNvPr id="151" name="Google Shape;151;p23"/>
          <p:cNvSpPr txBox="1"/>
          <p:nvPr>
            <p:ph idx="10" type="dt"/>
          </p:nvPr>
        </p:nvSpPr>
        <p:spPr>
          <a:xfrm>
            <a:off x="2855904" y="6510552"/>
            <a:ext cx="894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3-2</a:t>
            </a:r>
            <a:endParaRPr/>
          </a:p>
          <a:p>
            <a:pPr indent="0" lvl="0" marL="12700" rtl="0" algn="l">
              <a:lnSpc>
                <a:spcPct val="120624"/>
              </a:lnSpc>
              <a:spcBef>
                <a:spcPts val="0"/>
              </a:spcBef>
              <a:spcAft>
                <a:spcPts val="0"/>
              </a:spcAft>
              <a:buNone/>
            </a:pPr>
            <a:r>
              <a:rPr lang="en-US"/>
              <a:t>Ordenación de Filas</a:t>
            </a:r>
            <a:endParaRPr/>
          </a:p>
        </p:txBody>
      </p:sp>
      <p:sp>
        <p:nvSpPr>
          <p:cNvPr id="152" name="Google Shape;152;p2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53" name="Google Shape;153;p23"/>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54" name="Google Shape;154;p23"/>
          <p:cNvSpPr txBox="1"/>
          <p:nvPr/>
        </p:nvSpPr>
        <p:spPr>
          <a:xfrm>
            <a:off x="483552" y="1415417"/>
            <a:ext cx="7954009" cy="2474595"/>
          </a:xfrm>
          <a:prstGeom prst="rect">
            <a:avLst/>
          </a:prstGeom>
          <a:noFill/>
          <a:ln>
            <a:noFill/>
          </a:ln>
        </p:spPr>
        <p:txBody>
          <a:bodyPr anchorCtr="0" anchor="t" bIns="0" lIns="0" spcFirstLastPara="1" rIns="0" wrap="square" tIns="59675">
            <a:spAutoFit/>
          </a:bodyPr>
          <a:lstStyle/>
          <a:p>
            <a:pPr indent="-177800" lvl="0" marL="182880" marR="4064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También es posible utilizar la cláusula ORDER BY para 	ordenar la salida según una columna que no aparezca 	en la cláusula SELECT</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siguiente ejemplo, los datos se ordenan según la 	columna last_name, incluso aunque esta columna no 	aparece en la sentencia SELECT</a:t>
            </a:r>
            <a:endParaRPr sz="2800">
              <a:latin typeface="Calibri"/>
              <a:ea typeface="Calibri"/>
              <a:cs typeface="Calibri"/>
              <a:sym typeface="Calibri"/>
            </a:endParaRPr>
          </a:p>
        </p:txBody>
      </p:sp>
      <p:sp>
        <p:nvSpPr>
          <p:cNvPr id="155" name="Google Shape;155;p23"/>
          <p:cNvSpPr txBox="1"/>
          <p:nvPr/>
        </p:nvSpPr>
        <p:spPr>
          <a:xfrm>
            <a:off x="522731" y="4012691"/>
            <a:ext cx="4049395" cy="1524000"/>
          </a:xfrm>
          <a:prstGeom prst="rect">
            <a:avLst/>
          </a:prstGeom>
          <a:solidFill>
            <a:srgbClr val="9DBDC4">
              <a:alpha val="49804"/>
            </a:srgbClr>
          </a:solidFill>
          <a:ln>
            <a:noFill/>
          </a:ln>
        </p:spPr>
        <p:txBody>
          <a:bodyPr anchorCtr="0" anchor="t" bIns="0" lIns="0" spcFirstLastPara="1" rIns="0" wrap="square" tIns="45700">
            <a:spAutoFit/>
          </a:bodyPr>
          <a:lstStyle/>
          <a:p>
            <a:pPr indent="0" lvl="0" marL="0" marR="1445260" rtl="0" algn="l">
              <a:lnSpc>
                <a:spcPct val="101099"/>
              </a:lnSpc>
              <a:spcBef>
                <a:spcPts val="0"/>
              </a:spcBef>
              <a:spcAft>
                <a:spcPts val="0"/>
              </a:spcAft>
              <a:buNone/>
            </a:pPr>
            <a:r>
              <a:rPr b="1" lang="en-US" sz="1800">
                <a:solidFill>
                  <a:srgbClr val="4E3629"/>
                </a:solidFill>
                <a:latin typeface="Courier New"/>
                <a:ea typeface="Courier New"/>
                <a:cs typeface="Courier New"/>
                <a:sym typeface="Courier New"/>
              </a:rPr>
              <a:t>SELECT employee_id, first_name</a:t>
            </a:r>
            <a:endParaRPr sz="1800">
              <a:latin typeface="Courier New"/>
              <a:ea typeface="Courier New"/>
              <a:cs typeface="Courier New"/>
              <a:sym typeface="Courier New"/>
            </a:endParaRPr>
          </a:p>
          <a:p>
            <a:pPr indent="0" lvl="0" marL="0" rtl="0" algn="l">
              <a:lnSpc>
                <a:spcPct val="118611"/>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0" marR="90360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employee_id &lt; 105 ORDER BY last_name;</a:t>
            </a:r>
            <a:endParaRPr sz="1800">
              <a:latin typeface="Courier New"/>
              <a:ea typeface="Courier New"/>
              <a:cs typeface="Courier New"/>
              <a:sym typeface="Courier New"/>
            </a:endParaRPr>
          </a:p>
        </p:txBody>
      </p:sp>
      <p:graphicFrame>
        <p:nvGraphicFramePr>
          <p:cNvPr id="156" name="Google Shape;156;p23"/>
          <p:cNvGraphicFramePr/>
          <p:nvPr/>
        </p:nvGraphicFramePr>
        <p:xfrm>
          <a:off x="5750684" y="4005817"/>
          <a:ext cx="3000000" cy="3000000"/>
        </p:xfrm>
        <a:graphic>
          <a:graphicData uri="http://schemas.openxmlformats.org/drawingml/2006/table">
            <a:tbl>
              <a:tblPr bandRow="1" firstRow="1">
                <a:noFill/>
                <a:tableStyleId>{77BCCBB8-9A1F-418C-9DB1-96B411441FA6}</a:tableStyleId>
              </a:tblPr>
              <a:tblGrid>
                <a:gridCol w="1491625"/>
                <a:gridCol w="1502400"/>
              </a:tblGrid>
              <a:tr h="335275">
                <a:tc>
                  <a:txBody>
                    <a:bodyPr/>
                    <a:lstStyle/>
                    <a:p>
                      <a:pPr indent="0" lvl="0" marL="9080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35275">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102</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Lex</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35275">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104</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Bruce</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35275">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103</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Alexander</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35275">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Steven</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35275">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101</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Neena</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4"/>
          <p:cNvSpPr txBox="1"/>
          <p:nvPr>
            <p:ph type="title"/>
          </p:nvPr>
        </p:nvSpPr>
        <p:spPr>
          <a:xfrm>
            <a:off x="392112" y="748031"/>
            <a:ext cx="6014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Orden de Ejecución</a:t>
            </a:r>
            <a:endParaRPr/>
          </a:p>
        </p:txBody>
      </p:sp>
      <p:sp>
        <p:nvSpPr>
          <p:cNvPr id="162" name="Google Shape;162;p24"/>
          <p:cNvSpPr txBox="1"/>
          <p:nvPr/>
        </p:nvSpPr>
        <p:spPr>
          <a:xfrm>
            <a:off x="483552" y="1415417"/>
            <a:ext cx="8069580" cy="2689860"/>
          </a:xfrm>
          <a:prstGeom prst="rect">
            <a:avLst/>
          </a:prstGeom>
          <a:noFill/>
          <a:ln>
            <a:noFill/>
          </a:ln>
        </p:spPr>
        <p:txBody>
          <a:bodyPr anchorCtr="0" anchor="t" bIns="0" lIns="0" spcFirstLastPara="1" rIns="0" wrap="square" tIns="59675">
            <a:spAutoFit/>
          </a:bodyPr>
          <a:lstStyle/>
          <a:p>
            <a:pPr indent="-177800" lvl="0" marL="182880" marR="74803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orden de ejecución de una sentencia SELECT es 	el siguiente:</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Cláusula FROM: busca la tabla que contiene los datos</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Cláusula WHERE: restringe las filas que se van a devolver</a:t>
            </a:r>
            <a:endParaRPr sz="2400">
              <a:latin typeface="Calibri"/>
              <a:ea typeface="Calibri"/>
              <a:cs typeface="Calibri"/>
              <a:sym typeface="Calibri"/>
            </a:endParaRPr>
          </a:p>
          <a:p>
            <a:pPr indent="-175260" lvl="0" marL="530860" marR="5080"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Cláusula SELECT: selecciona en el conjunto de datos reducido las columnas solicitadas</a:t>
            </a:r>
            <a:endParaRPr sz="2400">
              <a:latin typeface="Calibri"/>
              <a:ea typeface="Calibri"/>
              <a:cs typeface="Calibri"/>
              <a:sym typeface="Calibri"/>
            </a:endParaRPr>
          </a:p>
          <a:p>
            <a:pPr indent="0" lvl="0" marL="355600" rtl="0" algn="l">
              <a:lnSpc>
                <a:spcPct val="100000"/>
              </a:lnSpc>
              <a:spcBef>
                <a:spcPts val="8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Cláusula ORDER BY: ordena el conjunto de resultados</a:t>
            </a:r>
            <a:endParaRPr sz="2400">
              <a:latin typeface="Calibri"/>
              <a:ea typeface="Calibri"/>
              <a:cs typeface="Calibri"/>
              <a:sym typeface="Calibri"/>
            </a:endParaRPr>
          </a:p>
        </p:txBody>
      </p:sp>
      <p:pic>
        <p:nvPicPr>
          <p:cNvPr id="163" name="Google Shape;163;p24"/>
          <p:cNvPicPr preferRelativeResize="0"/>
          <p:nvPr/>
        </p:nvPicPr>
        <p:blipFill rotWithShape="1">
          <a:blip r:embed="rId3">
            <a:alphaModFix/>
          </a:blip>
          <a:srcRect b="0" l="0" r="0" t="0"/>
          <a:stretch/>
        </p:blipFill>
        <p:spPr>
          <a:xfrm>
            <a:off x="2602991" y="4431791"/>
            <a:ext cx="3938015" cy="1645919"/>
          </a:xfrm>
          <a:prstGeom prst="rect">
            <a:avLst/>
          </a:prstGeom>
          <a:noFill/>
          <a:ln>
            <a:noFill/>
          </a:ln>
        </p:spPr>
      </p:pic>
      <p:sp>
        <p:nvSpPr>
          <p:cNvPr id="164" name="Google Shape;164;p24"/>
          <p:cNvSpPr txBox="1"/>
          <p:nvPr>
            <p:ph idx="10" type="dt"/>
          </p:nvPr>
        </p:nvSpPr>
        <p:spPr>
          <a:xfrm>
            <a:off x="2855904" y="6510552"/>
            <a:ext cx="894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3-2</a:t>
            </a:r>
            <a:endParaRPr/>
          </a:p>
          <a:p>
            <a:pPr indent="0" lvl="0" marL="12700" rtl="0" algn="l">
              <a:lnSpc>
                <a:spcPct val="120624"/>
              </a:lnSpc>
              <a:spcBef>
                <a:spcPts val="0"/>
              </a:spcBef>
              <a:spcAft>
                <a:spcPts val="0"/>
              </a:spcAft>
              <a:buNone/>
            </a:pPr>
            <a:r>
              <a:rPr lang="en-US"/>
              <a:t>Ordenación de Filas</a:t>
            </a:r>
            <a:endParaRPr/>
          </a:p>
        </p:txBody>
      </p:sp>
      <p:sp>
        <p:nvSpPr>
          <p:cNvPr id="165" name="Google Shape;165;p2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66" name="Google Shape;166;p24"/>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5"/>
          <p:cNvSpPr txBox="1"/>
          <p:nvPr>
            <p:ph type="title"/>
          </p:nvPr>
        </p:nvSpPr>
        <p:spPr>
          <a:xfrm>
            <a:off x="392112" y="748031"/>
            <a:ext cx="6014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Ordenación con Varias Columnas</a:t>
            </a:r>
            <a:endParaRPr/>
          </a:p>
        </p:txBody>
      </p:sp>
      <p:sp>
        <p:nvSpPr>
          <p:cNvPr id="172" name="Google Shape;172;p25"/>
          <p:cNvSpPr txBox="1"/>
          <p:nvPr/>
        </p:nvSpPr>
        <p:spPr>
          <a:xfrm>
            <a:off x="483552" y="1415417"/>
            <a:ext cx="7884159" cy="2090420"/>
          </a:xfrm>
          <a:prstGeom prst="rect">
            <a:avLst/>
          </a:prstGeom>
          <a:noFill/>
          <a:ln>
            <a:noFill/>
          </a:ln>
        </p:spPr>
        <p:txBody>
          <a:bodyPr anchorCtr="0" anchor="t" bIns="0" lIns="0" spcFirstLastPara="1" rIns="0" wrap="square" tIns="59675">
            <a:spAutoFit/>
          </a:bodyPr>
          <a:lstStyle/>
          <a:p>
            <a:pPr indent="-177800" lvl="0" marL="182880" marR="98806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También se puede ordenar los resultados de la 	consulta por más de una columna</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De hecho, no hay ningún límite en el número de 	columnas que se pueden agregar a la cláusula ORDER 	BY</a:t>
            </a:r>
            <a:endParaRPr sz="2800">
              <a:latin typeface="Calibri"/>
              <a:ea typeface="Calibri"/>
              <a:cs typeface="Calibri"/>
              <a:sym typeface="Calibri"/>
            </a:endParaRPr>
          </a:p>
        </p:txBody>
      </p:sp>
      <p:pic>
        <p:nvPicPr>
          <p:cNvPr id="173" name="Google Shape;173;p25"/>
          <p:cNvPicPr preferRelativeResize="0"/>
          <p:nvPr/>
        </p:nvPicPr>
        <p:blipFill rotWithShape="1">
          <a:blip r:embed="rId3">
            <a:alphaModFix/>
          </a:blip>
          <a:srcRect b="0" l="0" r="0" t="0"/>
          <a:stretch/>
        </p:blipFill>
        <p:spPr>
          <a:xfrm>
            <a:off x="2560320" y="3517391"/>
            <a:ext cx="4023359" cy="2519171"/>
          </a:xfrm>
          <a:prstGeom prst="rect">
            <a:avLst/>
          </a:prstGeom>
          <a:noFill/>
          <a:ln>
            <a:noFill/>
          </a:ln>
        </p:spPr>
      </p:pic>
      <p:sp>
        <p:nvSpPr>
          <p:cNvPr id="174" name="Google Shape;174;p25"/>
          <p:cNvSpPr txBox="1"/>
          <p:nvPr>
            <p:ph idx="10" type="dt"/>
          </p:nvPr>
        </p:nvSpPr>
        <p:spPr>
          <a:xfrm>
            <a:off x="2855904" y="6510552"/>
            <a:ext cx="894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3-2</a:t>
            </a:r>
            <a:endParaRPr/>
          </a:p>
          <a:p>
            <a:pPr indent="0" lvl="0" marL="12700" rtl="0" algn="l">
              <a:lnSpc>
                <a:spcPct val="120624"/>
              </a:lnSpc>
              <a:spcBef>
                <a:spcPts val="0"/>
              </a:spcBef>
              <a:spcAft>
                <a:spcPts val="0"/>
              </a:spcAft>
              <a:buNone/>
            </a:pPr>
            <a:r>
              <a:rPr lang="en-US"/>
              <a:t>Ordenación de Filas</a:t>
            </a:r>
            <a:endParaRPr/>
          </a:p>
        </p:txBody>
      </p:sp>
      <p:sp>
        <p:nvSpPr>
          <p:cNvPr id="175" name="Google Shape;175;p2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76" name="Google Shape;176;p25"/>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6"/>
          <p:cNvSpPr txBox="1"/>
          <p:nvPr>
            <p:ph type="title"/>
          </p:nvPr>
        </p:nvSpPr>
        <p:spPr>
          <a:xfrm>
            <a:off x="392112" y="748031"/>
            <a:ext cx="6014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Ordenación con Varias Columnas</a:t>
            </a:r>
            <a:endParaRPr/>
          </a:p>
        </p:txBody>
      </p:sp>
      <p:sp>
        <p:nvSpPr>
          <p:cNvPr id="182" name="Google Shape;182;p26"/>
          <p:cNvSpPr txBox="1"/>
          <p:nvPr>
            <p:ph idx="10" type="dt"/>
          </p:nvPr>
        </p:nvSpPr>
        <p:spPr>
          <a:xfrm>
            <a:off x="2855904" y="6510552"/>
            <a:ext cx="894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3-2</a:t>
            </a:r>
            <a:endParaRPr/>
          </a:p>
          <a:p>
            <a:pPr indent="0" lvl="0" marL="12700" rtl="0" algn="l">
              <a:lnSpc>
                <a:spcPct val="120624"/>
              </a:lnSpc>
              <a:spcBef>
                <a:spcPts val="0"/>
              </a:spcBef>
              <a:spcAft>
                <a:spcPts val="0"/>
              </a:spcAft>
              <a:buNone/>
            </a:pPr>
            <a:r>
              <a:rPr lang="en-US"/>
              <a:t>Ordenación de Filas</a:t>
            </a:r>
            <a:endParaRPr/>
          </a:p>
        </p:txBody>
      </p:sp>
      <p:sp>
        <p:nvSpPr>
          <p:cNvPr id="183" name="Google Shape;183;p2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84" name="Google Shape;184;p26"/>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85" name="Google Shape;185;p26"/>
          <p:cNvSpPr txBox="1"/>
          <p:nvPr/>
        </p:nvSpPr>
        <p:spPr>
          <a:xfrm>
            <a:off x="483552" y="1415417"/>
            <a:ext cx="7893050" cy="247459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continuación se muestra un ejemplo de ordenación 	con varias columnas</a:t>
            </a:r>
            <a:endParaRPr sz="2800">
              <a:latin typeface="Calibri"/>
              <a:ea typeface="Calibri"/>
              <a:cs typeface="Calibri"/>
              <a:sym typeface="Calibri"/>
            </a:endParaRPr>
          </a:p>
          <a:p>
            <a:pPr indent="-177800" lvl="0" marL="182880" marR="37782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empleados se ordenan primero por número de 	departamento (del más bajo al más alto), a 	continuación, se muestran los apellidos en orden 	alfabético (A-Z)</a:t>
            </a:r>
            <a:endParaRPr sz="2800">
              <a:latin typeface="Calibri"/>
              <a:ea typeface="Calibri"/>
              <a:cs typeface="Calibri"/>
              <a:sym typeface="Calibri"/>
            </a:endParaRPr>
          </a:p>
        </p:txBody>
      </p:sp>
      <p:graphicFrame>
        <p:nvGraphicFramePr>
          <p:cNvPr id="186" name="Google Shape;186;p26"/>
          <p:cNvGraphicFramePr/>
          <p:nvPr/>
        </p:nvGraphicFramePr>
        <p:xfrm>
          <a:off x="5388057" y="3660242"/>
          <a:ext cx="3000000" cy="3000000"/>
        </p:xfrm>
        <a:graphic>
          <a:graphicData uri="http://schemas.openxmlformats.org/drawingml/2006/table">
            <a:tbl>
              <a:tblPr bandRow="1" firstRow="1">
                <a:noFill/>
                <a:tableStyleId>{77BCCBB8-9A1F-418C-9DB1-96B411441FA6}</a:tableStyleId>
              </a:tblPr>
              <a:tblGrid>
                <a:gridCol w="1672600"/>
                <a:gridCol w="1672600"/>
              </a:tblGrid>
              <a:tr h="2933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Whalen</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Fay</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Hartstein</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Davies</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Matos</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Mourgos</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Rajs</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Vargas</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87" name="Google Shape;187;p26"/>
          <p:cNvSpPr txBox="1"/>
          <p:nvPr/>
        </p:nvSpPr>
        <p:spPr>
          <a:xfrm>
            <a:off x="393191" y="4085844"/>
            <a:ext cx="4551045" cy="1515110"/>
          </a:xfrm>
          <a:prstGeom prst="rect">
            <a:avLst/>
          </a:prstGeom>
          <a:solidFill>
            <a:srgbClr val="9DBDC4">
              <a:alpha val="49804"/>
            </a:srgbClr>
          </a:solidFill>
          <a:ln>
            <a:noFill/>
          </a:ln>
        </p:spPr>
        <p:txBody>
          <a:bodyPr anchorCtr="0" anchor="t" bIns="0" lIns="0" spcFirstLastPara="1" rIns="0" wrap="square" tIns="44450">
            <a:spAutoFit/>
          </a:bodyPr>
          <a:lstStyle/>
          <a:p>
            <a:pPr indent="0" lvl="0" marL="0" marR="31051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department_id, last_name FROM employees</a:t>
            </a:r>
            <a:endParaRPr sz="1800">
              <a:latin typeface="Courier New"/>
              <a:ea typeface="Courier New"/>
              <a:cs typeface="Courier New"/>
              <a:sym typeface="Courier New"/>
            </a:endParaRPr>
          </a:p>
          <a:p>
            <a:pPr indent="0" lvl="0" marL="0" marR="112966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department_id &lt;= 50 ORDER BY department_id, last_name;</a:t>
            </a:r>
            <a:endParaRPr sz="1800">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7"/>
          <p:cNvSpPr txBox="1"/>
          <p:nvPr>
            <p:ph type="title"/>
          </p:nvPr>
        </p:nvSpPr>
        <p:spPr>
          <a:xfrm>
            <a:off x="392112" y="748031"/>
            <a:ext cx="6014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Ordenación con Varias Columnas</a:t>
            </a:r>
            <a:endParaRPr/>
          </a:p>
        </p:txBody>
      </p:sp>
      <p:sp>
        <p:nvSpPr>
          <p:cNvPr id="193" name="Google Shape;193;p27"/>
          <p:cNvSpPr txBox="1"/>
          <p:nvPr>
            <p:ph idx="10" type="dt"/>
          </p:nvPr>
        </p:nvSpPr>
        <p:spPr>
          <a:xfrm>
            <a:off x="2855904" y="6510552"/>
            <a:ext cx="894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3-2</a:t>
            </a:r>
            <a:endParaRPr/>
          </a:p>
          <a:p>
            <a:pPr indent="0" lvl="0" marL="12700" rtl="0" algn="l">
              <a:lnSpc>
                <a:spcPct val="120624"/>
              </a:lnSpc>
              <a:spcBef>
                <a:spcPts val="0"/>
              </a:spcBef>
              <a:spcAft>
                <a:spcPts val="0"/>
              </a:spcAft>
              <a:buNone/>
            </a:pPr>
            <a:r>
              <a:rPr lang="en-US"/>
              <a:t>Ordenación de Filas</a:t>
            </a:r>
            <a:endParaRPr/>
          </a:p>
        </p:txBody>
      </p:sp>
      <p:sp>
        <p:nvSpPr>
          <p:cNvPr id="194" name="Google Shape;194;p2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95" name="Google Shape;195;p27"/>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96" name="Google Shape;196;p27"/>
          <p:cNvSpPr txBox="1"/>
          <p:nvPr/>
        </p:nvSpPr>
        <p:spPr>
          <a:xfrm>
            <a:off x="483552" y="1415417"/>
            <a:ext cx="8133715" cy="28587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crear una cláusula ORDER BY a fin de ordenar por 	varias columnas, especifique las columnas que se van a 	devolver y separe los nombres de columna mediante 	comas</a:t>
            </a:r>
            <a:endParaRPr sz="2800">
              <a:latin typeface="Calibri"/>
              <a:ea typeface="Calibri"/>
              <a:cs typeface="Calibri"/>
              <a:sym typeface="Calibri"/>
            </a:endParaRPr>
          </a:p>
          <a:p>
            <a:pPr indent="-177800" lvl="0" marL="182880" marR="114046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desea invertir el orden de ordenación de una 	columna, agregue DESC después</a:t>
            </a:r>
            <a:endParaRPr sz="2800">
              <a:latin typeface="Calibri"/>
              <a:ea typeface="Calibri"/>
              <a:cs typeface="Calibri"/>
              <a:sym typeface="Calibri"/>
            </a:endParaRPr>
          </a:p>
          <a:p>
            <a:pPr indent="0" lvl="0" marL="184785" rtl="0" algn="l">
              <a:lnSpc>
                <a:spcPct val="106250"/>
              </a:lnSpc>
              <a:spcBef>
                <a:spcPts val="0"/>
              </a:spcBef>
              <a:spcAft>
                <a:spcPts val="0"/>
              </a:spcAft>
              <a:buNone/>
            </a:pPr>
            <a:r>
              <a:rPr lang="en-US" sz="2800">
                <a:solidFill>
                  <a:srgbClr val="4E3629"/>
                </a:solidFill>
                <a:latin typeface="Calibri"/>
                <a:ea typeface="Calibri"/>
                <a:cs typeface="Calibri"/>
                <a:sym typeface="Calibri"/>
              </a:rPr>
              <a:t>del nombre</a:t>
            </a:r>
            <a:endParaRPr sz="2800">
              <a:latin typeface="Calibri"/>
              <a:ea typeface="Calibri"/>
              <a:cs typeface="Calibri"/>
              <a:sym typeface="Calibri"/>
            </a:endParaRPr>
          </a:p>
        </p:txBody>
      </p:sp>
      <p:graphicFrame>
        <p:nvGraphicFramePr>
          <p:cNvPr id="197" name="Google Shape;197;p27"/>
          <p:cNvGraphicFramePr/>
          <p:nvPr/>
        </p:nvGraphicFramePr>
        <p:xfrm>
          <a:off x="5456489" y="3784800"/>
          <a:ext cx="3000000" cy="3000000"/>
        </p:xfrm>
        <a:graphic>
          <a:graphicData uri="http://schemas.openxmlformats.org/drawingml/2006/table">
            <a:tbl>
              <a:tblPr bandRow="1" firstRow="1">
                <a:noFill/>
                <a:tableStyleId>{77BCCBB8-9A1F-418C-9DB1-96B411441FA6}</a:tableStyleId>
              </a:tblPr>
              <a:tblGrid>
                <a:gridCol w="1702425"/>
                <a:gridCol w="1702425"/>
              </a:tblGrid>
              <a:tr h="32830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29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29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997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Davies</a:t>
                      </a:r>
                      <a:endParaRPr sz="1600" u="none" cap="none" strike="noStrike">
                        <a:latin typeface="Calibri"/>
                        <a:ea typeface="Calibri"/>
                        <a:cs typeface="Calibri"/>
                        <a:sym typeface="Calibri"/>
                      </a:endParaRPr>
                    </a:p>
                  </a:txBody>
                  <a:tcPr marT="1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97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Matos</a:t>
                      </a:r>
                      <a:endParaRPr sz="1600" u="none" cap="none" strike="noStrike">
                        <a:latin typeface="Calibri"/>
                        <a:ea typeface="Calibri"/>
                        <a:cs typeface="Calibri"/>
                        <a:sym typeface="Calibri"/>
                      </a:endParaRPr>
                    </a:p>
                  </a:txBody>
                  <a:tcPr marT="1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97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Mourgos</a:t>
                      </a:r>
                      <a:endParaRPr sz="1600" u="none" cap="none" strike="noStrike">
                        <a:latin typeface="Calibri"/>
                        <a:ea typeface="Calibri"/>
                        <a:cs typeface="Calibri"/>
                        <a:sym typeface="Calibri"/>
                      </a:endParaRPr>
                    </a:p>
                  </a:txBody>
                  <a:tcPr marT="1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97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Rajs</a:t>
                      </a:r>
                      <a:endParaRPr sz="1600" u="none" cap="none" strike="noStrike">
                        <a:latin typeface="Calibri"/>
                        <a:ea typeface="Calibri"/>
                        <a:cs typeface="Calibri"/>
                        <a:sym typeface="Calibri"/>
                      </a:endParaRPr>
                    </a:p>
                  </a:txBody>
                  <a:tcPr marT="1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97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Vargas</a:t>
                      </a:r>
                      <a:endParaRPr sz="16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97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Fay</a:t>
                      </a:r>
                      <a:endParaRPr sz="16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97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Hartstein</a:t>
                      </a:r>
                      <a:endParaRPr sz="16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97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a:t>
                      </a:r>
                      <a:endParaRPr sz="16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Whalen</a:t>
                      </a:r>
                      <a:endParaRPr sz="16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98" name="Google Shape;198;p27"/>
          <p:cNvSpPr txBox="1"/>
          <p:nvPr/>
        </p:nvSpPr>
        <p:spPr>
          <a:xfrm>
            <a:off x="405384" y="4320540"/>
            <a:ext cx="4048125" cy="167195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3277"/>
              </a:lnSpc>
              <a:spcBef>
                <a:spcPts val="0"/>
              </a:spcBef>
              <a:spcAft>
                <a:spcPts val="0"/>
              </a:spcAft>
              <a:buNone/>
            </a:pPr>
            <a:r>
              <a:rPr b="1" lang="en-US" sz="1800">
                <a:solidFill>
                  <a:srgbClr val="4E3629"/>
                </a:solidFill>
                <a:latin typeface="Courier New"/>
                <a:ea typeface="Courier New"/>
                <a:cs typeface="Courier New"/>
                <a:sym typeface="Courier New"/>
              </a:rPr>
              <a:t>SELECT department_id,</a:t>
            </a:r>
            <a:endParaRPr sz="1800">
              <a:latin typeface="Courier New"/>
              <a:ea typeface="Courier New"/>
              <a:cs typeface="Courier New"/>
              <a:sym typeface="Courier New"/>
            </a:endParaRPr>
          </a:p>
          <a:p>
            <a:pPr indent="0" lvl="0" marL="0" marR="212788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last_name FROM employees</a:t>
            </a:r>
            <a:endParaRPr sz="1800">
              <a:latin typeface="Courier New"/>
              <a:ea typeface="Courier New"/>
              <a:cs typeface="Courier New"/>
              <a:sym typeface="Courier New"/>
            </a:endParaRPr>
          </a:p>
          <a:p>
            <a:pPr indent="0" lvl="0" marL="0" marR="2184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department_id &lt;= 50 ORDER BY department_id DESC, last_name;</a:t>
            </a:r>
            <a:endParaRPr sz="1800">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8"/>
          <p:cNvSpPr txBox="1"/>
          <p:nvPr>
            <p:ph type="title"/>
          </p:nvPr>
        </p:nvSpPr>
        <p:spPr>
          <a:xfrm>
            <a:off x="392112" y="748031"/>
            <a:ext cx="6014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204" name="Google Shape;204;p28"/>
          <p:cNvSpPr txBox="1"/>
          <p:nvPr>
            <p:ph idx="10" type="dt"/>
          </p:nvPr>
        </p:nvSpPr>
        <p:spPr>
          <a:xfrm>
            <a:off x="2855904" y="6510552"/>
            <a:ext cx="894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3-2</a:t>
            </a:r>
            <a:endParaRPr/>
          </a:p>
          <a:p>
            <a:pPr indent="0" lvl="0" marL="12700" rtl="0" algn="l">
              <a:lnSpc>
                <a:spcPct val="120624"/>
              </a:lnSpc>
              <a:spcBef>
                <a:spcPts val="0"/>
              </a:spcBef>
              <a:spcAft>
                <a:spcPts val="0"/>
              </a:spcAft>
              <a:buNone/>
            </a:pPr>
            <a:r>
              <a:rPr lang="en-US"/>
              <a:t>Ordenación de Filas</a:t>
            </a:r>
            <a:endParaRPr/>
          </a:p>
        </p:txBody>
      </p:sp>
      <p:sp>
        <p:nvSpPr>
          <p:cNvPr id="205" name="Google Shape;205;p2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06" name="Google Shape;206;p28"/>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07" name="Google Shape;207;p28"/>
          <p:cNvSpPr txBox="1"/>
          <p:nvPr/>
        </p:nvSpPr>
        <p:spPr>
          <a:xfrm>
            <a:off x="483552" y="1415417"/>
            <a:ext cx="7704455" cy="236029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Cláusula ORDER BY</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ASCENDENTE</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DESCENDENTE</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Orden de Ejecución</a:t>
            </a:r>
            <a:endParaRPr sz="2400">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9"/>
          <p:cNvSpPr txBox="1"/>
          <p:nvPr>
            <p:ph type="title"/>
          </p:nvPr>
        </p:nvSpPr>
        <p:spPr>
          <a:xfrm>
            <a:off x="392112" y="748031"/>
            <a:ext cx="6014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213" name="Google Shape;213;p29"/>
          <p:cNvSpPr txBox="1"/>
          <p:nvPr>
            <p:ph idx="10" type="dt"/>
          </p:nvPr>
        </p:nvSpPr>
        <p:spPr>
          <a:xfrm>
            <a:off x="2855904" y="6510552"/>
            <a:ext cx="894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3-2</a:t>
            </a:r>
            <a:endParaRPr/>
          </a:p>
          <a:p>
            <a:pPr indent="0" lvl="0" marL="12700" rtl="0" algn="l">
              <a:lnSpc>
                <a:spcPct val="120624"/>
              </a:lnSpc>
              <a:spcBef>
                <a:spcPts val="0"/>
              </a:spcBef>
              <a:spcAft>
                <a:spcPts val="0"/>
              </a:spcAft>
              <a:buNone/>
            </a:pPr>
            <a:r>
              <a:rPr lang="en-US"/>
              <a:t>Ordenación de Filas</a:t>
            </a:r>
            <a:endParaRPr/>
          </a:p>
        </p:txBody>
      </p:sp>
      <p:sp>
        <p:nvSpPr>
          <p:cNvPr id="214" name="Google Shape;214;p2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15" name="Google Shape;215;p29"/>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16" name="Google Shape;216;p29"/>
          <p:cNvSpPr txBox="1"/>
          <p:nvPr>
            <p:ph idx="1" type="body"/>
          </p:nvPr>
        </p:nvSpPr>
        <p:spPr>
          <a:xfrm>
            <a:off x="483552" y="1393401"/>
            <a:ext cx="8020200" cy="299190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a:t>En esta lección, debe haber aprendido lo siguiente:</a:t>
            </a:r>
            <a:endParaRPr/>
          </a:p>
          <a:p>
            <a:pPr indent="-175260" lvl="0" marL="530860" marR="245110" rtl="0" algn="l">
              <a:lnSpc>
                <a:spcPct val="107916"/>
              </a:lnSpc>
              <a:spcBef>
                <a:spcPts val="475"/>
              </a:spcBef>
              <a:spcAft>
                <a:spcPts val="0"/>
              </a:spcAft>
              <a:buNone/>
            </a:pPr>
            <a:r>
              <a:rPr lang="en-US" sz="2400">
                <a:solidFill>
                  <a:srgbClr val="D1350F"/>
                </a:solidFill>
              </a:rPr>
              <a:t>−</a:t>
            </a:r>
            <a:r>
              <a:rPr lang="en-US" sz="2400"/>
              <a:t>Crear una consulta para ordenar un juego de resultados en orden ascendente o descendente</a:t>
            </a:r>
            <a:endParaRPr sz="2400"/>
          </a:p>
          <a:p>
            <a:pPr indent="-175260" lvl="0" marL="530860" marR="111125" rtl="0" algn="l">
              <a:lnSpc>
                <a:spcPct val="107916"/>
              </a:lnSpc>
              <a:spcBef>
                <a:spcPts val="400"/>
              </a:spcBef>
              <a:spcAft>
                <a:spcPts val="0"/>
              </a:spcAft>
              <a:buNone/>
            </a:pPr>
            <a:r>
              <a:rPr lang="en-US" sz="2400">
                <a:solidFill>
                  <a:srgbClr val="D1350F"/>
                </a:solidFill>
              </a:rPr>
              <a:t>−</a:t>
            </a:r>
            <a:r>
              <a:rPr lang="en-US" sz="2400"/>
              <a:t>Crear una consulta para ordenar un juego de resultados con un alias de columna</a:t>
            </a:r>
            <a:endParaRPr sz="2400"/>
          </a:p>
          <a:p>
            <a:pPr indent="-175260" lvl="0" marL="530860" marR="5080" rtl="0" algn="l">
              <a:lnSpc>
                <a:spcPct val="107916"/>
              </a:lnSpc>
              <a:spcBef>
                <a:spcPts val="400"/>
              </a:spcBef>
              <a:spcAft>
                <a:spcPts val="1200"/>
              </a:spcAft>
              <a:buNone/>
            </a:pPr>
            <a:r>
              <a:rPr lang="en-US" sz="2400">
                <a:solidFill>
                  <a:srgbClr val="D1350F"/>
                </a:solidFill>
              </a:rPr>
              <a:t>−</a:t>
            </a:r>
            <a:r>
              <a:rPr lang="en-US" sz="2400"/>
              <a:t>Crear una consulta para ordenar un juego de resultados para una o varias columnas</a:t>
            </a:r>
            <a:endParaRPr sz="24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