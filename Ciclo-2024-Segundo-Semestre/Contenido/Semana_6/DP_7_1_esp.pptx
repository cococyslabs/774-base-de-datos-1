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DAAA77-0D50-4150-97E3-1840125EE152}">
  <a:tblStyle styleId="{E2DAAA77-0D50-4150-97E3-1840125EE1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13:56:10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las versiones anteriores a Oracle  9i Database se necesita el uso  de sintaxis de unión propiedad  de Oracle.</a:t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13:56:14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Nota: La columna utilizada para  unir ambas tablas no es necesario  que esté en la lista de columnas  SELECT.</a:t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8472" y="1415417"/>
            <a:ext cx="81870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645555" y="6516395"/>
            <a:ext cx="2200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865879" cy="121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7-1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958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Unión Igualitaria 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Producto Cartesiano de Oracle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10525" y="3753375"/>
            <a:ext cx="3575826" cy="31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8147050" cy="435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aprenderá 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4097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Nombrar las uniones propiedad de Oracle y sus equivalentes  en ANSI/ISO SQL: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sentencia SELECT que da como resultado  un producto cartesiano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8702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sentencias SELECT para acceder a los datos  desde más de una tabla utilizando una unión igualitaria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442845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sentencias SELECT que  agregan condiciones de búsqueda usando  el operador AND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260090" rtl="0" algn="l">
              <a:lnSpc>
                <a:spcPct val="107916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la regla para utilizar alias de  tabla en una sentencia de unión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6022847" y="4206240"/>
            <a:ext cx="2717291" cy="2164079"/>
            <a:chOff x="6022847" y="4206240"/>
            <a:chExt cx="2717291" cy="2164079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22847" y="4206240"/>
              <a:ext cx="2717291" cy="2164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14871" y="4398264"/>
              <a:ext cx="2333243" cy="1780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5417"/>
            <a:ext cx="8165465" cy="4497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4635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sección anterior se ha tratado la consulta y  devolución de los datos de más de una tabla en una  base de datos relacional utilizando sintaxis ANSI/ISO  SQL: 99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las versiones anteriores de las bases de datos Oracle  se necesitaba que las uniones utilizaran la sintaxis de  unión propiedad de Oracle y muchas de estas bases de  datos anteriores aún se utilizan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175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presenta la sintaxis de unión  propiedad de Oracle para uniones igualitarias y el  producto cartesiano y sus homólogos ANSI/ISO SQL: 99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3475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Comandos de Unión</a:t>
            </a:r>
            <a:endParaRPr sz="3300"/>
          </a:p>
        </p:txBody>
      </p:sp>
      <p:sp>
        <p:nvSpPr>
          <p:cNvPr id="94" name="Google Shape;94;p17"/>
          <p:cNvSpPr txBox="1"/>
          <p:nvPr/>
        </p:nvSpPr>
        <p:spPr>
          <a:xfrm>
            <a:off x="483552" y="1415417"/>
            <a:ext cx="8070215" cy="1983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dos juegos de comandos o sintaxis que se pueden  utilizar para realizar conexiones entre las tablas de una  base de datos: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Uniones propiedad de Oracle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Uniones estándar compatibles con ANSI/ISO SQL: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9004" y="3755135"/>
            <a:ext cx="3745991" cy="24978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92112" y="748031"/>
            <a:ext cx="392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Comparación de Unión</a:t>
            </a:r>
            <a:endParaRPr sz="3300"/>
          </a:p>
        </p:txBody>
      </p:sp>
      <p:sp>
        <p:nvSpPr>
          <p:cNvPr id="104" name="Google Shape;104;p18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483552" y="1415417"/>
            <a:ext cx="790765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Comparación de las Uniones Propiedad de Oracle con  Uniones ANSI/ISO SQL: 1999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18"/>
          <p:cNvGraphicFramePr/>
          <p:nvPr/>
        </p:nvGraphicFramePr>
        <p:xfrm>
          <a:off x="798512" y="26366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3338825"/>
                <a:gridCol w="4206250"/>
              </a:tblGrid>
              <a:tr h="3657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Unión Propiedad de Oracle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Equivalente de ANSI/ISO SQL: 1999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 cartesiano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Unión cruzada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03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Unión igualitaria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UNIÓN NATURAL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Cláusula JOIN USING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Cláusula JOIN ON (si se utiliza el operador de igualdad)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Unión no igualitaria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Cláusula 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7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92112" y="748031"/>
            <a:ext cx="523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Propiedad de ORACLE</a:t>
            </a:r>
            <a:endParaRPr sz="3300"/>
          </a:p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83552" y="1415417"/>
            <a:ext cx="7866380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consultar datos de más de una tabla con la  sintaxis propiedad de Oracle, utilice una condición de  unión en la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formato básico de una sentencia de unión 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405384" y="3307079"/>
            <a:ext cx="8345805" cy="102108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0" marR="3560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table1.column, table2.column  FROM table1, table2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table1.column1 = table2.column2;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405387" y="69481"/>
            <a:ext cx="523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Propiedad de ORACLE</a:t>
            </a:r>
            <a:endParaRPr sz="3300"/>
          </a:p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496827" y="736867"/>
            <a:ext cx="8146500" cy="4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2857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Imagine el problema que supondría que dos alumnos  de la misma clase tuvieran el mismo apellido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sea necesario hablar con "Jackson", el profesor  aclara de qué "Jackson" se trata agregando el apellido  antes del nombre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64262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que sea más fácil leer una sentencia Join y  acelerar el acceso a la base de datos, es una buena  práctica agregar el nombre de la tabla delante del  nombre de la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05384" y="5225796"/>
            <a:ext cx="8345805" cy="8413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table1.column, table2.column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table1, table2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table1.column1 = table2.column2;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92112" y="748031"/>
            <a:ext cx="5230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Propiedad de ORACLE</a:t>
            </a:r>
            <a:endParaRPr sz="3300"/>
          </a:p>
        </p:txBody>
      </p:sp>
      <p:sp>
        <p:nvSpPr>
          <p:cNvPr id="134" name="Google Shape;134;p21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83552" y="1355371"/>
            <a:ext cx="7900670" cy="3404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esto se le denomina "cualificar sus columnas"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combinación del nombre de tabla y el nombre de  columna ayuda a eliminar nombres ambiguos cuando  dos tablas contienen una columna con el mismo  nombre de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73050" rtl="0" algn="just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aparece el mismo nombre de columna en ambas  tablas, el nombre de columna debe ir precedido del  nombre de la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92112" y="748031"/>
            <a:ext cx="4951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Sintaxis de Unión</a:t>
            </a:r>
            <a:endParaRPr sz="3300"/>
          </a:p>
        </p:txBody>
      </p:sp>
      <p:sp>
        <p:nvSpPr>
          <p:cNvPr id="143" name="Google Shape;143;p22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483552" y="1415417"/>
            <a:ext cx="796417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cualificar las columnas, utilice la sintaxis  nombretabla.nombrecolumna, como se muestra en el  siguiente ejemplo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99096" y="2933200"/>
            <a:ext cx="8345700" cy="8652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table1.column, table2.column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table1, table2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table1.column1 = table2.column2;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92112" y="748031"/>
            <a:ext cx="3455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IGUALITARIA</a:t>
            </a:r>
            <a:endParaRPr sz="3300"/>
          </a:p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483552" y="1415417"/>
            <a:ext cx="8168005" cy="410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524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Algunas veces denominada unión "simple" o "interna",  una unión igualitaria es una unión de tabla que  combina filas con los mismos valores para las columnas  especificadas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unión igualitaria es equivalente a ANSI: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NATURAL JOIN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JOIN USING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JOIN ON (cuando la condición de unión utiliza "=")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diapositiva se muestran el qué, el dónde  y el cómo necesarios para unir las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92112" y="748031"/>
            <a:ext cx="3455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IGUALITARIA</a:t>
            </a:r>
            <a:endParaRPr sz="3300"/>
          </a:p>
        </p:txBody>
      </p:sp>
      <p:sp>
        <p:nvSpPr>
          <p:cNvPr id="162" name="Google Shape;162;p24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483552" y="1415417"/>
            <a:ext cx="8016875" cy="382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5179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¿Qué? La cláusula SELECT especifica los nombres de  columna que se van a mostrar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8067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¿Dónde? La cláusula FROM especifica las tablas a las  que debe acceder la base de datos, separadas por  comas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1272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¿Cómo? La cláusula WHERE especifica cómo se van a  unir las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unión igualitaria utiliza el operador Igual que para  especificar la condición de unión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>
            <a:off x="126625" y="1166100"/>
            <a:ext cx="8897263" cy="1610044"/>
          </a:xfrm>
          <a:custGeom>
            <a:rect b="b" l="l" r="r" t="t"/>
            <a:pathLst>
              <a:path extrusionOk="0" h="1164589" w="8575675">
                <a:moveTo>
                  <a:pt x="8575548" y="0"/>
                </a:moveTo>
                <a:lnTo>
                  <a:pt x="0" y="0"/>
                </a:lnTo>
                <a:lnTo>
                  <a:pt x="0" y="1164336"/>
                </a:lnTo>
                <a:lnTo>
                  <a:pt x="8575548" y="1164336"/>
                </a:lnTo>
                <a:lnTo>
                  <a:pt x="8575548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25"/>
          <p:cNvSpPr txBox="1"/>
          <p:nvPr/>
        </p:nvSpPr>
        <p:spPr>
          <a:xfrm>
            <a:off x="371093" y="1794510"/>
            <a:ext cx="3183890" cy="269875"/>
          </a:xfrm>
          <a:prstGeom prst="rect">
            <a:avLst/>
          </a:prstGeom>
          <a:solidFill>
            <a:srgbClr val="9DBDC4">
              <a:alpha val="49804"/>
            </a:srgbClr>
          </a:solidFill>
          <a:ln cap="flat" cmpd="sng" w="38100">
            <a:solidFill>
              <a:srgbClr val="006F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159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employees, jobs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392112" y="748031"/>
            <a:ext cx="3455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IGUALITARIA</a:t>
            </a:r>
            <a:endParaRPr sz="3300"/>
          </a:p>
        </p:txBody>
      </p:sp>
      <p:sp>
        <p:nvSpPr>
          <p:cNvPr id="173" name="Google Shape;173;p25"/>
          <p:cNvSpPr txBox="1"/>
          <p:nvPr/>
        </p:nvSpPr>
        <p:spPr>
          <a:xfrm>
            <a:off x="355091" y="1344391"/>
            <a:ext cx="858964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employees.last_name, employees.job_id, jobs.job_title </a:t>
            </a:r>
            <a:r>
              <a:rPr baseline="-25000" lang="en-US" sz="3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baseline="-25000"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3952950" y="1762290"/>
            <a:ext cx="94678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FC0"/>
                </a:solidFill>
                <a:latin typeface="Calibri"/>
                <a:ea typeface="Calibri"/>
                <a:cs typeface="Calibri"/>
                <a:sym typeface="Calibri"/>
              </a:rPr>
              <a:t>¿Dónde?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55091" y="2121729"/>
            <a:ext cx="58172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employees.job_id = jobs.job_id; </a:t>
            </a:r>
            <a:r>
              <a:rPr baseline="-25000" lang="en-US" sz="3000">
                <a:solidFill>
                  <a:srgbClr val="00AF50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baseline="-25000" sz="3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25"/>
          <p:cNvGraphicFramePr/>
          <p:nvPr/>
        </p:nvGraphicFramePr>
        <p:xfrm>
          <a:off x="782941" y="28810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1947550"/>
                <a:gridCol w="2086600"/>
                <a:gridCol w="3232150"/>
              </a:tblGrid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AD_PRES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Presiden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 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 Vice President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 Assistant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AC_MGR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AC_ACCOUNT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Accountant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6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grpSp>
        <p:nvGrpSpPr>
          <p:cNvPr id="177" name="Google Shape;177;p25"/>
          <p:cNvGrpSpPr/>
          <p:nvPr/>
        </p:nvGrpSpPr>
        <p:grpSpPr>
          <a:xfrm>
            <a:off x="355093" y="1538438"/>
            <a:ext cx="7850505" cy="1080516"/>
            <a:chOff x="371093" y="1408938"/>
            <a:chExt cx="7850505" cy="1080516"/>
          </a:xfrm>
        </p:grpSpPr>
        <p:sp>
          <p:nvSpPr>
            <p:cNvPr id="178" name="Google Shape;178;p25"/>
            <p:cNvSpPr/>
            <p:nvPr/>
          </p:nvSpPr>
          <p:spPr>
            <a:xfrm>
              <a:off x="371093" y="1408938"/>
              <a:ext cx="7850505" cy="294640"/>
            </a:xfrm>
            <a:custGeom>
              <a:rect b="b" l="l" r="r" t="t"/>
              <a:pathLst>
                <a:path extrusionOk="0" h="294639" w="7850505">
                  <a:moveTo>
                    <a:pt x="0" y="0"/>
                  </a:moveTo>
                  <a:lnTo>
                    <a:pt x="7850124" y="0"/>
                  </a:lnTo>
                  <a:lnTo>
                    <a:pt x="7850124" y="294132"/>
                  </a:lnTo>
                  <a:lnTo>
                    <a:pt x="0" y="29413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371093" y="2192274"/>
              <a:ext cx="4823460" cy="297180"/>
            </a:xfrm>
            <a:custGeom>
              <a:rect b="b" l="l" r="r" t="t"/>
              <a:pathLst>
                <a:path extrusionOk="0" h="297180" w="4823460">
                  <a:moveTo>
                    <a:pt x="0" y="0"/>
                  </a:moveTo>
                  <a:lnTo>
                    <a:pt x="4823459" y="0"/>
                  </a:lnTo>
                  <a:lnTo>
                    <a:pt x="4823459" y="297179"/>
                  </a:lnTo>
                  <a:lnTo>
                    <a:pt x="0" y="29717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00AF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0" name="Google Shape;180;p25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92112" y="748031"/>
            <a:ext cx="3455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IGUALITARIA</a:t>
            </a:r>
            <a:endParaRPr sz="3300"/>
          </a:p>
        </p:txBody>
      </p:sp>
      <p:sp>
        <p:nvSpPr>
          <p:cNvPr id="188" name="Google Shape;188;p26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83552" y="1415417"/>
            <a:ext cx="22104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Otro ejemplo: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26"/>
          <p:cNvGraphicFramePr/>
          <p:nvPr/>
        </p:nvGraphicFramePr>
        <p:xfrm>
          <a:off x="2081678" y="3012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2500000"/>
                <a:gridCol w="2500000"/>
              </a:tblGrid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07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6"/>
          <p:cNvSpPr txBox="1"/>
          <p:nvPr/>
        </p:nvSpPr>
        <p:spPr>
          <a:xfrm>
            <a:off x="405384" y="1932432"/>
            <a:ext cx="8345805" cy="8413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employees.last_name, departments.department_name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employees, departments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employees.department_id = departments.department_id;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392112" y="748031"/>
            <a:ext cx="825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Alias</a:t>
            </a:r>
            <a:endParaRPr sz="3300"/>
          </a:p>
        </p:txBody>
      </p:sp>
      <p:sp>
        <p:nvSpPr>
          <p:cNvPr id="199" name="Google Shape;199;p27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00" name="Google Shape;200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483552" y="1419989"/>
            <a:ext cx="8164195" cy="439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-172720" lvl="0" marL="184785" marR="642620" rtl="0" algn="l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Trabajar con nombres de tabla y columna largos puede  ser complicado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666115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Afortunadamente, hay una forma de acortar la sintaxis  utilizando alias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03505" rtl="0" algn="l">
              <a:lnSpc>
                <a:spcPct val="108076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distinguir las columnas que tienen nombres idénticos,  pero que residen en tablas diferentes, utilice alias de tabla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108076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alias de tabla es similar a un alias de columna; cambia el  nombre de un objeto dentro de una sentencia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73660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crea mediante la introducción del nuevo nombre para la  tabla, justo después del nombre de tabla en la cláusula  from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92112" y="748031"/>
            <a:ext cx="233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Alias de Tabla</a:t>
            </a:r>
            <a:endParaRPr sz="3300"/>
          </a:p>
        </p:txBody>
      </p:sp>
      <p:sp>
        <p:nvSpPr>
          <p:cNvPr id="208" name="Google Shape;208;p28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483552" y="1415417"/>
            <a:ext cx="79489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alias de la tabla se utilizan en la consulta siguiente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483552" y="4329305"/>
            <a:ext cx="787844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los nombres de columna no están duplicados  en dos tablas, no tiene que agregar el alias o nombre  de la tabla al nombre de la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8"/>
          <p:cNvGraphicFramePr/>
          <p:nvPr/>
        </p:nvGraphicFramePr>
        <p:xfrm>
          <a:off x="794130" y="3205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2510150"/>
                <a:gridCol w="2510150"/>
                <a:gridCol w="2510150"/>
              </a:tblGrid>
              <a:tr h="292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Representative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28"/>
          <p:cNvSpPr txBox="1"/>
          <p:nvPr/>
        </p:nvSpPr>
        <p:spPr>
          <a:xfrm>
            <a:off x="393191" y="1929383"/>
            <a:ext cx="8345805" cy="11709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3288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e.job_id, job_title  FROM employees e, jobs j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marR="4923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e.job_id = j.job_id  AND department_id = 80;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405387" y="313731"/>
            <a:ext cx="233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Alias de Tabla</a:t>
            </a:r>
            <a:endParaRPr sz="3300"/>
          </a:p>
        </p:txBody>
      </p:sp>
      <p:sp>
        <p:nvSpPr>
          <p:cNvPr id="220" name="Google Shape;220;p29"/>
          <p:cNvSpPr txBox="1"/>
          <p:nvPr/>
        </p:nvSpPr>
        <p:spPr>
          <a:xfrm>
            <a:off x="496827" y="981117"/>
            <a:ext cx="7622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se utiliza un alias de tabla en la cláusula FROM, el  alias de tabla se deberá sustituir por el nombre de  tabla mediante la sentencia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40259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se utiliza el nombre de una tabla en la cláusula  SELECT al que se le haya asignado un alias en la  cláusula FROM, se producirá un error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3" y="5372100"/>
            <a:ext cx="3895343" cy="61874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9"/>
          <p:cNvSpPr txBox="1"/>
          <p:nvPr/>
        </p:nvSpPr>
        <p:spPr>
          <a:xfrm>
            <a:off x="405384" y="3988308"/>
            <a:ext cx="8345700" cy="12069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0" marR="219837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employees.job_id, job_title  FROM employees e, jobs j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685" lvl="0" marL="273685" marR="492442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e.job_id =j.job_id</a:t>
            </a: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AND department_id = 80;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29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24" name="Google Shape;224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92112" y="748031"/>
            <a:ext cx="5137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de Producto Cartesiano</a:t>
            </a:r>
            <a:endParaRPr sz="3300"/>
          </a:p>
        </p:txBody>
      </p:sp>
      <p:sp>
        <p:nvSpPr>
          <p:cNvPr id="231" name="Google Shape;231;p30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483552" y="1381889"/>
            <a:ext cx="7975600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1079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en la cláusula WHERE de dos tablas de una consulta  de unión no se ha especificado ninguna condición de  unión o la condición de unión no es válida, Oracle  Server devuelve el producto cartesiano de las dos 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937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es una combinación de cada fila de una tabla con  cada fila de otra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745490" rtl="0" algn="l">
              <a:lnSpc>
                <a:spcPct val="80000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producto cartesiano es equivalente a un ANSI  CROSS JOIN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evitar un producto cartesiano, incluya siempre  una condición de unión válida en una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92112" y="748031"/>
            <a:ext cx="5137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de Producto Cartesiano</a:t>
            </a:r>
            <a:endParaRPr sz="3300"/>
          </a:p>
        </p:txBody>
      </p:sp>
      <p:sp>
        <p:nvSpPr>
          <p:cNvPr id="240" name="Google Shape;240;p31"/>
          <p:cNvSpPr txBox="1"/>
          <p:nvPr/>
        </p:nvSpPr>
        <p:spPr>
          <a:xfrm>
            <a:off x="483552" y="1415417"/>
            <a:ext cx="791908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consulta, la condición de unión se ha omitido: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659" y="5364479"/>
            <a:ext cx="2828531" cy="380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/>
        </p:nvSpPr>
        <p:spPr>
          <a:xfrm>
            <a:off x="405384" y="1892807"/>
            <a:ext cx="8345805" cy="7867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0" lvl="0" marL="0" marR="830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employees.last_name, departments.department_name  FROM employees, departments;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1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graphicFrame>
        <p:nvGraphicFramePr>
          <p:cNvPr id="246" name="Google Shape;246;p31"/>
          <p:cNvGraphicFramePr/>
          <p:nvPr/>
        </p:nvGraphicFramePr>
        <p:xfrm>
          <a:off x="401231" y="2965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1900550"/>
                <a:gridCol w="1900550"/>
              </a:tblGrid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15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393212" y="196131"/>
            <a:ext cx="619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Restricción de las Filas de una Unión</a:t>
            </a:r>
            <a:endParaRPr sz="3300"/>
          </a:p>
        </p:txBody>
      </p:sp>
      <p:sp>
        <p:nvSpPr>
          <p:cNvPr id="252" name="Google Shape;252;p32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479572" y="863517"/>
            <a:ext cx="81870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9865" marR="12573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Al igual que ocurre con las consultas de una sola tabla,  la cláusula WHERE se puede utilizar para restringir las  filas tenidas en cuenta en una o más tablas de la unión</a:t>
            </a:r>
            <a:endParaRPr/>
          </a:p>
          <a:p>
            <a:pPr indent="-177800" lvl="0" marL="189865" marR="5080" rtl="0" algn="l">
              <a:lnSpc>
                <a:spcPct val="108214"/>
              </a:lnSpc>
              <a:spcBef>
                <a:spcPts val="785"/>
              </a:spcBef>
              <a:spcAft>
                <a:spcPts val="120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la consulta mostrada se utiliza el operador AND para  limitar las filas devueltas</a:t>
            </a:r>
            <a:endParaRPr/>
          </a:p>
        </p:txBody>
      </p:sp>
      <p:graphicFrame>
        <p:nvGraphicFramePr>
          <p:cNvPr id="256" name="Google Shape;256;p32"/>
          <p:cNvGraphicFramePr/>
          <p:nvPr/>
        </p:nvGraphicFramePr>
        <p:xfrm>
          <a:off x="1888426" y="48808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1860550"/>
                <a:gridCol w="1860550"/>
                <a:gridCol w="1860550"/>
              </a:tblGrid>
              <a:tr h="292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JOB_TITLE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SA_MAN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Perwakilan Penjualan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270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SA_REP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Perwakilan Penjualan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32"/>
          <p:cNvSpPr txBox="1"/>
          <p:nvPr/>
        </p:nvSpPr>
        <p:spPr>
          <a:xfrm>
            <a:off x="393191" y="3537203"/>
            <a:ext cx="8345700" cy="10728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employees.last_name, employees.job_id, jobs.job_title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employees, jobs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685" lvl="0" marL="273685" marR="3422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employees.job_id = jobs.job_id  AND employees.department_id = 80;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392112" y="748031"/>
            <a:ext cx="4951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Sintaxis de Unión</a:t>
            </a:r>
            <a:endParaRPr sz="3300"/>
          </a:p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483552" y="1415417"/>
            <a:ext cx="8136890" cy="257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60769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deseara unir tres tablas juntas, ¿cuántas uniones  necesitaría?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¿Cuántos puentes se necesitan para unir tres islas?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unir tres tablas, tendrá que agregar otra condición  de unión a la cláusula WHERE utilizando el operador  AND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1981961" y="4138421"/>
            <a:ext cx="1510665" cy="958850"/>
          </a:xfrm>
          <a:prstGeom prst="rect">
            <a:avLst/>
          </a:prstGeom>
          <a:solidFill>
            <a:srgbClr val="DFE1E0"/>
          </a:solidFill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4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Tabel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3813809" y="4138421"/>
            <a:ext cx="1508760" cy="958850"/>
          </a:xfrm>
          <a:prstGeom prst="rect">
            <a:avLst/>
          </a:prstGeom>
          <a:solidFill>
            <a:srgbClr val="DFE1E0"/>
          </a:solidFill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35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Tabel 2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5653278" y="4138421"/>
            <a:ext cx="1510665" cy="958850"/>
          </a:xfrm>
          <a:prstGeom prst="rect">
            <a:avLst/>
          </a:prstGeom>
          <a:solidFill>
            <a:srgbClr val="DFE1E0"/>
          </a:solidFill>
          <a:ln cap="flat" cmpd="sng" w="3810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Tabel 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type="title"/>
          </p:nvPr>
        </p:nvSpPr>
        <p:spPr>
          <a:xfrm>
            <a:off x="392112" y="748031"/>
            <a:ext cx="4951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Sintaxis de Unión</a:t>
            </a:r>
            <a:endParaRPr sz="3300"/>
          </a:p>
        </p:txBody>
      </p:sp>
      <p:sp>
        <p:nvSpPr>
          <p:cNvPr id="275" name="Google Shape;275;p34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8" name="Google Shape;278;p34"/>
          <p:cNvSpPr txBox="1"/>
          <p:nvPr/>
        </p:nvSpPr>
        <p:spPr>
          <a:xfrm>
            <a:off x="483552" y="1415417"/>
            <a:ext cx="8017509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Supongamos que necesitamos un informe de nuestros  empleados y la ciudad donde está ubicado su  departamento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90944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Necesitamos unir tres tablas: employees,  departaments y locations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34"/>
          <p:cNvGraphicFramePr/>
          <p:nvPr/>
        </p:nvGraphicFramePr>
        <p:xfrm>
          <a:off x="386841" y="35295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{E2DAAA77-0D50-4150-97E3-1840125EE152}</a:tableStyleId>
              </a:tblPr>
              <a:tblGrid>
                <a:gridCol w="5459100"/>
                <a:gridCol w="47625"/>
                <a:gridCol w="1261750"/>
                <a:gridCol w="1601475"/>
              </a:tblGrid>
              <a:tr h="35040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 last_name, city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914400" lvl="0" marL="914400" marR="108204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employees e, departments d,  locations l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409575" lvl="0" marL="409575" marR="130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WHERE e.department_id = d.department_id  AND d.location_id = l.location_id;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83175" marB="0" marR="0" marL="0">
                    <a:solidFill>
                      <a:srgbClr val="CDDDE1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449575">
                <a:tc vMerge="1"/>
                <a:tc vMerge="1"/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Toronto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0400">
                <a:tc vMerge="1"/>
                <a:tc vMerge="1"/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Toronto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0400">
                <a:tc vMerge="1"/>
                <a:tc vMerge="1"/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93125">
                <a:tc vMerge="1"/>
                <a:tc vMerge="1"/>
                <a:tc rowSpan="2"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Oxford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727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FE1E0"/>
                    </a:solidFill>
                  </a:tcPr>
                </a:tc>
                <a:tc rowSpan="2" hMerge="1"/>
                <a:tc vMerge="1"/>
                <a:tc vMerge="1"/>
              </a:tr>
              <a:tr h="3504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285" name="Google Shape;285;p35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86" name="Google Shape;286;p3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88" name="Google Shape;288;p35"/>
          <p:cNvSpPr txBox="1"/>
          <p:nvPr/>
        </p:nvSpPr>
        <p:spPr>
          <a:xfrm>
            <a:off x="483552" y="1415417"/>
            <a:ext cx="7702550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Alias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Producto cartesiano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Unión igualitaria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Condiciones de unión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Unión de propiedad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94" name="Google Shape;294;p36"/>
          <p:cNvSpPr txBox="1"/>
          <p:nvPr/>
        </p:nvSpPr>
        <p:spPr>
          <a:xfrm>
            <a:off x="483552" y="1381889"/>
            <a:ext cx="8147050" cy="421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171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ha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40970" rtl="0" algn="l">
              <a:lnSpc>
                <a:spcPct val="95833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Nombrar las uniones propiedad de Oracle y sus equivalentes  en ANSI/ISO SQL: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95833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sentencia SELECT que da como resultado  un producto cartesiano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8702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sentencias SELECT para acceder a los datos  desde más de una tabla utilizando una unión igualitaria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95580" rtl="0" algn="l">
              <a:lnSpc>
                <a:spcPct val="8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sentencias SELECT que agregan condiciones  de búsqueda usando el operador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0860" marR="0" rtl="0" algn="l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639820" rtl="0" algn="l">
              <a:lnSpc>
                <a:spcPct val="95833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la regla para utilizar alias  de tabla en una sentencia de  unión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36"/>
          <p:cNvGrpSpPr/>
          <p:nvPr/>
        </p:nvGrpSpPr>
        <p:grpSpPr>
          <a:xfrm>
            <a:off x="5108447" y="4073652"/>
            <a:ext cx="3614927" cy="1999487"/>
            <a:chOff x="5108447" y="4073652"/>
            <a:chExt cx="3614927" cy="1999487"/>
          </a:xfrm>
        </p:grpSpPr>
        <p:pic>
          <p:nvPicPr>
            <p:cNvPr id="296" name="Google Shape;29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08447" y="4073652"/>
              <a:ext cx="3614927" cy="1999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00472" y="4265676"/>
              <a:ext cx="3230880" cy="1615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" name="Google Shape;298;p36"/>
          <p:cNvSpPr txBox="1"/>
          <p:nvPr>
            <p:ph idx="10" type="dt"/>
          </p:nvPr>
        </p:nvSpPr>
        <p:spPr>
          <a:xfrm>
            <a:off x="2645555" y="6516395"/>
            <a:ext cx="2200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7-1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Unión Igualitaria y Producto Cartesiano de Oracle</a:t>
            </a:r>
            <a:endParaRPr/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