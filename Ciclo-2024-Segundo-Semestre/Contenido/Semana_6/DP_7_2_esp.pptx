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4B46AE-C267-40E6-921B-79CB94EFA5B4}">
  <a:tblStyle styleId="{C04B46AE-C267-40E6-921B-79CB94EFA5B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2022-03-02 08:20:38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Es posible realizar una unión externa completa mediante operadores SET. Estos se tratarán más adelante en este curso.</a:t>
            </a:r>
            <a:endParaRPr/>
          </a:p>
        </p:txBody>
      </p:sp>
      <p:sp>
        <p:nvSpPr>
          <p:cNvPr id="204" name="Google Shape;204;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3525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01662" y="2807063"/>
            <a:ext cx="7590300" cy="30162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449092"/>
            <a:ext cx="1235700" cy="3669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55591"/>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3492500" cy="121729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7-2</a:t>
            </a:r>
            <a:endParaRPr sz="2400">
              <a:latin typeface="Calibri"/>
              <a:ea typeface="Calibri"/>
              <a:cs typeface="Calibri"/>
              <a:sym typeface="Calibri"/>
            </a:endParaRPr>
          </a:p>
          <a:p>
            <a:pPr indent="0" lvl="0" marL="12700" marR="5080" rtl="0" algn="l">
              <a:lnSpc>
                <a:spcPct val="107916"/>
              </a:lnSpc>
              <a:spcBef>
                <a:spcPts val="845"/>
              </a:spcBef>
              <a:spcAft>
                <a:spcPts val="0"/>
              </a:spcAft>
              <a:buNone/>
            </a:pPr>
            <a:r>
              <a:rPr b="1" lang="en-US" sz="2400">
                <a:solidFill>
                  <a:srgbClr val="4E3629"/>
                </a:solidFill>
                <a:latin typeface="Calibri"/>
                <a:ea typeface="Calibri"/>
                <a:cs typeface="Calibri"/>
                <a:sym typeface="Calibri"/>
              </a:rPr>
              <a:t>Uniones No Igualitarias y Uniones Externas de Oracle</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163550" y="3812625"/>
            <a:ext cx="3135351" cy="3045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74" name="Google Shape;74;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5" name="Google Shape;75;p15"/>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76" name="Google Shape;76;p15"/>
          <p:cNvSpPr txBox="1"/>
          <p:nvPr/>
        </p:nvSpPr>
        <p:spPr>
          <a:xfrm>
            <a:off x="483552" y="1393401"/>
            <a:ext cx="7233920" cy="255460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175260"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para acceder a los datos desde más de una tabla utilizando una unión no igualitaria</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para acceder a los datos desde más de una tabla utilizando una unión externa de Oracle</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2" name="Google Shape;82;p16"/>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83" name="Google Shape;83;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4" name="Google Shape;84;p16"/>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85" name="Google Shape;85;p16"/>
          <p:cNvSpPr txBox="1"/>
          <p:nvPr/>
        </p:nvSpPr>
        <p:spPr>
          <a:xfrm>
            <a:off x="483552" y="1381889"/>
            <a:ext cx="8174355" cy="417004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ocurre si desea recuperar los datos de una tabla 	que no tiene ninguna columna correspondiente en otra 	tabla?</a:t>
            </a:r>
            <a:endParaRPr sz="2800">
              <a:latin typeface="Calibri"/>
              <a:ea typeface="Calibri"/>
              <a:cs typeface="Calibri"/>
              <a:sym typeface="Calibri"/>
            </a:endParaRPr>
          </a:p>
          <a:p>
            <a:pPr indent="-177800" lvl="0" marL="182880" marR="22987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su nota porcentual en matemáticas (92) 	está almacenada en la columna GRADES de una tabla; 	la nota con letra está almacenada en la columna 	LETTER_GRADE de otra tabla</a:t>
            </a:r>
            <a:endParaRPr sz="2800">
              <a:latin typeface="Calibri"/>
              <a:ea typeface="Calibri"/>
              <a:cs typeface="Calibri"/>
              <a:sym typeface="Calibri"/>
            </a:endParaRPr>
          </a:p>
          <a:p>
            <a:pPr indent="-177800" lvl="0" marL="182880" marR="88265"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podemos unir la nota numérica con la nota con 	letra?</a:t>
            </a:r>
            <a:endParaRPr sz="2800">
              <a:latin typeface="Calibri"/>
              <a:ea typeface="Calibri"/>
              <a:cs typeface="Calibri"/>
              <a:sym typeface="Calibri"/>
            </a:endParaRPr>
          </a:p>
          <a:p>
            <a:pPr indent="-177800" lvl="0" marL="182880" marR="48577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los datos se registran utilizando un rango, la 	recuperación es la tarea de una unión no igualitaria</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1" name="Google Shape;91;p17"/>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92" name="Google Shape;92;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3" name="Google Shape;93;p17"/>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4" name="Google Shape;94;p17"/>
          <p:cNvSpPr txBox="1"/>
          <p:nvPr/>
        </p:nvSpPr>
        <p:spPr>
          <a:xfrm>
            <a:off x="483552" y="1415417"/>
            <a:ext cx="8125459" cy="4213225"/>
          </a:xfrm>
          <a:prstGeom prst="rect">
            <a:avLst/>
          </a:prstGeom>
          <a:noFill/>
          <a:ln>
            <a:noFill/>
          </a:ln>
        </p:spPr>
        <p:txBody>
          <a:bodyPr anchorCtr="0" anchor="t" bIns="0" lIns="0" spcFirstLastPara="1" rIns="0" wrap="square" tIns="59675">
            <a:spAutoFit/>
          </a:bodyPr>
          <a:lstStyle/>
          <a:p>
            <a:pPr indent="-177800" lvl="0" marL="182880" marR="2667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uniones de Oracle que ha estudiado hasta el 	momento han devuelto filas con un valor coincidente 	en ambas tablas</a:t>
            </a:r>
            <a:endParaRPr sz="2800">
              <a:latin typeface="Calibri"/>
              <a:ea typeface="Calibri"/>
              <a:cs typeface="Calibri"/>
              <a:sym typeface="Calibri"/>
            </a:endParaRPr>
          </a:p>
          <a:p>
            <a:pPr indent="-177800" lvl="0" marL="182880" marR="181991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filas que no cumplían esas condiciones 	simplemente no se incluyeron</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en ocasiones, desea que se devuelvan 	todos los datos de una de las tablas, incluso aunque no 	haya datos coincidentes en la otra tabla</a:t>
            </a:r>
            <a:endParaRPr sz="2800">
              <a:latin typeface="Calibri"/>
              <a:ea typeface="Calibri"/>
              <a:cs typeface="Calibri"/>
              <a:sym typeface="Calibri"/>
            </a:endParaRPr>
          </a:p>
          <a:p>
            <a:pPr indent="-177800" lvl="0" marL="182880" marR="78613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también se tratarán las uniones 	externas de Oracle para solucionar este problema</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no igualitaria</a:t>
            </a:r>
            <a:endParaRPr/>
          </a:p>
        </p:txBody>
      </p:sp>
      <p:sp>
        <p:nvSpPr>
          <p:cNvPr id="100" name="Google Shape;100;p18"/>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101" name="Google Shape;101;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2" name="Google Shape;102;p18"/>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3" name="Google Shape;103;p18"/>
          <p:cNvSpPr txBox="1"/>
          <p:nvPr/>
        </p:nvSpPr>
        <p:spPr>
          <a:xfrm>
            <a:off x="483552" y="1393401"/>
            <a:ext cx="7423150" cy="227584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a:t>
            </a:r>
            <a:endParaRPr sz="2800">
              <a:latin typeface="Calibri"/>
              <a:ea typeface="Calibri"/>
              <a:cs typeface="Calibri"/>
              <a:sym typeface="Calibri"/>
            </a:endParaRPr>
          </a:p>
          <a:p>
            <a:pPr indent="-175260" lvl="0" marL="530860" marR="304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Suponga que desea conocer el valor grade_level para el salario de cada empleado</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tabla job_grades no tiene una columna común con la tabla employees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unión igualitaria nos permite unir las dos tablas</a:t>
            </a:r>
            <a:endParaRPr sz="2400">
              <a:latin typeface="Calibri"/>
              <a:ea typeface="Calibri"/>
              <a:cs typeface="Calibri"/>
              <a:sym typeface="Calibri"/>
            </a:endParaRPr>
          </a:p>
        </p:txBody>
      </p:sp>
      <p:sp>
        <p:nvSpPr>
          <p:cNvPr id="104" name="Google Shape;104;p18"/>
          <p:cNvSpPr txBox="1"/>
          <p:nvPr/>
        </p:nvSpPr>
        <p:spPr>
          <a:xfrm>
            <a:off x="3859815" y="4930585"/>
            <a:ext cx="14230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tabla job_grades</a:t>
            </a:r>
            <a:endParaRPr sz="1600">
              <a:latin typeface="Calibri"/>
              <a:ea typeface="Calibri"/>
              <a:cs typeface="Calibri"/>
              <a:sym typeface="Calibri"/>
            </a:endParaRPr>
          </a:p>
        </p:txBody>
      </p:sp>
      <p:graphicFrame>
        <p:nvGraphicFramePr>
          <p:cNvPr id="105" name="Google Shape;105;p18"/>
          <p:cNvGraphicFramePr/>
          <p:nvPr/>
        </p:nvGraphicFramePr>
        <p:xfrm>
          <a:off x="5411547" y="3751324"/>
          <a:ext cx="3000000" cy="3000000"/>
        </p:xfrm>
        <a:graphic>
          <a:graphicData uri="http://schemas.openxmlformats.org/drawingml/2006/table">
            <a:tbl>
              <a:tblPr bandRow="1" firstRow="1">
                <a:noFill/>
                <a:tableStyleId>{C04B46AE-C267-40E6-921B-79CB94EFA5B4}</a:tableStyleId>
              </a:tblPr>
              <a:tblGrid>
                <a:gridCol w="1144275"/>
                <a:gridCol w="1077600"/>
                <a:gridCol w="1099175"/>
              </a:tblGrid>
              <a:tr h="549275">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GRADE_LEVEL</a:t>
                      </a:r>
                      <a:endParaRPr sz="14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LOWEST_SAL</a:t>
                      </a:r>
                      <a:endParaRPr sz="14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HIGHEST_SAL</a:t>
                      </a:r>
                      <a:endParaRPr sz="14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568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2999</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568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5999</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568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C</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6000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9999</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568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D</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14999</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568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15000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24999</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568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F</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25000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40000</a:t>
                      </a:r>
                      <a:endParaRPr sz="1400" u="none" cap="none" strike="noStrike">
                        <a:latin typeface="Calibri"/>
                        <a:ea typeface="Calibri"/>
                        <a:cs typeface="Calibri"/>
                        <a:sym typeface="Calibri"/>
                      </a:endParaRPr>
                    </a:p>
                  </a:txBody>
                  <a:tcPr marT="60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no igualitaria</a:t>
            </a:r>
            <a:endParaRPr/>
          </a:p>
        </p:txBody>
      </p:sp>
      <p:sp>
        <p:nvSpPr>
          <p:cNvPr id="111" name="Google Shape;111;p19"/>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112" name="Google Shape;112;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3" name="Google Shape;113;p19"/>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4" name="Google Shape;114;p19"/>
          <p:cNvSpPr txBox="1"/>
          <p:nvPr/>
        </p:nvSpPr>
        <p:spPr>
          <a:xfrm>
            <a:off x="483552" y="1415417"/>
            <a:ext cx="8152765" cy="3728720"/>
          </a:xfrm>
          <a:prstGeom prst="rect">
            <a:avLst/>
          </a:prstGeom>
          <a:noFill/>
          <a:ln>
            <a:noFill/>
          </a:ln>
        </p:spPr>
        <p:txBody>
          <a:bodyPr anchorCtr="0" anchor="t" bIns="0" lIns="0" spcFirstLastPara="1" rIns="0" wrap="square" tIns="59675">
            <a:spAutoFit/>
          </a:bodyPr>
          <a:lstStyle/>
          <a:p>
            <a:pPr indent="-177800" lvl="0" marL="182880" marR="1181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Ya que no hay ninguna coincidencia exacta entre las 	dos columnas de cada tabla, el operador de igualdad = 	no se puede utilizar</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Aunque se pueden utilizar las condiciones de 	comparación como &lt; = y &gt; =, BETWEEN... AND es una 	forma más efectiva de ejecutar una unión no igualitaria</a:t>
            </a:r>
            <a:endParaRPr sz="2800">
              <a:latin typeface="Calibri"/>
              <a:ea typeface="Calibri"/>
              <a:cs typeface="Calibri"/>
              <a:sym typeface="Calibri"/>
            </a:endParaRPr>
          </a:p>
          <a:p>
            <a:pPr indent="-177800" lvl="0" marL="182880" marR="1905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unión no igualitaria es equivalente a ANSI JOIN ON 	(donde la condición utilizada es algo distinto al signo 	igual)</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no igualitaria</a:t>
            </a:r>
            <a:endParaRPr/>
          </a:p>
        </p:txBody>
      </p:sp>
      <p:sp>
        <p:nvSpPr>
          <p:cNvPr id="120" name="Google Shape;120;p20"/>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121" name="Google Shape;121;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2" name="Google Shape;122;p20"/>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graphicFrame>
        <p:nvGraphicFramePr>
          <p:cNvPr id="123" name="Google Shape;123;p20"/>
          <p:cNvGraphicFramePr/>
          <p:nvPr/>
        </p:nvGraphicFramePr>
        <p:xfrm>
          <a:off x="641352" y="2685143"/>
          <a:ext cx="3000000" cy="3000000"/>
        </p:xfrm>
        <a:graphic>
          <a:graphicData uri="http://schemas.openxmlformats.org/drawingml/2006/table">
            <a:tbl>
              <a:tblPr bandRow="1" firstRow="1">
                <a:noFill/>
                <a:tableStyleId>{C04B46AE-C267-40E6-921B-79CB94EFA5B4}</a:tableStyleId>
              </a:tblPr>
              <a:tblGrid>
                <a:gridCol w="1537975"/>
                <a:gridCol w="1537975"/>
                <a:gridCol w="1537975"/>
                <a:gridCol w="1537975"/>
                <a:gridCol w="1537975"/>
              </a:tblGrid>
              <a:tr h="4299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GRADE_LEVEL</a:t>
                      </a:r>
                      <a:endParaRPr sz="16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LOWEST_SAL</a:t>
                      </a:r>
                      <a:endParaRPr sz="16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HIGHEST_SAL</a:t>
                      </a:r>
                      <a:endParaRPr sz="16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857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Vargas</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2999</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Matos</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2600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2999</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3100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B</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5999</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B</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3000</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5999</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Lorentz</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B</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5999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B</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5999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Mourgos</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B</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5999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9999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5750">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24" name="Google Shape;124;p20"/>
          <p:cNvSpPr txBox="1"/>
          <p:nvPr/>
        </p:nvSpPr>
        <p:spPr>
          <a:xfrm>
            <a:off x="405384" y="1447800"/>
            <a:ext cx="8345805" cy="113284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833"/>
              </a:lnSpc>
              <a:spcBef>
                <a:spcPts val="0"/>
              </a:spcBef>
              <a:spcAft>
                <a:spcPts val="0"/>
              </a:spcAft>
              <a:buNone/>
            </a:pPr>
            <a:r>
              <a:rPr b="1" lang="en-US" sz="1800">
                <a:solidFill>
                  <a:srgbClr val="4E3629"/>
                </a:solidFill>
                <a:latin typeface="Courier New"/>
                <a:ea typeface="Courier New"/>
                <a:cs typeface="Courier New"/>
                <a:sym typeface="Courier New"/>
              </a:rPr>
              <a:t>SELECT last_name, salary, grade_level, lowest_sal,</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highest_sal</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job_grades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(salary BETWEEN lowest_sal AND highest_sal);</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Outer Join</a:t>
            </a:r>
            <a:endParaRPr/>
          </a:p>
        </p:txBody>
      </p:sp>
      <p:sp>
        <p:nvSpPr>
          <p:cNvPr id="130" name="Google Shape;130;p21"/>
          <p:cNvSpPr txBox="1"/>
          <p:nvPr/>
        </p:nvSpPr>
        <p:spPr>
          <a:xfrm>
            <a:off x="483552" y="1415417"/>
            <a:ext cx="7677784" cy="3242945"/>
          </a:xfrm>
          <a:prstGeom prst="rect">
            <a:avLst/>
          </a:prstGeom>
          <a:noFill/>
          <a:ln>
            <a:noFill/>
          </a:ln>
        </p:spPr>
        <p:txBody>
          <a:bodyPr anchorCtr="0" anchor="t" bIns="0" lIns="0" spcFirstLastPara="1" rIns="0" wrap="square" tIns="59675">
            <a:spAutoFit/>
          </a:bodyPr>
          <a:lstStyle/>
          <a:p>
            <a:pPr indent="-177800" lvl="0" marL="182880" marR="939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unión externa se utiliza para ver las filas que 	tengan un valor correspondiente en otra tabla, más 	aquellas filas de una de las tablas que no tengan 	ningún valor coincidente en la otra tabla</a:t>
            </a:r>
            <a:endParaRPr sz="2800">
              <a:latin typeface="Calibri"/>
              <a:ea typeface="Calibri"/>
              <a:cs typeface="Calibri"/>
              <a:sym typeface="Calibri"/>
            </a:endParaRPr>
          </a:p>
          <a:p>
            <a:pPr indent="-177800" lvl="0" marL="182880" marR="5080" rtl="0" algn="just">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indicar qué tabla puede tener datos que faltan 	mediante la sintaxis de unión de Oracle, agregue un 	signo más (+) después del nombre de columna de la 	tabla en la cláusula WHERE de la consulta</a:t>
            </a:r>
            <a:endParaRPr sz="2800">
              <a:latin typeface="Calibri"/>
              <a:ea typeface="Calibri"/>
              <a:cs typeface="Calibri"/>
              <a:sym typeface="Calibri"/>
            </a:endParaRPr>
          </a:p>
        </p:txBody>
      </p:sp>
      <p:pic>
        <p:nvPicPr>
          <p:cNvPr id="131" name="Google Shape;131;p21"/>
          <p:cNvPicPr preferRelativeResize="0"/>
          <p:nvPr/>
        </p:nvPicPr>
        <p:blipFill rotWithShape="1">
          <a:blip r:embed="rId3">
            <a:alphaModFix/>
          </a:blip>
          <a:srcRect b="0" l="0" r="0" t="0"/>
          <a:stretch/>
        </p:blipFill>
        <p:spPr>
          <a:xfrm>
            <a:off x="6816852" y="4628388"/>
            <a:ext cx="1929383" cy="1545335"/>
          </a:xfrm>
          <a:prstGeom prst="rect">
            <a:avLst/>
          </a:prstGeom>
          <a:noFill/>
          <a:ln>
            <a:noFill/>
          </a:ln>
        </p:spPr>
      </p:pic>
      <p:sp>
        <p:nvSpPr>
          <p:cNvPr id="132" name="Google Shape;132;p21"/>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133" name="Google Shape;133;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4" name="Google Shape;134;p21"/>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pSp>
        <p:nvGrpSpPr>
          <p:cNvPr id="139" name="Google Shape;139;p22"/>
          <p:cNvGrpSpPr/>
          <p:nvPr/>
        </p:nvGrpSpPr>
        <p:grpSpPr>
          <a:xfrm>
            <a:off x="4413503" y="1524761"/>
            <a:ext cx="4337685" cy="4419219"/>
            <a:chOff x="4413503" y="1524761"/>
            <a:chExt cx="4337685" cy="4419219"/>
          </a:xfrm>
        </p:grpSpPr>
        <p:sp>
          <p:nvSpPr>
            <p:cNvPr id="140" name="Google Shape;140;p22"/>
            <p:cNvSpPr/>
            <p:nvPr/>
          </p:nvSpPr>
          <p:spPr>
            <a:xfrm>
              <a:off x="4563236" y="5943980"/>
              <a:ext cx="19050" cy="0"/>
            </a:xfrm>
            <a:custGeom>
              <a:rect b="b" l="l" r="r" t="t"/>
              <a:pathLst>
                <a:path extrusionOk="0" h="120000" w="19050">
                  <a:moveTo>
                    <a:pt x="0" y="0"/>
                  </a:moveTo>
                  <a:lnTo>
                    <a:pt x="19050" y="0"/>
                  </a:lnTo>
                </a:path>
              </a:pathLst>
            </a:custGeom>
            <a:noFill/>
            <a:ln cap="flat" cmpd="sng" w="9525">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1" name="Google Shape;141;p22"/>
            <p:cNvSpPr/>
            <p:nvPr/>
          </p:nvSpPr>
          <p:spPr>
            <a:xfrm>
              <a:off x="4572761" y="1524761"/>
              <a:ext cx="0" cy="4156710"/>
            </a:xfrm>
            <a:custGeom>
              <a:rect b="b" l="l" r="r" t="t"/>
              <a:pathLst>
                <a:path extrusionOk="0" h="4156710" w="120000">
                  <a:moveTo>
                    <a:pt x="0" y="0"/>
                  </a:moveTo>
                  <a:lnTo>
                    <a:pt x="0" y="4156710"/>
                  </a:lnTo>
                </a:path>
              </a:pathLst>
            </a:custGeom>
            <a:noFill/>
            <a:ln cap="flat" cmpd="sng" w="1905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 name="Google Shape;142;p22"/>
            <p:cNvSpPr/>
            <p:nvPr/>
          </p:nvSpPr>
          <p:spPr>
            <a:xfrm>
              <a:off x="4413503" y="1530095"/>
              <a:ext cx="4337685" cy="1874520"/>
            </a:xfrm>
            <a:custGeom>
              <a:rect b="b" l="l" r="r" t="t"/>
              <a:pathLst>
                <a:path extrusionOk="0" h="1874520" w="4337684">
                  <a:moveTo>
                    <a:pt x="4337304" y="0"/>
                  </a:moveTo>
                  <a:lnTo>
                    <a:pt x="0" y="0"/>
                  </a:lnTo>
                  <a:lnTo>
                    <a:pt x="0" y="1874520"/>
                  </a:lnTo>
                  <a:lnTo>
                    <a:pt x="4337304" y="1874520"/>
                  </a:lnTo>
                  <a:lnTo>
                    <a:pt x="433730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43" name="Google Shape;143;p22"/>
          <p:cNvSpPr txBox="1"/>
          <p:nvPr/>
        </p:nvSpPr>
        <p:spPr>
          <a:xfrm>
            <a:off x="4400283" y="1878413"/>
            <a:ext cx="221107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d.department_id,</a:t>
            </a:r>
            <a:endParaRPr sz="1800">
              <a:latin typeface="Courier New"/>
              <a:ea typeface="Courier New"/>
              <a:cs typeface="Courier New"/>
              <a:sym typeface="Courier New"/>
            </a:endParaRPr>
          </a:p>
        </p:txBody>
      </p:sp>
      <p:sp>
        <p:nvSpPr>
          <p:cNvPr id="144" name="Google Shape;144;p22"/>
          <p:cNvSpPr txBox="1"/>
          <p:nvPr/>
        </p:nvSpPr>
        <p:spPr>
          <a:xfrm>
            <a:off x="4537443" y="2152733"/>
            <a:ext cx="234696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d.department_name</a:t>
            </a:r>
            <a:endParaRPr sz="1800">
              <a:latin typeface="Courier New"/>
              <a:ea typeface="Courier New"/>
              <a:cs typeface="Courier New"/>
              <a:sym typeface="Courier New"/>
            </a:endParaRPr>
          </a:p>
        </p:txBody>
      </p:sp>
      <p:sp>
        <p:nvSpPr>
          <p:cNvPr id="145" name="Google Shape;145;p22"/>
          <p:cNvSpPr txBox="1"/>
          <p:nvPr/>
        </p:nvSpPr>
        <p:spPr>
          <a:xfrm>
            <a:off x="4400283" y="2427053"/>
            <a:ext cx="425767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e, departments d</a:t>
            </a:r>
            <a:endParaRPr sz="1800">
              <a:latin typeface="Courier New"/>
              <a:ea typeface="Courier New"/>
              <a:cs typeface="Courier New"/>
              <a:sym typeface="Courier New"/>
            </a:endParaRPr>
          </a:p>
        </p:txBody>
      </p:sp>
      <p:sp>
        <p:nvSpPr>
          <p:cNvPr id="146" name="Google Shape;146;p22"/>
          <p:cNvSpPr txBox="1"/>
          <p:nvPr/>
        </p:nvSpPr>
        <p:spPr>
          <a:xfrm>
            <a:off x="4537443" y="2701373"/>
            <a:ext cx="316484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e.department_id =</a:t>
            </a:r>
            <a:endParaRPr sz="1800">
              <a:latin typeface="Courier New"/>
              <a:ea typeface="Courier New"/>
              <a:cs typeface="Courier New"/>
              <a:sym typeface="Courier New"/>
            </a:endParaRPr>
          </a:p>
        </p:txBody>
      </p:sp>
      <p:sp>
        <p:nvSpPr>
          <p:cNvPr id="147" name="Google Shape;147;p22"/>
          <p:cNvSpPr txBox="1"/>
          <p:nvPr/>
        </p:nvSpPr>
        <p:spPr>
          <a:xfrm>
            <a:off x="4947323" y="2975693"/>
            <a:ext cx="261620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d.department_id(+);</a:t>
            </a:r>
            <a:endParaRPr sz="1800">
              <a:latin typeface="Courier New"/>
              <a:ea typeface="Courier New"/>
              <a:cs typeface="Courier New"/>
              <a:sym typeface="Courier New"/>
            </a:endParaRPr>
          </a:p>
        </p:txBody>
      </p:sp>
      <p:sp>
        <p:nvSpPr>
          <p:cNvPr id="148" name="Google Shape;148;p22"/>
          <p:cNvSpPr txBox="1"/>
          <p:nvPr/>
        </p:nvSpPr>
        <p:spPr>
          <a:xfrm>
            <a:off x="483552" y="1491489"/>
            <a:ext cx="6537959" cy="452120"/>
          </a:xfrm>
          <a:prstGeom prst="rect">
            <a:avLst/>
          </a:prstGeom>
          <a:noFill/>
          <a:ln>
            <a:noFill/>
          </a:ln>
        </p:spPr>
        <p:txBody>
          <a:bodyPr anchorCtr="0" anchor="t" bIns="0" lIns="0" spcFirstLastPara="1" rIns="0" wrap="square" tIns="12050">
            <a:spAutoFit/>
          </a:bodyPr>
          <a:lstStyle/>
          <a:p>
            <a:pPr indent="-456565" lvl="0" marL="46926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consulta devolverá </a:t>
            </a:r>
            <a:r>
              <a:rPr b="1" baseline="30000" lang="en-US" sz="2700">
                <a:solidFill>
                  <a:srgbClr val="4E3629"/>
                </a:solidFill>
                <a:latin typeface="Courier New"/>
                <a:ea typeface="Courier New"/>
                <a:cs typeface="Courier New"/>
                <a:sym typeface="Courier New"/>
              </a:rPr>
              <a:t>SELECT e.last_name,</a:t>
            </a:r>
            <a:endParaRPr baseline="30000" sz="2700">
              <a:latin typeface="Courier New"/>
              <a:ea typeface="Courier New"/>
              <a:cs typeface="Courier New"/>
              <a:sym typeface="Courier New"/>
            </a:endParaRPr>
          </a:p>
        </p:txBody>
      </p:sp>
      <p:sp>
        <p:nvSpPr>
          <p:cNvPr id="149" name="Google Shape;149;p22"/>
          <p:cNvSpPr txBox="1"/>
          <p:nvPr/>
        </p:nvSpPr>
        <p:spPr>
          <a:xfrm>
            <a:off x="483393" y="1875698"/>
            <a:ext cx="3749040" cy="4011929"/>
          </a:xfrm>
          <a:prstGeom prst="rect">
            <a:avLst/>
          </a:prstGeom>
          <a:noFill/>
          <a:ln>
            <a:noFill/>
          </a:ln>
        </p:spPr>
        <p:txBody>
          <a:bodyPr anchorCtr="0" anchor="t" bIns="0" lIns="0" spcFirstLastPara="1" rIns="0" wrap="square" tIns="59675">
            <a:spAutoFit/>
          </a:bodyPr>
          <a:lstStyle/>
          <a:p>
            <a:pPr indent="0" lvl="0" marL="469900" marR="67945" rtl="0" algn="l">
              <a:lnSpc>
                <a:spcPct val="108214"/>
              </a:lnSpc>
              <a:spcBef>
                <a:spcPts val="0"/>
              </a:spcBef>
              <a:spcAft>
                <a:spcPts val="0"/>
              </a:spcAft>
              <a:buNone/>
            </a:pPr>
            <a:r>
              <a:rPr lang="en-US" sz="2800">
                <a:solidFill>
                  <a:srgbClr val="4E3629"/>
                </a:solidFill>
                <a:latin typeface="Calibri"/>
                <a:ea typeface="Calibri"/>
                <a:cs typeface="Calibri"/>
                <a:sym typeface="Calibri"/>
              </a:rPr>
              <a:t>los apellidos de todos los empleados, incluidos aquellos que estén asignados a un departamento y los que no</a:t>
            </a:r>
            <a:endParaRPr sz="2800">
              <a:latin typeface="Calibri"/>
              <a:ea typeface="Calibri"/>
              <a:cs typeface="Calibri"/>
              <a:sym typeface="Calibri"/>
            </a:endParaRPr>
          </a:p>
          <a:p>
            <a:pPr indent="-457834" lvl="0" marL="46990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podrían obtener los mismos resultados mediante ANSI LEFT OUTER JOIN</a:t>
            </a:r>
            <a:endParaRPr sz="2800">
              <a:latin typeface="Calibri"/>
              <a:ea typeface="Calibri"/>
              <a:cs typeface="Calibri"/>
              <a:sym typeface="Calibri"/>
            </a:endParaRPr>
          </a:p>
        </p:txBody>
      </p:sp>
      <p:sp>
        <p:nvSpPr>
          <p:cNvPr id="150" name="Google Shape;150;p22"/>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Left Outer Join</a:t>
            </a:r>
            <a:endParaRPr/>
          </a:p>
        </p:txBody>
      </p:sp>
      <p:grpSp>
        <p:nvGrpSpPr>
          <p:cNvPr id="151" name="Google Shape;151;p22"/>
          <p:cNvGrpSpPr/>
          <p:nvPr/>
        </p:nvGrpSpPr>
        <p:grpSpPr>
          <a:xfrm>
            <a:off x="4408176" y="3790397"/>
            <a:ext cx="4349750" cy="2159635"/>
            <a:chOff x="4408176" y="3790397"/>
            <a:chExt cx="4349750" cy="2159635"/>
          </a:xfrm>
        </p:grpSpPr>
        <p:sp>
          <p:nvSpPr>
            <p:cNvPr id="152" name="Google Shape;152;p22"/>
            <p:cNvSpPr/>
            <p:nvPr/>
          </p:nvSpPr>
          <p:spPr>
            <a:xfrm>
              <a:off x="4414520" y="5681472"/>
              <a:ext cx="4337050" cy="262255"/>
            </a:xfrm>
            <a:custGeom>
              <a:rect b="b" l="l" r="r" t="t"/>
              <a:pathLst>
                <a:path extrusionOk="0" h="262254" w="4337050">
                  <a:moveTo>
                    <a:pt x="4336707" y="0"/>
                  </a:moveTo>
                  <a:lnTo>
                    <a:pt x="2891307" y="0"/>
                  </a:lnTo>
                  <a:lnTo>
                    <a:pt x="1501101" y="0"/>
                  </a:lnTo>
                  <a:lnTo>
                    <a:pt x="0" y="0"/>
                  </a:lnTo>
                  <a:lnTo>
                    <a:pt x="0" y="262128"/>
                  </a:lnTo>
                  <a:lnTo>
                    <a:pt x="1501101" y="262128"/>
                  </a:lnTo>
                  <a:lnTo>
                    <a:pt x="2891307" y="262128"/>
                  </a:lnTo>
                  <a:lnTo>
                    <a:pt x="4336707" y="262128"/>
                  </a:lnTo>
                  <a:lnTo>
                    <a:pt x="4336707"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 name="Google Shape;153;p22"/>
            <p:cNvSpPr/>
            <p:nvPr/>
          </p:nvSpPr>
          <p:spPr>
            <a:xfrm>
              <a:off x="5915621" y="3790397"/>
              <a:ext cx="0" cy="2159635"/>
            </a:xfrm>
            <a:custGeom>
              <a:rect b="b" l="l" r="r" t="t"/>
              <a:pathLst>
                <a:path extrusionOk="0" h="2159635" w="120000">
                  <a:moveTo>
                    <a:pt x="0" y="0"/>
                  </a:moveTo>
                  <a:lnTo>
                    <a:pt x="0" y="2159558"/>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4" name="Google Shape;154;p22"/>
            <p:cNvSpPr/>
            <p:nvPr/>
          </p:nvSpPr>
          <p:spPr>
            <a:xfrm>
              <a:off x="7305833" y="3790397"/>
              <a:ext cx="0" cy="2159635"/>
            </a:xfrm>
            <a:custGeom>
              <a:rect b="b" l="l" r="r" t="t"/>
              <a:pathLst>
                <a:path extrusionOk="0" h="2159635" w="120000">
                  <a:moveTo>
                    <a:pt x="0" y="0"/>
                  </a:moveTo>
                  <a:lnTo>
                    <a:pt x="0" y="2159558"/>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5" name="Google Shape;155;p22"/>
            <p:cNvSpPr/>
            <p:nvPr/>
          </p:nvSpPr>
          <p:spPr>
            <a:xfrm>
              <a:off x="4408176" y="4065992"/>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6" name="Google Shape;156;p22"/>
            <p:cNvSpPr/>
            <p:nvPr/>
          </p:nvSpPr>
          <p:spPr>
            <a:xfrm>
              <a:off x="4408176" y="4335239"/>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7" name="Google Shape;157;p22"/>
            <p:cNvSpPr/>
            <p:nvPr/>
          </p:nvSpPr>
          <p:spPr>
            <a:xfrm>
              <a:off x="4408176" y="4604485"/>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8" name="Google Shape;158;p22"/>
            <p:cNvSpPr/>
            <p:nvPr/>
          </p:nvSpPr>
          <p:spPr>
            <a:xfrm>
              <a:off x="4408176" y="4873730"/>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9" name="Google Shape;159;p22"/>
            <p:cNvSpPr/>
            <p:nvPr/>
          </p:nvSpPr>
          <p:spPr>
            <a:xfrm>
              <a:off x="4408176" y="5142976"/>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0" name="Google Shape;160;p22"/>
            <p:cNvSpPr/>
            <p:nvPr/>
          </p:nvSpPr>
          <p:spPr>
            <a:xfrm>
              <a:off x="4408176" y="5412223"/>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1" name="Google Shape;161;p22"/>
            <p:cNvSpPr/>
            <p:nvPr/>
          </p:nvSpPr>
          <p:spPr>
            <a:xfrm>
              <a:off x="4408176" y="5681469"/>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2" name="Google Shape;162;p22"/>
            <p:cNvSpPr/>
            <p:nvPr/>
          </p:nvSpPr>
          <p:spPr>
            <a:xfrm>
              <a:off x="4414526" y="3790397"/>
              <a:ext cx="0" cy="2159635"/>
            </a:xfrm>
            <a:custGeom>
              <a:rect b="b" l="l" r="r" t="t"/>
              <a:pathLst>
                <a:path extrusionOk="0" h="2159635" w="120000">
                  <a:moveTo>
                    <a:pt x="0" y="0"/>
                  </a:moveTo>
                  <a:lnTo>
                    <a:pt x="0" y="2159558"/>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3" name="Google Shape;163;p22"/>
            <p:cNvSpPr/>
            <p:nvPr/>
          </p:nvSpPr>
          <p:spPr>
            <a:xfrm>
              <a:off x="8751233" y="3790397"/>
              <a:ext cx="0" cy="2159635"/>
            </a:xfrm>
            <a:custGeom>
              <a:rect b="b" l="l" r="r" t="t"/>
              <a:pathLst>
                <a:path extrusionOk="0" h="2159635" w="120000">
                  <a:moveTo>
                    <a:pt x="0" y="0"/>
                  </a:moveTo>
                  <a:lnTo>
                    <a:pt x="0" y="2159558"/>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4" name="Google Shape;164;p22"/>
            <p:cNvSpPr/>
            <p:nvPr/>
          </p:nvSpPr>
          <p:spPr>
            <a:xfrm>
              <a:off x="4408176" y="3796747"/>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5" name="Google Shape;165;p22"/>
            <p:cNvSpPr/>
            <p:nvPr/>
          </p:nvSpPr>
          <p:spPr>
            <a:xfrm>
              <a:off x="4408176" y="5943601"/>
              <a:ext cx="4349750" cy="0"/>
            </a:xfrm>
            <a:custGeom>
              <a:rect b="b" l="l" r="r" t="t"/>
              <a:pathLst>
                <a:path extrusionOk="0" h="120000" w="4349750">
                  <a:moveTo>
                    <a:pt x="0" y="0"/>
                  </a:moveTo>
                  <a:lnTo>
                    <a:pt x="4349407" y="0"/>
                  </a:lnTo>
                </a:path>
              </a:pathLst>
            </a:custGeom>
            <a:noFill/>
            <a:ln cap="flat" cmpd="sng" w="127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66" name="Google Shape;166;p22"/>
          <p:cNvSpPr txBox="1"/>
          <p:nvPr/>
        </p:nvSpPr>
        <p:spPr>
          <a:xfrm>
            <a:off x="4414526" y="3786082"/>
            <a:ext cx="10629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LAST_NAME</a:t>
            </a:r>
            <a:endParaRPr sz="1600">
              <a:latin typeface="Calibri"/>
              <a:ea typeface="Calibri"/>
              <a:cs typeface="Calibri"/>
              <a:sym typeface="Calibri"/>
            </a:endParaRPr>
          </a:p>
        </p:txBody>
      </p:sp>
      <p:sp>
        <p:nvSpPr>
          <p:cNvPr id="167" name="Google Shape;167;p22"/>
          <p:cNvSpPr txBox="1"/>
          <p:nvPr/>
        </p:nvSpPr>
        <p:spPr>
          <a:xfrm>
            <a:off x="5915663" y="3786082"/>
            <a:ext cx="74295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DEPT_ID</a:t>
            </a:r>
            <a:endParaRPr sz="1600">
              <a:latin typeface="Calibri"/>
              <a:ea typeface="Calibri"/>
              <a:cs typeface="Calibri"/>
              <a:sym typeface="Calibri"/>
            </a:endParaRPr>
          </a:p>
        </p:txBody>
      </p:sp>
      <p:sp>
        <p:nvSpPr>
          <p:cNvPr id="168" name="Google Shape;168;p22"/>
          <p:cNvSpPr txBox="1"/>
          <p:nvPr/>
        </p:nvSpPr>
        <p:spPr>
          <a:xfrm>
            <a:off x="7305927" y="3786082"/>
            <a:ext cx="109537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DEPT_NAME</a:t>
            </a:r>
            <a:endParaRPr sz="1600">
              <a:latin typeface="Calibri"/>
              <a:ea typeface="Calibri"/>
              <a:cs typeface="Calibri"/>
              <a:sym typeface="Calibri"/>
            </a:endParaRPr>
          </a:p>
        </p:txBody>
      </p:sp>
      <p:sp>
        <p:nvSpPr>
          <p:cNvPr id="169" name="Google Shape;169;p22"/>
          <p:cNvSpPr txBox="1"/>
          <p:nvPr/>
        </p:nvSpPr>
        <p:spPr>
          <a:xfrm>
            <a:off x="4414526" y="4055257"/>
            <a:ext cx="66357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Whalen</a:t>
            </a:r>
            <a:endParaRPr sz="1600">
              <a:latin typeface="Calibri"/>
              <a:ea typeface="Calibri"/>
              <a:cs typeface="Calibri"/>
              <a:sym typeface="Calibri"/>
            </a:endParaRPr>
          </a:p>
        </p:txBody>
      </p:sp>
      <p:sp>
        <p:nvSpPr>
          <p:cNvPr id="170" name="Google Shape;170;p22"/>
          <p:cNvSpPr txBox="1"/>
          <p:nvPr/>
        </p:nvSpPr>
        <p:spPr>
          <a:xfrm>
            <a:off x="5915663" y="4055257"/>
            <a:ext cx="2298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10</a:t>
            </a:r>
            <a:endParaRPr sz="1600">
              <a:latin typeface="Calibri"/>
              <a:ea typeface="Calibri"/>
              <a:cs typeface="Calibri"/>
              <a:sym typeface="Calibri"/>
            </a:endParaRPr>
          </a:p>
        </p:txBody>
      </p:sp>
      <p:sp>
        <p:nvSpPr>
          <p:cNvPr id="171" name="Google Shape;171;p22"/>
          <p:cNvSpPr txBox="1"/>
          <p:nvPr/>
        </p:nvSpPr>
        <p:spPr>
          <a:xfrm>
            <a:off x="7305927" y="4055257"/>
            <a:ext cx="124968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Administration</a:t>
            </a:r>
            <a:endParaRPr sz="1600">
              <a:latin typeface="Calibri"/>
              <a:ea typeface="Calibri"/>
              <a:cs typeface="Calibri"/>
              <a:sym typeface="Calibri"/>
            </a:endParaRPr>
          </a:p>
        </p:txBody>
      </p:sp>
      <p:sp>
        <p:nvSpPr>
          <p:cNvPr id="172" name="Google Shape;172;p22"/>
          <p:cNvSpPr txBox="1"/>
          <p:nvPr/>
        </p:nvSpPr>
        <p:spPr>
          <a:xfrm>
            <a:off x="4414526" y="4324432"/>
            <a:ext cx="29908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Fay</a:t>
            </a:r>
            <a:endParaRPr sz="1600">
              <a:latin typeface="Calibri"/>
              <a:ea typeface="Calibri"/>
              <a:cs typeface="Calibri"/>
              <a:sym typeface="Calibri"/>
            </a:endParaRPr>
          </a:p>
        </p:txBody>
      </p:sp>
      <p:sp>
        <p:nvSpPr>
          <p:cNvPr id="173" name="Google Shape;173;p22"/>
          <p:cNvSpPr txBox="1"/>
          <p:nvPr/>
        </p:nvSpPr>
        <p:spPr>
          <a:xfrm>
            <a:off x="5915663" y="4324432"/>
            <a:ext cx="2298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20</a:t>
            </a:r>
            <a:endParaRPr sz="1600">
              <a:latin typeface="Calibri"/>
              <a:ea typeface="Calibri"/>
              <a:cs typeface="Calibri"/>
              <a:sym typeface="Calibri"/>
            </a:endParaRPr>
          </a:p>
        </p:txBody>
      </p:sp>
      <p:sp>
        <p:nvSpPr>
          <p:cNvPr id="174" name="Google Shape;174;p22"/>
          <p:cNvSpPr txBox="1"/>
          <p:nvPr/>
        </p:nvSpPr>
        <p:spPr>
          <a:xfrm>
            <a:off x="7305927" y="4324432"/>
            <a:ext cx="86931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Marketing</a:t>
            </a:r>
            <a:endParaRPr sz="1600">
              <a:latin typeface="Calibri"/>
              <a:ea typeface="Calibri"/>
              <a:cs typeface="Calibri"/>
              <a:sym typeface="Calibri"/>
            </a:endParaRPr>
          </a:p>
        </p:txBody>
      </p:sp>
      <p:sp>
        <p:nvSpPr>
          <p:cNvPr id="175" name="Google Shape;175;p22"/>
          <p:cNvSpPr txBox="1"/>
          <p:nvPr/>
        </p:nvSpPr>
        <p:spPr>
          <a:xfrm>
            <a:off x="4414526" y="4593607"/>
            <a:ext cx="78740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Hartstein</a:t>
            </a:r>
            <a:endParaRPr sz="1600">
              <a:latin typeface="Calibri"/>
              <a:ea typeface="Calibri"/>
              <a:cs typeface="Calibri"/>
              <a:sym typeface="Calibri"/>
            </a:endParaRPr>
          </a:p>
        </p:txBody>
      </p:sp>
      <p:sp>
        <p:nvSpPr>
          <p:cNvPr id="176" name="Google Shape;176;p22"/>
          <p:cNvSpPr txBox="1"/>
          <p:nvPr/>
        </p:nvSpPr>
        <p:spPr>
          <a:xfrm>
            <a:off x="5915663" y="4593607"/>
            <a:ext cx="2298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20</a:t>
            </a:r>
            <a:endParaRPr sz="1600">
              <a:latin typeface="Calibri"/>
              <a:ea typeface="Calibri"/>
              <a:cs typeface="Calibri"/>
              <a:sym typeface="Calibri"/>
            </a:endParaRPr>
          </a:p>
        </p:txBody>
      </p:sp>
      <p:sp>
        <p:nvSpPr>
          <p:cNvPr id="177" name="Google Shape;177;p22"/>
          <p:cNvSpPr txBox="1"/>
          <p:nvPr/>
        </p:nvSpPr>
        <p:spPr>
          <a:xfrm>
            <a:off x="7305927" y="4593607"/>
            <a:ext cx="86931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Marketing</a:t>
            </a:r>
            <a:endParaRPr sz="1600">
              <a:latin typeface="Calibri"/>
              <a:ea typeface="Calibri"/>
              <a:cs typeface="Calibri"/>
              <a:sym typeface="Calibri"/>
            </a:endParaRPr>
          </a:p>
        </p:txBody>
      </p:sp>
      <p:sp>
        <p:nvSpPr>
          <p:cNvPr id="178" name="Google Shape;178;p22"/>
          <p:cNvSpPr txBox="1"/>
          <p:nvPr/>
        </p:nvSpPr>
        <p:spPr>
          <a:xfrm>
            <a:off x="4414526" y="4861363"/>
            <a:ext cx="56388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Vargas</a:t>
            </a:r>
            <a:endParaRPr sz="1600">
              <a:latin typeface="Calibri"/>
              <a:ea typeface="Calibri"/>
              <a:cs typeface="Calibri"/>
              <a:sym typeface="Calibri"/>
            </a:endParaRPr>
          </a:p>
        </p:txBody>
      </p:sp>
      <p:sp>
        <p:nvSpPr>
          <p:cNvPr id="179" name="Google Shape;179;p22"/>
          <p:cNvSpPr txBox="1"/>
          <p:nvPr/>
        </p:nvSpPr>
        <p:spPr>
          <a:xfrm>
            <a:off x="5915663" y="4862984"/>
            <a:ext cx="22987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50</a:t>
            </a:r>
            <a:endParaRPr sz="1600">
              <a:latin typeface="Calibri"/>
              <a:ea typeface="Calibri"/>
              <a:cs typeface="Calibri"/>
              <a:sym typeface="Calibri"/>
            </a:endParaRPr>
          </a:p>
        </p:txBody>
      </p:sp>
      <p:sp>
        <p:nvSpPr>
          <p:cNvPr id="180" name="Google Shape;180;p22"/>
          <p:cNvSpPr txBox="1"/>
          <p:nvPr/>
        </p:nvSpPr>
        <p:spPr>
          <a:xfrm>
            <a:off x="7305927" y="4862984"/>
            <a:ext cx="73533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Shipping</a:t>
            </a:r>
            <a:endParaRPr sz="1600">
              <a:latin typeface="Calibri"/>
              <a:ea typeface="Calibri"/>
              <a:cs typeface="Calibri"/>
              <a:sym typeface="Calibri"/>
            </a:endParaRPr>
          </a:p>
        </p:txBody>
      </p:sp>
      <p:sp>
        <p:nvSpPr>
          <p:cNvPr id="181" name="Google Shape;181;p22"/>
          <p:cNvSpPr txBox="1"/>
          <p:nvPr/>
        </p:nvSpPr>
        <p:spPr>
          <a:xfrm>
            <a:off x="4460334" y="5132159"/>
            <a:ext cx="16573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a:t>
            </a:r>
            <a:endParaRPr sz="1600">
              <a:latin typeface="Calibri"/>
              <a:ea typeface="Calibri"/>
              <a:cs typeface="Calibri"/>
              <a:sym typeface="Calibri"/>
            </a:endParaRPr>
          </a:p>
        </p:txBody>
      </p:sp>
      <p:sp>
        <p:nvSpPr>
          <p:cNvPr id="182" name="Google Shape;182;p22"/>
          <p:cNvSpPr txBox="1"/>
          <p:nvPr/>
        </p:nvSpPr>
        <p:spPr>
          <a:xfrm>
            <a:off x="4414526" y="5401334"/>
            <a:ext cx="62611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Higgins</a:t>
            </a:r>
            <a:endParaRPr sz="1600">
              <a:latin typeface="Calibri"/>
              <a:ea typeface="Calibri"/>
              <a:cs typeface="Calibri"/>
              <a:sym typeface="Calibri"/>
            </a:endParaRPr>
          </a:p>
        </p:txBody>
      </p:sp>
      <p:sp>
        <p:nvSpPr>
          <p:cNvPr id="183" name="Google Shape;183;p22"/>
          <p:cNvSpPr txBox="1"/>
          <p:nvPr/>
        </p:nvSpPr>
        <p:spPr>
          <a:xfrm>
            <a:off x="5915663" y="5401334"/>
            <a:ext cx="33210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110</a:t>
            </a:r>
            <a:endParaRPr sz="1600">
              <a:latin typeface="Calibri"/>
              <a:ea typeface="Calibri"/>
              <a:cs typeface="Calibri"/>
              <a:sym typeface="Calibri"/>
            </a:endParaRPr>
          </a:p>
        </p:txBody>
      </p:sp>
      <p:sp>
        <p:nvSpPr>
          <p:cNvPr id="184" name="Google Shape;184;p22"/>
          <p:cNvSpPr txBox="1"/>
          <p:nvPr/>
        </p:nvSpPr>
        <p:spPr>
          <a:xfrm>
            <a:off x="7305927" y="5401334"/>
            <a:ext cx="9486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4E3629"/>
                </a:solidFill>
                <a:latin typeface="Calibri"/>
                <a:ea typeface="Calibri"/>
                <a:cs typeface="Calibri"/>
                <a:sym typeface="Calibri"/>
              </a:rPr>
              <a:t>Accounting</a:t>
            </a:r>
            <a:endParaRPr sz="1600">
              <a:latin typeface="Calibri"/>
              <a:ea typeface="Calibri"/>
              <a:cs typeface="Calibri"/>
              <a:sym typeface="Calibri"/>
            </a:endParaRPr>
          </a:p>
        </p:txBody>
      </p:sp>
      <p:sp>
        <p:nvSpPr>
          <p:cNvPr id="185" name="Google Shape;185;p22"/>
          <p:cNvSpPr txBox="1"/>
          <p:nvPr/>
        </p:nvSpPr>
        <p:spPr>
          <a:xfrm>
            <a:off x="4411080" y="5667063"/>
            <a:ext cx="48958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FFFFFF"/>
                </a:solidFill>
                <a:latin typeface="Calibri"/>
                <a:ea typeface="Calibri"/>
                <a:cs typeface="Calibri"/>
                <a:sym typeface="Calibri"/>
              </a:rPr>
              <a:t>Grant</a:t>
            </a:r>
            <a:endParaRPr sz="1600">
              <a:latin typeface="Calibri"/>
              <a:ea typeface="Calibri"/>
              <a:cs typeface="Calibri"/>
              <a:sym typeface="Calibri"/>
            </a:endParaRPr>
          </a:p>
        </p:txBody>
      </p:sp>
      <p:sp>
        <p:nvSpPr>
          <p:cNvPr id="186" name="Google Shape;186;p22"/>
          <p:cNvSpPr txBox="1"/>
          <p:nvPr/>
        </p:nvSpPr>
        <p:spPr>
          <a:xfrm>
            <a:off x="5957823" y="5667063"/>
            <a:ext cx="8763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FFFFFF"/>
                </a:solidFill>
                <a:latin typeface="Calibri"/>
                <a:ea typeface="Calibri"/>
                <a:cs typeface="Calibri"/>
                <a:sym typeface="Calibri"/>
              </a:rPr>
              <a:t>-</a:t>
            </a:r>
            <a:endParaRPr sz="1600">
              <a:latin typeface="Calibri"/>
              <a:ea typeface="Calibri"/>
              <a:cs typeface="Calibri"/>
              <a:sym typeface="Calibri"/>
            </a:endParaRPr>
          </a:p>
        </p:txBody>
      </p:sp>
      <p:sp>
        <p:nvSpPr>
          <p:cNvPr id="187" name="Google Shape;187;p22"/>
          <p:cNvSpPr txBox="1"/>
          <p:nvPr/>
        </p:nvSpPr>
        <p:spPr>
          <a:xfrm>
            <a:off x="7348087" y="5667063"/>
            <a:ext cx="8763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600">
                <a:solidFill>
                  <a:srgbClr val="FFFFFF"/>
                </a:solidFill>
                <a:latin typeface="Calibri"/>
                <a:ea typeface="Calibri"/>
                <a:cs typeface="Calibri"/>
                <a:sym typeface="Calibri"/>
              </a:rPr>
              <a:t>-</a:t>
            </a:r>
            <a:endParaRPr sz="1600">
              <a:latin typeface="Calibri"/>
              <a:ea typeface="Calibri"/>
              <a:cs typeface="Calibri"/>
              <a:sym typeface="Calibri"/>
            </a:endParaRPr>
          </a:p>
        </p:txBody>
      </p:sp>
      <p:sp>
        <p:nvSpPr>
          <p:cNvPr id="188" name="Google Shape;188;p22"/>
          <p:cNvSpPr/>
          <p:nvPr/>
        </p:nvSpPr>
        <p:spPr>
          <a:xfrm>
            <a:off x="4458461" y="2733294"/>
            <a:ext cx="3304540" cy="579120"/>
          </a:xfrm>
          <a:custGeom>
            <a:rect b="b" l="l" r="r" t="t"/>
            <a:pathLst>
              <a:path extrusionOk="0" h="579120" w="3304540">
                <a:moveTo>
                  <a:pt x="0" y="0"/>
                </a:moveTo>
                <a:lnTo>
                  <a:pt x="3304032" y="0"/>
                </a:lnTo>
                <a:lnTo>
                  <a:pt x="3304032" y="579120"/>
                </a:lnTo>
                <a:lnTo>
                  <a:pt x="0" y="579120"/>
                </a:lnTo>
                <a:lnTo>
                  <a:pt x="0" y="0"/>
                </a:lnTo>
                <a:close/>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9" name="Google Shape;189;p22"/>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190" name="Google Shape;190;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1" name="Google Shape;191;p22"/>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nvSpPr>
        <p:spPr>
          <a:xfrm>
            <a:off x="483552" y="1323389"/>
            <a:ext cx="3754120" cy="4779010"/>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unión externa devolvería todos los ID de departamento y los nombres de departamento, tanto aquellos que tengan empleados asignados como los que no</a:t>
            </a:r>
            <a:endParaRPr sz="2800">
              <a:latin typeface="Calibri"/>
              <a:ea typeface="Calibri"/>
              <a:cs typeface="Calibri"/>
              <a:sym typeface="Calibri"/>
            </a:endParaRPr>
          </a:p>
          <a:p>
            <a:pPr indent="-457200" lvl="0" marL="469900" marR="10160" rtl="0" algn="l">
              <a:lnSpc>
                <a:spcPct val="108214"/>
              </a:lnSpc>
              <a:spcBef>
                <a:spcPts val="75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podrían obtener los mismos resultados mediante ANSI RIGHT OUTER JOIN</a:t>
            </a:r>
            <a:endParaRPr sz="2800">
              <a:latin typeface="Calibri"/>
              <a:ea typeface="Calibri"/>
              <a:cs typeface="Calibri"/>
              <a:sym typeface="Calibri"/>
            </a:endParaRPr>
          </a:p>
        </p:txBody>
      </p:sp>
      <p:sp>
        <p:nvSpPr>
          <p:cNvPr id="197" name="Google Shape;197;p23"/>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198" name="Google Shape;198;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9" name="Google Shape;199;p23"/>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00" name="Google Shape;200;p23"/>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Right Outer Join</a:t>
            </a:r>
            <a:endParaRPr/>
          </a:p>
        </p:txBody>
      </p:sp>
      <p:graphicFrame>
        <p:nvGraphicFramePr>
          <p:cNvPr id="201" name="Google Shape;201;p23"/>
          <p:cNvGraphicFramePr/>
          <p:nvPr/>
        </p:nvGraphicFramePr>
        <p:xfrm>
          <a:off x="4393933" y="1362455"/>
          <a:ext cx="3000000" cy="3000000"/>
        </p:xfrm>
        <a:graphic>
          <a:graphicData uri="http://schemas.openxmlformats.org/drawingml/2006/table">
            <a:tbl>
              <a:tblPr bandRow="1" firstRow="1">
                <a:noFill/>
                <a:tableStyleId>{C04B46AE-C267-40E6-921B-79CB94EFA5B4}</a:tableStyleId>
              </a:tblPr>
              <a:tblGrid>
                <a:gridCol w="281300"/>
                <a:gridCol w="1259200"/>
                <a:gridCol w="1453525"/>
                <a:gridCol w="981700"/>
                <a:gridCol w="487050"/>
              </a:tblGrid>
              <a:tr h="161925">
                <a:tc gridSpan="5">
                  <a:txBody>
                    <a:bodyPr/>
                    <a:lstStyle/>
                    <a:p>
                      <a:pPr indent="0" lvl="0" marL="0" marR="0" rtl="0" algn="l">
                        <a:lnSpc>
                          <a:spcPct val="100000"/>
                        </a:lnSpc>
                        <a:spcBef>
                          <a:spcPts val="0"/>
                        </a:spcBef>
                        <a:spcAft>
                          <a:spcPts val="0"/>
                        </a:spcAft>
                        <a:buNone/>
                      </a:pPr>
                      <a:r>
                        <a:t/>
                      </a:r>
                      <a:endParaRPr sz="900" u="none" cap="none" strike="noStrike">
                        <a:latin typeface="Times New Roman"/>
                        <a:ea typeface="Times New Roman"/>
                        <a:cs typeface="Times New Roman"/>
                        <a:sym typeface="Times New Roman"/>
                      </a:endParaRPr>
                    </a:p>
                  </a:txBody>
                  <a:tcPr marT="0" marB="0" marR="0" marL="0">
                    <a:solidFill>
                      <a:srgbClr val="9DBDC4">
                        <a:alpha val="49804"/>
                      </a:srgbClr>
                    </a:solidFill>
                  </a:tcPr>
                </a:tc>
                <a:tc hMerge="1"/>
                <a:tc hMerge="1"/>
                <a:tc hMerge="1"/>
                <a:tc hMerge="1"/>
              </a:tr>
              <a:tr h="1038850">
                <a:tc>
                  <a:txBody>
                    <a:bodyPr/>
                    <a:lstStyle/>
                    <a:p>
                      <a:pPr indent="0" lvl="0" marL="0" marR="0" rtl="0" algn="l">
                        <a:lnSpc>
                          <a:spcPct val="8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a:t>
                      </a:r>
                      <a:endParaRPr sz="1800" u="none" cap="none" strike="noStrike">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a:t>
                      </a:r>
                      <a:endParaRPr sz="1800" u="none" cap="none" strike="noStrike">
                        <a:latin typeface="Courier New"/>
                        <a:ea typeface="Courier New"/>
                        <a:cs typeface="Courier New"/>
                        <a:sym typeface="Courier New"/>
                      </a:endParaRPr>
                    </a:p>
                    <a:p>
                      <a:pPr indent="0" lvl="0" marL="0" marR="130810" rtl="0" algn="l">
                        <a:lnSpc>
                          <a:spcPct val="100000"/>
                        </a:lnSpc>
                        <a:spcBef>
                          <a:spcPts val="9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FR</a:t>
                      </a:r>
                      <a:endParaRPr sz="1800" u="none" cap="none" strike="noStrike">
                        <a:latin typeface="Courier New"/>
                        <a:ea typeface="Courier New"/>
                        <a:cs typeface="Courier New"/>
                        <a:sym typeface="Courier New"/>
                      </a:endParaRPr>
                    </a:p>
                  </a:txBody>
                  <a:tcPr marT="0" marB="0" marR="0" marL="0">
                    <a:lnR cap="flat" cmpd="sng" w="19050">
                      <a:solidFill>
                        <a:srgbClr val="DFE1E0"/>
                      </a:solidFill>
                      <a:prstDash val="solid"/>
                      <a:round/>
                      <a:headEnd len="sm" w="sm" type="none"/>
                      <a:tailEnd len="sm" w="sm" type="none"/>
                    </a:lnR>
                    <a:lnB cap="flat" cmpd="sng" w="38100">
                      <a:solidFill>
                        <a:srgbClr val="D1350F"/>
                      </a:solidFill>
                      <a:prstDash val="solid"/>
                      <a:round/>
                      <a:headEnd len="sm" w="sm" type="none"/>
                      <a:tailEnd len="sm" w="sm" type="none"/>
                    </a:lnB>
                    <a:solidFill>
                      <a:srgbClr val="9DBDC4">
                        <a:alpha val="49804"/>
                      </a:srgbClr>
                    </a:solidFill>
                  </a:tcPr>
                </a:tc>
                <a:tc gridSpan="4">
                  <a:txBody>
                    <a:bodyPr/>
                    <a:lstStyle/>
                    <a:p>
                      <a:pPr indent="0" lvl="0" marL="129539" marR="0" rtl="0" algn="l">
                        <a:lnSpc>
                          <a:spcPct val="8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LECT e.last_name,</a:t>
                      </a:r>
                      <a:endParaRPr sz="1800" u="none" cap="none" strike="noStrike">
                        <a:latin typeface="Courier New"/>
                        <a:ea typeface="Courier New"/>
                        <a:cs typeface="Courier New"/>
                        <a:sym typeface="Courier New"/>
                      </a:endParaRPr>
                    </a:p>
                    <a:p>
                      <a:pPr indent="137160" lvl="0" marL="0" marR="1850389"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department_id, d.department_name</a:t>
                      </a:r>
                      <a:endParaRPr sz="1800" u="none" cap="none" strike="noStrike">
                        <a:latin typeface="Courier New"/>
                        <a:ea typeface="Courier New"/>
                        <a:cs typeface="Courier New"/>
                        <a:sym typeface="Courier New"/>
                      </a:endParaRPr>
                    </a:p>
                    <a:p>
                      <a:pPr indent="0" lvl="0" marL="129539"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OM employees e, departments d</a:t>
                      </a:r>
                      <a:endParaRPr sz="1800" u="none" cap="none" strike="noStrike">
                        <a:latin typeface="Courier New"/>
                        <a:ea typeface="Courier New"/>
                        <a:cs typeface="Courier New"/>
                        <a:sym typeface="Courier New"/>
                      </a:endParaRPr>
                    </a:p>
                  </a:txBody>
                  <a:tcPr marT="0" marB="0" marR="0" marL="0">
                    <a:lnL cap="flat" cmpd="sng" w="19050">
                      <a:solidFill>
                        <a:srgbClr val="DFE1E0"/>
                      </a:solidFill>
                      <a:prstDash val="solid"/>
                      <a:round/>
                      <a:headEnd len="sm" w="sm" type="none"/>
                      <a:tailEnd len="sm" w="sm" type="none"/>
                    </a:lnL>
                    <a:lnB cap="flat" cmpd="sng" w="38100">
                      <a:solidFill>
                        <a:srgbClr val="D1350F"/>
                      </a:solidFill>
                      <a:prstDash val="solid"/>
                      <a:round/>
                      <a:headEnd len="sm" w="sm" type="none"/>
                      <a:tailEnd len="sm" w="sm" type="none"/>
                    </a:lnB>
                    <a:solidFill>
                      <a:srgbClr val="9DBDC4">
                        <a:alpha val="49804"/>
                      </a:srgbClr>
                    </a:solidFill>
                  </a:tcPr>
                </a:tc>
                <a:tc hMerge="1"/>
                <a:tc hMerge="1"/>
                <a:tc hMerge="1"/>
              </a:tr>
              <a:tr h="580400">
                <a:tc>
                  <a:txBody>
                    <a:bodyPr/>
                    <a:lstStyle/>
                    <a:p>
                      <a:pPr indent="0" lvl="0" marL="0" marR="13081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38100">
                      <a:solidFill>
                        <a:srgbClr val="D1350F"/>
                      </a:solidFill>
                      <a:prstDash val="solid"/>
                      <a:round/>
                      <a:headEnd len="sm" w="sm" type="none"/>
                      <a:tailEnd len="sm" w="sm" type="none"/>
                    </a:lnL>
                    <a:lnR cap="flat" cmpd="sng" w="19050">
                      <a:solidFill>
                        <a:srgbClr val="DFE1E0"/>
                      </a:solidFill>
                      <a:prstDash val="solid"/>
                      <a:round/>
                      <a:headEnd len="sm" w="sm" type="none"/>
                      <a:tailEnd len="sm" w="sm" type="none"/>
                    </a:lnR>
                    <a:lnT cap="flat" cmpd="sng" w="38100">
                      <a:solidFill>
                        <a:srgbClr val="D1350F"/>
                      </a:solidFill>
                      <a:prstDash val="solid"/>
                      <a:round/>
                      <a:headEnd len="sm" w="sm" type="none"/>
                      <a:tailEnd len="sm" w="sm" type="none"/>
                    </a:lnT>
                    <a:lnB cap="flat" cmpd="sng" w="38100">
                      <a:solidFill>
                        <a:srgbClr val="D1350F"/>
                      </a:solidFill>
                      <a:prstDash val="solid"/>
                      <a:round/>
                      <a:headEnd len="sm" w="sm" type="none"/>
                      <a:tailEnd len="sm" w="sm" type="none"/>
                    </a:lnB>
                    <a:solidFill>
                      <a:srgbClr val="9DBDC4">
                        <a:alpha val="49804"/>
                      </a:srgbClr>
                    </a:solidFill>
                  </a:tcPr>
                </a:tc>
                <a:tc gridSpan="3">
                  <a:txBody>
                    <a:bodyPr/>
                    <a:lstStyle/>
                    <a:p>
                      <a:pPr indent="0" lvl="0" marL="0" marR="3175" rtl="0" algn="l">
                        <a:lnSpc>
                          <a:spcPct val="111888"/>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WHERE e.department_id(+) =</a:t>
                      </a:r>
                      <a:endParaRPr sz="1800" u="none" cap="none" strike="noStrike">
                        <a:latin typeface="Courier New"/>
                        <a:ea typeface="Courier New"/>
                        <a:cs typeface="Courier New"/>
                        <a:sym typeface="Courier New"/>
                      </a:endParaRPr>
                    </a:p>
                    <a:p>
                      <a:pPr indent="0" lvl="0" marL="402590" marR="3175"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d.department_id;</a:t>
                      </a:r>
                      <a:endParaRPr sz="1800" u="none" cap="none" strike="noStrike">
                        <a:latin typeface="Courier New"/>
                        <a:ea typeface="Courier New"/>
                        <a:cs typeface="Courier New"/>
                        <a:sym typeface="Courier New"/>
                      </a:endParaRPr>
                    </a:p>
                  </a:txBody>
                  <a:tcPr marT="0" marB="0" marR="0" marL="0">
                    <a:lnL cap="flat" cmpd="sng" w="19050">
                      <a:solidFill>
                        <a:srgbClr val="DFE1E0"/>
                      </a:solidFill>
                      <a:prstDash val="solid"/>
                      <a:round/>
                      <a:headEnd len="sm" w="sm" type="none"/>
                      <a:tailEnd len="sm" w="sm" type="none"/>
                    </a:lnL>
                    <a:lnR cap="flat" cmpd="sng" w="38100">
                      <a:solidFill>
                        <a:srgbClr val="D1350F"/>
                      </a:solidFill>
                      <a:prstDash val="solid"/>
                      <a:round/>
                      <a:headEnd len="sm" w="sm" type="none"/>
                      <a:tailEnd len="sm" w="sm" type="none"/>
                    </a:lnR>
                    <a:lnT cap="flat" cmpd="sng" w="38100">
                      <a:solidFill>
                        <a:srgbClr val="D1350F"/>
                      </a:solidFill>
                      <a:prstDash val="solid"/>
                      <a:round/>
                      <a:headEnd len="sm" w="sm" type="none"/>
                      <a:tailEnd len="sm" w="sm" type="none"/>
                    </a:lnT>
                    <a:solidFill>
                      <a:srgbClr val="9DBDC4">
                        <a:alpha val="49804"/>
                      </a:srgbClr>
                    </a:solidFill>
                  </a:tcPr>
                </a:tc>
                <a:tc hMerge="1"/>
                <a:tc hMerge="1"/>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38100">
                      <a:solidFill>
                        <a:srgbClr val="D1350F"/>
                      </a:solidFill>
                      <a:prstDash val="solid"/>
                      <a:round/>
                      <a:headEnd len="sm" w="sm" type="none"/>
                      <a:tailEnd len="sm" w="sm" type="none"/>
                    </a:lnL>
                    <a:solidFill>
                      <a:srgbClr val="9DBDC4">
                        <a:alpha val="49804"/>
                      </a:srgbClr>
                    </a:solidFill>
                  </a:tcPr>
                </a:tc>
              </a:tr>
              <a:tr h="92075">
                <a:tc>
                  <a:txBody>
                    <a:bodyPr/>
                    <a:lstStyle/>
                    <a:p>
                      <a:pPr indent="0" lvl="0" marL="0" marR="130810" rtl="0" algn="l">
                        <a:lnSpc>
                          <a:spcPct val="100000"/>
                        </a:lnSpc>
                        <a:spcBef>
                          <a:spcPts val="0"/>
                        </a:spcBef>
                        <a:spcAft>
                          <a:spcPts val="0"/>
                        </a:spcAft>
                        <a:buNone/>
                      </a:pPr>
                      <a:r>
                        <a:t/>
                      </a:r>
                      <a:endParaRPr sz="400" u="none" cap="none" strike="noStrike">
                        <a:latin typeface="Times New Roman"/>
                        <a:ea typeface="Times New Roman"/>
                        <a:cs typeface="Times New Roman"/>
                        <a:sym typeface="Times New Roman"/>
                      </a:endParaRPr>
                    </a:p>
                  </a:txBody>
                  <a:tcPr marT="0" marB="0" marR="0" marL="0">
                    <a:lnR cap="flat" cmpd="sng" w="19050">
                      <a:solidFill>
                        <a:srgbClr val="DFE1E0"/>
                      </a:solidFill>
                      <a:prstDash val="solid"/>
                      <a:round/>
                      <a:headEnd len="sm" w="sm" type="none"/>
                      <a:tailEnd len="sm" w="sm" type="none"/>
                    </a:lnR>
                    <a:lnT cap="flat" cmpd="sng" w="38100">
                      <a:solidFill>
                        <a:srgbClr val="D1350F"/>
                      </a:solidFill>
                      <a:prstDash val="solid"/>
                      <a:round/>
                      <a:headEnd len="sm" w="sm" type="none"/>
                      <a:tailEnd len="sm" w="sm" type="none"/>
                    </a:lnT>
                    <a:solidFill>
                      <a:srgbClr val="9DBDC4">
                        <a:alpha val="49804"/>
                      </a:srgbClr>
                    </a:solidFill>
                  </a:tcPr>
                </a:tc>
                <a:tc gridSpan="4">
                  <a:txBody>
                    <a:bodyPr/>
                    <a:lstStyle/>
                    <a:p>
                      <a:pPr indent="0" lvl="0" marL="0" marR="0" rtl="0" algn="l">
                        <a:lnSpc>
                          <a:spcPct val="100000"/>
                        </a:lnSpc>
                        <a:spcBef>
                          <a:spcPts val="0"/>
                        </a:spcBef>
                        <a:spcAft>
                          <a:spcPts val="0"/>
                        </a:spcAft>
                        <a:buNone/>
                      </a:pPr>
                      <a:r>
                        <a:t/>
                      </a:r>
                      <a:endParaRPr sz="4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solidFill>
                      <a:srgbClr val="9DBDC4">
                        <a:alpha val="49804"/>
                      </a:srgbClr>
                    </a:solidFill>
                  </a:tcPr>
                </a:tc>
                <a:tc hMerge="1"/>
                <a:tc hMerge="1"/>
                <a:tc hMerge="1"/>
              </a:tr>
              <a:tr h="194950">
                <a:tc>
                  <a:txBody>
                    <a:bodyPr/>
                    <a:lstStyle/>
                    <a:p>
                      <a:pPr indent="0" lvl="0" marL="0" marR="13081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R cap="flat" cmpd="sng" w="19050">
                      <a:solidFill>
                        <a:srgbClr val="DFE1E0"/>
                      </a:solidFill>
                      <a:prstDash val="solid"/>
                      <a:round/>
                      <a:headEnd len="sm" w="sm" type="none"/>
                      <a:tailEnd len="sm" w="sm" type="none"/>
                    </a:lnR>
                    <a:lnB cap="flat" cmpd="sng" w="12700">
                      <a:solidFill>
                        <a:srgbClr val="4E3629"/>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lnB cap="flat" cmpd="sng" w="12700">
                      <a:solidFill>
                        <a:srgbClr val="4E3629"/>
                      </a:solidFill>
                      <a:prstDash val="solid"/>
                      <a:round/>
                      <a:headEnd len="sm" w="sm" type="none"/>
                      <a:tailEnd len="sm" w="sm" type="none"/>
                    </a:lnB>
                  </a:tcPr>
                </a:tc>
                <a:tc hMerge="1"/>
                <a:tc hMerge="1"/>
                <a:tc hMerge="1"/>
              </a:tr>
              <a:tr h="269250">
                <a:tc gridSpan="2">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D9D9D9"/>
                    </a:solidFill>
                  </a:tcPr>
                </a:tc>
                <a:tc hMerge="1"/>
                <a:tc>
                  <a:txBody>
                    <a:bodyPr/>
                    <a:lstStyle/>
                    <a:p>
                      <a:pPr indent="0" lvl="0" marL="279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D9D9D9"/>
                    </a:solidFill>
                  </a:tcPr>
                </a:tc>
                <a:tc gridSpan="2">
                  <a:txBody>
                    <a:bodyPr/>
                    <a:lstStyle/>
                    <a:p>
                      <a:pPr indent="0" lvl="0" marL="279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DEPT_NAME</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D9D9D9"/>
                    </a:solidFill>
                  </a:tcPr>
                </a:tc>
                <a:tc hMerge="1"/>
              </a:tr>
              <a:tr h="269250">
                <a:tc gridSpan="2">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c>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gridSpan="2">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r>
              <a:tr h="269250">
                <a:tc gridSpan="2">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c>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gridSpan="2">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Marketing</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r>
              <a:tr h="269250">
                <a:tc gridSpan="2">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c>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gridSpan="2">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Marketing</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r>
              <a:tr h="268600">
                <a:tc gridSpan="2">
                  <a:txBody>
                    <a:bodyPr/>
                    <a:lstStyle/>
                    <a:p>
                      <a:pPr indent="0" lvl="0" marL="12700"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Mourgos</a:t>
                      </a:r>
                      <a:endParaRPr sz="1600" u="none" cap="none" strike="noStrike">
                        <a:latin typeface="Calibri"/>
                        <a:ea typeface="Calibri"/>
                        <a:cs typeface="Calibri"/>
                        <a:sym typeface="Calibri"/>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c>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gridSpan="2">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r>
              <a:tr h="268600">
                <a:tc gridSpan="2">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Arial"/>
                          <a:ea typeface="Arial"/>
                          <a:cs typeface="Arial"/>
                          <a:sym typeface="Arial"/>
                        </a:rPr>
                        <a:t>…</a:t>
                      </a:r>
                      <a:endParaRPr sz="1600" u="none" cap="none" strike="noStrike">
                        <a:latin typeface="Arial"/>
                        <a:ea typeface="Arial"/>
                        <a:cs typeface="Arial"/>
                        <a:sym typeface="Arial"/>
                      </a:endParaRPr>
                    </a:p>
                  </a:txBody>
                  <a:tcPr marT="69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gridSpan="2">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E9E8E8"/>
                    </a:solidFill>
                  </a:tcPr>
                </a:tc>
                <a:tc hMerge="1"/>
              </a:tr>
              <a:tr h="269250">
                <a:tc gridSpan="2">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solidFill>
                      <a:srgbClr val="E9E8E8"/>
                    </a:solidFill>
                  </a:tcPr>
                </a:tc>
                <a:tc hMerge="1"/>
                <a:tc>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solidFill>
                      <a:srgbClr val="E9E8E8"/>
                    </a:solidFill>
                  </a:tcPr>
                </a:tc>
                <a:tc gridSpan="2">
                  <a:txBody>
                    <a:bodyPr/>
                    <a:lstStyle/>
                    <a:p>
                      <a:pPr indent="0" lvl="0" marL="279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1275"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solidFill>
                      <a:srgbClr val="E9E8E8"/>
                    </a:solidFill>
                  </a:tcPr>
                </a:tc>
                <a:tc hMerge="1"/>
              </a:tr>
              <a:tr h="271150">
                <a:tc>
                  <a:txBody>
                    <a:bodyPr/>
                    <a:lstStyle/>
                    <a:p>
                      <a:pPr indent="0" lvl="0" marL="54610" marR="130810" rtl="0" algn="l">
                        <a:lnSpc>
                          <a:spcPct val="118062"/>
                        </a:lnSpc>
                        <a:spcBef>
                          <a:spcPts val="0"/>
                        </a:spcBef>
                        <a:spcAft>
                          <a:spcPts val="0"/>
                        </a:spcAft>
                        <a:buNone/>
                      </a:pPr>
                      <a:r>
                        <a:rPr lang="en-US" sz="1600" u="none" cap="none" strike="noStrike">
                          <a:solidFill>
                            <a:srgbClr val="FFFFFF"/>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solidFill>
                      <a:srgbClr val="D1350F"/>
                    </a:solidFill>
                  </a:tcPr>
                </a:tc>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solidFill>
                      <a:srgbClr val="D1350F"/>
                    </a:solidFill>
                  </a:tcPr>
                </a:tc>
                <a:tc>
                  <a:txBody>
                    <a:bodyPr/>
                    <a:lstStyle/>
                    <a:p>
                      <a:pPr indent="0" lvl="0" marL="24130" marR="0" rtl="0" algn="l">
                        <a:lnSpc>
                          <a:spcPct val="118062"/>
                        </a:lnSpc>
                        <a:spcBef>
                          <a:spcPts val="0"/>
                        </a:spcBef>
                        <a:spcAft>
                          <a:spcPts val="0"/>
                        </a:spcAft>
                        <a:buNone/>
                      </a:pPr>
                      <a:r>
                        <a:rPr lang="en-US" sz="1600" u="none" cap="none" strike="noStrike">
                          <a:solidFill>
                            <a:srgbClr val="FFFFFF"/>
                          </a:solidFill>
                          <a:latin typeface="Calibri"/>
                          <a:ea typeface="Calibri"/>
                          <a:cs typeface="Calibri"/>
                          <a:sym typeface="Calibri"/>
                        </a:rPr>
                        <a:t>190</a:t>
                      </a:r>
                      <a:endParaRPr sz="1600" u="none" cap="none" strike="noStrike">
                        <a:latin typeface="Calibri"/>
                        <a:ea typeface="Calibri"/>
                        <a:cs typeface="Calibri"/>
                        <a:sym typeface="Calibri"/>
                      </a:endParaRPr>
                    </a:p>
                  </a:txBody>
                  <a:tcPr marT="0" marB="0" marR="0" marL="0">
                    <a:solidFill>
                      <a:srgbClr val="D1350F"/>
                    </a:solidFill>
                  </a:tcPr>
                </a:tc>
                <a:tc>
                  <a:txBody>
                    <a:bodyPr/>
                    <a:lstStyle/>
                    <a:p>
                      <a:pPr indent="0" lvl="0" marL="24130" marR="0" rtl="0" algn="l">
                        <a:lnSpc>
                          <a:spcPct val="118062"/>
                        </a:lnSpc>
                        <a:spcBef>
                          <a:spcPts val="0"/>
                        </a:spcBef>
                        <a:spcAft>
                          <a:spcPts val="0"/>
                        </a:spcAft>
                        <a:buNone/>
                      </a:pPr>
                      <a:r>
                        <a:rPr lang="en-US" sz="1600" u="none" cap="none" strike="noStrike">
                          <a:solidFill>
                            <a:srgbClr val="FFFFFF"/>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0" marB="0" marR="0" marL="0">
                    <a:solidFill>
                      <a:srgbClr val="D1350F"/>
                    </a:solidFill>
                  </a:tcPr>
                </a:tc>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solidFill>
                      <a:srgbClr val="D1350F"/>
                    </a:solidFill>
                  </a:tcPr>
                </a:tc>
              </a:tr>
              <a:tr h="354975">
                <a:tc>
                  <a:txBody>
                    <a:bodyPr/>
                    <a:lstStyle/>
                    <a:p>
                      <a:pPr indent="0" lvl="0" marL="0" marR="13081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R cap="flat" cmpd="sng" w="19050">
                      <a:solidFill>
                        <a:srgbClr val="DFE1E0"/>
                      </a:solidFill>
                      <a:prstDash val="solid"/>
                      <a:round/>
                      <a:headEnd len="sm" w="sm" type="none"/>
                      <a:tailEnd len="sm" w="sm" type="none"/>
                    </a:lnR>
                  </a:tcPr>
                </a:tc>
                <a:tc gridSpan="4">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9050">
                      <a:solidFill>
                        <a:srgbClr val="DFE1E0"/>
                      </a:solidFill>
                      <a:prstDash val="solid"/>
                      <a:round/>
                      <a:headEnd len="sm" w="sm" type="none"/>
                      <a:tailEnd len="sm" w="sm" type="none"/>
                    </a:lnL>
                  </a:tcPr>
                </a:tc>
                <a:tc hMerge="1"/>
                <a:tc hMerge="1"/>
                <a:tc hMerge="1"/>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Full Outer Join</a:t>
            </a:r>
            <a:endParaRPr/>
          </a:p>
        </p:txBody>
      </p:sp>
      <p:sp>
        <p:nvSpPr>
          <p:cNvPr id="207" name="Google Shape;207;p24"/>
          <p:cNvSpPr txBox="1"/>
          <p:nvPr/>
        </p:nvSpPr>
        <p:spPr>
          <a:xfrm>
            <a:off x="483552" y="1415417"/>
            <a:ext cx="814832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es posible tener el equivalente de FULL OUTER JOIN 	mediante la adición de un signo (+) a ambas columnas 	de la condición de unión</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intenta realizar esto, se produce un error</a:t>
            </a:r>
            <a:endParaRPr sz="2800">
              <a:latin typeface="Calibri"/>
              <a:ea typeface="Calibri"/>
              <a:cs typeface="Calibri"/>
              <a:sym typeface="Calibri"/>
            </a:endParaRPr>
          </a:p>
        </p:txBody>
      </p:sp>
      <p:pic>
        <p:nvPicPr>
          <p:cNvPr id="208" name="Google Shape;208;p24"/>
          <p:cNvPicPr preferRelativeResize="0"/>
          <p:nvPr/>
        </p:nvPicPr>
        <p:blipFill rotWithShape="1">
          <a:blip r:embed="rId3">
            <a:alphaModFix/>
          </a:blip>
          <a:srcRect b="0" l="0" r="0" t="0"/>
          <a:stretch/>
        </p:blipFill>
        <p:spPr>
          <a:xfrm>
            <a:off x="766571" y="4725923"/>
            <a:ext cx="4724400" cy="609600"/>
          </a:xfrm>
          <a:prstGeom prst="rect">
            <a:avLst/>
          </a:prstGeom>
          <a:noFill/>
          <a:ln>
            <a:noFill/>
          </a:ln>
        </p:spPr>
      </p:pic>
      <p:sp>
        <p:nvSpPr>
          <p:cNvPr id="209" name="Google Shape;209;p24"/>
          <p:cNvSpPr txBox="1"/>
          <p:nvPr/>
        </p:nvSpPr>
        <p:spPr>
          <a:xfrm>
            <a:off x="405384" y="3195827"/>
            <a:ext cx="8345805" cy="970915"/>
          </a:xfrm>
          <a:prstGeom prst="rect">
            <a:avLst/>
          </a:prstGeom>
          <a:solidFill>
            <a:srgbClr val="9DBDC4">
              <a:alpha val="49804"/>
            </a:srgbClr>
          </a:solidFill>
          <a:ln>
            <a:noFill/>
          </a:ln>
        </p:spPr>
        <p:txBody>
          <a:bodyPr anchorCtr="0" anchor="t" bIns="0" lIns="0" spcFirstLastPara="1" rIns="0" wrap="square" tIns="46350">
            <a:spAutoFit/>
          </a:bodyPr>
          <a:lstStyle/>
          <a:p>
            <a:pPr indent="0" lvl="0" marL="0" marR="96646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e.last_name, d.department_id, d.department_name FROM employees e, departments d</a:t>
            </a:r>
            <a:endParaRPr sz="1800">
              <a:latin typeface="Courier New"/>
              <a:ea typeface="Courier New"/>
              <a:cs typeface="Courier New"/>
              <a:sym typeface="Courier New"/>
            </a:endParaRPr>
          </a:p>
        </p:txBody>
      </p:sp>
      <p:sp>
        <p:nvSpPr>
          <p:cNvPr id="210" name="Google Shape;210;p24"/>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211" name="Google Shape;211;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2" name="Google Shape;212;p24"/>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13" name="Google Shape;213;p24"/>
          <p:cNvSpPr txBox="1"/>
          <p:nvPr/>
        </p:nvSpPr>
        <p:spPr>
          <a:xfrm>
            <a:off x="393954" y="3807714"/>
            <a:ext cx="6431915" cy="360045"/>
          </a:xfrm>
          <a:prstGeom prst="rect">
            <a:avLst/>
          </a:prstGeom>
          <a:solidFill>
            <a:srgbClr val="9DBDC4">
              <a:alpha val="49804"/>
            </a:srgbClr>
          </a:solidFill>
          <a:ln cap="flat" cmpd="sng" w="38100">
            <a:solidFill>
              <a:srgbClr val="D1350F"/>
            </a:solidFill>
            <a:prstDash val="solid"/>
            <a:round/>
            <a:headEnd len="sm" w="sm" type="none"/>
            <a:tailEnd len="sm" w="sm" type="none"/>
          </a:ln>
        </p:spPr>
        <p:txBody>
          <a:bodyPr anchorCtr="0" anchor="t" bIns="0" lIns="0" spcFirstLastPara="1" rIns="0" wrap="square" tIns="0">
            <a:spAutoFit/>
          </a:bodyPr>
          <a:lstStyle/>
          <a:p>
            <a:pPr indent="0" lvl="0" marL="10795" rtl="0" algn="l">
              <a:lnSpc>
                <a:spcPct val="112500"/>
              </a:lnSpc>
              <a:spcBef>
                <a:spcPts val="0"/>
              </a:spcBef>
              <a:spcAft>
                <a:spcPts val="0"/>
              </a:spcAft>
              <a:buNone/>
            </a:pPr>
            <a:r>
              <a:rPr b="1" lang="en-US" sz="1800">
                <a:solidFill>
                  <a:srgbClr val="4E3629"/>
                </a:solidFill>
                <a:latin typeface="Courier New"/>
                <a:ea typeface="Courier New"/>
                <a:cs typeface="Courier New"/>
                <a:sym typeface="Courier New"/>
              </a:rPr>
              <a:t>WHERE e.department_id(+) =	d.department_id(+);</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5"/>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Outer Join</a:t>
            </a:r>
            <a:endParaRPr/>
          </a:p>
        </p:txBody>
      </p:sp>
      <p:sp>
        <p:nvSpPr>
          <p:cNvPr id="219" name="Google Shape;219;p25"/>
          <p:cNvSpPr txBox="1"/>
          <p:nvPr/>
        </p:nvSpPr>
        <p:spPr>
          <a:xfrm>
            <a:off x="483552" y="1415417"/>
            <a:ext cx="743775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muestran las variaciones de sintaxis de la unión 	externa</a:t>
            </a:r>
            <a:endParaRPr sz="2800">
              <a:latin typeface="Calibri"/>
              <a:ea typeface="Calibri"/>
              <a:cs typeface="Calibri"/>
              <a:sym typeface="Calibri"/>
            </a:endParaRPr>
          </a:p>
        </p:txBody>
      </p:sp>
      <p:sp>
        <p:nvSpPr>
          <p:cNvPr id="220" name="Google Shape;220;p25"/>
          <p:cNvSpPr/>
          <p:nvPr/>
        </p:nvSpPr>
        <p:spPr>
          <a:xfrm>
            <a:off x="405384" y="4817364"/>
            <a:ext cx="8345805" cy="972819"/>
          </a:xfrm>
          <a:custGeom>
            <a:rect b="b" l="l" r="r" t="t"/>
            <a:pathLst>
              <a:path extrusionOk="0" h="972820" w="8345805">
                <a:moveTo>
                  <a:pt x="8345424" y="0"/>
                </a:moveTo>
                <a:lnTo>
                  <a:pt x="0" y="0"/>
                </a:lnTo>
                <a:lnTo>
                  <a:pt x="0" y="972312"/>
                </a:lnTo>
                <a:lnTo>
                  <a:pt x="8345424" y="972312"/>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1" name="Google Shape;221;p25"/>
          <p:cNvSpPr txBox="1"/>
          <p:nvPr/>
        </p:nvSpPr>
        <p:spPr>
          <a:xfrm>
            <a:off x="404812" y="4852211"/>
            <a:ext cx="5746115" cy="848360"/>
          </a:xfrm>
          <a:prstGeom prst="rect">
            <a:avLst/>
          </a:prstGeom>
          <a:noFill/>
          <a:ln>
            <a:noFill/>
          </a:ln>
        </p:spPr>
        <p:txBody>
          <a:bodyPr anchorCtr="0" anchor="t" bIns="0" lIns="0" spcFirstLastPara="1" rIns="0" wrap="square" tIns="12700">
            <a:spAutoFit/>
          </a:bodyPr>
          <a:lstStyle/>
          <a:p>
            <a:pPr indent="0" lvl="0" marL="0" marR="96011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table1.column, table2.column FROM table1, table2</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NEVER table1.column(+) = table2.column(+);</a:t>
            </a:r>
            <a:endParaRPr sz="1800">
              <a:latin typeface="Courier New"/>
              <a:ea typeface="Courier New"/>
              <a:cs typeface="Courier New"/>
              <a:sym typeface="Courier New"/>
            </a:endParaRPr>
          </a:p>
        </p:txBody>
      </p:sp>
      <p:sp>
        <p:nvSpPr>
          <p:cNvPr id="222" name="Google Shape;222;p25"/>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223" name="Google Shape;223;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4" name="Google Shape;224;p25"/>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25" name="Google Shape;225;p25"/>
          <p:cNvSpPr txBox="1"/>
          <p:nvPr/>
        </p:nvSpPr>
        <p:spPr>
          <a:xfrm>
            <a:off x="7143056" y="4777102"/>
            <a:ext cx="408305" cy="939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6000">
                <a:solidFill>
                  <a:srgbClr val="D1350F"/>
                </a:solidFill>
                <a:latin typeface="Calibri"/>
                <a:ea typeface="Calibri"/>
                <a:cs typeface="Calibri"/>
                <a:sym typeface="Calibri"/>
              </a:rPr>
              <a:t>X</a:t>
            </a:r>
            <a:endParaRPr sz="6000">
              <a:latin typeface="Calibri"/>
              <a:ea typeface="Calibri"/>
              <a:cs typeface="Calibri"/>
              <a:sym typeface="Calibri"/>
            </a:endParaRPr>
          </a:p>
        </p:txBody>
      </p:sp>
      <p:sp>
        <p:nvSpPr>
          <p:cNvPr id="226" name="Google Shape;226;p25"/>
          <p:cNvSpPr txBox="1"/>
          <p:nvPr/>
        </p:nvSpPr>
        <p:spPr>
          <a:xfrm>
            <a:off x="405384" y="2289048"/>
            <a:ext cx="8345805" cy="972819"/>
          </a:xfrm>
          <a:prstGeom prst="rect">
            <a:avLst/>
          </a:prstGeom>
          <a:solidFill>
            <a:srgbClr val="9DBDC4">
              <a:alpha val="49804"/>
            </a:srgbClr>
          </a:solidFill>
          <a:ln>
            <a:noFill/>
          </a:ln>
        </p:spPr>
        <p:txBody>
          <a:bodyPr anchorCtr="0" anchor="t" bIns="0" lIns="0" spcFirstLastPara="1" rIns="0" wrap="square" tIns="46975">
            <a:spAutoFit/>
          </a:bodyPr>
          <a:lstStyle/>
          <a:p>
            <a:pPr indent="0" lvl="0" marL="0" marR="35604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table1.column, table2.column FROM table1, table2</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table1.column = table2.column(+);</a:t>
            </a:r>
            <a:endParaRPr sz="1800">
              <a:latin typeface="Courier New"/>
              <a:ea typeface="Courier New"/>
              <a:cs typeface="Courier New"/>
              <a:sym typeface="Courier New"/>
            </a:endParaRPr>
          </a:p>
        </p:txBody>
      </p:sp>
      <p:sp>
        <p:nvSpPr>
          <p:cNvPr id="227" name="Google Shape;227;p25"/>
          <p:cNvSpPr txBox="1"/>
          <p:nvPr/>
        </p:nvSpPr>
        <p:spPr>
          <a:xfrm>
            <a:off x="405384" y="3553967"/>
            <a:ext cx="8345805" cy="970915"/>
          </a:xfrm>
          <a:prstGeom prst="rect">
            <a:avLst/>
          </a:prstGeom>
          <a:solidFill>
            <a:srgbClr val="9DBDC4">
              <a:alpha val="49804"/>
            </a:srgbClr>
          </a:solidFill>
          <a:ln>
            <a:noFill/>
          </a:ln>
        </p:spPr>
        <p:txBody>
          <a:bodyPr anchorCtr="0" anchor="t" bIns="0" lIns="0" spcFirstLastPara="1" rIns="0" wrap="square" tIns="46350">
            <a:spAutoFit/>
          </a:bodyPr>
          <a:lstStyle/>
          <a:p>
            <a:pPr indent="0" lvl="0" marL="0" marR="35604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table1.column, table2.column FROM table1, table2</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table1.column(+) = table2.column;</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Equivalentes de unión externa y ANSI</a:t>
            </a:r>
            <a:endParaRPr/>
          </a:p>
        </p:txBody>
      </p:sp>
      <p:sp>
        <p:nvSpPr>
          <p:cNvPr id="233" name="Google Shape;233;p26"/>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234" name="Google Shape;234;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5" name="Google Shape;235;p26"/>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36" name="Google Shape;236;p26"/>
          <p:cNvSpPr txBox="1"/>
          <p:nvPr/>
        </p:nvSpPr>
        <p:spPr>
          <a:xfrm>
            <a:off x="483552" y="1415417"/>
            <a:ext cx="7689850" cy="122047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tabla que aparece a continuación se muestran 	uniones ANSI/ISO SQL: 99 y sus uniones externas de 	Oracle equivalentes.</a:t>
            </a:r>
            <a:endParaRPr sz="2800">
              <a:latin typeface="Calibri"/>
              <a:ea typeface="Calibri"/>
              <a:cs typeface="Calibri"/>
              <a:sym typeface="Calibri"/>
            </a:endParaRPr>
          </a:p>
        </p:txBody>
      </p:sp>
      <p:graphicFrame>
        <p:nvGraphicFramePr>
          <p:cNvPr id="237" name="Google Shape;237;p26"/>
          <p:cNvGraphicFramePr/>
          <p:nvPr/>
        </p:nvGraphicFramePr>
        <p:xfrm>
          <a:off x="639762" y="2807063"/>
          <a:ext cx="3000000" cy="3000000"/>
        </p:xfrm>
        <a:graphic>
          <a:graphicData uri="http://schemas.openxmlformats.org/drawingml/2006/table">
            <a:tbl>
              <a:tblPr bandRow="1" firstRow="1">
                <a:noFill/>
                <a:tableStyleId>{C04B46AE-C267-40E6-921B-79CB94EFA5B4}</a:tableStyleId>
              </a:tblPr>
              <a:tblGrid>
                <a:gridCol w="3857000"/>
                <a:gridCol w="3644275"/>
              </a:tblGrid>
              <a:tr h="548650">
                <a:tc>
                  <a:txBody>
                    <a:bodyPr/>
                    <a:lstStyle/>
                    <a:p>
                      <a:pPr indent="0" lvl="0" marL="91440"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ANSI/ISO SQL</a:t>
                      </a:r>
                      <a:endParaRPr sz="1800" u="none" cap="none" strike="noStrike">
                        <a:latin typeface="Calibri"/>
                        <a:ea typeface="Calibri"/>
                        <a:cs typeface="Calibri"/>
                        <a:sym typeface="Calibri"/>
                      </a:endParaRPr>
                    </a:p>
                  </a:txBody>
                  <a:tcPr marT="121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Sintaxis de Oracle</a:t>
                      </a:r>
                      <a:endParaRPr sz="1800" u="none" cap="none" strike="noStrike">
                        <a:latin typeface="Calibri"/>
                        <a:ea typeface="Calibri"/>
                        <a:cs typeface="Calibri"/>
                        <a:sym typeface="Calibri"/>
                      </a:endParaRPr>
                    </a:p>
                  </a:txBody>
                  <a:tcPr marT="121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822325">
                <a:tc>
                  <a:txBody>
                    <a:bodyPr/>
                    <a:lstStyle/>
                    <a:p>
                      <a:pPr indent="-78105" lvl="0" marL="168910" marR="1064895" rtl="0" algn="l">
                        <a:lnSpc>
                          <a:spcPct val="98100"/>
                        </a:lnSpc>
                        <a:spcBef>
                          <a:spcPts val="0"/>
                        </a:spcBef>
                        <a:spcAft>
                          <a:spcPts val="0"/>
                        </a:spcAft>
                        <a:buNone/>
                      </a:pPr>
                      <a:r>
                        <a:rPr lang="en-US" sz="1600" u="none" cap="none" strike="noStrike">
                          <a:solidFill>
                            <a:srgbClr val="4E3629"/>
                          </a:solidFill>
                          <a:latin typeface="Calibri"/>
                          <a:ea typeface="Calibri"/>
                          <a:cs typeface="Calibri"/>
                          <a:sym typeface="Calibri"/>
                        </a:rPr>
                        <a:t>LEFT OUTER JOIN departments d ON (e.department_id = d.department_id);</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38100" lvl="0" marL="128905" marR="1340485"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WHERE e.department_id = d.department_id(+);</a:t>
                      </a:r>
                      <a:endParaRPr sz="1600" u="none" cap="none" strike="noStrike">
                        <a:latin typeface="Calibri"/>
                        <a:ea typeface="Calibri"/>
                        <a:cs typeface="Calibri"/>
                        <a:sym typeface="Calibri"/>
                      </a:endParaRPr>
                    </a:p>
                  </a:txBody>
                  <a:tcPr marT="4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22325">
                <a:tc>
                  <a:txBody>
                    <a:bodyPr/>
                    <a:lstStyle/>
                    <a:p>
                      <a:pPr indent="-78105" lvl="0" marL="168275" marR="927735" rtl="0" algn="l">
                        <a:lnSpc>
                          <a:spcPct val="98100"/>
                        </a:lnSpc>
                        <a:spcBef>
                          <a:spcPts val="0"/>
                        </a:spcBef>
                        <a:spcAft>
                          <a:spcPts val="0"/>
                        </a:spcAft>
                        <a:buNone/>
                      </a:pPr>
                      <a:r>
                        <a:rPr lang="en-US" sz="1600" u="none" cap="none" strike="noStrike">
                          <a:solidFill>
                            <a:srgbClr val="4E3629"/>
                          </a:solidFill>
                          <a:latin typeface="Calibri"/>
                          <a:ea typeface="Calibri"/>
                          <a:cs typeface="Calibri"/>
                          <a:sym typeface="Calibri"/>
                        </a:rPr>
                        <a:t>RIGHT OUTER JOIN departments d ON (e.department_id = d.department_id);</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38100" lvl="0" marL="128905" marR="111506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WHERE e.department_id(+) = d.department_id;</a:t>
                      </a:r>
                      <a:endParaRPr sz="1600" u="none" cap="none" strike="noStrike">
                        <a:latin typeface="Calibri"/>
                        <a:ea typeface="Calibri"/>
                        <a:cs typeface="Calibri"/>
                        <a:sym typeface="Calibri"/>
                      </a:endParaRPr>
                    </a:p>
                  </a:txBody>
                  <a:tcPr marT="4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22950">
                <a:tc>
                  <a:txBody>
                    <a:bodyPr/>
                    <a:lstStyle/>
                    <a:p>
                      <a:pPr indent="-78105" lvl="0" marL="168275" marR="1048385" rtl="0" algn="l">
                        <a:lnSpc>
                          <a:spcPct val="98100"/>
                        </a:lnSpc>
                        <a:spcBef>
                          <a:spcPts val="0"/>
                        </a:spcBef>
                        <a:spcAft>
                          <a:spcPts val="0"/>
                        </a:spcAft>
                        <a:buNone/>
                      </a:pPr>
                      <a:r>
                        <a:rPr lang="en-US" sz="1600" u="none" cap="none" strike="noStrike">
                          <a:solidFill>
                            <a:srgbClr val="4E3629"/>
                          </a:solidFill>
                          <a:latin typeface="Calibri"/>
                          <a:ea typeface="Calibri"/>
                          <a:cs typeface="Calibri"/>
                          <a:sym typeface="Calibri"/>
                        </a:rPr>
                        <a:t>FULL OUTER JOIN departments d ON (e.department_id = d.department_id);</a:t>
                      </a:r>
                      <a:endParaRPr sz="1600" u="none" cap="none" strike="noStrike">
                        <a:latin typeface="Calibri"/>
                        <a:ea typeface="Calibri"/>
                        <a:cs typeface="Calibri"/>
                        <a:sym typeface="Calibri"/>
                      </a:endParaRPr>
                    </a:p>
                  </a:txBody>
                  <a:tcPr marT="37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 hay ningún equivalente directo.</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43" name="Google Shape;243;p27"/>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244" name="Google Shape;244;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5" name="Google Shape;245;p27"/>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46" name="Google Shape;246;p27"/>
          <p:cNvSpPr txBox="1"/>
          <p:nvPr/>
        </p:nvSpPr>
        <p:spPr>
          <a:xfrm>
            <a:off x="483552" y="1415417"/>
            <a:ext cx="7704455" cy="1979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Unión no igualitaria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BETWEEN…AND</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Uniones Externas</a:t>
            </a:r>
            <a:endParaRPr sz="24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392112" y="748031"/>
            <a:ext cx="635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52" name="Google Shape;252;p28"/>
          <p:cNvSpPr txBox="1"/>
          <p:nvPr>
            <p:ph idx="10" type="dt"/>
          </p:nvPr>
        </p:nvSpPr>
        <p:spPr>
          <a:xfrm>
            <a:off x="2874191" y="6449092"/>
            <a:ext cx="1235700" cy="4287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7-2</a:t>
            </a:r>
            <a:endParaRPr/>
          </a:p>
          <a:p>
            <a:pPr indent="0" lvl="0" marL="12700" marR="5080" rtl="0" algn="l">
              <a:lnSpc>
                <a:spcPct val="114874"/>
              </a:lnSpc>
              <a:spcBef>
                <a:spcPts val="60"/>
              </a:spcBef>
              <a:spcAft>
                <a:spcPts val="0"/>
              </a:spcAft>
              <a:buNone/>
            </a:pPr>
            <a:r>
              <a:rPr lang="en-US"/>
              <a:t>Uniones No Igualitarias y Uniones Externas de Oracle</a:t>
            </a:r>
            <a:endParaRPr/>
          </a:p>
        </p:txBody>
      </p:sp>
      <p:sp>
        <p:nvSpPr>
          <p:cNvPr id="253" name="Google Shape;253;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4" name="Google Shape;254;p28"/>
          <p:cNvSpPr txBox="1"/>
          <p:nvPr>
            <p:ph idx="12" type="sldNum"/>
          </p:nvPr>
        </p:nvSpPr>
        <p:spPr>
          <a:xfrm>
            <a:off x="8601456" y="6634037"/>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55" name="Google Shape;255;p28"/>
          <p:cNvSpPr txBox="1"/>
          <p:nvPr/>
        </p:nvSpPr>
        <p:spPr>
          <a:xfrm>
            <a:off x="483552" y="1393401"/>
            <a:ext cx="7830820" cy="255460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ha aprendido lo siguiente:</a:t>
            </a:r>
            <a:endParaRPr sz="2800">
              <a:latin typeface="Calibri"/>
              <a:ea typeface="Calibri"/>
              <a:cs typeface="Calibri"/>
              <a:sym typeface="Calibri"/>
            </a:endParaRPr>
          </a:p>
          <a:p>
            <a:pPr indent="-175260" lvl="0" marL="530860" marR="6019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para acceder a los datos desde más de una tabla utilizando una unión no igualitaria</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para acceder a los datos desde más de una tabla utilizando una unión externa de Oracle</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