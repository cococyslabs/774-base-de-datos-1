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024D5D-1C1F-45E2-AE0C-9CCD218EB29E}">
  <a:tblStyle styleId="{20024D5D-1C1F-45E2-AE0C-9CCD218EB29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14:10:13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Una vez que el administrador de base de datos crea una VISTA, el usuario simplemente consulta la VISTA como si se tratase de una tabla.</a:t>
            </a:r>
            <a:endParaRPr/>
          </a:p>
        </p:txBody>
      </p:sp>
      <p:sp>
        <p:nvSpPr>
          <p:cNvPr id="187" name="Google Shape;187;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7260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415417"/>
            <a:ext cx="8163600" cy="3344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8298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2328545"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15-1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Creación de Vistas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44424"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 type="body"/>
          </p:nvPr>
        </p:nvSpPr>
        <p:spPr>
          <a:xfrm>
            <a:off x="483552" y="1415417"/>
            <a:ext cx="8163600" cy="33906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se abordan los siguientes objetivos:</a:t>
            </a:r>
            <a:endParaRPr/>
          </a:p>
          <a:p>
            <a:pPr indent="-175260" lvl="0" marL="530860" marR="5080" rtl="0" algn="l">
              <a:lnSpc>
                <a:spcPct val="107916"/>
              </a:lnSpc>
              <a:spcBef>
                <a:spcPts val="475"/>
              </a:spcBef>
              <a:spcAft>
                <a:spcPts val="0"/>
              </a:spcAft>
              <a:buNone/>
            </a:pPr>
            <a:r>
              <a:rPr lang="en-US" sz="2400">
                <a:solidFill>
                  <a:srgbClr val="D1350F"/>
                </a:solidFill>
              </a:rPr>
              <a:t>−</a:t>
            </a:r>
            <a:r>
              <a:rPr lang="en-US" sz="2400"/>
              <a:t>Enumerar tres usos de las vistas desde el punto de vista de un administrador de base de datos</a:t>
            </a:r>
            <a:endParaRPr sz="2400"/>
          </a:p>
          <a:p>
            <a:pPr indent="-175260" lvl="0" marL="530860" marR="389890" rtl="0" algn="l">
              <a:lnSpc>
                <a:spcPct val="107916"/>
              </a:lnSpc>
              <a:spcBef>
                <a:spcPts val="400"/>
              </a:spcBef>
              <a:spcAft>
                <a:spcPts val="0"/>
              </a:spcAft>
              <a:buNone/>
            </a:pPr>
            <a:r>
              <a:rPr lang="en-US" sz="2400">
                <a:solidFill>
                  <a:srgbClr val="D1350F"/>
                </a:solidFill>
              </a:rPr>
              <a:t>−</a:t>
            </a:r>
            <a:r>
              <a:rPr lang="en-US" sz="2400"/>
              <a:t>Explicar, desde una perspectiva empresarial, por qué es importante tener la capacidad de crear y utilizar subjuegos lógicos de datos derivados de una o más tablas</a:t>
            </a:r>
            <a:endParaRPr sz="2400"/>
          </a:p>
          <a:p>
            <a:pPr indent="-175260" lvl="0" marL="530860" marR="303530" rtl="0" algn="l">
              <a:lnSpc>
                <a:spcPct val="107916"/>
              </a:lnSpc>
              <a:spcBef>
                <a:spcPts val="400"/>
              </a:spcBef>
              <a:spcAft>
                <a:spcPts val="1200"/>
              </a:spcAft>
              <a:buNone/>
            </a:pPr>
            <a:r>
              <a:rPr lang="en-US" sz="2400">
                <a:solidFill>
                  <a:srgbClr val="D1350F"/>
                </a:solidFill>
              </a:rPr>
              <a:t>−</a:t>
            </a:r>
            <a:r>
              <a:rPr lang="en-US" sz="2400"/>
              <a:t>Crear una vista con y sin alias de columna en la subconsulta utilizando una única tabla base</a:t>
            </a:r>
            <a:endParaRPr sz="2400"/>
          </a:p>
        </p:txBody>
      </p:sp>
      <p:grpSp>
        <p:nvGrpSpPr>
          <p:cNvPr id="74" name="Google Shape;74;p15"/>
          <p:cNvGrpSpPr/>
          <p:nvPr/>
        </p:nvGrpSpPr>
        <p:grpSpPr>
          <a:xfrm>
            <a:off x="4972811" y="3998976"/>
            <a:ext cx="3339083" cy="2638043"/>
            <a:chOff x="4972811" y="3998976"/>
            <a:chExt cx="3339083" cy="2638043"/>
          </a:xfrm>
        </p:grpSpPr>
        <p:pic>
          <p:nvPicPr>
            <p:cNvPr id="75" name="Google Shape;75;p15"/>
            <p:cNvPicPr preferRelativeResize="0"/>
            <p:nvPr/>
          </p:nvPicPr>
          <p:blipFill rotWithShape="1">
            <a:blip r:embed="rId3">
              <a:alphaModFix/>
            </a:blip>
            <a:srcRect b="0" l="0" r="0" t="0"/>
            <a:stretch/>
          </p:blipFill>
          <p:spPr>
            <a:xfrm>
              <a:off x="4972811" y="3998976"/>
              <a:ext cx="3339083" cy="2638043"/>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164835" y="4191000"/>
              <a:ext cx="2955036" cy="2253995"/>
            </a:xfrm>
            <a:prstGeom prst="rect">
              <a:avLst/>
            </a:prstGeom>
            <a:noFill/>
            <a:ln>
              <a:noFill/>
            </a:ln>
          </p:spPr>
        </p:pic>
      </p:grpSp>
      <p:sp>
        <p:nvSpPr>
          <p:cNvPr id="77" name="Google Shape;77;p15"/>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85" name="Google Shape;85;p16"/>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393401"/>
            <a:ext cx="7785100" cy="156718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50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vista compleja que contenga funciones de grupo para visualizar valores de dos tablas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Recuperación de Datos de una Vista</a:t>
            </a:r>
            <a:endParaRPr sz="24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4" name="Google Shape;94;p17"/>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95" name="Google Shape;95;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415417"/>
            <a:ext cx="8126730" cy="3061335"/>
          </a:xfrm>
          <a:prstGeom prst="rect">
            <a:avLst/>
          </a:prstGeom>
          <a:noFill/>
          <a:ln>
            <a:noFill/>
          </a:ln>
        </p:spPr>
        <p:txBody>
          <a:bodyPr anchorCtr="0" anchor="t" bIns="0" lIns="0" spcFirstLastPara="1" rIns="0" wrap="square" tIns="59675">
            <a:spAutoFit/>
          </a:bodyPr>
          <a:lstStyle/>
          <a:p>
            <a:pPr indent="-177800" lvl="0" marL="182880" marR="5137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Dedique un minuto a ver lo que ha aprendido hasta 	ahora como alumno de Oracle Academy</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¿Hasta qué punto le resultaría fácil explicar lo que sabe 	a alguien que no ha realizado esta clase?</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merece una palmadita</a:t>
            </a:r>
            <a:endParaRPr sz="2800">
              <a:latin typeface="Calibri"/>
              <a:ea typeface="Calibri"/>
              <a:cs typeface="Calibri"/>
              <a:sym typeface="Calibri"/>
            </a:endParaRPr>
          </a:p>
          <a:p>
            <a:pPr indent="-177800" lvl="0" marL="182880" marR="853440" rtl="0" algn="l">
              <a:lnSpc>
                <a:spcPct val="108214"/>
              </a:lnSpc>
              <a:spcBef>
                <a:spcPts val="83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nivel de conocimiento que ha adquirido solo lo 	comprenden unos pocos elegidos</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103" name="Google Shape;103;p18"/>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04" name="Google Shape;104;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18"/>
          <p:cNvSpPr txBox="1"/>
          <p:nvPr/>
        </p:nvSpPr>
        <p:spPr>
          <a:xfrm>
            <a:off x="483552" y="1415417"/>
            <a:ext cx="8121650" cy="2960370"/>
          </a:xfrm>
          <a:prstGeom prst="rect">
            <a:avLst/>
          </a:prstGeom>
          <a:noFill/>
          <a:ln>
            <a:noFill/>
          </a:ln>
        </p:spPr>
        <p:txBody>
          <a:bodyPr anchorCtr="0" anchor="t" bIns="0" lIns="0" spcFirstLastPara="1" rIns="0" wrap="square" tIns="59675">
            <a:spAutoFit/>
          </a:bodyPr>
          <a:lstStyle/>
          <a:p>
            <a:pPr indent="-177800" lvl="0" marL="182880" marR="1574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Imagínese ahora a sí mismo como el administrador de 	bases de datos de una empresa</a:t>
            </a:r>
            <a:endParaRPr sz="2800">
              <a:latin typeface="Calibri"/>
              <a:ea typeface="Calibri"/>
              <a:cs typeface="Calibri"/>
              <a:sym typeface="Calibri"/>
            </a:endParaRPr>
          </a:p>
          <a:p>
            <a:pPr indent="-177800" lvl="0" marL="182880" marR="13208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hace cuando un gestor le pide que haga posible 	que pueda recuperar e introducir datos con la base de 	datos de la compañía?</a:t>
            </a:r>
            <a:endParaRPr sz="2800">
              <a:latin typeface="Calibri"/>
              <a:ea typeface="Calibri"/>
              <a:cs typeface="Calibri"/>
              <a:sym typeface="Calibri"/>
            </a:endParaRPr>
          </a:p>
          <a:p>
            <a:pPr indent="-177800" lvl="0" marL="182880" marR="50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"Que no sea demasiado complicado. Solo quiero poder 	preparar informes sobre todas nuestras operaciones."</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112" name="Google Shape;112;p19"/>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13" name="Google Shape;113;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4" name="Google Shape;114;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5" name="Google Shape;115;p19"/>
          <p:cNvSpPr txBox="1"/>
          <p:nvPr/>
        </p:nvSpPr>
        <p:spPr>
          <a:xfrm>
            <a:off x="483552" y="1415417"/>
            <a:ext cx="8147684" cy="4315460"/>
          </a:xfrm>
          <a:prstGeom prst="rect">
            <a:avLst/>
          </a:prstGeom>
          <a:noFill/>
          <a:ln>
            <a:noFill/>
          </a:ln>
        </p:spPr>
        <p:txBody>
          <a:bodyPr anchorCtr="0" anchor="t" bIns="0" lIns="0" spcFirstLastPara="1" rIns="0" wrap="square" tIns="59675">
            <a:spAutoFit/>
          </a:bodyPr>
          <a:lstStyle/>
          <a:p>
            <a:pPr indent="-177800" lvl="0" marL="182880" marR="7861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¿Deben tener estos empleados acceso a todos los 	datos de la compañía?</a:t>
            </a:r>
            <a:endParaRPr sz="2800">
              <a:latin typeface="Calibri"/>
              <a:ea typeface="Calibri"/>
              <a:cs typeface="Calibri"/>
              <a:sym typeface="Calibri"/>
            </a:endParaRPr>
          </a:p>
          <a:p>
            <a:pPr indent="-177800" lvl="0" marL="182880" marR="1659889"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¿Cómo ejecutarán comandos que necesitan 	condiciones de unión?</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conveniente permitir la entrada de datos de todos?</a:t>
            </a:r>
            <a:endParaRPr sz="2800">
              <a:latin typeface="Calibri"/>
              <a:ea typeface="Calibri"/>
              <a:cs typeface="Calibri"/>
              <a:sym typeface="Calibri"/>
            </a:endParaRPr>
          </a:p>
          <a:p>
            <a:pPr indent="-177800" lvl="0" marL="182880" marR="554355" rtl="0" algn="l">
              <a:lnSpc>
                <a:spcPct val="108214"/>
              </a:lnSpc>
              <a:spcBef>
                <a:spcPts val="83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Estas son las preguntas que como administrador de 	bases de datos tiene que saber responder</a:t>
            </a:r>
            <a:endParaRPr sz="2800">
              <a:latin typeface="Calibri"/>
              <a:ea typeface="Calibri"/>
              <a:cs typeface="Calibri"/>
              <a:sym typeface="Calibri"/>
            </a:endParaRPr>
          </a:p>
          <a:p>
            <a:pPr indent="-177800" lvl="0" marL="182880" marR="55753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sección, aprenderá a crear "vistas": 	representaciones virtuales de tablas personalizadas 	para cumplir los requisitos de usuario específicos</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92112" y="748031"/>
            <a:ext cx="597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Ver</a:t>
            </a:r>
            <a:endParaRPr/>
          </a:p>
        </p:txBody>
      </p:sp>
      <p:sp>
        <p:nvSpPr>
          <p:cNvPr id="121" name="Google Shape;121;p20"/>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22" name="Google Shape;122;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3" name="Google Shape;123;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4" name="Google Shape;124;p20"/>
          <p:cNvSpPr txBox="1"/>
          <p:nvPr/>
        </p:nvSpPr>
        <p:spPr>
          <a:xfrm>
            <a:off x="483552" y="1415417"/>
            <a:ext cx="8114030" cy="3547110"/>
          </a:xfrm>
          <a:prstGeom prst="rect">
            <a:avLst/>
          </a:prstGeom>
          <a:noFill/>
          <a:ln>
            <a:noFill/>
          </a:ln>
        </p:spPr>
        <p:txBody>
          <a:bodyPr anchorCtr="0" anchor="t" bIns="0" lIns="0" spcFirstLastPara="1" rIns="0" wrap="square" tIns="59675">
            <a:spAutoFit/>
          </a:bodyPr>
          <a:lstStyle/>
          <a:p>
            <a:pPr indent="-177800" lvl="0" marL="182880" marR="5842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vista, como una tabla, es un objeto de base de 	datos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las vistas no son tablas "reales"</a:t>
            </a:r>
            <a:endParaRPr sz="2800">
              <a:latin typeface="Calibri"/>
              <a:ea typeface="Calibri"/>
              <a:cs typeface="Calibri"/>
              <a:sym typeface="Calibri"/>
            </a:endParaRPr>
          </a:p>
          <a:p>
            <a:pPr indent="-177800" lvl="0" marL="182880" marR="84836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Son representaciones lógicas de tablas existentes 	o de otra vista</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vistas no contienen datos propios</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Funcionan como una ventana por la que se pueden ver 	o cambiar los datos de las tablas</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92112" y="748031"/>
            <a:ext cx="597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Ver</a:t>
            </a:r>
            <a:endParaRPr/>
          </a:p>
        </p:txBody>
      </p:sp>
      <p:sp>
        <p:nvSpPr>
          <p:cNvPr id="130" name="Google Shape;130;p21"/>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31" name="Google Shape;131;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2" name="Google Shape;132;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3" name="Google Shape;133;p21"/>
          <p:cNvSpPr txBox="1"/>
          <p:nvPr/>
        </p:nvSpPr>
        <p:spPr>
          <a:xfrm>
            <a:off x="483552" y="1415417"/>
            <a:ext cx="748665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tablas en las que se basa la vista se denominan 	tablas "base"</a:t>
            </a:r>
            <a:endParaRPr sz="2800">
              <a:latin typeface="Calibri"/>
              <a:ea typeface="Calibri"/>
              <a:cs typeface="Calibri"/>
              <a:sym typeface="Calibri"/>
            </a:endParaRPr>
          </a:p>
          <a:p>
            <a:pPr indent="-177800" lvl="0" marL="182880" marR="57721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vista es una consulta almacenada como una 	sentencia SELECT en el diccionario de datos</a:t>
            </a:r>
            <a:endParaRPr sz="2800">
              <a:latin typeface="Calibri"/>
              <a:ea typeface="Calibri"/>
              <a:cs typeface="Calibri"/>
              <a:sym typeface="Calibri"/>
            </a:endParaRPr>
          </a:p>
        </p:txBody>
      </p:sp>
      <p:graphicFrame>
        <p:nvGraphicFramePr>
          <p:cNvPr id="134" name="Google Shape;134;p21"/>
          <p:cNvGraphicFramePr/>
          <p:nvPr/>
        </p:nvGraphicFramePr>
        <p:xfrm>
          <a:off x="4341204" y="4456976"/>
          <a:ext cx="3000000" cy="3000000"/>
        </p:xfrm>
        <a:graphic>
          <a:graphicData uri="http://schemas.openxmlformats.org/drawingml/2006/table">
            <a:tbl>
              <a:tblPr bandRow="1" firstRow="1">
                <a:noFill/>
                <a:tableStyleId>{20024D5D-1C1F-45E2-AE0C-9CCD218EB29E}</a:tableStyleId>
              </a:tblPr>
              <a:tblGrid>
                <a:gridCol w="1212850"/>
                <a:gridCol w="1120775"/>
                <a:gridCol w="1033775"/>
                <a:gridCol w="1022975"/>
              </a:tblGrid>
              <a:tr h="236225">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FIRST_NAME</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EMAIL</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3622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100</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Steven</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King</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SKING</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6225">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101</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Neena</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Kochhar</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NKOCHHAR</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6225">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102</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Lex</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De Haan</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LDEHAAN</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6225">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124</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Kevin</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Mourgos</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400" u="none" cap="none" strike="noStrike">
                          <a:solidFill>
                            <a:srgbClr val="4E3629"/>
                          </a:solidFill>
                          <a:latin typeface="Calibri"/>
                          <a:ea typeface="Calibri"/>
                          <a:cs typeface="Calibri"/>
                          <a:sym typeface="Calibri"/>
                        </a:rPr>
                        <a:t>KMOURGOS</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6225">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103</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Alexander</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Hunold</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AHUNOLD</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6225">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104</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Bruce</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Ernst</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BERNST</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6225">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107</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Diana</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Lorentz</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42"/>
                        </a:lnSpc>
                        <a:spcBef>
                          <a:spcPts val="0"/>
                        </a:spcBef>
                        <a:spcAft>
                          <a:spcPts val="0"/>
                        </a:spcAft>
                        <a:buNone/>
                      </a:pPr>
                      <a:r>
                        <a:rPr lang="en-US" sz="1400" u="none" cap="none" strike="noStrike">
                          <a:solidFill>
                            <a:srgbClr val="4E3629"/>
                          </a:solidFill>
                          <a:latin typeface="Calibri"/>
                          <a:ea typeface="Calibri"/>
                          <a:cs typeface="Calibri"/>
                          <a:sym typeface="Calibri"/>
                        </a:rPr>
                        <a:t>DLORENTZ</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35" name="Google Shape;135;p21"/>
          <p:cNvSpPr txBox="1"/>
          <p:nvPr/>
        </p:nvSpPr>
        <p:spPr>
          <a:xfrm>
            <a:off x="393191" y="3182111"/>
            <a:ext cx="8345805" cy="115252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9722"/>
              </a:lnSpc>
              <a:spcBef>
                <a:spcPts val="0"/>
              </a:spcBef>
              <a:spcAft>
                <a:spcPts val="0"/>
              </a:spcAft>
              <a:buNone/>
            </a:pPr>
            <a:r>
              <a:rPr b="1" lang="en-US" sz="1800">
                <a:solidFill>
                  <a:srgbClr val="4E3629"/>
                </a:solidFill>
                <a:latin typeface="Courier New"/>
                <a:ea typeface="Courier New"/>
                <a:cs typeface="Courier New"/>
                <a:sym typeface="Courier New"/>
              </a:rPr>
              <a:t>CREATE VIEW view_employees</a:t>
            </a:r>
            <a:endParaRPr sz="1800">
              <a:latin typeface="Courier New"/>
              <a:ea typeface="Courier New"/>
              <a:cs typeface="Courier New"/>
              <a:sym typeface="Courier New"/>
            </a:endParaRPr>
          </a:p>
          <a:p>
            <a:pPr indent="-409575" lvl="0" marL="409575" marR="15144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SELECT employee_id,first_name, last_name, email FROM employees</a:t>
            </a:r>
            <a:endParaRPr sz="1800">
              <a:latin typeface="Courier New"/>
              <a:ea typeface="Courier New"/>
              <a:cs typeface="Courier New"/>
              <a:sym typeface="Courier New"/>
            </a:endParaRPr>
          </a:p>
          <a:p>
            <a:pPr indent="0" lvl="0" marL="4095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BETWEEN 100 and 124;</a:t>
            </a:r>
            <a:endParaRPr sz="1800">
              <a:latin typeface="Courier New"/>
              <a:ea typeface="Courier New"/>
              <a:cs typeface="Courier New"/>
              <a:sym typeface="Courier New"/>
            </a:endParaRPr>
          </a:p>
        </p:txBody>
      </p:sp>
      <p:sp>
        <p:nvSpPr>
          <p:cNvPr id="136" name="Google Shape;136;p21"/>
          <p:cNvSpPr txBox="1"/>
          <p:nvPr/>
        </p:nvSpPr>
        <p:spPr>
          <a:xfrm>
            <a:off x="393191" y="4460747"/>
            <a:ext cx="3436620" cy="57658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611"/>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view_employees;</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¿Por Qué Utilizar Vistas?</a:t>
            </a:r>
            <a:endParaRPr/>
          </a:p>
        </p:txBody>
      </p:sp>
      <p:sp>
        <p:nvSpPr>
          <p:cNvPr id="142" name="Google Shape;142;p22"/>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43" name="Google Shape;143;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4" name="Google Shape;144;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5" name="Google Shape;145;p22"/>
          <p:cNvSpPr txBox="1"/>
          <p:nvPr/>
        </p:nvSpPr>
        <p:spPr>
          <a:xfrm>
            <a:off x="483552" y="1419989"/>
            <a:ext cx="8173720" cy="4395470"/>
          </a:xfrm>
          <a:prstGeom prst="rect">
            <a:avLst/>
          </a:prstGeom>
          <a:noFill/>
          <a:ln>
            <a:noFill/>
          </a:ln>
        </p:spPr>
        <p:txBody>
          <a:bodyPr anchorCtr="0" anchor="t" bIns="0" lIns="0" spcFirstLastPara="1" rIns="0" wrap="square" tIns="57775">
            <a:spAutoFit/>
          </a:bodyPr>
          <a:lstStyle/>
          <a:p>
            <a:pPr indent="-172720" lvl="0" marL="184785" marR="661035"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Las vistas restringen el acceso a la tabla base porque la vista puede mostrar las columnas selectivas de la tabla</a:t>
            </a:r>
            <a:endParaRPr sz="2600">
              <a:latin typeface="Calibri"/>
              <a:ea typeface="Calibri"/>
              <a:cs typeface="Calibri"/>
              <a:sym typeface="Calibri"/>
            </a:endParaRPr>
          </a:p>
          <a:p>
            <a:pPr indent="-172085" lvl="0" marL="184150" marR="554355" rtl="0" algn="l">
              <a:lnSpc>
                <a:spcPct val="108076"/>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Las vistas se pueden utilizar para reducir la complejidad de la ejecución de las consultas basadas en sentencias SELECT complicadas</a:t>
            </a:r>
            <a:endParaRPr sz="2600">
              <a:latin typeface="Calibri"/>
              <a:ea typeface="Calibri"/>
              <a:cs typeface="Calibri"/>
              <a:sym typeface="Calibri"/>
            </a:endParaRPr>
          </a:p>
          <a:p>
            <a:pPr indent="-172720" lvl="0" marL="184785" marR="324485" rtl="0" algn="l">
              <a:lnSpc>
                <a:spcPct val="108076"/>
              </a:lnSpc>
              <a:spcBef>
                <a:spcPts val="78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Por ejemplo, el creador de la vista puede construir sentencias de unión que recuperen datos de varias tablas</a:t>
            </a:r>
            <a:endParaRPr sz="2600">
              <a:latin typeface="Calibri"/>
              <a:ea typeface="Calibri"/>
              <a:cs typeface="Calibri"/>
              <a:sym typeface="Calibri"/>
            </a:endParaRPr>
          </a:p>
          <a:p>
            <a:pPr indent="-172720" lvl="0" marL="184785" marR="1252855" rtl="0" algn="l">
              <a:lnSpc>
                <a:spcPct val="108076"/>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usuario de la vista no ve el código subyacente ni cómo crearlo</a:t>
            </a:r>
            <a:endParaRPr sz="2600">
              <a:latin typeface="Calibri"/>
              <a:ea typeface="Calibri"/>
              <a:cs typeface="Calibri"/>
              <a:sym typeface="Calibri"/>
            </a:endParaRPr>
          </a:p>
          <a:p>
            <a:pPr indent="-172720" lvl="0" marL="184785" marR="5080" rtl="0" algn="l">
              <a:lnSpc>
                <a:spcPct val="108076"/>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usuario, mediante la vista interactúa con la base de datos con consultas simples</a:t>
            </a:r>
            <a:endParaRPr sz="26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¿Por Qué Utilizar Vistas?</a:t>
            </a:r>
            <a:endParaRPr/>
          </a:p>
        </p:txBody>
      </p:sp>
      <p:sp>
        <p:nvSpPr>
          <p:cNvPr id="151" name="Google Shape;151;p23"/>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52" name="Google Shape;152;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3" name="Google Shape;153;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4" name="Google Shape;154;p23"/>
          <p:cNvSpPr txBox="1"/>
          <p:nvPr>
            <p:ph idx="1" type="body"/>
          </p:nvPr>
        </p:nvSpPr>
        <p:spPr>
          <a:xfrm>
            <a:off x="483552" y="1415417"/>
            <a:ext cx="8163600" cy="3958800"/>
          </a:xfrm>
          <a:prstGeom prst="rect">
            <a:avLst/>
          </a:prstGeom>
          <a:noFill/>
          <a:ln>
            <a:noFill/>
          </a:ln>
        </p:spPr>
        <p:txBody>
          <a:bodyPr anchorCtr="0" anchor="t" bIns="0" lIns="0" spcFirstLastPara="1" rIns="0" wrap="square" tIns="59675">
            <a:spAutoFit/>
          </a:bodyPr>
          <a:lstStyle/>
          <a:p>
            <a:pPr indent="-177800" lvl="0" marL="182880" marR="173990" rtl="0" algn="l">
              <a:lnSpc>
                <a:spcPct val="108214"/>
              </a:lnSpc>
              <a:spcBef>
                <a:spcPts val="0"/>
              </a:spcBef>
              <a:spcAft>
                <a:spcPts val="0"/>
              </a:spcAft>
              <a:buClr>
                <a:srgbClr val="D1350F"/>
              </a:buClr>
              <a:buSzPts val="2800"/>
              <a:buFont typeface="Arial"/>
              <a:buChar char="•"/>
            </a:pPr>
            <a:r>
              <a:rPr lang="en-US"/>
              <a:t>Las vistas se pueden utilizar para recuperar datos de 	varias tablas, proporcionando independencia de datos 	a los usuarios</a:t>
            </a:r>
            <a:endParaRPr/>
          </a:p>
          <a:p>
            <a:pPr indent="-177800" lvl="0" marL="182880" marR="1486535" rtl="0" algn="l">
              <a:lnSpc>
                <a:spcPct val="108214"/>
              </a:lnSpc>
              <a:spcBef>
                <a:spcPts val="785"/>
              </a:spcBef>
              <a:spcAft>
                <a:spcPts val="0"/>
              </a:spcAft>
              <a:buClr>
                <a:srgbClr val="D1350F"/>
              </a:buClr>
              <a:buSzPts val="2800"/>
              <a:buFont typeface="Arial"/>
              <a:buChar char="•"/>
            </a:pPr>
            <a:r>
              <a:rPr lang="en-US"/>
              <a:t>Los usuarios pueden ver los mismos datos de 	distintas formas</a:t>
            </a:r>
            <a:endParaRPr/>
          </a:p>
          <a:p>
            <a:pPr indent="-177800" lvl="0" marL="182880" marR="5080" rtl="0" algn="l">
              <a:lnSpc>
                <a:spcPct val="108214"/>
              </a:lnSpc>
              <a:spcBef>
                <a:spcPts val="795"/>
              </a:spcBef>
              <a:spcAft>
                <a:spcPts val="1200"/>
              </a:spcAft>
              <a:buClr>
                <a:srgbClr val="D1350F"/>
              </a:buClr>
              <a:buSzPts val="2800"/>
              <a:buFont typeface="Arial"/>
              <a:buChar char="•"/>
            </a:pPr>
            <a:r>
              <a:rPr lang="en-US"/>
              <a:t>Las vistas proporcionan a los grupos de usuarios acceso 	a los datos según unos permisos o criterios concretos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Vistas</a:t>
            </a:r>
            <a:endParaRPr/>
          </a:p>
        </p:txBody>
      </p:sp>
      <p:sp>
        <p:nvSpPr>
          <p:cNvPr id="160" name="Google Shape;160;p24"/>
          <p:cNvSpPr txBox="1"/>
          <p:nvPr/>
        </p:nvSpPr>
        <p:spPr>
          <a:xfrm>
            <a:off x="483552" y="1415417"/>
            <a:ext cx="7582534" cy="1322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una vista, embeba una subconsulta en la 	sentencia CREATE VIEW</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de una sentencia view es la siguiente:</a:t>
            </a:r>
            <a:endParaRPr sz="2800">
              <a:latin typeface="Calibri"/>
              <a:ea typeface="Calibri"/>
              <a:cs typeface="Calibri"/>
              <a:sym typeface="Calibri"/>
            </a:endParaRPr>
          </a:p>
        </p:txBody>
      </p:sp>
      <p:sp>
        <p:nvSpPr>
          <p:cNvPr id="161" name="Google Shape;161;p24"/>
          <p:cNvSpPr/>
          <p:nvPr/>
        </p:nvSpPr>
        <p:spPr>
          <a:xfrm>
            <a:off x="405384" y="3182111"/>
            <a:ext cx="8345805" cy="1152525"/>
          </a:xfrm>
          <a:custGeom>
            <a:rect b="b" l="l" r="r" t="t"/>
            <a:pathLst>
              <a:path extrusionOk="0" h="1152525" w="8345805">
                <a:moveTo>
                  <a:pt x="8345424" y="0"/>
                </a:moveTo>
                <a:lnTo>
                  <a:pt x="0" y="0"/>
                </a:lnTo>
                <a:lnTo>
                  <a:pt x="0" y="1152144"/>
                </a:lnTo>
                <a:lnTo>
                  <a:pt x="8345424" y="1152144"/>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2" name="Google Shape;162;p24"/>
          <p:cNvSpPr txBox="1"/>
          <p:nvPr/>
        </p:nvSpPr>
        <p:spPr>
          <a:xfrm>
            <a:off x="6956488" y="3168903"/>
            <a:ext cx="1377950" cy="29972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[(alias [,</a:t>
            </a:r>
            <a:endParaRPr sz="1800">
              <a:latin typeface="Courier New"/>
              <a:ea typeface="Courier New"/>
              <a:cs typeface="Courier New"/>
              <a:sym typeface="Courier New"/>
            </a:endParaRPr>
          </a:p>
        </p:txBody>
      </p:sp>
      <p:sp>
        <p:nvSpPr>
          <p:cNvPr id="163" name="Google Shape;163;p24"/>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64" name="Google Shape;164;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5" name="Google Shape;165;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6" name="Google Shape;166;p24"/>
          <p:cNvSpPr txBox="1"/>
          <p:nvPr/>
        </p:nvSpPr>
        <p:spPr>
          <a:xfrm>
            <a:off x="404812" y="3168903"/>
            <a:ext cx="6291580" cy="112268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[OR REPLACE] [FORCE| NOFORCE] VIEW view</a:t>
            </a:r>
            <a:endParaRPr sz="1800">
              <a:latin typeface="Courier New"/>
              <a:ea typeface="Courier New"/>
              <a:cs typeface="Courier New"/>
              <a:sym typeface="Courier New"/>
            </a:endParaRPr>
          </a:p>
          <a:p>
            <a:pPr indent="0" lvl="0" marL="4095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alias]...)] AS subquery</a:t>
            </a:r>
            <a:endParaRPr sz="1800">
              <a:latin typeface="Courier New"/>
              <a:ea typeface="Courier New"/>
              <a:cs typeface="Courier New"/>
              <a:sym typeface="Courier New"/>
            </a:endParaRPr>
          </a:p>
          <a:p>
            <a:pPr indent="0" lvl="0" marL="0" marR="4140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[WITH CHECK OPTION [CONSTRAINT constraint]] [WITH READ ONLY [CONSTRAINT constraint]];</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Vistas</a:t>
            </a:r>
            <a:endParaRPr/>
          </a:p>
        </p:txBody>
      </p:sp>
      <p:sp>
        <p:nvSpPr>
          <p:cNvPr id="172" name="Google Shape;172;p25"/>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73" name="Google Shape;173;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4" name="Google Shape;174;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75" name="Google Shape;175;p25"/>
          <p:cNvGraphicFramePr/>
          <p:nvPr/>
        </p:nvGraphicFramePr>
        <p:xfrm>
          <a:off x="798512" y="1921741"/>
          <a:ext cx="3000000" cy="3000000"/>
        </p:xfrm>
        <a:graphic>
          <a:graphicData uri="http://schemas.openxmlformats.org/drawingml/2006/table">
            <a:tbl>
              <a:tblPr bandRow="1" firstRow="1">
                <a:noFill/>
                <a:tableStyleId>{20024D5D-1C1F-45E2-AE0C-9CCD218EB29E}</a:tableStyleId>
              </a:tblPr>
              <a:tblGrid>
                <a:gridCol w="3265175"/>
                <a:gridCol w="4113525"/>
              </a:tblGrid>
              <a:tr h="540375">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OR REPLACE</a:t>
                      </a:r>
                      <a:endParaRPr sz="1600" u="none" cap="none" strike="noStrike">
                        <a:latin typeface="Calibri"/>
                        <a:ea typeface="Calibri"/>
                        <a:cs typeface="Calibri"/>
                        <a:sym typeface="Calibri"/>
                      </a:endParaRPr>
                    </a:p>
                  </a:txBody>
                  <a:tcPr marT="13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Vuelve a crear la vista si ya existe.</a:t>
                      </a:r>
                      <a:endParaRPr sz="1600" u="none" cap="none" strike="noStrike">
                        <a:latin typeface="Calibri"/>
                        <a:ea typeface="Calibri"/>
                        <a:cs typeface="Calibri"/>
                        <a:sym typeface="Calibri"/>
                      </a:endParaRPr>
                    </a:p>
                  </a:txBody>
                  <a:tcPr marT="13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FORCE</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187960"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Crea la vista independientemente de si existen o no las tablas base.</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NOFORCE</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200660"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Crea la vista solo si existe la tabla base (opción por defecto).</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403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view_name</a:t>
                      </a:r>
                      <a:endParaRPr sz="1600" u="none" cap="none" strike="noStrike">
                        <a:latin typeface="Calibri"/>
                        <a:ea typeface="Calibri"/>
                        <a:cs typeface="Calibri"/>
                        <a:sym typeface="Calibri"/>
                      </a:endParaRPr>
                    </a:p>
                  </a:txBody>
                  <a:tcPr marT="13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Especifica el nombre de la vista.</a:t>
                      </a:r>
                      <a:endParaRPr sz="1600" u="none" cap="none" strike="noStrike">
                        <a:latin typeface="Calibri"/>
                        <a:ea typeface="Calibri"/>
                        <a:cs typeface="Calibri"/>
                        <a:sym typeface="Calibri"/>
                      </a:endParaRPr>
                    </a:p>
                  </a:txBody>
                  <a:tcPr marT="13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alias</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559435"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Especifica un nombre para cada expresión seleccionada por la consulta de la vista.</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106617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subconsulta</a:t>
                      </a:r>
                      <a:endParaRPr sz="1600" u="none" cap="none" strike="noStrike">
                        <a:latin typeface="Calibri"/>
                        <a:ea typeface="Calibri"/>
                        <a:cs typeface="Calibri"/>
                        <a:sym typeface="Calibri"/>
                      </a:endParaRPr>
                    </a:p>
                  </a:txBody>
                  <a:tcPr marT="166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581025" rtl="0" algn="l">
                        <a:lnSpc>
                          <a:spcPct val="100200"/>
                        </a:lnSpc>
                        <a:spcBef>
                          <a:spcPts val="0"/>
                        </a:spcBef>
                        <a:spcAft>
                          <a:spcPts val="0"/>
                        </a:spcAft>
                        <a:buNone/>
                      </a:pPr>
                      <a:r>
                        <a:rPr lang="en-US" sz="1600" u="none" cap="none" strike="noStrike">
                          <a:solidFill>
                            <a:srgbClr val="4E3629"/>
                          </a:solidFill>
                          <a:latin typeface="Calibri"/>
                          <a:ea typeface="Calibri"/>
                          <a:cs typeface="Calibri"/>
                          <a:sym typeface="Calibri"/>
                        </a:rPr>
                        <a:t>Es una sentencia SELECT completa. Puede utilizar alias para las columnas de la lista SELECT. La subconsulta puede contener la sintaxis compleja SELECT.</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Vistas</a:t>
            </a:r>
            <a:endParaRPr/>
          </a:p>
        </p:txBody>
      </p:sp>
      <p:sp>
        <p:nvSpPr>
          <p:cNvPr id="181" name="Google Shape;181;p26"/>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82" name="Google Shape;182;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3" name="Google Shape;183;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84" name="Google Shape;184;p26"/>
          <p:cNvGraphicFramePr/>
          <p:nvPr/>
        </p:nvGraphicFramePr>
        <p:xfrm>
          <a:off x="798512" y="1921741"/>
          <a:ext cx="3000000" cy="3000000"/>
        </p:xfrm>
        <a:graphic>
          <a:graphicData uri="http://schemas.openxmlformats.org/drawingml/2006/table">
            <a:tbl>
              <a:tblPr bandRow="1" firstRow="1">
                <a:noFill/>
                <a:tableStyleId>{20024D5D-1C1F-45E2-AE0C-9CCD218EB29E}</a:tableStyleId>
              </a:tblPr>
              <a:tblGrid>
                <a:gridCol w="3265175"/>
                <a:gridCol w="4113525"/>
              </a:tblGrid>
              <a:tr h="82232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WITH CHECK OPTION</a:t>
                      </a:r>
                      <a:endParaRPr sz="1600" u="none" cap="none" strike="noStrike">
                        <a:latin typeface="Calibri"/>
                        <a:ea typeface="Calibri"/>
                        <a:cs typeface="Calibri"/>
                        <a:sym typeface="Calibri"/>
                      </a:endParaRPr>
                    </a:p>
                  </a:txBody>
                  <a:tcPr marT="4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638175" rtl="0" algn="l">
                        <a:lnSpc>
                          <a:spcPct val="100299"/>
                        </a:lnSpc>
                        <a:spcBef>
                          <a:spcPts val="0"/>
                        </a:spcBef>
                        <a:spcAft>
                          <a:spcPts val="0"/>
                        </a:spcAft>
                        <a:buNone/>
                      </a:pPr>
                      <a:r>
                        <a:rPr lang="en-US" sz="1600" u="none" cap="none" strike="noStrike">
                          <a:solidFill>
                            <a:srgbClr val="4E3629"/>
                          </a:solidFill>
                          <a:latin typeface="Calibri"/>
                          <a:ea typeface="Calibri"/>
                          <a:cs typeface="Calibri"/>
                          <a:sym typeface="Calibri"/>
                        </a:rPr>
                        <a:t>Especifica que las filas siguen estando accesibles para la vista después de las operaciones de inserción o actualización.</a:t>
                      </a:r>
                      <a:endParaRPr sz="16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CONSTRAINT</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327025"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Es el nombre asignado a la restricción CHECK OPTION.</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WITH READ ONLY</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455295"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Garantiza que no se pueda realizar ninguna operación DML en esta vista.</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Vistas</a:t>
            </a:r>
            <a:endParaRPr/>
          </a:p>
        </p:txBody>
      </p:sp>
      <p:sp>
        <p:nvSpPr>
          <p:cNvPr id="190" name="Google Shape;190;p27"/>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191" name="Google Shape;191;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2" name="Google Shape;192;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3" name="Google Shape;193;p27"/>
          <p:cNvSpPr txBox="1"/>
          <p:nvPr/>
        </p:nvSpPr>
        <p:spPr>
          <a:xfrm>
            <a:off x="483552" y="1415417"/>
            <a:ext cx="146748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a:t>
            </a:r>
            <a:endParaRPr sz="2800">
              <a:latin typeface="Calibri"/>
              <a:ea typeface="Calibri"/>
              <a:cs typeface="Calibri"/>
              <a:sym typeface="Calibri"/>
            </a:endParaRPr>
          </a:p>
        </p:txBody>
      </p:sp>
      <p:graphicFrame>
        <p:nvGraphicFramePr>
          <p:cNvPr id="194" name="Google Shape;194;p27"/>
          <p:cNvGraphicFramePr/>
          <p:nvPr/>
        </p:nvGraphicFramePr>
        <p:xfrm>
          <a:off x="595539" y="3870589"/>
          <a:ext cx="3000000" cy="3000000"/>
        </p:xfrm>
        <a:graphic>
          <a:graphicData uri="http://schemas.openxmlformats.org/drawingml/2006/table">
            <a:tbl>
              <a:tblPr bandRow="1" firstRow="1">
                <a:noFill/>
                <a:tableStyleId>{20024D5D-1C1F-45E2-AE0C-9CCD218EB29E}</a:tableStyleId>
              </a:tblPr>
              <a:tblGrid>
                <a:gridCol w="1557650"/>
                <a:gridCol w="1393825"/>
                <a:gridCol w="2716525"/>
                <a:gridCol w="1889750"/>
              </a:tblGrid>
              <a:tr h="250825">
                <a:tc>
                  <a:txBody>
                    <a:bodyPr/>
                    <a:lstStyle/>
                    <a:p>
                      <a:pPr indent="0" lvl="0" marL="71755" marR="0" rtl="0" algn="l">
                        <a:lnSpc>
                          <a:spcPct val="115625"/>
                        </a:lnSpc>
                        <a:spcBef>
                          <a:spcPts val="0"/>
                        </a:spcBef>
                        <a:spcAft>
                          <a:spcPts val="0"/>
                        </a:spcAft>
                        <a:buNone/>
                      </a:pPr>
                      <a:r>
                        <a:rPr b="1" lang="en-US" sz="1600" u="none" cap="none" strike="noStrike">
                          <a:solidFill>
                            <a:srgbClr val="4E3629"/>
                          </a:solidFill>
                          <a:latin typeface="Calibri"/>
                          <a:ea typeface="Calibri"/>
                          <a:cs typeface="Calibri"/>
                          <a:sym typeface="Calibri"/>
                        </a:rPr>
                        <a:t>COUNTRY_ID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5625"/>
                        </a:lnSpc>
                        <a:spcBef>
                          <a:spcPts val="0"/>
                        </a:spcBef>
                        <a:spcAft>
                          <a:spcPts val="0"/>
                        </a:spcAft>
                        <a:buNone/>
                      </a:pPr>
                      <a:r>
                        <a:rPr b="1" lang="en-US" sz="1600" u="none" cap="none" strike="noStrike">
                          <a:solidFill>
                            <a:srgbClr val="4E3629"/>
                          </a:solidFill>
                          <a:latin typeface="Calibri"/>
                          <a:ea typeface="Calibri"/>
                          <a:cs typeface="Calibri"/>
                          <a:sym typeface="Calibri"/>
                        </a:rPr>
                        <a:t>REGION_ID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5625"/>
                        </a:lnSpc>
                        <a:spcBef>
                          <a:spcPts val="0"/>
                        </a:spcBef>
                        <a:spcAft>
                          <a:spcPts val="0"/>
                        </a:spcAft>
                        <a:buNone/>
                      </a:pPr>
                      <a:r>
                        <a:rPr b="1" lang="en-US" sz="1600" u="none" cap="none" strike="noStrike">
                          <a:solidFill>
                            <a:srgbClr val="4E3629"/>
                          </a:solidFill>
                          <a:latin typeface="Calibri"/>
                          <a:ea typeface="Calibri"/>
                          <a:cs typeface="Calibri"/>
                          <a:sym typeface="Calibri"/>
                        </a:rPr>
                        <a:t>COUNTRY_NAME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5625"/>
                        </a:lnSpc>
                        <a:spcBef>
                          <a:spcPts val="0"/>
                        </a:spcBef>
                        <a:spcAft>
                          <a:spcPts val="0"/>
                        </a:spcAft>
                        <a:buNone/>
                      </a:pPr>
                      <a:r>
                        <a:rPr b="1" lang="en-US" sz="1600" u="none" cap="none" strike="noStrike">
                          <a:solidFill>
                            <a:srgbClr val="4E3629"/>
                          </a:solidFill>
                          <a:latin typeface="Calibri"/>
                          <a:ea typeface="Calibri"/>
                          <a:cs typeface="Calibri"/>
                          <a:sym typeface="Calibri"/>
                        </a:rPr>
                        <a:t>CAPITOL</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Bailiwick of Guernsey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Saint Peter Port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Bailiwick of Jersey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Saint Helier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387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39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Bosnia and Herzegovina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Sarajevo</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420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Czech Republic</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Prague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298</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Faroe Islands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Torshavn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49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Federal Republic of Germany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Berlin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33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French Republic</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Paris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6985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5" name="Google Shape;195;p27"/>
          <p:cNvSpPr txBox="1"/>
          <p:nvPr/>
        </p:nvSpPr>
        <p:spPr>
          <a:xfrm>
            <a:off x="405384" y="1825751"/>
            <a:ext cx="8345805" cy="115252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OR REPLACE VIEW view_euro_countries</a:t>
            </a:r>
            <a:endParaRPr sz="1800">
              <a:latin typeface="Courier New"/>
              <a:ea typeface="Courier New"/>
              <a:cs typeface="Courier New"/>
              <a:sym typeface="Courier New"/>
            </a:endParaRPr>
          </a:p>
          <a:p>
            <a:pPr indent="-408940" lvl="0" marL="408940" marR="96646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SELECT country_id, region_id, country_name, capitol FROM wf_countries</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location LIKE '%Europe';</a:t>
            </a:r>
            <a:endParaRPr sz="1800">
              <a:latin typeface="Courier New"/>
              <a:ea typeface="Courier New"/>
              <a:cs typeface="Courier New"/>
              <a:sym typeface="Courier New"/>
            </a:endParaRPr>
          </a:p>
        </p:txBody>
      </p:sp>
      <p:sp>
        <p:nvSpPr>
          <p:cNvPr id="196" name="Google Shape;196;p27"/>
          <p:cNvSpPr txBox="1"/>
          <p:nvPr/>
        </p:nvSpPr>
        <p:spPr>
          <a:xfrm>
            <a:off x="393191" y="3122676"/>
            <a:ext cx="8345805" cy="609600"/>
          </a:xfrm>
          <a:prstGeom prst="rect">
            <a:avLst/>
          </a:prstGeom>
          <a:solidFill>
            <a:srgbClr val="9DBDC4">
              <a:alpha val="49804"/>
            </a:srgbClr>
          </a:solidFill>
          <a:ln>
            <a:noFill/>
          </a:ln>
        </p:spPr>
        <p:txBody>
          <a:bodyPr anchorCtr="0" anchor="t" bIns="0" lIns="0" spcFirstLastPara="1" rIns="0" wrap="square" tIns="3175">
            <a:spAutoFit/>
          </a:bodyPr>
          <a:lstStyle/>
          <a:p>
            <a:pPr indent="0" lvl="0" marL="0" marR="38322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 FROM view_euro_countries ORDER BY country_name;</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Instrucciones para la Creación de Vistas</a:t>
            </a:r>
            <a:endParaRPr/>
          </a:p>
        </p:txBody>
      </p:sp>
      <p:sp>
        <p:nvSpPr>
          <p:cNvPr id="202" name="Google Shape;202;p28"/>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03" name="Google Shape;203;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4" name="Google Shape;204;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5" name="Google Shape;205;p28"/>
          <p:cNvSpPr txBox="1"/>
          <p:nvPr/>
        </p:nvSpPr>
        <p:spPr>
          <a:xfrm>
            <a:off x="483552" y="1381889"/>
            <a:ext cx="8030209" cy="4511675"/>
          </a:xfrm>
          <a:prstGeom prst="rect">
            <a:avLst/>
          </a:prstGeom>
          <a:noFill/>
          <a:ln>
            <a:noFill/>
          </a:ln>
        </p:spPr>
        <p:txBody>
          <a:bodyPr anchorCtr="0" anchor="t" bIns="0" lIns="0" spcFirstLastPara="1" rIns="0" wrap="square" tIns="97150">
            <a:spAutoFit/>
          </a:bodyPr>
          <a:lstStyle/>
          <a:p>
            <a:pPr indent="-177800" lvl="0" marL="182880" marR="17843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subconsulta que define la vista no puede contener 	ninguna sintaxis SELECT compleja</a:t>
            </a:r>
            <a:endParaRPr sz="2800">
              <a:latin typeface="Calibri"/>
              <a:ea typeface="Calibri"/>
              <a:cs typeface="Calibri"/>
              <a:sym typeface="Calibri"/>
            </a:endParaRPr>
          </a:p>
          <a:p>
            <a:pPr indent="-177800" lvl="0" marL="182880"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razones de rendimiento, la subconsulta que define 	la vista no debe contener ninguna cláusula ORDER BY. 	La cláusula ORDER BY se mejor especifica al recuperar 	datos de la vista</a:t>
            </a:r>
            <a:endParaRPr sz="2800">
              <a:latin typeface="Calibri"/>
              <a:ea typeface="Calibri"/>
              <a:cs typeface="Calibri"/>
              <a:sym typeface="Calibri"/>
            </a:endParaRPr>
          </a:p>
          <a:p>
            <a:pPr indent="-177800" lvl="0" marL="182880" marR="318135"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utilizar la opción OR REPLACE para cambiar la 	definición de la vista sin tener que borrarla o sin 	necesidad de volver a otorgarle los privilegios de 	objeto otorgados previamente</a:t>
            </a:r>
            <a:endParaRPr sz="2800">
              <a:latin typeface="Calibri"/>
              <a:ea typeface="Calibri"/>
              <a:cs typeface="Calibri"/>
              <a:sym typeface="Calibri"/>
            </a:endParaRPr>
          </a:p>
          <a:p>
            <a:pPr indent="-177800" lvl="0" marL="182880" marR="19240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pueden utilizar alias para los nombres de columna 	en la subconsulta</a:t>
            </a:r>
            <a:endParaRPr sz="28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nvSpPr>
        <p:spPr>
          <a:xfrm>
            <a:off x="51721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211" name="Google Shape;211;p29"/>
          <p:cNvSpPr txBox="1"/>
          <p:nvPr/>
        </p:nvSpPr>
        <p:spPr>
          <a:xfrm>
            <a:off x="2874191" y="6489343"/>
            <a:ext cx="829944" cy="271145"/>
          </a:xfrm>
          <a:prstGeom prst="rect">
            <a:avLst/>
          </a:prstGeom>
          <a:noFill/>
          <a:ln>
            <a:noFill/>
          </a:ln>
        </p:spPr>
        <p:txBody>
          <a:bodyPr anchorCtr="0" anchor="t" bIns="0" lIns="0" spcFirstLastPara="1" rIns="0" wrap="square" tIns="12700">
            <a:spAutoFit/>
          </a:bodyPr>
          <a:lstStyle/>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DP 15-1</a:t>
            </a:r>
            <a:endParaRPr sz="850">
              <a:latin typeface="Calibri"/>
              <a:ea typeface="Calibri"/>
              <a:cs typeface="Calibri"/>
              <a:sym typeface="Calibri"/>
            </a:endParaRPr>
          </a:p>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Creación de Vistas</a:t>
            </a:r>
            <a:endParaRPr sz="850">
              <a:latin typeface="Calibri"/>
              <a:ea typeface="Calibri"/>
              <a:cs typeface="Calibri"/>
              <a:sym typeface="Calibri"/>
            </a:endParaRPr>
          </a:p>
        </p:txBody>
      </p:sp>
      <p:sp>
        <p:nvSpPr>
          <p:cNvPr id="212" name="Google Shape;212;p29"/>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de CREATE VIEW</a:t>
            </a:r>
            <a:endParaRPr/>
          </a:p>
        </p:txBody>
      </p:sp>
      <p:sp>
        <p:nvSpPr>
          <p:cNvPr id="213" name="Google Shape;213;p29"/>
          <p:cNvSpPr txBox="1"/>
          <p:nvPr/>
        </p:nvSpPr>
        <p:spPr>
          <a:xfrm>
            <a:off x="483552" y="1415417"/>
            <a:ext cx="7339965" cy="1322070"/>
          </a:xfrm>
          <a:prstGeom prst="rect">
            <a:avLst/>
          </a:prstGeom>
          <a:noFill/>
          <a:ln>
            <a:noFill/>
          </a:ln>
        </p:spPr>
        <p:txBody>
          <a:bodyPr anchorCtr="0" anchor="t" bIns="0" lIns="0" spcFirstLastPara="1" rIns="0" wrap="square" tIns="59675">
            <a:spAutoFit/>
          </a:bodyPr>
          <a:lstStyle/>
          <a:p>
            <a:pPr indent="-177800" lvl="0" marL="182880" marR="1244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utilizan dos clasificaciones de vistas: simples y 	complejas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tabla se resumen las funciones de cada vista</a:t>
            </a:r>
            <a:endParaRPr sz="2800">
              <a:latin typeface="Calibri"/>
              <a:ea typeface="Calibri"/>
              <a:cs typeface="Calibri"/>
              <a:sym typeface="Calibri"/>
            </a:endParaRPr>
          </a:p>
        </p:txBody>
      </p:sp>
      <p:sp>
        <p:nvSpPr>
          <p:cNvPr id="214" name="Google Shape;214;p29"/>
          <p:cNvSpPr txBox="1"/>
          <p:nvPr/>
        </p:nvSpPr>
        <p:spPr>
          <a:xfrm>
            <a:off x="8626856" y="6562597"/>
            <a:ext cx="135255"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17</a:t>
            </a:r>
            <a:endParaRPr sz="850">
              <a:latin typeface="Calibri"/>
              <a:ea typeface="Calibri"/>
              <a:cs typeface="Calibri"/>
              <a:sym typeface="Calibri"/>
            </a:endParaRPr>
          </a:p>
        </p:txBody>
      </p:sp>
      <p:graphicFrame>
        <p:nvGraphicFramePr>
          <p:cNvPr id="215" name="Google Shape;215;p29"/>
          <p:cNvGraphicFramePr/>
          <p:nvPr/>
        </p:nvGraphicFramePr>
        <p:xfrm>
          <a:off x="384290" y="3326009"/>
          <a:ext cx="3000000" cy="3000000"/>
        </p:xfrm>
        <a:graphic>
          <a:graphicData uri="http://schemas.openxmlformats.org/drawingml/2006/table">
            <a:tbl>
              <a:tblPr bandRow="1" firstRow="1">
                <a:noFill/>
                <a:tableStyleId>{20024D5D-1C1F-45E2-AE0C-9CCD218EB29E}</a:tableStyleId>
              </a:tblPr>
              <a:tblGrid>
                <a:gridCol w="3036575"/>
                <a:gridCol w="2491750"/>
                <a:gridCol w="2819400"/>
              </a:tblGrid>
              <a:tr h="299075">
                <a:tc>
                  <a:txBody>
                    <a:bodyPr/>
                    <a:lstStyle/>
                    <a:p>
                      <a:pPr indent="0" lvl="0" marL="1968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Función</a:t>
                      </a:r>
                      <a:endParaRPr sz="18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Vistas Simples</a:t>
                      </a:r>
                      <a:endParaRPr sz="18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Vistas Complejas</a:t>
                      </a:r>
                      <a:endParaRPr sz="18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573400">
                <a:tc>
                  <a:txBody>
                    <a:bodyPr/>
                    <a:lstStyle/>
                    <a:p>
                      <a:pPr indent="0" lvl="0" marL="19685" marR="371475" rtl="0" algn="l">
                        <a:lnSpc>
                          <a:spcPct val="121111"/>
                        </a:lnSpc>
                        <a:spcBef>
                          <a:spcPts val="0"/>
                        </a:spcBef>
                        <a:spcAft>
                          <a:spcPts val="0"/>
                        </a:spcAft>
                        <a:buNone/>
                      </a:pPr>
                      <a:r>
                        <a:rPr b="1" lang="en-US" sz="1800" u="none" cap="none" strike="noStrike">
                          <a:solidFill>
                            <a:srgbClr val="4E3629"/>
                          </a:solidFill>
                          <a:latin typeface="Calibri"/>
                          <a:ea typeface="Calibri"/>
                          <a:cs typeface="Calibri"/>
                          <a:sym typeface="Calibri"/>
                        </a:rPr>
                        <a:t>Número de tablas utilizadas para derivar datos</a:t>
                      </a:r>
                      <a:endParaRPr sz="18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Una</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Una o más</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9075">
                <a:tc>
                  <a:txBody>
                    <a:bodyPr/>
                    <a:lstStyle/>
                    <a:p>
                      <a:pPr indent="0" lvl="0" marL="1968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Puede contener funciones</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No</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Sí</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3400">
                <a:tc>
                  <a:txBody>
                    <a:bodyPr/>
                    <a:lstStyle/>
                    <a:p>
                      <a:pPr indent="0" lvl="0" marL="19685" marR="405130" rtl="0" algn="l">
                        <a:lnSpc>
                          <a:spcPct val="121111"/>
                        </a:lnSpc>
                        <a:spcBef>
                          <a:spcPts val="0"/>
                        </a:spcBef>
                        <a:spcAft>
                          <a:spcPts val="0"/>
                        </a:spcAft>
                        <a:buNone/>
                      </a:pPr>
                      <a:r>
                        <a:rPr b="1" lang="en-US" sz="1800" u="none" cap="none" strike="noStrike">
                          <a:solidFill>
                            <a:srgbClr val="4E3629"/>
                          </a:solidFill>
                          <a:latin typeface="Calibri"/>
                          <a:ea typeface="Calibri"/>
                          <a:cs typeface="Calibri"/>
                          <a:sym typeface="Calibri"/>
                        </a:rPr>
                        <a:t>Pueden contener grupos de datos</a:t>
                      </a:r>
                      <a:endParaRPr sz="18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No</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Sí</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847725">
                <a:tc>
                  <a:txBody>
                    <a:bodyPr/>
                    <a:lstStyle/>
                    <a:p>
                      <a:pPr indent="0" lvl="0" marL="19685" marR="60325" rtl="0" algn="l">
                        <a:lnSpc>
                          <a:spcPct val="120000"/>
                        </a:lnSpc>
                        <a:spcBef>
                          <a:spcPts val="0"/>
                        </a:spcBef>
                        <a:spcAft>
                          <a:spcPts val="0"/>
                        </a:spcAft>
                        <a:buNone/>
                      </a:pPr>
                      <a:r>
                        <a:rPr b="1" lang="en-US" sz="1800" u="none" cap="none" strike="noStrike">
                          <a:solidFill>
                            <a:srgbClr val="4E3629"/>
                          </a:solidFill>
                          <a:latin typeface="Calibri"/>
                          <a:ea typeface="Calibri"/>
                          <a:cs typeface="Calibri"/>
                          <a:sym typeface="Calibri"/>
                        </a:rPr>
                        <a:t>Puede realizar operaciones DML (INSERT, UPDATE, DELETE)</a:t>
                      </a:r>
                      <a:endParaRPr sz="1800" u="none" cap="none" strike="noStrike">
                        <a:latin typeface="Calibri"/>
                        <a:ea typeface="Calibri"/>
                        <a:cs typeface="Calibri"/>
                        <a:sym typeface="Calibri"/>
                      </a:endParaRPr>
                    </a:p>
                    <a:p>
                      <a:pPr indent="0" lvl="0" marL="19685" marR="0" rtl="0" algn="l">
                        <a:lnSpc>
                          <a:spcPct val="117222"/>
                        </a:lnSpc>
                        <a:spcBef>
                          <a:spcPts val="0"/>
                        </a:spcBef>
                        <a:spcAft>
                          <a:spcPts val="0"/>
                        </a:spcAft>
                        <a:buNone/>
                      </a:pPr>
                      <a:r>
                        <a:rPr b="1" lang="en-US" sz="1800" u="none" cap="none" strike="noStrike">
                          <a:solidFill>
                            <a:srgbClr val="4E3629"/>
                          </a:solidFill>
                          <a:latin typeface="Calibri"/>
                          <a:ea typeface="Calibri"/>
                          <a:cs typeface="Calibri"/>
                          <a:sym typeface="Calibri"/>
                        </a:rPr>
                        <a:t>en una vista</a:t>
                      </a:r>
                      <a:endParaRPr sz="1800" u="none" cap="none" strike="noStrike">
                        <a:latin typeface="Calibri"/>
                        <a:ea typeface="Calibri"/>
                        <a:cs typeface="Calibri"/>
                        <a:sym typeface="Calibri"/>
                      </a:endParaRPr>
                    </a:p>
                  </a:txBody>
                  <a:tcPr marT="6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Sí</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9685"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No siempre</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Vista Simple</a:t>
            </a:r>
            <a:endParaRPr/>
          </a:p>
        </p:txBody>
      </p:sp>
      <p:sp>
        <p:nvSpPr>
          <p:cNvPr id="221" name="Google Shape;221;p30"/>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22" name="Google Shape;222;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3" name="Google Shape;223;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4" name="Google Shape;224;p30"/>
          <p:cNvSpPr txBox="1"/>
          <p:nvPr>
            <p:ph idx="1" type="body"/>
          </p:nvPr>
        </p:nvSpPr>
        <p:spPr>
          <a:xfrm>
            <a:off x="483552" y="1415417"/>
            <a:ext cx="8163600" cy="3958800"/>
          </a:xfrm>
          <a:prstGeom prst="rect">
            <a:avLst/>
          </a:prstGeom>
          <a:noFill/>
          <a:ln>
            <a:noFill/>
          </a:ln>
        </p:spPr>
        <p:txBody>
          <a:bodyPr anchorCtr="0" anchor="t" bIns="0" lIns="0" spcFirstLastPara="1" rIns="0" wrap="square" tIns="59675">
            <a:spAutoFit/>
          </a:bodyPr>
          <a:lstStyle/>
          <a:p>
            <a:pPr indent="-177800" lvl="0" marL="182880" marR="300355" rtl="0" algn="l">
              <a:lnSpc>
                <a:spcPct val="108214"/>
              </a:lnSpc>
              <a:spcBef>
                <a:spcPts val="0"/>
              </a:spcBef>
              <a:spcAft>
                <a:spcPts val="0"/>
              </a:spcAft>
              <a:buClr>
                <a:srgbClr val="D1350F"/>
              </a:buClr>
              <a:buSzPts val="2800"/>
              <a:buFont typeface="Arial"/>
              <a:buChar char="•"/>
            </a:pPr>
            <a:r>
              <a:rPr lang="en-US"/>
              <a:t>La vista que se muestra a continuación es un ejemplo 	de una vista simple</a:t>
            </a:r>
            <a:endParaRPr/>
          </a:p>
          <a:p>
            <a:pPr indent="-177800" lvl="0" marL="182880" marR="125730" rtl="0" algn="l">
              <a:lnSpc>
                <a:spcPct val="108214"/>
              </a:lnSpc>
              <a:spcBef>
                <a:spcPts val="795"/>
              </a:spcBef>
              <a:spcAft>
                <a:spcPts val="0"/>
              </a:spcAft>
              <a:buClr>
                <a:srgbClr val="D1350F"/>
              </a:buClr>
              <a:buSzPts val="2800"/>
              <a:buFont typeface="Arial"/>
              <a:buChar char="•"/>
            </a:pPr>
            <a:r>
              <a:rPr lang="en-US"/>
              <a:t>La subconsulta deriva datos a partir de una única tabla 	y no contiene ninguna función de unión ni ninguna 	función de grupo</a:t>
            </a:r>
            <a:endParaRPr/>
          </a:p>
          <a:p>
            <a:pPr indent="-177800" lvl="0" marL="182880" marR="5080" rtl="0" algn="l">
              <a:lnSpc>
                <a:spcPct val="108214"/>
              </a:lnSpc>
              <a:spcBef>
                <a:spcPts val="785"/>
              </a:spcBef>
              <a:spcAft>
                <a:spcPts val="1200"/>
              </a:spcAft>
              <a:buClr>
                <a:srgbClr val="D1350F"/>
              </a:buClr>
              <a:buSzPts val="2800"/>
              <a:buFont typeface="Arial"/>
              <a:buChar char="•"/>
            </a:pPr>
            <a:r>
              <a:rPr lang="en-US"/>
              <a:t>Puesto que es una vista simple, las operaciones INSERT, 	UPDATE, DELETE y MERGE que afectan a la tabla base 	se podrían realizar en la vista</a:t>
            </a:r>
            <a:endParaRPr/>
          </a:p>
        </p:txBody>
      </p:sp>
      <p:sp>
        <p:nvSpPr>
          <p:cNvPr id="225" name="Google Shape;225;p30"/>
          <p:cNvSpPr txBox="1"/>
          <p:nvPr/>
        </p:nvSpPr>
        <p:spPr>
          <a:xfrm>
            <a:off x="393191" y="4835652"/>
            <a:ext cx="8345805" cy="1149350"/>
          </a:xfrm>
          <a:prstGeom prst="rect">
            <a:avLst/>
          </a:prstGeom>
          <a:solidFill>
            <a:srgbClr val="9DBDC4">
              <a:alpha val="49804"/>
            </a:srgbClr>
          </a:solidFill>
          <a:ln>
            <a:noFill/>
          </a:ln>
        </p:spPr>
        <p:txBody>
          <a:bodyPr anchorCtr="0" anchor="t" bIns="0" lIns="0" spcFirstLastPara="1" rIns="0" wrap="square" tIns="6975">
            <a:spAutoFit/>
          </a:bodyPr>
          <a:lstStyle/>
          <a:p>
            <a:pPr indent="0" lvl="0" marL="0" marR="246697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CREATE OR REPLACE VIEW view_euro_countries AS SELECT country_id, country_name, capitol</a:t>
            </a:r>
            <a:endParaRPr sz="1800">
              <a:latin typeface="Courier New"/>
              <a:ea typeface="Courier New"/>
              <a:cs typeface="Courier New"/>
              <a:sym typeface="Courier New"/>
            </a:endParaRPr>
          </a:p>
          <a:p>
            <a:pPr indent="0" lvl="0" marL="409575" rtl="0" algn="l">
              <a:lnSpc>
                <a:spcPct val="116111"/>
              </a:lnSpc>
              <a:spcBef>
                <a:spcPts val="0"/>
              </a:spcBef>
              <a:spcAft>
                <a:spcPts val="0"/>
              </a:spcAft>
              <a:buNone/>
            </a:pPr>
            <a:r>
              <a:rPr b="1" lang="en-US" sz="1800">
                <a:solidFill>
                  <a:srgbClr val="4E3629"/>
                </a:solidFill>
                <a:latin typeface="Courier New"/>
                <a:ea typeface="Courier New"/>
                <a:cs typeface="Courier New"/>
                <a:sym typeface="Courier New"/>
              </a:rPr>
              <a:t>FROM wf_countries</a:t>
            </a:r>
            <a:endParaRPr sz="1800">
              <a:latin typeface="Courier New"/>
              <a:ea typeface="Courier New"/>
              <a:cs typeface="Courier New"/>
              <a:sym typeface="Courier New"/>
            </a:endParaRPr>
          </a:p>
          <a:p>
            <a:pPr indent="0" lvl="0" marL="4095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location LIKE '%Europe';</a:t>
            </a:r>
            <a:endParaRPr sz="18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Vista Simple</a:t>
            </a:r>
            <a:endParaRPr/>
          </a:p>
        </p:txBody>
      </p:sp>
      <p:sp>
        <p:nvSpPr>
          <p:cNvPr id="231" name="Google Shape;231;p31"/>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32" name="Google Shape;232;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3" name="Google Shape;233;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4" name="Google Shape;234;p31"/>
          <p:cNvSpPr txBox="1"/>
          <p:nvPr/>
        </p:nvSpPr>
        <p:spPr>
          <a:xfrm>
            <a:off x="483552" y="1415417"/>
            <a:ext cx="7633334"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nombres de columna en la sentencia SELECT 	pueden tener alias como se muestra a continuación</a:t>
            </a:r>
            <a:endParaRPr sz="2800">
              <a:latin typeface="Calibri"/>
              <a:ea typeface="Calibri"/>
              <a:cs typeface="Calibri"/>
              <a:sym typeface="Calibri"/>
            </a:endParaRPr>
          </a:p>
          <a:p>
            <a:pPr indent="-177800" lvl="0" marL="182880" marR="246379"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en cuenta que los alias también se pueden 	enumerar después de la sentencia CREATE VIEW y 	antes de la subconsulta SELECT</a:t>
            </a:r>
            <a:endParaRPr sz="2800">
              <a:latin typeface="Calibri"/>
              <a:ea typeface="Calibri"/>
              <a:cs typeface="Calibri"/>
              <a:sym typeface="Calibri"/>
            </a:endParaRPr>
          </a:p>
        </p:txBody>
      </p:sp>
      <p:sp>
        <p:nvSpPr>
          <p:cNvPr id="235" name="Google Shape;235;p31"/>
          <p:cNvSpPr txBox="1"/>
          <p:nvPr/>
        </p:nvSpPr>
        <p:spPr>
          <a:xfrm>
            <a:off x="405384" y="3541776"/>
            <a:ext cx="8345805" cy="119634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3125"/>
              </a:lnSpc>
              <a:spcBef>
                <a:spcPts val="0"/>
              </a:spcBef>
              <a:spcAft>
                <a:spcPts val="0"/>
              </a:spcAft>
              <a:buNone/>
            </a:pPr>
            <a:r>
              <a:rPr b="1" lang="en-US" sz="1600">
                <a:solidFill>
                  <a:srgbClr val="4E3629"/>
                </a:solidFill>
                <a:latin typeface="Courier New"/>
                <a:ea typeface="Courier New"/>
                <a:cs typeface="Courier New"/>
                <a:sym typeface="Courier New"/>
              </a:rPr>
              <a:t>CREATE OR REPLACE VIEW view_euro_countries</a:t>
            </a:r>
            <a:endParaRPr sz="1600">
              <a:latin typeface="Courier New"/>
              <a:ea typeface="Courier New"/>
              <a:cs typeface="Courier New"/>
              <a:sym typeface="Courier New"/>
            </a:endParaRPr>
          </a:p>
          <a:p>
            <a:pPr indent="-730885" lvl="0" marL="730885" marR="149733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AS SELECT country_id </a:t>
            </a:r>
            <a:r>
              <a:rPr b="1" lang="en-US" sz="1600">
                <a:solidFill>
                  <a:srgbClr val="D1350F"/>
                </a:solidFill>
                <a:latin typeface="Courier New"/>
                <a:ea typeface="Courier New"/>
                <a:cs typeface="Courier New"/>
                <a:sym typeface="Courier New"/>
              </a:rPr>
              <a:t>AS "ID"</a:t>
            </a:r>
            <a:r>
              <a:rPr b="1" lang="en-US" sz="1600">
                <a:solidFill>
                  <a:srgbClr val="4E3629"/>
                </a:solidFill>
                <a:latin typeface="Courier New"/>
                <a:ea typeface="Courier New"/>
                <a:cs typeface="Courier New"/>
                <a:sym typeface="Courier New"/>
              </a:rPr>
              <a:t>, country_name </a:t>
            </a:r>
            <a:r>
              <a:rPr b="1" lang="en-US" sz="1600">
                <a:solidFill>
                  <a:srgbClr val="D1350F"/>
                </a:solidFill>
                <a:latin typeface="Courier New"/>
                <a:ea typeface="Courier New"/>
                <a:cs typeface="Courier New"/>
                <a:sym typeface="Courier New"/>
              </a:rPr>
              <a:t>AS "Country"</a:t>
            </a:r>
            <a:r>
              <a:rPr b="1" lang="en-US" sz="1600">
                <a:solidFill>
                  <a:srgbClr val="4E3629"/>
                </a:solidFill>
                <a:latin typeface="Courier New"/>
                <a:ea typeface="Courier New"/>
                <a:cs typeface="Courier New"/>
                <a:sym typeface="Courier New"/>
              </a:rPr>
              <a:t>, capitol </a:t>
            </a:r>
            <a:r>
              <a:rPr b="1" lang="en-US" sz="1600">
                <a:solidFill>
                  <a:srgbClr val="D1350F"/>
                </a:solidFill>
                <a:latin typeface="Courier New"/>
                <a:ea typeface="Courier New"/>
                <a:cs typeface="Courier New"/>
                <a:sym typeface="Courier New"/>
              </a:rPr>
              <a:t>AS "Capitol City"</a:t>
            </a:r>
            <a:endParaRPr sz="1600">
              <a:latin typeface="Courier New"/>
              <a:ea typeface="Courier New"/>
              <a:cs typeface="Courier New"/>
              <a:sym typeface="Courier New"/>
            </a:endParaRPr>
          </a:p>
          <a:p>
            <a:pPr indent="0" lvl="0" marL="36449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wf_countries</a:t>
            </a:r>
            <a:endParaRPr sz="1600">
              <a:latin typeface="Courier New"/>
              <a:ea typeface="Courier New"/>
              <a:cs typeface="Courier New"/>
              <a:sym typeface="Courier New"/>
            </a:endParaRPr>
          </a:p>
          <a:p>
            <a:pPr indent="0" lvl="0" marL="36449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 location LIKE '%Europe';</a:t>
            </a:r>
            <a:endParaRPr sz="1600">
              <a:latin typeface="Courier New"/>
              <a:ea typeface="Courier New"/>
              <a:cs typeface="Courier New"/>
              <a:sym typeface="Courier New"/>
            </a:endParaRPr>
          </a:p>
        </p:txBody>
      </p:sp>
      <p:sp>
        <p:nvSpPr>
          <p:cNvPr id="236" name="Google Shape;236;p31"/>
          <p:cNvSpPr txBox="1"/>
          <p:nvPr/>
        </p:nvSpPr>
        <p:spPr>
          <a:xfrm>
            <a:off x="405384" y="4853940"/>
            <a:ext cx="8345805" cy="121348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7125"/>
              </a:lnSpc>
              <a:spcBef>
                <a:spcPts val="0"/>
              </a:spcBef>
              <a:spcAft>
                <a:spcPts val="0"/>
              </a:spcAft>
              <a:buNone/>
            </a:pPr>
            <a:r>
              <a:rPr b="1" lang="en-US" sz="1600">
                <a:solidFill>
                  <a:srgbClr val="4E3629"/>
                </a:solidFill>
                <a:latin typeface="Courier New"/>
                <a:ea typeface="Courier New"/>
                <a:cs typeface="Courier New"/>
                <a:sym typeface="Courier New"/>
              </a:rPr>
              <a:t>CREATE OR REPLACE VIEW view_euro_countries</a:t>
            </a:r>
            <a:r>
              <a:rPr b="1" lang="en-US" sz="1600">
                <a:solidFill>
                  <a:srgbClr val="D1350F"/>
                </a:solidFill>
                <a:latin typeface="Courier New"/>
                <a:ea typeface="Courier New"/>
                <a:cs typeface="Courier New"/>
                <a:sym typeface="Courier New"/>
              </a:rPr>
              <a:t>("ID", "Country",</a:t>
            </a:r>
            <a:endParaRPr sz="1600">
              <a:latin typeface="Courier New"/>
              <a:ea typeface="Courier New"/>
              <a:cs typeface="Courier New"/>
              <a:sym typeface="Courier New"/>
            </a:endParaRPr>
          </a:p>
          <a:p>
            <a:pPr indent="0" lvl="0" marL="487045"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"Capitol City")</a:t>
            </a:r>
            <a:endParaRPr sz="1600">
              <a:latin typeface="Courier New"/>
              <a:ea typeface="Courier New"/>
              <a:cs typeface="Courier New"/>
              <a:sym typeface="Courier New"/>
            </a:endParaRPr>
          </a:p>
          <a:p>
            <a:pPr indent="-365125" lvl="0" marL="365125" marR="308800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AS SELECT country_id, country_name, capitol FROM wf_countries</a:t>
            </a:r>
            <a:endParaRPr sz="1600">
              <a:latin typeface="Courier New"/>
              <a:ea typeface="Courier New"/>
              <a:cs typeface="Courier New"/>
              <a:sym typeface="Courier New"/>
            </a:endParaRPr>
          </a:p>
          <a:p>
            <a:pPr indent="0" lvl="0" marL="36512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 location LIKE '%Europe';</a:t>
            </a:r>
            <a:endParaRPr sz="16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Vista Simple</a:t>
            </a:r>
            <a:endParaRPr/>
          </a:p>
        </p:txBody>
      </p:sp>
      <p:sp>
        <p:nvSpPr>
          <p:cNvPr id="242" name="Google Shape;242;p32"/>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43" name="Google Shape;243;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4" name="Google Shape;244;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5" name="Google Shape;245;p32"/>
          <p:cNvSpPr txBox="1"/>
          <p:nvPr/>
        </p:nvSpPr>
        <p:spPr>
          <a:xfrm>
            <a:off x="483552" y="1381889"/>
            <a:ext cx="8140700" cy="4272280"/>
          </a:xfrm>
          <a:prstGeom prst="rect">
            <a:avLst/>
          </a:prstGeom>
          <a:noFill/>
          <a:ln>
            <a:noFill/>
          </a:ln>
        </p:spPr>
        <p:txBody>
          <a:bodyPr anchorCtr="0" anchor="t" bIns="0" lIns="0" spcFirstLastPara="1" rIns="0" wrap="square" tIns="97150">
            <a:spAutoFit/>
          </a:bodyPr>
          <a:lstStyle/>
          <a:p>
            <a:pPr indent="-177800" lvl="0" marL="182880" marR="45910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posible crear una vista independientemente de si 	existen o no las tablas base</a:t>
            </a:r>
            <a:endParaRPr sz="2800">
              <a:latin typeface="Calibri"/>
              <a:ea typeface="Calibri"/>
              <a:cs typeface="Calibri"/>
              <a:sym typeface="Calibri"/>
            </a:endParaRPr>
          </a:p>
          <a:p>
            <a:pPr indent="-177800" lvl="0" marL="182880" marR="76581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agregar la palabra FORCE a la sentencia CREATE 	VIEW, se crea la vista</a:t>
            </a:r>
            <a:endParaRPr sz="2800">
              <a:latin typeface="Calibri"/>
              <a:ea typeface="Calibri"/>
              <a:cs typeface="Calibri"/>
              <a:sym typeface="Calibri"/>
            </a:endParaRPr>
          </a:p>
          <a:p>
            <a:pPr indent="-177800" lvl="0" marL="182880" marR="104139"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DBA, esta opción puede ser útil durante el 	desarrollo de una base de datos, especialmente si está 	esperando que en breve se le otorguen los privilegios 	necesarios para el objeto al que se hace referencia</a:t>
            </a:r>
            <a:endParaRPr sz="2800">
              <a:latin typeface="Calibri"/>
              <a:ea typeface="Calibri"/>
              <a:cs typeface="Calibri"/>
              <a:sym typeface="Calibri"/>
            </a:endParaRPr>
          </a:p>
          <a:p>
            <a:pPr indent="-177800" lvl="0" marL="183515" rtl="0" algn="l">
              <a:lnSpc>
                <a:spcPct val="100000"/>
              </a:lnSpc>
              <a:spcBef>
                <a:spcPts val="1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opción FORCE creará la vista a pesar de no ser válida</a:t>
            </a:r>
            <a:endParaRPr sz="2800">
              <a:latin typeface="Calibri"/>
              <a:ea typeface="Calibri"/>
              <a:cs typeface="Calibri"/>
              <a:sym typeface="Calibri"/>
            </a:endParaRPr>
          </a:p>
          <a:p>
            <a:pPr indent="-177800" lvl="0" marL="182880" marR="1524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opción NOFORCE es el valor por defecto al crear una 	vista</a:t>
            </a:r>
            <a:endParaRPr sz="28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Vista Compleja</a:t>
            </a:r>
            <a:endParaRPr/>
          </a:p>
        </p:txBody>
      </p:sp>
      <p:sp>
        <p:nvSpPr>
          <p:cNvPr id="251" name="Google Shape;251;p33"/>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52" name="Google Shape;252;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3" name="Google Shape;253;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4" name="Google Shape;254;p33"/>
          <p:cNvSpPr txBox="1"/>
          <p:nvPr/>
        </p:nvSpPr>
        <p:spPr>
          <a:xfrm>
            <a:off x="483552" y="1415417"/>
            <a:ext cx="8091170" cy="1706245"/>
          </a:xfrm>
          <a:prstGeom prst="rect">
            <a:avLst/>
          </a:prstGeom>
          <a:noFill/>
          <a:ln>
            <a:noFill/>
          </a:ln>
        </p:spPr>
        <p:txBody>
          <a:bodyPr anchorCtr="0" anchor="t" bIns="0" lIns="0" spcFirstLastPara="1" rIns="0" wrap="square" tIns="59675">
            <a:spAutoFit/>
          </a:bodyPr>
          <a:lstStyle/>
          <a:p>
            <a:pPr indent="-177800" lvl="0" marL="182880" marR="3460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vistas complejas son vistas que pueden contener 	funciones de grupo y uniones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siguiente ejemplo crea una vista que deriva datos de 	dos tablas</a:t>
            </a:r>
            <a:endParaRPr sz="2800">
              <a:latin typeface="Calibri"/>
              <a:ea typeface="Calibri"/>
              <a:cs typeface="Calibri"/>
              <a:sym typeface="Calibri"/>
            </a:endParaRPr>
          </a:p>
        </p:txBody>
      </p:sp>
      <p:sp>
        <p:nvSpPr>
          <p:cNvPr id="255" name="Google Shape;255;p33"/>
          <p:cNvSpPr txBox="1"/>
          <p:nvPr/>
        </p:nvSpPr>
        <p:spPr>
          <a:xfrm>
            <a:off x="393191" y="3157727"/>
            <a:ext cx="8345805" cy="191579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6944"/>
              </a:lnSpc>
              <a:spcBef>
                <a:spcPts val="0"/>
              </a:spcBef>
              <a:spcAft>
                <a:spcPts val="0"/>
              </a:spcAft>
              <a:buNone/>
            </a:pPr>
            <a:r>
              <a:rPr b="1" lang="en-US" sz="1800">
                <a:solidFill>
                  <a:srgbClr val="4E3629"/>
                </a:solidFill>
                <a:latin typeface="Courier New"/>
                <a:ea typeface="Courier New"/>
                <a:cs typeface="Courier New"/>
                <a:sym typeface="Courier New"/>
              </a:rPr>
              <a:t>CREATE OR REPLACE VIEW view_euro_countries</a:t>
            </a:r>
            <a:endParaRPr sz="1800">
              <a:latin typeface="Courier New"/>
              <a:ea typeface="Courier New"/>
              <a:cs typeface="Courier New"/>
              <a:sym typeface="Courier New"/>
            </a:endParaRPr>
          </a:p>
          <a:p>
            <a:pPr indent="0" lvl="0" marL="4095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("ID", "Country", "Capitol City", "Region")</a:t>
            </a:r>
            <a:endParaRPr sz="1800">
              <a:latin typeface="Courier New"/>
              <a:ea typeface="Courier New"/>
              <a:cs typeface="Courier New"/>
              <a:sym typeface="Courier New"/>
            </a:endParaRPr>
          </a:p>
          <a:p>
            <a:pPr indent="0" lvl="0" marL="0" marR="15138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SELECT c.country_id, c.country_name, c.capitol, r.region_name</a:t>
            </a:r>
            <a:endParaRPr sz="1800">
              <a:latin typeface="Courier New"/>
              <a:ea typeface="Courier New"/>
              <a:cs typeface="Courier New"/>
              <a:sym typeface="Courier New"/>
            </a:endParaRPr>
          </a:p>
          <a:p>
            <a:pPr indent="-635" lvl="0" marL="409575" marR="205867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wf_countries c JOIN wf_world_regions r USING (region_id)</a:t>
            </a:r>
            <a:endParaRPr sz="1800">
              <a:latin typeface="Courier New"/>
              <a:ea typeface="Courier New"/>
              <a:cs typeface="Courier New"/>
              <a:sym typeface="Courier New"/>
            </a:endParaRPr>
          </a:p>
          <a:p>
            <a:pPr indent="0" lvl="0" marL="4095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location LIKE '%Europe';</a:t>
            </a:r>
            <a:endParaRPr sz="1800">
              <a:latin typeface="Courier New"/>
              <a:ea typeface="Courier New"/>
              <a:cs typeface="Courier New"/>
              <a:sym typeface="Courier New"/>
            </a:endParaRPr>
          </a:p>
        </p:txBody>
      </p:sp>
      <p:sp>
        <p:nvSpPr>
          <p:cNvPr id="256" name="Google Shape;256;p33"/>
          <p:cNvSpPr txBox="1"/>
          <p:nvPr/>
        </p:nvSpPr>
        <p:spPr>
          <a:xfrm>
            <a:off x="416051" y="5279135"/>
            <a:ext cx="8347075" cy="58229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view_euro_countries;</a:t>
            </a:r>
            <a:endParaRPr sz="1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Vista Compleja</a:t>
            </a:r>
            <a:endParaRPr/>
          </a:p>
        </p:txBody>
      </p:sp>
      <p:sp>
        <p:nvSpPr>
          <p:cNvPr id="262" name="Google Shape;262;p34"/>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63" name="Google Shape;263;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4" name="Google Shape;264;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265" name="Google Shape;265;p34"/>
          <p:cNvGraphicFramePr/>
          <p:nvPr/>
        </p:nvGraphicFramePr>
        <p:xfrm>
          <a:off x="569912" y="1551171"/>
          <a:ext cx="3000000" cy="3000000"/>
        </p:xfrm>
        <a:graphic>
          <a:graphicData uri="http://schemas.openxmlformats.org/drawingml/2006/table">
            <a:tbl>
              <a:tblPr bandRow="1" firstRow="1">
                <a:noFill/>
                <a:tableStyleId>{20024D5D-1C1F-45E2-AE0C-9CCD218EB29E}</a:tableStyleId>
              </a:tblPr>
              <a:tblGrid>
                <a:gridCol w="652775"/>
                <a:gridCol w="3717300"/>
                <a:gridCol w="1714500"/>
                <a:gridCol w="1871350"/>
              </a:tblGrid>
              <a:tr h="347350">
                <a:tc>
                  <a:txBody>
                    <a:bodyPr/>
                    <a:lstStyle/>
                    <a:p>
                      <a:pPr indent="0" lvl="0" marL="914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ID</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Country</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Capitol City</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Region</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65125">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375</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Republic of Belarus</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Minsk</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750">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48</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Republic of Poland</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Warsaw</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125">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421</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Slovak Republic</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Bratislava</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125">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36</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Republic of Hungary</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Budapest</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750">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90</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Republic of Turkey</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Ankara</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125">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40</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Romania</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Bucharest</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750">
                <a:tc>
                  <a:txBody>
                    <a:bodyPr/>
                    <a:lstStyle/>
                    <a:p>
                      <a:pPr indent="0" lvl="0" marL="9207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373</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Republic of Moldova</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Chisinau</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125">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370</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Republic of Lithuania</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Vilnius</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125">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371</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Republic of Latvia</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Riga</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5750">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372</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271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Republic of Estonia</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334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Tallinn</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334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Eastern Europe</a:t>
                      </a:r>
                      <a:endParaRPr sz="14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3375">
                <a:tc>
                  <a:txBody>
                    <a:bodyPr/>
                    <a:lstStyle/>
                    <a:p>
                      <a:pPr indent="0" lvl="0" marL="93345" marR="0" rtl="0" algn="l">
                        <a:lnSpc>
                          <a:spcPct val="113214"/>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3345" marR="0" rtl="0" algn="l">
                        <a:lnSpc>
                          <a:spcPct val="113214"/>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3345" marR="0" rtl="0" algn="l">
                        <a:lnSpc>
                          <a:spcPct val="113214"/>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3345" marR="0" rtl="0" algn="l">
                        <a:lnSpc>
                          <a:spcPct val="113214"/>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5"/>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Vista Compleja</a:t>
            </a:r>
            <a:endParaRPr/>
          </a:p>
        </p:txBody>
      </p:sp>
      <p:sp>
        <p:nvSpPr>
          <p:cNvPr id="271" name="Google Shape;271;p35"/>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72" name="Google Shape;272;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3" name="Google Shape;273;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4" name="Google Shape;274;p35"/>
          <p:cNvSpPr txBox="1"/>
          <p:nvPr/>
        </p:nvSpPr>
        <p:spPr>
          <a:xfrm>
            <a:off x="483552" y="1415417"/>
            <a:ext cx="779907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grupo también se pueden agregar a 	sentencias de vistas complejas</a:t>
            </a:r>
            <a:endParaRPr sz="2800">
              <a:latin typeface="Calibri"/>
              <a:ea typeface="Calibri"/>
              <a:cs typeface="Calibri"/>
              <a:sym typeface="Calibri"/>
            </a:endParaRPr>
          </a:p>
        </p:txBody>
      </p:sp>
      <p:graphicFrame>
        <p:nvGraphicFramePr>
          <p:cNvPr id="275" name="Google Shape;275;p35"/>
          <p:cNvGraphicFramePr/>
          <p:nvPr/>
        </p:nvGraphicFramePr>
        <p:xfrm>
          <a:off x="6003978" y="2321298"/>
          <a:ext cx="3000000" cy="3000000"/>
        </p:xfrm>
        <a:graphic>
          <a:graphicData uri="http://schemas.openxmlformats.org/drawingml/2006/table">
            <a:tbl>
              <a:tblPr bandRow="1" firstRow="1">
                <a:noFill/>
                <a:tableStyleId>{20024D5D-1C1F-45E2-AE0C-9CCD218EB29E}</a:tableStyleId>
              </a:tblPr>
              <a:tblGrid>
                <a:gridCol w="1016000"/>
                <a:gridCol w="1724025"/>
              </a:tblGrid>
              <a:tr h="3117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Region ID</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Highest population</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188078227</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20264082</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131859731</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107449525</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74777981</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78887007</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62660551</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18</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44187637</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298444215</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209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76" name="Google Shape;276;p35"/>
          <p:cNvSpPr txBox="1"/>
          <p:nvPr/>
        </p:nvSpPr>
        <p:spPr>
          <a:xfrm>
            <a:off x="405384" y="2327148"/>
            <a:ext cx="5169535" cy="1739264"/>
          </a:xfrm>
          <a:prstGeom prst="rect">
            <a:avLst/>
          </a:prstGeom>
          <a:solidFill>
            <a:srgbClr val="9DBDC4">
              <a:alpha val="49804"/>
            </a:srgbClr>
          </a:solidFill>
          <a:ln>
            <a:noFill/>
          </a:ln>
        </p:spPr>
        <p:txBody>
          <a:bodyPr anchorCtr="0" anchor="t" bIns="0" lIns="0" spcFirstLastPara="1" rIns="0" wrap="square" tIns="19050">
            <a:spAutoFit/>
          </a:bodyPr>
          <a:lstStyle/>
          <a:p>
            <a:pPr indent="-408940" lvl="0" marL="408940" marR="2470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OR REPLACE VIEW view_high_pop ("Region ID", "Highest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population")</a:t>
            </a:r>
            <a:endParaRPr sz="1800">
              <a:latin typeface="Courier New"/>
              <a:ea typeface="Courier New"/>
              <a:cs typeface="Courier New"/>
              <a:sym typeface="Courier New"/>
            </a:endParaRPr>
          </a:p>
          <a:p>
            <a:pPr indent="-408940" lvl="0" marL="408940" marR="2470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SELECT region_id, MAX(population) FROM wf_countries</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region_id;</a:t>
            </a:r>
            <a:endParaRPr sz="1800">
              <a:latin typeface="Courier New"/>
              <a:ea typeface="Courier New"/>
              <a:cs typeface="Courier New"/>
              <a:sym typeface="Courier New"/>
            </a:endParaRPr>
          </a:p>
        </p:txBody>
      </p:sp>
      <p:sp>
        <p:nvSpPr>
          <p:cNvPr id="277" name="Google Shape;277;p35"/>
          <p:cNvSpPr txBox="1"/>
          <p:nvPr/>
        </p:nvSpPr>
        <p:spPr>
          <a:xfrm>
            <a:off x="393191" y="4536947"/>
            <a:ext cx="5171440" cy="408940"/>
          </a:xfrm>
          <a:prstGeom prst="rect">
            <a:avLst/>
          </a:prstGeom>
          <a:solidFill>
            <a:srgbClr val="9DBDC4">
              <a:alpha val="49804"/>
            </a:srgbClr>
          </a:solidFill>
          <a:ln>
            <a:noFill/>
          </a:ln>
        </p:spPr>
        <p:txBody>
          <a:bodyPr anchorCtr="0" anchor="t" bIns="0" lIns="0" spcFirstLastPara="1" rIns="0" wrap="square" tIns="393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 FROM view_high_pop;</a:t>
            </a:r>
            <a:endParaRPr sz="18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Modificación de Vistas</a:t>
            </a:r>
            <a:endParaRPr/>
          </a:p>
        </p:txBody>
      </p:sp>
      <p:sp>
        <p:nvSpPr>
          <p:cNvPr id="283" name="Google Shape;283;p36"/>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84" name="Google Shape;284;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5" name="Google Shape;285;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6" name="Google Shape;286;p36"/>
          <p:cNvSpPr txBox="1"/>
          <p:nvPr/>
        </p:nvSpPr>
        <p:spPr>
          <a:xfrm>
            <a:off x="483552" y="1415417"/>
            <a:ext cx="7614920" cy="21920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modificar una vista existente sin tener que 	borrarla y, a continuación, volver a crearla, utilice la 	opción OR REPLACE en la sentencia CREATE VIEW</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vista antigua se sustituye por la nueva versión</a:t>
            </a:r>
            <a:endParaRPr sz="2800">
              <a:latin typeface="Calibri"/>
              <a:ea typeface="Calibri"/>
              <a:cs typeface="Calibri"/>
              <a:sym typeface="Calibri"/>
            </a:endParaRPr>
          </a:p>
          <a:p>
            <a:pPr indent="-177800" lvl="0" marL="183515" rtl="0" algn="l">
              <a:lnSpc>
                <a:spcPct val="100000"/>
              </a:lnSpc>
              <a:spcBef>
                <a:spcPts val="4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a:t>
            </a:r>
            <a:endParaRPr sz="2800">
              <a:latin typeface="Calibri"/>
              <a:ea typeface="Calibri"/>
              <a:cs typeface="Calibri"/>
              <a:sym typeface="Calibri"/>
            </a:endParaRPr>
          </a:p>
        </p:txBody>
      </p:sp>
      <p:sp>
        <p:nvSpPr>
          <p:cNvPr id="287" name="Google Shape;287;p36"/>
          <p:cNvSpPr txBox="1"/>
          <p:nvPr/>
        </p:nvSpPr>
        <p:spPr>
          <a:xfrm>
            <a:off x="405384" y="3704844"/>
            <a:ext cx="8345805" cy="1310640"/>
          </a:xfrm>
          <a:prstGeom prst="rect">
            <a:avLst/>
          </a:prstGeom>
          <a:solidFill>
            <a:srgbClr val="9DBDC4">
              <a:alpha val="49804"/>
            </a:srgbClr>
          </a:solidFill>
          <a:ln>
            <a:noFill/>
          </a:ln>
        </p:spPr>
        <p:txBody>
          <a:bodyPr anchorCtr="0" anchor="t" bIns="0" lIns="0" spcFirstLastPara="1" rIns="0" wrap="square" tIns="781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a:t>
            </a:r>
            <a:r>
              <a:rPr b="1" lang="en-US" sz="1800">
                <a:solidFill>
                  <a:srgbClr val="D1350F"/>
                </a:solidFill>
                <a:latin typeface="Courier New"/>
                <a:ea typeface="Courier New"/>
                <a:cs typeface="Courier New"/>
                <a:sym typeface="Courier New"/>
              </a:rPr>
              <a:t>OR REPLACE </a:t>
            </a:r>
            <a:r>
              <a:rPr b="1" lang="en-US" sz="1800">
                <a:solidFill>
                  <a:srgbClr val="4E3629"/>
                </a:solidFill>
                <a:latin typeface="Courier New"/>
                <a:ea typeface="Courier New"/>
                <a:cs typeface="Courier New"/>
                <a:sym typeface="Courier New"/>
              </a:rPr>
              <a:t>VIEW view_euro_countries</a:t>
            </a:r>
            <a:endParaRPr sz="1800">
              <a:latin typeface="Courier New"/>
              <a:ea typeface="Courier New"/>
              <a:cs typeface="Courier New"/>
              <a:sym typeface="Courier New"/>
            </a:endParaRPr>
          </a:p>
          <a:p>
            <a:pPr indent="-408940" lvl="0" marL="408940" marR="96646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SELECT country_id, region_id, country_name, capitol FROM wf_countries</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location LIKE '%Europe';</a:t>
            </a:r>
            <a:endParaRPr sz="18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93" name="Google Shape;293;p37"/>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294" name="Google Shape;294;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5" name="Google Shape;295;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6" name="Google Shape;296;p37"/>
          <p:cNvSpPr txBox="1"/>
          <p:nvPr/>
        </p:nvSpPr>
        <p:spPr>
          <a:xfrm>
            <a:off x="483552" y="1415417"/>
            <a:ext cx="7704455" cy="3119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Alias</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Vista compleja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CREATE VIEW</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FORCE</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NOFORCE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REPLACE</a:t>
            </a:r>
            <a:endParaRPr sz="24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302" name="Google Shape;302;p38"/>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303" name="Google Shape;303;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4" name="Google Shape;304;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5" name="Google Shape;305;p38"/>
          <p:cNvSpPr txBox="1"/>
          <p:nvPr/>
        </p:nvSpPr>
        <p:spPr>
          <a:xfrm>
            <a:off x="483552" y="1415417"/>
            <a:ext cx="7704455" cy="2360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Vista simple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Subconsulta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Ver</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VIEW_NAME</a:t>
            </a:r>
            <a:endParaRPr sz="24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311" name="Google Shape;311;p39"/>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312" name="Google Shape;312;p3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3" name="Google Shape;313;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4" name="Google Shape;314;p39"/>
          <p:cNvSpPr txBox="1"/>
          <p:nvPr>
            <p:ph idx="1" type="body"/>
          </p:nvPr>
        </p:nvSpPr>
        <p:spPr>
          <a:xfrm>
            <a:off x="483552" y="1415417"/>
            <a:ext cx="8163600" cy="33906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debe haber aprendido lo siguiente:</a:t>
            </a:r>
            <a:endParaRPr/>
          </a:p>
          <a:p>
            <a:pPr indent="-175260" lvl="0" marL="530860" marR="5080" rtl="0" algn="l">
              <a:lnSpc>
                <a:spcPct val="107916"/>
              </a:lnSpc>
              <a:spcBef>
                <a:spcPts val="475"/>
              </a:spcBef>
              <a:spcAft>
                <a:spcPts val="0"/>
              </a:spcAft>
              <a:buNone/>
            </a:pPr>
            <a:r>
              <a:rPr lang="en-US" sz="2400">
                <a:solidFill>
                  <a:srgbClr val="D1350F"/>
                </a:solidFill>
              </a:rPr>
              <a:t>−</a:t>
            </a:r>
            <a:r>
              <a:rPr lang="en-US" sz="2400"/>
              <a:t>Enumerar tres usos de las vistas desde el punto de vista de un administrador de base de datos</a:t>
            </a:r>
            <a:endParaRPr sz="2400"/>
          </a:p>
          <a:p>
            <a:pPr indent="-175260" lvl="0" marL="530860" marR="389890" rtl="0" algn="l">
              <a:lnSpc>
                <a:spcPct val="107916"/>
              </a:lnSpc>
              <a:spcBef>
                <a:spcPts val="400"/>
              </a:spcBef>
              <a:spcAft>
                <a:spcPts val="0"/>
              </a:spcAft>
              <a:buNone/>
            </a:pPr>
            <a:r>
              <a:rPr lang="en-US" sz="2400">
                <a:solidFill>
                  <a:srgbClr val="D1350F"/>
                </a:solidFill>
              </a:rPr>
              <a:t>−</a:t>
            </a:r>
            <a:r>
              <a:rPr lang="en-US" sz="2400"/>
              <a:t>Explicar, desde una perspectiva empresarial, por qué es importante tener la capacidad de crear y utilizar subjuegos lógicos de datos derivados de una o más tablas</a:t>
            </a:r>
            <a:endParaRPr sz="2400"/>
          </a:p>
          <a:p>
            <a:pPr indent="-175260" lvl="0" marL="530860" marR="303530" rtl="0" algn="l">
              <a:lnSpc>
                <a:spcPct val="107916"/>
              </a:lnSpc>
              <a:spcBef>
                <a:spcPts val="400"/>
              </a:spcBef>
              <a:spcAft>
                <a:spcPts val="1200"/>
              </a:spcAft>
              <a:buNone/>
            </a:pPr>
            <a:r>
              <a:rPr lang="en-US" sz="2400">
                <a:solidFill>
                  <a:srgbClr val="D1350F"/>
                </a:solidFill>
              </a:rPr>
              <a:t>−</a:t>
            </a:r>
            <a:r>
              <a:rPr lang="en-US" sz="2400"/>
              <a:t>Crear una vista con y sin alias de columna en la subconsulta utilizando una única tabla base</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0"/>
          <p:cNvSpPr txBox="1"/>
          <p:nvPr>
            <p:ph type="title"/>
          </p:nvPr>
        </p:nvSpPr>
        <p:spPr>
          <a:xfrm>
            <a:off x="392112" y="748031"/>
            <a:ext cx="672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320" name="Google Shape;320;p40"/>
          <p:cNvSpPr txBox="1"/>
          <p:nvPr/>
        </p:nvSpPr>
        <p:spPr>
          <a:xfrm>
            <a:off x="483552" y="1393401"/>
            <a:ext cx="7785100" cy="156718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50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vista compleja que contenga funciones de grupo para visualizar valores de dos tablas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Recuperación de Datos de una Vista</a:t>
            </a:r>
            <a:endParaRPr sz="2400">
              <a:latin typeface="Calibri"/>
              <a:ea typeface="Calibri"/>
              <a:cs typeface="Calibri"/>
              <a:sym typeface="Calibri"/>
            </a:endParaRPr>
          </a:p>
        </p:txBody>
      </p:sp>
      <p:grpSp>
        <p:nvGrpSpPr>
          <p:cNvPr id="321" name="Google Shape;321;p40"/>
          <p:cNvGrpSpPr/>
          <p:nvPr/>
        </p:nvGrpSpPr>
        <p:grpSpPr>
          <a:xfrm>
            <a:off x="4379976" y="3870959"/>
            <a:ext cx="4140707" cy="2263139"/>
            <a:chOff x="4379976" y="3870959"/>
            <a:chExt cx="4140707" cy="2263139"/>
          </a:xfrm>
        </p:grpSpPr>
        <p:pic>
          <p:nvPicPr>
            <p:cNvPr id="322" name="Google Shape;322;p40"/>
            <p:cNvPicPr preferRelativeResize="0"/>
            <p:nvPr/>
          </p:nvPicPr>
          <p:blipFill rotWithShape="1">
            <a:blip r:embed="rId3">
              <a:alphaModFix/>
            </a:blip>
            <a:srcRect b="0" l="0" r="0" t="0"/>
            <a:stretch/>
          </p:blipFill>
          <p:spPr>
            <a:xfrm>
              <a:off x="4379976" y="3870959"/>
              <a:ext cx="4140707" cy="2263139"/>
            </a:xfrm>
            <a:prstGeom prst="rect">
              <a:avLst/>
            </a:prstGeom>
            <a:noFill/>
            <a:ln>
              <a:noFill/>
            </a:ln>
          </p:spPr>
        </p:pic>
        <p:pic>
          <p:nvPicPr>
            <p:cNvPr id="323" name="Google Shape;323;p40"/>
            <p:cNvPicPr preferRelativeResize="0"/>
            <p:nvPr/>
          </p:nvPicPr>
          <p:blipFill rotWithShape="1">
            <a:blip r:embed="rId4">
              <a:alphaModFix/>
            </a:blip>
            <a:srcRect b="0" l="0" r="0" t="0"/>
            <a:stretch/>
          </p:blipFill>
          <p:spPr>
            <a:xfrm>
              <a:off x="4572000" y="4062983"/>
              <a:ext cx="3756659" cy="1879091"/>
            </a:xfrm>
            <a:prstGeom prst="rect">
              <a:avLst/>
            </a:prstGeom>
            <a:noFill/>
            <a:ln>
              <a:noFill/>
            </a:ln>
          </p:spPr>
        </p:pic>
      </p:grpSp>
      <p:sp>
        <p:nvSpPr>
          <p:cNvPr id="324" name="Google Shape;324;p40"/>
          <p:cNvSpPr txBox="1"/>
          <p:nvPr>
            <p:ph idx="10" type="dt"/>
          </p:nvPr>
        </p:nvSpPr>
        <p:spPr>
          <a:xfrm>
            <a:off x="2874191" y="6516395"/>
            <a:ext cx="8298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15-1</a:t>
            </a:r>
            <a:endParaRPr/>
          </a:p>
          <a:p>
            <a:pPr indent="0" lvl="0" marL="12700" rtl="0" algn="l">
              <a:lnSpc>
                <a:spcPct val="120624"/>
              </a:lnSpc>
              <a:spcBef>
                <a:spcPts val="0"/>
              </a:spcBef>
              <a:spcAft>
                <a:spcPts val="0"/>
              </a:spcAft>
              <a:buNone/>
            </a:pPr>
            <a:r>
              <a:rPr lang="en-US"/>
              <a:t>Creación de Vistas</a:t>
            </a:r>
            <a:endParaRPr/>
          </a:p>
        </p:txBody>
      </p:sp>
      <p:sp>
        <p:nvSpPr>
          <p:cNvPr id="325" name="Google Shape;325;p4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6" name="Google Shape;326;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