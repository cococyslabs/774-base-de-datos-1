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A9A7F7-48D0-47D4-AAB6-C40DFE0B73D2}">
  <a:tblStyle styleId="{57A9A7F7-48D0-47D4-AAB6-C40DFE0B73D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14:11:14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Esta vista en línea busca el salario  más alto para cada  departamento y, a continuación,  la consulta muestra el nombre  del empleado con ese salario.</a:t>
            </a:r>
            <a:endParaRPr/>
          </a:p>
          <a:p>
            <a:pPr indent="0" lvl="0" marL="0" rtl="0" algn="l">
              <a:spcBef>
                <a:spcPts val="0"/>
              </a:spcBef>
              <a:spcAft>
                <a:spcPts val="0"/>
              </a:spcAft>
              <a:buNone/>
            </a:pPr>
            <a:r>
              <a:rPr lang="en-US"/>
              <a:t>Una vista en línea debe tener un  alias (en este ejemplo, "d") ya que  funciona como un nombre de  tabla en la cláusula FROM y  "SELECT department_id,  max(salary) …" no es un nombre  de tabla válido.</a:t>
            </a:r>
            <a:endParaRPr/>
          </a:p>
        </p:txBody>
      </p:sp>
      <p:sp>
        <p:nvSpPr>
          <p:cNvPr id="110" name="Google Shape;110;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Sin embargo, los resultados de esta  consulta no son lo que espera. El  motivo es que la cláusula  ORDER BY ejecute siempre se  ejecuta la última, por lo que las  filas se ordenan después de que  se les asigne un número. La  siguiente diapositiva muestra  cómo resolver este problema.</a:t>
            </a:r>
            <a:endParaRPr/>
          </a:p>
        </p:txBody>
      </p:sp>
      <p:sp>
        <p:nvSpPr>
          <p:cNvPr id="120" name="Google Shape;120;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Mediante una vista en línea, la  cláusula ORDER BY se realiza antes  de que se agregue ROWNUM.</a:t>
            </a:r>
            <a:endParaRPr/>
          </a:p>
        </p:txBody>
      </p:sp>
      <p:sp>
        <p:nvSpPr>
          <p:cNvPr id="131" name="Google Shape;131;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14" name="Shape 14"/>
        <p:cNvGrpSpPr/>
        <p:nvPr/>
      </p:nvGrpSpPr>
      <p:grpSpPr>
        <a:xfrm>
          <a:off x="0" y="0"/>
          <a:ext cx="0" cy="0"/>
          <a:chOff x="0" y="0"/>
          <a:chExt cx="0" cy="0"/>
        </a:xfrm>
      </p:grpSpPr>
      <p:sp>
        <p:nvSpPr>
          <p:cNvPr id="15" name="Google Shape;15;p2"/>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16" name="Google Shape;16;p2"/>
          <p:cNvPicPr preferRelativeResize="0"/>
          <p:nvPr/>
        </p:nvPicPr>
        <p:blipFill rotWithShape="1">
          <a:blip r:embed="rId2">
            <a:alphaModFix/>
          </a:blip>
          <a:srcRect b="0" l="0" r="0" t="0"/>
          <a:stretch/>
        </p:blipFill>
        <p:spPr>
          <a:xfrm>
            <a:off x="192023" y="192023"/>
            <a:ext cx="8759952" cy="914399"/>
          </a:xfrm>
          <a:prstGeom prst="rect">
            <a:avLst/>
          </a:prstGeom>
          <a:noFill/>
          <a:ln>
            <a:noFill/>
          </a:ln>
        </p:spPr>
      </p:pic>
      <p:pic>
        <p:nvPicPr>
          <p:cNvPr id="17" name="Google Shape;17;p2"/>
          <p:cNvPicPr preferRelativeResize="0"/>
          <p:nvPr/>
        </p:nvPicPr>
        <p:blipFill rotWithShape="1">
          <a:blip r:embed="rId3">
            <a:alphaModFix/>
          </a:blip>
          <a:srcRect b="0" l="0" r="0" t="0"/>
          <a:stretch/>
        </p:blipFill>
        <p:spPr>
          <a:xfrm>
            <a:off x="192023" y="5751576"/>
            <a:ext cx="8759952" cy="914399"/>
          </a:xfrm>
          <a:prstGeom prst="rect">
            <a:avLst/>
          </a:prstGeom>
          <a:noFill/>
          <a:ln>
            <a:noFill/>
          </a:ln>
        </p:spPr>
      </p:pic>
      <p:pic>
        <p:nvPicPr>
          <p:cNvPr id="18" name="Google Shape;18;p2"/>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19" name="Google Shape;19;p2"/>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algn="l">
              <a:lnSpc>
                <a:spcPct val="104499"/>
              </a:lnSpc>
              <a:spcBef>
                <a:spcPts val="0"/>
              </a:spcBef>
              <a:buNone/>
              <a:defRPr b="1" i="0" sz="1000">
                <a:solidFill>
                  <a:srgbClr val="4E3629"/>
                </a:solidFill>
                <a:latin typeface="Calibri"/>
                <a:ea typeface="Calibri"/>
                <a:cs typeface="Calibri"/>
                <a:sym typeface="Calibri"/>
              </a:defRPr>
            </a:lvl1pPr>
            <a:lvl2pPr indent="0" lvl="1" marL="38100" marR="0" algn="l">
              <a:lnSpc>
                <a:spcPct val="104499"/>
              </a:lnSpc>
              <a:spcBef>
                <a:spcPts val="0"/>
              </a:spcBef>
              <a:buNone/>
              <a:defRPr b="1" i="0" sz="1000">
                <a:solidFill>
                  <a:srgbClr val="4E3629"/>
                </a:solidFill>
                <a:latin typeface="Calibri"/>
                <a:ea typeface="Calibri"/>
                <a:cs typeface="Calibri"/>
                <a:sym typeface="Calibri"/>
              </a:defRPr>
            </a:lvl2pPr>
            <a:lvl3pPr indent="0" lvl="2" marL="38100" marR="0" algn="l">
              <a:lnSpc>
                <a:spcPct val="104499"/>
              </a:lnSpc>
              <a:spcBef>
                <a:spcPts val="0"/>
              </a:spcBef>
              <a:buNone/>
              <a:defRPr b="1" i="0" sz="1000">
                <a:solidFill>
                  <a:srgbClr val="4E3629"/>
                </a:solidFill>
                <a:latin typeface="Calibri"/>
                <a:ea typeface="Calibri"/>
                <a:cs typeface="Calibri"/>
                <a:sym typeface="Calibri"/>
              </a:defRPr>
            </a:lvl3pPr>
            <a:lvl4pPr indent="0" lvl="3" marL="38100" marR="0" algn="l">
              <a:lnSpc>
                <a:spcPct val="104499"/>
              </a:lnSpc>
              <a:spcBef>
                <a:spcPts val="0"/>
              </a:spcBef>
              <a:buNone/>
              <a:defRPr b="1" i="0" sz="1000">
                <a:solidFill>
                  <a:srgbClr val="4E3629"/>
                </a:solidFill>
                <a:latin typeface="Calibri"/>
                <a:ea typeface="Calibri"/>
                <a:cs typeface="Calibri"/>
                <a:sym typeface="Calibri"/>
              </a:defRPr>
            </a:lvl4pPr>
            <a:lvl5pPr indent="0" lvl="4" marL="38100" marR="0" algn="l">
              <a:lnSpc>
                <a:spcPct val="104499"/>
              </a:lnSpc>
              <a:spcBef>
                <a:spcPts val="0"/>
              </a:spcBef>
              <a:buNone/>
              <a:defRPr b="1" i="0" sz="1000">
                <a:solidFill>
                  <a:srgbClr val="4E3629"/>
                </a:solidFill>
                <a:latin typeface="Calibri"/>
                <a:ea typeface="Calibri"/>
                <a:cs typeface="Calibri"/>
                <a:sym typeface="Calibri"/>
              </a:defRPr>
            </a:lvl5pPr>
            <a:lvl6pPr indent="0" lvl="5" marL="38100" marR="0" algn="l">
              <a:lnSpc>
                <a:spcPct val="104499"/>
              </a:lnSpc>
              <a:spcBef>
                <a:spcPts val="0"/>
              </a:spcBef>
              <a:buNone/>
              <a:defRPr b="1" i="0" sz="1000">
                <a:solidFill>
                  <a:srgbClr val="4E3629"/>
                </a:solidFill>
                <a:latin typeface="Calibri"/>
                <a:ea typeface="Calibri"/>
                <a:cs typeface="Calibri"/>
                <a:sym typeface="Calibri"/>
              </a:defRPr>
            </a:lvl6pPr>
            <a:lvl7pPr indent="0" lvl="6" marL="38100" marR="0" algn="l">
              <a:lnSpc>
                <a:spcPct val="104499"/>
              </a:lnSpc>
              <a:spcBef>
                <a:spcPts val="0"/>
              </a:spcBef>
              <a:buNone/>
              <a:defRPr b="1" i="0" sz="1000">
                <a:solidFill>
                  <a:srgbClr val="4E3629"/>
                </a:solidFill>
                <a:latin typeface="Calibri"/>
                <a:ea typeface="Calibri"/>
                <a:cs typeface="Calibri"/>
                <a:sym typeface="Calibri"/>
              </a:defRPr>
            </a:lvl7pPr>
            <a:lvl8pPr indent="0" lvl="7" marL="38100" marR="0" algn="l">
              <a:lnSpc>
                <a:spcPct val="104499"/>
              </a:lnSpc>
              <a:spcBef>
                <a:spcPts val="0"/>
              </a:spcBef>
              <a:buNone/>
              <a:defRPr b="1" i="0" sz="1000">
                <a:solidFill>
                  <a:srgbClr val="4E3629"/>
                </a:solidFill>
                <a:latin typeface="Calibri"/>
                <a:ea typeface="Calibri"/>
                <a:cs typeface="Calibri"/>
                <a:sym typeface="Calibri"/>
              </a:defRPr>
            </a:lvl8pPr>
            <a:lvl9pPr indent="0" lvl="8" marL="38100" marR="0" algn="l">
              <a:lnSpc>
                <a:spcPct val="104499"/>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958315" y="862895"/>
            <a:ext cx="7227369" cy="13423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559361" y="1291810"/>
            <a:ext cx="7708265" cy="16586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3"/>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algn="l">
              <a:lnSpc>
                <a:spcPct val="104499"/>
              </a:lnSpc>
              <a:spcBef>
                <a:spcPts val="0"/>
              </a:spcBef>
              <a:buNone/>
              <a:defRPr b="1" i="0" sz="1000">
                <a:solidFill>
                  <a:srgbClr val="4E3629"/>
                </a:solidFill>
                <a:latin typeface="Calibri"/>
                <a:ea typeface="Calibri"/>
                <a:cs typeface="Calibri"/>
                <a:sym typeface="Calibri"/>
              </a:defRPr>
            </a:lvl1pPr>
            <a:lvl2pPr indent="0" lvl="1" marL="38100" marR="0" algn="l">
              <a:lnSpc>
                <a:spcPct val="104499"/>
              </a:lnSpc>
              <a:spcBef>
                <a:spcPts val="0"/>
              </a:spcBef>
              <a:buNone/>
              <a:defRPr b="1" i="0" sz="1000">
                <a:solidFill>
                  <a:srgbClr val="4E3629"/>
                </a:solidFill>
                <a:latin typeface="Calibri"/>
                <a:ea typeface="Calibri"/>
                <a:cs typeface="Calibri"/>
                <a:sym typeface="Calibri"/>
              </a:defRPr>
            </a:lvl2pPr>
            <a:lvl3pPr indent="0" lvl="2" marL="38100" marR="0" algn="l">
              <a:lnSpc>
                <a:spcPct val="104499"/>
              </a:lnSpc>
              <a:spcBef>
                <a:spcPts val="0"/>
              </a:spcBef>
              <a:buNone/>
              <a:defRPr b="1" i="0" sz="1000">
                <a:solidFill>
                  <a:srgbClr val="4E3629"/>
                </a:solidFill>
                <a:latin typeface="Calibri"/>
                <a:ea typeface="Calibri"/>
                <a:cs typeface="Calibri"/>
                <a:sym typeface="Calibri"/>
              </a:defRPr>
            </a:lvl3pPr>
            <a:lvl4pPr indent="0" lvl="3" marL="38100" marR="0" algn="l">
              <a:lnSpc>
                <a:spcPct val="104499"/>
              </a:lnSpc>
              <a:spcBef>
                <a:spcPts val="0"/>
              </a:spcBef>
              <a:buNone/>
              <a:defRPr b="1" i="0" sz="1000">
                <a:solidFill>
                  <a:srgbClr val="4E3629"/>
                </a:solidFill>
                <a:latin typeface="Calibri"/>
                <a:ea typeface="Calibri"/>
                <a:cs typeface="Calibri"/>
                <a:sym typeface="Calibri"/>
              </a:defRPr>
            </a:lvl4pPr>
            <a:lvl5pPr indent="0" lvl="4" marL="38100" marR="0" algn="l">
              <a:lnSpc>
                <a:spcPct val="104499"/>
              </a:lnSpc>
              <a:spcBef>
                <a:spcPts val="0"/>
              </a:spcBef>
              <a:buNone/>
              <a:defRPr b="1" i="0" sz="1000">
                <a:solidFill>
                  <a:srgbClr val="4E3629"/>
                </a:solidFill>
                <a:latin typeface="Calibri"/>
                <a:ea typeface="Calibri"/>
                <a:cs typeface="Calibri"/>
                <a:sym typeface="Calibri"/>
              </a:defRPr>
            </a:lvl5pPr>
            <a:lvl6pPr indent="0" lvl="5" marL="38100" marR="0" algn="l">
              <a:lnSpc>
                <a:spcPct val="104499"/>
              </a:lnSpc>
              <a:spcBef>
                <a:spcPts val="0"/>
              </a:spcBef>
              <a:buNone/>
              <a:defRPr b="1" i="0" sz="1000">
                <a:solidFill>
                  <a:srgbClr val="4E3629"/>
                </a:solidFill>
                <a:latin typeface="Calibri"/>
                <a:ea typeface="Calibri"/>
                <a:cs typeface="Calibri"/>
                <a:sym typeface="Calibri"/>
              </a:defRPr>
            </a:lvl6pPr>
            <a:lvl7pPr indent="0" lvl="6" marL="38100" marR="0" algn="l">
              <a:lnSpc>
                <a:spcPct val="104499"/>
              </a:lnSpc>
              <a:spcBef>
                <a:spcPts val="0"/>
              </a:spcBef>
              <a:buNone/>
              <a:defRPr b="1" i="0" sz="1000">
                <a:solidFill>
                  <a:srgbClr val="4E3629"/>
                </a:solidFill>
                <a:latin typeface="Calibri"/>
                <a:ea typeface="Calibri"/>
                <a:cs typeface="Calibri"/>
                <a:sym typeface="Calibri"/>
              </a:defRPr>
            </a:lvl7pPr>
            <a:lvl8pPr indent="0" lvl="7" marL="38100" marR="0" algn="l">
              <a:lnSpc>
                <a:spcPct val="104499"/>
              </a:lnSpc>
              <a:spcBef>
                <a:spcPts val="0"/>
              </a:spcBef>
              <a:buNone/>
              <a:defRPr b="1" i="0" sz="1000">
                <a:solidFill>
                  <a:srgbClr val="4E3629"/>
                </a:solidFill>
                <a:latin typeface="Calibri"/>
                <a:ea typeface="Calibri"/>
                <a:cs typeface="Calibri"/>
                <a:sym typeface="Calibri"/>
              </a:defRPr>
            </a:lvl8pPr>
            <a:lvl9pPr indent="0" lvl="8" marL="38100" marR="0" algn="l">
              <a:lnSpc>
                <a:spcPct val="104499"/>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4"/>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algn="l">
              <a:lnSpc>
                <a:spcPct val="104499"/>
              </a:lnSpc>
              <a:spcBef>
                <a:spcPts val="0"/>
              </a:spcBef>
              <a:buNone/>
              <a:defRPr b="1" i="0" sz="1000">
                <a:solidFill>
                  <a:srgbClr val="4E3629"/>
                </a:solidFill>
                <a:latin typeface="Calibri"/>
                <a:ea typeface="Calibri"/>
                <a:cs typeface="Calibri"/>
                <a:sym typeface="Calibri"/>
              </a:defRPr>
            </a:lvl1pPr>
            <a:lvl2pPr indent="0" lvl="1" marL="38100" marR="0" algn="l">
              <a:lnSpc>
                <a:spcPct val="104499"/>
              </a:lnSpc>
              <a:spcBef>
                <a:spcPts val="0"/>
              </a:spcBef>
              <a:buNone/>
              <a:defRPr b="1" i="0" sz="1000">
                <a:solidFill>
                  <a:srgbClr val="4E3629"/>
                </a:solidFill>
                <a:latin typeface="Calibri"/>
                <a:ea typeface="Calibri"/>
                <a:cs typeface="Calibri"/>
                <a:sym typeface="Calibri"/>
              </a:defRPr>
            </a:lvl2pPr>
            <a:lvl3pPr indent="0" lvl="2" marL="38100" marR="0" algn="l">
              <a:lnSpc>
                <a:spcPct val="104499"/>
              </a:lnSpc>
              <a:spcBef>
                <a:spcPts val="0"/>
              </a:spcBef>
              <a:buNone/>
              <a:defRPr b="1" i="0" sz="1000">
                <a:solidFill>
                  <a:srgbClr val="4E3629"/>
                </a:solidFill>
                <a:latin typeface="Calibri"/>
                <a:ea typeface="Calibri"/>
                <a:cs typeface="Calibri"/>
                <a:sym typeface="Calibri"/>
              </a:defRPr>
            </a:lvl3pPr>
            <a:lvl4pPr indent="0" lvl="3" marL="38100" marR="0" algn="l">
              <a:lnSpc>
                <a:spcPct val="104499"/>
              </a:lnSpc>
              <a:spcBef>
                <a:spcPts val="0"/>
              </a:spcBef>
              <a:buNone/>
              <a:defRPr b="1" i="0" sz="1000">
                <a:solidFill>
                  <a:srgbClr val="4E3629"/>
                </a:solidFill>
                <a:latin typeface="Calibri"/>
                <a:ea typeface="Calibri"/>
                <a:cs typeface="Calibri"/>
                <a:sym typeface="Calibri"/>
              </a:defRPr>
            </a:lvl4pPr>
            <a:lvl5pPr indent="0" lvl="4" marL="38100" marR="0" algn="l">
              <a:lnSpc>
                <a:spcPct val="104499"/>
              </a:lnSpc>
              <a:spcBef>
                <a:spcPts val="0"/>
              </a:spcBef>
              <a:buNone/>
              <a:defRPr b="1" i="0" sz="1000">
                <a:solidFill>
                  <a:srgbClr val="4E3629"/>
                </a:solidFill>
                <a:latin typeface="Calibri"/>
                <a:ea typeface="Calibri"/>
                <a:cs typeface="Calibri"/>
                <a:sym typeface="Calibri"/>
              </a:defRPr>
            </a:lvl5pPr>
            <a:lvl6pPr indent="0" lvl="5" marL="38100" marR="0" algn="l">
              <a:lnSpc>
                <a:spcPct val="104499"/>
              </a:lnSpc>
              <a:spcBef>
                <a:spcPts val="0"/>
              </a:spcBef>
              <a:buNone/>
              <a:defRPr b="1" i="0" sz="1000">
                <a:solidFill>
                  <a:srgbClr val="4E3629"/>
                </a:solidFill>
                <a:latin typeface="Calibri"/>
                <a:ea typeface="Calibri"/>
                <a:cs typeface="Calibri"/>
                <a:sym typeface="Calibri"/>
              </a:defRPr>
            </a:lvl6pPr>
            <a:lvl7pPr indent="0" lvl="6" marL="38100" marR="0" algn="l">
              <a:lnSpc>
                <a:spcPct val="104499"/>
              </a:lnSpc>
              <a:spcBef>
                <a:spcPts val="0"/>
              </a:spcBef>
              <a:buNone/>
              <a:defRPr b="1" i="0" sz="1000">
                <a:solidFill>
                  <a:srgbClr val="4E3629"/>
                </a:solidFill>
                <a:latin typeface="Calibri"/>
                <a:ea typeface="Calibri"/>
                <a:cs typeface="Calibri"/>
                <a:sym typeface="Calibri"/>
              </a:defRPr>
            </a:lvl7pPr>
            <a:lvl8pPr indent="0" lvl="7" marL="38100" marR="0" algn="l">
              <a:lnSpc>
                <a:spcPct val="104499"/>
              </a:lnSpc>
              <a:spcBef>
                <a:spcPts val="0"/>
              </a:spcBef>
              <a:buNone/>
              <a:defRPr b="1" i="0" sz="1000">
                <a:solidFill>
                  <a:srgbClr val="4E3629"/>
                </a:solidFill>
                <a:latin typeface="Calibri"/>
                <a:ea typeface="Calibri"/>
                <a:cs typeface="Calibri"/>
                <a:sym typeface="Calibri"/>
              </a:defRPr>
            </a:lvl8pPr>
            <a:lvl9pPr indent="0" lvl="8" marL="38100" marR="0" algn="l">
              <a:lnSpc>
                <a:spcPct val="104499"/>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5"/>
          <p:cNvSpPr txBox="1"/>
          <p:nvPr>
            <p:ph type="title"/>
          </p:nvPr>
        </p:nvSpPr>
        <p:spPr>
          <a:xfrm>
            <a:off x="958315" y="862895"/>
            <a:ext cx="7227369" cy="13423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5"/>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5"/>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algn="l">
              <a:lnSpc>
                <a:spcPct val="104499"/>
              </a:lnSpc>
              <a:spcBef>
                <a:spcPts val="0"/>
              </a:spcBef>
              <a:buNone/>
              <a:defRPr b="1" i="0" sz="1000">
                <a:solidFill>
                  <a:srgbClr val="4E3629"/>
                </a:solidFill>
                <a:latin typeface="Calibri"/>
                <a:ea typeface="Calibri"/>
                <a:cs typeface="Calibri"/>
                <a:sym typeface="Calibri"/>
              </a:defRPr>
            </a:lvl1pPr>
            <a:lvl2pPr indent="0" lvl="1" marL="38100" marR="0" algn="l">
              <a:lnSpc>
                <a:spcPct val="104499"/>
              </a:lnSpc>
              <a:spcBef>
                <a:spcPts val="0"/>
              </a:spcBef>
              <a:buNone/>
              <a:defRPr b="1" i="0" sz="1000">
                <a:solidFill>
                  <a:srgbClr val="4E3629"/>
                </a:solidFill>
                <a:latin typeface="Calibri"/>
                <a:ea typeface="Calibri"/>
                <a:cs typeface="Calibri"/>
                <a:sym typeface="Calibri"/>
              </a:defRPr>
            </a:lvl2pPr>
            <a:lvl3pPr indent="0" lvl="2" marL="38100" marR="0" algn="l">
              <a:lnSpc>
                <a:spcPct val="104499"/>
              </a:lnSpc>
              <a:spcBef>
                <a:spcPts val="0"/>
              </a:spcBef>
              <a:buNone/>
              <a:defRPr b="1" i="0" sz="1000">
                <a:solidFill>
                  <a:srgbClr val="4E3629"/>
                </a:solidFill>
                <a:latin typeface="Calibri"/>
                <a:ea typeface="Calibri"/>
                <a:cs typeface="Calibri"/>
                <a:sym typeface="Calibri"/>
              </a:defRPr>
            </a:lvl3pPr>
            <a:lvl4pPr indent="0" lvl="3" marL="38100" marR="0" algn="l">
              <a:lnSpc>
                <a:spcPct val="104499"/>
              </a:lnSpc>
              <a:spcBef>
                <a:spcPts val="0"/>
              </a:spcBef>
              <a:buNone/>
              <a:defRPr b="1" i="0" sz="1000">
                <a:solidFill>
                  <a:srgbClr val="4E3629"/>
                </a:solidFill>
                <a:latin typeface="Calibri"/>
                <a:ea typeface="Calibri"/>
                <a:cs typeface="Calibri"/>
                <a:sym typeface="Calibri"/>
              </a:defRPr>
            </a:lvl4pPr>
            <a:lvl5pPr indent="0" lvl="4" marL="38100" marR="0" algn="l">
              <a:lnSpc>
                <a:spcPct val="104499"/>
              </a:lnSpc>
              <a:spcBef>
                <a:spcPts val="0"/>
              </a:spcBef>
              <a:buNone/>
              <a:defRPr b="1" i="0" sz="1000">
                <a:solidFill>
                  <a:srgbClr val="4E3629"/>
                </a:solidFill>
                <a:latin typeface="Calibri"/>
                <a:ea typeface="Calibri"/>
                <a:cs typeface="Calibri"/>
                <a:sym typeface="Calibri"/>
              </a:defRPr>
            </a:lvl5pPr>
            <a:lvl6pPr indent="0" lvl="5" marL="38100" marR="0" algn="l">
              <a:lnSpc>
                <a:spcPct val="104499"/>
              </a:lnSpc>
              <a:spcBef>
                <a:spcPts val="0"/>
              </a:spcBef>
              <a:buNone/>
              <a:defRPr b="1" i="0" sz="1000">
                <a:solidFill>
                  <a:srgbClr val="4E3629"/>
                </a:solidFill>
                <a:latin typeface="Calibri"/>
                <a:ea typeface="Calibri"/>
                <a:cs typeface="Calibri"/>
                <a:sym typeface="Calibri"/>
              </a:defRPr>
            </a:lvl6pPr>
            <a:lvl7pPr indent="0" lvl="6" marL="38100" marR="0" algn="l">
              <a:lnSpc>
                <a:spcPct val="104499"/>
              </a:lnSpc>
              <a:spcBef>
                <a:spcPts val="0"/>
              </a:spcBef>
              <a:buNone/>
              <a:defRPr b="1" i="0" sz="1000">
                <a:solidFill>
                  <a:srgbClr val="4E3629"/>
                </a:solidFill>
                <a:latin typeface="Calibri"/>
                <a:ea typeface="Calibri"/>
                <a:cs typeface="Calibri"/>
                <a:sym typeface="Calibri"/>
              </a:defRPr>
            </a:lvl7pPr>
            <a:lvl8pPr indent="0" lvl="7" marL="38100" marR="0" algn="l">
              <a:lnSpc>
                <a:spcPct val="104499"/>
              </a:lnSpc>
              <a:spcBef>
                <a:spcPts val="0"/>
              </a:spcBef>
              <a:buNone/>
              <a:defRPr b="1" i="0" sz="1000">
                <a:solidFill>
                  <a:srgbClr val="4E3629"/>
                </a:solidFill>
                <a:latin typeface="Calibri"/>
                <a:ea typeface="Calibri"/>
                <a:cs typeface="Calibri"/>
                <a:sym typeface="Calibri"/>
              </a:defRPr>
            </a:lvl8pPr>
            <a:lvl9pPr indent="0" lvl="8" marL="38100" marR="0" algn="l">
              <a:lnSpc>
                <a:spcPct val="104499"/>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 name="Shape 41"/>
        <p:cNvGrpSpPr/>
        <p:nvPr/>
      </p:nvGrpSpPr>
      <p:grpSpPr>
        <a:xfrm>
          <a:off x="0" y="0"/>
          <a:ext cx="0" cy="0"/>
          <a:chOff x="0" y="0"/>
          <a:chExt cx="0" cy="0"/>
        </a:xfrm>
      </p:grpSpPr>
      <p:sp>
        <p:nvSpPr>
          <p:cNvPr id="42" name="Google Shape;42;p6"/>
          <p:cNvSpPr txBox="1"/>
          <p:nvPr>
            <p:ph type="title"/>
          </p:nvPr>
        </p:nvSpPr>
        <p:spPr>
          <a:xfrm>
            <a:off x="958315" y="862895"/>
            <a:ext cx="7227369" cy="13423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algn="l">
              <a:lnSpc>
                <a:spcPct val="104499"/>
              </a:lnSpc>
              <a:spcBef>
                <a:spcPts val="0"/>
              </a:spcBef>
              <a:buNone/>
              <a:defRPr b="1" i="0" sz="1000">
                <a:solidFill>
                  <a:srgbClr val="4E3629"/>
                </a:solidFill>
                <a:latin typeface="Calibri"/>
                <a:ea typeface="Calibri"/>
                <a:cs typeface="Calibri"/>
                <a:sym typeface="Calibri"/>
              </a:defRPr>
            </a:lvl1pPr>
            <a:lvl2pPr indent="0" lvl="1" marL="38100" marR="0" algn="l">
              <a:lnSpc>
                <a:spcPct val="104499"/>
              </a:lnSpc>
              <a:spcBef>
                <a:spcPts val="0"/>
              </a:spcBef>
              <a:buNone/>
              <a:defRPr b="1" i="0" sz="1000">
                <a:solidFill>
                  <a:srgbClr val="4E3629"/>
                </a:solidFill>
                <a:latin typeface="Calibri"/>
                <a:ea typeface="Calibri"/>
                <a:cs typeface="Calibri"/>
                <a:sym typeface="Calibri"/>
              </a:defRPr>
            </a:lvl2pPr>
            <a:lvl3pPr indent="0" lvl="2" marL="38100" marR="0" algn="l">
              <a:lnSpc>
                <a:spcPct val="104499"/>
              </a:lnSpc>
              <a:spcBef>
                <a:spcPts val="0"/>
              </a:spcBef>
              <a:buNone/>
              <a:defRPr b="1" i="0" sz="1000">
                <a:solidFill>
                  <a:srgbClr val="4E3629"/>
                </a:solidFill>
                <a:latin typeface="Calibri"/>
                <a:ea typeface="Calibri"/>
                <a:cs typeface="Calibri"/>
                <a:sym typeface="Calibri"/>
              </a:defRPr>
            </a:lvl3pPr>
            <a:lvl4pPr indent="0" lvl="3" marL="38100" marR="0" algn="l">
              <a:lnSpc>
                <a:spcPct val="104499"/>
              </a:lnSpc>
              <a:spcBef>
                <a:spcPts val="0"/>
              </a:spcBef>
              <a:buNone/>
              <a:defRPr b="1" i="0" sz="1000">
                <a:solidFill>
                  <a:srgbClr val="4E3629"/>
                </a:solidFill>
                <a:latin typeface="Calibri"/>
                <a:ea typeface="Calibri"/>
                <a:cs typeface="Calibri"/>
                <a:sym typeface="Calibri"/>
              </a:defRPr>
            </a:lvl4pPr>
            <a:lvl5pPr indent="0" lvl="4" marL="38100" marR="0" algn="l">
              <a:lnSpc>
                <a:spcPct val="104499"/>
              </a:lnSpc>
              <a:spcBef>
                <a:spcPts val="0"/>
              </a:spcBef>
              <a:buNone/>
              <a:defRPr b="1" i="0" sz="1000">
                <a:solidFill>
                  <a:srgbClr val="4E3629"/>
                </a:solidFill>
                <a:latin typeface="Calibri"/>
                <a:ea typeface="Calibri"/>
                <a:cs typeface="Calibri"/>
                <a:sym typeface="Calibri"/>
              </a:defRPr>
            </a:lvl5pPr>
            <a:lvl6pPr indent="0" lvl="5" marL="38100" marR="0" algn="l">
              <a:lnSpc>
                <a:spcPct val="104499"/>
              </a:lnSpc>
              <a:spcBef>
                <a:spcPts val="0"/>
              </a:spcBef>
              <a:buNone/>
              <a:defRPr b="1" i="0" sz="1000">
                <a:solidFill>
                  <a:srgbClr val="4E3629"/>
                </a:solidFill>
                <a:latin typeface="Calibri"/>
                <a:ea typeface="Calibri"/>
                <a:cs typeface="Calibri"/>
                <a:sym typeface="Calibri"/>
              </a:defRPr>
            </a:lvl6pPr>
            <a:lvl7pPr indent="0" lvl="6" marL="38100" marR="0" algn="l">
              <a:lnSpc>
                <a:spcPct val="104499"/>
              </a:lnSpc>
              <a:spcBef>
                <a:spcPts val="0"/>
              </a:spcBef>
              <a:buNone/>
              <a:defRPr b="1" i="0" sz="1000">
                <a:solidFill>
                  <a:srgbClr val="4E3629"/>
                </a:solidFill>
                <a:latin typeface="Calibri"/>
                <a:ea typeface="Calibri"/>
                <a:cs typeface="Calibri"/>
                <a:sym typeface="Calibri"/>
              </a:defRPr>
            </a:lvl7pPr>
            <a:lvl8pPr indent="0" lvl="7" marL="38100" marR="0" algn="l">
              <a:lnSpc>
                <a:spcPct val="104499"/>
              </a:lnSpc>
              <a:spcBef>
                <a:spcPts val="0"/>
              </a:spcBef>
              <a:buNone/>
              <a:defRPr b="1" i="0" sz="1000">
                <a:solidFill>
                  <a:srgbClr val="4E3629"/>
                </a:solidFill>
                <a:latin typeface="Calibri"/>
                <a:ea typeface="Calibri"/>
                <a:cs typeface="Calibri"/>
                <a:sym typeface="Calibri"/>
              </a:defRPr>
            </a:lvl8pPr>
            <a:lvl9pPr indent="0" lvl="8" marL="38100" marR="0" algn="l">
              <a:lnSpc>
                <a:spcPct val="104499"/>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7" name="Google Shape;7;p1"/>
          <p:cNvPicPr preferRelativeResize="0"/>
          <p:nvPr/>
        </p:nvPicPr>
        <p:blipFill rotWithShape="1">
          <a:blip r:embed="rId1">
            <a:alphaModFix/>
          </a:blip>
          <a:srcRect b="0" l="0" r="0" t="0"/>
          <a:stretch/>
        </p:blipFill>
        <p:spPr>
          <a:xfrm>
            <a:off x="0" y="0"/>
            <a:ext cx="9144000" cy="254507"/>
          </a:xfrm>
          <a:prstGeom prst="rect">
            <a:avLst/>
          </a:prstGeom>
          <a:noFill/>
          <a:ln>
            <a:noFill/>
          </a:ln>
        </p:spPr>
      </p:pic>
      <p:pic>
        <p:nvPicPr>
          <p:cNvPr id="8" name="Google Shape;8;p1"/>
          <p:cNvPicPr preferRelativeResize="0"/>
          <p:nvPr/>
        </p:nvPicPr>
        <p:blipFill rotWithShape="1">
          <a:blip r:embed="rId2">
            <a:alphaModFix/>
          </a:blip>
          <a:srcRect b="0" l="0" r="0" t="0"/>
          <a:stretch/>
        </p:blipFill>
        <p:spPr>
          <a:xfrm>
            <a:off x="405384" y="6178295"/>
            <a:ext cx="1258823" cy="420623"/>
          </a:xfrm>
          <a:prstGeom prst="rect">
            <a:avLst/>
          </a:prstGeom>
          <a:noFill/>
          <a:ln>
            <a:noFill/>
          </a:ln>
        </p:spPr>
      </p:pic>
      <p:sp>
        <p:nvSpPr>
          <p:cNvPr id="9" name="Google Shape;9;p1"/>
          <p:cNvSpPr txBox="1"/>
          <p:nvPr>
            <p:ph type="title"/>
          </p:nvPr>
        </p:nvSpPr>
        <p:spPr>
          <a:xfrm>
            <a:off x="958315" y="862895"/>
            <a:ext cx="7227369" cy="134238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800" u="none" cap="none" strike="noStrike">
                <a:solidFill>
                  <a:srgbClr val="4E362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 type="body"/>
          </p:nvPr>
        </p:nvSpPr>
        <p:spPr>
          <a:xfrm>
            <a:off x="559361" y="1291810"/>
            <a:ext cx="7708265" cy="165862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1" name="Google Shape;11;p1"/>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850">
                <a:solidFill>
                  <a:srgbClr val="4E3629"/>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850">
                <a:solidFill>
                  <a:srgbClr val="4E3629"/>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lvl1pPr indent="0" lvl="0" marL="38100" marR="0" rtl="0" algn="l">
              <a:lnSpc>
                <a:spcPct val="104499"/>
              </a:lnSpc>
              <a:spcBef>
                <a:spcPts val="0"/>
              </a:spcBef>
              <a:buNone/>
              <a:defRPr b="1" i="0" sz="1000" u="none">
                <a:solidFill>
                  <a:srgbClr val="4E3629"/>
                </a:solidFill>
                <a:latin typeface="Calibri"/>
                <a:ea typeface="Calibri"/>
                <a:cs typeface="Calibri"/>
                <a:sym typeface="Calibri"/>
              </a:defRPr>
            </a:lvl1pPr>
            <a:lvl2pPr indent="0" lvl="1" marL="38100" marR="0" rtl="0" algn="l">
              <a:lnSpc>
                <a:spcPct val="104499"/>
              </a:lnSpc>
              <a:spcBef>
                <a:spcPts val="0"/>
              </a:spcBef>
              <a:buNone/>
              <a:defRPr b="1" i="0" sz="1000" u="none">
                <a:solidFill>
                  <a:srgbClr val="4E3629"/>
                </a:solidFill>
                <a:latin typeface="Calibri"/>
                <a:ea typeface="Calibri"/>
                <a:cs typeface="Calibri"/>
                <a:sym typeface="Calibri"/>
              </a:defRPr>
            </a:lvl2pPr>
            <a:lvl3pPr indent="0" lvl="2" marL="38100" marR="0" rtl="0" algn="l">
              <a:lnSpc>
                <a:spcPct val="104499"/>
              </a:lnSpc>
              <a:spcBef>
                <a:spcPts val="0"/>
              </a:spcBef>
              <a:buNone/>
              <a:defRPr b="1" i="0" sz="1000" u="none">
                <a:solidFill>
                  <a:srgbClr val="4E3629"/>
                </a:solidFill>
                <a:latin typeface="Calibri"/>
                <a:ea typeface="Calibri"/>
                <a:cs typeface="Calibri"/>
                <a:sym typeface="Calibri"/>
              </a:defRPr>
            </a:lvl3pPr>
            <a:lvl4pPr indent="0" lvl="3" marL="38100" marR="0" rtl="0" algn="l">
              <a:lnSpc>
                <a:spcPct val="104499"/>
              </a:lnSpc>
              <a:spcBef>
                <a:spcPts val="0"/>
              </a:spcBef>
              <a:buNone/>
              <a:defRPr b="1" i="0" sz="1000" u="none">
                <a:solidFill>
                  <a:srgbClr val="4E3629"/>
                </a:solidFill>
                <a:latin typeface="Calibri"/>
                <a:ea typeface="Calibri"/>
                <a:cs typeface="Calibri"/>
                <a:sym typeface="Calibri"/>
              </a:defRPr>
            </a:lvl4pPr>
            <a:lvl5pPr indent="0" lvl="4" marL="38100" marR="0" rtl="0" algn="l">
              <a:lnSpc>
                <a:spcPct val="104499"/>
              </a:lnSpc>
              <a:spcBef>
                <a:spcPts val="0"/>
              </a:spcBef>
              <a:buNone/>
              <a:defRPr b="1" i="0" sz="1000" u="none">
                <a:solidFill>
                  <a:srgbClr val="4E3629"/>
                </a:solidFill>
                <a:latin typeface="Calibri"/>
                <a:ea typeface="Calibri"/>
                <a:cs typeface="Calibri"/>
                <a:sym typeface="Calibri"/>
              </a:defRPr>
            </a:lvl5pPr>
            <a:lvl6pPr indent="0" lvl="5" marL="38100" marR="0" rtl="0" algn="l">
              <a:lnSpc>
                <a:spcPct val="104499"/>
              </a:lnSpc>
              <a:spcBef>
                <a:spcPts val="0"/>
              </a:spcBef>
              <a:buNone/>
              <a:defRPr b="1" i="0" sz="1000" u="none">
                <a:solidFill>
                  <a:srgbClr val="4E3629"/>
                </a:solidFill>
                <a:latin typeface="Calibri"/>
                <a:ea typeface="Calibri"/>
                <a:cs typeface="Calibri"/>
                <a:sym typeface="Calibri"/>
              </a:defRPr>
            </a:lvl6pPr>
            <a:lvl7pPr indent="0" lvl="6" marL="38100" marR="0" rtl="0" algn="l">
              <a:lnSpc>
                <a:spcPct val="104499"/>
              </a:lnSpc>
              <a:spcBef>
                <a:spcPts val="0"/>
              </a:spcBef>
              <a:buNone/>
              <a:defRPr b="1" i="0" sz="1000" u="none">
                <a:solidFill>
                  <a:srgbClr val="4E3629"/>
                </a:solidFill>
                <a:latin typeface="Calibri"/>
                <a:ea typeface="Calibri"/>
                <a:cs typeface="Calibri"/>
                <a:sym typeface="Calibri"/>
              </a:defRPr>
            </a:lvl7pPr>
            <a:lvl8pPr indent="0" lvl="7" marL="38100" marR="0" rtl="0" algn="l">
              <a:lnSpc>
                <a:spcPct val="104499"/>
              </a:lnSpc>
              <a:spcBef>
                <a:spcPts val="0"/>
              </a:spcBef>
              <a:buNone/>
              <a:defRPr b="1" i="0" sz="1000" u="none">
                <a:solidFill>
                  <a:srgbClr val="4E3629"/>
                </a:solidFill>
                <a:latin typeface="Calibri"/>
                <a:ea typeface="Calibri"/>
                <a:cs typeface="Calibri"/>
                <a:sym typeface="Calibri"/>
              </a:defRPr>
            </a:lvl8pPr>
            <a:lvl9pPr indent="0" lvl="8" marL="38100" marR="0" rtl="0" algn="l">
              <a:lnSpc>
                <a:spcPct val="104499"/>
              </a:lnSpc>
              <a:spcBef>
                <a:spcPts val="0"/>
              </a:spcBef>
              <a:buNone/>
              <a:defRPr b="1" i="0" sz="1000" u="none">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 name="Shape 49"/>
        <p:cNvGrpSpPr/>
        <p:nvPr/>
      </p:nvGrpSpPr>
      <p:grpSpPr>
        <a:xfrm>
          <a:off x="0" y="0"/>
          <a:ext cx="0" cy="0"/>
          <a:chOff x="0" y="0"/>
          <a:chExt cx="0" cy="0"/>
        </a:xfrm>
      </p:grpSpPr>
      <p:grpSp>
        <p:nvGrpSpPr>
          <p:cNvPr id="50" name="Google Shape;50;p7"/>
          <p:cNvGrpSpPr/>
          <p:nvPr/>
        </p:nvGrpSpPr>
        <p:grpSpPr>
          <a:xfrm>
            <a:off x="0" y="0"/>
            <a:ext cx="9144000" cy="6858000"/>
            <a:chOff x="0" y="0"/>
            <a:chExt cx="9144000" cy="6858000"/>
          </a:xfrm>
        </p:grpSpPr>
        <p:pic>
          <p:nvPicPr>
            <p:cNvPr id="51" name="Google Shape;51;p7"/>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52" name="Google Shape;52;p7"/>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53" name="Google Shape;53;p7"/>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54" name="Google Shape;54;p7"/>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55" name="Google Shape;55;p7"/>
          <p:cNvSpPr txBox="1"/>
          <p:nvPr>
            <p:ph type="title"/>
          </p:nvPr>
        </p:nvSpPr>
        <p:spPr>
          <a:xfrm>
            <a:off x="958315" y="862895"/>
            <a:ext cx="7227369" cy="1342389"/>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a:t>Database Programming with  SQL</a:t>
            </a:r>
            <a:endParaRPr/>
          </a:p>
        </p:txBody>
      </p:sp>
      <p:sp>
        <p:nvSpPr>
          <p:cNvPr id="56" name="Google Shape;56;p7"/>
          <p:cNvSpPr txBox="1"/>
          <p:nvPr/>
        </p:nvSpPr>
        <p:spPr>
          <a:xfrm>
            <a:off x="962879" y="2400950"/>
            <a:ext cx="2202180"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15-3</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Gestión de Vistas</a:t>
            </a:r>
            <a:endParaRPr sz="2400">
              <a:latin typeface="Calibri"/>
              <a:ea typeface="Calibri"/>
              <a:cs typeface="Calibri"/>
              <a:sym typeface="Calibri"/>
            </a:endParaRPr>
          </a:p>
        </p:txBody>
      </p:sp>
      <p:pic>
        <p:nvPicPr>
          <p:cNvPr id="57" name="Google Shape;57;p7"/>
          <p:cNvPicPr preferRelativeResize="0"/>
          <p:nvPr/>
        </p:nvPicPr>
        <p:blipFill rotWithShape="1">
          <a:blip r:embed="rId5">
            <a:alphaModFix/>
          </a:blip>
          <a:srcRect b="0" l="0" r="0" t="0"/>
          <a:stretch/>
        </p:blipFill>
        <p:spPr>
          <a:xfrm>
            <a:off x="-505975" y="3289325"/>
            <a:ext cx="3560310" cy="3586949"/>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8"/>
          <p:cNvSpPr txBox="1"/>
          <p:nvPr>
            <p:ph type="title"/>
          </p:nvPr>
        </p:nvSpPr>
        <p:spPr>
          <a:xfrm>
            <a:off x="392112" y="748031"/>
            <a:ext cx="163639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63" name="Google Shape;63;p8"/>
          <p:cNvSpPr txBox="1"/>
          <p:nvPr/>
        </p:nvSpPr>
        <p:spPr>
          <a:xfrm>
            <a:off x="483552" y="1393401"/>
            <a:ext cx="8086090" cy="161734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SQL que elimina una vista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mediante una vista en línea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para el análisis de N principales</a:t>
            </a:r>
            <a:endParaRPr sz="2400">
              <a:latin typeface="Calibri"/>
              <a:ea typeface="Calibri"/>
              <a:cs typeface="Calibri"/>
              <a:sym typeface="Calibri"/>
            </a:endParaRPr>
          </a:p>
        </p:txBody>
      </p:sp>
      <p:grpSp>
        <p:nvGrpSpPr>
          <p:cNvPr id="64" name="Google Shape;64;p8"/>
          <p:cNvGrpSpPr/>
          <p:nvPr/>
        </p:nvGrpSpPr>
        <p:grpSpPr>
          <a:xfrm>
            <a:off x="5216652" y="3566160"/>
            <a:ext cx="3337559" cy="2638043"/>
            <a:chOff x="5216652" y="3566160"/>
            <a:chExt cx="3337559" cy="2638043"/>
          </a:xfrm>
        </p:grpSpPr>
        <p:pic>
          <p:nvPicPr>
            <p:cNvPr id="65" name="Google Shape;65;p8"/>
            <p:cNvPicPr preferRelativeResize="0"/>
            <p:nvPr/>
          </p:nvPicPr>
          <p:blipFill rotWithShape="1">
            <a:blip r:embed="rId3">
              <a:alphaModFix/>
            </a:blip>
            <a:srcRect b="0" l="0" r="0" t="0"/>
            <a:stretch/>
          </p:blipFill>
          <p:spPr>
            <a:xfrm>
              <a:off x="5216652" y="3566160"/>
              <a:ext cx="3337559" cy="2638043"/>
            </a:xfrm>
            <a:prstGeom prst="rect">
              <a:avLst/>
            </a:prstGeom>
            <a:noFill/>
            <a:ln>
              <a:noFill/>
            </a:ln>
          </p:spPr>
        </p:pic>
        <p:pic>
          <p:nvPicPr>
            <p:cNvPr id="66" name="Google Shape;66;p8"/>
            <p:cNvPicPr preferRelativeResize="0"/>
            <p:nvPr/>
          </p:nvPicPr>
          <p:blipFill rotWithShape="1">
            <a:blip r:embed="rId4">
              <a:alphaModFix/>
            </a:blip>
            <a:srcRect b="0" l="0" r="0" t="0"/>
            <a:stretch/>
          </p:blipFill>
          <p:spPr>
            <a:xfrm>
              <a:off x="5408676" y="3758184"/>
              <a:ext cx="2953511" cy="2253995"/>
            </a:xfrm>
            <a:prstGeom prst="rect">
              <a:avLst/>
            </a:prstGeom>
            <a:noFill/>
            <a:ln>
              <a:noFill/>
            </a:ln>
          </p:spPr>
        </p:pic>
      </p:grpSp>
      <p:sp>
        <p:nvSpPr>
          <p:cNvPr id="67" name="Google Shape;67;p8"/>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68" name="Google Shape;68;p8"/>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69" name="Google Shape;69;p8"/>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9"/>
          <p:cNvSpPr txBox="1"/>
          <p:nvPr>
            <p:ph type="title"/>
          </p:nvPr>
        </p:nvSpPr>
        <p:spPr>
          <a:xfrm>
            <a:off x="392112" y="748031"/>
            <a:ext cx="147256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75" name="Google Shape;75;p9"/>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76" name="Google Shape;76;p9"/>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77" name="Google Shape;77;p9"/>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8" name="Google Shape;78;p9"/>
          <p:cNvSpPr txBox="1"/>
          <p:nvPr/>
        </p:nvSpPr>
        <p:spPr>
          <a:xfrm>
            <a:off x="483552" y="1381889"/>
            <a:ext cx="8073390" cy="4272280"/>
          </a:xfrm>
          <a:prstGeom prst="rect">
            <a:avLst/>
          </a:prstGeom>
          <a:noFill/>
          <a:ln>
            <a:noFill/>
          </a:ln>
        </p:spPr>
        <p:txBody>
          <a:bodyPr anchorCtr="0" anchor="t" bIns="0" lIns="0" spcFirstLastPara="1" rIns="0" wrap="square" tIns="97150">
            <a:spAutoFit/>
          </a:bodyPr>
          <a:lstStyle/>
          <a:p>
            <a:pPr indent="-177800" lvl="0" marL="184785" marR="14414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Aprender a crear y sustituir vistas no sería completo a  menos que también supiera cómo eliminarlas</a:t>
            </a:r>
            <a:endParaRPr sz="2800">
              <a:latin typeface="Calibri"/>
              <a:ea typeface="Calibri"/>
              <a:cs typeface="Calibri"/>
              <a:sym typeface="Calibri"/>
            </a:endParaRPr>
          </a:p>
          <a:p>
            <a:pPr indent="-177800" lvl="0" marL="184785" marR="0"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se crean con fines específicos</a:t>
            </a:r>
            <a:endParaRPr sz="2800">
              <a:latin typeface="Calibri"/>
              <a:ea typeface="Calibri"/>
              <a:cs typeface="Calibri"/>
              <a:sym typeface="Calibri"/>
            </a:endParaRPr>
          </a:p>
          <a:p>
            <a:pPr indent="-177800" lvl="0" marL="184785" marR="5080"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la vista ya no es necesaria o se debe modificar,  existen medios para realizar los cambios necesarios</a:t>
            </a:r>
            <a:endParaRPr sz="2800">
              <a:latin typeface="Calibri"/>
              <a:ea typeface="Calibri"/>
              <a:cs typeface="Calibri"/>
              <a:sym typeface="Calibri"/>
            </a:endParaRPr>
          </a:p>
          <a:p>
            <a:pPr indent="-177800" lvl="0" marL="184785" marR="431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 empleado que ha tenido acceso a información  financiera deja la compañía, es probable que no desee  que su vista siga estando accesible</a:t>
            </a:r>
            <a:endParaRPr sz="2800">
              <a:latin typeface="Calibri"/>
              <a:ea typeface="Calibri"/>
              <a:cs typeface="Calibri"/>
              <a:sym typeface="Calibri"/>
            </a:endParaRPr>
          </a:p>
          <a:p>
            <a:pPr indent="-177800" lvl="0" marL="184785" marR="27051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 suprimir una vista, crear  una vista en línea y construir una sentencia SELECT  para producir una lista ordenada de datos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0"/>
          <p:cNvSpPr txBox="1"/>
          <p:nvPr>
            <p:ph type="title"/>
          </p:nvPr>
        </p:nvSpPr>
        <p:spPr>
          <a:xfrm>
            <a:off x="392112" y="748031"/>
            <a:ext cx="3894454"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Supresión de una Vista</a:t>
            </a:r>
            <a:endParaRPr sz="3300"/>
          </a:p>
        </p:txBody>
      </p:sp>
      <p:sp>
        <p:nvSpPr>
          <p:cNvPr id="84" name="Google Shape;84;p10"/>
          <p:cNvSpPr txBox="1"/>
          <p:nvPr/>
        </p:nvSpPr>
        <p:spPr>
          <a:xfrm>
            <a:off x="483552" y="1415417"/>
            <a:ext cx="8091170" cy="3344545"/>
          </a:xfrm>
          <a:prstGeom prst="rect">
            <a:avLst/>
          </a:prstGeom>
          <a:noFill/>
          <a:ln>
            <a:noFill/>
          </a:ln>
        </p:spPr>
        <p:txBody>
          <a:bodyPr anchorCtr="0" anchor="t" bIns="0" lIns="0" spcFirstLastPara="1" rIns="0" wrap="square" tIns="59675">
            <a:spAutoFit/>
          </a:bodyPr>
          <a:lstStyle/>
          <a:p>
            <a:pPr indent="-177800" lvl="0" marL="184785" marR="5746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Puesto que una vista no contiene datos propios, su  eliminación no afecta a los datos de las tablas  subyacentes</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vista se ha utilizado para INSERTAR, ACTUALIZAR o  SUPRIMIR datos en el pasado, esos cambios en las  tablas base se mantienen</a:t>
            </a:r>
            <a:endParaRPr sz="2800">
              <a:latin typeface="Calibri"/>
              <a:ea typeface="Calibri"/>
              <a:cs typeface="Calibri"/>
              <a:sym typeface="Calibri"/>
            </a:endParaRPr>
          </a:p>
          <a:p>
            <a:pPr indent="-177800" lvl="0" marL="184785" marR="8439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supresión de una vista simplemente elimina la  definición de vista de la base de datos</a:t>
            </a:r>
            <a:endParaRPr sz="2800">
              <a:latin typeface="Calibri"/>
              <a:ea typeface="Calibri"/>
              <a:cs typeface="Calibri"/>
              <a:sym typeface="Calibri"/>
            </a:endParaRPr>
          </a:p>
        </p:txBody>
      </p:sp>
      <p:pic>
        <p:nvPicPr>
          <p:cNvPr id="85" name="Google Shape;85;p10"/>
          <p:cNvPicPr preferRelativeResize="0"/>
          <p:nvPr/>
        </p:nvPicPr>
        <p:blipFill rotWithShape="1">
          <a:blip r:embed="rId3">
            <a:alphaModFix/>
          </a:blip>
          <a:srcRect b="0" l="0" r="0" t="0"/>
          <a:stretch/>
        </p:blipFill>
        <p:spPr>
          <a:xfrm>
            <a:off x="5891784" y="4626864"/>
            <a:ext cx="3011411" cy="1828799"/>
          </a:xfrm>
          <a:prstGeom prst="rect">
            <a:avLst/>
          </a:prstGeom>
          <a:noFill/>
          <a:ln>
            <a:noFill/>
          </a:ln>
        </p:spPr>
      </p:pic>
      <p:sp>
        <p:nvSpPr>
          <p:cNvPr id="86" name="Google Shape;86;p10"/>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87" name="Google Shape;87;p10"/>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88" name="Google Shape;88;p10"/>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1"/>
          <p:cNvSpPr txBox="1"/>
          <p:nvPr>
            <p:ph type="title"/>
          </p:nvPr>
        </p:nvSpPr>
        <p:spPr>
          <a:xfrm>
            <a:off x="392112" y="748031"/>
            <a:ext cx="3894454"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Supresión de una Vista</a:t>
            </a:r>
            <a:endParaRPr sz="3300"/>
          </a:p>
        </p:txBody>
      </p:sp>
      <p:sp>
        <p:nvSpPr>
          <p:cNvPr id="94" name="Google Shape;94;p11"/>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95" name="Google Shape;95;p11"/>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96" name="Google Shape;96;p11"/>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1"/>
          <p:cNvSpPr txBox="1"/>
          <p:nvPr/>
        </p:nvSpPr>
        <p:spPr>
          <a:xfrm>
            <a:off x="483552" y="1415417"/>
            <a:ext cx="7858125" cy="2192020"/>
          </a:xfrm>
          <a:prstGeom prst="rect">
            <a:avLst/>
          </a:prstGeom>
          <a:noFill/>
          <a:ln>
            <a:noFill/>
          </a:ln>
        </p:spPr>
        <p:txBody>
          <a:bodyPr anchorCtr="0" anchor="t" bIns="0" lIns="0" spcFirstLastPara="1" rIns="0" wrap="square" tIns="59675">
            <a:spAutoFit/>
          </a:bodyPr>
          <a:lstStyle/>
          <a:p>
            <a:pPr indent="-177800" lvl="0" marL="184785" marR="7550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que las vistas se almacenan como una  sentencia SELECT en el diccionario de datos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Solo el creador o usuarios con el privilegio DROP ANY  VIEW pueden eliminar una vista</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SQL para eliminar una vista es:</a:t>
            </a:r>
            <a:endParaRPr sz="2800">
              <a:latin typeface="Calibri"/>
              <a:ea typeface="Calibri"/>
              <a:cs typeface="Calibri"/>
              <a:sym typeface="Calibri"/>
            </a:endParaRPr>
          </a:p>
        </p:txBody>
      </p:sp>
      <p:sp>
        <p:nvSpPr>
          <p:cNvPr id="98" name="Google Shape;98;p11"/>
          <p:cNvSpPr txBox="1"/>
          <p:nvPr/>
        </p:nvSpPr>
        <p:spPr>
          <a:xfrm>
            <a:off x="405384" y="3931920"/>
            <a:ext cx="8345805" cy="29464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DROP VIEW viewname;</a:t>
            </a:r>
            <a:endParaRPr sz="180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2"/>
          <p:cNvSpPr txBox="1"/>
          <p:nvPr>
            <p:ph type="title"/>
          </p:nvPr>
        </p:nvSpPr>
        <p:spPr>
          <a:xfrm>
            <a:off x="392112" y="748031"/>
            <a:ext cx="253809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Vistas en Línea</a:t>
            </a:r>
            <a:endParaRPr sz="3300"/>
          </a:p>
        </p:txBody>
      </p:sp>
      <p:sp>
        <p:nvSpPr>
          <p:cNvPr id="104" name="Google Shape;104;p12"/>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05" name="Google Shape;105;p12"/>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06" name="Google Shape;106;p12"/>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7" name="Google Shape;107;p12"/>
          <p:cNvSpPr txBox="1"/>
          <p:nvPr/>
        </p:nvSpPr>
        <p:spPr>
          <a:xfrm>
            <a:off x="483552" y="1415417"/>
            <a:ext cx="8156575" cy="3344545"/>
          </a:xfrm>
          <a:prstGeom prst="rect">
            <a:avLst/>
          </a:prstGeom>
          <a:noFill/>
          <a:ln>
            <a:noFill/>
          </a:ln>
        </p:spPr>
        <p:txBody>
          <a:bodyPr anchorCtr="0" anchor="t" bIns="0" lIns="0" spcFirstLastPara="1" rIns="0" wrap="square" tIns="59675">
            <a:spAutoFit/>
          </a:bodyPr>
          <a:lstStyle/>
          <a:p>
            <a:pPr indent="-177800" lvl="0" marL="184785" marR="546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en línea también se denominan subconsultas  en la cláusula FROM</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Inserte una subconsulta en la cláusula FROM como si la  subconsulta fuera un nombre de tabla</a:t>
            </a:r>
            <a:endParaRPr sz="2800">
              <a:latin typeface="Calibri"/>
              <a:ea typeface="Calibri"/>
              <a:cs typeface="Calibri"/>
              <a:sym typeface="Calibri"/>
            </a:endParaRPr>
          </a:p>
          <a:p>
            <a:pPr indent="-177800" lvl="0" marL="184785" marR="1841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en línea se utilizan normalmente para  simplificar las complejas consultas mediante la  eliminación de operaciones de unión y la condensación  de varias consultas en una sola</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3"/>
          <p:cNvSpPr txBox="1"/>
          <p:nvPr>
            <p:ph type="title"/>
          </p:nvPr>
        </p:nvSpPr>
        <p:spPr>
          <a:xfrm>
            <a:off x="392112" y="748031"/>
            <a:ext cx="253809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Vistas en Línea</a:t>
            </a:r>
            <a:endParaRPr sz="3300"/>
          </a:p>
        </p:txBody>
      </p:sp>
      <p:sp>
        <p:nvSpPr>
          <p:cNvPr id="113" name="Google Shape;113;p13"/>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14" name="Google Shape;114;p13"/>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15" name="Google Shape;115;p13"/>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6" name="Google Shape;116;p13"/>
          <p:cNvSpPr txBox="1"/>
          <p:nvPr/>
        </p:nvSpPr>
        <p:spPr>
          <a:xfrm>
            <a:off x="483552" y="1415417"/>
            <a:ext cx="7983855" cy="2858770"/>
          </a:xfrm>
          <a:prstGeom prst="rect">
            <a:avLst/>
          </a:prstGeom>
          <a:noFill/>
          <a:ln>
            <a:noFill/>
          </a:ln>
        </p:spPr>
        <p:txBody>
          <a:bodyPr anchorCtr="0" anchor="t" bIns="0" lIns="0" spcFirstLastPara="1" rIns="0" wrap="square" tIns="59675">
            <a:spAutoFit/>
          </a:bodyPr>
          <a:lstStyle/>
          <a:p>
            <a:pPr indent="-177800" lvl="0" marL="184785" marR="1911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se muestra en el siguiente ejemplo, la cláusula  FROM contiene una sentencia SELECT que recupera  datos como cualquier sentencia SELECT</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los datos devueltos por la subconsulta se les asigna  un alias (d), que, a continuación, se utiliza junto con la  consulta principal para devolver columnas  seleccionadas de ambos orígenes de consulta</a:t>
            </a:r>
            <a:endParaRPr sz="2800">
              <a:latin typeface="Calibri"/>
              <a:ea typeface="Calibri"/>
              <a:cs typeface="Calibri"/>
              <a:sym typeface="Calibri"/>
            </a:endParaRPr>
          </a:p>
        </p:txBody>
      </p:sp>
      <p:sp>
        <p:nvSpPr>
          <p:cNvPr id="117" name="Google Shape;117;p13"/>
          <p:cNvSpPr txBox="1"/>
          <p:nvPr/>
        </p:nvSpPr>
        <p:spPr>
          <a:xfrm>
            <a:off x="393191" y="4247388"/>
            <a:ext cx="8351520" cy="183642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89666"/>
              </a:lnSpc>
              <a:spcBef>
                <a:spcPts val="0"/>
              </a:spcBef>
              <a:spcAft>
                <a:spcPts val="0"/>
              </a:spcAft>
              <a:buNone/>
            </a:pPr>
            <a:r>
              <a:rPr b="1" lang="en-US" sz="1800">
                <a:solidFill>
                  <a:srgbClr val="4E3629"/>
                </a:solidFill>
                <a:latin typeface="Courier New"/>
                <a:ea typeface="Courier New"/>
                <a:cs typeface="Courier New"/>
                <a:sym typeface="Courier New"/>
              </a:rPr>
              <a:t>SELECT e.last_name, e.salary, e.department_id, d.maxsal</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e,</a:t>
            </a:r>
            <a:endParaRPr sz="1800">
              <a:latin typeface="Courier New"/>
              <a:ea typeface="Courier New"/>
              <a:cs typeface="Courier New"/>
              <a:sym typeface="Courier New"/>
            </a:endParaRPr>
          </a:p>
          <a:p>
            <a:pPr indent="-135890" lvl="0" marL="1092200" marR="1793875"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(SELECT department_id, max(salary) maxsal  FROM employees</a:t>
            </a:r>
            <a:endParaRPr sz="1800">
              <a:latin typeface="Courier New"/>
              <a:ea typeface="Courier New"/>
              <a:cs typeface="Courier New"/>
              <a:sym typeface="Courier New"/>
            </a:endParaRPr>
          </a:p>
          <a:p>
            <a:pPr indent="1092200" lvl="0" marL="0" marR="302260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GROUP BY department_id) d  </a:t>
            </a:r>
            <a:r>
              <a:rPr b="1" lang="en-US" sz="1800">
                <a:solidFill>
                  <a:srgbClr val="4E3629"/>
                </a:solidFill>
                <a:latin typeface="Courier New"/>
                <a:ea typeface="Courier New"/>
                <a:cs typeface="Courier New"/>
                <a:sym typeface="Courier New"/>
              </a:rPr>
              <a:t>WHERE e.department_id = d.department_id  AND e.salary = d.maxsal;</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4"/>
          <p:cNvSpPr txBox="1"/>
          <p:nvPr>
            <p:ph type="title"/>
          </p:nvPr>
        </p:nvSpPr>
        <p:spPr>
          <a:xfrm>
            <a:off x="392112" y="748031"/>
            <a:ext cx="471868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ANÁLISIS DE N PRINCIPALES</a:t>
            </a:r>
            <a:endParaRPr sz="3300"/>
          </a:p>
        </p:txBody>
      </p:sp>
      <p:sp>
        <p:nvSpPr>
          <p:cNvPr id="123" name="Google Shape;123;p14"/>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24" name="Google Shape;124;p14"/>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25" name="Google Shape;125;p14"/>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6" name="Google Shape;126;p14"/>
          <p:cNvSpPr txBox="1"/>
          <p:nvPr/>
        </p:nvSpPr>
        <p:spPr>
          <a:xfrm>
            <a:off x="483552" y="1415417"/>
            <a:ext cx="7868284" cy="2474595"/>
          </a:xfrm>
          <a:prstGeom prst="rect">
            <a:avLst/>
          </a:prstGeom>
          <a:noFill/>
          <a:ln>
            <a:noFill/>
          </a:ln>
        </p:spPr>
        <p:txBody>
          <a:bodyPr anchorCtr="0" anchor="t" bIns="0" lIns="0" spcFirstLastPara="1" rIns="0" wrap="square" tIns="59675">
            <a:spAutoFit/>
          </a:bodyPr>
          <a:lstStyle/>
          <a:p>
            <a:pPr indent="-177800" lvl="0" marL="184785" marR="7105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análisis de N principales es una operación SQL  utilizada para clasificar resultados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del análisis de N principales resulta útil cuando  desea recuperar los 5 registros principales o los n  registros principales de un juego de resultados  devuelto por una consulta</a:t>
            </a:r>
            <a:endParaRPr sz="2800">
              <a:latin typeface="Calibri"/>
              <a:ea typeface="Calibri"/>
              <a:cs typeface="Calibri"/>
              <a:sym typeface="Calibri"/>
            </a:endParaRPr>
          </a:p>
        </p:txBody>
      </p:sp>
      <p:graphicFrame>
        <p:nvGraphicFramePr>
          <p:cNvPr id="127" name="Google Shape;127;p14"/>
          <p:cNvGraphicFramePr/>
          <p:nvPr/>
        </p:nvGraphicFramePr>
        <p:xfrm>
          <a:off x="3466428" y="4935475"/>
          <a:ext cx="3000000" cy="3000000"/>
        </p:xfrm>
        <a:graphic>
          <a:graphicData uri="http://schemas.openxmlformats.org/drawingml/2006/table">
            <a:tbl>
              <a:tblPr bandRow="1" firstRow="1">
                <a:noFill/>
                <a:tableStyleId>{57A9A7F7-48D0-47D4-AAB6-C40DFE0B73D2}</a:tableStyleId>
              </a:tblPr>
              <a:tblGrid>
                <a:gridCol w="1763400"/>
                <a:gridCol w="1763400"/>
                <a:gridCol w="1763400"/>
              </a:tblGrid>
              <a:tr h="2897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Longest employed</a:t>
                      </a:r>
                      <a:endParaRPr sz="1600" u="none" cap="none" strike="noStrike">
                        <a:latin typeface="Calibri"/>
                        <a:ea typeface="Calibri"/>
                        <a:cs typeface="Calibri"/>
                        <a:sym typeface="Calibri"/>
                      </a:endParaRPr>
                    </a:p>
                  </a:txBody>
                  <a:tcPr marT="10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0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10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57800">
                <a:tc>
                  <a:txBody>
                    <a:bodyPr/>
                    <a:lstStyle/>
                    <a:p>
                      <a:pPr indent="0" lvl="0" marL="71755"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57800">
                <a:tc>
                  <a:txBody>
                    <a:bodyPr/>
                    <a:lstStyle/>
                    <a:p>
                      <a:pPr indent="0" lvl="0" marL="71755"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57800">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57800">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57800">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17187"/>
                        </a:lnSpc>
                        <a:spcBef>
                          <a:spcPts val="0"/>
                        </a:spcBef>
                        <a:spcAft>
                          <a:spcPts val="0"/>
                        </a:spcAft>
                        <a:buNone/>
                      </a:pPr>
                      <a:r>
                        <a:rPr lang="en-US" sz="1600" u="none" cap="none" strike="noStrike">
                          <a:solidFill>
                            <a:srgbClr val="4E3629"/>
                          </a:solidFill>
                          <a:latin typeface="Calibri"/>
                          <a:ea typeface="Calibri"/>
                          <a:cs typeface="Calibri"/>
                          <a:sym typeface="Calibri"/>
                        </a:rPr>
                        <a:t>07-Jun-1994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28" name="Google Shape;128;p14"/>
          <p:cNvSpPr txBox="1"/>
          <p:nvPr/>
        </p:nvSpPr>
        <p:spPr>
          <a:xfrm>
            <a:off x="417576" y="3864864"/>
            <a:ext cx="8345805" cy="1042669"/>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5833"/>
              </a:lnSpc>
              <a:spcBef>
                <a:spcPts val="0"/>
              </a:spcBef>
              <a:spcAft>
                <a:spcPts val="0"/>
              </a:spcAft>
              <a:buNone/>
            </a:pPr>
            <a:r>
              <a:rPr b="1" lang="en-US" sz="1800">
                <a:solidFill>
                  <a:srgbClr val="4E3629"/>
                </a:solidFill>
                <a:latin typeface="Courier New"/>
                <a:ea typeface="Courier New"/>
                <a:cs typeface="Courier New"/>
                <a:sym typeface="Courier New"/>
              </a:rPr>
              <a:t>SELECT ROWNUM AS "Longest employed", last_name, hire_date</a:t>
            </a:r>
            <a:endParaRPr sz="1800">
              <a:latin typeface="Courier New"/>
              <a:ea typeface="Courier New"/>
              <a:cs typeface="Courier New"/>
              <a:sym typeface="Courier New"/>
            </a:endParaRPr>
          </a:p>
          <a:p>
            <a:pPr indent="0" lvl="0" marL="0" marR="61525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ROWNUM &lt;=5</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hire_date;</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5"/>
          <p:cNvSpPr txBox="1"/>
          <p:nvPr>
            <p:ph type="title"/>
          </p:nvPr>
        </p:nvSpPr>
        <p:spPr>
          <a:xfrm>
            <a:off x="392112" y="748031"/>
            <a:ext cx="471868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ANÁLISIS DE N PRINCIPALES</a:t>
            </a:r>
            <a:endParaRPr sz="3300"/>
          </a:p>
        </p:txBody>
      </p:sp>
      <p:sp>
        <p:nvSpPr>
          <p:cNvPr id="134" name="Google Shape;134;p15"/>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35" name="Google Shape;135;p15"/>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36" name="Google Shape;136;p15"/>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7" name="Google Shape;137;p15"/>
          <p:cNvSpPr txBox="1"/>
          <p:nvPr/>
        </p:nvSpPr>
        <p:spPr>
          <a:xfrm>
            <a:off x="483552" y="1415417"/>
            <a:ext cx="7970520" cy="2576195"/>
          </a:xfrm>
          <a:prstGeom prst="rect">
            <a:avLst/>
          </a:prstGeom>
          <a:noFill/>
          <a:ln>
            <a:noFill/>
          </a:ln>
        </p:spPr>
        <p:txBody>
          <a:bodyPr anchorCtr="0" anchor="t" bIns="0" lIns="0" spcFirstLastPara="1" rIns="0" wrap="square" tIns="59675">
            <a:spAutoFit/>
          </a:bodyPr>
          <a:lstStyle/>
          <a:p>
            <a:pPr indent="-177800" lvl="0" marL="184785" marR="4222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análisis de N principales utiliza una vista en línea  (subconsulta) para devolver un juego de resultados</a:t>
            </a:r>
            <a:endParaRPr sz="2800">
              <a:latin typeface="Calibri"/>
              <a:ea typeface="Calibri"/>
              <a:cs typeface="Calibri"/>
              <a:sym typeface="Calibri"/>
            </a:endParaRPr>
          </a:p>
          <a:p>
            <a:pPr indent="-177800" lvl="0" marL="184785" marR="23558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ROWNUM en su consulta para asignar  un número de fila al juego de resultados</a:t>
            </a:r>
            <a:endParaRPr sz="2800">
              <a:latin typeface="Calibri"/>
              <a:ea typeface="Calibri"/>
              <a:cs typeface="Calibri"/>
              <a:sym typeface="Calibri"/>
            </a:endParaRPr>
          </a:p>
          <a:p>
            <a:pPr indent="-177800" lvl="0" marL="184785"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la consulta principal utiliza ROWNUM  para ordenar los datos y devolver los cinco principales</a:t>
            </a:r>
            <a:endParaRPr sz="2800">
              <a:latin typeface="Calibri"/>
              <a:ea typeface="Calibri"/>
              <a:cs typeface="Calibri"/>
              <a:sym typeface="Calibri"/>
            </a:endParaRPr>
          </a:p>
        </p:txBody>
      </p:sp>
      <p:sp>
        <p:nvSpPr>
          <p:cNvPr id="138" name="Google Shape;138;p15"/>
          <p:cNvSpPr txBox="1"/>
          <p:nvPr/>
        </p:nvSpPr>
        <p:spPr>
          <a:xfrm>
            <a:off x="405384" y="4133088"/>
            <a:ext cx="8345805" cy="1452880"/>
          </a:xfrm>
          <a:prstGeom prst="rect">
            <a:avLst/>
          </a:prstGeom>
          <a:solidFill>
            <a:srgbClr val="9DBDC4">
              <a:alpha val="49804"/>
            </a:srgbClr>
          </a:solidFill>
          <a:ln>
            <a:noFill/>
          </a:ln>
        </p:spPr>
        <p:txBody>
          <a:bodyPr anchorCtr="0" anchor="t" bIns="0" lIns="0" spcFirstLastPara="1" rIns="0" wrap="square" tIns="13325">
            <a:spAutoFit/>
          </a:bodyPr>
          <a:lstStyle/>
          <a:p>
            <a:pPr indent="0" lvl="0" marL="0" marR="5581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ROWNUM AS "Longest employed", last_name, hire_date  FROM (SELECT last_name, hire_date</a:t>
            </a:r>
            <a:endParaRPr sz="1800">
              <a:latin typeface="Courier New"/>
              <a:ea typeface="Courier New"/>
              <a:cs typeface="Courier New"/>
              <a:sym typeface="Courier New"/>
            </a:endParaRPr>
          </a:p>
          <a:p>
            <a:pPr indent="0" lvl="0" marL="819150" marR="49244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ORDER BY hire_date)</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ROWNUM &lt;=5;</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392112" y="748031"/>
            <a:ext cx="471868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ANÁLISIS DE N PRINCIPALES</a:t>
            </a:r>
            <a:endParaRPr sz="3300"/>
          </a:p>
        </p:txBody>
      </p:sp>
      <p:sp>
        <p:nvSpPr>
          <p:cNvPr id="144" name="Google Shape;144;p16"/>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45" name="Google Shape;145;p16"/>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46" name="Google Shape;146;p16"/>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16"/>
          <p:cNvSpPr txBox="1"/>
          <p:nvPr/>
        </p:nvSpPr>
        <p:spPr>
          <a:xfrm>
            <a:off x="483552" y="2872361"/>
            <a:ext cx="7327900" cy="122047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anterior, la vista en línea selecciona  primero la lista de last_names y hire_dates de los  empleados:</a:t>
            </a:r>
            <a:endParaRPr sz="2800">
              <a:latin typeface="Calibri"/>
              <a:ea typeface="Calibri"/>
              <a:cs typeface="Calibri"/>
              <a:sym typeface="Calibri"/>
            </a:endParaRPr>
          </a:p>
        </p:txBody>
      </p:sp>
      <p:sp>
        <p:nvSpPr>
          <p:cNvPr id="148" name="Google Shape;148;p16"/>
          <p:cNvSpPr txBox="1"/>
          <p:nvPr/>
        </p:nvSpPr>
        <p:spPr>
          <a:xfrm>
            <a:off x="483552" y="4612769"/>
            <a:ext cx="762571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la vista en línea ordena los años del  más antiguo al más reciente</a:t>
            </a:r>
            <a:endParaRPr sz="2800">
              <a:latin typeface="Calibri"/>
              <a:ea typeface="Calibri"/>
              <a:cs typeface="Calibri"/>
              <a:sym typeface="Calibri"/>
            </a:endParaRPr>
          </a:p>
        </p:txBody>
      </p:sp>
      <p:graphicFrame>
        <p:nvGraphicFramePr>
          <p:cNvPr id="149" name="Google Shape;149;p16"/>
          <p:cNvGraphicFramePr/>
          <p:nvPr/>
        </p:nvGraphicFramePr>
        <p:xfrm>
          <a:off x="559361" y="1291810"/>
          <a:ext cx="3000000" cy="3000000"/>
        </p:xfrm>
        <a:graphic>
          <a:graphicData uri="http://schemas.openxmlformats.org/drawingml/2006/table">
            <a:tbl>
              <a:tblPr bandRow="1" firstRow="1">
                <a:noFill/>
                <a:tableStyleId>{57A9A7F7-48D0-47D4-AAB6-C40DFE0B73D2}</a:tableStyleId>
              </a:tblPr>
              <a:tblGrid>
                <a:gridCol w="2562850"/>
                <a:gridCol w="2562850"/>
                <a:gridCol w="2562850"/>
              </a:tblGrid>
              <a:tr h="274325">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Longest employed</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LAST_NAME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HIRE_DATE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King</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17-Jun-1987</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Whalen</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17-Sep-1987</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3</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Kochhar</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21-Sep-1989</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4</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Hunold</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03-Jan-1990</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5</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Ernst</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21-May-1991</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50" name="Google Shape;150;p16"/>
          <p:cNvSpPr txBox="1"/>
          <p:nvPr/>
        </p:nvSpPr>
        <p:spPr>
          <a:xfrm>
            <a:off x="405384" y="4177284"/>
            <a:ext cx="8345805" cy="30797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 FROM employees...</a:t>
            </a:r>
            <a:endParaRPr sz="1800">
              <a:latin typeface="Courier New"/>
              <a:ea typeface="Courier New"/>
              <a:cs typeface="Courier New"/>
              <a:sym typeface="Courier New"/>
            </a:endParaRPr>
          </a:p>
        </p:txBody>
      </p:sp>
      <p:sp>
        <p:nvSpPr>
          <p:cNvPr id="151" name="Google Shape;151;p16"/>
          <p:cNvSpPr txBox="1"/>
          <p:nvPr/>
        </p:nvSpPr>
        <p:spPr>
          <a:xfrm>
            <a:off x="417576" y="5519928"/>
            <a:ext cx="8345805" cy="30670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rgbClr val="4E3629"/>
                </a:solidFill>
                <a:latin typeface="Courier New"/>
                <a:ea typeface="Courier New"/>
                <a:cs typeface="Courier New"/>
                <a:sym typeface="Courier New"/>
              </a:rPr>
              <a:t>...ORDER BY hire_date)</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392112" y="748031"/>
            <a:ext cx="471868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ANÁLISIS DE N PRINCIPALES</a:t>
            </a:r>
            <a:endParaRPr sz="3300"/>
          </a:p>
        </p:txBody>
      </p:sp>
      <p:sp>
        <p:nvSpPr>
          <p:cNvPr id="157" name="Google Shape;157;p17"/>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58" name="Google Shape;158;p17"/>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59" name="Google Shape;159;p17"/>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0" name="Google Shape;160;p17"/>
          <p:cNvSpPr txBox="1"/>
          <p:nvPr/>
        </p:nvSpPr>
        <p:spPr>
          <a:xfrm>
            <a:off x="483552" y="1415417"/>
            <a:ext cx="7502525" cy="122047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WHERE de la consulta externa se utiliza  para restringir el número de filas devueltas y debe  utilizar un operador &lt; o &lt;=</a:t>
            </a:r>
            <a:endParaRPr sz="2800">
              <a:latin typeface="Calibri"/>
              <a:ea typeface="Calibri"/>
              <a:cs typeface="Calibri"/>
              <a:sym typeface="Calibri"/>
            </a:endParaRPr>
          </a:p>
        </p:txBody>
      </p:sp>
      <p:graphicFrame>
        <p:nvGraphicFramePr>
          <p:cNvPr id="161" name="Google Shape;161;p17"/>
          <p:cNvGraphicFramePr/>
          <p:nvPr/>
        </p:nvGraphicFramePr>
        <p:xfrm>
          <a:off x="804669" y="4351208"/>
          <a:ext cx="3000000" cy="3000000"/>
        </p:xfrm>
        <a:graphic>
          <a:graphicData uri="http://schemas.openxmlformats.org/drawingml/2006/table">
            <a:tbl>
              <a:tblPr bandRow="1" firstRow="1">
                <a:noFill/>
                <a:tableStyleId>{57A9A7F7-48D0-47D4-AAB6-C40DFE0B73D2}</a:tableStyleId>
              </a:tblPr>
              <a:tblGrid>
                <a:gridCol w="2503175"/>
                <a:gridCol w="2503175"/>
                <a:gridCol w="2503175"/>
              </a:tblGrid>
              <a:tr h="274325">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Longest employed</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LAST_NAME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HIRE_DATE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King</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17-Jun-1987</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Whalen</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17-Sep-1987</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3</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Kochhar</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21-Sep-1989</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4</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Hunold</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03-Jan-1990</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325">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5</a:t>
                      </a:r>
                      <a:endParaRPr sz="1800" u="none" cap="none" strike="noStrike">
                        <a:latin typeface="Calibri"/>
                        <a:ea typeface="Calibri"/>
                        <a:cs typeface="Calibri"/>
                        <a:sym typeface="Calibri"/>
                      </a:endParaRPr>
                    </a:p>
                  </a:txBody>
                  <a:tcPr marT="0" marB="0" marR="0" marL="0">
                    <a:lnL cap="flat" cmpd="sng" w="1905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Ernst</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21-May-1991</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62" name="Google Shape;162;p17"/>
          <p:cNvSpPr txBox="1"/>
          <p:nvPr/>
        </p:nvSpPr>
        <p:spPr>
          <a:xfrm>
            <a:off x="393191" y="2671572"/>
            <a:ext cx="8345805" cy="1442085"/>
          </a:xfrm>
          <a:prstGeom prst="rect">
            <a:avLst/>
          </a:prstGeom>
          <a:solidFill>
            <a:srgbClr val="9DBDC4">
              <a:alpha val="49804"/>
            </a:srgbClr>
          </a:solidFill>
          <a:ln>
            <a:noFill/>
          </a:ln>
        </p:spPr>
        <p:txBody>
          <a:bodyPr anchorCtr="0" anchor="t" bIns="0" lIns="0" spcFirstLastPara="1" rIns="0" wrap="square" tIns="6975">
            <a:spAutoFit/>
          </a:bodyPr>
          <a:lstStyle/>
          <a:p>
            <a:pPr indent="0" lvl="0" marL="0" marR="5575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ROWNUM AS "Longest employed", last_name, hire_date  FROM (SELECT last_name, hire_date</a:t>
            </a:r>
            <a:endParaRPr sz="1800">
              <a:latin typeface="Courier New"/>
              <a:ea typeface="Courier New"/>
              <a:cs typeface="Courier New"/>
              <a:sym typeface="Courier New"/>
            </a:endParaRPr>
          </a:p>
          <a:p>
            <a:pPr indent="0" lvl="0" marL="819785" marR="49237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ORDER BY hire_date)</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WHERE ROWNUM &lt;=5</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392112" y="748031"/>
            <a:ext cx="222948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168" name="Google Shape;168;p18"/>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69" name="Google Shape;169;p18"/>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70" name="Google Shape;170;p18"/>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1" name="Google Shape;171;p18"/>
          <p:cNvSpPr txBox="1"/>
          <p:nvPr/>
        </p:nvSpPr>
        <p:spPr>
          <a:xfrm>
            <a:off x="483552" y="1415417"/>
            <a:ext cx="7702550" cy="23602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DROP VIEW</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VISTA EN LÍNEA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ANÁLISIS DE N PRINCIPALES</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ROWNUM</a:t>
            </a:r>
            <a:endParaRPr sz="24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392112" y="748031"/>
            <a:ext cx="1602105"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177" name="Google Shape;177;p19"/>
          <p:cNvSpPr txBox="1"/>
          <p:nvPr/>
        </p:nvSpPr>
        <p:spPr>
          <a:xfrm>
            <a:off x="483552" y="1393401"/>
            <a:ext cx="8086090" cy="161734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SQL que elimina una vista</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mediante una vista en línea</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para el análisis de N principales</a:t>
            </a:r>
            <a:endParaRPr sz="2400">
              <a:latin typeface="Calibri"/>
              <a:ea typeface="Calibri"/>
              <a:cs typeface="Calibri"/>
              <a:sym typeface="Calibri"/>
            </a:endParaRPr>
          </a:p>
        </p:txBody>
      </p:sp>
      <p:grpSp>
        <p:nvGrpSpPr>
          <p:cNvPr id="178" name="Google Shape;178;p19"/>
          <p:cNvGrpSpPr/>
          <p:nvPr/>
        </p:nvGrpSpPr>
        <p:grpSpPr>
          <a:xfrm>
            <a:off x="4526279" y="3886200"/>
            <a:ext cx="4140708" cy="2261615"/>
            <a:chOff x="4526279" y="3886200"/>
            <a:chExt cx="4140708" cy="2261615"/>
          </a:xfrm>
        </p:grpSpPr>
        <p:pic>
          <p:nvPicPr>
            <p:cNvPr id="179" name="Google Shape;179;p19"/>
            <p:cNvPicPr preferRelativeResize="0"/>
            <p:nvPr/>
          </p:nvPicPr>
          <p:blipFill rotWithShape="1">
            <a:blip r:embed="rId3">
              <a:alphaModFix/>
            </a:blip>
            <a:srcRect b="0" l="0" r="0" t="0"/>
            <a:stretch/>
          </p:blipFill>
          <p:spPr>
            <a:xfrm>
              <a:off x="4526279" y="3886200"/>
              <a:ext cx="4140708" cy="2261615"/>
            </a:xfrm>
            <a:prstGeom prst="rect">
              <a:avLst/>
            </a:prstGeom>
            <a:noFill/>
            <a:ln>
              <a:noFill/>
            </a:ln>
          </p:spPr>
        </p:pic>
        <p:pic>
          <p:nvPicPr>
            <p:cNvPr id="180" name="Google Shape;180;p19"/>
            <p:cNvPicPr preferRelativeResize="0"/>
            <p:nvPr/>
          </p:nvPicPr>
          <p:blipFill rotWithShape="1">
            <a:blip r:embed="rId4">
              <a:alphaModFix/>
            </a:blip>
            <a:srcRect b="0" l="0" r="0" t="0"/>
            <a:stretch/>
          </p:blipFill>
          <p:spPr>
            <a:xfrm>
              <a:off x="4718303" y="4078223"/>
              <a:ext cx="3756659" cy="1877567"/>
            </a:xfrm>
            <a:prstGeom prst="rect">
              <a:avLst/>
            </a:prstGeom>
            <a:noFill/>
            <a:ln>
              <a:noFill/>
            </a:ln>
          </p:spPr>
        </p:pic>
      </p:grpSp>
      <p:sp>
        <p:nvSpPr>
          <p:cNvPr id="181" name="Google Shape;181;p19"/>
          <p:cNvSpPr txBox="1"/>
          <p:nvPr>
            <p:ph idx="10" type="dt"/>
          </p:nvPr>
        </p:nvSpPr>
        <p:spPr>
          <a:xfrm>
            <a:off x="2874191" y="6516395"/>
            <a:ext cx="784225" cy="249554"/>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15-3</a:t>
            </a:r>
            <a:endParaRPr/>
          </a:p>
          <a:p>
            <a:pPr indent="0" lvl="0" marL="12700" rtl="0" algn="l">
              <a:lnSpc>
                <a:spcPct val="120624"/>
              </a:lnSpc>
              <a:spcBef>
                <a:spcPts val="0"/>
              </a:spcBef>
              <a:spcAft>
                <a:spcPts val="0"/>
              </a:spcAft>
              <a:buNone/>
            </a:pPr>
            <a:r>
              <a:rPr lang="en-US"/>
              <a:t>Gestión de Vistas</a:t>
            </a:r>
            <a:endParaRPr/>
          </a:p>
        </p:txBody>
      </p:sp>
      <p:sp>
        <p:nvSpPr>
          <p:cNvPr id="182" name="Google Shape;182;p19"/>
          <p:cNvSpPr txBox="1"/>
          <p:nvPr>
            <p:ph idx="12" type="sldNum"/>
          </p:nvPr>
        </p:nvSpPr>
        <p:spPr>
          <a:xfrm>
            <a:off x="8725090" y="6567768"/>
            <a:ext cx="204470" cy="1524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183" name="Google Shape;183;p19"/>
          <p:cNvSpPr txBox="1"/>
          <p:nvPr>
            <p:ph idx="11" type="ftr"/>
          </p:nvPr>
        </p:nvSpPr>
        <p:spPr>
          <a:xfrm>
            <a:off x="5172119" y="6589648"/>
            <a:ext cx="3221990" cy="133984"/>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