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7428FF-25AC-4383-8D46-5B3EF23FB29B}">
  <a:tblStyle styleId="{627428FF-25AC-4383-8D46-5B3EF23FB2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424561"/>
            <a:ext cx="7856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191" y="6516395"/>
            <a:ext cx="11652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329184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15-2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Operaciones DML y Vistas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9853" y="3485388"/>
            <a:ext cx="5050533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73" name="Google Shape;73;p15"/>
          <p:cNvSpPr txBox="1"/>
          <p:nvPr/>
        </p:nvSpPr>
        <p:spPr>
          <a:xfrm>
            <a:off x="483552" y="1393401"/>
            <a:ext cx="8041640" cy="260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Escribir y ejecutar una consulta que realice operaciones DML  en una vista simple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0261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Nombrar las condiciones que restringen la capacidad de  modificar una vista mediante las operaciones DML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717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Escribir y ejecutar una consulta utilizando la cláusula WITH  CHECK OPTION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5173979" y="3851148"/>
            <a:ext cx="3337559" cy="2638043"/>
            <a:chOff x="5173979" y="3851148"/>
            <a:chExt cx="3337559" cy="2638043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73979" y="3851148"/>
              <a:ext cx="3337559" cy="2638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66003" y="4043172"/>
              <a:ext cx="2953511" cy="2253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393401"/>
            <a:ext cx="8012430" cy="18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5623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el uso de WITH CHECK OPTION que se aplica a las  restricciones de integridad y la validación de datos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la opción WITH READ ONLY a una vista para restringir  las operaciones DML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483552" y="1415417"/>
            <a:ext cx="8159115" cy="421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8831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ha aprendido en la última lección, las vistas  simplifican el acceso de usuario a datos incluidos en  una o más tablas de la base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embargo, las vistas también permiten a los usuarios  realizar cambios en las tablas subyacentes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4699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DBA y persona cuyo trabajo es mantener la  integridad de la base de datos, puede que desee poner  restricciones en determinadas vistas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45415" rtl="0" algn="l">
              <a:lnSpc>
                <a:spcPct val="108214"/>
              </a:lnSpc>
              <a:spcBef>
                <a:spcPts val="77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aprenderá a permitir el acceso a datos  y al mismo tiempo garantizar la seguridad de los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92112" y="748031"/>
            <a:ext cx="4106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Sentencias DML y Vistas</a:t>
            </a:r>
            <a:endParaRPr sz="3300"/>
          </a:p>
        </p:txBody>
      </p:sp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483552" y="1415417"/>
            <a:ext cx="7865745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5656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operaciones DML INSERT, UPDATE y DELETE se  pueden realizar en vistas simples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Estas operaciones se pueden utilizar para cambiar los  datos en las tablas base subyacentes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7305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crea una vista que permita a los usuarios ver  información restringida mediante la cláusula WHERE,  los usuarios seguirán pudiendo realizar operaciones  DML en todas las columnas de la vista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92112" y="748031"/>
            <a:ext cx="4106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Sentencias DML y Vistas</a:t>
            </a:r>
            <a:endParaRPr sz="3300"/>
          </a:p>
        </p:txBody>
      </p:sp>
      <p:sp>
        <p:nvSpPr>
          <p:cNvPr id="112" name="Google Shape;112;p19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483552" y="1424561"/>
            <a:ext cx="7856100" cy="20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172720" lvl="0" marL="18478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400"/>
              <a:buFont typeface="Arial"/>
              <a:buChar char="•"/>
            </a:pPr>
            <a:r>
              <a:rPr lang="en-US"/>
              <a:t>Por ejemplo, la vista que se muestra a la derecha se ha creado  para que los jefes del departamento 50 la base de datos de  empleados</a:t>
            </a:r>
            <a:endParaRPr/>
          </a:p>
          <a:p>
            <a:pPr indent="-172720" lvl="0" marL="184785" marR="538480" rtl="0" algn="l">
              <a:lnSpc>
                <a:spcPct val="107916"/>
              </a:lnSpc>
              <a:spcBef>
                <a:spcPts val="610"/>
              </a:spcBef>
              <a:spcAft>
                <a:spcPts val="1200"/>
              </a:spcAft>
              <a:buClr>
                <a:srgbClr val="D1350F"/>
              </a:buClr>
              <a:buSzPts val="2400"/>
              <a:buFont typeface="Arial"/>
              <a:buChar char="•"/>
            </a:pPr>
            <a:r>
              <a:rPr lang="en-US"/>
              <a:t>La intención de esta vista es permitir a los jefes del  departamento 50 ver la información sobre sus empleados</a:t>
            </a:r>
            <a:endParaRPr/>
          </a:p>
        </p:txBody>
      </p:sp>
      <p:graphicFrame>
        <p:nvGraphicFramePr>
          <p:cNvPr id="116" name="Google Shape;116;p19"/>
          <p:cNvGraphicFramePr/>
          <p:nvPr/>
        </p:nvGraphicFramePr>
        <p:xfrm>
          <a:off x="3174780" y="5053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{627428FF-25AC-4383-8D46-5B3EF23FB29B}</a:tableStyleId>
              </a:tblPr>
              <a:tblGrid>
                <a:gridCol w="1390650"/>
                <a:gridCol w="1071250"/>
                <a:gridCol w="1113800"/>
                <a:gridCol w="1113800"/>
                <a:gridCol w="890275"/>
              </a:tblGrid>
              <a:tr h="2082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Trenna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Curtis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9"/>
          <p:cNvSpPr txBox="1"/>
          <p:nvPr/>
        </p:nvSpPr>
        <p:spPr>
          <a:xfrm>
            <a:off x="650748" y="3189732"/>
            <a:ext cx="4721860" cy="170561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0" marR="1437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view_dept50  AS SELECT department_id,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73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employee_id,first_name, last_name, 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6525" marR="1167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copy_employees  WHERE department_id = 50;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650748" y="5023103"/>
            <a:ext cx="2284730" cy="57023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view_dept50;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92112" y="748031"/>
            <a:ext cx="2896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Control de Vistas</a:t>
            </a:r>
            <a:endParaRPr sz="3300"/>
          </a:p>
        </p:txBody>
      </p:sp>
      <p:sp>
        <p:nvSpPr>
          <p:cNvPr id="124" name="Google Shape;124;p20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483552" y="1415417"/>
            <a:ext cx="8080375" cy="410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0162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Mediante la vista como se ha indicado, es posible  INSERTAR, ACTUALIZAR y SUPRIMIR información de  todas las filas de la vista, incluso aunque el resultado  sea que una fila ya no forme parte de la vista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7526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que esto no sea lo que deseaba el DBA cuando  se creó la vista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controlar el acceso a los datos, se pueden agregar  dos opciones a la sentencia CREATE VIEW: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WITH CHECK OPTION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WITH READ ONLY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92112" y="748031"/>
            <a:ext cx="4650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Vistas con la Opción CHECK</a:t>
            </a:r>
            <a:endParaRPr sz="3300"/>
          </a:p>
        </p:txBody>
      </p:sp>
      <p:sp>
        <p:nvSpPr>
          <p:cNvPr id="133" name="Google Shape;133;p21"/>
          <p:cNvSpPr txBox="1"/>
          <p:nvPr/>
        </p:nvSpPr>
        <p:spPr>
          <a:xfrm>
            <a:off x="483552" y="1387985"/>
            <a:ext cx="5394325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272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vista se define WITH CHECK OPTION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83552" y="3062861"/>
            <a:ext cx="7470140" cy="73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-172720" lvl="0" marL="184785" marR="508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Mediante la vista, se ha cambiado el departamento de  employee_id 124 a dept_id 90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483552" y="5053205"/>
            <a:ext cx="7482840" cy="73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172720" lvl="0" marL="184785" marR="508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actualización se realiza correctamente, aunque este  empleado ahora no forma parte de la vista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6448" y="4494276"/>
            <a:ext cx="2028443" cy="30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/>
        </p:nvSpPr>
        <p:spPr>
          <a:xfrm>
            <a:off x="399288" y="1818132"/>
            <a:ext cx="8345805" cy="135636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view_dept50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47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SELECT department_id, employee_id, first_name, last_name, 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8940" marR="4516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copy_employees  WHERE department_id = 50;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1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393191" y="3910584"/>
            <a:ext cx="3823970" cy="8890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0" marR="8140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UPDATE view_dept50  SET department_id = 90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employee_id = 124;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92112" y="748031"/>
            <a:ext cx="4650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Vistas con la Opción CHECK</a:t>
            </a:r>
            <a:endParaRPr sz="3300"/>
          </a:p>
        </p:txBody>
      </p:sp>
      <p:sp>
        <p:nvSpPr>
          <p:cNvPr id="147" name="Google Shape;147;p22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390123" y="1494537"/>
            <a:ext cx="8341359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-171450" lvl="0" marL="184785" marR="307975" rtl="0" algn="l">
              <a:lnSpc>
                <a:spcPct val="108148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WITH CHECK OPTION garantiza que las operaciones DML  realizadas en la vista se mantengan en el dominio de la  vista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4785" marR="102235" rtl="0" algn="l">
              <a:lnSpc>
                <a:spcPct val="108148"/>
              </a:lnSpc>
              <a:spcBef>
                <a:spcPts val="590"/>
              </a:spcBef>
              <a:spcAft>
                <a:spcPts val="0"/>
              </a:spcAft>
              <a:buClr>
                <a:srgbClr val="D1350F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Cualquier intento de cambiar el número de departamento  de una fila de la vista fallará porque viola la restricción  WITH CHECK OPTION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84785" marR="5080" rtl="0" algn="l">
              <a:lnSpc>
                <a:spcPct val="108148"/>
              </a:lnSpc>
              <a:spcBef>
                <a:spcPts val="590"/>
              </a:spcBef>
              <a:spcAft>
                <a:spcPts val="0"/>
              </a:spcAft>
              <a:buClr>
                <a:srgbClr val="D1350F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Observe en el ejemplo siguiente que a la restricción WITH  CHECK OPTION se le asignó el nombre view_dept50_check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399288" y="4715255"/>
            <a:ext cx="8345805" cy="122872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VIEW view_dept50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65125" lvl="0" marL="365125" marR="1555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SELECT department_id, employee_id, first_name, last_name, salary  FROM employees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= 50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WITH CHECK OPTION CONSTRAINT view_dept50_check;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92112" y="748031"/>
            <a:ext cx="4650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Vistas con la Opción CHECK</a:t>
            </a:r>
            <a:endParaRPr sz="3300"/>
          </a:p>
        </p:txBody>
      </p:sp>
      <p:sp>
        <p:nvSpPr>
          <p:cNvPr id="157" name="Google Shape;157;p23"/>
          <p:cNvSpPr txBox="1"/>
          <p:nvPr/>
        </p:nvSpPr>
        <p:spPr>
          <a:xfrm>
            <a:off x="483552" y="1415417"/>
            <a:ext cx="763778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Ahora, si intenta modificar una fila en la vista que la  sacará del dominio de la vista, se devuelve un error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3654552"/>
            <a:ext cx="5925311" cy="4480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393191" y="2558795"/>
            <a:ext cx="8345805" cy="87058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UPDATE view_dept50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407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SET department_id = 90  WHERE employee_id = 124;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23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92112" y="748031"/>
            <a:ext cx="3742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Vistas con READ ONLY</a:t>
            </a:r>
            <a:endParaRPr sz="3300"/>
          </a:p>
        </p:txBody>
      </p:sp>
      <p:sp>
        <p:nvSpPr>
          <p:cNvPr id="168" name="Google Shape;168;p24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483552" y="1415417"/>
            <a:ext cx="7949565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91694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opción WITH READ ONLY garantiza que no se  produce ninguna operación DML en la vista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Cualquier intento de ejecutar una sentencia INSERT,  UPDATE o DELETE producirá un error de Oracle Server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405384" y="3709415"/>
            <a:ext cx="8345805" cy="1701164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VIEW view_dept50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47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SELECT department_id, employee_id, first_name, last_name, 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5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137160" lvl="0" marL="0" marR="4924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= 50  WITH READ ONLY;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392112" y="748031"/>
            <a:ext cx="3670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Restricciones de DML</a:t>
            </a:r>
            <a:endParaRPr sz="3300"/>
          </a:p>
        </p:txBody>
      </p:sp>
      <p:sp>
        <p:nvSpPr>
          <p:cNvPr id="178" name="Google Shape;178;p25"/>
          <p:cNvSpPr txBox="1"/>
          <p:nvPr/>
        </p:nvSpPr>
        <p:spPr>
          <a:xfrm>
            <a:off x="483552" y="1415417"/>
            <a:ext cx="8085455" cy="344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vistas simples y complejos difieren en su capacidad  para permitir operaciones DML en una vista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762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las vistas simples, las operaciones DML se pueden  realizar en la vista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75946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las vistas complejas, las operaciones DML no  siempre están permitidas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40029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tres reglas siguientes se deben tener en cuenta al  realizar operaciones DML en las vistas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4952" y="4649723"/>
            <a:ext cx="1889759" cy="172973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92112" y="748031"/>
            <a:ext cx="3670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Restricciones de DML</a:t>
            </a:r>
            <a:endParaRPr sz="3300"/>
          </a:p>
        </p:txBody>
      </p:sp>
      <p:sp>
        <p:nvSpPr>
          <p:cNvPr id="188" name="Google Shape;188;p26"/>
          <p:cNvSpPr txBox="1"/>
          <p:nvPr/>
        </p:nvSpPr>
        <p:spPr>
          <a:xfrm>
            <a:off x="483552" y="1415417"/>
            <a:ext cx="7510780" cy="236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puede eliminar una fila desde una tabla base  subyacente si la vista contiene algo de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grupo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cláusula GROUP BY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palabra clave DISTINCT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palabra clave ROWNUM de pseudocolumna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4952" y="4649723"/>
            <a:ext cx="1889759" cy="172973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191" name="Google Shape;191;p2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92112" y="748031"/>
            <a:ext cx="3670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Restricciones de DML</a:t>
            </a:r>
            <a:endParaRPr sz="3300"/>
          </a:p>
        </p:txBody>
      </p:sp>
      <p:sp>
        <p:nvSpPr>
          <p:cNvPr id="198" name="Google Shape;198;p27"/>
          <p:cNvSpPr txBox="1"/>
          <p:nvPr/>
        </p:nvSpPr>
        <p:spPr>
          <a:xfrm>
            <a:off x="483552" y="1415417"/>
            <a:ext cx="7124065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puede modificar datos de una vista si la vista  contiene: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grupo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cláusula GROUP BY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palabra clave DISTINCT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palabra clave ROWNUM de pseudocolumna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Columnas definidas por expresiones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4952" y="4649723"/>
            <a:ext cx="1889759" cy="172973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201" name="Google Shape;201;p2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92112" y="748031"/>
            <a:ext cx="3670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Restricciones de DML</a:t>
            </a:r>
            <a:endParaRPr sz="3300"/>
          </a:p>
        </p:txBody>
      </p:sp>
      <p:sp>
        <p:nvSpPr>
          <p:cNvPr id="208" name="Google Shape;208;p28"/>
          <p:cNvSpPr txBox="1"/>
          <p:nvPr/>
        </p:nvSpPr>
        <p:spPr>
          <a:xfrm>
            <a:off x="483552" y="1393401"/>
            <a:ext cx="6888480" cy="275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puede agregar datos en una vista si esta: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incluye funciones de grupo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incluye una cláusula GROUP BY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incluye la palabra clave DISTINCT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incluye palabra clave ROWNUM de pseudocolumna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incluye columnas definidas por expresiones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incluye columnas NOT NULL en las tablas base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4952" y="4649723"/>
            <a:ext cx="1889759" cy="172973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218" name="Google Shape;218;p29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219" name="Google Shape;219;p2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483552" y="1415417"/>
            <a:ext cx="753046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WITH CHECK OPTION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WITH READ ONLY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227" name="Google Shape;227;p30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483552" y="1393401"/>
            <a:ext cx="8041640" cy="260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Escribir y ejecutar una consulta que realice operaciones DML  en una vista simple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0261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Nombrar las condiciones que restringen la capacidad de  modificar una vista mediante las operaciones DML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717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Escribir y ejecutar una consulta utilizando la cláusula WITH  CHECK OPTION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236" name="Google Shape;236;p31"/>
          <p:cNvSpPr txBox="1"/>
          <p:nvPr/>
        </p:nvSpPr>
        <p:spPr>
          <a:xfrm>
            <a:off x="483552" y="1393401"/>
            <a:ext cx="8012430" cy="18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5623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el uso de WITH CHECK OPTION que se aplica a las  restricciones de integridad y la validación de datos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la opción WITH READ ONLY a una vista para restringir  las operaciones DML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" name="Google Shape;237;p31"/>
          <p:cNvGrpSpPr/>
          <p:nvPr/>
        </p:nvGrpSpPr>
        <p:grpSpPr>
          <a:xfrm>
            <a:off x="4483608" y="3814571"/>
            <a:ext cx="4140707" cy="2261615"/>
            <a:chOff x="4483608" y="3814571"/>
            <a:chExt cx="4140707" cy="2261615"/>
          </a:xfrm>
        </p:grpSpPr>
        <p:pic>
          <p:nvPicPr>
            <p:cNvPr id="238" name="Google Shape;238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83608" y="3814571"/>
              <a:ext cx="4140707" cy="2261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75632" y="4006595"/>
              <a:ext cx="3756659" cy="18775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" name="Google Shape;240;p31"/>
          <p:cNvSpPr txBox="1"/>
          <p:nvPr>
            <p:ph idx="10" type="dt"/>
          </p:nvPr>
        </p:nvSpPr>
        <p:spPr>
          <a:xfrm>
            <a:off x="2874191" y="6516395"/>
            <a:ext cx="1165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15-2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Operaciones DML y Vistas</a:t>
            </a:r>
            <a:endParaRPr/>
          </a:p>
        </p:txBody>
      </p:sp>
      <p:sp>
        <p:nvSpPr>
          <p:cNvPr id="241" name="Google Shape;241;p3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