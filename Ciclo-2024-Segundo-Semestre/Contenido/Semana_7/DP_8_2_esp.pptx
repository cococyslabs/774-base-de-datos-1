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7756EF-DAF3-48B8-A848-5F2EBB4D4265}">
  <a:tblStyle styleId="{017756EF-DAF3-48B8-A848-5F2EBB4D426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13:57:37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Agregado: algo que está formado por la combinación de varios elementos distintos.</a:t>
            </a:r>
            <a:endParaRPr/>
          </a:p>
        </p:txBody>
      </p:sp>
      <p:sp>
        <p:nvSpPr>
          <p:cNvPr id="89" name="Google Shape;8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13:57:38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 se incluye una cláusula WHERE en la sentencia SELECT, COUNT(*) devuelve el número de filas que cumpla con la condición de la cláusula WHERE.</a:t>
            </a:r>
            <a:endParaRPr/>
          </a:p>
        </p:txBody>
      </p:sp>
      <p:sp>
        <p:nvSpPr>
          <p:cNvPr id="123" name="Google Shape;123;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13:57:38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Tenemos que utilizar (*) porque las reglas de sintaxis exigen que cada función tenga al menos un argumento de entrada, entre paréntesis.</a:t>
            </a:r>
            <a:endParaRPr/>
          </a:p>
        </p:txBody>
      </p:sp>
      <p:sp>
        <p:nvSpPr>
          <p:cNvPr id="134" name="Google Shape;134;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13:57:41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Como se ha explicado en la lección anterior, la tabla employees tiene 20 filas. Solo 4 empleados tienen un valor commission_pct, las otras 16 filas contienen NULL. La media se calcula buscando el valor SUM de las filas no nulas y dividiendo por el valor COUNT de las filas no nulas.</a:t>
            </a:r>
            <a:endParaRPr/>
          </a:p>
          <a:p>
            <a:pPr indent="0" lvl="0" marL="0" rtl="0" algn="l">
              <a:spcBef>
                <a:spcPts val="0"/>
              </a:spcBef>
              <a:spcAft>
                <a:spcPts val="0"/>
              </a:spcAft>
              <a:buNone/>
            </a:pPr>
            <a:r>
              <a:rPr lang="en-US"/>
              <a:t>En la segunda consulta se sustituye un cero para aquellos empleados que tengan un valor commission_pct NULL. La media devuelta se calcula mediante la búsqueda del valor SUM de todas las filas (veinte), así como dividiendo el valor COUNT de todos las filas (veinte), por lo que la media es mucho menor.</a:t>
            </a:r>
            <a:endParaRPr/>
          </a:p>
        </p:txBody>
      </p:sp>
      <p:sp>
        <p:nvSpPr>
          <p:cNvPr id="254" name="Google Shape;25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53919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7650600" cy="15672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0263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lvl1pPr indent="0" lvl="0" marL="106680">
              <a:lnSpc>
                <a:spcPct val="104500"/>
              </a:lnSpc>
              <a:spcBef>
                <a:spcPts val="0"/>
              </a:spcBef>
              <a:buNone/>
              <a:defRPr b="1" i="0" sz="1000">
                <a:solidFill>
                  <a:srgbClr val="4E3629"/>
                </a:solidFill>
                <a:latin typeface="Calibri"/>
                <a:ea typeface="Calibri"/>
                <a:cs typeface="Calibri"/>
                <a:sym typeface="Calibri"/>
              </a:defRPr>
            </a:lvl1pPr>
            <a:lvl2pPr indent="0" lvl="1" marL="106680">
              <a:lnSpc>
                <a:spcPct val="104500"/>
              </a:lnSpc>
              <a:spcBef>
                <a:spcPts val="0"/>
              </a:spcBef>
              <a:buNone/>
              <a:defRPr b="1" i="0" sz="1000">
                <a:solidFill>
                  <a:srgbClr val="4E3629"/>
                </a:solidFill>
                <a:latin typeface="Calibri"/>
                <a:ea typeface="Calibri"/>
                <a:cs typeface="Calibri"/>
                <a:sym typeface="Calibri"/>
              </a:defRPr>
            </a:lvl2pPr>
            <a:lvl3pPr indent="0" lvl="2" marL="106680">
              <a:lnSpc>
                <a:spcPct val="104500"/>
              </a:lnSpc>
              <a:spcBef>
                <a:spcPts val="0"/>
              </a:spcBef>
              <a:buNone/>
              <a:defRPr b="1" i="0" sz="1000">
                <a:solidFill>
                  <a:srgbClr val="4E3629"/>
                </a:solidFill>
                <a:latin typeface="Calibri"/>
                <a:ea typeface="Calibri"/>
                <a:cs typeface="Calibri"/>
                <a:sym typeface="Calibri"/>
              </a:defRPr>
            </a:lvl3pPr>
            <a:lvl4pPr indent="0" lvl="3" marL="106680">
              <a:lnSpc>
                <a:spcPct val="104500"/>
              </a:lnSpc>
              <a:spcBef>
                <a:spcPts val="0"/>
              </a:spcBef>
              <a:buNone/>
              <a:defRPr b="1" i="0" sz="1000">
                <a:solidFill>
                  <a:srgbClr val="4E3629"/>
                </a:solidFill>
                <a:latin typeface="Calibri"/>
                <a:ea typeface="Calibri"/>
                <a:cs typeface="Calibri"/>
                <a:sym typeface="Calibri"/>
              </a:defRPr>
            </a:lvl4pPr>
            <a:lvl5pPr indent="0" lvl="4" marL="106680">
              <a:lnSpc>
                <a:spcPct val="104500"/>
              </a:lnSpc>
              <a:spcBef>
                <a:spcPts val="0"/>
              </a:spcBef>
              <a:buNone/>
              <a:defRPr b="1" i="0" sz="1000">
                <a:solidFill>
                  <a:srgbClr val="4E3629"/>
                </a:solidFill>
                <a:latin typeface="Calibri"/>
                <a:ea typeface="Calibri"/>
                <a:cs typeface="Calibri"/>
                <a:sym typeface="Calibri"/>
              </a:defRPr>
            </a:lvl5pPr>
            <a:lvl6pPr indent="0" lvl="5" marL="106680">
              <a:lnSpc>
                <a:spcPct val="104500"/>
              </a:lnSpc>
              <a:spcBef>
                <a:spcPts val="0"/>
              </a:spcBef>
              <a:buNone/>
              <a:defRPr b="1" i="0" sz="1000">
                <a:solidFill>
                  <a:srgbClr val="4E3629"/>
                </a:solidFill>
                <a:latin typeface="Calibri"/>
                <a:ea typeface="Calibri"/>
                <a:cs typeface="Calibri"/>
                <a:sym typeface="Calibri"/>
              </a:defRPr>
            </a:lvl6pPr>
            <a:lvl7pPr indent="0" lvl="6" marL="106680">
              <a:lnSpc>
                <a:spcPct val="104500"/>
              </a:lnSpc>
              <a:spcBef>
                <a:spcPts val="0"/>
              </a:spcBef>
              <a:buNone/>
              <a:defRPr b="1" i="0" sz="1000">
                <a:solidFill>
                  <a:srgbClr val="4E3629"/>
                </a:solidFill>
                <a:latin typeface="Calibri"/>
                <a:ea typeface="Calibri"/>
                <a:cs typeface="Calibri"/>
                <a:sym typeface="Calibri"/>
              </a:defRPr>
            </a:lvl7pPr>
            <a:lvl8pPr indent="0" lvl="7" marL="106680">
              <a:lnSpc>
                <a:spcPct val="104500"/>
              </a:lnSpc>
              <a:spcBef>
                <a:spcPts val="0"/>
              </a:spcBef>
              <a:buNone/>
              <a:defRPr b="1" i="0" sz="1000">
                <a:solidFill>
                  <a:srgbClr val="4E3629"/>
                </a:solidFill>
                <a:latin typeface="Calibri"/>
                <a:ea typeface="Calibri"/>
                <a:cs typeface="Calibri"/>
                <a:sym typeface="Calibri"/>
              </a:defRPr>
            </a:lvl8pPr>
            <a:lvl9pPr indent="0" lvl="8" marL="106680">
              <a:lnSpc>
                <a:spcPct val="104500"/>
              </a:lnSpc>
              <a:spcBef>
                <a:spcPts val="0"/>
              </a:spcBef>
              <a:buNone/>
              <a:defRPr b="1" i="0" sz="1000">
                <a:solidFill>
                  <a:srgbClr val="4E3629"/>
                </a:solidFill>
                <a:latin typeface="Calibri"/>
                <a:ea typeface="Calibri"/>
                <a:cs typeface="Calibri"/>
                <a:sym typeface="Calibri"/>
              </a:defRPr>
            </a:lvl9pPr>
          </a:lstStyle>
          <a:p>
            <a:pPr indent="0" lvl="0" marL="10668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6" name="Shape 56"/>
        <p:cNvGrpSpPr/>
        <p:nvPr/>
      </p:nvGrpSpPr>
      <p:grpSpPr>
        <a:xfrm>
          <a:off x="0" y="0"/>
          <a:ext cx="0" cy="0"/>
          <a:chOff x="0" y="0"/>
          <a:chExt cx="0" cy="0"/>
        </a:xfrm>
      </p:grpSpPr>
      <p:sp>
        <p:nvSpPr>
          <p:cNvPr id="57" name="Google Shape;57;p14"/>
          <p:cNvSpPr txBox="1"/>
          <p:nvPr>
            <p:ph type="title"/>
          </p:nvPr>
        </p:nvSpPr>
        <p:spPr>
          <a:xfrm>
            <a:off x="392112" y="748031"/>
            <a:ext cx="53919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body"/>
          </p:nvPr>
        </p:nvSpPr>
        <p:spPr>
          <a:xfrm>
            <a:off x="45720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9" name="Google Shape;59;p14"/>
          <p:cNvSpPr txBox="1"/>
          <p:nvPr>
            <p:ph idx="2" type="body"/>
          </p:nvPr>
        </p:nvSpPr>
        <p:spPr>
          <a:xfrm>
            <a:off x="470916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0" name="Google Shape;60;p14"/>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0" type="dt"/>
          </p:nvPr>
        </p:nvSpPr>
        <p:spPr>
          <a:xfrm>
            <a:off x="2874191" y="6516395"/>
            <a:ext cx="10263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lvl1pPr indent="0" lvl="0" marL="106680">
              <a:lnSpc>
                <a:spcPct val="104500"/>
              </a:lnSpc>
              <a:spcBef>
                <a:spcPts val="0"/>
              </a:spcBef>
              <a:buNone/>
              <a:defRPr b="1" i="0" sz="1000">
                <a:solidFill>
                  <a:srgbClr val="4E3629"/>
                </a:solidFill>
                <a:latin typeface="Calibri"/>
                <a:ea typeface="Calibri"/>
                <a:cs typeface="Calibri"/>
                <a:sym typeface="Calibri"/>
              </a:defRPr>
            </a:lvl1pPr>
            <a:lvl2pPr indent="0" lvl="1" marL="106680">
              <a:lnSpc>
                <a:spcPct val="104500"/>
              </a:lnSpc>
              <a:spcBef>
                <a:spcPts val="0"/>
              </a:spcBef>
              <a:buNone/>
              <a:defRPr b="1" i="0" sz="1000">
                <a:solidFill>
                  <a:srgbClr val="4E3629"/>
                </a:solidFill>
                <a:latin typeface="Calibri"/>
                <a:ea typeface="Calibri"/>
                <a:cs typeface="Calibri"/>
                <a:sym typeface="Calibri"/>
              </a:defRPr>
            </a:lvl2pPr>
            <a:lvl3pPr indent="0" lvl="2" marL="106680">
              <a:lnSpc>
                <a:spcPct val="104500"/>
              </a:lnSpc>
              <a:spcBef>
                <a:spcPts val="0"/>
              </a:spcBef>
              <a:buNone/>
              <a:defRPr b="1" i="0" sz="1000">
                <a:solidFill>
                  <a:srgbClr val="4E3629"/>
                </a:solidFill>
                <a:latin typeface="Calibri"/>
                <a:ea typeface="Calibri"/>
                <a:cs typeface="Calibri"/>
                <a:sym typeface="Calibri"/>
              </a:defRPr>
            </a:lvl3pPr>
            <a:lvl4pPr indent="0" lvl="3" marL="106680">
              <a:lnSpc>
                <a:spcPct val="104500"/>
              </a:lnSpc>
              <a:spcBef>
                <a:spcPts val="0"/>
              </a:spcBef>
              <a:buNone/>
              <a:defRPr b="1" i="0" sz="1000">
                <a:solidFill>
                  <a:srgbClr val="4E3629"/>
                </a:solidFill>
                <a:latin typeface="Calibri"/>
                <a:ea typeface="Calibri"/>
                <a:cs typeface="Calibri"/>
                <a:sym typeface="Calibri"/>
              </a:defRPr>
            </a:lvl4pPr>
            <a:lvl5pPr indent="0" lvl="4" marL="106680">
              <a:lnSpc>
                <a:spcPct val="104500"/>
              </a:lnSpc>
              <a:spcBef>
                <a:spcPts val="0"/>
              </a:spcBef>
              <a:buNone/>
              <a:defRPr b="1" i="0" sz="1000">
                <a:solidFill>
                  <a:srgbClr val="4E3629"/>
                </a:solidFill>
                <a:latin typeface="Calibri"/>
                <a:ea typeface="Calibri"/>
                <a:cs typeface="Calibri"/>
                <a:sym typeface="Calibri"/>
              </a:defRPr>
            </a:lvl5pPr>
            <a:lvl6pPr indent="0" lvl="5" marL="106680">
              <a:lnSpc>
                <a:spcPct val="104500"/>
              </a:lnSpc>
              <a:spcBef>
                <a:spcPts val="0"/>
              </a:spcBef>
              <a:buNone/>
              <a:defRPr b="1" i="0" sz="1000">
                <a:solidFill>
                  <a:srgbClr val="4E3629"/>
                </a:solidFill>
                <a:latin typeface="Calibri"/>
                <a:ea typeface="Calibri"/>
                <a:cs typeface="Calibri"/>
                <a:sym typeface="Calibri"/>
              </a:defRPr>
            </a:lvl6pPr>
            <a:lvl7pPr indent="0" lvl="6" marL="106680">
              <a:lnSpc>
                <a:spcPct val="104500"/>
              </a:lnSpc>
              <a:spcBef>
                <a:spcPts val="0"/>
              </a:spcBef>
              <a:buNone/>
              <a:defRPr b="1" i="0" sz="1000">
                <a:solidFill>
                  <a:srgbClr val="4E3629"/>
                </a:solidFill>
                <a:latin typeface="Calibri"/>
                <a:ea typeface="Calibri"/>
                <a:cs typeface="Calibri"/>
                <a:sym typeface="Calibri"/>
              </a:defRPr>
            </a:lvl7pPr>
            <a:lvl8pPr indent="0" lvl="7" marL="106680">
              <a:lnSpc>
                <a:spcPct val="104500"/>
              </a:lnSpc>
              <a:spcBef>
                <a:spcPts val="0"/>
              </a:spcBef>
              <a:buNone/>
              <a:defRPr b="1" i="0" sz="1000">
                <a:solidFill>
                  <a:srgbClr val="4E3629"/>
                </a:solidFill>
                <a:latin typeface="Calibri"/>
                <a:ea typeface="Calibri"/>
                <a:cs typeface="Calibri"/>
                <a:sym typeface="Calibri"/>
              </a:defRPr>
            </a:lvl8pPr>
            <a:lvl9pPr indent="0" lvl="8" marL="106680">
              <a:lnSpc>
                <a:spcPct val="104500"/>
              </a:lnSpc>
              <a:spcBef>
                <a:spcPts val="0"/>
              </a:spcBef>
              <a:buNone/>
              <a:defRPr b="1" i="0" sz="1000">
                <a:solidFill>
                  <a:srgbClr val="4E3629"/>
                </a:solidFill>
                <a:latin typeface="Calibri"/>
                <a:ea typeface="Calibri"/>
                <a:cs typeface="Calibri"/>
                <a:sym typeface="Calibri"/>
              </a:defRPr>
            </a:lvl9pPr>
          </a:lstStyle>
          <a:p>
            <a:pPr indent="0" lvl="0" marL="10668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 name="Shape 66"/>
        <p:cNvGrpSpPr/>
        <p:nvPr/>
      </p:nvGrpSpPr>
      <p:grpSpPr>
        <a:xfrm>
          <a:off x="0" y="0"/>
          <a:ext cx="0" cy="0"/>
          <a:chOff x="0" y="0"/>
          <a:chExt cx="0" cy="0"/>
        </a:xfrm>
      </p:grpSpPr>
      <p:grpSp>
        <p:nvGrpSpPr>
          <p:cNvPr id="67" name="Google Shape;67;p15"/>
          <p:cNvGrpSpPr/>
          <p:nvPr/>
        </p:nvGrpSpPr>
        <p:grpSpPr>
          <a:xfrm>
            <a:off x="0" y="0"/>
            <a:ext cx="9144000" cy="6858000"/>
            <a:chOff x="0" y="0"/>
            <a:chExt cx="9144000" cy="6858000"/>
          </a:xfrm>
        </p:grpSpPr>
        <p:pic>
          <p:nvPicPr>
            <p:cNvPr id="68" name="Google Shape;68;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9" name="Google Shape;69;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0" name="Google Shape;70;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1" name="Google Shape;71;p15"/>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2" name="Google Shape;72;p15"/>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3" name="Google Shape;73;p15"/>
          <p:cNvSpPr txBox="1"/>
          <p:nvPr/>
        </p:nvSpPr>
        <p:spPr>
          <a:xfrm>
            <a:off x="962879" y="2400950"/>
            <a:ext cx="284988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8-2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COUNT, DISTINCT, NVL</a:t>
            </a:r>
            <a:endParaRPr sz="2400">
              <a:latin typeface="Calibri"/>
              <a:ea typeface="Calibri"/>
              <a:cs typeface="Calibri"/>
              <a:sym typeface="Calibri"/>
            </a:endParaRPr>
          </a:p>
        </p:txBody>
      </p:sp>
      <p:pic>
        <p:nvPicPr>
          <p:cNvPr id="74" name="Google Shape;74;p15"/>
          <p:cNvPicPr preferRelativeResize="0"/>
          <p:nvPr/>
        </p:nvPicPr>
        <p:blipFill rotWithShape="1">
          <a:blip r:embed="rId5">
            <a:alphaModFix/>
          </a:blip>
          <a:srcRect b="0" l="0" r="0" t="0"/>
          <a:stretch/>
        </p:blipFill>
        <p:spPr>
          <a:xfrm>
            <a:off x="-538575" y="3373725"/>
            <a:ext cx="3648299" cy="3484275"/>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0" name="Google Shape;80;p16"/>
          <p:cNvSpPr txBox="1"/>
          <p:nvPr>
            <p:ph idx="1" type="body"/>
          </p:nvPr>
        </p:nvSpPr>
        <p:spPr>
          <a:xfrm>
            <a:off x="483552" y="1393401"/>
            <a:ext cx="7650600" cy="17022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17145" rtl="0" algn="l">
              <a:lnSpc>
                <a:spcPct val="107916"/>
              </a:lnSpc>
              <a:spcBef>
                <a:spcPts val="475"/>
              </a:spcBef>
              <a:spcAft>
                <a:spcPts val="0"/>
              </a:spcAft>
              <a:buNone/>
            </a:pPr>
            <a:r>
              <a:rPr lang="en-US" sz="2400">
                <a:solidFill>
                  <a:srgbClr val="D1350F"/>
                </a:solidFill>
              </a:rPr>
              <a:t>−</a:t>
            </a:r>
            <a:r>
              <a:rPr lang="en-US" sz="2400"/>
              <a:t>Crear y ejecutar una consulta SQL utilizando la función de grupo COUNT</a:t>
            </a:r>
            <a:endParaRPr sz="2400"/>
          </a:p>
          <a:p>
            <a:pPr indent="0" lvl="0" marL="355600" rtl="0" algn="l">
              <a:lnSpc>
                <a:spcPct val="100000"/>
              </a:lnSpc>
              <a:spcBef>
                <a:spcPts val="70"/>
              </a:spcBef>
              <a:spcAft>
                <a:spcPts val="1200"/>
              </a:spcAft>
              <a:buNone/>
            </a:pPr>
            <a:r>
              <a:rPr lang="en-US" sz="2400">
                <a:solidFill>
                  <a:srgbClr val="D1350F"/>
                </a:solidFill>
              </a:rPr>
              <a:t>−</a:t>
            </a:r>
            <a:r>
              <a:rPr lang="en-US" sz="2400"/>
              <a:t>Utilizar DISTINCT y la función NVL con funciones de grupo</a:t>
            </a:r>
            <a:endParaRPr sz="2400"/>
          </a:p>
        </p:txBody>
      </p:sp>
      <p:grpSp>
        <p:nvGrpSpPr>
          <p:cNvPr id="81" name="Google Shape;81;p16"/>
          <p:cNvGrpSpPr/>
          <p:nvPr/>
        </p:nvGrpSpPr>
        <p:grpSpPr>
          <a:xfrm>
            <a:off x="5030736" y="3566160"/>
            <a:ext cx="3337546" cy="2638043"/>
            <a:chOff x="5030736" y="3566160"/>
            <a:chExt cx="3337546" cy="2638043"/>
          </a:xfrm>
        </p:grpSpPr>
        <p:pic>
          <p:nvPicPr>
            <p:cNvPr id="82" name="Google Shape;82;p16"/>
            <p:cNvPicPr preferRelativeResize="0"/>
            <p:nvPr/>
          </p:nvPicPr>
          <p:blipFill rotWithShape="1">
            <a:blip r:embed="rId3">
              <a:alphaModFix/>
            </a:blip>
            <a:srcRect b="0" l="0" r="0" t="0"/>
            <a:stretch/>
          </p:blipFill>
          <p:spPr>
            <a:xfrm>
              <a:off x="5030736" y="3566160"/>
              <a:ext cx="3337546" cy="2638043"/>
            </a:xfrm>
            <a:prstGeom prst="rect">
              <a:avLst/>
            </a:prstGeom>
            <a:noFill/>
            <a:ln>
              <a:noFill/>
            </a:ln>
          </p:spPr>
        </p:pic>
        <p:pic>
          <p:nvPicPr>
            <p:cNvPr id="83" name="Google Shape;83;p16"/>
            <p:cNvPicPr preferRelativeResize="0"/>
            <p:nvPr/>
          </p:nvPicPr>
          <p:blipFill rotWithShape="1">
            <a:blip r:embed="rId4">
              <a:alphaModFix/>
            </a:blip>
            <a:srcRect b="0" l="0" r="0" t="0"/>
            <a:stretch/>
          </p:blipFill>
          <p:spPr>
            <a:xfrm>
              <a:off x="5222748" y="3758184"/>
              <a:ext cx="2953511" cy="2253995"/>
            </a:xfrm>
            <a:prstGeom prst="rect">
              <a:avLst/>
            </a:prstGeom>
            <a:noFill/>
            <a:ln>
              <a:noFill/>
            </a:ln>
          </p:spPr>
        </p:pic>
      </p:grpSp>
      <p:sp>
        <p:nvSpPr>
          <p:cNvPr id="84" name="Google Shape;84;p16"/>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85" name="Google Shape;85;p16"/>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6" name="Google Shape;86;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2" name="Google Shape;92;p17"/>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93" name="Google Shape;93;p17"/>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4" name="Google Shape;94;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5" name="Google Shape;95;p17"/>
          <p:cNvSpPr txBox="1"/>
          <p:nvPr/>
        </p:nvSpPr>
        <p:spPr>
          <a:xfrm>
            <a:off x="483552" y="1415417"/>
            <a:ext cx="8081645" cy="4213225"/>
          </a:xfrm>
          <a:prstGeom prst="rect">
            <a:avLst/>
          </a:prstGeom>
          <a:noFill/>
          <a:ln>
            <a:noFill/>
          </a:ln>
        </p:spPr>
        <p:txBody>
          <a:bodyPr anchorCtr="0" anchor="t" bIns="0" lIns="0" spcFirstLastPara="1" rIns="0" wrap="square" tIns="59675">
            <a:spAutoFit/>
          </a:bodyPr>
          <a:lstStyle/>
          <a:p>
            <a:pPr indent="-177800" lvl="0" marL="182880" marR="7048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Ser capaz de agregar (agrupar) los datos mediante las 	funciones SQL permite a las empresas realizar cálculos 	que, de lo contrario, se tendrían que ejecutar 	manualmente</a:t>
            </a:r>
            <a:endParaRPr sz="2800">
              <a:latin typeface="Calibri"/>
              <a:ea typeface="Calibri"/>
              <a:cs typeface="Calibri"/>
              <a:sym typeface="Calibri"/>
            </a:endParaRPr>
          </a:p>
          <a:p>
            <a:pPr indent="-177800" lvl="0" marL="182880" marR="24130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¿Recuerda el ejemplo en el que tenía que contar a 	todos los alumnos de su centro educativo? Una tarea 	descomunal</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hay suficientes manos para realizarla manualmente</a:t>
            </a:r>
            <a:endParaRPr sz="2800">
              <a:latin typeface="Calibri"/>
              <a:ea typeface="Calibri"/>
              <a:cs typeface="Calibri"/>
              <a:sym typeface="Calibri"/>
            </a:endParaRPr>
          </a:p>
          <a:p>
            <a:pPr indent="-177800" lvl="0" marL="182880" marR="76835" rtl="0" algn="l">
              <a:lnSpc>
                <a:spcPct val="108214"/>
              </a:lnSpc>
              <a:spcBef>
                <a:spcPts val="8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las funciones de grupo SQL pueden 	procesar fácilmente estos tipos de solicitudes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COUNT</a:t>
            </a:r>
            <a:endParaRPr/>
          </a:p>
        </p:txBody>
      </p:sp>
      <p:sp>
        <p:nvSpPr>
          <p:cNvPr id="101" name="Google Shape;101;p18"/>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02" name="Google Shape;102;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3" name="Google Shape;103;p18"/>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4" name="Google Shape;104;p18"/>
          <p:cNvSpPr txBox="1"/>
          <p:nvPr/>
        </p:nvSpPr>
        <p:spPr>
          <a:xfrm>
            <a:off x="483552" y="1415417"/>
            <a:ext cx="789813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COUNT (expresión) devuelve el número de valores no 	nulos de la columna de expresión</a:t>
            </a:r>
            <a:endParaRPr sz="2800">
              <a:latin typeface="Calibri"/>
              <a:ea typeface="Calibri"/>
              <a:cs typeface="Calibri"/>
              <a:sym typeface="Calibri"/>
            </a:endParaRPr>
          </a:p>
        </p:txBody>
      </p:sp>
      <p:sp>
        <p:nvSpPr>
          <p:cNvPr id="105" name="Google Shape;105;p18"/>
          <p:cNvSpPr txBox="1"/>
          <p:nvPr/>
        </p:nvSpPr>
        <p:spPr>
          <a:xfrm>
            <a:off x="405384" y="2484120"/>
            <a:ext cx="8345805" cy="55181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611"/>
              </a:lnSpc>
              <a:spcBef>
                <a:spcPts val="0"/>
              </a:spcBef>
              <a:spcAft>
                <a:spcPts val="0"/>
              </a:spcAft>
              <a:buNone/>
            </a:pPr>
            <a:r>
              <a:rPr b="1" lang="en-US" sz="1800">
                <a:solidFill>
                  <a:srgbClr val="4E3629"/>
                </a:solidFill>
                <a:latin typeface="Courier New"/>
                <a:ea typeface="Courier New"/>
                <a:cs typeface="Courier New"/>
                <a:sym typeface="Courier New"/>
              </a:rPr>
              <a:t>SELECT COUNT(job_id)</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graphicFrame>
        <p:nvGraphicFramePr>
          <p:cNvPr id="106" name="Google Shape;106;p18"/>
          <p:cNvGraphicFramePr/>
          <p:nvPr/>
        </p:nvGraphicFramePr>
        <p:xfrm>
          <a:off x="2595562" y="3369932"/>
          <a:ext cx="3000000" cy="3000000"/>
        </p:xfrm>
        <a:graphic>
          <a:graphicData uri="http://schemas.openxmlformats.org/drawingml/2006/table">
            <a:tbl>
              <a:tblPr bandRow="1" firstRow="1">
                <a:noFill/>
                <a:tableStyleId>{017756EF-DAF3-48B8-A848-5F2EBB4D4265}</a:tableStyleId>
              </a:tblPr>
              <a:tblGrid>
                <a:gridCol w="3545200"/>
              </a:tblGrid>
              <a:tr h="405775">
                <a:tc>
                  <a:txBody>
                    <a:bodyPr/>
                    <a:lstStyle/>
                    <a:p>
                      <a:pPr indent="0" lvl="0" marL="26479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COUNT(JOB_ID)</a:t>
                      </a:r>
                      <a:endParaRPr sz="1600" u="none" cap="none" strike="noStrike">
                        <a:latin typeface="Calibri"/>
                        <a:ea typeface="Calibri"/>
                        <a:cs typeface="Calibri"/>
                        <a:sym typeface="Calibri"/>
                      </a:endParaRPr>
                    </a:p>
                  </a:txBody>
                  <a:tcPr marT="6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77200">
                <a:tc>
                  <a:txBody>
                    <a:bodyPr/>
                    <a:lstStyle/>
                    <a:p>
                      <a:pPr indent="0" lvl="0" marL="30289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COUNT y NULL</a:t>
            </a:r>
            <a:endParaRPr/>
          </a:p>
        </p:txBody>
      </p:sp>
      <p:sp>
        <p:nvSpPr>
          <p:cNvPr id="112" name="Google Shape;112;p19"/>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13" name="Google Shape;113;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4" name="Google Shape;114;p19"/>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5" name="Google Shape;115;p19"/>
          <p:cNvSpPr txBox="1"/>
          <p:nvPr/>
        </p:nvSpPr>
        <p:spPr>
          <a:xfrm>
            <a:off x="483552" y="1381889"/>
            <a:ext cx="4122420" cy="2943225"/>
          </a:xfrm>
          <a:prstGeom prst="rect">
            <a:avLst/>
          </a:prstGeom>
          <a:noFill/>
          <a:ln>
            <a:noFill/>
          </a:ln>
        </p:spPr>
        <p:txBody>
          <a:bodyPr anchorCtr="0" anchor="t" bIns="0" lIns="0" spcFirstLastPara="1" rIns="0" wrap="square" tIns="97150">
            <a:spAutoFit/>
          </a:bodyPr>
          <a:lstStyle/>
          <a:p>
            <a:pPr indent="-177800" lvl="0" marL="182880" marR="15303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employees se 	muestran veinte filas de 	empleados y, si selecciona 	commission_pct, se 	devuelven veinte filas</a:t>
            </a:r>
            <a:endParaRPr sz="2800">
              <a:latin typeface="Calibri"/>
              <a:ea typeface="Calibri"/>
              <a:cs typeface="Calibri"/>
              <a:sym typeface="Calibri"/>
            </a:endParaRPr>
          </a:p>
          <a:p>
            <a:pPr indent="-177800" lvl="0" marL="182880" marR="508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agregar una función 	count a la consulta, COUNT 	solo ha devuelto cuatro</a:t>
            </a:r>
            <a:endParaRPr sz="2800">
              <a:latin typeface="Calibri"/>
              <a:ea typeface="Calibri"/>
              <a:cs typeface="Calibri"/>
              <a:sym typeface="Calibri"/>
            </a:endParaRPr>
          </a:p>
        </p:txBody>
      </p:sp>
      <p:sp>
        <p:nvSpPr>
          <p:cNvPr id="116" name="Google Shape;116;p19"/>
          <p:cNvSpPr txBox="1"/>
          <p:nvPr/>
        </p:nvSpPr>
        <p:spPr>
          <a:xfrm>
            <a:off x="483552" y="4315589"/>
            <a:ext cx="5046980" cy="157797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COUNT cuenta específicamente 	la columna commission_pct, pero</a:t>
            </a:r>
            <a:endParaRPr sz="2800">
              <a:latin typeface="Calibri"/>
              <a:ea typeface="Calibri"/>
              <a:cs typeface="Calibri"/>
              <a:sym typeface="Calibri"/>
            </a:endParaRPr>
          </a:p>
          <a:p>
            <a:pPr indent="-177800" lvl="0" marL="182880" marR="70929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ignora los valores nulos en la 	columna</a:t>
            </a:r>
            <a:endParaRPr sz="2800">
              <a:latin typeface="Calibri"/>
              <a:ea typeface="Calibri"/>
              <a:cs typeface="Calibri"/>
              <a:sym typeface="Calibri"/>
            </a:endParaRPr>
          </a:p>
        </p:txBody>
      </p:sp>
      <p:sp>
        <p:nvSpPr>
          <p:cNvPr id="117" name="Google Shape;117;p19"/>
          <p:cNvSpPr txBox="1"/>
          <p:nvPr/>
        </p:nvSpPr>
        <p:spPr>
          <a:xfrm>
            <a:off x="5765291" y="1336547"/>
            <a:ext cx="2985770" cy="55181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611"/>
              </a:lnSpc>
              <a:spcBef>
                <a:spcPts val="0"/>
              </a:spcBef>
              <a:spcAft>
                <a:spcPts val="0"/>
              </a:spcAft>
              <a:buNone/>
            </a:pPr>
            <a:r>
              <a:rPr b="1" lang="en-US" sz="1800">
                <a:solidFill>
                  <a:srgbClr val="4E3629"/>
                </a:solidFill>
                <a:latin typeface="Courier New"/>
                <a:ea typeface="Courier New"/>
                <a:cs typeface="Courier New"/>
                <a:sym typeface="Courier New"/>
              </a:rPr>
              <a:t>SELECT commission_pct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118" name="Google Shape;118;p19"/>
          <p:cNvSpPr txBox="1"/>
          <p:nvPr/>
        </p:nvSpPr>
        <p:spPr>
          <a:xfrm>
            <a:off x="4888991" y="2773679"/>
            <a:ext cx="3862070" cy="676910"/>
          </a:xfrm>
          <a:prstGeom prst="rect">
            <a:avLst/>
          </a:prstGeom>
          <a:solidFill>
            <a:srgbClr val="9DBDC4">
              <a:alpha val="49804"/>
            </a:srgbClr>
          </a:solidFill>
          <a:ln>
            <a:noFill/>
          </a:ln>
        </p:spPr>
        <p:txBody>
          <a:bodyPr anchorCtr="0" anchor="t" bIns="0" lIns="0" spcFirstLastPara="1" rIns="0" wrap="square" tIns="36175">
            <a:spAutoFit/>
          </a:bodyPr>
          <a:lstStyle/>
          <a:p>
            <a:pPr indent="0" lvl="0" marL="0" marR="311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COUNT(commission_pct) FROM employees;</a:t>
            </a:r>
            <a:endParaRPr sz="1800">
              <a:latin typeface="Courier New"/>
              <a:ea typeface="Courier New"/>
              <a:cs typeface="Courier New"/>
              <a:sym typeface="Courier New"/>
            </a:endParaRPr>
          </a:p>
        </p:txBody>
      </p:sp>
      <p:graphicFrame>
        <p:nvGraphicFramePr>
          <p:cNvPr id="119" name="Google Shape;119;p19"/>
          <p:cNvGraphicFramePr/>
          <p:nvPr/>
        </p:nvGraphicFramePr>
        <p:xfrm>
          <a:off x="5977817" y="4245416"/>
          <a:ext cx="3000000" cy="3000000"/>
        </p:xfrm>
        <a:graphic>
          <a:graphicData uri="http://schemas.openxmlformats.org/drawingml/2006/table">
            <a:tbl>
              <a:tblPr bandRow="1" firstRow="1">
                <a:noFill/>
                <a:tableStyleId>{017756EF-DAF3-48B8-A848-5F2EBB4D4265}</a:tableStyleId>
              </a:tblPr>
              <a:tblGrid>
                <a:gridCol w="2766700"/>
              </a:tblGrid>
              <a:tr h="337825">
                <a:tc>
                  <a:txBody>
                    <a:bodyPr/>
                    <a:lstStyle/>
                    <a:p>
                      <a:pPr indent="0" lvl="0" marL="230504"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COUNT(COMMISSION_PCT)</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7825">
                <a:tc>
                  <a:txBody>
                    <a:bodyPr/>
                    <a:lstStyle/>
                    <a:p>
                      <a:pPr indent="0" lvl="0" marL="27686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0" name="Google Shape;120;p19"/>
          <p:cNvSpPr txBox="1"/>
          <p:nvPr/>
        </p:nvSpPr>
        <p:spPr>
          <a:xfrm>
            <a:off x="5966948" y="2067178"/>
            <a:ext cx="237553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rgbClr val="4E3629"/>
                </a:solidFill>
                <a:latin typeface="Calibri"/>
                <a:ea typeface="Calibri"/>
                <a:cs typeface="Calibri"/>
                <a:sym typeface="Calibri"/>
              </a:rPr>
              <a:t>20 filas devueltas en 0,01 segundos</a:t>
            </a:r>
            <a:endParaRPr sz="1800">
              <a:latin typeface="Calibri"/>
              <a:ea typeface="Calibri"/>
              <a:cs typeface="Calibri"/>
              <a:sym typeface="Calibri"/>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COUNT All Rows</a:t>
            </a:r>
            <a:endParaRPr/>
          </a:p>
        </p:txBody>
      </p:sp>
      <p:sp>
        <p:nvSpPr>
          <p:cNvPr id="126" name="Google Shape;126;p20"/>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27" name="Google Shape;127;p20"/>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8" name="Google Shape;128;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0"/>
          <p:cNvSpPr txBox="1"/>
          <p:nvPr/>
        </p:nvSpPr>
        <p:spPr>
          <a:xfrm>
            <a:off x="483552" y="1355371"/>
            <a:ext cx="8170545" cy="302069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COUNT(*) devuelve el número de filas de una tabla</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especifica la columna (que puede o no incluir nulos) 	que contar; cuenta el número de filas devueltas en el 	juego de resultados</a:t>
            </a:r>
            <a:endParaRPr sz="2800">
              <a:latin typeface="Calibri"/>
              <a:ea typeface="Calibri"/>
              <a:cs typeface="Calibri"/>
              <a:sym typeface="Calibri"/>
            </a:endParaRPr>
          </a:p>
          <a:p>
            <a:pPr indent="-177800" lvl="0" marL="182880" marR="6413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para averiguar cuántos empleados fueron 	contratados antes del 01/Ene/1996, se puede utilizar 	COUNT en la sentencia SELECT</a:t>
            </a:r>
            <a:endParaRPr sz="2800">
              <a:latin typeface="Calibri"/>
              <a:ea typeface="Calibri"/>
              <a:cs typeface="Calibri"/>
              <a:sym typeface="Calibri"/>
            </a:endParaRPr>
          </a:p>
        </p:txBody>
      </p:sp>
      <p:graphicFrame>
        <p:nvGraphicFramePr>
          <p:cNvPr id="130" name="Google Shape;130;p20"/>
          <p:cNvGraphicFramePr/>
          <p:nvPr/>
        </p:nvGraphicFramePr>
        <p:xfrm>
          <a:off x="7012948" y="4500237"/>
          <a:ext cx="3000000" cy="3000000"/>
        </p:xfrm>
        <a:graphic>
          <a:graphicData uri="http://schemas.openxmlformats.org/drawingml/2006/table">
            <a:tbl>
              <a:tblPr bandRow="1" firstRow="1">
                <a:noFill/>
                <a:tableStyleId>{017756EF-DAF3-48B8-A848-5F2EBB4D4265}</a:tableStyleId>
              </a:tblPr>
              <a:tblGrid>
                <a:gridCol w="1731650"/>
              </a:tblGrid>
              <a:tr h="351150">
                <a:tc>
                  <a:txBody>
                    <a:bodyPr/>
                    <a:lstStyle/>
                    <a:p>
                      <a:pPr indent="0" lvl="0" marL="11747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 (*)</a:t>
                      </a:r>
                      <a:endParaRPr sz="16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2425">
                <a:tc>
                  <a:txBody>
                    <a:bodyPr/>
                    <a:lstStyle/>
                    <a:p>
                      <a:pPr indent="0" lvl="0" marL="11747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1" name="Google Shape;131;p20"/>
          <p:cNvSpPr txBox="1"/>
          <p:nvPr/>
        </p:nvSpPr>
        <p:spPr>
          <a:xfrm>
            <a:off x="405384" y="4506467"/>
            <a:ext cx="5270500" cy="904240"/>
          </a:xfrm>
          <a:prstGeom prst="rect">
            <a:avLst/>
          </a:prstGeom>
          <a:solidFill>
            <a:srgbClr val="9DBDC4">
              <a:alpha val="49804"/>
            </a:srgbClr>
          </a:solid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hire_date &lt; '01-Jan-1996';</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COUNT All Rows</a:t>
            </a:r>
            <a:endParaRPr/>
          </a:p>
        </p:txBody>
      </p:sp>
      <p:sp>
        <p:nvSpPr>
          <p:cNvPr id="137" name="Google Shape;137;p21"/>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38" name="Google Shape;138;p21"/>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9" name="Google Shape;139;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0" name="Google Shape;140;p21"/>
          <p:cNvSpPr txBox="1"/>
          <p:nvPr/>
        </p:nvSpPr>
        <p:spPr>
          <a:xfrm>
            <a:off x="483552" y="1415417"/>
            <a:ext cx="7858125" cy="1604645"/>
          </a:xfrm>
          <a:prstGeom prst="rect">
            <a:avLst/>
          </a:prstGeom>
          <a:noFill/>
          <a:ln>
            <a:noFill/>
          </a:ln>
        </p:spPr>
        <p:txBody>
          <a:bodyPr anchorCtr="0" anchor="t" bIns="0" lIns="0" spcFirstLastPara="1" rIns="0" wrap="square" tIns="59675">
            <a:spAutoFit/>
          </a:bodyPr>
          <a:lstStyle/>
          <a:p>
            <a:pPr indent="-177800" lvl="0" marL="182880" marR="996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Utilizamos COUNT(*) cuando queremos asegurarnos 	de contar todas las filas (incluidos los duplicados),</a:t>
            </a:r>
            <a:endParaRPr sz="2800">
              <a:latin typeface="Calibri"/>
              <a:ea typeface="Calibri"/>
              <a:cs typeface="Calibri"/>
              <a:sym typeface="Calibri"/>
            </a:endParaRPr>
          </a:p>
          <a:p>
            <a:pPr indent="0" lvl="0" marL="184785" rtl="0" algn="l">
              <a:lnSpc>
                <a:spcPct val="100178"/>
              </a:lnSpc>
              <a:spcBef>
                <a:spcPts val="0"/>
              </a:spcBef>
              <a:spcAft>
                <a:spcPts val="0"/>
              </a:spcAft>
              <a:buNone/>
            </a:pPr>
            <a:r>
              <a:rPr lang="en-US" sz="2800">
                <a:solidFill>
                  <a:srgbClr val="4E3629"/>
                </a:solidFill>
                <a:latin typeface="Calibri"/>
                <a:ea typeface="Calibri"/>
                <a:cs typeface="Calibri"/>
                <a:sym typeface="Calibri"/>
              </a:rPr>
              <a:t>así como aquellos que pueden tener valores nulos en</a:t>
            </a:r>
            <a:endParaRPr sz="2800">
              <a:latin typeface="Calibri"/>
              <a:ea typeface="Calibri"/>
              <a:cs typeface="Calibri"/>
              <a:sym typeface="Calibri"/>
            </a:endParaRPr>
          </a:p>
          <a:p>
            <a:pPr indent="0" lvl="0" marL="184785" rtl="0" algn="l">
              <a:lnSpc>
                <a:spcPct val="114107"/>
              </a:lnSpc>
              <a:spcBef>
                <a:spcPts val="0"/>
              </a:spcBef>
              <a:spcAft>
                <a:spcPts val="0"/>
              </a:spcAft>
              <a:buNone/>
            </a:pPr>
            <a:r>
              <a:rPr lang="en-US" sz="2800">
                <a:solidFill>
                  <a:srgbClr val="4E3629"/>
                </a:solidFill>
                <a:latin typeface="Calibri"/>
                <a:ea typeface="Calibri"/>
                <a:cs typeface="Calibri"/>
                <a:sym typeface="Calibri"/>
              </a:rPr>
              <a:t>una o más columnas</a:t>
            </a:r>
            <a:endParaRPr sz="2800">
              <a:latin typeface="Calibri"/>
              <a:ea typeface="Calibri"/>
              <a:cs typeface="Calibri"/>
              <a:sym typeface="Calibri"/>
            </a:endParaRPr>
          </a:p>
        </p:txBody>
      </p:sp>
      <p:graphicFrame>
        <p:nvGraphicFramePr>
          <p:cNvPr id="141" name="Google Shape;141;p21"/>
          <p:cNvGraphicFramePr/>
          <p:nvPr/>
        </p:nvGraphicFramePr>
        <p:xfrm>
          <a:off x="3287712" y="4573492"/>
          <a:ext cx="3000000" cy="3000000"/>
        </p:xfrm>
        <a:graphic>
          <a:graphicData uri="http://schemas.openxmlformats.org/drawingml/2006/table">
            <a:tbl>
              <a:tblPr bandRow="1" firstRow="1">
                <a:noFill/>
                <a:tableStyleId>{017756EF-DAF3-48B8-A848-5F2EBB4D4265}</a:tableStyleId>
              </a:tblPr>
              <a:tblGrid>
                <a:gridCol w="1731650"/>
              </a:tblGrid>
              <a:tr h="351150">
                <a:tc>
                  <a:txBody>
                    <a:bodyPr/>
                    <a:lstStyle/>
                    <a:p>
                      <a:pPr indent="0" lvl="0" marL="11747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 (*)</a:t>
                      </a:r>
                      <a:endParaRPr sz="16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2425">
                <a:tc>
                  <a:txBody>
                    <a:bodyPr/>
                    <a:lstStyle/>
                    <a:p>
                      <a:pPr indent="0" lvl="0" marL="11747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42" name="Google Shape;142;p21"/>
          <p:cNvSpPr txBox="1"/>
          <p:nvPr/>
        </p:nvSpPr>
        <p:spPr>
          <a:xfrm>
            <a:off x="405384" y="3183635"/>
            <a:ext cx="8345805" cy="904240"/>
          </a:xfrm>
          <a:prstGeom prst="rect">
            <a:avLst/>
          </a:prstGeom>
          <a:solidFill>
            <a:srgbClr val="9DBDC4">
              <a:alpha val="49804"/>
            </a:srgbClr>
          </a:solid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hire_date &lt; '01-Jan-1996';</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DISTINCT</a:t>
            </a:r>
            <a:endParaRPr/>
          </a:p>
        </p:txBody>
      </p:sp>
      <p:sp>
        <p:nvSpPr>
          <p:cNvPr id="148" name="Google Shape;148;p22"/>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49" name="Google Shape;149;p22"/>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0" name="Google Shape;150;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1" name="Google Shape;151;p22"/>
          <p:cNvSpPr txBox="1"/>
          <p:nvPr/>
        </p:nvSpPr>
        <p:spPr>
          <a:xfrm>
            <a:off x="483552" y="1415417"/>
            <a:ext cx="7948930" cy="3729354"/>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palabra clave DISTINCT se utiliza para devolver solo 	valores no duplicados o combinaciones de valores no 	duplicados en una consulta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Examine la consulta siguiente</a:t>
            </a:r>
            <a:endParaRPr sz="2800">
              <a:latin typeface="Calibri"/>
              <a:ea typeface="Calibri"/>
              <a:cs typeface="Calibri"/>
              <a:sym typeface="Calibri"/>
            </a:endParaRPr>
          </a:p>
          <a:p>
            <a:pPr indent="-177800" lvl="0" marL="182880" marR="250571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utilizar la palabra clave DISTINCT, 	la consulta ha devuelto todos los 	valores job_id de la tabla 	employees, incluidos los valores 	duplicados</a:t>
            </a:r>
            <a:endParaRPr sz="2800">
              <a:latin typeface="Calibri"/>
              <a:ea typeface="Calibri"/>
              <a:cs typeface="Calibri"/>
              <a:sym typeface="Calibri"/>
            </a:endParaRPr>
          </a:p>
        </p:txBody>
      </p:sp>
      <p:sp>
        <p:nvSpPr>
          <p:cNvPr id="152" name="Google Shape;152;p22"/>
          <p:cNvSpPr txBox="1"/>
          <p:nvPr/>
        </p:nvSpPr>
        <p:spPr>
          <a:xfrm>
            <a:off x="5847755" y="5646205"/>
            <a:ext cx="293814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20 filas devueltas en 0,01 segundos</a:t>
            </a:r>
            <a:endParaRPr sz="1600">
              <a:latin typeface="Calibri"/>
              <a:ea typeface="Calibri"/>
              <a:cs typeface="Calibri"/>
              <a:sym typeface="Calibri"/>
            </a:endParaRPr>
          </a:p>
        </p:txBody>
      </p:sp>
      <p:graphicFrame>
        <p:nvGraphicFramePr>
          <p:cNvPr id="153" name="Google Shape;153;p22"/>
          <p:cNvGraphicFramePr/>
          <p:nvPr/>
        </p:nvGraphicFramePr>
        <p:xfrm>
          <a:off x="6000337" y="2562260"/>
          <a:ext cx="3000000" cy="3000000"/>
        </p:xfrm>
        <a:graphic>
          <a:graphicData uri="http://schemas.openxmlformats.org/drawingml/2006/table">
            <a:tbl>
              <a:tblPr bandRow="1" firstRow="1">
                <a:noFill/>
                <a:tableStyleId>{017756EF-DAF3-48B8-A848-5F2EBB4D4265}</a:tableStyleId>
              </a:tblPr>
              <a:tblGrid>
                <a:gridCol w="2606675"/>
              </a:tblGrid>
              <a:tr h="3283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AD_ASST</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54" name="Google Shape;154;p22"/>
          <p:cNvSpPr txBox="1"/>
          <p:nvPr/>
        </p:nvSpPr>
        <p:spPr>
          <a:xfrm>
            <a:off x="405384" y="5215128"/>
            <a:ext cx="4895215" cy="658495"/>
          </a:xfrm>
          <a:prstGeom prst="rect">
            <a:avLst/>
          </a:prstGeom>
          <a:solidFill>
            <a:srgbClr val="9DBDC4">
              <a:alpha val="49804"/>
            </a:srgbClr>
          </a:solidFill>
          <a:ln>
            <a:noFill/>
          </a:ln>
        </p:spPr>
        <p:txBody>
          <a:bodyPr anchorCtr="0" anchor="t" bIns="0" lIns="0" spcFirstLastPara="1" rIns="0" wrap="square" tIns="27300">
            <a:spAutoFit/>
          </a:bodyPr>
          <a:lstStyle/>
          <a:p>
            <a:pPr indent="0" lvl="0" marL="0" marR="28397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FROM employees;</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DISTINCT</a:t>
            </a:r>
            <a:endParaRPr/>
          </a:p>
        </p:txBody>
      </p:sp>
      <p:sp>
        <p:nvSpPr>
          <p:cNvPr id="160" name="Google Shape;160;p23"/>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61" name="Google Shape;161;p23"/>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2" name="Google Shape;16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3" name="Google Shape;163;p23"/>
          <p:cNvSpPr txBox="1"/>
          <p:nvPr/>
        </p:nvSpPr>
        <p:spPr>
          <a:xfrm>
            <a:off x="483552" y="1415417"/>
            <a:ext cx="7385684"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eliminar las filas duplicadas, utilice la palabra 	clave DISTINCT, tal y como se muestra aquí</a:t>
            </a:r>
            <a:endParaRPr sz="2800">
              <a:latin typeface="Calibri"/>
              <a:ea typeface="Calibri"/>
              <a:cs typeface="Calibri"/>
              <a:sym typeface="Calibri"/>
            </a:endParaRPr>
          </a:p>
          <a:p>
            <a:pPr indent="-177800" lvl="0" marL="182880" marR="202692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Utilizando la palabra clave DISTINCT 	se han devuelto todos los ID de 	trabajo exactamente una vez, sin 	valores duplicados</a:t>
            </a:r>
            <a:endParaRPr sz="2800">
              <a:latin typeface="Calibri"/>
              <a:ea typeface="Calibri"/>
              <a:cs typeface="Calibri"/>
              <a:sym typeface="Calibri"/>
            </a:endParaRPr>
          </a:p>
        </p:txBody>
      </p:sp>
      <p:sp>
        <p:nvSpPr>
          <p:cNvPr id="164" name="Google Shape;164;p23"/>
          <p:cNvSpPr txBox="1"/>
          <p:nvPr/>
        </p:nvSpPr>
        <p:spPr>
          <a:xfrm>
            <a:off x="5891212" y="5717679"/>
            <a:ext cx="293814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12 filas devueltas en 0,01 segundos</a:t>
            </a:r>
            <a:endParaRPr sz="1600">
              <a:latin typeface="Calibri"/>
              <a:ea typeface="Calibri"/>
              <a:cs typeface="Calibri"/>
              <a:sym typeface="Calibri"/>
            </a:endParaRPr>
          </a:p>
        </p:txBody>
      </p:sp>
      <p:graphicFrame>
        <p:nvGraphicFramePr>
          <p:cNvPr id="165" name="Google Shape;165;p23"/>
          <p:cNvGraphicFramePr/>
          <p:nvPr/>
        </p:nvGraphicFramePr>
        <p:xfrm>
          <a:off x="6137494" y="2514806"/>
          <a:ext cx="3000000" cy="3000000"/>
        </p:xfrm>
        <a:graphic>
          <a:graphicData uri="http://schemas.openxmlformats.org/drawingml/2006/table">
            <a:tbl>
              <a:tblPr bandRow="1" firstRow="1">
                <a:noFill/>
                <a:tableStyleId>{017756EF-DAF3-48B8-A848-5F2EBB4D4265}</a:tableStyleId>
              </a:tblPr>
              <a:tblGrid>
                <a:gridCol w="2606675"/>
              </a:tblGrid>
              <a:tr h="3283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AD_ASST</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83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MK_MAN</a:t>
                      </a:r>
                      <a:endParaRPr sz="16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6" name="Google Shape;166;p23"/>
          <p:cNvSpPr txBox="1"/>
          <p:nvPr/>
        </p:nvSpPr>
        <p:spPr>
          <a:xfrm>
            <a:off x="405384" y="4192523"/>
            <a:ext cx="4636135" cy="658495"/>
          </a:xfrm>
          <a:prstGeom prst="rect">
            <a:avLst/>
          </a:prstGeom>
          <a:solidFill>
            <a:srgbClr val="9DBDC4">
              <a:alpha val="49804"/>
            </a:srgbClr>
          </a:solidFill>
          <a:ln>
            <a:noFill/>
          </a:ln>
        </p:spPr>
        <p:txBody>
          <a:bodyPr anchorCtr="0" anchor="t" bIns="0" lIns="0" spcFirstLastPara="1" rIns="0" wrap="square" tIns="26650">
            <a:spAutoFit/>
          </a:bodyPr>
          <a:lstStyle/>
          <a:p>
            <a:pPr indent="0" lvl="0" marL="0" marR="16249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DISTINCT job_id FROM employees;</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DISTINCT no duplicados</a:t>
            </a:r>
            <a:endParaRPr/>
          </a:p>
        </p:txBody>
      </p:sp>
      <p:sp>
        <p:nvSpPr>
          <p:cNvPr id="172" name="Google Shape;172;p24"/>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73" name="Google Shape;173;p24"/>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4" name="Google Shape;174;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5" name="Google Shape;175;p24"/>
          <p:cNvSpPr txBox="1"/>
          <p:nvPr/>
        </p:nvSpPr>
        <p:spPr>
          <a:xfrm>
            <a:off x="483552" y="1415417"/>
            <a:ext cx="4884420" cy="324231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palabra clave DISTINCT, 	cuando se utiliza en una 	consulta en que se seleccione 	más de una columna, devolverá 	combinaciones no duplicadas de 	las columnas seleccionadas</a:t>
            </a:r>
            <a:endParaRPr sz="2800">
              <a:latin typeface="Calibri"/>
              <a:ea typeface="Calibri"/>
              <a:cs typeface="Calibri"/>
              <a:sym typeface="Calibri"/>
            </a:endParaRPr>
          </a:p>
          <a:p>
            <a:pPr indent="-177800" lvl="0" marL="182880" marR="229235"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Examine el juego de resultados 	que se muestra aquí</a:t>
            </a:r>
            <a:endParaRPr sz="2800">
              <a:latin typeface="Calibri"/>
              <a:ea typeface="Calibri"/>
              <a:cs typeface="Calibri"/>
              <a:sym typeface="Calibri"/>
            </a:endParaRPr>
          </a:p>
        </p:txBody>
      </p:sp>
      <p:sp>
        <p:nvSpPr>
          <p:cNvPr id="176" name="Google Shape;176;p24"/>
          <p:cNvSpPr txBox="1"/>
          <p:nvPr/>
        </p:nvSpPr>
        <p:spPr>
          <a:xfrm>
            <a:off x="5559573" y="5659432"/>
            <a:ext cx="293814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13 filas devueltas en 0,01 segundos</a:t>
            </a:r>
            <a:endParaRPr sz="1600">
              <a:latin typeface="Calibri"/>
              <a:ea typeface="Calibri"/>
              <a:cs typeface="Calibri"/>
              <a:sym typeface="Calibri"/>
            </a:endParaRPr>
          </a:p>
        </p:txBody>
      </p:sp>
      <p:graphicFrame>
        <p:nvGraphicFramePr>
          <p:cNvPr id="177" name="Google Shape;177;p24"/>
          <p:cNvGraphicFramePr/>
          <p:nvPr/>
        </p:nvGraphicFramePr>
        <p:xfrm>
          <a:off x="5565923" y="2562679"/>
          <a:ext cx="3000000" cy="3000000"/>
        </p:xfrm>
        <a:graphic>
          <a:graphicData uri="http://schemas.openxmlformats.org/drawingml/2006/table">
            <a:tbl>
              <a:tblPr bandRow="1" firstRow="1">
                <a:noFill/>
                <a:tableStyleId>{017756EF-DAF3-48B8-A848-5F2EBB4D4265}</a:tableStyleId>
              </a:tblPr>
              <a:tblGrid>
                <a:gridCol w="1643375"/>
                <a:gridCol w="1643375"/>
              </a:tblGrid>
              <a:tr h="266075">
                <a:tc>
                  <a:txBody>
                    <a:bodyPr/>
                    <a:lstStyle/>
                    <a:p>
                      <a:pPr indent="0" lvl="0" marL="71755" marR="0" rtl="0" algn="l">
                        <a:lnSpc>
                          <a:spcPct val="119375"/>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ST_MAN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AD_ASST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MK_MAN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MK_REP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SA_MAN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78" name="Google Shape;178;p24"/>
          <p:cNvSpPr txBox="1"/>
          <p:nvPr/>
        </p:nvSpPr>
        <p:spPr>
          <a:xfrm>
            <a:off x="5571744" y="1456944"/>
            <a:ext cx="3287395" cy="990600"/>
          </a:xfrm>
          <a:prstGeom prst="rect">
            <a:avLst/>
          </a:prstGeom>
          <a:solidFill>
            <a:srgbClr val="9DBDC4">
              <a:alpha val="49804"/>
            </a:srgbClr>
          </a:solidFill>
          <a:ln>
            <a:noFill/>
          </a:ln>
        </p:spPr>
        <p:txBody>
          <a:bodyPr anchorCtr="0" anchor="t" bIns="0" lIns="0" spcFirstLastPara="1" rIns="0" wrap="square" tIns="565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DISTINCT job_id,</a:t>
            </a:r>
            <a:endParaRPr sz="1800">
              <a:latin typeface="Courier New"/>
              <a:ea typeface="Courier New"/>
              <a:cs typeface="Courier New"/>
              <a:sym typeface="Courier New"/>
            </a:endParaRPr>
          </a:p>
          <a:p>
            <a:pPr indent="274320" lvl="0" marL="0" marR="12306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department_id FROM employees;</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p:nvPr/>
        </p:nvSpPr>
        <p:spPr>
          <a:xfrm>
            <a:off x="4572761"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 name="Google Shape;184;p25"/>
          <p:cNvSpPr txBox="1"/>
          <p:nvPr/>
        </p:nvSpPr>
        <p:spPr>
          <a:xfrm>
            <a:off x="483552" y="1491489"/>
            <a:ext cx="3835400" cy="3141345"/>
          </a:xfrm>
          <a:prstGeom prst="rect">
            <a:avLst/>
          </a:prstGeom>
          <a:noFill/>
          <a:ln>
            <a:noFill/>
          </a:ln>
        </p:spPr>
        <p:txBody>
          <a:bodyPr anchorCtr="0" anchor="t" bIns="0" lIns="0" spcFirstLastPara="1" rIns="0" wrap="square" tIns="59675">
            <a:spAutoFit/>
          </a:bodyPr>
          <a:lstStyle/>
          <a:p>
            <a:pPr indent="-457200" lvl="0" marL="46926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no existen duplicados de la combinación de job_id y department_id, incluso aunque existan duplicados en ambas columnas</a:t>
            </a:r>
            <a:endParaRPr sz="2800">
              <a:latin typeface="Calibri"/>
              <a:ea typeface="Calibri"/>
              <a:cs typeface="Calibri"/>
              <a:sym typeface="Calibri"/>
            </a:endParaRPr>
          </a:p>
        </p:txBody>
      </p:sp>
      <p:sp>
        <p:nvSpPr>
          <p:cNvPr id="185" name="Google Shape;185;p25"/>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186" name="Google Shape;186;p25"/>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7" name="Google Shape;187;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8" name="Google Shape;188;p25"/>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DISTINCT no duplicados</a:t>
            </a:r>
            <a:endParaRPr/>
          </a:p>
        </p:txBody>
      </p:sp>
      <p:sp>
        <p:nvSpPr>
          <p:cNvPr id="189" name="Google Shape;189;p25"/>
          <p:cNvSpPr txBox="1"/>
          <p:nvPr/>
        </p:nvSpPr>
        <p:spPr>
          <a:xfrm>
            <a:off x="5569953" y="5594179"/>
            <a:ext cx="293814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13 filas devueltas en 0,01 segundos</a:t>
            </a:r>
            <a:endParaRPr sz="1600">
              <a:latin typeface="Calibri"/>
              <a:ea typeface="Calibri"/>
              <a:cs typeface="Calibri"/>
              <a:sym typeface="Calibri"/>
            </a:endParaRPr>
          </a:p>
        </p:txBody>
      </p:sp>
      <p:graphicFrame>
        <p:nvGraphicFramePr>
          <p:cNvPr id="190" name="Google Shape;190;p25"/>
          <p:cNvGraphicFramePr/>
          <p:nvPr/>
        </p:nvGraphicFramePr>
        <p:xfrm>
          <a:off x="5565923" y="2562679"/>
          <a:ext cx="3000000" cy="3000000"/>
        </p:xfrm>
        <a:graphic>
          <a:graphicData uri="http://schemas.openxmlformats.org/drawingml/2006/table">
            <a:tbl>
              <a:tblPr bandRow="1" firstRow="1">
                <a:noFill/>
                <a:tableStyleId>{017756EF-DAF3-48B8-A848-5F2EBB4D4265}</a:tableStyleId>
              </a:tblPr>
              <a:tblGrid>
                <a:gridCol w="1643375"/>
                <a:gridCol w="1643375"/>
              </a:tblGrid>
              <a:tr h="266075">
                <a:tc>
                  <a:txBody>
                    <a:bodyPr/>
                    <a:lstStyle/>
                    <a:p>
                      <a:pPr indent="0" lvl="0" marL="71755" marR="0" rtl="0" algn="l">
                        <a:lnSpc>
                          <a:spcPct val="119375"/>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ST_MAN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AD_ASST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MK_MAN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MK_REP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SA_MAN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60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1" name="Google Shape;191;p25"/>
          <p:cNvSpPr txBox="1"/>
          <p:nvPr/>
        </p:nvSpPr>
        <p:spPr>
          <a:xfrm>
            <a:off x="5571744" y="1456944"/>
            <a:ext cx="3287395" cy="990600"/>
          </a:xfrm>
          <a:prstGeom prst="rect">
            <a:avLst/>
          </a:prstGeom>
          <a:solidFill>
            <a:srgbClr val="9DBDC4">
              <a:alpha val="49804"/>
            </a:srgbClr>
          </a:solidFill>
          <a:ln>
            <a:noFill/>
          </a:ln>
        </p:spPr>
        <p:txBody>
          <a:bodyPr anchorCtr="0" anchor="t" bIns="0" lIns="0" spcFirstLastPara="1" rIns="0" wrap="square" tIns="565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DISTINCT job_id,</a:t>
            </a:r>
            <a:endParaRPr sz="1800">
              <a:latin typeface="Courier New"/>
              <a:ea typeface="Courier New"/>
              <a:cs typeface="Courier New"/>
              <a:sym typeface="Courier New"/>
            </a:endParaRPr>
          </a:p>
          <a:p>
            <a:pPr indent="274320" lvl="0" marL="0" marR="12306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department_id FROM employees;</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392112" y="748031"/>
            <a:ext cx="2858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DISTINCT</a:t>
            </a:r>
            <a:endParaRPr/>
          </a:p>
        </p:txBody>
      </p:sp>
      <p:sp>
        <p:nvSpPr>
          <p:cNvPr id="197" name="Google Shape;197;p26"/>
          <p:cNvSpPr txBox="1"/>
          <p:nvPr/>
        </p:nvSpPr>
        <p:spPr>
          <a:xfrm>
            <a:off x="483552" y="1381889"/>
            <a:ext cx="4290695" cy="113411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palabra clave DISTINCT se 	puede utilizar con todas las 	funciones de grupo</a:t>
            </a:r>
            <a:endParaRPr sz="2800">
              <a:latin typeface="Calibri"/>
              <a:ea typeface="Calibri"/>
              <a:cs typeface="Calibri"/>
              <a:sym typeface="Calibri"/>
            </a:endParaRPr>
          </a:p>
        </p:txBody>
      </p:sp>
      <p:sp>
        <p:nvSpPr>
          <p:cNvPr id="198" name="Google Shape;198;p26"/>
          <p:cNvSpPr txBox="1"/>
          <p:nvPr/>
        </p:nvSpPr>
        <p:spPr>
          <a:xfrm>
            <a:off x="483552" y="2508126"/>
            <a:ext cx="4498975" cy="1134110"/>
          </a:xfrm>
          <a:prstGeom prst="rect">
            <a:avLst/>
          </a:prstGeom>
          <a:noFill/>
          <a:ln>
            <a:noFill/>
          </a:ln>
        </p:spPr>
        <p:txBody>
          <a:bodyPr anchorCtr="0" anchor="t" bIns="0" lIns="0" spcFirstLastPara="1" rIns="0" wrap="square" tIns="97150">
            <a:spAutoFit/>
          </a:bodyPr>
          <a:lstStyle/>
          <a:p>
            <a:pPr indent="-177800" lvl="0" marL="182880" marR="5080" rtl="0" algn="just">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DISTINCT, la función solo 	tiene en cuenta los valores no 	duplicados</a:t>
            </a:r>
            <a:endParaRPr sz="2800">
              <a:latin typeface="Calibri"/>
              <a:ea typeface="Calibri"/>
              <a:cs typeface="Calibri"/>
              <a:sym typeface="Calibri"/>
            </a:endParaRPr>
          </a:p>
        </p:txBody>
      </p:sp>
      <p:sp>
        <p:nvSpPr>
          <p:cNvPr id="199" name="Google Shape;199;p26"/>
          <p:cNvSpPr txBox="1"/>
          <p:nvPr/>
        </p:nvSpPr>
        <p:spPr>
          <a:xfrm>
            <a:off x="483552" y="3632837"/>
            <a:ext cx="4277360" cy="2157730"/>
          </a:xfrm>
          <a:prstGeom prst="rect">
            <a:avLst/>
          </a:prstGeom>
          <a:noFill/>
          <a:ln>
            <a:noFill/>
          </a:ln>
        </p:spPr>
        <p:txBody>
          <a:bodyPr anchorCtr="0" anchor="t" bIns="0" lIns="0" spcFirstLastPara="1" rIns="0" wrap="square" tIns="97150">
            <a:spAutoFit/>
          </a:bodyPr>
          <a:lstStyle/>
          <a:p>
            <a:pPr indent="-177800" lvl="0" marL="182880" marR="7683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las dos sentencias de la 	derecha se producen 	resultados diferentes,</a:t>
            </a:r>
            <a:endParaRPr sz="2800">
              <a:latin typeface="Calibri"/>
              <a:ea typeface="Calibri"/>
              <a:cs typeface="Calibri"/>
              <a:sym typeface="Calibri"/>
            </a:endParaRPr>
          </a:p>
          <a:p>
            <a:pPr indent="0" lvl="0" marL="184785" rtl="0" algn="l">
              <a:lnSpc>
                <a:spcPct val="83928"/>
              </a:lnSpc>
              <a:spcBef>
                <a:spcPts val="0"/>
              </a:spcBef>
              <a:spcAft>
                <a:spcPts val="0"/>
              </a:spcAft>
              <a:buNone/>
            </a:pPr>
            <a:r>
              <a:rPr lang="en-US" sz="2800">
                <a:solidFill>
                  <a:srgbClr val="4E3629"/>
                </a:solidFill>
                <a:latin typeface="Calibri"/>
                <a:ea typeface="Calibri"/>
                <a:cs typeface="Calibri"/>
                <a:sym typeface="Calibri"/>
              </a:rPr>
              <a:t>ya que la segunda solo tiene</a:t>
            </a:r>
            <a:endParaRPr sz="2800">
              <a:latin typeface="Calibri"/>
              <a:ea typeface="Calibri"/>
              <a:cs typeface="Calibri"/>
              <a:sym typeface="Calibri"/>
            </a:endParaRPr>
          </a:p>
          <a:p>
            <a:pPr indent="0" lvl="0" marL="184785" marR="54610" rtl="0" algn="l">
              <a:lnSpc>
                <a:spcPct val="80000"/>
              </a:lnSpc>
              <a:spcBef>
                <a:spcPts val="335"/>
              </a:spcBef>
              <a:spcAft>
                <a:spcPts val="0"/>
              </a:spcAft>
              <a:buNone/>
            </a:pPr>
            <a:r>
              <a:rPr lang="en-US" sz="2800">
                <a:solidFill>
                  <a:srgbClr val="4E3629"/>
                </a:solidFill>
                <a:latin typeface="Calibri"/>
                <a:ea typeface="Calibri"/>
                <a:cs typeface="Calibri"/>
                <a:sym typeface="Calibri"/>
              </a:rPr>
              <a:t>en cuenta una incidencia de 17000</a:t>
            </a:r>
            <a:endParaRPr sz="2800">
              <a:latin typeface="Calibri"/>
              <a:ea typeface="Calibri"/>
              <a:cs typeface="Calibri"/>
              <a:sym typeface="Calibri"/>
            </a:endParaRPr>
          </a:p>
        </p:txBody>
      </p:sp>
      <p:graphicFrame>
        <p:nvGraphicFramePr>
          <p:cNvPr id="200" name="Google Shape;200;p26"/>
          <p:cNvGraphicFramePr/>
          <p:nvPr/>
        </p:nvGraphicFramePr>
        <p:xfrm>
          <a:off x="5954993" y="2261791"/>
          <a:ext cx="3000000" cy="3000000"/>
        </p:xfrm>
        <a:graphic>
          <a:graphicData uri="http://schemas.openxmlformats.org/drawingml/2006/table">
            <a:tbl>
              <a:tblPr bandRow="1" firstRow="1">
                <a:noFill/>
                <a:tableStyleId>{017756EF-DAF3-48B8-A848-5F2EBB4D4265}</a:tableStyleId>
              </a:tblPr>
              <a:tblGrid>
                <a:gridCol w="1184275"/>
              </a:tblGrid>
              <a:tr h="2743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01" name="Google Shape;201;p26"/>
          <p:cNvSpPr/>
          <p:nvPr/>
        </p:nvSpPr>
        <p:spPr>
          <a:xfrm>
            <a:off x="7140702" y="2379726"/>
            <a:ext cx="355600" cy="421005"/>
          </a:xfrm>
          <a:custGeom>
            <a:rect b="b" l="l" r="r" t="t"/>
            <a:pathLst>
              <a:path extrusionOk="0" h="421005" w="355600">
                <a:moveTo>
                  <a:pt x="0" y="0"/>
                </a:moveTo>
                <a:lnTo>
                  <a:pt x="355092" y="420623"/>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2" name="Google Shape;202;p26"/>
          <p:cNvSpPr/>
          <p:nvPr/>
        </p:nvSpPr>
        <p:spPr>
          <a:xfrm>
            <a:off x="7140702" y="3143250"/>
            <a:ext cx="355600" cy="391795"/>
          </a:xfrm>
          <a:custGeom>
            <a:rect b="b" l="l" r="r" t="t"/>
            <a:pathLst>
              <a:path extrusionOk="0" h="391795" w="355600">
                <a:moveTo>
                  <a:pt x="355092" y="0"/>
                </a:moveTo>
                <a:lnTo>
                  <a:pt x="0" y="391668"/>
                </a:lnTo>
              </a:path>
            </a:pathLst>
          </a:custGeom>
          <a:noFill/>
          <a:ln cap="flat" cmpd="sng" w="380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203" name="Google Shape;203;p26"/>
          <p:cNvGraphicFramePr/>
          <p:nvPr/>
        </p:nvGraphicFramePr>
        <p:xfrm>
          <a:off x="5239736" y="4886938"/>
          <a:ext cx="3000000" cy="3000000"/>
        </p:xfrm>
        <a:graphic>
          <a:graphicData uri="http://schemas.openxmlformats.org/drawingml/2006/table">
            <a:tbl>
              <a:tblPr bandRow="1" firstRow="1">
                <a:noFill/>
                <a:tableStyleId>{017756EF-DAF3-48B8-A848-5F2EBB4D4265}</a:tableStyleId>
              </a:tblPr>
              <a:tblGrid>
                <a:gridCol w="1184275"/>
              </a:tblGrid>
              <a:tr h="27432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04" name="Google Shape;204;p26"/>
          <p:cNvSpPr/>
          <p:nvPr/>
        </p:nvSpPr>
        <p:spPr>
          <a:xfrm>
            <a:off x="6424421" y="5022341"/>
            <a:ext cx="408940" cy="553720"/>
          </a:xfrm>
          <a:custGeom>
            <a:rect b="b" l="l" r="r" t="t"/>
            <a:pathLst>
              <a:path extrusionOk="0" h="553720" w="408940">
                <a:moveTo>
                  <a:pt x="0" y="0"/>
                </a:moveTo>
                <a:lnTo>
                  <a:pt x="408431" y="553211"/>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5" name="Google Shape;205;p26"/>
          <p:cNvSpPr/>
          <p:nvPr/>
        </p:nvSpPr>
        <p:spPr>
          <a:xfrm>
            <a:off x="6424421" y="5849873"/>
            <a:ext cx="408940" cy="315595"/>
          </a:xfrm>
          <a:custGeom>
            <a:rect b="b" l="l" r="r" t="t"/>
            <a:pathLst>
              <a:path extrusionOk="0" h="315595" w="408940">
                <a:moveTo>
                  <a:pt x="408431" y="0"/>
                </a:moveTo>
                <a:lnTo>
                  <a:pt x="0" y="315468"/>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206" name="Google Shape;206;p26"/>
          <p:cNvGraphicFramePr/>
          <p:nvPr/>
        </p:nvGraphicFramePr>
        <p:xfrm>
          <a:off x="6826250" y="5376007"/>
          <a:ext cx="3000000" cy="3000000"/>
        </p:xfrm>
        <a:graphic>
          <a:graphicData uri="http://schemas.openxmlformats.org/drawingml/2006/table">
            <a:tbl>
              <a:tblPr bandRow="1" firstRow="1">
                <a:noFill/>
                <a:tableStyleId>{017756EF-DAF3-48B8-A848-5F2EBB4D4265}</a:tableStyleId>
              </a:tblPr>
              <a:tblGrid>
                <a:gridCol w="2054850"/>
              </a:tblGrid>
              <a:tr h="313050">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SUM(DISTINCT 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30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41000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07" name="Google Shape;207;p26"/>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08" name="Google Shape;208;p26"/>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lnSpc>
                <a:spcPct val="104499"/>
              </a:lnSpc>
              <a:spcBef>
                <a:spcPts val="0"/>
              </a:spcBef>
              <a:spcAft>
                <a:spcPts val="0"/>
              </a:spcAft>
              <a:buNone/>
            </a:pPr>
            <a:fld id="{00000000-1234-1234-1234-123412341234}" type="slidenum">
              <a:rPr lang="en-US"/>
              <a:t>‹#›</a:t>
            </a:fld>
            <a:endParaRPr/>
          </a:p>
        </p:txBody>
      </p:sp>
      <p:sp>
        <p:nvSpPr>
          <p:cNvPr id="209" name="Google Shape;209;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10" name="Google Shape;210;p26"/>
          <p:cNvGraphicFramePr/>
          <p:nvPr/>
        </p:nvGraphicFramePr>
        <p:xfrm>
          <a:off x="7488153" y="2596526"/>
          <a:ext cx="3000000" cy="3000000"/>
        </p:xfrm>
        <a:graphic>
          <a:graphicData uri="http://schemas.openxmlformats.org/drawingml/2006/table">
            <a:tbl>
              <a:tblPr bandRow="1" firstRow="1">
                <a:noFill/>
                <a:tableStyleId>{017756EF-DAF3-48B8-A848-5F2EBB4D4265}</a:tableStyleId>
              </a:tblPr>
              <a:tblGrid>
                <a:gridCol w="1393200"/>
              </a:tblGrid>
              <a:tr h="310525">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SUM(SALARY)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05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11" name="Google Shape;211;p26"/>
          <p:cNvSpPr txBox="1"/>
          <p:nvPr/>
        </p:nvSpPr>
        <p:spPr>
          <a:xfrm>
            <a:off x="4927091" y="1036319"/>
            <a:ext cx="3961129" cy="990600"/>
          </a:xfrm>
          <a:prstGeom prst="rect">
            <a:avLst/>
          </a:prstGeom>
          <a:solidFill>
            <a:srgbClr val="9DBDC4">
              <a:alpha val="49804"/>
            </a:srgbClr>
          </a:solidFill>
          <a:ln>
            <a:noFill/>
          </a:ln>
        </p:spPr>
        <p:txBody>
          <a:bodyPr anchorCtr="0" anchor="t" bIns="0" lIns="0" spcFirstLastPara="1" rIns="0" wrap="square" tIns="55875">
            <a:spAutoFit/>
          </a:bodyPr>
          <a:lstStyle/>
          <a:p>
            <a:pPr indent="0" lvl="0" marL="0" marR="14954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SUM(salary)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90;</a:t>
            </a:r>
            <a:endParaRPr sz="1800">
              <a:latin typeface="Courier New"/>
              <a:ea typeface="Courier New"/>
              <a:cs typeface="Courier New"/>
              <a:sym typeface="Courier New"/>
            </a:endParaRPr>
          </a:p>
        </p:txBody>
      </p:sp>
      <p:sp>
        <p:nvSpPr>
          <p:cNvPr id="212" name="Google Shape;212;p26"/>
          <p:cNvSpPr txBox="1"/>
          <p:nvPr/>
        </p:nvSpPr>
        <p:spPr>
          <a:xfrm>
            <a:off x="4927091" y="3829811"/>
            <a:ext cx="3961129" cy="990600"/>
          </a:xfrm>
          <a:prstGeom prst="rect">
            <a:avLst/>
          </a:prstGeom>
          <a:solidFill>
            <a:srgbClr val="9DBDC4">
              <a:alpha val="49804"/>
            </a:srgbClr>
          </a:solidFill>
          <a:ln>
            <a:noFill/>
          </a:ln>
        </p:spPr>
        <p:txBody>
          <a:bodyPr anchorCtr="0" anchor="t" bIns="0" lIns="0" spcFirstLastPara="1" rIns="0" wrap="square" tIns="558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SUM(DISTINCT 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90;</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DISTINCT y COUNT</a:t>
            </a:r>
            <a:endParaRPr/>
          </a:p>
        </p:txBody>
      </p:sp>
      <p:sp>
        <p:nvSpPr>
          <p:cNvPr id="218" name="Google Shape;218;p27"/>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19" name="Google Shape;219;p27"/>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0" name="Google Shape;220;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1" name="Google Shape;221;p27"/>
          <p:cNvSpPr txBox="1"/>
          <p:nvPr/>
        </p:nvSpPr>
        <p:spPr>
          <a:xfrm>
            <a:off x="483552" y="1415417"/>
            <a:ext cx="804164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utilizar DISTINCT con una función de grupo como 	COUNT, el juego de resultados devolverá el número de 	valores de columna no duplicados</a:t>
            </a:r>
            <a:endParaRPr sz="2800">
              <a:latin typeface="Calibri"/>
              <a:ea typeface="Calibri"/>
              <a:cs typeface="Calibri"/>
              <a:sym typeface="Calibri"/>
            </a:endParaRPr>
          </a:p>
        </p:txBody>
      </p:sp>
      <p:sp>
        <p:nvSpPr>
          <p:cNvPr id="222" name="Google Shape;222;p27"/>
          <p:cNvSpPr txBox="1"/>
          <p:nvPr/>
        </p:nvSpPr>
        <p:spPr>
          <a:xfrm>
            <a:off x="792162" y="4623578"/>
            <a:ext cx="302577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¿Cuántos trabajos diferentes tienen asignados los empleados?</a:t>
            </a:r>
            <a:endParaRPr sz="1600">
              <a:latin typeface="Calibri"/>
              <a:ea typeface="Calibri"/>
              <a:cs typeface="Calibri"/>
              <a:sym typeface="Calibri"/>
            </a:endParaRPr>
          </a:p>
        </p:txBody>
      </p:sp>
      <p:sp>
        <p:nvSpPr>
          <p:cNvPr id="223" name="Google Shape;223;p27"/>
          <p:cNvSpPr txBox="1"/>
          <p:nvPr/>
        </p:nvSpPr>
        <p:spPr>
          <a:xfrm>
            <a:off x="4651012" y="4692493"/>
            <a:ext cx="316293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¿Cuántos importes de salarios diferentes se pagan a los empleados?</a:t>
            </a:r>
            <a:endParaRPr sz="1600">
              <a:latin typeface="Calibri"/>
              <a:ea typeface="Calibri"/>
              <a:cs typeface="Calibri"/>
              <a:sym typeface="Calibri"/>
            </a:endParaRPr>
          </a:p>
        </p:txBody>
      </p:sp>
      <p:graphicFrame>
        <p:nvGraphicFramePr>
          <p:cNvPr id="224" name="Google Shape;224;p27"/>
          <p:cNvGraphicFramePr/>
          <p:nvPr/>
        </p:nvGraphicFramePr>
        <p:xfrm>
          <a:off x="398462" y="3873585"/>
          <a:ext cx="3000000" cy="3000000"/>
        </p:xfrm>
        <a:graphic>
          <a:graphicData uri="http://schemas.openxmlformats.org/drawingml/2006/table">
            <a:tbl>
              <a:tblPr bandRow="1" firstRow="1">
                <a:noFill/>
                <a:tableStyleId>{017756EF-DAF3-48B8-A848-5F2EBB4D4265}</a:tableStyleId>
              </a:tblPr>
              <a:tblGrid>
                <a:gridCol w="3008625"/>
              </a:tblGrid>
              <a:tr h="364500">
                <a:tc>
                  <a:txBody>
                    <a:bodyPr/>
                    <a:lstStyle/>
                    <a:p>
                      <a:pPr indent="0" lvl="0" marL="13144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 (DISTINCT job_id)</a:t>
                      </a:r>
                      <a:endParaRPr sz="1600" u="none" cap="none" strike="noStrike">
                        <a:latin typeface="Calibri"/>
                        <a:ea typeface="Calibri"/>
                        <a:cs typeface="Calibri"/>
                        <a:sym typeface="Calibri"/>
                      </a:endParaRPr>
                    </a:p>
                  </a:txBody>
                  <a:tcPr marT="4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64500">
                <a:tc>
                  <a:txBody>
                    <a:bodyPr/>
                    <a:lstStyle/>
                    <a:p>
                      <a:pPr indent="0" lvl="0" marL="1314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a:t>
                      </a:r>
                      <a:endParaRPr sz="1600" u="none" cap="none" strike="noStrike">
                        <a:latin typeface="Calibri"/>
                        <a:ea typeface="Calibri"/>
                        <a:cs typeface="Calibri"/>
                        <a:sym typeface="Calibri"/>
                      </a:endParaRPr>
                    </a:p>
                  </a:txBody>
                  <a:tcPr marT="4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25" name="Google Shape;225;p27"/>
          <p:cNvGraphicFramePr/>
          <p:nvPr/>
        </p:nvGraphicFramePr>
        <p:xfrm>
          <a:off x="4565650" y="3871032"/>
          <a:ext cx="3000000" cy="3000000"/>
        </p:xfrm>
        <a:graphic>
          <a:graphicData uri="http://schemas.openxmlformats.org/drawingml/2006/table">
            <a:tbl>
              <a:tblPr bandRow="1" firstRow="1">
                <a:noFill/>
                <a:tableStyleId>{017756EF-DAF3-48B8-A848-5F2EBB4D4265}</a:tableStyleId>
              </a:tblPr>
              <a:tblGrid>
                <a:gridCol w="3008625"/>
              </a:tblGrid>
              <a:tr h="364500">
                <a:tc>
                  <a:txBody>
                    <a:bodyPr/>
                    <a:lstStyle/>
                    <a:p>
                      <a:pPr indent="0" lvl="0" marL="13144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 (DISTINCT salary)</a:t>
                      </a:r>
                      <a:endParaRPr sz="1600" u="none" cap="none" strike="noStrike">
                        <a:latin typeface="Calibri"/>
                        <a:ea typeface="Calibri"/>
                        <a:cs typeface="Calibri"/>
                        <a:sym typeface="Calibri"/>
                      </a:endParaRPr>
                    </a:p>
                  </a:txBody>
                  <a:tcPr marT="4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64500">
                <a:tc>
                  <a:txBody>
                    <a:bodyPr/>
                    <a:lstStyle/>
                    <a:p>
                      <a:pPr indent="0" lvl="0" marL="13144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18</a:t>
                      </a:r>
                      <a:endParaRPr sz="1600" u="none" cap="none" strike="noStrike">
                        <a:latin typeface="Calibri"/>
                        <a:ea typeface="Calibri"/>
                        <a:cs typeface="Calibri"/>
                        <a:sym typeface="Calibri"/>
                      </a:endParaRPr>
                    </a:p>
                  </a:txBody>
                  <a:tcPr marT="4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26" name="Google Shape;226;p27"/>
          <p:cNvSpPr txBox="1"/>
          <p:nvPr/>
        </p:nvSpPr>
        <p:spPr>
          <a:xfrm>
            <a:off x="405384" y="2729483"/>
            <a:ext cx="3325495" cy="990600"/>
          </a:xfrm>
          <a:prstGeom prst="rect">
            <a:avLst/>
          </a:prstGeom>
          <a:solidFill>
            <a:srgbClr val="9DBDC4">
              <a:alpha val="49804"/>
            </a:srgbClr>
          </a:solidFill>
          <a:ln>
            <a:noFill/>
          </a:ln>
        </p:spPr>
        <p:txBody>
          <a:bodyPr anchorCtr="0" anchor="t" bIns="0" lIns="0" spcFirstLastPara="1" rIns="0" wrap="square" tIns="5522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 (DISTINCT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227" name="Google Shape;227;p27"/>
          <p:cNvSpPr txBox="1"/>
          <p:nvPr/>
        </p:nvSpPr>
        <p:spPr>
          <a:xfrm>
            <a:off x="4572000" y="2729483"/>
            <a:ext cx="4178935" cy="990600"/>
          </a:xfrm>
          <a:prstGeom prst="rect">
            <a:avLst/>
          </a:prstGeom>
          <a:solidFill>
            <a:srgbClr val="9DBDC4">
              <a:alpha val="49804"/>
            </a:srgbClr>
          </a:solidFill>
          <a:ln>
            <a:noFill/>
          </a:ln>
        </p:spPr>
        <p:txBody>
          <a:bodyPr anchorCtr="0" anchor="t" bIns="0" lIns="0" spcFirstLastPara="1" rIns="0" wrap="square" tIns="1924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 (DISTINCT 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NVL</a:t>
            </a:r>
            <a:endParaRPr/>
          </a:p>
        </p:txBody>
      </p:sp>
      <p:sp>
        <p:nvSpPr>
          <p:cNvPr id="233" name="Google Shape;233;p28"/>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34" name="Google Shape;234;p28"/>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5" name="Google Shape;235;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6" name="Google Shape;236;p28"/>
          <p:cNvSpPr txBox="1"/>
          <p:nvPr/>
        </p:nvSpPr>
        <p:spPr>
          <a:xfrm>
            <a:off x="483552" y="1415417"/>
            <a:ext cx="8074025" cy="4112895"/>
          </a:xfrm>
          <a:prstGeom prst="rect">
            <a:avLst/>
          </a:prstGeom>
          <a:noFill/>
          <a:ln>
            <a:noFill/>
          </a:ln>
        </p:spPr>
        <p:txBody>
          <a:bodyPr anchorCtr="0" anchor="t" bIns="0" lIns="0" spcFirstLastPara="1" rIns="0" wrap="square" tIns="59675">
            <a:spAutoFit/>
          </a:bodyPr>
          <a:lstStyle/>
          <a:p>
            <a:pPr indent="-177800" lvl="0" marL="182880" marR="400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veces es preferible incluir valores nulos en funciones 	de grupo</a:t>
            </a:r>
            <a:endParaRPr sz="2800">
              <a:latin typeface="Calibri"/>
              <a:ea typeface="Calibri"/>
              <a:cs typeface="Calibri"/>
              <a:sym typeface="Calibri"/>
            </a:endParaRPr>
          </a:p>
          <a:p>
            <a:pPr indent="-177800" lvl="0" marL="182880" marR="50165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saber el número medio de pedidos de 	clientes servidos cada día se podría utilizar para 	determinar cuánta comida pedir cada mes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Algunos días el restaurante está cerrado y no se sirve a 	los clientes, pero el propietario ha descubierto que 	calcular la media mediante la inclusión de los días que 	está cerrado es un indicador más fiable que solamente 	contar los días con clientes</a:t>
            </a:r>
            <a:endParaRPr sz="2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NVL</a:t>
            </a:r>
            <a:endParaRPr/>
          </a:p>
        </p:txBody>
      </p:sp>
      <p:sp>
        <p:nvSpPr>
          <p:cNvPr id="242" name="Google Shape;242;p29"/>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43" name="Google Shape;243;p29"/>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4" name="Google Shape;244;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5" name="Google Shape;245;p29"/>
          <p:cNvSpPr txBox="1"/>
          <p:nvPr/>
        </p:nvSpPr>
        <p:spPr>
          <a:xfrm>
            <a:off x="483552" y="1415417"/>
            <a:ext cx="763206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SELECT para incluir los valores nulos se 	podría escribir empezando por:</a:t>
            </a:r>
            <a:endParaRPr sz="2800">
              <a:latin typeface="Calibri"/>
              <a:ea typeface="Calibri"/>
              <a:cs typeface="Calibri"/>
              <a:sym typeface="Calibri"/>
            </a:endParaRPr>
          </a:p>
        </p:txBody>
      </p:sp>
      <p:sp>
        <p:nvSpPr>
          <p:cNvPr id="246" name="Google Shape;246;p29"/>
          <p:cNvSpPr txBox="1"/>
          <p:nvPr/>
        </p:nvSpPr>
        <p:spPr>
          <a:xfrm>
            <a:off x="483552" y="3256409"/>
            <a:ext cx="543369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Otro ejemplo de la tabla employees:</a:t>
            </a:r>
            <a:endParaRPr sz="2800">
              <a:latin typeface="Calibri"/>
              <a:ea typeface="Calibri"/>
              <a:cs typeface="Calibri"/>
              <a:sym typeface="Calibri"/>
            </a:endParaRPr>
          </a:p>
        </p:txBody>
      </p:sp>
      <p:graphicFrame>
        <p:nvGraphicFramePr>
          <p:cNvPr id="247" name="Google Shape;247;p29"/>
          <p:cNvGraphicFramePr/>
          <p:nvPr/>
        </p:nvGraphicFramePr>
        <p:xfrm>
          <a:off x="5562126" y="3781678"/>
          <a:ext cx="3000000" cy="3000000"/>
        </p:xfrm>
        <a:graphic>
          <a:graphicData uri="http://schemas.openxmlformats.org/drawingml/2006/table">
            <a:tbl>
              <a:tblPr bandRow="1" firstRow="1">
                <a:noFill/>
                <a:tableStyleId>{017756EF-DAF3-48B8-A848-5F2EBB4D4265}</a:tableStyleId>
              </a:tblPr>
              <a:tblGrid>
                <a:gridCol w="3161025"/>
              </a:tblGrid>
              <a:tr h="3518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AVG(COMMISSION_PCT)</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51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.2125</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48" name="Google Shape;248;p29"/>
          <p:cNvGraphicFramePr/>
          <p:nvPr/>
        </p:nvGraphicFramePr>
        <p:xfrm>
          <a:off x="5572020" y="4897959"/>
          <a:ext cx="3000000" cy="3000000"/>
        </p:xfrm>
        <a:graphic>
          <a:graphicData uri="http://schemas.openxmlformats.org/drawingml/2006/table">
            <a:tbl>
              <a:tblPr bandRow="1" firstRow="1">
                <a:noFill/>
                <a:tableStyleId>{017756EF-DAF3-48B8-A848-5F2EBB4D4265}</a:tableStyleId>
              </a:tblPr>
              <a:tblGrid>
                <a:gridCol w="3161025"/>
              </a:tblGrid>
              <a:tr h="3518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AVG(NVL(COMMISSION_PCT,0))</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51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.0425</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49" name="Google Shape;249;p29"/>
          <p:cNvSpPr txBox="1"/>
          <p:nvPr/>
        </p:nvSpPr>
        <p:spPr>
          <a:xfrm>
            <a:off x="405384" y="2452116"/>
            <a:ext cx="8345805" cy="443865"/>
          </a:xfrm>
          <a:prstGeom prst="rect">
            <a:avLst/>
          </a:prstGeom>
          <a:solidFill>
            <a:srgbClr val="9DBDC4">
              <a:alpha val="49804"/>
            </a:srgbClr>
          </a:solidFill>
          <a:ln>
            <a:noFill/>
          </a:ln>
        </p:spPr>
        <p:txBody>
          <a:bodyPr anchorCtr="0" anchor="t" bIns="0" lIns="0" spcFirstLastPara="1" rIns="0" wrap="square" tIns="571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AVG(NVL(customer_orders, 0))</a:t>
            </a:r>
            <a:endParaRPr sz="1800">
              <a:latin typeface="Courier New"/>
              <a:ea typeface="Courier New"/>
              <a:cs typeface="Courier New"/>
              <a:sym typeface="Courier New"/>
            </a:endParaRPr>
          </a:p>
        </p:txBody>
      </p:sp>
      <p:sp>
        <p:nvSpPr>
          <p:cNvPr id="250" name="Google Shape;250;p29"/>
          <p:cNvSpPr txBox="1"/>
          <p:nvPr/>
        </p:nvSpPr>
        <p:spPr>
          <a:xfrm>
            <a:off x="405384" y="3788664"/>
            <a:ext cx="4791710" cy="718185"/>
          </a:xfrm>
          <a:prstGeom prst="rect">
            <a:avLst/>
          </a:prstGeom>
          <a:solidFill>
            <a:srgbClr val="9DBDC4">
              <a:alpha val="49804"/>
            </a:srgbClr>
          </a:solidFill>
          <a:ln>
            <a:noFill/>
          </a:ln>
        </p:spPr>
        <p:txBody>
          <a:bodyPr anchorCtr="0" anchor="t" bIns="0" lIns="0" spcFirstLastPara="1" rIns="0" wrap="square" tIns="57150">
            <a:spAutoFit/>
          </a:bodyPr>
          <a:lstStyle/>
          <a:p>
            <a:pPr indent="0" lvl="0" marL="0" marR="12344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AVG(commission_pct) FROM employees;</a:t>
            </a:r>
            <a:endParaRPr sz="1800">
              <a:latin typeface="Courier New"/>
              <a:ea typeface="Courier New"/>
              <a:cs typeface="Courier New"/>
              <a:sym typeface="Courier New"/>
            </a:endParaRPr>
          </a:p>
        </p:txBody>
      </p:sp>
      <p:sp>
        <p:nvSpPr>
          <p:cNvPr id="251" name="Google Shape;251;p29"/>
          <p:cNvSpPr txBox="1"/>
          <p:nvPr/>
        </p:nvSpPr>
        <p:spPr>
          <a:xfrm>
            <a:off x="413004" y="4873752"/>
            <a:ext cx="4784090" cy="830580"/>
          </a:xfrm>
          <a:prstGeom prst="rect">
            <a:avLst/>
          </a:prstGeom>
          <a:solidFill>
            <a:srgbClr val="9DBDC4">
              <a:alpha val="49804"/>
            </a:srgbClr>
          </a:solidFill>
          <a:ln>
            <a:noFill/>
          </a:ln>
        </p:spPr>
        <p:txBody>
          <a:bodyPr anchorCtr="0" anchor="t" bIns="0" lIns="0" spcFirstLastPara="1" rIns="0" wrap="square" tIns="113025">
            <a:spAutoFit/>
          </a:bodyPr>
          <a:lstStyle/>
          <a:p>
            <a:pPr indent="0" lvl="0" marL="0" marR="1371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AVG(NVL(commission_pct, 0)) FROM employees;</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0"/>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NVL</a:t>
            </a:r>
            <a:endParaRPr/>
          </a:p>
        </p:txBody>
      </p:sp>
      <p:sp>
        <p:nvSpPr>
          <p:cNvPr id="257" name="Google Shape;257;p30"/>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58" name="Google Shape;258;p30"/>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9" name="Google Shape;259;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0" name="Google Shape;260;p30"/>
          <p:cNvSpPr txBox="1"/>
          <p:nvPr/>
        </p:nvSpPr>
        <p:spPr>
          <a:xfrm>
            <a:off x="483552" y="1415417"/>
            <a:ext cx="8055609"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Compare los resultados de las dos consultas siguientes</a:t>
            </a:r>
            <a:endParaRPr sz="2800">
              <a:latin typeface="Calibri"/>
              <a:ea typeface="Calibri"/>
              <a:cs typeface="Calibri"/>
              <a:sym typeface="Calibri"/>
            </a:endParaRPr>
          </a:p>
        </p:txBody>
      </p:sp>
      <p:graphicFrame>
        <p:nvGraphicFramePr>
          <p:cNvPr id="261" name="Google Shape;261;p30"/>
          <p:cNvGraphicFramePr/>
          <p:nvPr/>
        </p:nvGraphicFramePr>
        <p:xfrm>
          <a:off x="5813878" y="2338523"/>
          <a:ext cx="3000000" cy="3000000"/>
        </p:xfrm>
        <a:graphic>
          <a:graphicData uri="http://schemas.openxmlformats.org/drawingml/2006/table">
            <a:tbl>
              <a:tblPr bandRow="1" firstRow="1">
                <a:noFill/>
                <a:tableStyleId>{017756EF-DAF3-48B8-A848-5F2EBB4D4265}</a:tableStyleId>
              </a:tblPr>
              <a:tblGrid>
                <a:gridCol w="2930525"/>
              </a:tblGrid>
              <a:tr h="3518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AVG(COMMISSION_PCT)</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51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.2125</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62" name="Google Shape;262;p30"/>
          <p:cNvGraphicFramePr/>
          <p:nvPr/>
        </p:nvGraphicFramePr>
        <p:xfrm>
          <a:off x="5813878" y="3945851"/>
          <a:ext cx="3000000" cy="3000000"/>
        </p:xfrm>
        <a:graphic>
          <a:graphicData uri="http://schemas.openxmlformats.org/drawingml/2006/table">
            <a:tbl>
              <a:tblPr bandRow="1" firstRow="1">
                <a:noFill/>
                <a:tableStyleId>{017756EF-DAF3-48B8-A848-5F2EBB4D4265}</a:tableStyleId>
              </a:tblPr>
              <a:tblGrid>
                <a:gridCol w="2930525"/>
              </a:tblGrid>
              <a:tr h="3518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AVG(NVL(COMMISSION_PCT,0</a:t>
                      </a:r>
                      <a:r>
                        <a:rPr b="1" lang="en-US" sz="1350" u="none" cap="none" strike="noStrike">
                          <a:solidFill>
                            <a:srgbClr val="4E3629"/>
                          </a:solidFill>
                          <a:latin typeface="Calibri"/>
                          <a:ea typeface="Calibri"/>
                          <a:cs typeface="Calibri"/>
                          <a:sym typeface="Calibri"/>
                        </a:rPr>
                        <a:t>))</a:t>
                      </a:r>
                      <a:endParaRPr sz="135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51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.0425</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63" name="Google Shape;263;p30"/>
          <p:cNvSpPr txBox="1"/>
          <p:nvPr/>
        </p:nvSpPr>
        <p:spPr>
          <a:xfrm>
            <a:off x="405384" y="2356104"/>
            <a:ext cx="4735195" cy="718185"/>
          </a:xfrm>
          <a:prstGeom prst="rect">
            <a:avLst/>
          </a:prstGeom>
          <a:solidFill>
            <a:srgbClr val="9DBDC4">
              <a:alpha val="49804"/>
            </a:srgbClr>
          </a:solidFill>
          <a:ln>
            <a:noFill/>
          </a:ln>
        </p:spPr>
        <p:txBody>
          <a:bodyPr anchorCtr="0" anchor="t" bIns="0" lIns="0" spcFirstLastPara="1" rIns="0" wrap="square" tIns="57150">
            <a:spAutoFit/>
          </a:bodyPr>
          <a:lstStyle/>
          <a:p>
            <a:pPr indent="0" lvl="0" marL="0" marR="11779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AVG(commission_pct) FROM employees;</a:t>
            </a:r>
            <a:endParaRPr sz="1800">
              <a:latin typeface="Courier New"/>
              <a:ea typeface="Courier New"/>
              <a:cs typeface="Courier New"/>
              <a:sym typeface="Courier New"/>
            </a:endParaRPr>
          </a:p>
        </p:txBody>
      </p:sp>
      <p:sp>
        <p:nvSpPr>
          <p:cNvPr id="264" name="Google Shape;264;p30"/>
          <p:cNvSpPr txBox="1"/>
          <p:nvPr/>
        </p:nvSpPr>
        <p:spPr>
          <a:xfrm>
            <a:off x="393191" y="3976115"/>
            <a:ext cx="4747260" cy="719455"/>
          </a:xfrm>
          <a:prstGeom prst="rect">
            <a:avLst/>
          </a:prstGeom>
          <a:solidFill>
            <a:srgbClr val="9DBDC4">
              <a:alpha val="49804"/>
            </a:srgbClr>
          </a:solidFill>
          <a:ln>
            <a:noFill/>
          </a:ln>
        </p:spPr>
        <p:txBody>
          <a:bodyPr anchorCtr="0" anchor="t" bIns="0" lIns="0" spcFirstLastPara="1" rIns="0" wrap="square" tIns="57775">
            <a:spAutoFit/>
          </a:bodyPr>
          <a:lstStyle/>
          <a:p>
            <a:pPr indent="0" lvl="0" marL="0" marR="1003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AVG(NVL(commission_pct, 0)) FROM employees;</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70" name="Google Shape;270;p31"/>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71" name="Google Shape;271;p31"/>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2" name="Google Shape;272;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3" name="Google Shape;273;p31"/>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Aggregate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COUNT (expression)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COUNT (DISTINCT expression)</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DISTINCT</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392112" y="748031"/>
            <a:ext cx="539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79" name="Google Shape;279;p32"/>
          <p:cNvSpPr txBox="1"/>
          <p:nvPr>
            <p:ph idx="1" type="body"/>
          </p:nvPr>
        </p:nvSpPr>
        <p:spPr>
          <a:xfrm>
            <a:off x="483552" y="1393401"/>
            <a:ext cx="7650600" cy="17022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17145" rtl="0" algn="l">
              <a:lnSpc>
                <a:spcPct val="107916"/>
              </a:lnSpc>
              <a:spcBef>
                <a:spcPts val="475"/>
              </a:spcBef>
              <a:spcAft>
                <a:spcPts val="0"/>
              </a:spcAft>
              <a:buNone/>
            </a:pPr>
            <a:r>
              <a:rPr lang="en-US" sz="2400">
                <a:solidFill>
                  <a:srgbClr val="D1350F"/>
                </a:solidFill>
              </a:rPr>
              <a:t>−</a:t>
            </a:r>
            <a:r>
              <a:rPr lang="en-US" sz="2400"/>
              <a:t>Crear y ejecutar una consulta SQL utilizando la función de grupo COUNT</a:t>
            </a:r>
            <a:endParaRPr sz="2400"/>
          </a:p>
          <a:p>
            <a:pPr indent="0" lvl="0" marL="355600" rtl="0" algn="l">
              <a:lnSpc>
                <a:spcPct val="100000"/>
              </a:lnSpc>
              <a:spcBef>
                <a:spcPts val="70"/>
              </a:spcBef>
              <a:spcAft>
                <a:spcPts val="1200"/>
              </a:spcAft>
              <a:buNone/>
            </a:pPr>
            <a:r>
              <a:rPr lang="en-US" sz="2400">
                <a:solidFill>
                  <a:srgbClr val="D1350F"/>
                </a:solidFill>
              </a:rPr>
              <a:t>−</a:t>
            </a:r>
            <a:r>
              <a:rPr lang="en-US" sz="2400"/>
              <a:t>Utilizar DISTINCT y la función NVL con funciones de grupo</a:t>
            </a:r>
            <a:endParaRPr sz="2400"/>
          </a:p>
        </p:txBody>
      </p:sp>
      <p:grpSp>
        <p:nvGrpSpPr>
          <p:cNvPr id="280" name="Google Shape;280;p32"/>
          <p:cNvGrpSpPr/>
          <p:nvPr/>
        </p:nvGrpSpPr>
        <p:grpSpPr>
          <a:xfrm>
            <a:off x="4169676" y="3771912"/>
            <a:ext cx="4139171" cy="2261603"/>
            <a:chOff x="4169676" y="3771912"/>
            <a:chExt cx="4139171" cy="2261603"/>
          </a:xfrm>
        </p:grpSpPr>
        <p:pic>
          <p:nvPicPr>
            <p:cNvPr id="281" name="Google Shape;281;p32"/>
            <p:cNvPicPr preferRelativeResize="0"/>
            <p:nvPr/>
          </p:nvPicPr>
          <p:blipFill rotWithShape="1">
            <a:blip r:embed="rId3">
              <a:alphaModFix/>
            </a:blip>
            <a:srcRect b="0" l="0" r="0" t="0"/>
            <a:stretch/>
          </p:blipFill>
          <p:spPr>
            <a:xfrm>
              <a:off x="4169676" y="3771912"/>
              <a:ext cx="4139171" cy="2261603"/>
            </a:xfrm>
            <a:prstGeom prst="rect">
              <a:avLst/>
            </a:prstGeom>
            <a:noFill/>
            <a:ln>
              <a:noFill/>
            </a:ln>
          </p:spPr>
        </p:pic>
        <p:pic>
          <p:nvPicPr>
            <p:cNvPr id="282" name="Google Shape;282;p32"/>
            <p:cNvPicPr preferRelativeResize="0"/>
            <p:nvPr/>
          </p:nvPicPr>
          <p:blipFill rotWithShape="1">
            <a:blip r:embed="rId4">
              <a:alphaModFix/>
            </a:blip>
            <a:srcRect b="0" l="0" r="0" t="0"/>
            <a:stretch/>
          </p:blipFill>
          <p:spPr>
            <a:xfrm>
              <a:off x="4361688" y="3963924"/>
              <a:ext cx="3755135" cy="1877567"/>
            </a:xfrm>
            <a:prstGeom prst="rect">
              <a:avLst/>
            </a:prstGeom>
            <a:noFill/>
            <a:ln>
              <a:noFill/>
            </a:ln>
          </p:spPr>
        </p:pic>
      </p:grpSp>
      <p:sp>
        <p:nvSpPr>
          <p:cNvPr id="283" name="Google Shape;283;p32"/>
          <p:cNvSpPr txBox="1"/>
          <p:nvPr>
            <p:ph idx="10" type="dt"/>
          </p:nvPr>
        </p:nvSpPr>
        <p:spPr>
          <a:xfrm>
            <a:off x="2874191" y="6516395"/>
            <a:ext cx="10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8-2</a:t>
            </a:r>
            <a:endParaRPr/>
          </a:p>
          <a:p>
            <a:pPr indent="0" lvl="0" marL="12700" rtl="0" algn="l">
              <a:lnSpc>
                <a:spcPct val="120624"/>
              </a:lnSpc>
              <a:spcBef>
                <a:spcPts val="0"/>
              </a:spcBef>
              <a:spcAft>
                <a:spcPts val="0"/>
              </a:spcAft>
              <a:buNone/>
            </a:pPr>
            <a:r>
              <a:rPr lang="en-US"/>
              <a:t>COUNT, DISTINCT, NVL</a:t>
            </a:r>
            <a:endParaRPr/>
          </a:p>
        </p:txBody>
      </p:sp>
      <p:sp>
        <p:nvSpPr>
          <p:cNvPr id="284" name="Google Shape;284;p32"/>
          <p:cNvSpPr txBox="1"/>
          <p:nvPr>
            <p:ph idx="12" type="sldNum"/>
          </p:nvPr>
        </p:nvSpPr>
        <p:spPr>
          <a:xfrm>
            <a:off x="8656319" y="6567768"/>
            <a:ext cx="285900" cy="153900"/>
          </a:xfrm>
          <a:prstGeom prst="rect">
            <a:avLst/>
          </a:prstGeom>
          <a:noFill/>
          <a:ln>
            <a:noFill/>
          </a:ln>
        </p:spPr>
        <p:txBody>
          <a:bodyPr anchorCtr="0" anchor="t" bIns="0" lIns="0" spcFirstLastPara="1" rIns="0" wrap="square" tIns="0">
            <a:spAutoFit/>
          </a:bodyPr>
          <a:lstStyle/>
          <a:p>
            <a:pPr indent="0" lvl="0" marL="10668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5" name="Google Shape;285;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