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6858000" cx="9144000"/>
  <p:notesSz cx="9144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28A7462-330E-4260-A9AC-7AA50086CA86}">
  <a:tblStyle styleId="{B28A7462-330E-4260-A9AC-7AA50086CA8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2021-05-06 10:11:19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 función de grupo COUNT se  examinará con más detalle en la  siguiente lección.</a:t>
            </a:r>
            <a:endParaRPr/>
          </a:p>
        </p:txBody>
      </p:sp>
      <p:sp>
        <p:nvSpPr>
          <p:cNvPr id="97" name="Google Shape;97;p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2021-05-06 10:11:20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 desviación estándar y la varianza  miden la difusión de los datos  alrededor de la media. Para este  curso, es importante poderlas  reconocer y utilizar como  funciones de grupo. Describir su  funcionamiento no se aborda en  este curso.</a:t>
            </a:r>
            <a:endParaRPr/>
          </a:p>
        </p:txBody>
      </p:sp>
      <p:sp>
        <p:nvSpPr>
          <p:cNvPr id="137" name="Google Shape;137;p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2021-05-06 10:11:20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 cláusula WHERE se puede incluir  para realizar una función de  grupo en un subjuego de la  tabla, por ejemplo WHERE  department_id = 90. La cláusula  GROUP BY se tratará en una  lección posterior.</a:t>
            </a:r>
            <a:endParaRPr/>
          </a:p>
        </p:txBody>
      </p:sp>
      <p:sp>
        <p:nvSpPr>
          <p:cNvPr id="146" name="Google Shape;146;p1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2021-05-06 10:11:20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Trataremos cómo resolver este  problema en una lección posterior.</a:t>
            </a:r>
            <a:endParaRPr/>
          </a:p>
        </p:txBody>
      </p:sp>
      <p:sp>
        <p:nvSpPr>
          <p:cNvPr id="164" name="Google Shape;164;p1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2021-05-06 10:11:20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ejemplo 1 devuelve el número  más bajo en la columna  life_expect_at_birth.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ejemplo 2 utiliza una columna de  datos de caracteres y devuelve  el condado cuyo nombre sea el  primero en la lista alfabética de  nombres de países. El ejemplo 3  utiliza una columna de tipo de  dato de fecha y devuelve la  primera fecha de contratación.</a:t>
            </a:r>
            <a:endParaRPr/>
          </a:p>
        </p:txBody>
      </p:sp>
      <p:sp>
        <p:nvSpPr>
          <p:cNvPr id="176" name="Google Shape;176;p1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2021-05-06 10:11:20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ejemplo 1 devuelve el número  más alto en la columna  life_expect_at_birth.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ejemplo 2 utiliza una columna de  datos de caracteres y devuelve  el condado cuyo nombre sea el  último en la lista alfabética de  nombres de países. El ejemplo 3  utiliza una columna de tipo de  dato de fecha y devuelve la  última fecha de contratación.</a:t>
            </a:r>
            <a:endParaRPr/>
          </a:p>
        </p:txBody>
      </p:sp>
      <p:sp>
        <p:nvSpPr>
          <p:cNvPr id="186" name="Google Shape;186;p1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2021-05-06 10:11:21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Puede restringir la función de grupo  a un subjuego de la tabla  utilizando una cláusula WHERE.  El ejemplo 1 devuelve el total  (suma) de todas las áreas de los  países de la región 29 (Caribe).  El ejemplo 2 devuelve el salario  total para los empleados del  departamento 90.</a:t>
            </a:r>
            <a:endParaRPr/>
          </a:p>
        </p:txBody>
      </p:sp>
      <p:sp>
        <p:nvSpPr>
          <p:cNvPr id="196" name="Google Shape;196;p1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2021-05-06 10:11:21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ejemplo 1 devuelve la media de  todas las áreas de los países de  la región 29 (Caribe).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ejemplo 2 devuelve el salario  medio para los empleados del  departamento 90, redondeado a  dos decimales.</a:t>
            </a:r>
            <a:endParaRPr/>
          </a:p>
        </p:txBody>
      </p:sp>
      <p:sp>
        <p:nvSpPr>
          <p:cNvPr id="206" name="Google Shape;206;p1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2021-05-06 10:11:21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 tabla employees tiene 20 filas.  Solo 4 empleados tienen un  valor commission_pct, las otras  16 filas contienen NULL. La  media se calcula buscando el  valor SUM de las filas no nulas y  dividiendo por el valor COUNT  de las filas no nulas. Este tema  se tratará en mayor profundidad  en la siguiente lección.</a:t>
            </a:r>
            <a:endParaRPr/>
          </a:p>
        </p:txBody>
      </p:sp>
      <p:sp>
        <p:nvSpPr>
          <p:cNvPr id="226" name="Google Shape;226;p1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92112" y="748031"/>
            <a:ext cx="7331700" cy="5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3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5064350" y="1416027"/>
            <a:ext cx="3688200" cy="41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1" type="ftr"/>
          </p:nvPr>
        </p:nvSpPr>
        <p:spPr>
          <a:xfrm>
            <a:off x="5172119" y="6589648"/>
            <a:ext cx="32220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2874191" y="6516395"/>
            <a:ext cx="9069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601456" y="6589648"/>
            <a:ext cx="186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00000"/>
              </a:lnSpc>
              <a:spcBef>
                <a:spcPts val="0"/>
              </a:spcBef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 marR="0" algn="l">
              <a:lnSpc>
                <a:spcPct val="100000"/>
              </a:lnSpc>
              <a:spcBef>
                <a:spcPts val="0"/>
              </a:spcBef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 marR="0" algn="l">
              <a:lnSpc>
                <a:spcPct val="100000"/>
              </a:lnSpc>
              <a:spcBef>
                <a:spcPts val="0"/>
              </a:spcBef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 marR="0" algn="l">
              <a:lnSpc>
                <a:spcPct val="100000"/>
              </a:lnSpc>
              <a:spcBef>
                <a:spcPts val="0"/>
              </a:spcBef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 marR="0" algn="l">
              <a:lnSpc>
                <a:spcPct val="100000"/>
              </a:lnSpc>
              <a:spcBef>
                <a:spcPts val="0"/>
              </a:spcBef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 marR="0" algn="l">
              <a:lnSpc>
                <a:spcPct val="100000"/>
              </a:lnSpc>
              <a:spcBef>
                <a:spcPts val="0"/>
              </a:spcBef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 marR="0" algn="l">
              <a:lnSpc>
                <a:spcPct val="100000"/>
              </a:lnSpc>
              <a:spcBef>
                <a:spcPts val="0"/>
              </a:spcBef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 marR="0" algn="l">
              <a:lnSpc>
                <a:spcPct val="100000"/>
              </a:lnSpc>
              <a:spcBef>
                <a:spcPts val="0"/>
              </a:spcBef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 marR="0" algn="l">
              <a:lnSpc>
                <a:spcPct val="100000"/>
              </a:lnSpc>
              <a:spcBef>
                <a:spcPts val="0"/>
              </a:spcBef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14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61" name="Google Shape;61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400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" name="Google Shape;62;p14"/>
            <p:cNvSpPr/>
            <p:nvPr/>
          </p:nvSpPr>
          <p:spPr>
            <a:xfrm>
              <a:off x="560831" y="702563"/>
              <a:ext cx="8022590" cy="5453380"/>
            </a:xfrm>
            <a:custGeom>
              <a:rect b="b" l="l" r="r" t="t"/>
              <a:pathLst>
                <a:path extrusionOk="0" h="5453380" w="8022590">
                  <a:moveTo>
                    <a:pt x="8022335" y="0"/>
                  </a:moveTo>
                  <a:lnTo>
                    <a:pt x="0" y="0"/>
                  </a:lnTo>
                  <a:lnTo>
                    <a:pt x="0" y="5452872"/>
                  </a:lnTo>
                  <a:lnTo>
                    <a:pt x="8022335" y="5452872"/>
                  </a:lnTo>
                  <a:lnTo>
                    <a:pt x="8022335" y="0"/>
                  </a:lnTo>
                  <a:close/>
                </a:path>
              </a:pathLst>
            </a:custGeom>
            <a:solidFill>
              <a:srgbClr val="DFE1E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63" name="Google Shape;63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70787" y="5570219"/>
              <a:ext cx="1258823" cy="420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4" name="Google Shape;64;p14"/>
          <p:cNvSpPr txBox="1"/>
          <p:nvPr/>
        </p:nvSpPr>
        <p:spPr>
          <a:xfrm>
            <a:off x="5057819" y="6562597"/>
            <a:ext cx="3221990" cy="155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FCEFD9"/>
                </a:solidFill>
                <a:latin typeface="Calibri"/>
                <a:ea typeface="Calibri"/>
                <a:cs typeface="Calibri"/>
                <a:sym typeface="Calibri"/>
              </a:rPr>
              <a:t>Copyright © 2020, Oracle y/o sus filiales. Todos los derechos reservados.</a:t>
            </a:r>
            <a:endParaRPr sz="8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4"/>
          <p:cNvSpPr txBox="1"/>
          <p:nvPr>
            <p:ph type="title"/>
          </p:nvPr>
        </p:nvSpPr>
        <p:spPr>
          <a:xfrm>
            <a:off x="958315" y="862895"/>
            <a:ext cx="7046700" cy="15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3650">
            <a:spAutoFit/>
          </a:bodyPr>
          <a:lstStyle/>
          <a:p>
            <a:pPr indent="0" lvl="0" marL="12700" marR="5080" rtl="0" algn="l">
              <a:lnSpc>
                <a:spcPct val="96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Database Programming with  SQL</a:t>
            </a:r>
            <a:endParaRPr sz="4800"/>
          </a:p>
        </p:txBody>
      </p:sp>
      <p:sp>
        <p:nvSpPr>
          <p:cNvPr id="66" name="Google Shape;66;p14"/>
          <p:cNvSpPr txBox="1"/>
          <p:nvPr/>
        </p:nvSpPr>
        <p:spPr>
          <a:xfrm>
            <a:off x="962879" y="2400950"/>
            <a:ext cx="2543175" cy="888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81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8-1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15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Funciones de Grupo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360049" y="3484988"/>
            <a:ext cx="5050536" cy="29657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92112" y="748031"/>
            <a:ext cx="16365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Objetivos</a:t>
            </a:r>
            <a:endParaRPr/>
          </a:p>
        </p:txBody>
      </p:sp>
      <p:sp>
        <p:nvSpPr>
          <p:cNvPr id="73" name="Google Shape;73;p15"/>
          <p:cNvSpPr txBox="1"/>
          <p:nvPr>
            <p:ph idx="10" type="dt"/>
          </p:nvPr>
        </p:nvSpPr>
        <p:spPr>
          <a:xfrm>
            <a:off x="2874191" y="6516395"/>
            <a:ext cx="9069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8-1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Funciones de Grupo</a:t>
            </a:r>
            <a:endParaRPr/>
          </a:p>
        </p:txBody>
      </p:sp>
      <p:sp>
        <p:nvSpPr>
          <p:cNvPr id="74" name="Google Shape;74;p15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75" name="Google Shape;75;p15"/>
          <p:cNvSpPr txBox="1"/>
          <p:nvPr>
            <p:ph idx="12" type="sldNum"/>
          </p:nvPr>
        </p:nvSpPr>
        <p:spPr>
          <a:xfrm>
            <a:off x="8601456" y="6589648"/>
            <a:ext cx="1860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9825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483552" y="1393401"/>
            <a:ext cx="7897495" cy="2604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177800" lvl="0" marL="184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esta lección se abordan los siguientes objetivos: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66675" rtl="0" algn="l">
              <a:lnSpc>
                <a:spcPct val="107916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Definir y proporcionar un ejemplo de las siete funciones de  grupo: SUM, AVG, COUNT, MIN, MAX, STDDEV y VARIANCE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659765" rtl="0" algn="l">
              <a:lnSpc>
                <a:spcPct val="107916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Crear y ejecutar una consulta SQL utilizando funciones  de grupo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5080" rtl="0" algn="l">
              <a:lnSpc>
                <a:spcPct val="107916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Crear y ejecutar funciones de grupo que solo funcionan con  tipos de dato numéricos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92112" y="748031"/>
            <a:ext cx="14727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</a:t>
            </a:r>
            <a:endParaRPr/>
          </a:p>
        </p:txBody>
      </p:sp>
      <p:sp>
        <p:nvSpPr>
          <p:cNvPr id="82" name="Google Shape;82;p16"/>
          <p:cNvSpPr txBox="1"/>
          <p:nvPr>
            <p:ph idx="10" type="dt"/>
          </p:nvPr>
        </p:nvSpPr>
        <p:spPr>
          <a:xfrm>
            <a:off x="2874191" y="6516395"/>
            <a:ext cx="9069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8-1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Funciones de Grupo</a:t>
            </a:r>
            <a:endParaRPr/>
          </a:p>
        </p:txBody>
      </p:sp>
      <p:sp>
        <p:nvSpPr>
          <p:cNvPr id="83" name="Google Shape;83;p16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84" name="Google Shape;84;p16"/>
          <p:cNvSpPr txBox="1"/>
          <p:nvPr>
            <p:ph idx="12" type="sldNum"/>
          </p:nvPr>
        </p:nvSpPr>
        <p:spPr>
          <a:xfrm>
            <a:off x="8601456" y="6589648"/>
            <a:ext cx="1860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9825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483552" y="1381889"/>
            <a:ext cx="8126095" cy="4511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150">
            <a:spAutoFit/>
          </a:bodyPr>
          <a:lstStyle/>
          <a:p>
            <a:pPr indent="-177800" lvl="0" marL="184785" marR="508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¿Qué ocurriría si estuviera escribiendo un artículo para  el periódico escolar y, para presentar una idea, deseara  conocer la edad media de los alumnos del centro  educativo?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1887855" rtl="0" algn="l">
              <a:lnSpc>
                <a:spcPct val="80000"/>
              </a:lnSpc>
              <a:spcBef>
                <a:spcPts val="81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¿Qué tendría que hacer para obtener esta  información?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567690" rtl="0" algn="l">
              <a:lnSpc>
                <a:spcPct val="80000"/>
              </a:lnSpc>
              <a:spcBef>
                <a:spcPts val="79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Podría preguntar a cada alumno su edad en años,  meses y días, sumar todas estas cifras y, a  continuación, dividir por el número de alumnos del  centro educativo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273050" rtl="0" algn="l">
              <a:lnSpc>
                <a:spcPct val="80000"/>
              </a:lnSpc>
              <a:spcBef>
                <a:spcPts val="81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Esta sería una forma, muy lenta y difícil, de encontrar  esta información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92112" y="748031"/>
            <a:ext cx="14727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</a:t>
            </a:r>
            <a:endParaRPr/>
          </a:p>
        </p:txBody>
      </p:sp>
      <p:sp>
        <p:nvSpPr>
          <p:cNvPr id="91" name="Google Shape;91;p17"/>
          <p:cNvSpPr txBox="1"/>
          <p:nvPr>
            <p:ph idx="10" type="dt"/>
          </p:nvPr>
        </p:nvSpPr>
        <p:spPr>
          <a:xfrm>
            <a:off x="2874191" y="6516395"/>
            <a:ext cx="9069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8-1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Funciones de Grupo</a:t>
            </a:r>
            <a:endParaRPr/>
          </a:p>
        </p:txBody>
      </p:sp>
      <p:sp>
        <p:nvSpPr>
          <p:cNvPr id="92" name="Google Shape;92;p17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601456" y="6589648"/>
            <a:ext cx="1860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9825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7"/>
          <p:cNvSpPr txBox="1"/>
          <p:nvPr/>
        </p:nvSpPr>
        <p:spPr>
          <a:xfrm>
            <a:off x="483552" y="1415417"/>
            <a:ext cx="7384415" cy="4315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365125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¿Qué sucedería si necesitara conocer esto  inmediatamente, como para poder cumplir una  entrega a las 15:00 p.m. ?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0" rtl="0" algn="l">
              <a:lnSpc>
                <a:spcPct val="100000"/>
              </a:lnSpc>
              <a:spcBef>
                <a:spcPts val="409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Podría tener un problema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5080" rtl="0" algn="l">
              <a:lnSpc>
                <a:spcPct val="108214"/>
              </a:lnSpc>
              <a:spcBef>
                <a:spcPts val="844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¿Qué ocurriría si la fecha de nacimiento de cada  alumno estuviera en una base de datos del centro  educativo en la tabla STUDENT?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ese caso, eso sería muy fácil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206375" rtl="0" algn="l">
              <a:lnSpc>
                <a:spcPct val="108214"/>
              </a:lnSpc>
              <a:spcBef>
                <a:spcPts val="84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esta lección, va a descubrir el potencial de las  funciones de grupo en SQL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92112" y="748031"/>
            <a:ext cx="34347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Funciones de Grupo</a:t>
            </a:r>
            <a:endParaRPr/>
          </a:p>
        </p:txBody>
      </p:sp>
      <p:sp>
        <p:nvSpPr>
          <p:cNvPr id="100" name="Google Shape;100;p18"/>
          <p:cNvSpPr txBox="1"/>
          <p:nvPr/>
        </p:nvSpPr>
        <p:spPr>
          <a:xfrm>
            <a:off x="483552" y="1415417"/>
            <a:ext cx="8090534" cy="43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SQL, las siguientes funciones de grupo se pueden  utilizar en una tabla completa o en un grupo específico  de filas. Cada función devuelve un resultado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0" rtl="0" algn="l">
              <a:lnSpc>
                <a:spcPct val="100000"/>
              </a:lnSpc>
              <a:spcBef>
                <a:spcPts val="409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Funciones de Grupo: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AVG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COUNT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MIN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MAX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SUM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VARIANCE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STDDEV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47003" y="3172967"/>
            <a:ext cx="2993135" cy="289559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8"/>
          <p:cNvSpPr txBox="1"/>
          <p:nvPr>
            <p:ph idx="10" type="dt"/>
          </p:nvPr>
        </p:nvSpPr>
        <p:spPr>
          <a:xfrm>
            <a:off x="2874191" y="6516395"/>
            <a:ext cx="9069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8-1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Funciones de Grupo</a:t>
            </a:r>
            <a:endParaRPr/>
          </a:p>
        </p:txBody>
      </p:sp>
      <p:sp>
        <p:nvSpPr>
          <p:cNvPr id="103" name="Google Shape;103;p18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04" name="Google Shape;104;p18"/>
          <p:cNvSpPr txBox="1"/>
          <p:nvPr>
            <p:ph idx="12" type="sldNum"/>
          </p:nvPr>
        </p:nvSpPr>
        <p:spPr>
          <a:xfrm>
            <a:off x="8601456" y="6589648"/>
            <a:ext cx="1860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9825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/>
        </p:nvSpPr>
        <p:spPr>
          <a:xfrm>
            <a:off x="483552" y="1491489"/>
            <a:ext cx="3677920" cy="4779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457200" lvl="0" marL="469900" marR="7620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MIN: se utiliza con las  columnas que  almacenan cualquier  tipo de dato para  devolver el valor  mínimo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69900" marR="5080" rtl="0" algn="l">
              <a:lnSpc>
                <a:spcPct val="108214"/>
              </a:lnSpc>
              <a:spcBef>
                <a:spcPts val="77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MAX: se utiliza con las  columnas que  almacenan cualquier  tipo de dato para  devolver el valor  máximo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9"/>
          <p:cNvSpPr txBox="1"/>
          <p:nvPr>
            <p:ph type="title"/>
          </p:nvPr>
        </p:nvSpPr>
        <p:spPr>
          <a:xfrm>
            <a:off x="392112" y="748031"/>
            <a:ext cx="48216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Lista de Funciones de Grupo</a:t>
            </a:r>
            <a:endParaRPr/>
          </a:p>
        </p:txBody>
      </p:sp>
      <p:graphicFrame>
        <p:nvGraphicFramePr>
          <p:cNvPr id="111" name="Google Shape;111;p19"/>
          <p:cNvGraphicFramePr/>
          <p:nvPr/>
        </p:nvGraphicFramePr>
        <p:xfrm>
          <a:off x="4566411" y="15247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{B28A7462-330E-4260-A9AC-7AA50086CA86}</a:tableStyleId>
              </a:tblPr>
              <a:tblGrid>
                <a:gridCol w="789950"/>
                <a:gridCol w="770250"/>
              </a:tblGrid>
              <a:tr h="189725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 hMerge="1"/>
              </a:tr>
              <a:tr h="269250">
                <a:tc>
                  <a:txBody>
                    <a:bodyPr/>
                    <a:lstStyle/>
                    <a:p>
                      <a:pPr indent="0" lvl="0" marL="114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DEPT_ID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SALARY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69250">
                <a:tc>
                  <a:txBody>
                    <a:bodyPr/>
                    <a:lstStyle/>
                    <a:p>
                      <a:pPr indent="0" lvl="0" marL="114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24000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69250">
                <a:tc>
                  <a:txBody>
                    <a:bodyPr/>
                    <a:lstStyle/>
                    <a:p>
                      <a:pPr indent="0" lvl="0" marL="114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17000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69250">
                <a:tc>
                  <a:txBody>
                    <a:bodyPr/>
                    <a:lstStyle/>
                    <a:p>
                      <a:pPr indent="0" lvl="0" marL="114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17000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69250">
                <a:tc>
                  <a:txBody>
                    <a:bodyPr/>
                    <a:lstStyle/>
                    <a:p>
                      <a:pPr indent="0" lvl="0" marL="114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69250">
                <a:tc>
                  <a:txBody>
                    <a:bodyPr/>
                    <a:lstStyle/>
                    <a:p>
                      <a:pPr indent="0" lvl="0" marL="114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69250">
                <a:tc>
                  <a:txBody>
                    <a:bodyPr/>
                    <a:lstStyle/>
                    <a:p>
                      <a:pPr indent="0" lvl="0" marL="114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4200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69250">
                <a:tc>
                  <a:txBody>
                    <a:bodyPr/>
                    <a:lstStyle/>
                    <a:p>
                      <a:pPr indent="0" lvl="0" marL="114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5800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69250">
                <a:tc>
                  <a:txBody>
                    <a:bodyPr/>
                    <a:lstStyle/>
                    <a:p>
                      <a:pPr indent="0" lvl="0" marL="114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69250">
                <a:tc>
                  <a:txBody>
                    <a:bodyPr/>
                    <a:lstStyle/>
                    <a:p>
                      <a:pPr indent="0" lvl="0" marL="114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69250">
                <a:tc>
                  <a:txBody>
                    <a:bodyPr/>
                    <a:lstStyle/>
                    <a:p>
                      <a:pPr indent="0" lvl="0" marL="114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69250">
                <a:tc>
                  <a:txBody>
                    <a:bodyPr/>
                    <a:lstStyle/>
                    <a:p>
                      <a:pPr indent="0" lvl="0" marL="114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69250">
                <a:tc>
                  <a:txBody>
                    <a:bodyPr/>
                    <a:lstStyle/>
                    <a:p>
                      <a:pPr indent="0" lvl="0" marL="114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69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69250">
                <a:tc>
                  <a:txBody>
                    <a:bodyPr/>
                    <a:lstStyle/>
                    <a:p>
                      <a:pPr indent="0" lvl="0" marL="114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4400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19125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FE1E0"/>
                    </a:solidFill>
                  </a:tcPr>
                </a:tc>
                <a:tc hMerge="1"/>
              </a:tr>
            </a:tbl>
          </a:graphicData>
        </a:graphic>
      </p:graphicFrame>
      <p:grpSp>
        <p:nvGrpSpPr>
          <p:cNvPr id="112" name="Google Shape;112;p19"/>
          <p:cNvGrpSpPr/>
          <p:nvPr/>
        </p:nvGrpSpPr>
        <p:grpSpPr>
          <a:xfrm>
            <a:off x="6137909" y="2021585"/>
            <a:ext cx="448564" cy="3572510"/>
            <a:chOff x="6137909" y="2021585"/>
            <a:chExt cx="448564" cy="3572510"/>
          </a:xfrm>
        </p:grpSpPr>
        <p:sp>
          <p:nvSpPr>
            <p:cNvPr id="113" name="Google Shape;113;p19"/>
            <p:cNvSpPr/>
            <p:nvPr/>
          </p:nvSpPr>
          <p:spPr>
            <a:xfrm>
              <a:off x="6137909" y="2021585"/>
              <a:ext cx="445134" cy="1539240"/>
            </a:xfrm>
            <a:custGeom>
              <a:rect b="b" l="l" r="r" t="t"/>
              <a:pathLst>
                <a:path extrusionOk="0" h="1539239" w="445134">
                  <a:moveTo>
                    <a:pt x="0" y="0"/>
                  </a:moveTo>
                  <a:lnTo>
                    <a:pt x="445008" y="1539240"/>
                  </a:lnTo>
                </a:path>
              </a:pathLst>
            </a:custGeom>
            <a:noFill/>
            <a:ln cap="flat" cmpd="sng" w="38100">
              <a:solidFill>
                <a:srgbClr val="4E3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" name="Google Shape;114;p19"/>
            <p:cNvSpPr/>
            <p:nvPr/>
          </p:nvSpPr>
          <p:spPr>
            <a:xfrm>
              <a:off x="6139433" y="3560825"/>
              <a:ext cx="447040" cy="2033270"/>
            </a:xfrm>
            <a:custGeom>
              <a:rect b="b" l="l" r="r" t="t"/>
              <a:pathLst>
                <a:path extrusionOk="0" h="2033270" w="447040">
                  <a:moveTo>
                    <a:pt x="446531" y="0"/>
                  </a:moveTo>
                  <a:lnTo>
                    <a:pt x="0" y="2033016"/>
                  </a:lnTo>
                </a:path>
              </a:pathLst>
            </a:custGeom>
            <a:noFill/>
            <a:ln cap="flat" cmpd="sng" w="38100">
              <a:solidFill>
                <a:srgbClr val="4E3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15" name="Google Shape;115;p19"/>
          <p:cNvSpPr txBox="1"/>
          <p:nvPr/>
        </p:nvSpPr>
        <p:spPr>
          <a:xfrm>
            <a:off x="6342888" y="1670304"/>
            <a:ext cx="2472055" cy="634365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0" marR="57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MAX(salary)  FROM employees;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6" name="Google Shape;116;p19"/>
          <p:cNvSpPr txBox="1"/>
          <p:nvPr>
            <p:ph idx="10" type="dt"/>
          </p:nvPr>
        </p:nvSpPr>
        <p:spPr>
          <a:xfrm>
            <a:off x="2874191" y="6516395"/>
            <a:ext cx="9069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8-1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Funciones de Grupo</a:t>
            </a:r>
            <a:endParaRPr/>
          </a:p>
        </p:txBody>
      </p:sp>
      <p:sp>
        <p:nvSpPr>
          <p:cNvPr id="117" name="Google Shape;117;p19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18" name="Google Shape;118;p19"/>
          <p:cNvSpPr txBox="1"/>
          <p:nvPr>
            <p:ph idx="12" type="sldNum"/>
          </p:nvPr>
        </p:nvSpPr>
        <p:spPr>
          <a:xfrm>
            <a:off x="8601456" y="6589648"/>
            <a:ext cx="1860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9825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9" name="Google Shape;119;p19"/>
          <p:cNvGraphicFramePr/>
          <p:nvPr/>
        </p:nvGraphicFramePr>
        <p:xfrm>
          <a:off x="6804500" y="327171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{B28A7462-330E-4260-A9AC-7AA50086CA86}</a:tableStyleId>
              </a:tblPr>
              <a:tblGrid>
                <a:gridCol w="1536700"/>
              </a:tblGrid>
              <a:tr h="295275">
                <a:tc>
                  <a:txBody>
                    <a:bodyPr/>
                    <a:lstStyle/>
                    <a:p>
                      <a:pPr indent="0" lvl="0" marL="577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MAX (SALARY)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69250">
                <a:tc>
                  <a:txBody>
                    <a:bodyPr/>
                    <a:lstStyle/>
                    <a:p>
                      <a:pPr indent="0" lvl="0" marL="577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24000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/>
        </p:nvSpPr>
        <p:spPr>
          <a:xfrm>
            <a:off x="483552" y="1491489"/>
            <a:ext cx="3754754" cy="4394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457200" lvl="0" marL="46990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SUM: Se utiliza con las  columnas que  almacenan los datos  numéricos para buscar  el total o la suma de  valores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69900" marR="165100" rtl="0" algn="l">
              <a:lnSpc>
                <a:spcPct val="108214"/>
              </a:lnSpc>
              <a:spcBef>
                <a:spcPts val="77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AVG: se utiliza con las  columnas que  almacenan los datos  numéricos para  calcular la media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0"/>
          <p:cNvSpPr txBox="1"/>
          <p:nvPr>
            <p:ph type="title"/>
          </p:nvPr>
        </p:nvSpPr>
        <p:spPr>
          <a:xfrm>
            <a:off x="392112" y="748031"/>
            <a:ext cx="48216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Lista de Funciones de Grupo</a:t>
            </a:r>
            <a:endParaRPr/>
          </a:p>
        </p:txBody>
      </p:sp>
      <p:graphicFrame>
        <p:nvGraphicFramePr>
          <p:cNvPr id="126" name="Google Shape;126;p20"/>
          <p:cNvGraphicFramePr/>
          <p:nvPr/>
        </p:nvGraphicFramePr>
        <p:xfrm>
          <a:off x="4566411" y="15247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{B28A7462-330E-4260-A9AC-7AA50086CA86}</a:tableStyleId>
              </a:tblPr>
              <a:tblGrid>
                <a:gridCol w="789950"/>
                <a:gridCol w="770250"/>
              </a:tblGrid>
              <a:tr h="189725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 hMerge="1"/>
              </a:tr>
              <a:tr h="269250">
                <a:tc>
                  <a:txBody>
                    <a:bodyPr/>
                    <a:lstStyle/>
                    <a:p>
                      <a:pPr indent="0" lvl="0" marL="114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DEPT_ID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SALARY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69250">
                <a:tc>
                  <a:txBody>
                    <a:bodyPr/>
                    <a:lstStyle/>
                    <a:p>
                      <a:pPr indent="0" lvl="0" marL="114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24000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69250">
                <a:tc>
                  <a:txBody>
                    <a:bodyPr/>
                    <a:lstStyle/>
                    <a:p>
                      <a:pPr indent="0" lvl="0" marL="114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17000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69250">
                <a:tc>
                  <a:txBody>
                    <a:bodyPr/>
                    <a:lstStyle/>
                    <a:p>
                      <a:pPr indent="0" lvl="0" marL="114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17000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69250">
                <a:tc>
                  <a:txBody>
                    <a:bodyPr/>
                    <a:lstStyle/>
                    <a:p>
                      <a:pPr indent="0" lvl="0" marL="114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69250">
                <a:tc>
                  <a:txBody>
                    <a:bodyPr/>
                    <a:lstStyle/>
                    <a:p>
                      <a:pPr indent="0" lvl="0" marL="114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69250">
                <a:tc>
                  <a:txBody>
                    <a:bodyPr/>
                    <a:lstStyle/>
                    <a:p>
                      <a:pPr indent="0" lvl="0" marL="114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4200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69250">
                <a:tc>
                  <a:txBody>
                    <a:bodyPr/>
                    <a:lstStyle/>
                    <a:p>
                      <a:pPr indent="0" lvl="0" marL="114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5800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69250">
                <a:tc>
                  <a:txBody>
                    <a:bodyPr/>
                    <a:lstStyle/>
                    <a:p>
                      <a:pPr indent="0" lvl="0" marL="114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69250">
                <a:tc>
                  <a:txBody>
                    <a:bodyPr/>
                    <a:lstStyle/>
                    <a:p>
                      <a:pPr indent="0" lvl="0" marL="114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69250">
                <a:tc>
                  <a:txBody>
                    <a:bodyPr/>
                    <a:lstStyle/>
                    <a:p>
                      <a:pPr indent="0" lvl="0" marL="114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69250">
                <a:tc>
                  <a:txBody>
                    <a:bodyPr/>
                    <a:lstStyle/>
                    <a:p>
                      <a:pPr indent="0" lvl="0" marL="114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69250">
                <a:tc>
                  <a:txBody>
                    <a:bodyPr/>
                    <a:lstStyle/>
                    <a:p>
                      <a:pPr indent="0" lvl="0" marL="114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69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69250">
                <a:tc>
                  <a:txBody>
                    <a:bodyPr/>
                    <a:lstStyle/>
                    <a:p>
                      <a:pPr indent="0" lvl="0" marL="114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4400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19125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FE1E0"/>
                    </a:solidFill>
                  </a:tcPr>
                </a:tc>
                <a:tc hMerge="1"/>
              </a:tr>
            </a:tbl>
          </a:graphicData>
        </a:graphic>
      </p:graphicFrame>
      <p:grpSp>
        <p:nvGrpSpPr>
          <p:cNvPr id="127" name="Google Shape;127;p20"/>
          <p:cNvGrpSpPr/>
          <p:nvPr/>
        </p:nvGrpSpPr>
        <p:grpSpPr>
          <a:xfrm>
            <a:off x="6137909" y="2021585"/>
            <a:ext cx="448564" cy="3572510"/>
            <a:chOff x="6137909" y="2021585"/>
            <a:chExt cx="448564" cy="3572510"/>
          </a:xfrm>
        </p:grpSpPr>
        <p:sp>
          <p:nvSpPr>
            <p:cNvPr id="128" name="Google Shape;128;p20"/>
            <p:cNvSpPr/>
            <p:nvPr/>
          </p:nvSpPr>
          <p:spPr>
            <a:xfrm>
              <a:off x="6137909" y="2021585"/>
              <a:ext cx="445134" cy="1539240"/>
            </a:xfrm>
            <a:custGeom>
              <a:rect b="b" l="l" r="r" t="t"/>
              <a:pathLst>
                <a:path extrusionOk="0" h="1539239" w="445134">
                  <a:moveTo>
                    <a:pt x="0" y="0"/>
                  </a:moveTo>
                  <a:lnTo>
                    <a:pt x="445008" y="1539240"/>
                  </a:lnTo>
                </a:path>
              </a:pathLst>
            </a:custGeom>
            <a:noFill/>
            <a:ln cap="flat" cmpd="sng" w="38100">
              <a:solidFill>
                <a:srgbClr val="4E3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" name="Google Shape;129;p20"/>
            <p:cNvSpPr/>
            <p:nvPr/>
          </p:nvSpPr>
          <p:spPr>
            <a:xfrm>
              <a:off x="6139433" y="3560825"/>
              <a:ext cx="447040" cy="2033270"/>
            </a:xfrm>
            <a:custGeom>
              <a:rect b="b" l="l" r="r" t="t"/>
              <a:pathLst>
                <a:path extrusionOk="0" h="2033270" w="447040">
                  <a:moveTo>
                    <a:pt x="446531" y="0"/>
                  </a:moveTo>
                  <a:lnTo>
                    <a:pt x="0" y="2033016"/>
                  </a:lnTo>
                </a:path>
              </a:pathLst>
            </a:custGeom>
            <a:noFill/>
            <a:ln cap="flat" cmpd="sng" w="38100">
              <a:solidFill>
                <a:srgbClr val="4E3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30" name="Google Shape;130;p20"/>
          <p:cNvSpPr txBox="1"/>
          <p:nvPr/>
        </p:nvSpPr>
        <p:spPr>
          <a:xfrm>
            <a:off x="6342888" y="1670304"/>
            <a:ext cx="2472055" cy="634365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0" marR="57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MAX(salary)  FROM employees;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1" name="Google Shape;131;p20"/>
          <p:cNvSpPr txBox="1"/>
          <p:nvPr>
            <p:ph idx="10" type="dt"/>
          </p:nvPr>
        </p:nvSpPr>
        <p:spPr>
          <a:xfrm>
            <a:off x="2874191" y="6516395"/>
            <a:ext cx="9069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8-1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Funciones de Grupo</a:t>
            </a:r>
            <a:endParaRPr/>
          </a:p>
        </p:txBody>
      </p:sp>
      <p:sp>
        <p:nvSpPr>
          <p:cNvPr id="132" name="Google Shape;132;p20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33" name="Google Shape;133;p20"/>
          <p:cNvSpPr txBox="1"/>
          <p:nvPr>
            <p:ph idx="12" type="sldNum"/>
          </p:nvPr>
        </p:nvSpPr>
        <p:spPr>
          <a:xfrm>
            <a:off x="8601456" y="6589648"/>
            <a:ext cx="1860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9825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4" name="Google Shape;134;p20"/>
          <p:cNvGraphicFramePr/>
          <p:nvPr/>
        </p:nvGraphicFramePr>
        <p:xfrm>
          <a:off x="6804500" y="327171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{B28A7462-330E-4260-A9AC-7AA50086CA86}</a:tableStyleId>
              </a:tblPr>
              <a:tblGrid>
                <a:gridCol w="1536700"/>
              </a:tblGrid>
              <a:tr h="295275">
                <a:tc>
                  <a:txBody>
                    <a:bodyPr/>
                    <a:lstStyle/>
                    <a:p>
                      <a:pPr indent="0" lvl="0" marL="577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MAX (SALARY)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69250">
                <a:tc>
                  <a:txBody>
                    <a:bodyPr/>
                    <a:lstStyle/>
                    <a:p>
                      <a:pPr indent="0" lvl="0" marL="577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24000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>
            <p:ph type="title"/>
          </p:nvPr>
        </p:nvSpPr>
        <p:spPr>
          <a:xfrm>
            <a:off x="392112" y="748031"/>
            <a:ext cx="48216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Lista de Funciones de Grupo</a:t>
            </a:r>
            <a:endParaRPr/>
          </a:p>
        </p:txBody>
      </p:sp>
      <p:sp>
        <p:nvSpPr>
          <p:cNvPr id="140" name="Google Shape;140;p21"/>
          <p:cNvSpPr txBox="1"/>
          <p:nvPr>
            <p:ph idx="10" type="dt"/>
          </p:nvPr>
        </p:nvSpPr>
        <p:spPr>
          <a:xfrm>
            <a:off x="2874191" y="6516395"/>
            <a:ext cx="9069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8-1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Funciones de Grupo</a:t>
            </a:r>
            <a:endParaRPr/>
          </a:p>
        </p:txBody>
      </p:sp>
      <p:sp>
        <p:nvSpPr>
          <p:cNvPr id="141" name="Google Shape;141;p21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42" name="Google Shape;142;p21"/>
          <p:cNvSpPr txBox="1"/>
          <p:nvPr>
            <p:ph idx="12" type="sldNum"/>
          </p:nvPr>
        </p:nvSpPr>
        <p:spPr>
          <a:xfrm>
            <a:off x="8601456" y="6589648"/>
            <a:ext cx="1860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9825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1"/>
          <p:cNvSpPr txBox="1"/>
          <p:nvPr/>
        </p:nvSpPr>
        <p:spPr>
          <a:xfrm>
            <a:off x="483552" y="1358114"/>
            <a:ext cx="7914005" cy="4609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4925">
            <a:spAutoFit/>
          </a:bodyPr>
          <a:lstStyle/>
          <a:p>
            <a:pPr indent="-172720" lvl="0" marL="184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COUNT: devuelve el número de filas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-172720" lvl="0" marL="184785" marR="57150" rtl="0" algn="l">
              <a:lnSpc>
                <a:spcPct val="108076"/>
              </a:lnSpc>
              <a:spcBef>
                <a:spcPts val="844"/>
              </a:spcBef>
              <a:spcAft>
                <a:spcPts val="0"/>
              </a:spcAft>
              <a:buClr>
                <a:srgbClr val="D1350F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VARIANCE: se utiliza con columnas que almacenan datos  numéricos para calcular la difusión de datos en torno a la  media. Por ejemplo, si la nota media para la clase en la  última prueba fue del 82% y las puntuaciones del alumno  oscilaron entre el 40% y el 100%, la varianza de las  puntuaciones sería mayor que si las puntuaciones del  alumno oscilaron entre un 78% y un 88%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-172720" lvl="0" marL="184785" marR="5080" rtl="0" algn="l">
              <a:lnSpc>
                <a:spcPct val="108076"/>
              </a:lnSpc>
              <a:spcBef>
                <a:spcPts val="775"/>
              </a:spcBef>
              <a:spcAft>
                <a:spcPts val="0"/>
              </a:spcAft>
              <a:buClr>
                <a:srgbClr val="D1350F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STDDEV: similar a la varianza, la desviación estándar mide  la difusión de los datos. Para dos juegos de datos con  aproximadamente la misma media, cuanto mayor sea la  difusión, mayor será la desviación estándar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type="title"/>
          </p:nvPr>
        </p:nvSpPr>
        <p:spPr>
          <a:xfrm>
            <a:off x="392112" y="748031"/>
            <a:ext cx="73317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Cláusula SELECT de las Funciones de Grupo</a:t>
            </a:r>
            <a:endParaRPr/>
          </a:p>
        </p:txBody>
      </p:sp>
      <p:sp>
        <p:nvSpPr>
          <p:cNvPr id="149" name="Google Shape;149;p22"/>
          <p:cNvSpPr txBox="1"/>
          <p:nvPr/>
        </p:nvSpPr>
        <p:spPr>
          <a:xfrm>
            <a:off x="483552" y="1415417"/>
            <a:ext cx="4615180" cy="836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Las funciones de grupo se  escriben en la cláusula SELECT: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2"/>
          <p:cNvSpPr txBox="1"/>
          <p:nvPr/>
        </p:nvSpPr>
        <p:spPr>
          <a:xfrm>
            <a:off x="483552" y="3682520"/>
            <a:ext cx="5194300" cy="2150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1750">
            <a:spAutoFit/>
          </a:bodyPr>
          <a:lstStyle/>
          <a:p>
            <a:pPr indent="-177800" lvl="0" marL="184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¿Qué Son las Funciones de Grupo?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156210" rtl="0" algn="l">
              <a:lnSpc>
                <a:spcPct val="108214"/>
              </a:lnSpc>
              <a:spcBef>
                <a:spcPts val="844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Las funciones de grupo funcionan  en juegos de filas para  proporcionar un resultado por  grupo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1" name="Google Shape;151;p22"/>
          <p:cNvGraphicFramePr/>
          <p:nvPr/>
        </p:nvGraphicFramePr>
        <p:xfrm>
          <a:off x="5743452" y="167505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{B28A7462-330E-4260-A9AC-7AA50086CA86}</a:tableStyleId>
              </a:tblPr>
              <a:tblGrid>
                <a:gridCol w="911225"/>
                <a:gridCol w="887725"/>
              </a:tblGrid>
              <a:tr h="238750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DEPT_ID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SALARY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39725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24000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38750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17000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39725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17000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38750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38750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39725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4200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38750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5800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39700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38750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38750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39725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38750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10500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39700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11000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38750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38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39700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4400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2" name="Google Shape;152;p22"/>
          <p:cNvGraphicFramePr/>
          <p:nvPr/>
        </p:nvGraphicFramePr>
        <p:xfrm>
          <a:off x="7820469" y="351973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{B28A7462-330E-4260-A9AC-7AA50086CA86}</a:tableStyleId>
              </a:tblPr>
              <a:tblGrid>
                <a:gridCol w="1182375"/>
              </a:tblGrid>
              <a:tr h="295275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MIN (SALARY)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58750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</a:tbl>
          </a:graphicData>
        </a:graphic>
      </p:graphicFrame>
      <p:sp>
        <p:nvSpPr>
          <p:cNvPr id="153" name="Google Shape;153;p22"/>
          <p:cNvSpPr txBox="1"/>
          <p:nvPr/>
        </p:nvSpPr>
        <p:spPr>
          <a:xfrm>
            <a:off x="7881122" y="2034379"/>
            <a:ext cx="1001394" cy="1000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1225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El salario  mínimo  en la tabla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EMPLOYEES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2"/>
          <p:cNvSpPr/>
          <p:nvPr/>
        </p:nvSpPr>
        <p:spPr>
          <a:xfrm>
            <a:off x="7555230" y="1824989"/>
            <a:ext cx="452755" cy="1702435"/>
          </a:xfrm>
          <a:custGeom>
            <a:rect b="b" l="l" r="r" t="t"/>
            <a:pathLst>
              <a:path extrusionOk="0" h="1702435" w="452754">
                <a:moveTo>
                  <a:pt x="0" y="0"/>
                </a:moveTo>
                <a:lnTo>
                  <a:pt x="452628" y="1702308"/>
                </a:lnTo>
              </a:path>
            </a:pathLst>
          </a:custGeom>
          <a:noFill/>
          <a:ln cap="flat" cmpd="sng" w="28950">
            <a:solidFill>
              <a:srgbClr val="4E36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5" name="Google Shape;155;p22"/>
          <p:cNvSpPr/>
          <p:nvPr/>
        </p:nvSpPr>
        <p:spPr>
          <a:xfrm>
            <a:off x="7549133" y="4104894"/>
            <a:ext cx="459105" cy="1584960"/>
          </a:xfrm>
          <a:custGeom>
            <a:rect b="b" l="l" r="r" t="t"/>
            <a:pathLst>
              <a:path extrusionOk="0" h="1584960" w="459104">
                <a:moveTo>
                  <a:pt x="458724" y="0"/>
                </a:moveTo>
                <a:lnTo>
                  <a:pt x="0" y="1584959"/>
                </a:lnTo>
              </a:path>
            </a:pathLst>
          </a:custGeom>
          <a:noFill/>
          <a:ln cap="flat" cmpd="sng" w="28950">
            <a:solidFill>
              <a:srgbClr val="4E36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6" name="Google Shape;156;p22"/>
          <p:cNvSpPr/>
          <p:nvPr/>
        </p:nvSpPr>
        <p:spPr>
          <a:xfrm>
            <a:off x="393191" y="2272283"/>
            <a:ext cx="4802505" cy="1574800"/>
          </a:xfrm>
          <a:custGeom>
            <a:rect b="b" l="l" r="r" t="t"/>
            <a:pathLst>
              <a:path extrusionOk="0" h="1574800" w="4802505">
                <a:moveTo>
                  <a:pt x="4802124" y="0"/>
                </a:moveTo>
                <a:lnTo>
                  <a:pt x="0" y="0"/>
                </a:lnTo>
                <a:lnTo>
                  <a:pt x="0" y="1574291"/>
                </a:lnTo>
                <a:lnTo>
                  <a:pt x="4802124" y="1574291"/>
                </a:lnTo>
                <a:lnTo>
                  <a:pt x="4802124" y="0"/>
                </a:lnTo>
                <a:close/>
              </a:path>
            </a:pathLst>
          </a:cu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7" name="Google Shape;157;p22"/>
          <p:cNvSpPr txBox="1"/>
          <p:nvPr/>
        </p:nvSpPr>
        <p:spPr>
          <a:xfrm>
            <a:off x="393191" y="2195745"/>
            <a:ext cx="206121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	column,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8" name="Google Shape;158;p22"/>
          <p:cNvSpPr txBox="1"/>
          <p:nvPr>
            <p:ph idx="10" type="dt"/>
          </p:nvPr>
        </p:nvSpPr>
        <p:spPr>
          <a:xfrm>
            <a:off x="2874191" y="6516395"/>
            <a:ext cx="9069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8-1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Funciones de Grupo</a:t>
            </a:r>
            <a:endParaRPr/>
          </a:p>
        </p:txBody>
      </p:sp>
      <p:sp>
        <p:nvSpPr>
          <p:cNvPr id="159" name="Google Shape;159;p22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60" name="Google Shape;160;p22"/>
          <p:cNvSpPr txBox="1"/>
          <p:nvPr>
            <p:ph idx="12" type="sldNum"/>
          </p:nvPr>
        </p:nvSpPr>
        <p:spPr>
          <a:xfrm>
            <a:off x="8601456" y="6589648"/>
            <a:ext cx="1860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9825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2"/>
          <p:cNvSpPr txBox="1"/>
          <p:nvPr/>
        </p:nvSpPr>
        <p:spPr>
          <a:xfrm>
            <a:off x="393191" y="2470064"/>
            <a:ext cx="3150870" cy="13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group_function(column),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..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0941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FROM table  WHERE condition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GROUP BY column;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3"/>
          <p:cNvSpPr txBox="1"/>
          <p:nvPr>
            <p:ph type="title"/>
          </p:nvPr>
        </p:nvSpPr>
        <p:spPr>
          <a:xfrm>
            <a:off x="392112" y="748031"/>
            <a:ext cx="63228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Precauciones de la Función de Grupo</a:t>
            </a:r>
            <a:endParaRPr/>
          </a:p>
        </p:txBody>
      </p:sp>
      <p:sp>
        <p:nvSpPr>
          <p:cNvPr id="167" name="Google Shape;167;p23"/>
          <p:cNvSpPr txBox="1"/>
          <p:nvPr/>
        </p:nvSpPr>
        <p:spPr>
          <a:xfrm>
            <a:off x="483552" y="1415417"/>
            <a:ext cx="8030845" cy="15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Cosas importantes que debe saber de las funciones de  grupo: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1330325" rtl="0" algn="l">
              <a:lnSpc>
                <a:spcPct val="107916"/>
              </a:lnSpc>
              <a:spcBef>
                <a:spcPts val="42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Las funciones de grupo no se pueden utilizar en la  cláusula WHERE: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087" y="4351020"/>
            <a:ext cx="827531" cy="68579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3"/>
          <p:cNvSpPr txBox="1"/>
          <p:nvPr/>
        </p:nvSpPr>
        <p:spPr>
          <a:xfrm>
            <a:off x="1532164" y="4613437"/>
            <a:ext cx="348996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3300"/>
                </a:solidFill>
                <a:latin typeface="Calibri"/>
                <a:ea typeface="Calibri"/>
                <a:cs typeface="Calibri"/>
                <a:sym typeface="Calibri"/>
              </a:rPr>
              <a:t>ORA-00934: group function is not allowed here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3"/>
          <p:cNvSpPr txBox="1"/>
          <p:nvPr>
            <p:ph idx="10" type="dt"/>
          </p:nvPr>
        </p:nvSpPr>
        <p:spPr>
          <a:xfrm>
            <a:off x="2874191" y="6516395"/>
            <a:ext cx="9069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8-1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Funciones de Grupo</a:t>
            </a:r>
            <a:endParaRPr/>
          </a:p>
        </p:txBody>
      </p:sp>
      <p:sp>
        <p:nvSpPr>
          <p:cNvPr id="171" name="Google Shape;171;p23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72" name="Google Shape;172;p23"/>
          <p:cNvSpPr txBox="1"/>
          <p:nvPr>
            <p:ph idx="12" type="sldNum"/>
          </p:nvPr>
        </p:nvSpPr>
        <p:spPr>
          <a:xfrm>
            <a:off x="8601456" y="6589648"/>
            <a:ext cx="1860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9825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3"/>
          <p:cNvSpPr txBox="1"/>
          <p:nvPr/>
        </p:nvSpPr>
        <p:spPr>
          <a:xfrm>
            <a:off x="393191" y="3028188"/>
            <a:ext cx="8345805" cy="974090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47625">
            <a:spAutoFit/>
          </a:bodyPr>
          <a:lstStyle/>
          <a:p>
            <a:pPr indent="0" lvl="0" marL="0" marR="45173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last_name, first_name  FROM employees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WHERE salary = </a:t>
            </a:r>
            <a:r>
              <a:rPr b="1" lang="en-US" sz="1800">
                <a:solidFill>
                  <a:srgbClr val="D1350F"/>
                </a:solidFill>
                <a:latin typeface="Courier New"/>
                <a:ea typeface="Courier New"/>
                <a:cs typeface="Courier New"/>
                <a:sym typeface="Courier New"/>
              </a:rPr>
              <a:t>MIN(salary)</a:t>
            </a: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4"/>
          <p:cNvSpPr txBox="1"/>
          <p:nvPr>
            <p:ph type="title"/>
          </p:nvPr>
        </p:nvSpPr>
        <p:spPr>
          <a:xfrm>
            <a:off x="392112" y="748031"/>
            <a:ext cx="56031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Ejemplos de Funciones de Grupo</a:t>
            </a:r>
            <a:endParaRPr/>
          </a:p>
        </p:txBody>
      </p:sp>
      <p:sp>
        <p:nvSpPr>
          <p:cNvPr id="179" name="Google Shape;179;p24"/>
          <p:cNvSpPr txBox="1"/>
          <p:nvPr>
            <p:ph idx="10" type="dt"/>
          </p:nvPr>
        </p:nvSpPr>
        <p:spPr>
          <a:xfrm>
            <a:off x="2874191" y="6516395"/>
            <a:ext cx="9069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8-1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Funciones de Grupo</a:t>
            </a:r>
            <a:endParaRPr/>
          </a:p>
        </p:txBody>
      </p:sp>
      <p:sp>
        <p:nvSpPr>
          <p:cNvPr id="180" name="Google Shape;180;p24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81" name="Google Shape;181;p24"/>
          <p:cNvSpPr txBox="1"/>
          <p:nvPr>
            <p:ph idx="12" type="sldNum"/>
          </p:nvPr>
        </p:nvSpPr>
        <p:spPr>
          <a:xfrm>
            <a:off x="8601456" y="6589648"/>
            <a:ext cx="1860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9825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4"/>
          <p:cNvSpPr txBox="1"/>
          <p:nvPr/>
        </p:nvSpPr>
        <p:spPr>
          <a:xfrm>
            <a:off x="483552" y="1415417"/>
            <a:ext cx="7745730" cy="836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MIN: se utiliza con las columnas que almacenan  cualquier tipo de dato para devolver el valor mínimo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3" name="Google Shape;183;p24"/>
          <p:cNvGraphicFramePr/>
          <p:nvPr/>
        </p:nvGraphicFramePr>
        <p:xfrm>
          <a:off x="398462" y="26987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{B28A7462-330E-4260-A9AC-7AA50086CA86}</a:tableStyleId>
              </a:tblPr>
              <a:tblGrid>
                <a:gridCol w="5857875"/>
                <a:gridCol w="2489200"/>
              </a:tblGrid>
              <a:tr h="396200">
                <a:tc>
                  <a:txBody>
                    <a:bodyPr/>
                    <a:lstStyle/>
                    <a:p>
                      <a:pPr indent="0" lvl="0" marL="104139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Ejemplos: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04139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resultado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1024075">
                <a:tc>
                  <a:txBody>
                    <a:bodyPr/>
                    <a:lstStyle/>
                    <a:p>
                      <a:pPr indent="0" lvl="0" marL="104139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SELECT MIN(life_expect_at_birth)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104139" marR="3846195" rtl="0" algn="l">
                        <a:lnSpc>
                          <a:spcPct val="116700"/>
                        </a:lnSpc>
                        <a:spcBef>
                          <a:spcPts val="7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 "Lowest Life Exp"  FROM wf_countries;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04139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32,62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694900">
                <a:tc>
                  <a:txBody>
                    <a:bodyPr/>
                    <a:lstStyle/>
                    <a:p>
                      <a:pPr indent="0" lvl="0" marL="104139" marR="314198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SELECT MIN(country_name)  FROM wf_countries;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04139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Anguilla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694900">
                <a:tc>
                  <a:txBody>
                    <a:bodyPr/>
                    <a:lstStyle/>
                    <a:p>
                      <a:pPr indent="0" lvl="0" marL="104139" marR="3604895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SELECT MIN(hire_date)  FROM employees;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04139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17-Jun-1987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5"/>
          <p:cNvSpPr txBox="1"/>
          <p:nvPr>
            <p:ph type="title"/>
          </p:nvPr>
        </p:nvSpPr>
        <p:spPr>
          <a:xfrm>
            <a:off x="392112" y="748031"/>
            <a:ext cx="56031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Ejemplos de Funciones de Grupo</a:t>
            </a:r>
            <a:endParaRPr/>
          </a:p>
        </p:txBody>
      </p:sp>
      <p:sp>
        <p:nvSpPr>
          <p:cNvPr id="189" name="Google Shape;189;p25"/>
          <p:cNvSpPr txBox="1"/>
          <p:nvPr>
            <p:ph idx="10" type="dt"/>
          </p:nvPr>
        </p:nvSpPr>
        <p:spPr>
          <a:xfrm>
            <a:off x="2874191" y="6516395"/>
            <a:ext cx="9069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8-1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Funciones de Grupo</a:t>
            </a:r>
            <a:endParaRPr/>
          </a:p>
        </p:txBody>
      </p:sp>
      <p:sp>
        <p:nvSpPr>
          <p:cNvPr id="190" name="Google Shape;190;p25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91" name="Google Shape;191;p25"/>
          <p:cNvSpPr txBox="1"/>
          <p:nvPr>
            <p:ph idx="12" type="sldNum"/>
          </p:nvPr>
        </p:nvSpPr>
        <p:spPr>
          <a:xfrm>
            <a:off x="8601456" y="6589648"/>
            <a:ext cx="1860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9825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5"/>
          <p:cNvSpPr txBox="1"/>
          <p:nvPr/>
        </p:nvSpPr>
        <p:spPr>
          <a:xfrm>
            <a:off x="483552" y="1415417"/>
            <a:ext cx="7800975" cy="836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MAX: se utiliza con las columnas que almacenan  cualquier tipo de dato para devolver el valor máximo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3" name="Google Shape;193;p25"/>
          <p:cNvGraphicFramePr/>
          <p:nvPr/>
        </p:nvGraphicFramePr>
        <p:xfrm>
          <a:off x="398462" y="27130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{B28A7462-330E-4260-A9AC-7AA50086CA86}</a:tableStyleId>
              </a:tblPr>
              <a:tblGrid>
                <a:gridCol w="5857875"/>
                <a:gridCol w="2489200"/>
              </a:tblGrid>
              <a:tr h="396200">
                <a:tc>
                  <a:txBody>
                    <a:bodyPr/>
                    <a:lstStyle/>
                    <a:p>
                      <a:pPr indent="0" lvl="0" marL="104139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Ejemplos: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04139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resultado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1024075">
                <a:tc>
                  <a:txBody>
                    <a:bodyPr/>
                    <a:lstStyle/>
                    <a:p>
                      <a:pPr indent="0" lvl="0" marL="104139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SELECT MAX(life_expect_at_birth)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104139" marR="3807460" rtl="0" algn="l">
                        <a:lnSpc>
                          <a:spcPct val="116700"/>
                        </a:lnSpc>
                        <a:spcBef>
                          <a:spcPts val="7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 "Highest Life Exp"  FROM wf_countries;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04139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83,51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694900">
                <a:tc>
                  <a:txBody>
                    <a:bodyPr/>
                    <a:lstStyle/>
                    <a:p>
                      <a:pPr indent="0" lvl="0" marL="104139" marR="3095625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SELECT MAX(country_name)  FROM wf_countries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04139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Sáhara Occidental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694900">
                <a:tc>
                  <a:txBody>
                    <a:bodyPr/>
                    <a:lstStyle/>
                    <a:p>
                      <a:pPr indent="0" lvl="0" marL="104139" marR="3559175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SELECT MAX(hire_date)  FROM employees;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04139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29-Jan-2000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6"/>
          <p:cNvSpPr txBox="1"/>
          <p:nvPr>
            <p:ph type="title"/>
          </p:nvPr>
        </p:nvSpPr>
        <p:spPr>
          <a:xfrm>
            <a:off x="392112" y="748031"/>
            <a:ext cx="56031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Ejemplos de Funciones de Grupo</a:t>
            </a:r>
            <a:endParaRPr/>
          </a:p>
        </p:txBody>
      </p:sp>
      <p:sp>
        <p:nvSpPr>
          <p:cNvPr id="199" name="Google Shape;199;p26"/>
          <p:cNvSpPr txBox="1"/>
          <p:nvPr>
            <p:ph idx="10" type="dt"/>
          </p:nvPr>
        </p:nvSpPr>
        <p:spPr>
          <a:xfrm>
            <a:off x="2874191" y="6516395"/>
            <a:ext cx="9069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8-1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Funciones de Grupo</a:t>
            </a:r>
            <a:endParaRPr/>
          </a:p>
        </p:txBody>
      </p:sp>
      <p:sp>
        <p:nvSpPr>
          <p:cNvPr id="200" name="Google Shape;200;p26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01" name="Google Shape;201;p26"/>
          <p:cNvSpPr txBox="1"/>
          <p:nvPr>
            <p:ph idx="12" type="sldNum"/>
          </p:nvPr>
        </p:nvSpPr>
        <p:spPr>
          <a:xfrm>
            <a:off x="8601456" y="6589648"/>
            <a:ext cx="1860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9825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6"/>
          <p:cNvSpPr txBox="1"/>
          <p:nvPr/>
        </p:nvSpPr>
        <p:spPr>
          <a:xfrm>
            <a:off x="483552" y="1415417"/>
            <a:ext cx="7661275" cy="122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SUM: Se utiliza con las columnas que almacenan los  datos numéricos para buscar el total o la suma de  valores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3" name="Google Shape;203;p26"/>
          <p:cNvGraphicFramePr/>
          <p:nvPr/>
        </p:nvGraphicFramePr>
        <p:xfrm>
          <a:off x="398462" y="29213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{B28A7462-330E-4260-A9AC-7AA50086CA86}</a:tableStyleId>
              </a:tblPr>
              <a:tblGrid>
                <a:gridCol w="5857875"/>
                <a:gridCol w="2489200"/>
              </a:tblGrid>
              <a:tr h="396200">
                <a:tc>
                  <a:txBody>
                    <a:bodyPr/>
                    <a:lstStyle/>
                    <a:p>
                      <a:pPr indent="0" lvl="0" marL="104139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Ejemplos: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04139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resultado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1024075">
                <a:tc>
                  <a:txBody>
                    <a:bodyPr/>
                    <a:lstStyle/>
                    <a:p>
                      <a:pPr indent="0" lvl="0" marL="104139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SELECT SUM(area)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104139" marR="3608070" rtl="0" algn="l">
                        <a:lnSpc>
                          <a:spcPct val="116700"/>
                        </a:lnSpc>
                        <a:spcBef>
                          <a:spcPts val="7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FROM wf_countries  WHERE region_id = 29;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04139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241424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1024075">
                <a:tc>
                  <a:txBody>
                    <a:bodyPr/>
                    <a:lstStyle/>
                    <a:p>
                      <a:pPr indent="0" lvl="0" marL="104139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SELECT SUM(salary)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104139" marR="0" rtl="0" algn="l">
                        <a:lnSpc>
                          <a:spcPct val="100000"/>
                        </a:lnSpc>
                        <a:spcBef>
                          <a:spcPts val="43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FROM employees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104139" marR="0" rtl="0" algn="l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WHERE department_id = 90;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04139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58000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7"/>
          <p:cNvSpPr txBox="1"/>
          <p:nvPr>
            <p:ph type="title"/>
          </p:nvPr>
        </p:nvSpPr>
        <p:spPr>
          <a:xfrm>
            <a:off x="392112" y="748031"/>
            <a:ext cx="56031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Ejemplos de Funciones de Grupo</a:t>
            </a:r>
            <a:endParaRPr/>
          </a:p>
        </p:txBody>
      </p:sp>
      <p:sp>
        <p:nvSpPr>
          <p:cNvPr id="209" name="Google Shape;209;p27"/>
          <p:cNvSpPr txBox="1"/>
          <p:nvPr>
            <p:ph idx="10" type="dt"/>
          </p:nvPr>
        </p:nvSpPr>
        <p:spPr>
          <a:xfrm>
            <a:off x="2874191" y="6516395"/>
            <a:ext cx="9069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8-1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Funciones de Grupo</a:t>
            </a:r>
            <a:endParaRPr/>
          </a:p>
        </p:txBody>
      </p:sp>
      <p:sp>
        <p:nvSpPr>
          <p:cNvPr id="210" name="Google Shape;210;p27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11" name="Google Shape;211;p27"/>
          <p:cNvSpPr txBox="1"/>
          <p:nvPr>
            <p:ph idx="12" type="sldNum"/>
          </p:nvPr>
        </p:nvSpPr>
        <p:spPr>
          <a:xfrm>
            <a:off x="8601456" y="6589648"/>
            <a:ext cx="1860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9825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7"/>
          <p:cNvSpPr txBox="1"/>
          <p:nvPr/>
        </p:nvSpPr>
        <p:spPr>
          <a:xfrm>
            <a:off x="483552" y="1415417"/>
            <a:ext cx="7553325" cy="836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AVG: se utiliza con las columnas que almacenan los  datos numéricos para calcular la media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3" name="Google Shape;213;p27"/>
          <p:cNvGraphicFramePr/>
          <p:nvPr/>
        </p:nvGraphicFramePr>
        <p:xfrm>
          <a:off x="392255" y="241033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{B28A7462-330E-4260-A9AC-7AA50086CA86}</a:tableStyleId>
              </a:tblPr>
              <a:tblGrid>
                <a:gridCol w="5857875"/>
                <a:gridCol w="2489200"/>
              </a:tblGrid>
              <a:tr h="396200">
                <a:tc>
                  <a:txBody>
                    <a:bodyPr/>
                    <a:lstStyle/>
                    <a:p>
                      <a:pPr indent="0" lvl="0" marL="104139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Ejemplos: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04139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resultado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627850">
                <a:tc>
                  <a:txBody>
                    <a:bodyPr/>
                    <a:lstStyle/>
                    <a:p>
                      <a:pPr indent="0" lvl="0" marL="104139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SELECT SUM(area)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104139" marR="0" rtl="0" algn="l">
                        <a:lnSpc>
                          <a:spcPct val="100000"/>
                        </a:lnSpc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FROM wf_countries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30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04139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241424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30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1213050">
                <a:tc>
                  <a:txBody>
                    <a:bodyPr/>
                    <a:lstStyle/>
                    <a:p>
                      <a:pPr indent="0" lvl="0" marL="104139" marR="4065270" rtl="0" algn="l">
                        <a:lnSpc>
                          <a:spcPct val="14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SELECT SUM (salary)  FROM employees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104139" marR="0" rtl="0" algn="l">
                        <a:lnSpc>
                          <a:spcPct val="100000"/>
                        </a:lnSpc>
                        <a:spcBef>
                          <a:spcPts val="25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WHERE department_id = 90;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04139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58000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30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8"/>
          <p:cNvSpPr txBox="1"/>
          <p:nvPr>
            <p:ph type="title"/>
          </p:nvPr>
        </p:nvSpPr>
        <p:spPr>
          <a:xfrm>
            <a:off x="392112" y="748031"/>
            <a:ext cx="56031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Ejemplos de Funciones de Grupo</a:t>
            </a:r>
            <a:endParaRPr/>
          </a:p>
        </p:txBody>
      </p:sp>
      <p:sp>
        <p:nvSpPr>
          <p:cNvPr id="219" name="Google Shape;219;p28"/>
          <p:cNvSpPr txBox="1"/>
          <p:nvPr>
            <p:ph idx="10" type="dt"/>
          </p:nvPr>
        </p:nvSpPr>
        <p:spPr>
          <a:xfrm>
            <a:off x="2874191" y="6516395"/>
            <a:ext cx="9069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8-1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Funciones de Grupo</a:t>
            </a:r>
            <a:endParaRPr/>
          </a:p>
        </p:txBody>
      </p:sp>
      <p:sp>
        <p:nvSpPr>
          <p:cNvPr id="220" name="Google Shape;220;p28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21" name="Google Shape;221;p28"/>
          <p:cNvSpPr txBox="1"/>
          <p:nvPr>
            <p:ph idx="12" type="sldNum"/>
          </p:nvPr>
        </p:nvSpPr>
        <p:spPr>
          <a:xfrm>
            <a:off x="8601456" y="6589648"/>
            <a:ext cx="1860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9825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8"/>
          <p:cNvSpPr txBox="1"/>
          <p:nvPr/>
        </p:nvSpPr>
        <p:spPr>
          <a:xfrm>
            <a:off x="483552" y="1415417"/>
            <a:ext cx="7842250" cy="2090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VARIANCE: se utiliza con columnas que almacenan  datos numéricos para calcular la difusión de datos en  torno a la media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167005" rtl="0" algn="l">
              <a:lnSpc>
                <a:spcPct val="108214"/>
              </a:lnSpc>
              <a:spcBef>
                <a:spcPts val="78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STDDEV: similar a la varianza, la desviación estándar  mide la difusión de los datos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3" name="Google Shape;223;p28"/>
          <p:cNvGraphicFramePr/>
          <p:nvPr/>
        </p:nvGraphicFramePr>
        <p:xfrm>
          <a:off x="397671" y="375132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{B28A7462-330E-4260-A9AC-7AA50086CA86}</a:tableStyleId>
              </a:tblPr>
              <a:tblGrid>
                <a:gridCol w="5857875"/>
                <a:gridCol w="2489200"/>
              </a:tblGrid>
              <a:tr h="396200">
                <a:tc>
                  <a:txBody>
                    <a:bodyPr/>
                    <a:lstStyle/>
                    <a:p>
                      <a:pPr indent="0" lvl="0" marL="104139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Ejemplos: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04139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resultado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627850">
                <a:tc>
                  <a:txBody>
                    <a:bodyPr/>
                    <a:lstStyle/>
                    <a:p>
                      <a:pPr indent="0" lvl="0" marL="104139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SELECT SUM(area)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104139" marR="0" rtl="0" algn="l">
                        <a:lnSpc>
                          <a:spcPct val="100000"/>
                        </a:lnSpc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FROM wf_countries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30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04139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241424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30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1213050">
                <a:tc>
                  <a:txBody>
                    <a:bodyPr/>
                    <a:lstStyle/>
                    <a:p>
                      <a:pPr indent="0" lvl="0" marL="104139" marR="4065270" rtl="0" algn="l">
                        <a:lnSpc>
                          <a:spcPct val="14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SELECT SUM (salary)  FROM employees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104139" marR="0" rtl="0" algn="l">
                        <a:lnSpc>
                          <a:spcPct val="100000"/>
                        </a:lnSpc>
                        <a:spcBef>
                          <a:spcPts val="25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WHERE department_id = 90;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04139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58000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30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9"/>
          <p:cNvSpPr txBox="1"/>
          <p:nvPr/>
        </p:nvSpPr>
        <p:spPr>
          <a:xfrm>
            <a:off x="483552" y="1491489"/>
            <a:ext cx="1652270" cy="3627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457200" lvl="0" marL="469900" marR="5080" rtl="0" algn="just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Las func  ignoran  NULL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69900" marR="40640" rtl="0" algn="just">
              <a:lnSpc>
                <a:spcPct val="108214"/>
              </a:lnSpc>
              <a:spcBef>
                <a:spcPts val="78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el si  ejempl  nulos n  utilizad  valor co  medio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9"/>
          <p:cNvSpPr txBox="1"/>
          <p:nvPr>
            <p:ph type="title"/>
          </p:nvPr>
        </p:nvSpPr>
        <p:spPr>
          <a:xfrm>
            <a:off x="392112" y="748031"/>
            <a:ext cx="43395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Función de Grupo y NULL</a:t>
            </a:r>
            <a:endParaRPr/>
          </a:p>
        </p:txBody>
      </p:sp>
      <p:sp>
        <p:nvSpPr>
          <p:cNvPr id="230" name="Google Shape;230;p29"/>
          <p:cNvSpPr/>
          <p:nvPr/>
        </p:nvSpPr>
        <p:spPr>
          <a:xfrm>
            <a:off x="2061256" y="5748728"/>
            <a:ext cx="2517140" cy="0"/>
          </a:xfrm>
          <a:custGeom>
            <a:rect b="b" l="l" r="r" t="t"/>
            <a:pathLst>
              <a:path extrusionOk="0" h="120000" w="2517140">
                <a:moveTo>
                  <a:pt x="0" y="0"/>
                </a:moveTo>
                <a:lnTo>
                  <a:pt x="2517089" y="0"/>
                </a:lnTo>
              </a:path>
            </a:pathLst>
          </a:custGeom>
          <a:noFill/>
          <a:ln cap="flat" cmpd="sng" w="12700">
            <a:solidFill>
              <a:srgbClr val="D135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aphicFrame>
        <p:nvGraphicFramePr>
          <p:cNvPr id="231" name="Google Shape;231;p29"/>
          <p:cNvGraphicFramePr/>
          <p:nvPr/>
        </p:nvGraphicFramePr>
        <p:xfrm>
          <a:off x="5064350" y="141602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{B28A7462-330E-4260-A9AC-7AA50086CA86}</a:tableStyleId>
              </a:tblPr>
              <a:tblGrid>
                <a:gridCol w="1616700"/>
                <a:gridCol w="2051675"/>
              </a:tblGrid>
              <a:tr h="3592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LAST_NAME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0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COMMISSION_PCT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0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160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King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35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35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160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Kochhar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35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35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160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 Haan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35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35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160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Whalen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35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35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160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Higgins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35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35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160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Gietz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35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35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160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Zlotkey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35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.2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35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160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Abel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28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.3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28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160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Taylor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28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.2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28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160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Grant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28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.15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28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160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Mourgos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28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28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1600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28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28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</a:tbl>
          </a:graphicData>
        </a:graphic>
      </p:graphicFrame>
      <p:sp>
        <p:nvSpPr>
          <p:cNvPr id="232" name="Google Shape;232;p29"/>
          <p:cNvSpPr/>
          <p:nvPr/>
        </p:nvSpPr>
        <p:spPr>
          <a:xfrm>
            <a:off x="405384" y="5126735"/>
            <a:ext cx="4196080" cy="466725"/>
          </a:xfrm>
          <a:custGeom>
            <a:rect b="b" l="l" r="r" t="t"/>
            <a:pathLst>
              <a:path extrusionOk="0" h="466725" w="4196080">
                <a:moveTo>
                  <a:pt x="4195572" y="0"/>
                </a:moveTo>
                <a:lnTo>
                  <a:pt x="0" y="0"/>
                </a:lnTo>
                <a:lnTo>
                  <a:pt x="0" y="466344"/>
                </a:lnTo>
                <a:lnTo>
                  <a:pt x="4195572" y="466344"/>
                </a:lnTo>
                <a:lnTo>
                  <a:pt x="4195572" y="0"/>
                </a:lnTo>
                <a:close/>
              </a:path>
            </a:pathLst>
          </a:cu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3" name="Google Shape;233;p29"/>
          <p:cNvSpPr txBox="1"/>
          <p:nvPr/>
        </p:nvSpPr>
        <p:spPr>
          <a:xfrm>
            <a:off x="392112" y="5045592"/>
            <a:ext cx="166433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AVG(c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FROM employe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4" name="Google Shape;234;p29"/>
          <p:cNvSpPr txBox="1"/>
          <p:nvPr>
            <p:ph idx="10" type="dt"/>
          </p:nvPr>
        </p:nvSpPr>
        <p:spPr>
          <a:xfrm>
            <a:off x="2874191" y="6516395"/>
            <a:ext cx="9069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8-1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Funciones de Grupo</a:t>
            </a:r>
            <a:endParaRPr/>
          </a:p>
        </p:txBody>
      </p:sp>
      <p:sp>
        <p:nvSpPr>
          <p:cNvPr id="235" name="Google Shape;235;p29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36" name="Google Shape;236;p29"/>
          <p:cNvSpPr txBox="1"/>
          <p:nvPr>
            <p:ph idx="12" type="sldNum"/>
          </p:nvPr>
        </p:nvSpPr>
        <p:spPr>
          <a:xfrm>
            <a:off x="8601456" y="6589648"/>
            <a:ext cx="1860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9825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7" name="Google Shape;237;p29"/>
          <p:cNvGraphicFramePr/>
          <p:nvPr/>
        </p:nvGraphicFramePr>
        <p:xfrm>
          <a:off x="2061256" y="15247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{B28A7462-330E-4260-A9AC-7AA50086CA86}</a:tableStyleId>
              </a:tblPr>
              <a:tblGrid>
                <a:gridCol w="2505075"/>
              </a:tblGrid>
              <a:tr h="4608150">
                <a:tc>
                  <a:txBody>
                    <a:bodyPr/>
                    <a:lstStyle/>
                    <a:p>
                      <a:pPr indent="-6350" lvl="0" marL="61594" marR="291465" rtl="0" algn="l">
                        <a:lnSpc>
                          <a:spcPct val="1082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iones de grupo  los valores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4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9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141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guiente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752475" rtl="0" algn="l">
                        <a:lnSpc>
                          <a:spcPct val="108214"/>
                        </a:lnSpc>
                        <a:spcBef>
                          <a:spcPts val="2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o, los valores  o se han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1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 para buscar el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19685" marR="0" rtl="0" algn="l">
                        <a:lnSpc>
                          <a:spcPct val="1141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mmission_pct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61023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4E3629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ommission_pct)  es;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131445" marR="0" rtl="0" algn="l">
                        <a:lnSpc>
                          <a:spcPct val="100000"/>
                        </a:lnSpc>
                        <a:spcBef>
                          <a:spcPts val="158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AVG(COMMISSION_PCT)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R cap="flat" cmpd="sng" w="28575">
                      <a:solidFill>
                        <a:srgbClr val="DFE1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lvl="0" marL="1314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.2125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44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0"/>
          <p:cNvSpPr txBox="1"/>
          <p:nvPr>
            <p:ph type="title"/>
          </p:nvPr>
        </p:nvSpPr>
        <p:spPr>
          <a:xfrm>
            <a:off x="392112" y="748031"/>
            <a:ext cx="51417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Más de una Función de Grupo</a:t>
            </a:r>
            <a:endParaRPr/>
          </a:p>
        </p:txBody>
      </p:sp>
      <p:sp>
        <p:nvSpPr>
          <p:cNvPr id="243" name="Google Shape;243;p30"/>
          <p:cNvSpPr txBox="1"/>
          <p:nvPr>
            <p:ph idx="10" type="dt"/>
          </p:nvPr>
        </p:nvSpPr>
        <p:spPr>
          <a:xfrm>
            <a:off x="2874191" y="6516395"/>
            <a:ext cx="9069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8-1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Funciones de Grupo</a:t>
            </a:r>
            <a:endParaRPr/>
          </a:p>
        </p:txBody>
      </p:sp>
      <p:sp>
        <p:nvSpPr>
          <p:cNvPr id="244" name="Google Shape;244;p30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45" name="Google Shape;245;p30"/>
          <p:cNvSpPr txBox="1"/>
          <p:nvPr>
            <p:ph idx="12" type="sldNum"/>
          </p:nvPr>
        </p:nvSpPr>
        <p:spPr>
          <a:xfrm>
            <a:off x="8601456" y="6589648"/>
            <a:ext cx="1860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9825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30"/>
          <p:cNvSpPr txBox="1"/>
          <p:nvPr/>
        </p:nvSpPr>
        <p:spPr>
          <a:xfrm>
            <a:off x="483552" y="1415417"/>
            <a:ext cx="7832090" cy="122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Puede tener más de una función de grupo en la  cláusula SELECT, en la misma columna o en columnas  diferentes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7" name="Google Shape;247;p30"/>
          <p:cNvGraphicFramePr/>
          <p:nvPr/>
        </p:nvGraphicFramePr>
        <p:xfrm>
          <a:off x="1279159" y="424433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{B28A7462-330E-4260-A9AC-7AA50086CA86}</a:tableStyleId>
              </a:tblPr>
              <a:tblGrid>
                <a:gridCol w="2077075"/>
                <a:gridCol w="2077075"/>
                <a:gridCol w="2077075"/>
              </a:tblGrid>
              <a:tr h="4254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MAX(SALARY)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81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MIN(SALARY)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81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MIN(EMPLOYEE_ID)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81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35922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0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4200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0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1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103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0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</a:tbl>
          </a:graphicData>
        </a:graphic>
      </p:graphicFrame>
      <p:sp>
        <p:nvSpPr>
          <p:cNvPr id="248" name="Google Shape;248;p30"/>
          <p:cNvSpPr txBox="1"/>
          <p:nvPr/>
        </p:nvSpPr>
        <p:spPr>
          <a:xfrm>
            <a:off x="376427" y="2942844"/>
            <a:ext cx="8374380" cy="972819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46975">
            <a:spAutoFit/>
          </a:bodyPr>
          <a:lstStyle/>
          <a:p>
            <a:pPr indent="0" lvl="0" marL="0" marR="16783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MAX(salary), MIN(salary), MIN(employee_id)  FROM employees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WHERE department_id = 60;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1"/>
          <p:cNvSpPr txBox="1"/>
          <p:nvPr>
            <p:ph type="title"/>
          </p:nvPr>
        </p:nvSpPr>
        <p:spPr>
          <a:xfrm>
            <a:off x="392112" y="748031"/>
            <a:ext cx="54699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Reglas para Funciones de Grupo</a:t>
            </a:r>
            <a:endParaRPr/>
          </a:p>
        </p:txBody>
      </p:sp>
      <p:sp>
        <p:nvSpPr>
          <p:cNvPr id="254" name="Google Shape;254;p31"/>
          <p:cNvSpPr txBox="1"/>
          <p:nvPr/>
        </p:nvSpPr>
        <p:spPr>
          <a:xfrm>
            <a:off x="483552" y="1355371"/>
            <a:ext cx="7724775" cy="263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1750">
            <a:spAutoFit/>
          </a:bodyPr>
          <a:lstStyle/>
          <a:p>
            <a:pPr indent="-177800" lvl="0" marL="184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Las funciones de grupo ignoran los valores nulos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342265" rtl="0" algn="l">
              <a:lnSpc>
                <a:spcPct val="108214"/>
              </a:lnSpc>
              <a:spcBef>
                <a:spcPts val="844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Las funciones de grupo no se pueden utilizar en la  cláusula WHERE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5080" rtl="0" algn="l">
              <a:lnSpc>
                <a:spcPct val="108214"/>
              </a:lnSpc>
              <a:spcBef>
                <a:spcPts val="79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MIN, MAX y COUNT se pueden utilizar con cualquier  tipo de dato; SUM, AVG, STDDEV y VARIANCE se  pueden utilizar solo con tipos de dato numéricos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5" name="Google Shape;255;p31"/>
          <p:cNvGrpSpPr/>
          <p:nvPr/>
        </p:nvGrpSpPr>
        <p:grpSpPr>
          <a:xfrm>
            <a:off x="6121908" y="4125467"/>
            <a:ext cx="2432303" cy="1821180"/>
            <a:chOff x="6121908" y="4125467"/>
            <a:chExt cx="2432303" cy="1821180"/>
          </a:xfrm>
        </p:grpSpPr>
        <p:pic>
          <p:nvPicPr>
            <p:cNvPr id="256" name="Google Shape;256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21908" y="5390388"/>
              <a:ext cx="2432303" cy="5562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7" name="Google Shape;257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33616" y="4125467"/>
              <a:ext cx="1642871" cy="174345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8" name="Google Shape;258;p31"/>
          <p:cNvSpPr txBox="1"/>
          <p:nvPr>
            <p:ph idx="10" type="dt"/>
          </p:nvPr>
        </p:nvSpPr>
        <p:spPr>
          <a:xfrm>
            <a:off x="2874191" y="6516395"/>
            <a:ext cx="9069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8-1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Funciones de Grupo</a:t>
            </a:r>
            <a:endParaRPr/>
          </a:p>
        </p:txBody>
      </p:sp>
      <p:sp>
        <p:nvSpPr>
          <p:cNvPr id="259" name="Google Shape;259;p31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60" name="Google Shape;260;p31"/>
          <p:cNvSpPr txBox="1"/>
          <p:nvPr>
            <p:ph idx="12" type="sldNum"/>
          </p:nvPr>
        </p:nvSpPr>
        <p:spPr>
          <a:xfrm>
            <a:off x="8601456" y="6589648"/>
            <a:ext cx="1860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9825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2"/>
          <p:cNvSpPr txBox="1"/>
          <p:nvPr>
            <p:ph type="title"/>
          </p:nvPr>
        </p:nvSpPr>
        <p:spPr>
          <a:xfrm>
            <a:off x="392112" y="748031"/>
            <a:ext cx="22296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Terminología</a:t>
            </a:r>
            <a:endParaRPr/>
          </a:p>
        </p:txBody>
      </p:sp>
      <p:sp>
        <p:nvSpPr>
          <p:cNvPr id="266" name="Google Shape;266;p32"/>
          <p:cNvSpPr txBox="1"/>
          <p:nvPr>
            <p:ph idx="10" type="dt"/>
          </p:nvPr>
        </p:nvSpPr>
        <p:spPr>
          <a:xfrm>
            <a:off x="2874191" y="6516395"/>
            <a:ext cx="9069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8-1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Funciones de Grupo</a:t>
            </a:r>
            <a:endParaRPr/>
          </a:p>
        </p:txBody>
      </p:sp>
      <p:sp>
        <p:nvSpPr>
          <p:cNvPr id="267" name="Google Shape;267;p32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68" name="Google Shape;268;p32"/>
          <p:cNvSpPr txBox="1"/>
          <p:nvPr>
            <p:ph idx="12" type="sldNum"/>
          </p:nvPr>
        </p:nvSpPr>
        <p:spPr>
          <a:xfrm>
            <a:off x="8601456" y="6589648"/>
            <a:ext cx="1860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9825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32"/>
          <p:cNvSpPr txBox="1"/>
          <p:nvPr/>
        </p:nvSpPr>
        <p:spPr>
          <a:xfrm>
            <a:off x="483552" y="1415417"/>
            <a:ext cx="7702550" cy="3879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Entre los términos clave utilizados en esta lección se  incluyen: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AVG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COUNT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Funciones de grupo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MAX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MIN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STDDEV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SUM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VARIANCE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3"/>
          <p:cNvSpPr txBox="1"/>
          <p:nvPr>
            <p:ph type="title"/>
          </p:nvPr>
        </p:nvSpPr>
        <p:spPr>
          <a:xfrm>
            <a:off x="392112" y="748031"/>
            <a:ext cx="16020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Resumen</a:t>
            </a:r>
            <a:endParaRPr/>
          </a:p>
        </p:txBody>
      </p:sp>
      <p:sp>
        <p:nvSpPr>
          <p:cNvPr id="275" name="Google Shape;275;p33"/>
          <p:cNvSpPr txBox="1"/>
          <p:nvPr>
            <p:ph idx="10" type="dt"/>
          </p:nvPr>
        </p:nvSpPr>
        <p:spPr>
          <a:xfrm>
            <a:off x="2874191" y="6516395"/>
            <a:ext cx="9069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8-1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Funciones de Grupo</a:t>
            </a:r>
            <a:endParaRPr/>
          </a:p>
        </p:txBody>
      </p:sp>
      <p:sp>
        <p:nvSpPr>
          <p:cNvPr id="276" name="Google Shape;276;p33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77" name="Google Shape;277;p33"/>
          <p:cNvSpPr txBox="1"/>
          <p:nvPr>
            <p:ph idx="12" type="sldNum"/>
          </p:nvPr>
        </p:nvSpPr>
        <p:spPr>
          <a:xfrm>
            <a:off x="8601456" y="6589648"/>
            <a:ext cx="1860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9825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33"/>
          <p:cNvSpPr txBox="1"/>
          <p:nvPr/>
        </p:nvSpPr>
        <p:spPr>
          <a:xfrm>
            <a:off x="483552" y="1393401"/>
            <a:ext cx="7897495" cy="2604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177800" lvl="0" marL="184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esta lección, debe haber aprendido lo siguiente: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66675" rtl="0" algn="l">
              <a:lnSpc>
                <a:spcPct val="107916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Definir y proporcionar un ejemplo de las siete funciones de  grupo: SUM, AVG, COUNT, MIN, MAX, STDDEV y VARIANCE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659765" rtl="0" algn="l">
              <a:lnSpc>
                <a:spcPct val="107916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Crear y ejecutar una consulta SQL utilizando funciones  de grupo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5080" rtl="0" algn="l">
              <a:lnSpc>
                <a:spcPct val="107916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Crear y ejecutar funciones de grupo que solo funcionan con  tipos de dato numéricos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