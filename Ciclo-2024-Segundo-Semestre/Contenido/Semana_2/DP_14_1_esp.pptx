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4AEAC2-790A-4B57-8606-2A313761FCA3}">
  <a:tblStyle styleId="{3E4AEAC2-790A-4B57-8606-2A313761FCA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Los cinco tipos de RESTRICCIONES  son:</a:t>
            </a:r>
            <a:endParaRPr/>
          </a:p>
          <a:p>
            <a:pPr indent="0" lvl="0" marL="0" rtl="0" algn="l">
              <a:spcBef>
                <a:spcPts val="0"/>
              </a:spcBef>
              <a:spcAft>
                <a:spcPts val="0"/>
              </a:spcAft>
              <a:buNone/>
            </a:pPr>
            <a:r>
              <a:rPr lang="en-US"/>
              <a:t> Restricciones NOT NULL</a:t>
            </a:r>
            <a:endParaRPr/>
          </a:p>
          <a:p>
            <a:pPr indent="0" lvl="0" marL="0" rtl="0" algn="l">
              <a:spcBef>
                <a:spcPts val="0"/>
              </a:spcBef>
              <a:spcAft>
                <a:spcPts val="0"/>
              </a:spcAft>
              <a:buNone/>
            </a:pPr>
            <a:r>
              <a:rPr lang="en-US"/>
              <a:t> Restricciones UNIQUE</a:t>
            </a:r>
            <a:endParaRPr/>
          </a:p>
          <a:p>
            <a:pPr indent="0" lvl="0" marL="0" rtl="0" algn="l">
              <a:spcBef>
                <a:spcPts val="0"/>
              </a:spcBef>
              <a:spcAft>
                <a:spcPts val="0"/>
              </a:spcAft>
              <a:buNone/>
            </a:pPr>
            <a:r>
              <a:rPr lang="en-US"/>
              <a:t> Restricciones PRIMARY KEY</a:t>
            </a:r>
            <a:endParaRPr/>
          </a:p>
          <a:p>
            <a:pPr indent="0" lvl="0" marL="0" rtl="0" algn="l">
              <a:spcBef>
                <a:spcPts val="0"/>
              </a:spcBef>
              <a:spcAft>
                <a:spcPts val="0"/>
              </a:spcAft>
              <a:buNone/>
            </a:pPr>
            <a:r>
              <a:rPr lang="en-US"/>
              <a:t> Restricciones FOREIGN KEY</a:t>
            </a:r>
            <a:endParaRPr/>
          </a:p>
          <a:p>
            <a:pPr indent="0" lvl="0" marL="0" rtl="0" algn="l">
              <a:spcBef>
                <a:spcPts val="0"/>
              </a:spcBef>
              <a:spcAft>
                <a:spcPts val="0"/>
              </a:spcAft>
              <a:buNone/>
            </a:pPr>
            <a:r>
              <a:rPr lang="en-US"/>
              <a:t> Restricciones CHECK</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creación de restricciones de  clave primaria se tratará con más  detalle en la siguiente lección.</a:t>
            </a:r>
            <a:endParaRPr/>
          </a:p>
        </p:txBody>
      </p:sp>
      <p:sp>
        <p:nvSpPr>
          <p:cNvPr id="146" name="Google Shape;146;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creación de restricciones de  clave primaria se tratará con más  detalle en la siguiente lección.</a:t>
            </a:r>
            <a:endParaRPr/>
          </a:p>
        </p:txBody>
      </p:sp>
      <p:sp>
        <p:nvSpPr>
          <p:cNvPr id="156" name="Google Shape;156;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Una restricción que hace referencia  a dos columnas no se pueden  definir como parte de una  definición de columna. ¿Junto a  cuál de las dos definiciones de  columna la podríamos? No  puede ser ambas. El usuario  debe asignar el nombre a una  restricción de nivel de tabla, ya  que las restricciones de nivel  tabla deben incluir la palabra  clave CONSTRAINT.</a:t>
            </a:r>
            <a:endParaRPr/>
          </a:p>
          <a:p>
            <a:pPr indent="0" lvl="0" marL="0" rtl="0" algn="l">
              <a:spcBef>
                <a:spcPts val="0"/>
              </a:spcBef>
              <a:spcAft>
                <a:spcPts val="0"/>
              </a:spcAft>
              <a:buNone/>
            </a:pPr>
            <a:r>
              <a:rPr lang="en-US"/>
              <a:t>Las restricciones NOT NULL no se  pueden definir en el nivel de  tabla porque el estándar SQL  ANSI/ISO lo prohíbe.</a:t>
            </a:r>
            <a:endParaRPr/>
          </a:p>
        </p:txBody>
      </p:sp>
      <p:sp>
        <p:nvSpPr>
          <p:cNvPr id="231" name="Google Shape;23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respuestas están en la siguiente  diapositiva.</a:t>
            </a:r>
            <a:endParaRPr/>
          </a:p>
        </p:txBody>
      </p:sp>
      <p:sp>
        <p:nvSpPr>
          <p:cNvPr id="240" name="Google Shape;240;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14:08:29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ventaja de las restricciones de  nomenclatura con una  convención se muestra aquí. El  nombre de la restricción violada  se muestra como un mensaje de  error, que le indica al usuario  cuál       es       el       problema.   Si no se ha asignado un nombre  a la restricción, se mostrará el  nombre generado por el sistema,   con lo que es mucho más difícil  para el usuario resolver el  problema.</a:t>
            </a:r>
            <a:endParaRPr/>
          </a:p>
        </p:txBody>
      </p:sp>
      <p:sp>
        <p:nvSpPr>
          <p:cNvPr id="335" name="Google Shape;335;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958315" y="862895"/>
            <a:ext cx="7227300" cy="1342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48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164800" cy="2858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449092"/>
            <a:ext cx="1543200" cy="36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mailto:hpeters@yahoo.com" TargetMode="External"/><Relationship Id="rId4" Type="http://schemas.openxmlformats.org/officeDocument/2006/relationships/hyperlink" Target="mailto:serena.jones@jones.com" TargetMode="External"/><Relationship Id="rId5" Type="http://schemas.openxmlformats.org/officeDocument/2006/relationships/hyperlink" Target="mailto:lbv@lbv.ne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hyperlink" Target="mailto:hpeters@yahoo.com" TargetMode="External"/><Relationship Id="rId4" Type="http://schemas.openxmlformats.org/officeDocument/2006/relationships/hyperlink" Target="mailto:serena.jones@jones.com" TargetMode="External"/><Relationship Id="rId5" Type="http://schemas.openxmlformats.org/officeDocument/2006/relationships/hyperlink" Target="mailto:lbv@lbv.net" TargetMode="External"/><Relationship Id="rId6" Type="http://schemas.openxmlformats.org/officeDocument/2006/relationships/hyperlink" Target="mailto:lbv@lbv.ne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hyperlink" Target="mailto:hpeters@yahoo.com" TargetMode="External"/><Relationship Id="rId4" Type="http://schemas.openxmlformats.org/officeDocument/2006/relationships/hyperlink" Target="mailto:serena.jones@jones.com" TargetMode="External"/><Relationship Id="rId5" Type="http://schemas.openxmlformats.org/officeDocument/2006/relationships/hyperlink" Target="mailto:lbv@lbv.net" TargetMode="External"/><Relationship Id="rId6" Type="http://schemas.openxmlformats.org/officeDocument/2006/relationships/hyperlink" Target="mailto:lbv@lbv.n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2273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a:t>Database Programming with  SQL</a:t>
            </a:r>
            <a:endParaRPr/>
          </a:p>
        </p:txBody>
      </p:sp>
      <p:sp>
        <p:nvSpPr>
          <p:cNvPr id="66" name="Google Shape;66;p14"/>
          <p:cNvSpPr txBox="1"/>
          <p:nvPr/>
        </p:nvSpPr>
        <p:spPr>
          <a:xfrm>
            <a:off x="962879" y="2400950"/>
            <a:ext cx="4349115" cy="121729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14-1</a:t>
            </a:r>
            <a:endParaRPr sz="2400">
              <a:latin typeface="Calibri"/>
              <a:ea typeface="Calibri"/>
              <a:cs typeface="Calibri"/>
              <a:sym typeface="Calibri"/>
            </a:endParaRPr>
          </a:p>
          <a:p>
            <a:pPr indent="0" lvl="0" marL="12700" marR="5080" rtl="0" algn="l">
              <a:lnSpc>
                <a:spcPct val="107916"/>
              </a:lnSpc>
              <a:spcBef>
                <a:spcPts val="845"/>
              </a:spcBef>
              <a:spcAft>
                <a:spcPts val="0"/>
              </a:spcAft>
              <a:buNone/>
            </a:pPr>
            <a:r>
              <a:rPr b="1" lang="en-US" sz="2400">
                <a:solidFill>
                  <a:srgbClr val="4E3629"/>
                </a:solidFill>
                <a:latin typeface="Calibri"/>
                <a:ea typeface="Calibri"/>
                <a:cs typeface="Calibri"/>
                <a:sym typeface="Calibri"/>
              </a:rPr>
              <a:t>Introducción a las Restricciones;  Restricciones NOT NULL y UNIQUE</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686555"/>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73" name="Google Shape;73;p15"/>
          <p:cNvSpPr txBox="1"/>
          <p:nvPr/>
        </p:nvSpPr>
        <p:spPr>
          <a:xfrm>
            <a:off x="483552" y="1393401"/>
            <a:ext cx="7525384" cy="364426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861694"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el término "restricción" relacionado con el  modelado de datos</a:t>
            </a:r>
            <a:endParaRPr sz="2400">
              <a:latin typeface="Calibri"/>
              <a:ea typeface="Calibri"/>
              <a:cs typeface="Calibri"/>
              <a:sym typeface="Calibri"/>
            </a:endParaRPr>
          </a:p>
          <a:p>
            <a:pPr indent="-175260" lvl="0" marL="530860" marR="432434"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Establecer cuándo es posible definir una restricción a  nivel de columna y cuándo es posible a nivel de tabla</a:t>
            </a:r>
            <a:endParaRPr sz="2400">
              <a:latin typeface="Calibri"/>
              <a:ea typeface="Calibri"/>
              <a:cs typeface="Calibri"/>
              <a:sym typeface="Calibri"/>
            </a:endParaRPr>
          </a:p>
          <a:p>
            <a:pPr indent="-175260" lvl="0" marL="530860" marR="4622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por qué es importante proporcionar nombres  significativos a las restricciones</a:t>
            </a:r>
            <a:endParaRPr sz="2400">
              <a:latin typeface="Calibri"/>
              <a:ea typeface="Calibri"/>
              <a:cs typeface="Calibri"/>
              <a:sym typeface="Calibri"/>
            </a:endParaRPr>
          </a:p>
          <a:p>
            <a:pPr indent="-175260" lvl="0" marL="530860" marR="293497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qué reglas de integridad  de datos aplican las restricciones  NOT NULL y UNIQUE</a:t>
            </a:r>
            <a:endParaRPr sz="2400">
              <a:latin typeface="Calibri"/>
              <a:ea typeface="Calibri"/>
              <a:cs typeface="Calibri"/>
              <a:sym typeface="Calibri"/>
            </a:endParaRPr>
          </a:p>
        </p:txBody>
      </p:sp>
      <p:grpSp>
        <p:nvGrpSpPr>
          <p:cNvPr id="74" name="Google Shape;74;p15"/>
          <p:cNvGrpSpPr/>
          <p:nvPr/>
        </p:nvGrpSpPr>
        <p:grpSpPr>
          <a:xfrm>
            <a:off x="5030736" y="3732276"/>
            <a:ext cx="3337546" cy="2638043"/>
            <a:chOff x="5030736" y="3732276"/>
            <a:chExt cx="3337546" cy="2638043"/>
          </a:xfrm>
        </p:grpSpPr>
        <p:pic>
          <p:nvPicPr>
            <p:cNvPr id="75" name="Google Shape;75;p15"/>
            <p:cNvPicPr preferRelativeResize="0"/>
            <p:nvPr/>
          </p:nvPicPr>
          <p:blipFill rotWithShape="1">
            <a:blip r:embed="rId3">
              <a:alphaModFix/>
            </a:blip>
            <a:srcRect b="0" l="0" r="0" t="0"/>
            <a:stretch/>
          </p:blipFill>
          <p:spPr>
            <a:xfrm>
              <a:off x="5030736" y="3732276"/>
              <a:ext cx="3337546"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222748" y="3924300"/>
              <a:ext cx="2953511" cy="2253995"/>
            </a:xfrm>
            <a:prstGeom prst="rect">
              <a:avLst/>
            </a:prstGeom>
            <a:noFill/>
            <a:ln>
              <a:noFill/>
            </a:ln>
          </p:spPr>
        </p:pic>
      </p:grpSp>
      <p:sp>
        <p:nvSpPr>
          <p:cNvPr id="77" name="Google Shape;77;p15"/>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78" name="Google Shape;78;p1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85" name="Google Shape;85;p16"/>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86" name="Google Shape;86;p1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93401"/>
            <a:ext cx="7525384" cy="222567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6019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una sentencia CREATE TABLE que incluya las  restricciones NOT NULL y UNIQUE en los niveles de  tabla y columna</a:t>
            </a:r>
            <a:endParaRPr sz="2400">
              <a:latin typeface="Calibri"/>
              <a:ea typeface="Calibri"/>
              <a:cs typeface="Calibri"/>
              <a:sym typeface="Calibri"/>
            </a:endParaRPr>
          </a:p>
          <a:p>
            <a:pPr indent="-175260" lvl="0" marL="530860" marR="30861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cómo crear restricciones en el momento de la  creación de la tabla</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94" name="Google Shape;94;p17"/>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95" name="Google Shape;95;p1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365735"/>
            <a:ext cx="7977505" cy="4541520"/>
          </a:xfrm>
          <a:prstGeom prst="rect">
            <a:avLst/>
          </a:prstGeom>
          <a:noFill/>
          <a:ln>
            <a:noFill/>
          </a:ln>
        </p:spPr>
        <p:txBody>
          <a:bodyPr anchorCtr="0" anchor="t" bIns="0" lIns="0" spcFirstLastPara="1" rIns="0" wrap="square" tIns="35550">
            <a:spAutoFit/>
          </a:bodyPr>
          <a:lstStyle/>
          <a:p>
            <a:pPr indent="-172720" lvl="0" marL="184785" marR="0" rtl="0" algn="l">
              <a:lnSpc>
                <a:spcPct val="10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lo piensa, ¿cómo funcionaría la sociedad sin reglas?</a:t>
            </a:r>
            <a:endParaRPr sz="2600">
              <a:latin typeface="Calibri"/>
              <a:ea typeface="Calibri"/>
              <a:cs typeface="Calibri"/>
              <a:sym typeface="Calibri"/>
            </a:endParaRPr>
          </a:p>
          <a:p>
            <a:pPr indent="-172720" lvl="0" marL="184785" marR="0" rtl="0" algn="l">
              <a:lnSpc>
                <a:spcPct val="100000"/>
              </a:lnSpc>
              <a:spcBef>
                <a:spcPts val="1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Es una regla parar en un semáforo en rojo</a:t>
            </a:r>
            <a:endParaRPr sz="2600">
              <a:latin typeface="Calibri"/>
              <a:ea typeface="Calibri"/>
              <a:cs typeface="Calibri"/>
              <a:sym typeface="Calibri"/>
            </a:endParaRPr>
          </a:p>
          <a:p>
            <a:pPr indent="-172720" lvl="0" marL="184785" marR="0" rtl="0" algn="l">
              <a:lnSpc>
                <a:spcPct val="100000"/>
              </a:lnSpc>
              <a:spcBef>
                <a:spcPts val="16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¿Sería seguro conducir sin esta regla?</a:t>
            </a:r>
            <a:endParaRPr sz="2600">
              <a:latin typeface="Calibri"/>
              <a:ea typeface="Calibri"/>
              <a:cs typeface="Calibri"/>
              <a:sym typeface="Calibri"/>
            </a:endParaRPr>
          </a:p>
          <a:p>
            <a:pPr indent="-172720" lvl="0" marL="184785" marR="419734"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caso de las bases de datos, es una regla que no se  puede introducir un valor de clave ajena sin primero  introducir un valor de clave primaria</a:t>
            </a:r>
            <a:endParaRPr sz="2600">
              <a:latin typeface="Calibri"/>
              <a:ea typeface="Calibri"/>
              <a:cs typeface="Calibri"/>
              <a:sym typeface="Calibri"/>
            </a:endParaRPr>
          </a:p>
          <a:p>
            <a:pPr indent="-172720" lvl="0" marL="184785" marR="508634"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¿Qué cree que le sucedería a una base de datos si esta  regla no se aplicara?</a:t>
            </a:r>
            <a:endParaRPr sz="2600">
              <a:latin typeface="Calibri"/>
              <a:ea typeface="Calibri"/>
              <a:cs typeface="Calibri"/>
              <a:sym typeface="Calibri"/>
            </a:endParaRPr>
          </a:p>
          <a:p>
            <a:pPr indent="-172720" lvl="0" marL="184785" marR="18415"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base de datos solo es tan fiable como lo son los datos  que tiene</a:t>
            </a:r>
            <a:endParaRPr sz="2600">
              <a:latin typeface="Calibri"/>
              <a:ea typeface="Calibri"/>
              <a:cs typeface="Calibri"/>
              <a:sym typeface="Calibri"/>
            </a:endParaRPr>
          </a:p>
          <a:p>
            <a:pPr indent="-172720" lvl="0" marL="184785" marR="5080" rtl="0" algn="l">
              <a:lnSpc>
                <a:spcPct val="96153"/>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Las restricciones se utilizan para evitar la entrada de datos  no válidos en las tablas</a:t>
            </a:r>
            <a:endParaRPr sz="2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103" name="Google Shape;103;p18"/>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04" name="Google Shape;104;p1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8161655" cy="3829050"/>
          </a:xfrm>
          <a:prstGeom prst="rect">
            <a:avLst/>
          </a:prstGeom>
          <a:noFill/>
          <a:ln>
            <a:noFill/>
          </a:ln>
        </p:spPr>
        <p:txBody>
          <a:bodyPr anchorCtr="0" anchor="t" bIns="0" lIns="0" spcFirstLastPara="1" rIns="0" wrap="square" tIns="59675">
            <a:spAutoFit/>
          </a:bodyPr>
          <a:lstStyle/>
          <a:p>
            <a:pPr indent="-177800" lvl="0" marL="184785" marR="1555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¿Tendría sentido tener valores de salario negativos,  seis alumnos con el mismo identificador de alumno o  dos tablas que ya no hacen referencia la una a la otra?</a:t>
            </a:r>
            <a:endParaRPr sz="2800">
              <a:latin typeface="Calibri"/>
              <a:ea typeface="Calibri"/>
              <a:cs typeface="Calibri"/>
              <a:sym typeface="Calibri"/>
            </a:endParaRPr>
          </a:p>
          <a:p>
            <a:pPr indent="-177800" lvl="0" marL="184785" marR="38163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reglas, ¿cómo podría confía en la integridad de la  base de datos?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las tres próximas lecciones, estudiará cómo crear las  restricciones que fuerzan las "reglas"</a:t>
            </a:r>
            <a:endParaRPr sz="2800">
              <a:latin typeface="Calibri"/>
              <a:ea typeface="Calibri"/>
              <a:cs typeface="Calibri"/>
              <a:sym typeface="Calibri"/>
            </a:endParaRPr>
          </a:p>
          <a:p>
            <a:pPr indent="-177800" lvl="0" marL="184785" marR="10541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aprenderá cómo gestionarlas y ver las  definiciones de restricciones en el diccionario de datos</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421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en General</a:t>
            </a:r>
            <a:endParaRPr sz="3300"/>
          </a:p>
        </p:txBody>
      </p:sp>
      <p:sp>
        <p:nvSpPr>
          <p:cNvPr id="112" name="Google Shape;112;p19"/>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13" name="Google Shape;113;p1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355371"/>
            <a:ext cx="8165465" cy="3991610"/>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¿qué es exactamente una restricción?</a:t>
            </a:r>
            <a:endParaRPr sz="2800">
              <a:latin typeface="Calibri"/>
              <a:ea typeface="Calibri"/>
              <a:cs typeface="Calibri"/>
              <a:sym typeface="Calibri"/>
            </a:endParaRPr>
          </a:p>
          <a:p>
            <a:pPr indent="-177800" lvl="0" marL="184785" marR="40957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Piense en las restricciones como reglas de la base de  datos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Todas las definiciones de restricciones se almacenan en  el diccionario de datos</a:t>
            </a:r>
            <a:endParaRPr sz="2800">
              <a:latin typeface="Calibri"/>
              <a:ea typeface="Calibri"/>
              <a:cs typeface="Calibri"/>
              <a:sym typeface="Calibri"/>
            </a:endParaRPr>
          </a:p>
          <a:p>
            <a:pPr indent="-177800" lvl="0" marL="184785" marR="52069"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evitan la supresión de una tabla si hay  dependencias de otras tablas</a:t>
            </a:r>
            <a:endParaRPr sz="2800">
              <a:latin typeface="Calibri"/>
              <a:ea typeface="Calibri"/>
              <a:cs typeface="Calibri"/>
              <a:sym typeface="Calibri"/>
            </a:endParaRPr>
          </a:p>
          <a:p>
            <a:pPr indent="-177800" lvl="0" marL="184785" marR="40259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aplican reglas a los datos cuando se  inserta, actualiza o suprime una fila de la tabla</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92112" y="748031"/>
            <a:ext cx="4213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en General</a:t>
            </a:r>
            <a:endParaRPr sz="3300"/>
          </a:p>
        </p:txBody>
      </p:sp>
      <p:sp>
        <p:nvSpPr>
          <p:cNvPr id="121" name="Google Shape;121;p20"/>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22" name="Google Shape;122;p2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3" name="Google Shape;123;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4" name="Google Shape;124;p20"/>
          <p:cNvSpPr txBox="1"/>
          <p:nvPr/>
        </p:nvSpPr>
        <p:spPr>
          <a:xfrm>
            <a:off x="483552" y="1415417"/>
            <a:ext cx="8173720" cy="2474595"/>
          </a:xfrm>
          <a:prstGeom prst="rect">
            <a:avLst/>
          </a:prstGeom>
          <a:noFill/>
          <a:ln>
            <a:noFill/>
          </a:ln>
        </p:spPr>
        <p:txBody>
          <a:bodyPr anchorCtr="0" anchor="t" bIns="0" lIns="0" spcFirstLastPara="1" rIns="0" wrap="square" tIns="59675">
            <a:spAutoFit/>
          </a:bodyPr>
          <a:lstStyle/>
          <a:p>
            <a:pPr indent="-177800" lvl="0" marL="184785" marR="9639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son importantes y asignarles un  nombre también es importante</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Aunque puede asignar a una restricción el nombre  "constraint_1" o "constraint_2", pronto le resultará  difícil distinguirlas entre sí y acabará rehaciendo mucho  trabajo</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92112" y="748031"/>
            <a:ext cx="4366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Creación de Restricciones</a:t>
            </a:r>
            <a:endParaRPr sz="3300"/>
          </a:p>
        </p:txBody>
      </p:sp>
      <p:sp>
        <p:nvSpPr>
          <p:cNvPr id="130" name="Google Shape;130;p21"/>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31" name="Google Shape;131;p2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2" name="Google Shape;132;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3" name="Google Shape;133;p21"/>
          <p:cNvSpPr txBox="1"/>
          <p:nvPr/>
        </p:nvSpPr>
        <p:spPr>
          <a:xfrm>
            <a:off x="483552" y="1355371"/>
            <a:ext cx="8128634" cy="4598035"/>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la sintaxis SQL para crear una tabla</a:t>
            </a:r>
            <a:endParaRPr sz="2800">
              <a:latin typeface="Calibri"/>
              <a:ea typeface="Calibri"/>
              <a:cs typeface="Calibri"/>
              <a:sym typeface="Calibri"/>
            </a:endParaRPr>
          </a:p>
          <a:p>
            <a:pPr indent="-177800" lvl="0" marL="184785" marR="64769"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sentencia CREATE TABLE mostrada en la siguiente  diapositiva, se define cada columna y su tipo de dato</a:t>
            </a:r>
            <a:endParaRPr sz="2800">
              <a:latin typeface="Calibri"/>
              <a:ea typeface="Calibri"/>
              <a:cs typeface="Calibri"/>
              <a:sym typeface="Calibri"/>
            </a:endParaRPr>
          </a:p>
          <a:p>
            <a:pPr indent="-177800" lvl="0" marL="184785" marR="82232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la sentencia CREATE TABLE para establecer  restricciones para cada columna de la tabla</a:t>
            </a:r>
            <a:endParaRPr sz="2800">
              <a:latin typeface="Calibri"/>
              <a:ea typeface="Calibri"/>
              <a:cs typeface="Calibri"/>
              <a:sym typeface="Calibri"/>
            </a:endParaRPr>
          </a:p>
          <a:p>
            <a:pPr indent="-177800" lvl="0" marL="184785" marR="8763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Hay dos ubicaciones diferentes en la sentencia CREATE  TABLE en los que puede especificar los detalles de la  restricción:</a:t>
            </a:r>
            <a:endParaRPr sz="2800">
              <a:latin typeface="Calibri"/>
              <a:ea typeface="Calibri"/>
              <a:cs typeface="Calibri"/>
              <a:sym typeface="Calibri"/>
            </a:endParaRPr>
          </a:p>
          <a:p>
            <a:pPr indent="0" lvl="0" marL="355600" marR="0" rtl="0" algn="l">
              <a:lnSpc>
                <a:spcPct val="100000"/>
              </a:lnSpc>
              <a:spcBef>
                <a:spcPts val="9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 el nivel de columna situado junto al nombre y tipo de dato</a:t>
            </a:r>
            <a:endParaRPr sz="2400">
              <a:latin typeface="Calibri"/>
              <a:ea typeface="Calibri"/>
              <a:cs typeface="Calibri"/>
              <a:sym typeface="Calibri"/>
            </a:endParaRPr>
          </a:p>
          <a:p>
            <a:pPr indent="-175260" lvl="0" marL="530860" marR="944244"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 el nivel de tabla una vez que se muestran todos los  nombres de columna</a:t>
            </a:r>
            <a:endParaRPr sz="24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92112" y="748031"/>
            <a:ext cx="4366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Creación de Restricciones</a:t>
            </a:r>
            <a:endParaRPr sz="3300"/>
          </a:p>
        </p:txBody>
      </p:sp>
      <p:sp>
        <p:nvSpPr>
          <p:cNvPr id="139" name="Google Shape;139;p22"/>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40" name="Google Shape;140;p2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1" name="Google Shape;141;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2" name="Google Shape;142;p22"/>
          <p:cNvSpPr txBox="1"/>
          <p:nvPr/>
        </p:nvSpPr>
        <p:spPr>
          <a:xfrm>
            <a:off x="483552" y="2712341"/>
            <a:ext cx="8006715" cy="24745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el nivel de columna simplemente  se refiere al área de la sentencia CREATE TABLE en el  que las columnas están definidas</a:t>
            </a:r>
            <a:endParaRPr sz="2800">
              <a:latin typeface="Calibri"/>
              <a:ea typeface="Calibri"/>
              <a:cs typeface="Calibri"/>
              <a:sym typeface="Calibri"/>
            </a:endParaRPr>
          </a:p>
          <a:p>
            <a:pPr indent="-177800" lvl="0" marL="184150" marR="89281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nivel de tabla hace referencia a la última línea  de la sentencia debajo de la lista de nombres de  columna individuales</a:t>
            </a:r>
            <a:endParaRPr sz="2800">
              <a:latin typeface="Calibri"/>
              <a:ea typeface="Calibri"/>
              <a:cs typeface="Calibri"/>
              <a:sym typeface="Calibri"/>
            </a:endParaRPr>
          </a:p>
        </p:txBody>
      </p:sp>
      <p:sp>
        <p:nvSpPr>
          <p:cNvPr id="143" name="Google Shape;143;p22"/>
          <p:cNvSpPr txBox="1"/>
          <p:nvPr/>
        </p:nvSpPr>
        <p:spPr>
          <a:xfrm>
            <a:off x="405384" y="1447800"/>
            <a:ext cx="8345805" cy="1176655"/>
          </a:xfrm>
          <a:prstGeom prst="rect">
            <a:avLst/>
          </a:prstGeom>
          <a:solidFill>
            <a:srgbClr val="9DBDC4">
              <a:alpha val="49804"/>
            </a:srgbClr>
          </a:solidFill>
          <a:ln>
            <a:noFill/>
          </a:ln>
        </p:spPr>
        <p:txBody>
          <a:bodyPr anchorCtr="0" anchor="t" bIns="0" lIns="0" spcFirstLastPara="1" rIns="0" wrap="square" tIns="12050">
            <a:spAutoFit/>
          </a:bodyPr>
          <a:lstStyle/>
          <a:p>
            <a:pPr indent="0" lvl="0" marL="0" marR="49244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clients  (client_number NUMBER(4),</a:t>
            </a:r>
            <a:endParaRPr sz="1800">
              <a:latin typeface="Courier New"/>
              <a:ea typeface="Courier New"/>
              <a:cs typeface="Courier New"/>
              <a:sym typeface="Courier New"/>
            </a:endParaRPr>
          </a:p>
          <a:p>
            <a:pPr indent="0" lvl="0" marL="136525" marR="39687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VARCHAR2(14),  last_name	VARCHAR2(13));</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92112" y="748031"/>
            <a:ext cx="6271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en el Nivel de Columna</a:t>
            </a:r>
            <a:endParaRPr sz="3300"/>
          </a:p>
        </p:txBody>
      </p:sp>
      <p:sp>
        <p:nvSpPr>
          <p:cNvPr id="149" name="Google Shape;149;p23"/>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50" name="Google Shape;150;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1" name="Google Shape;151;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2" name="Google Shape;152;p23"/>
          <p:cNvSpPr txBox="1"/>
          <p:nvPr/>
        </p:nvSpPr>
        <p:spPr>
          <a:xfrm>
            <a:off x="483552" y="1415417"/>
            <a:ext cx="8018780" cy="2960370"/>
          </a:xfrm>
          <a:prstGeom prst="rect">
            <a:avLst/>
          </a:prstGeom>
          <a:noFill/>
          <a:ln>
            <a:noFill/>
          </a:ln>
        </p:spPr>
        <p:txBody>
          <a:bodyPr anchorCtr="0" anchor="t" bIns="0" lIns="0" spcFirstLastPara="1" rIns="0" wrap="square" tIns="59675">
            <a:spAutoFit/>
          </a:bodyPr>
          <a:lstStyle/>
          <a:p>
            <a:pPr indent="-177800" lvl="0" marL="184785" marR="1219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de nivel de columna hace referencia a  una única columna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establecer una restricción de nivel de columna, la  restricción se debe definir en la sentencia CREATE  TABLE como parte de la definición de columna</a:t>
            </a:r>
            <a:endParaRPr sz="2800">
              <a:latin typeface="Calibri"/>
              <a:ea typeface="Calibri"/>
              <a:cs typeface="Calibri"/>
              <a:sym typeface="Calibri"/>
            </a:endParaRPr>
          </a:p>
          <a:p>
            <a:pPr indent="-177800" lvl="0" marL="184785" marR="9017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Examine la siguiente sentencia SQL que establece una  restricción de nivel de columna</a:t>
            </a:r>
            <a:endParaRPr sz="2800">
              <a:latin typeface="Calibri"/>
              <a:ea typeface="Calibri"/>
              <a:cs typeface="Calibri"/>
              <a:sym typeface="Calibri"/>
            </a:endParaRPr>
          </a:p>
        </p:txBody>
      </p:sp>
      <p:sp>
        <p:nvSpPr>
          <p:cNvPr id="153" name="Google Shape;153;p23"/>
          <p:cNvSpPr txBox="1"/>
          <p:nvPr/>
        </p:nvSpPr>
        <p:spPr>
          <a:xfrm>
            <a:off x="417576" y="4495800"/>
            <a:ext cx="8345805" cy="132778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8333"/>
              </a:lnSpc>
              <a:spcBef>
                <a:spcPts val="0"/>
              </a:spcBef>
              <a:spcAft>
                <a:spcPts val="0"/>
              </a:spcAft>
              <a:buNone/>
            </a:pPr>
            <a:r>
              <a:rPr b="1" lang="en-US" sz="1800">
                <a:solidFill>
                  <a:srgbClr val="4E3629"/>
                </a:solidFill>
                <a:latin typeface="Courier New"/>
                <a:ea typeface="Courier New"/>
                <a:cs typeface="Courier New"/>
                <a:sym typeface="Courier New"/>
              </a:rPr>
              <a:t>CREATE TABLE clients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(client_number NUMBER(4) </a:t>
            </a:r>
            <a:r>
              <a:rPr b="1" lang="en-US" sz="1800">
                <a:solidFill>
                  <a:srgbClr val="D1350F"/>
                </a:solidFill>
                <a:latin typeface="Courier New"/>
                <a:ea typeface="Courier New"/>
                <a:cs typeface="Courier New"/>
                <a:sym typeface="Courier New"/>
              </a:rPr>
              <a:t>CONSTRAINT clients_client_num_pk</a:t>
            </a:r>
            <a:endParaRPr sz="1800">
              <a:latin typeface="Courier New"/>
              <a:ea typeface="Courier New"/>
              <a:cs typeface="Courier New"/>
              <a:sym typeface="Courier New"/>
            </a:endParaRPr>
          </a:p>
          <a:p>
            <a:pPr indent="0" lvl="0" marL="6400165"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PRIMARY KEY,</a:t>
            </a:r>
            <a:endParaRPr sz="1800">
              <a:latin typeface="Courier New"/>
              <a:ea typeface="Courier New"/>
              <a:cs typeface="Courier New"/>
              <a:sym typeface="Courier New"/>
            </a:endParaRPr>
          </a:p>
          <a:p>
            <a:pPr indent="0" lvl="0" marL="136525" marR="39681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VARCHAR2(14),  last_name	VARCHAR2(13));</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92112" y="748031"/>
            <a:ext cx="6271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en el Nivel de Columna</a:t>
            </a:r>
            <a:endParaRPr sz="3300"/>
          </a:p>
        </p:txBody>
      </p:sp>
      <p:sp>
        <p:nvSpPr>
          <p:cNvPr id="159" name="Google Shape;159;p24"/>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60" name="Google Shape;160;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1" name="Google Shape;161;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2" name="Google Shape;162;p24"/>
          <p:cNvSpPr txBox="1"/>
          <p:nvPr/>
        </p:nvSpPr>
        <p:spPr>
          <a:xfrm>
            <a:off x="483552" y="1415417"/>
            <a:ext cx="3328670"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CREATE TABLE clients:</a:t>
            </a:r>
            <a:endParaRPr sz="2800">
              <a:latin typeface="Calibri"/>
              <a:ea typeface="Calibri"/>
              <a:cs typeface="Calibri"/>
              <a:sym typeface="Calibri"/>
            </a:endParaRPr>
          </a:p>
        </p:txBody>
      </p:sp>
      <p:sp>
        <p:nvSpPr>
          <p:cNvPr id="163" name="Google Shape;163;p24"/>
          <p:cNvSpPr txBox="1"/>
          <p:nvPr/>
        </p:nvSpPr>
        <p:spPr>
          <a:xfrm>
            <a:off x="483552" y="3298471"/>
            <a:ext cx="7973059" cy="1382395"/>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nombre de la restricción es clients_client_num_pk</a:t>
            </a:r>
            <a:endParaRPr sz="2800">
              <a:latin typeface="Calibri"/>
              <a:ea typeface="Calibri"/>
              <a:cs typeface="Calibri"/>
              <a:sym typeface="Calibri"/>
            </a:endParaRPr>
          </a:p>
          <a:p>
            <a:pPr indent="-177800" lvl="0" marL="184785"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aplica la regla de negocio por la que client_number  es la clave primaria de la tabla de clientes</a:t>
            </a:r>
            <a:endParaRPr sz="2800">
              <a:latin typeface="Calibri"/>
              <a:ea typeface="Calibri"/>
              <a:cs typeface="Calibri"/>
              <a:sym typeface="Calibri"/>
            </a:endParaRPr>
          </a:p>
        </p:txBody>
      </p:sp>
      <p:sp>
        <p:nvSpPr>
          <p:cNvPr id="164" name="Google Shape;164;p24"/>
          <p:cNvSpPr txBox="1"/>
          <p:nvPr/>
        </p:nvSpPr>
        <p:spPr>
          <a:xfrm>
            <a:off x="405384" y="1944623"/>
            <a:ext cx="8345805" cy="132778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8333"/>
              </a:lnSpc>
              <a:spcBef>
                <a:spcPts val="0"/>
              </a:spcBef>
              <a:spcAft>
                <a:spcPts val="0"/>
              </a:spcAft>
              <a:buNone/>
            </a:pPr>
            <a:r>
              <a:rPr b="1" lang="en-US" sz="1800">
                <a:solidFill>
                  <a:srgbClr val="4E3629"/>
                </a:solidFill>
                <a:latin typeface="Courier New"/>
                <a:ea typeface="Courier New"/>
                <a:cs typeface="Courier New"/>
                <a:sym typeface="Courier New"/>
              </a:rPr>
              <a:t>CREATE TABLE clients</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(client_number NUMBER(4) </a:t>
            </a:r>
            <a:r>
              <a:rPr b="1" lang="en-US" sz="1800">
                <a:solidFill>
                  <a:srgbClr val="D1350F"/>
                </a:solidFill>
                <a:latin typeface="Courier New"/>
                <a:ea typeface="Courier New"/>
                <a:cs typeface="Courier New"/>
                <a:sym typeface="Courier New"/>
              </a:rPr>
              <a:t>CONSTRAINT clients_client_num_pk</a:t>
            </a:r>
            <a:endParaRPr sz="1800">
              <a:latin typeface="Courier New"/>
              <a:ea typeface="Courier New"/>
              <a:cs typeface="Courier New"/>
              <a:sym typeface="Courier New"/>
            </a:endParaRPr>
          </a:p>
          <a:p>
            <a:pPr indent="0" lvl="0" marL="6400165"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PRIMARY KEY,</a:t>
            </a:r>
            <a:endParaRPr sz="1800">
              <a:latin typeface="Courier New"/>
              <a:ea typeface="Courier New"/>
              <a:cs typeface="Courier New"/>
              <a:sym typeface="Courier New"/>
            </a:endParaRPr>
          </a:p>
          <a:p>
            <a:pPr indent="0" lvl="0" marL="136525" marR="39687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VARCHAR2(14),  last_name	VARCHAR2(13));</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392112" y="748031"/>
            <a:ext cx="5301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de Nomenclatura</a:t>
            </a:r>
            <a:endParaRPr sz="3300"/>
          </a:p>
        </p:txBody>
      </p:sp>
      <p:sp>
        <p:nvSpPr>
          <p:cNvPr id="170" name="Google Shape;170;p25"/>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71" name="Google Shape;171;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2" name="Google Shape;172;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3" name="Google Shape;173;p25"/>
          <p:cNvSpPr txBox="1"/>
          <p:nvPr/>
        </p:nvSpPr>
        <p:spPr>
          <a:xfrm>
            <a:off x="483552" y="1359029"/>
            <a:ext cx="7966075" cy="4508500"/>
          </a:xfrm>
          <a:prstGeom prst="rect">
            <a:avLst/>
          </a:prstGeom>
          <a:noFill/>
          <a:ln>
            <a:noFill/>
          </a:ln>
        </p:spPr>
        <p:txBody>
          <a:bodyPr anchorCtr="0" anchor="t" bIns="0" lIns="0" spcFirstLastPara="1" rIns="0" wrap="square" tIns="13325">
            <a:spAutoFit/>
          </a:bodyPr>
          <a:lstStyle/>
          <a:p>
            <a:pPr indent="-172720" lvl="0" marL="184785" marR="0" rtl="0" algn="l">
              <a:lnSpc>
                <a:spcPct val="1019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Todas las restricciones de la base de datos tienen un</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nombre. Cuando se crea una restricción, se puede asignar</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un nombre, como clients_client_num_pk, o no asignar</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ningún nombre, en cuyo caso el sistema asignará un</a:t>
            </a:r>
            <a:endParaRPr sz="2600">
              <a:latin typeface="Calibri"/>
              <a:ea typeface="Calibri"/>
              <a:cs typeface="Calibri"/>
              <a:sym typeface="Calibri"/>
            </a:endParaRPr>
          </a:p>
          <a:p>
            <a:pPr indent="0" lvl="0" marL="184785" marR="1920239" rtl="0" algn="l">
              <a:lnSpc>
                <a:spcPct val="70000"/>
              </a:lnSpc>
              <a:spcBef>
                <a:spcPts val="465"/>
              </a:spcBef>
              <a:spcAft>
                <a:spcPts val="0"/>
              </a:spcAft>
              <a:buNone/>
            </a:pPr>
            <a:r>
              <a:rPr lang="en-US" sz="2600">
                <a:solidFill>
                  <a:srgbClr val="4E3629"/>
                </a:solidFill>
                <a:latin typeface="Calibri"/>
                <a:ea typeface="Calibri"/>
                <a:cs typeface="Calibri"/>
                <a:sym typeface="Calibri"/>
              </a:rPr>
              <a:t>nombre a la restricción, como, por ejemplo,  SYS_C00585417</a:t>
            </a:r>
            <a:endParaRPr sz="2600">
              <a:latin typeface="Calibri"/>
              <a:ea typeface="Calibri"/>
              <a:cs typeface="Calibri"/>
              <a:sym typeface="Calibri"/>
            </a:endParaRPr>
          </a:p>
          <a:p>
            <a:pPr indent="-172720" lvl="0" marL="184785" marR="0" rtl="0" algn="l">
              <a:lnSpc>
                <a:spcPct val="9634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convención de nomenclatura puede ser la</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combinación del nombre de tabla abreviado y un nombre</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de columna abreviado seguido de la abreviatura de la</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restricción:</a:t>
            </a:r>
            <a:endParaRPr sz="2600">
              <a:latin typeface="Calibri"/>
              <a:ea typeface="Calibri"/>
              <a:cs typeface="Calibri"/>
              <a:sym typeface="Calibri"/>
            </a:endParaRPr>
          </a:p>
          <a:p>
            <a:pPr indent="0" lvl="0" marL="184785" marR="0" rtl="0" algn="l">
              <a:lnSpc>
                <a:spcPct val="99423"/>
              </a:lnSpc>
              <a:spcBef>
                <a:spcPts val="0"/>
              </a:spcBef>
              <a:spcAft>
                <a:spcPts val="0"/>
              </a:spcAft>
              <a:buNone/>
            </a:pPr>
            <a:r>
              <a:rPr lang="en-US" sz="2600">
                <a:solidFill>
                  <a:srgbClr val="4E3629"/>
                </a:solidFill>
                <a:latin typeface="Calibri"/>
                <a:ea typeface="Calibri"/>
                <a:cs typeface="Calibri"/>
                <a:sym typeface="Calibri"/>
              </a:rPr>
              <a:t>nombre-tabla_nombre-columna_tipo-restricción</a:t>
            </a:r>
            <a:endParaRPr sz="2600">
              <a:latin typeface="Calibri"/>
              <a:ea typeface="Calibri"/>
              <a:cs typeface="Calibri"/>
              <a:sym typeface="Calibri"/>
            </a:endParaRPr>
          </a:p>
          <a:p>
            <a:pPr indent="-172720" lvl="0" marL="184785" marR="0" rtl="0" algn="l">
              <a:lnSpc>
                <a:spcPct val="994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se utiliza la palabra reservada CONSTRAINT en la</a:t>
            </a:r>
            <a:endParaRPr sz="2600">
              <a:latin typeface="Calibri"/>
              <a:ea typeface="Calibri"/>
              <a:cs typeface="Calibri"/>
              <a:sym typeface="Calibri"/>
            </a:endParaRPr>
          </a:p>
          <a:p>
            <a:pPr indent="0" lvl="0" marL="184785" marR="0" rtl="0" algn="l">
              <a:lnSpc>
                <a:spcPct val="84038"/>
              </a:lnSpc>
              <a:spcBef>
                <a:spcPts val="0"/>
              </a:spcBef>
              <a:spcAft>
                <a:spcPts val="0"/>
              </a:spcAft>
              <a:buNone/>
            </a:pPr>
            <a:r>
              <a:rPr lang="en-US" sz="2600">
                <a:solidFill>
                  <a:srgbClr val="4E3629"/>
                </a:solidFill>
                <a:latin typeface="Calibri"/>
                <a:ea typeface="Calibri"/>
                <a:cs typeface="Calibri"/>
                <a:sym typeface="Calibri"/>
              </a:rPr>
              <a:t>definición de CREATE TABLE, debe asignar un nombre a la</a:t>
            </a:r>
            <a:endParaRPr sz="2600">
              <a:latin typeface="Calibri"/>
              <a:ea typeface="Calibri"/>
              <a:cs typeface="Calibri"/>
              <a:sym typeface="Calibri"/>
            </a:endParaRPr>
          </a:p>
          <a:p>
            <a:pPr indent="0" lvl="0" marL="184785" marR="5080" rtl="0" algn="l">
              <a:lnSpc>
                <a:spcPct val="70000"/>
              </a:lnSpc>
              <a:spcBef>
                <a:spcPts val="470"/>
              </a:spcBef>
              <a:spcAft>
                <a:spcPts val="0"/>
              </a:spcAft>
              <a:buNone/>
            </a:pPr>
            <a:r>
              <a:rPr lang="en-US" sz="2600">
                <a:solidFill>
                  <a:srgbClr val="4E3629"/>
                </a:solidFill>
                <a:latin typeface="Calibri"/>
                <a:ea typeface="Calibri"/>
                <a:cs typeface="Calibri"/>
                <a:sym typeface="Calibri"/>
              </a:rPr>
              <a:t>restricción. Los nombres de restricción tienen un límite de  30 caracteres</a:t>
            </a:r>
            <a:endParaRPr sz="26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392112" y="385319"/>
            <a:ext cx="48183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Restricciones de Nomenclatura  en el Nivel de Columna</a:t>
            </a:r>
            <a:endParaRPr sz="3000"/>
          </a:p>
        </p:txBody>
      </p:sp>
      <p:sp>
        <p:nvSpPr>
          <p:cNvPr id="179" name="Google Shape;179;p26"/>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80" name="Google Shape;180;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1" name="Google Shape;181;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2" name="Google Shape;182;p26"/>
          <p:cNvSpPr txBox="1"/>
          <p:nvPr/>
        </p:nvSpPr>
        <p:spPr>
          <a:xfrm>
            <a:off x="483552" y="1415417"/>
            <a:ext cx="7827645" cy="17062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mejor que asigne un nombre a las restricciones  porque los nombres generados por el sistema no son  fáciles de reconocer</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Observe esta definición de tabla:</a:t>
            </a:r>
            <a:endParaRPr sz="2800">
              <a:latin typeface="Calibri"/>
              <a:ea typeface="Calibri"/>
              <a:cs typeface="Calibri"/>
              <a:sym typeface="Calibri"/>
            </a:endParaRPr>
          </a:p>
        </p:txBody>
      </p:sp>
      <p:sp>
        <p:nvSpPr>
          <p:cNvPr id="183" name="Google Shape;183;p26"/>
          <p:cNvSpPr txBox="1"/>
          <p:nvPr/>
        </p:nvSpPr>
        <p:spPr>
          <a:xfrm>
            <a:off x="393191" y="3429000"/>
            <a:ext cx="8345805" cy="110680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1800">
                <a:solidFill>
                  <a:srgbClr val="4E3629"/>
                </a:solidFill>
                <a:latin typeface="Courier New"/>
                <a:ea typeface="Courier New"/>
                <a:cs typeface="Courier New"/>
                <a:sym typeface="Courier New"/>
              </a:rPr>
              <a:t>CREATE TABLE clients</a:t>
            </a:r>
            <a:endParaRPr sz="1800">
              <a:latin typeface="Courier New"/>
              <a:ea typeface="Courier New"/>
              <a:cs typeface="Courier New"/>
              <a:sym typeface="Courier New"/>
            </a:endParaRPr>
          </a:p>
          <a:p>
            <a:pPr indent="-137160" lvl="0" marL="137160" marR="42411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(client_number	NUMBER(4),  last_name	VARCHAR2(13),</a:t>
            </a:r>
            <a:endParaRPr sz="1800">
              <a:latin typeface="Courier New"/>
              <a:ea typeface="Courier New"/>
              <a:cs typeface="Courier New"/>
              <a:sym typeface="Courier New"/>
            </a:endParaRPr>
          </a:p>
          <a:p>
            <a:pPr indent="0" lvl="0" marL="13716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email	VARCHAR2(80));</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392112" y="385319"/>
            <a:ext cx="69900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Restricciones de Nomenclatura en el Nivel de  Columna</a:t>
            </a:r>
            <a:endParaRPr sz="3000"/>
          </a:p>
        </p:txBody>
      </p:sp>
      <p:sp>
        <p:nvSpPr>
          <p:cNvPr id="189" name="Google Shape;189;p27"/>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190" name="Google Shape;190;p2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1" name="Google Shape;191;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2" name="Google Shape;192;p27"/>
          <p:cNvSpPr txBox="1"/>
          <p:nvPr/>
        </p:nvSpPr>
        <p:spPr>
          <a:xfrm>
            <a:off x="483552" y="1393401"/>
            <a:ext cx="8120380" cy="260477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Según nuestra convención de nomenclatura:</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restricción de clave primaria en client_number tendría el  nombre clients_client_number_pk</a:t>
            </a:r>
            <a:endParaRPr sz="2400">
              <a:latin typeface="Calibri"/>
              <a:ea typeface="Calibri"/>
              <a:cs typeface="Calibri"/>
              <a:sym typeface="Calibri"/>
            </a:endParaRPr>
          </a:p>
          <a:p>
            <a:pPr indent="-175260" lvl="0" marL="530860" marR="66103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restricción not null en last_name tendría el nombre  clients_last_name_nn</a:t>
            </a:r>
            <a:endParaRPr sz="2400">
              <a:latin typeface="Calibri"/>
              <a:ea typeface="Calibri"/>
              <a:cs typeface="Calibri"/>
              <a:sym typeface="Calibri"/>
            </a:endParaRPr>
          </a:p>
          <a:p>
            <a:pPr indent="-175260" lvl="0" marL="530860" marR="15684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restricción única en una dirección de correo electrónico  tendría el nombre clients_email_uk</a:t>
            </a:r>
            <a:endParaRPr sz="2400">
              <a:latin typeface="Calibri"/>
              <a:ea typeface="Calibri"/>
              <a:cs typeface="Calibri"/>
              <a:sym typeface="Calibri"/>
            </a:endParaRPr>
          </a:p>
        </p:txBody>
      </p:sp>
      <p:sp>
        <p:nvSpPr>
          <p:cNvPr id="193" name="Google Shape;193;p27"/>
          <p:cNvSpPr txBox="1"/>
          <p:nvPr/>
        </p:nvSpPr>
        <p:spPr>
          <a:xfrm>
            <a:off x="315468" y="4099559"/>
            <a:ext cx="8513445" cy="1150620"/>
          </a:xfrm>
          <a:prstGeom prst="rect">
            <a:avLst/>
          </a:prstGeom>
          <a:solidFill>
            <a:srgbClr val="9DBDC4">
              <a:alpha val="49804"/>
            </a:srgbClr>
          </a:solidFill>
          <a:ln>
            <a:noFill/>
          </a:ln>
        </p:spPr>
        <p:txBody>
          <a:bodyPr anchorCtr="0" anchor="t" bIns="0" lIns="0" spcFirstLastPara="1" rIns="0" wrap="square" tIns="63500">
            <a:spAutoFit/>
          </a:bodyPr>
          <a:lstStyle/>
          <a:p>
            <a:pPr indent="0" lvl="0" marL="0" marR="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clients</a:t>
            </a:r>
            <a:endParaRPr sz="1600">
              <a:latin typeface="Courier New"/>
              <a:ea typeface="Courier New"/>
              <a:cs typeface="Courier New"/>
              <a:sym typeface="Courier New"/>
            </a:endParaRPr>
          </a:p>
          <a:p>
            <a:pPr indent="-120650" lvl="0" marL="120650" marR="77470" rtl="0" algn="just">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(client_number NUMBER(4) </a:t>
            </a:r>
            <a:r>
              <a:rPr b="1" lang="en-US" sz="1600">
                <a:solidFill>
                  <a:srgbClr val="D1350F"/>
                </a:solidFill>
                <a:latin typeface="Courier New"/>
                <a:ea typeface="Courier New"/>
                <a:cs typeface="Courier New"/>
                <a:sym typeface="Courier New"/>
              </a:rPr>
              <a:t>CONSTRAINT clients_cient_num_pk PRIMARY KEY</a:t>
            </a:r>
            <a:r>
              <a:rPr b="1" lang="en-US" sz="1600">
                <a:solidFill>
                  <a:srgbClr val="4E3629"/>
                </a:solidFill>
                <a:latin typeface="Courier New"/>
                <a:ea typeface="Courier New"/>
                <a:cs typeface="Courier New"/>
                <a:sym typeface="Courier New"/>
              </a:rPr>
              <a:t>,  last_name VARCHAR2(13) </a:t>
            </a:r>
            <a:r>
              <a:rPr b="1" lang="en-US" sz="1600">
                <a:solidFill>
                  <a:srgbClr val="D1350F"/>
                </a:solidFill>
                <a:latin typeface="Courier New"/>
                <a:ea typeface="Courier New"/>
                <a:cs typeface="Courier New"/>
                <a:sym typeface="Courier New"/>
              </a:rPr>
              <a:t>CONSTRAINT clients_last_name_nn NOT NULL</a:t>
            </a:r>
            <a:r>
              <a:rPr b="1" lang="en-US" sz="1600">
                <a:solidFill>
                  <a:srgbClr val="4E3629"/>
                </a:solidFill>
                <a:latin typeface="Courier New"/>
                <a:ea typeface="Courier New"/>
                <a:cs typeface="Courier New"/>
                <a:sym typeface="Courier New"/>
              </a:rPr>
              <a:t>,  email VARCHAR2(80) </a:t>
            </a:r>
            <a:r>
              <a:rPr b="1" lang="en-US" sz="1600">
                <a:solidFill>
                  <a:srgbClr val="D1350F"/>
                </a:solidFill>
                <a:latin typeface="Courier New"/>
                <a:ea typeface="Courier New"/>
                <a:cs typeface="Courier New"/>
                <a:sym typeface="Courier New"/>
              </a:rPr>
              <a:t>CONSTRAINT clients_emil_uk UNIQUE</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392112" y="748031"/>
            <a:ext cx="6934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 de Restricción de Nomenclatura</a:t>
            </a:r>
            <a:endParaRPr sz="3300"/>
          </a:p>
        </p:txBody>
      </p:sp>
      <p:sp>
        <p:nvSpPr>
          <p:cNvPr id="199" name="Google Shape;199;p28"/>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00" name="Google Shape;200;p2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1" name="Google Shape;201;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2" name="Google Shape;202;p28"/>
          <p:cNvSpPr txBox="1"/>
          <p:nvPr/>
        </p:nvSpPr>
        <p:spPr>
          <a:xfrm>
            <a:off x="483552" y="1415417"/>
            <a:ext cx="8037195" cy="1220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muestra una restricción a la que ha  asignado nombre el usuario y una restricción a la que  ha asignado nombre el sistema:</a:t>
            </a:r>
            <a:endParaRPr sz="2800">
              <a:latin typeface="Calibri"/>
              <a:ea typeface="Calibri"/>
              <a:cs typeface="Calibri"/>
              <a:sym typeface="Calibri"/>
            </a:endParaRPr>
          </a:p>
        </p:txBody>
      </p:sp>
      <p:sp>
        <p:nvSpPr>
          <p:cNvPr id="203" name="Google Shape;203;p28"/>
          <p:cNvSpPr txBox="1"/>
          <p:nvPr/>
        </p:nvSpPr>
        <p:spPr>
          <a:xfrm>
            <a:off x="220979" y="2865120"/>
            <a:ext cx="8702040" cy="1127760"/>
          </a:xfrm>
          <a:prstGeom prst="rect">
            <a:avLst/>
          </a:prstGeom>
          <a:solidFill>
            <a:srgbClr val="9DBDC4">
              <a:alpha val="49804"/>
            </a:srgbClr>
          </a:solidFill>
          <a:ln>
            <a:noFill/>
          </a:ln>
        </p:spPr>
        <p:txBody>
          <a:bodyPr anchorCtr="0" anchor="t" bIns="0" lIns="0" spcFirstLastPara="1" rIns="0" wrap="square" tIns="52700">
            <a:spAutoFit/>
          </a:bodyPr>
          <a:lstStyle/>
          <a:p>
            <a:pPr indent="0" lvl="0" marL="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clients</a:t>
            </a:r>
            <a:endParaRPr sz="1600">
              <a:latin typeface="Courier New"/>
              <a:ea typeface="Courier New"/>
              <a:cs typeface="Courier New"/>
              <a:sym typeface="Courier New"/>
            </a:endParaRPr>
          </a:p>
          <a:p>
            <a:pPr indent="-122555" lvl="0" marL="243204" marR="2222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(client_number NUMBER(4) </a:t>
            </a:r>
            <a:r>
              <a:rPr b="1" lang="en-US" sz="1600">
                <a:solidFill>
                  <a:srgbClr val="D1350F"/>
                </a:solidFill>
                <a:latin typeface="Courier New"/>
                <a:ea typeface="Courier New"/>
                <a:cs typeface="Courier New"/>
                <a:sym typeface="Courier New"/>
              </a:rPr>
              <a:t>CONSTRAINT clients_client_num_pk PRIMARY KEY,  </a:t>
            </a:r>
            <a:r>
              <a:rPr b="1" lang="en-US" sz="1600">
                <a:solidFill>
                  <a:srgbClr val="4E3629"/>
                </a:solidFill>
                <a:latin typeface="Courier New"/>
                <a:ea typeface="Courier New"/>
                <a:cs typeface="Courier New"/>
                <a:sym typeface="Courier New"/>
              </a:rPr>
              <a:t>last_name	VARCHAR2(13) </a:t>
            </a:r>
            <a:r>
              <a:rPr b="1" lang="en-US" sz="1600">
                <a:solidFill>
                  <a:srgbClr val="D1350F"/>
                </a:solidFill>
                <a:latin typeface="Courier New"/>
                <a:ea typeface="Courier New"/>
                <a:cs typeface="Courier New"/>
                <a:sym typeface="Courier New"/>
              </a:rPr>
              <a:t>NOT NULL</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a:p>
            <a:pPr indent="0" lvl="0" marL="243204"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email	VARCHAR2(80));</a:t>
            </a:r>
            <a:endParaRPr sz="16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392112" y="748031"/>
            <a:ext cx="6934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 de Restricción de Nomenclatura</a:t>
            </a:r>
            <a:endParaRPr sz="3300"/>
          </a:p>
        </p:txBody>
      </p:sp>
      <p:sp>
        <p:nvSpPr>
          <p:cNvPr id="209" name="Google Shape;209;p29"/>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10" name="Google Shape;210;p2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1" name="Google Shape;211;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2" name="Google Shape;212;p29"/>
          <p:cNvSpPr txBox="1"/>
          <p:nvPr/>
        </p:nvSpPr>
        <p:spPr>
          <a:xfrm>
            <a:off x="483552" y="1415417"/>
            <a:ext cx="7636509"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Restricción a la que ha asignado nombre el sistema:</a:t>
            </a:r>
            <a:endParaRPr sz="2800">
              <a:latin typeface="Calibri"/>
              <a:ea typeface="Calibri"/>
              <a:cs typeface="Calibri"/>
              <a:sym typeface="Calibri"/>
            </a:endParaRPr>
          </a:p>
        </p:txBody>
      </p:sp>
      <p:sp>
        <p:nvSpPr>
          <p:cNvPr id="213" name="Google Shape;213;p29"/>
          <p:cNvSpPr txBox="1"/>
          <p:nvPr/>
        </p:nvSpPr>
        <p:spPr>
          <a:xfrm>
            <a:off x="483552" y="3358517"/>
            <a:ext cx="7939405" cy="253238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han creado dos restricciones:</a:t>
            </a:r>
            <a:endParaRPr sz="2800">
              <a:latin typeface="Calibri"/>
              <a:ea typeface="Calibri"/>
              <a:cs typeface="Calibri"/>
              <a:sym typeface="Calibri"/>
            </a:endParaRPr>
          </a:p>
          <a:p>
            <a:pPr indent="-175260" lvl="0" marL="530860" marR="329565" rtl="0" algn="l">
              <a:lnSpc>
                <a:spcPct val="107916"/>
              </a:lnSpc>
              <a:spcBef>
                <a:spcPts val="46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restricción a la que el usuario ha asignado el nombre  clients_client_num_pk, para aplicar la regla de que  client_number es la clave primaria</a:t>
            </a:r>
            <a:endParaRPr sz="2400">
              <a:latin typeface="Calibri"/>
              <a:ea typeface="Calibri"/>
              <a:cs typeface="Calibri"/>
              <a:sym typeface="Calibri"/>
            </a:endParaRPr>
          </a:p>
          <a:p>
            <a:pPr indent="-175260" lvl="0" marL="530225" marR="5080"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restricción a la que el sistema ha asignado el nombre  SYS_Cn (donde n es un entero único) para aplicar la regla de  que last_names no puede ser nulo</a:t>
            </a:r>
            <a:endParaRPr sz="2400">
              <a:latin typeface="Calibri"/>
              <a:ea typeface="Calibri"/>
              <a:cs typeface="Calibri"/>
              <a:sym typeface="Calibri"/>
            </a:endParaRPr>
          </a:p>
        </p:txBody>
      </p:sp>
      <p:graphicFrame>
        <p:nvGraphicFramePr>
          <p:cNvPr id="214" name="Google Shape;214;p29"/>
          <p:cNvGraphicFramePr/>
          <p:nvPr/>
        </p:nvGraphicFramePr>
        <p:xfrm>
          <a:off x="220979" y="2033016"/>
          <a:ext cx="3000000" cy="3000000"/>
        </p:xfrm>
        <a:graphic>
          <a:graphicData uri="http://schemas.openxmlformats.org/drawingml/2006/table">
            <a:tbl>
              <a:tblPr bandRow="1" firstRow="1">
                <a:noFill/>
                <a:tableStyleId>{3E4AEAC2-790A-4B57-8606-2A313761FCA3}</a:tableStyleId>
              </a:tblPr>
              <a:tblGrid>
                <a:gridCol w="1891675"/>
                <a:gridCol w="6231250"/>
                <a:gridCol w="579125"/>
              </a:tblGrid>
              <a:tr h="567650">
                <a:tc gridSpan="2">
                  <a:txBody>
                    <a:bodyPr/>
                    <a:lstStyle/>
                    <a:p>
                      <a:pPr indent="0" lvl="0" marL="0" marR="0" rtl="0" algn="l">
                        <a:lnSpc>
                          <a:spcPct val="100000"/>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CREATE TABLE clients</a:t>
                      </a:r>
                      <a:endParaRPr sz="1600" u="none" cap="none" strike="noStrike">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(client_number NUMBER(4) </a:t>
                      </a:r>
                      <a:r>
                        <a:rPr b="1" lang="en-US" sz="1600" u="none" cap="none" strike="noStrike">
                          <a:solidFill>
                            <a:srgbClr val="D1350F"/>
                          </a:solidFill>
                          <a:latin typeface="Courier New"/>
                          <a:ea typeface="Courier New"/>
                          <a:cs typeface="Courier New"/>
                          <a:sym typeface="Courier New"/>
                        </a:rPr>
                        <a:t>CONSTRAINT clients_client_num_pk PRIMARY</a:t>
                      </a:r>
                      <a:endParaRPr sz="1600" u="none" cap="none" strike="noStrike">
                        <a:latin typeface="Courier New"/>
                        <a:ea typeface="Courier New"/>
                        <a:cs typeface="Courier New"/>
                        <a:sym typeface="Courier New"/>
                      </a:endParaRPr>
                    </a:p>
                  </a:txBody>
                  <a:tcPr marT="52700" marB="0" marR="0" marL="0">
                    <a:solidFill>
                      <a:srgbClr val="CDDDE1"/>
                    </a:solidFill>
                  </a:tcPr>
                </a:tc>
                <a:tc hMerge="1"/>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61594" marR="0" rtl="0" algn="l">
                        <a:lnSpc>
                          <a:spcPct val="100000"/>
                        </a:lnSpc>
                        <a:spcBef>
                          <a:spcPts val="5"/>
                        </a:spcBef>
                        <a:spcAft>
                          <a:spcPts val="0"/>
                        </a:spcAft>
                        <a:buNone/>
                      </a:pPr>
                      <a:r>
                        <a:rPr b="1" lang="en-US" sz="1600" u="none" cap="none" strike="noStrike">
                          <a:solidFill>
                            <a:srgbClr val="D1350F"/>
                          </a:solidFill>
                          <a:latin typeface="Courier New"/>
                          <a:ea typeface="Courier New"/>
                          <a:cs typeface="Courier New"/>
                          <a:sym typeface="Courier New"/>
                        </a:rPr>
                        <a:t>KEY,</a:t>
                      </a:r>
                      <a:endParaRPr sz="1600" u="none" cap="none" strike="noStrike">
                        <a:latin typeface="Courier New"/>
                        <a:ea typeface="Courier New"/>
                        <a:cs typeface="Courier New"/>
                        <a:sym typeface="Courier New"/>
                      </a:endParaRPr>
                    </a:p>
                  </a:txBody>
                  <a:tcPr marT="3800" marB="0" marR="0" marL="0">
                    <a:solidFill>
                      <a:srgbClr val="CDDDE1"/>
                    </a:solidFill>
                  </a:tcPr>
                </a:tc>
              </a:tr>
              <a:tr h="243850">
                <a:tc>
                  <a:txBody>
                    <a:bodyPr/>
                    <a:lstStyle/>
                    <a:p>
                      <a:pPr indent="0" lvl="0" marL="243204" marR="0" rtl="0" algn="l">
                        <a:lnSpc>
                          <a:spcPct val="106562"/>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last_name</a:t>
                      </a:r>
                      <a:endParaRPr sz="16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1594" marR="0" rtl="0" algn="l">
                        <a:lnSpc>
                          <a:spcPct val="106562"/>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VARCHAR2(13) </a:t>
                      </a:r>
                      <a:r>
                        <a:rPr b="1" lang="en-US" sz="1600" u="none" cap="none" strike="noStrike">
                          <a:solidFill>
                            <a:srgbClr val="D1350F"/>
                          </a:solidFill>
                          <a:latin typeface="Courier New"/>
                          <a:ea typeface="Courier New"/>
                          <a:cs typeface="Courier New"/>
                          <a:sym typeface="Courier New"/>
                        </a:rPr>
                        <a:t>NOT NULL</a:t>
                      </a:r>
                      <a:r>
                        <a:rPr b="1" lang="en-US" sz="1600" u="none" cap="none" strike="noStrike">
                          <a:solidFill>
                            <a:srgbClr val="4E3629"/>
                          </a:solidFill>
                          <a:latin typeface="Courier New"/>
                          <a:ea typeface="Courier New"/>
                          <a:cs typeface="Courier New"/>
                          <a:sym typeface="Courier New"/>
                        </a:rPr>
                        <a:t>,</a:t>
                      </a:r>
                      <a:endParaRPr sz="16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solidFill>
                      <a:srgbClr val="CDDDE1"/>
                    </a:solidFill>
                  </a:tcPr>
                </a:tc>
              </a:tr>
              <a:tr h="316275">
                <a:tc>
                  <a:txBody>
                    <a:bodyPr/>
                    <a:lstStyle/>
                    <a:p>
                      <a:pPr indent="0" lvl="0" marL="243204" marR="0" rtl="0" algn="l">
                        <a:lnSpc>
                          <a:spcPct val="106562"/>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email</a:t>
                      </a:r>
                      <a:endParaRPr sz="16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60960" marR="0" rtl="0" algn="l">
                        <a:lnSpc>
                          <a:spcPct val="106562"/>
                        </a:lnSpc>
                        <a:spcBef>
                          <a:spcPts val="0"/>
                        </a:spcBef>
                        <a:spcAft>
                          <a:spcPts val="0"/>
                        </a:spcAft>
                        <a:buNone/>
                      </a:pPr>
                      <a:r>
                        <a:rPr b="1" lang="en-US" sz="1600" u="none" cap="none" strike="noStrike">
                          <a:solidFill>
                            <a:srgbClr val="4E3629"/>
                          </a:solidFill>
                          <a:latin typeface="Courier New"/>
                          <a:ea typeface="Courier New"/>
                          <a:cs typeface="Courier New"/>
                          <a:sym typeface="Courier New"/>
                        </a:rPr>
                        <a:t>VARCHAR2(80));</a:t>
                      </a:r>
                      <a:endParaRPr sz="1600" u="none" cap="none" strike="noStrike">
                        <a:latin typeface="Courier New"/>
                        <a:ea typeface="Courier New"/>
                        <a:cs typeface="Courier New"/>
                        <a:sym typeface="Courier New"/>
                      </a:endParaRPr>
                    </a:p>
                  </a:txBody>
                  <a:tcPr marT="0" marB="0" marR="0" marL="0">
                    <a:solidFill>
                      <a:srgbClr val="CDDDE1"/>
                    </a:solidFill>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solidFill>
                      <a:srgbClr val="CDDDE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type="title"/>
          </p:nvPr>
        </p:nvSpPr>
        <p:spPr>
          <a:xfrm>
            <a:off x="392112" y="748031"/>
            <a:ext cx="5645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en el Nivel de Tabla</a:t>
            </a:r>
            <a:endParaRPr sz="3300"/>
          </a:p>
        </p:txBody>
      </p:sp>
      <p:sp>
        <p:nvSpPr>
          <p:cNvPr id="220" name="Google Shape;220;p30"/>
          <p:cNvSpPr txBox="1"/>
          <p:nvPr/>
        </p:nvSpPr>
        <p:spPr>
          <a:xfrm>
            <a:off x="483552" y="1415417"/>
            <a:ext cx="8084184" cy="3344545"/>
          </a:xfrm>
          <a:prstGeom prst="rect">
            <a:avLst/>
          </a:prstGeom>
          <a:noFill/>
          <a:ln>
            <a:noFill/>
          </a:ln>
        </p:spPr>
        <p:txBody>
          <a:bodyPr anchorCtr="0" anchor="t" bIns="0" lIns="0" spcFirstLastPara="1" rIns="0" wrap="square" tIns="59675">
            <a:spAutoFit/>
          </a:bodyPr>
          <a:lstStyle/>
          <a:p>
            <a:pPr indent="-177800" lvl="0" marL="184785" marR="6375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de nivel de tabla se muestran por  separado de las definiciones de columna en la  sentencia CREATE TABLE</a:t>
            </a:r>
            <a:endParaRPr sz="2800">
              <a:latin typeface="Calibri"/>
              <a:ea typeface="Calibri"/>
              <a:cs typeface="Calibri"/>
              <a:sym typeface="Calibri"/>
            </a:endParaRPr>
          </a:p>
          <a:p>
            <a:pPr indent="-177800" lvl="0" marL="184785" marR="1987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definiciones de restricciones de nivel de tabla se  muestran después de que se hayan definido todas las  columnas de la tabla</a:t>
            </a:r>
            <a:endParaRPr sz="2800">
              <a:latin typeface="Calibri"/>
              <a:ea typeface="Calibri"/>
              <a:cs typeface="Calibri"/>
              <a:sym typeface="Calibri"/>
            </a:endParaRPr>
          </a:p>
          <a:p>
            <a:pPr indent="-177800" lvl="0" marL="184785"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la única restricción aparece en  último lugar en la sentencia CREATE TABLE</a:t>
            </a:r>
            <a:endParaRPr sz="2800">
              <a:latin typeface="Calibri"/>
              <a:ea typeface="Calibri"/>
              <a:cs typeface="Calibri"/>
              <a:sym typeface="Calibri"/>
            </a:endParaRPr>
          </a:p>
        </p:txBody>
      </p:sp>
      <p:sp>
        <p:nvSpPr>
          <p:cNvPr id="221" name="Google Shape;221;p30"/>
          <p:cNvSpPr/>
          <p:nvPr/>
        </p:nvSpPr>
        <p:spPr>
          <a:xfrm>
            <a:off x="1901951" y="4770120"/>
            <a:ext cx="7002780" cy="1591310"/>
          </a:xfrm>
          <a:custGeom>
            <a:rect b="b" l="l" r="r" t="t"/>
            <a:pathLst>
              <a:path extrusionOk="0" h="1591310" w="7002780">
                <a:moveTo>
                  <a:pt x="7002780" y="0"/>
                </a:moveTo>
                <a:lnTo>
                  <a:pt x="0" y="0"/>
                </a:lnTo>
                <a:lnTo>
                  <a:pt x="0" y="1591055"/>
                </a:lnTo>
                <a:lnTo>
                  <a:pt x="7002780" y="1591055"/>
                </a:lnTo>
                <a:lnTo>
                  <a:pt x="7002780"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2" name="Google Shape;222;p30"/>
          <p:cNvSpPr txBox="1"/>
          <p:nvPr/>
        </p:nvSpPr>
        <p:spPr>
          <a:xfrm>
            <a:off x="1888851" y="4676913"/>
            <a:ext cx="4177029" cy="513080"/>
          </a:xfrm>
          <a:prstGeom prst="rect">
            <a:avLst/>
          </a:prstGeom>
          <a:noFill/>
          <a:ln>
            <a:noFill/>
          </a:ln>
        </p:spPr>
        <p:txBody>
          <a:bodyPr anchorCtr="0" anchor="t" bIns="0" lIns="0" spcFirstLastPara="1" rIns="0" wrap="square" tIns="12050">
            <a:spAutoFit/>
          </a:bodyPr>
          <a:lstStyle/>
          <a:p>
            <a:pPr indent="-121920" lvl="0" marL="133985"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clients (  client_number NUMBER(6) NOT NULL,</a:t>
            </a:r>
            <a:endParaRPr sz="1600">
              <a:latin typeface="Courier New"/>
              <a:ea typeface="Courier New"/>
              <a:cs typeface="Courier New"/>
              <a:sym typeface="Courier New"/>
            </a:endParaRPr>
          </a:p>
        </p:txBody>
      </p:sp>
      <p:sp>
        <p:nvSpPr>
          <p:cNvPr id="223" name="Google Shape;223;p30"/>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24" name="Google Shape;224;p3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5" name="Google Shape;225;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6" name="Google Shape;226;p30"/>
          <p:cNvSpPr txBox="1"/>
          <p:nvPr/>
        </p:nvSpPr>
        <p:spPr>
          <a:xfrm>
            <a:off x="2010669" y="5164590"/>
            <a:ext cx="1245235" cy="1000760"/>
          </a:xfrm>
          <a:prstGeom prst="rect">
            <a:avLst/>
          </a:prstGeom>
          <a:noFill/>
          <a:ln>
            <a:noFill/>
          </a:ln>
        </p:spPr>
        <p:txBody>
          <a:bodyPr anchorCtr="0" anchor="t" bIns="0" lIns="0" spcFirstLastPara="1" rIns="0" wrap="square" tIns="12050">
            <a:spAutoFit/>
          </a:bodyPr>
          <a:lstStyle/>
          <a:p>
            <a:pPr indent="0" lvl="0" marL="12700" marR="571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first_name  last_name  phone  email</a:t>
            </a:r>
            <a:endParaRPr sz="1600">
              <a:latin typeface="Courier New"/>
              <a:ea typeface="Courier New"/>
              <a:cs typeface="Courier New"/>
              <a:sym typeface="Courier New"/>
            </a:endParaRPr>
          </a:p>
        </p:txBody>
      </p:sp>
      <p:sp>
        <p:nvSpPr>
          <p:cNvPr id="227" name="Google Shape;227;p30"/>
          <p:cNvSpPr txBox="1"/>
          <p:nvPr/>
        </p:nvSpPr>
        <p:spPr>
          <a:xfrm>
            <a:off x="3719264" y="5164590"/>
            <a:ext cx="2712085" cy="1000760"/>
          </a:xfrm>
          <a:prstGeom prst="rect">
            <a:avLst/>
          </a:prstGeom>
          <a:noFill/>
          <a:ln>
            <a:noFill/>
          </a:ln>
        </p:spPr>
        <p:txBody>
          <a:bodyPr anchorCtr="0" anchor="t" bIns="0" lIns="0" spcFirstLastPara="1" rIns="0" wrap="square" tIns="12050">
            <a:spAutoFit/>
          </a:bodyPr>
          <a:lstStyle/>
          <a:p>
            <a:pPr indent="1270" lvl="0" marL="1270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VARCHAR2(20),  VARCHAR2(20),  VARCHAR2(20),  VARCHAR2(10) NOT NULL,</a:t>
            </a:r>
            <a:endParaRPr sz="1600">
              <a:latin typeface="Courier New"/>
              <a:ea typeface="Courier New"/>
              <a:cs typeface="Courier New"/>
              <a:sym typeface="Courier New"/>
            </a:endParaRPr>
          </a:p>
        </p:txBody>
      </p:sp>
      <p:sp>
        <p:nvSpPr>
          <p:cNvPr id="228" name="Google Shape;228;p30"/>
          <p:cNvSpPr txBox="1"/>
          <p:nvPr/>
        </p:nvSpPr>
        <p:spPr>
          <a:xfrm>
            <a:off x="1888649" y="6139944"/>
            <a:ext cx="68687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CONSTRAINT clients_phone_email_uk UNIQUE (email,phone)</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392112" y="748031"/>
            <a:ext cx="56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Reglas Básicas para Restricciones</a:t>
            </a:r>
            <a:endParaRPr sz="3300"/>
          </a:p>
        </p:txBody>
      </p:sp>
      <p:sp>
        <p:nvSpPr>
          <p:cNvPr id="234" name="Google Shape;234;p31"/>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35" name="Google Shape;235;p3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6" name="Google Shape;236;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7" name="Google Shape;237;p31"/>
          <p:cNvSpPr txBox="1"/>
          <p:nvPr/>
        </p:nvSpPr>
        <p:spPr>
          <a:xfrm>
            <a:off x="483552" y="1415417"/>
            <a:ext cx="8131809" cy="3829050"/>
          </a:xfrm>
          <a:prstGeom prst="rect">
            <a:avLst/>
          </a:prstGeom>
          <a:noFill/>
          <a:ln>
            <a:noFill/>
          </a:ln>
        </p:spPr>
        <p:txBody>
          <a:bodyPr anchorCtr="0" anchor="t" bIns="0" lIns="0" spcFirstLastPara="1" rIns="0" wrap="square" tIns="59675">
            <a:spAutoFit/>
          </a:bodyPr>
          <a:lstStyle/>
          <a:p>
            <a:pPr indent="-177800" lvl="0" marL="184785" marR="4629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que hacen referencia a más de una  columna se deben especificar en el nivel de tabla</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restricción NOT NULL se puede especificar solo en el  nivel de columna, no en el nivel de tabla</a:t>
            </a:r>
            <a:endParaRPr sz="2800">
              <a:latin typeface="Calibri"/>
              <a:ea typeface="Calibri"/>
              <a:cs typeface="Calibri"/>
              <a:sym typeface="Calibri"/>
            </a:endParaRPr>
          </a:p>
          <a:p>
            <a:pPr indent="-177800" lvl="0" marL="184785" marR="116839" rtl="0" algn="just">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UNIQUE, PRIMARY KEY, FOREIGN KEY  y CHECK se pueden definir en el nivel de columna o de  tabla</a:t>
            </a:r>
            <a:endParaRPr sz="2800">
              <a:latin typeface="Calibri"/>
              <a:ea typeface="Calibri"/>
              <a:cs typeface="Calibri"/>
              <a:sym typeface="Calibri"/>
            </a:endParaRPr>
          </a:p>
          <a:p>
            <a:pPr indent="-177800" lvl="0" marL="184785" marR="48260" rtl="0" algn="just">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utiliza la palabra CONSTRAINT en la sentencia  CREATE TABLE, debe asignar un nombre a la restricción</a:t>
            </a:r>
            <a:endParaRPr sz="28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392112" y="748031"/>
            <a:ext cx="4479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Examen de las Violaciones</a:t>
            </a:r>
            <a:endParaRPr sz="3300"/>
          </a:p>
        </p:txBody>
      </p:sp>
      <p:sp>
        <p:nvSpPr>
          <p:cNvPr id="243" name="Google Shape;243;p32"/>
          <p:cNvSpPr/>
          <p:nvPr/>
        </p:nvSpPr>
        <p:spPr>
          <a:xfrm>
            <a:off x="393191" y="1885188"/>
            <a:ext cx="8357870" cy="2592705"/>
          </a:xfrm>
          <a:custGeom>
            <a:rect b="b" l="l" r="r" t="t"/>
            <a:pathLst>
              <a:path extrusionOk="0" h="2592704" w="8357870">
                <a:moveTo>
                  <a:pt x="8357616" y="0"/>
                </a:moveTo>
                <a:lnTo>
                  <a:pt x="0" y="0"/>
                </a:lnTo>
                <a:lnTo>
                  <a:pt x="0" y="2592324"/>
                </a:lnTo>
                <a:lnTo>
                  <a:pt x="8357616" y="2592324"/>
                </a:lnTo>
                <a:lnTo>
                  <a:pt x="8357616"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44" name="Google Shape;244;p32"/>
          <p:cNvSpPr txBox="1"/>
          <p:nvPr/>
        </p:nvSpPr>
        <p:spPr>
          <a:xfrm>
            <a:off x="380493" y="2048427"/>
            <a:ext cx="2589530" cy="1244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clients(</a:t>
            </a:r>
            <a:endParaRPr sz="1600">
              <a:latin typeface="Courier New"/>
              <a:ea typeface="Courier New"/>
              <a:cs typeface="Courier New"/>
              <a:sym typeface="Courier New"/>
            </a:endParaRPr>
          </a:p>
          <a:p>
            <a:pPr indent="0" lvl="0" marL="98933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client_number  first_name  last_name  phone</a:t>
            </a:r>
            <a:endParaRPr sz="1600">
              <a:latin typeface="Courier New"/>
              <a:ea typeface="Courier New"/>
              <a:cs typeface="Courier New"/>
              <a:sym typeface="Courier New"/>
            </a:endParaRPr>
          </a:p>
        </p:txBody>
      </p:sp>
      <p:sp>
        <p:nvSpPr>
          <p:cNvPr id="245" name="Google Shape;245;p32"/>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46" name="Google Shape;246;p3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7" name="Google Shape;247;p3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8" name="Google Shape;248;p32"/>
          <p:cNvSpPr txBox="1"/>
          <p:nvPr/>
        </p:nvSpPr>
        <p:spPr>
          <a:xfrm>
            <a:off x="1416857" y="3511458"/>
            <a:ext cx="63500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email</a:t>
            </a:r>
            <a:endParaRPr sz="1600">
              <a:latin typeface="Courier New"/>
              <a:ea typeface="Courier New"/>
              <a:cs typeface="Courier New"/>
              <a:sym typeface="Courier New"/>
            </a:endParaRPr>
          </a:p>
        </p:txBody>
      </p:sp>
      <p:sp>
        <p:nvSpPr>
          <p:cNvPr id="249" name="Google Shape;249;p32"/>
          <p:cNvSpPr txBox="1"/>
          <p:nvPr/>
        </p:nvSpPr>
        <p:spPr>
          <a:xfrm>
            <a:off x="3187960" y="2292265"/>
            <a:ext cx="4665980" cy="1488440"/>
          </a:xfrm>
          <a:prstGeom prst="rect">
            <a:avLst/>
          </a:prstGeom>
          <a:noFill/>
          <a:ln>
            <a:noFill/>
          </a:ln>
        </p:spPr>
        <p:txBody>
          <a:bodyPr anchorCtr="0" anchor="t" bIns="0" lIns="0" spcFirstLastPara="1" rIns="0" wrap="square" tIns="12050">
            <a:spAutoFit/>
          </a:bodyPr>
          <a:lstStyle/>
          <a:p>
            <a:pPr indent="0" lvl="0" marL="13970" marR="305625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NUMBER(6),  VARCHAR2(20),  VARCHAR2(20),</a:t>
            </a:r>
            <a:endParaRPr sz="1600">
              <a:latin typeface="Courier New"/>
              <a:ea typeface="Courier New"/>
              <a:cs typeface="Courier New"/>
              <a:sym typeface="Courier New"/>
            </a:endParaRPr>
          </a:p>
          <a:p>
            <a:pPr indent="-856615" lvl="0" marL="86868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VARCHAR2(20) CONSTRAINT phone_email_uk  UNIQUE(email,phone),</a:t>
            </a:r>
            <a:endParaRPr sz="1600">
              <a:latin typeface="Courier New"/>
              <a:ea typeface="Courier New"/>
              <a:cs typeface="Courier New"/>
              <a:sym typeface="Courier New"/>
            </a:endParaRPr>
          </a:p>
          <a:p>
            <a:pPr indent="0" lvl="0" marL="71755"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VARCHAR2(10) CONSTRAINT NOT NULL,</a:t>
            </a:r>
            <a:endParaRPr sz="1600">
              <a:latin typeface="Courier New"/>
              <a:ea typeface="Courier New"/>
              <a:cs typeface="Courier New"/>
              <a:sym typeface="Courier New"/>
            </a:endParaRPr>
          </a:p>
        </p:txBody>
      </p:sp>
      <p:sp>
        <p:nvSpPr>
          <p:cNvPr id="250" name="Google Shape;250;p32"/>
          <p:cNvSpPr txBox="1"/>
          <p:nvPr/>
        </p:nvSpPr>
        <p:spPr>
          <a:xfrm>
            <a:off x="990190" y="3755296"/>
            <a:ext cx="7597140"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emailclients_email NOT NULL,</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clients_client_num_pk PRIMARY KEY (client_number));</a:t>
            </a:r>
            <a:endParaRPr sz="16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p:nvPr/>
        </p:nvSpPr>
        <p:spPr>
          <a:xfrm>
            <a:off x="591312" y="2560320"/>
            <a:ext cx="8345805" cy="2443480"/>
          </a:xfrm>
          <a:custGeom>
            <a:rect b="b" l="l" r="r" t="t"/>
            <a:pathLst>
              <a:path extrusionOk="0" h="2443479" w="8345805">
                <a:moveTo>
                  <a:pt x="8345424" y="0"/>
                </a:moveTo>
                <a:lnTo>
                  <a:pt x="0" y="0"/>
                </a:lnTo>
                <a:lnTo>
                  <a:pt x="0" y="2442972"/>
                </a:lnTo>
                <a:lnTo>
                  <a:pt x="8345424" y="2442972"/>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6" name="Google Shape;256;p33"/>
          <p:cNvSpPr txBox="1"/>
          <p:nvPr/>
        </p:nvSpPr>
        <p:spPr>
          <a:xfrm>
            <a:off x="577933" y="2648601"/>
            <a:ext cx="25888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clients(</a:t>
            </a:r>
            <a:endParaRPr sz="1600">
              <a:latin typeface="Courier New"/>
              <a:ea typeface="Courier New"/>
              <a:cs typeface="Courier New"/>
              <a:sym typeface="Courier New"/>
            </a:endParaRPr>
          </a:p>
        </p:txBody>
      </p:sp>
      <p:sp>
        <p:nvSpPr>
          <p:cNvPr id="257" name="Google Shape;257;p33"/>
          <p:cNvSpPr txBox="1"/>
          <p:nvPr/>
        </p:nvSpPr>
        <p:spPr>
          <a:xfrm>
            <a:off x="1554909" y="2892439"/>
            <a:ext cx="1612900" cy="100076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client_number  first_name  last_name  phone</a:t>
            </a:r>
            <a:endParaRPr sz="1600">
              <a:latin typeface="Courier New"/>
              <a:ea typeface="Courier New"/>
              <a:cs typeface="Courier New"/>
              <a:sym typeface="Courier New"/>
            </a:endParaRPr>
          </a:p>
        </p:txBody>
      </p:sp>
      <p:sp>
        <p:nvSpPr>
          <p:cNvPr id="258" name="Google Shape;258;p33"/>
          <p:cNvSpPr txBox="1"/>
          <p:nvPr/>
        </p:nvSpPr>
        <p:spPr>
          <a:xfrm>
            <a:off x="3385401" y="2892439"/>
            <a:ext cx="4665980" cy="1000760"/>
          </a:xfrm>
          <a:prstGeom prst="rect">
            <a:avLst/>
          </a:prstGeom>
          <a:noFill/>
          <a:ln>
            <a:noFill/>
          </a:ln>
        </p:spPr>
        <p:txBody>
          <a:bodyPr anchorCtr="0" anchor="t" bIns="0" lIns="0" spcFirstLastPara="1" rIns="0" wrap="square" tIns="12050">
            <a:spAutoFit/>
          </a:bodyPr>
          <a:lstStyle/>
          <a:p>
            <a:pPr indent="0" lvl="0" marL="13970" marR="305625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NUMBER(6),  VARCHAR2(20),  VARCHAR2(20),</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VARCHAR2(20) CONSTRAINT phone_email_uk</a:t>
            </a:r>
            <a:endParaRPr sz="1600">
              <a:latin typeface="Courier New"/>
              <a:ea typeface="Courier New"/>
              <a:cs typeface="Courier New"/>
              <a:sym typeface="Courier New"/>
            </a:endParaRPr>
          </a:p>
        </p:txBody>
      </p:sp>
      <p:sp>
        <p:nvSpPr>
          <p:cNvPr id="259" name="Google Shape;259;p33"/>
          <p:cNvSpPr txBox="1"/>
          <p:nvPr/>
        </p:nvSpPr>
        <p:spPr>
          <a:xfrm>
            <a:off x="1187631" y="3867793"/>
            <a:ext cx="7597140" cy="1000760"/>
          </a:xfrm>
          <a:prstGeom prst="rect">
            <a:avLst/>
          </a:prstGeom>
          <a:noFill/>
          <a:ln>
            <a:noFill/>
          </a:ln>
        </p:spPr>
        <p:txBody>
          <a:bodyPr anchorCtr="0" anchor="t" bIns="0" lIns="0" spcFirstLastPara="1" rIns="0" wrap="square" tIns="12050">
            <a:spAutoFit/>
          </a:bodyPr>
          <a:lstStyle/>
          <a:p>
            <a:pPr indent="2626995" lvl="0" marL="438784" marR="141351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UNIQUE(email,phone),  email	VARCHAR2(10) CONSTRAINT NOT NULL,</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emailclients_email NOT NULL,</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clients_client_num_pk PRIMARY KEY (client_number));</a:t>
            </a:r>
            <a:endParaRPr sz="1600">
              <a:latin typeface="Courier New"/>
              <a:ea typeface="Courier New"/>
              <a:cs typeface="Courier New"/>
              <a:sym typeface="Courier New"/>
            </a:endParaRPr>
          </a:p>
        </p:txBody>
      </p:sp>
      <p:sp>
        <p:nvSpPr>
          <p:cNvPr id="260" name="Google Shape;260;p33"/>
          <p:cNvSpPr txBox="1"/>
          <p:nvPr>
            <p:ph type="title"/>
          </p:nvPr>
        </p:nvSpPr>
        <p:spPr>
          <a:xfrm>
            <a:off x="392112" y="748031"/>
            <a:ext cx="4479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Examen de las Violaciones</a:t>
            </a:r>
            <a:endParaRPr sz="3300"/>
          </a:p>
        </p:txBody>
      </p:sp>
      <p:grpSp>
        <p:nvGrpSpPr>
          <p:cNvPr id="261" name="Google Shape;261;p33"/>
          <p:cNvGrpSpPr/>
          <p:nvPr/>
        </p:nvGrpSpPr>
        <p:grpSpPr>
          <a:xfrm>
            <a:off x="4486655" y="1638300"/>
            <a:ext cx="4418330" cy="763905"/>
            <a:chOff x="4486655" y="1638300"/>
            <a:chExt cx="4418330" cy="763905"/>
          </a:xfrm>
        </p:grpSpPr>
        <p:sp>
          <p:nvSpPr>
            <p:cNvPr id="262" name="Google Shape;262;p33"/>
            <p:cNvSpPr/>
            <p:nvPr/>
          </p:nvSpPr>
          <p:spPr>
            <a:xfrm>
              <a:off x="4486655" y="1638300"/>
              <a:ext cx="4418330" cy="763905"/>
            </a:xfrm>
            <a:custGeom>
              <a:rect b="b" l="l" r="r" t="t"/>
              <a:pathLst>
                <a:path extrusionOk="0" h="763905" w="4418330">
                  <a:moveTo>
                    <a:pt x="4418076" y="0"/>
                  </a:moveTo>
                  <a:lnTo>
                    <a:pt x="0" y="0"/>
                  </a:lnTo>
                  <a:lnTo>
                    <a:pt x="0" y="763524"/>
                  </a:lnTo>
                  <a:lnTo>
                    <a:pt x="4418076" y="763524"/>
                  </a:lnTo>
                  <a:lnTo>
                    <a:pt x="4418076"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3" name="Google Shape;263;p33"/>
            <p:cNvSpPr/>
            <p:nvPr/>
          </p:nvSpPr>
          <p:spPr>
            <a:xfrm>
              <a:off x="4486655" y="1638300"/>
              <a:ext cx="4418330" cy="763905"/>
            </a:xfrm>
            <a:custGeom>
              <a:rect b="b" l="l" r="r" t="t"/>
              <a:pathLst>
                <a:path extrusionOk="0" h="763905" w="4418330">
                  <a:moveTo>
                    <a:pt x="0" y="0"/>
                  </a:moveTo>
                  <a:lnTo>
                    <a:pt x="4418076" y="0"/>
                  </a:lnTo>
                  <a:lnTo>
                    <a:pt x="4418076" y="763524"/>
                  </a:lnTo>
                  <a:lnTo>
                    <a:pt x="0" y="763524"/>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64" name="Google Shape;264;p33"/>
          <p:cNvSpPr txBox="1"/>
          <p:nvPr/>
        </p:nvSpPr>
        <p:spPr>
          <a:xfrm>
            <a:off x="4485981" y="1625401"/>
            <a:ext cx="4185285"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VIOLACIÓN DE CLAVE ÚNICA COMPUESTA</a:t>
            </a:r>
            <a:endParaRPr sz="1600">
              <a:latin typeface="Calibri"/>
              <a:ea typeface="Calibri"/>
              <a:cs typeface="Calibri"/>
              <a:sym typeface="Calibri"/>
            </a:endParaRPr>
          </a:p>
          <a:p>
            <a:pPr indent="0" lvl="0" marL="12700" marR="5080" rtl="0" algn="l">
              <a:lnSpc>
                <a:spcPct val="100000"/>
              </a:lnSpc>
              <a:spcBef>
                <a:spcPts val="0"/>
              </a:spcBef>
              <a:spcAft>
                <a:spcPts val="0"/>
              </a:spcAft>
              <a:buNone/>
            </a:pPr>
            <a:r>
              <a:rPr lang="en-US" sz="1600">
                <a:solidFill>
                  <a:srgbClr val="FFFFFF"/>
                </a:solidFill>
                <a:latin typeface="Calibri"/>
                <a:ea typeface="Calibri"/>
                <a:cs typeface="Calibri"/>
                <a:sym typeface="Calibri"/>
              </a:rPr>
              <a:t>Las claves compuestas se deben definir en nivel de  tabla</a:t>
            </a:r>
            <a:endParaRPr sz="1600">
              <a:latin typeface="Calibri"/>
              <a:ea typeface="Calibri"/>
              <a:cs typeface="Calibri"/>
              <a:sym typeface="Calibri"/>
            </a:endParaRPr>
          </a:p>
        </p:txBody>
      </p:sp>
      <p:grpSp>
        <p:nvGrpSpPr>
          <p:cNvPr id="265" name="Google Shape;265;p33"/>
          <p:cNvGrpSpPr/>
          <p:nvPr/>
        </p:nvGrpSpPr>
        <p:grpSpPr>
          <a:xfrm>
            <a:off x="5554979" y="5256276"/>
            <a:ext cx="3350260" cy="1010919"/>
            <a:chOff x="5554979" y="5256276"/>
            <a:chExt cx="3350260" cy="1010919"/>
          </a:xfrm>
        </p:grpSpPr>
        <p:sp>
          <p:nvSpPr>
            <p:cNvPr id="266" name="Google Shape;266;p33"/>
            <p:cNvSpPr/>
            <p:nvPr/>
          </p:nvSpPr>
          <p:spPr>
            <a:xfrm>
              <a:off x="5554979" y="5256276"/>
              <a:ext cx="3350260" cy="1010919"/>
            </a:xfrm>
            <a:custGeom>
              <a:rect b="b" l="l" r="r" t="t"/>
              <a:pathLst>
                <a:path extrusionOk="0" h="1010920" w="3350259">
                  <a:moveTo>
                    <a:pt x="3349752" y="0"/>
                  </a:moveTo>
                  <a:lnTo>
                    <a:pt x="0" y="0"/>
                  </a:lnTo>
                  <a:lnTo>
                    <a:pt x="0" y="1010412"/>
                  </a:lnTo>
                  <a:lnTo>
                    <a:pt x="3349752" y="1010412"/>
                  </a:lnTo>
                  <a:lnTo>
                    <a:pt x="3349752"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7" name="Google Shape;267;p33"/>
            <p:cNvSpPr/>
            <p:nvPr/>
          </p:nvSpPr>
          <p:spPr>
            <a:xfrm>
              <a:off x="5554979" y="5256276"/>
              <a:ext cx="3350260" cy="1010919"/>
            </a:xfrm>
            <a:custGeom>
              <a:rect b="b" l="l" r="r" t="t"/>
              <a:pathLst>
                <a:path extrusionOk="0" h="1010920" w="3350259">
                  <a:moveTo>
                    <a:pt x="0" y="0"/>
                  </a:moveTo>
                  <a:lnTo>
                    <a:pt x="3349752" y="0"/>
                  </a:lnTo>
                  <a:lnTo>
                    <a:pt x="3349752" y="1010412"/>
                  </a:lnTo>
                  <a:lnTo>
                    <a:pt x="0" y="1010412"/>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68" name="Google Shape;268;p33"/>
          <p:cNvSpPr txBox="1"/>
          <p:nvPr/>
        </p:nvSpPr>
        <p:spPr>
          <a:xfrm>
            <a:off x="5554675" y="5244447"/>
            <a:ext cx="2955925" cy="10007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VIOLACIÓN DE NOMBRE</a:t>
            </a:r>
            <a:endParaRPr sz="1600">
              <a:latin typeface="Calibri"/>
              <a:ea typeface="Calibri"/>
              <a:cs typeface="Calibri"/>
              <a:sym typeface="Calibri"/>
            </a:endParaRPr>
          </a:p>
          <a:p>
            <a:pPr indent="0" lvl="0" marL="12700" marR="5080" rtl="0" algn="l">
              <a:lnSpc>
                <a:spcPct val="100000"/>
              </a:lnSpc>
              <a:spcBef>
                <a:spcPts val="0"/>
              </a:spcBef>
              <a:spcAft>
                <a:spcPts val="0"/>
              </a:spcAft>
              <a:buNone/>
            </a:pPr>
            <a:r>
              <a:rPr lang="en-US" sz="1600">
                <a:solidFill>
                  <a:srgbClr val="FFFFFF"/>
                </a:solidFill>
                <a:latin typeface="Calibri"/>
                <a:ea typeface="Calibri"/>
                <a:cs typeface="Calibri"/>
                <a:sym typeface="Calibri"/>
              </a:rPr>
              <a:t>Cuando se utiliza el término  CONSTRAINT, debe ir seguido de un  nombre de restricción</a:t>
            </a:r>
            <a:endParaRPr sz="1600">
              <a:latin typeface="Calibri"/>
              <a:ea typeface="Calibri"/>
              <a:cs typeface="Calibri"/>
              <a:sym typeface="Calibri"/>
            </a:endParaRPr>
          </a:p>
        </p:txBody>
      </p:sp>
      <p:grpSp>
        <p:nvGrpSpPr>
          <p:cNvPr id="269" name="Google Shape;269;p33"/>
          <p:cNvGrpSpPr/>
          <p:nvPr/>
        </p:nvGrpSpPr>
        <p:grpSpPr>
          <a:xfrm>
            <a:off x="2004060" y="5266944"/>
            <a:ext cx="3171825" cy="765175"/>
            <a:chOff x="2004060" y="5266944"/>
            <a:chExt cx="3171825" cy="765175"/>
          </a:xfrm>
        </p:grpSpPr>
        <p:sp>
          <p:nvSpPr>
            <p:cNvPr id="270" name="Google Shape;270;p33"/>
            <p:cNvSpPr/>
            <p:nvPr/>
          </p:nvSpPr>
          <p:spPr>
            <a:xfrm>
              <a:off x="2004060" y="5266944"/>
              <a:ext cx="3171825" cy="765175"/>
            </a:xfrm>
            <a:custGeom>
              <a:rect b="b" l="l" r="r" t="t"/>
              <a:pathLst>
                <a:path extrusionOk="0" h="765175" w="3171825">
                  <a:moveTo>
                    <a:pt x="3171443" y="0"/>
                  </a:moveTo>
                  <a:lnTo>
                    <a:pt x="0" y="0"/>
                  </a:lnTo>
                  <a:lnTo>
                    <a:pt x="0" y="765047"/>
                  </a:lnTo>
                  <a:lnTo>
                    <a:pt x="3171443" y="765047"/>
                  </a:lnTo>
                  <a:lnTo>
                    <a:pt x="3171443"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1" name="Google Shape;271;p33"/>
            <p:cNvSpPr/>
            <p:nvPr/>
          </p:nvSpPr>
          <p:spPr>
            <a:xfrm>
              <a:off x="2004060" y="5266944"/>
              <a:ext cx="3171825" cy="765175"/>
            </a:xfrm>
            <a:custGeom>
              <a:rect b="b" l="l" r="r" t="t"/>
              <a:pathLst>
                <a:path extrusionOk="0" h="765175" w="3171825">
                  <a:moveTo>
                    <a:pt x="0" y="0"/>
                  </a:moveTo>
                  <a:lnTo>
                    <a:pt x="3171443" y="0"/>
                  </a:lnTo>
                  <a:lnTo>
                    <a:pt x="3171443" y="765047"/>
                  </a:lnTo>
                  <a:lnTo>
                    <a:pt x="0" y="765047"/>
                  </a:lnTo>
                  <a:lnTo>
                    <a:pt x="0" y="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72" name="Google Shape;272;p33"/>
          <p:cNvSpPr txBox="1"/>
          <p:nvPr/>
        </p:nvSpPr>
        <p:spPr>
          <a:xfrm>
            <a:off x="2003618" y="5254821"/>
            <a:ext cx="3132455"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VIOLACIÓN DE NOT NULL</a:t>
            </a:r>
            <a:endParaRPr sz="1600">
              <a:latin typeface="Calibri"/>
              <a:ea typeface="Calibri"/>
              <a:cs typeface="Calibri"/>
              <a:sym typeface="Calibri"/>
            </a:endParaRPr>
          </a:p>
          <a:p>
            <a:pPr indent="0" lvl="0" marL="12700" marR="5080" rtl="0" algn="l">
              <a:lnSpc>
                <a:spcPct val="100000"/>
              </a:lnSpc>
              <a:spcBef>
                <a:spcPts val="0"/>
              </a:spcBef>
              <a:spcAft>
                <a:spcPts val="0"/>
              </a:spcAft>
              <a:buNone/>
            </a:pPr>
            <a:r>
              <a:rPr lang="en-US" sz="1600">
                <a:solidFill>
                  <a:srgbClr val="FFFFFF"/>
                </a:solidFill>
                <a:latin typeface="Calibri"/>
                <a:ea typeface="Calibri"/>
                <a:cs typeface="Calibri"/>
                <a:sym typeface="Calibri"/>
              </a:rPr>
              <a:t>Las restricciones NOT NULL solo se  pueden definir en el nivel de columna</a:t>
            </a:r>
            <a:endParaRPr sz="1600">
              <a:latin typeface="Calibri"/>
              <a:ea typeface="Calibri"/>
              <a:cs typeface="Calibri"/>
              <a:sym typeface="Calibri"/>
            </a:endParaRPr>
          </a:p>
        </p:txBody>
      </p:sp>
      <p:grpSp>
        <p:nvGrpSpPr>
          <p:cNvPr id="273" name="Google Shape;273;p33"/>
          <p:cNvGrpSpPr/>
          <p:nvPr/>
        </p:nvGrpSpPr>
        <p:grpSpPr>
          <a:xfrm>
            <a:off x="5085581" y="2196845"/>
            <a:ext cx="3678435" cy="3060574"/>
            <a:chOff x="5085581" y="2196845"/>
            <a:chExt cx="3678435" cy="3060574"/>
          </a:xfrm>
        </p:grpSpPr>
        <p:sp>
          <p:nvSpPr>
            <p:cNvPr id="274" name="Google Shape;274;p33"/>
            <p:cNvSpPr/>
            <p:nvPr/>
          </p:nvSpPr>
          <p:spPr>
            <a:xfrm>
              <a:off x="8722614" y="2196845"/>
              <a:ext cx="0" cy="1816735"/>
            </a:xfrm>
            <a:custGeom>
              <a:rect b="b" l="l" r="r" t="t"/>
              <a:pathLst>
                <a:path extrusionOk="0" h="1816735" w="120000">
                  <a:moveTo>
                    <a:pt x="0" y="0"/>
                  </a:moveTo>
                  <a:lnTo>
                    <a:pt x="0" y="1816608"/>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5" name="Google Shape;275;p33"/>
            <p:cNvSpPr/>
            <p:nvPr/>
          </p:nvSpPr>
          <p:spPr>
            <a:xfrm>
              <a:off x="6839712" y="4004310"/>
              <a:ext cx="1883410" cy="8890"/>
            </a:xfrm>
            <a:custGeom>
              <a:rect b="b" l="l" r="r" t="t"/>
              <a:pathLst>
                <a:path extrusionOk="0" h="8889" w="1883409">
                  <a:moveTo>
                    <a:pt x="1882902" y="0"/>
                  </a:moveTo>
                  <a:lnTo>
                    <a:pt x="0" y="8699"/>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6" name="Google Shape;276;p33"/>
            <p:cNvSpPr/>
            <p:nvPr/>
          </p:nvSpPr>
          <p:spPr>
            <a:xfrm>
              <a:off x="6744461" y="3955770"/>
              <a:ext cx="114935" cy="114300"/>
            </a:xfrm>
            <a:custGeom>
              <a:rect b="b" l="l" r="r" t="t"/>
              <a:pathLst>
                <a:path extrusionOk="0" h="114300" w="114934">
                  <a:moveTo>
                    <a:pt x="114033" y="0"/>
                  </a:moveTo>
                  <a:lnTo>
                    <a:pt x="0" y="57683"/>
                  </a:lnTo>
                  <a:lnTo>
                    <a:pt x="114566" y="114300"/>
                  </a:lnTo>
                  <a:lnTo>
                    <a:pt x="114033"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7" name="Google Shape;277;p33"/>
            <p:cNvSpPr/>
            <p:nvPr/>
          </p:nvSpPr>
          <p:spPr>
            <a:xfrm>
              <a:off x="5142738" y="4733544"/>
              <a:ext cx="0" cy="523875"/>
            </a:xfrm>
            <a:custGeom>
              <a:rect b="b" l="l" r="r" t="t"/>
              <a:pathLst>
                <a:path extrusionOk="0" h="523875" w="120000">
                  <a:moveTo>
                    <a:pt x="0" y="523493"/>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8" name="Google Shape;278;p33"/>
            <p:cNvSpPr/>
            <p:nvPr/>
          </p:nvSpPr>
          <p:spPr>
            <a:xfrm>
              <a:off x="5085581" y="4638291"/>
              <a:ext cx="114300" cy="114300"/>
            </a:xfrm>
            <a:custGeom>
              <a:rect b="b" l="l" r="r" t="t"/>
              <a:pathLst>
                <a:path extrusionOk="0" h="114300" w="114300">
                  <a:moveTo>
                    <a:pt x="57150" y="0"/>
                  </a:moveTo>
                  <a:lnTo>
                    <a:pt x="0" y="114300"/>
                  </a:lnTo>
                  <a:lnTo>
                    <a:pt x="114300" y="114300"/>
                  </a:lnTo>
                  <a:lnTo>
                    <a:pt x="57150"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9" name="Google Shape;279;p33"/>
            <p:cNvSpPr/>
            <p:nvPr/>
          </p:nvSpPr>
          <p:spPr>
            <a:xfrm>
              <a:off x="8763762" y="4237481"/>
              <a:ext cx="0" cy="1010919"/>
            </a:xfrm>
            <a:custGeom>
              <a:rect b="b" l="l" r="r" t="t"/>
              <a:pathLst>
                <a:path extrusionOk="0" h="1010920" w="120000">
                  <a:moveTo>
                    <a:pt x="0" y="0"/>
                  </a:moveTo>
                  <a:lnTo>
                    <a:pt x="0" y="1010412"/>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0" name="Google Shape;280;p33"/>
            <p:cNvSpPr/>
            <p:nvPr/>
          </p:nvSpPr>
          <p:spPr>
            <a:xfrm>
              <a:off x="7618476" y="4248848"/>
              <a:ext cx="1145540" cy="8890"/>
            </a:xfrm>
            <a:custGeom>
              <a:rect b="b" l="l" r="r" t="t"/>
              <a:pathLst>
                <a:path extrusionOk="0" h="8889" w="1145540">
                  <a:moveTo>
                    <a:pt x="1145286" y="8445"/>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1" name="Google Shape;281;p33"/>
            <p:cNvSpPr/>
            <p:nvPr/>
          </p:nvSpPr>
          <p:spPr>
            <a:xfrm>
              <a:off x="7523231" y="4191845"/>
              <a:ext cx="114935" cy="114300"/>
            </a:xfrm>
            <a:custGeom>
              <a:rect b="b" l="l" r="r" t="t"/>
              <a:pathLst>
                <a:path extrusionOk="0" h="114300" w="114934">
                  <a:moveTo>
                    <a:pt x="114719" y="0"/>
                  </a:moveTo>
                  <a:lnTo>
                    <a:pt x="0" y="56299"/>
                  </a:lnTo>
                  <a:lnTo>
                    <a:pt x="113868" y="114300"/>
                  </a:lnTo>
                  <a:lnTo>
                    <a:pt x="114719"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82" name="Google Shape;282;p33"/>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83" name="Google Shape;283;p3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4" name="Google Shape;284;p3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txBox="1"/>
          <p:nvPr>
            <p:ph type="title"/>
          </p:nvPr>
        </p:nvSpPr>
        <p:spPr>
          <a:xfrm>
            <a:off x="392112" y="748031"/>
            <a:ext cx="4815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Cinco Tipos de Restricciones</a:t>
            </a:r>
            <a:endParaRPr sz="3300"/>
          </a:p>
        </p:txBody>
      </p:sp>
      <p:sp>
        <p:nvSpPr>
          <p:cNvPr id="290" name="Google Shape;290;p34"/>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291" name="Google Shape;291;p3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2" name="Google Shape;292;p3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3" name="Google Shape;293;p34"/>
          <p:cNvSpPr txBox="1"/>
          <p:nvPr/>
        </p:nvSpPr>
        <p:spPr>
          <a:xfrm>
            <a:off x="483552" y="1415417"/>
            <a:ext cx="7470775" cy="371094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Existen cinco tipos de restricciones en una base de  datos de Oracle</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tipo aplica una regla diferente</a:t>
            </a:r>
            <a:endParaRPr sz="2800">
              <a:latin typeface="Calibri"/>
              <a:ea typeface="Calibri"/>
              <a:cs typeface="Calibri"/>
              <a:sym typeface="Calibri"/>
            </a:endParaRPr>
          </a:p>
          <a:p>
            <a:pPr indent="-177800" lvl="0" marL="184785" marR="0"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tipos son:</a:t>
            </a:r>
            <a:endParaRPr sz="2800">
              <a:latin typeface="Calibri"/>
              <a:ea typeface="Calibri"/>
              <a:cs typeface="Calibri"/>
              <a:sym typeface="Calibri"/>
            </a:endParaRPr>
          </a:p>
          <a:p>
            <a:pPr indent="0" lvl="0" marL="355600" marR="0" rtl="0" algn="l">
              <a:lnSpc>
                <a:spcPct val="100000"/>
              </a:lnSpc>
              <a:spcBef>
                <a:spcPts val="135"/>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Restricciones NOT NULL</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Restricciones UNIQUE</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Restricciones PRIMARY KEY</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Restricciones FOREIGN KEY</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Restricciones CHECK</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392112" y="748031"/>
            <a:ext cx="4815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Cinco Tipos de Restricciones</a:t>
            </a:r>
            <a:endParaRPr sz="3300"/>
          </a:p>
        </p:txBody>
      </p:sp>
      <p:sp>
        <p:nvSpPr>
          <p:cNvPr id="299" name="Google Shape;299;p35"/>
          <p:cNvSpPr txBox="1"/>
          <p:nvPr/>
        </p:nvSpPr>
        <p:spPr>
          <a:xfrm>
            <a:off x="483552" y="1415417"/>
            <a:ext cx="7796530" cy="17062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resto de esta lección, conocerá las restricciones  NOT NULL y UNIQUE</a:t>
            </a:r>
            <a:endParaRPr sz="2800">
              <a:latin typeface="Calibri"/>
              <a:ea typeface="Calibri"/>
              <a:cs typeface="Calibri"/>
              <a:sym typeface="Calibri"/>
            </a:endParaRPr>
          </a:p>
          <a:p>
            <a:pPr indent="-177800" lvl="0" marL="184785" marR="14732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siguiente lección se le enseñarán los otros tres  tipos de restricciones</a:t>
            </a:r>
            <a:endParaRPr sz="2800">
              <a:latin typeface="Calibri"/>
              <a:ea typeface="Calibri"/>
              <a:cs typeface="Calibri"/>
              <a:sym typeface="Calibri"/>
            </a:endParaRPr>
          </a:p>
        </p:txBody>
      </p:sp>
      <p:grpSp>
        <p:nvGrpSpPr>
          <p:cNvPr id="300" name="Google Shape;300;p35"/>
          <p:cNvGrpSpPr/>
          <p:nvPr/>
        </p:nvGrpSpPr>
        <p:grpSpPr>
          <a:xfrm>
            <a:off x="2077211" y="3491496"/>
            <a:ext cx="4011167" cy="2764522"/>
            <a:chOff x="2077211" y="3491496"/>
            <a:chExt cx="4011167" cy="2764522"/>
          </a:xfrm>
        </p:grpSpPr>
        <p:pic>
          <p:nvPicPr>
            <p:cNvPr id="301" name="Google Shape;301;p35"/>
            <p:cNvPicPr preferRelativeResize="0"/>
            <p:nvPr/>
          </p:nvPicPr>
          <p:blipFill rotWithShape="1">
            <a:blip r:embed="rId3">
              <a:alphaModFix/>
            </a:blip>
            <a:srcRect b="0" l="0" r="0" t="0"/>
            <a:stretch/>
          </p:blipFill>
          <p:spPr>
            <a:xfrm>
              <a:off x="2077211" y="5483351"/>
              <a:ext cx="4011167" cy="772667"/>
            </a:xfrm>
            <a:prstGeom prst="rect">
              <a:avLst/>
            </a:prstGeom>
            <a:noFill/>
            <a:ln>
              <a:noFill/>
            </a:ln>
          </p:spPr>
        </p:pic>
        <p:pic>
          <p:nvPicPr>
            <p:cNvPr id="302" name="Google Shape;302;p35"/>
            <p:cNvPicPr preferRelativeResize="0"/>
            <p:nvPr/>
          </p:nvPicPr>
          <p:blipFill rotWithShape="1">
            <a:blip r:embed="rId4">
              <a:alphaModFix/>
            </a:blip>
            <a:srcRect b="0" l="0" r="0" t="0"/>
            <a:stretch/>
          </p:blipFill>
          <p:spPr>
            <a:xfrm>
              <a:off x="3133344" y="3491496"/>
              <a:ext cx="2877311" cy="2686798"/>
            </a:xfrm>
            <a:prstGeom prst="rect">
              <a:avLst/>
            </a:prstGeom>
            <a:noFill/>
            <a:ln>
              <a:noFill/>
            </a:ln>
          </p:spPr>
        </p:pic>
      </p:grpSp>
      <p:sp>
        <p:nvSpPr>
          <p:cNvPr id="303" name="Google Shape;303;p35"/>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04" name="Google Shape;304;p3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5" name="Google Shape;305;p3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392112" y="748031"/>
            <a:ext cx="371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Restricción NOT NULL</a:t>
            </a:r>
            <a:endParaRPr sz="3300"/>
          </a:p>
        </p:txBody>
      </p:sp>
      <p:sp>
        <p:nvSpPr>
          <p:cNvPr id="311" name="Google Shape;311;p36"/>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12" name="Google Shape;312;p3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3" name="Google Shape;313;p3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4" name="Google Shape;314;p36"/>
          <p:cNvSpPr txBox="1"/>
          <p:nvPr/>
        </p:nvSpPr>
        <p:spPr>
          <a:xfrm>
            <a:off x="483552" y="1381889"/>
            <a:ext cx="8002270" cy="4511675"/>
          </a:xfrm>
          <a:prstGeom prst="rect">
            <a:avLst/>
          </a:prstGeom>
          <a:noFill/>
          <a:ln>
            <a:noFill/>
          </a:ln>
        </p:spPr>
        <p:txBody>
          <a:bodyPr anchorCtr="0" anchor="t" bIns="0" lIns="0" spcFirstLastPara="1" rIns="0" wrap="square" tIns="97150">
            <a:spAutoFit/>
          </a:bodyPr>
          <a:lstStyle/>
          <a:p>
            <a:pPr indent="-177800" lvl="0" marL="184785" marR="27368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columna definida con una restricción NOT NULL  necesita que para cada fila introducida en la tabla,  debe existir un valor para dicha columna</a:t>
            </a:r>
            <a:endParaRPr sz="2800">
              <a:latin typeface="Calibri"/>
              <a:ea typeface="Calibri"/>
              <a:cs typeface="Calibri"/>
              <a:sym typeface="Calibri"/>
            </a:endParaRPr>
          </a:p>
          <a:p>
            <a:pPr indent="-177800" lvl="0" marL="184785" marR="41783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si la columna de correo electrónico de  una tabla de empleados se ha definido como NOT  NULL, cada empleado introducido en la tabla DEBE  tener un valor en la columna de correo electrónico</a:t>
            </a:r>
            <a:endParaRPr sz="2800">
              <a:latin typeface="Calibri"/>
              <a:ea typeface="Calibri"/>
              <a:cs typeface="Calibri"/>
              <a:sym typeface="Calibri"/>
            </a:endParaRPr>
          </a:p>
          <a:p>
            <a:pPr indent="-177800" lvl="0" marL="184785" marR="33845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definir columnas NOT NULL, es habitual utilizar el  sufijo _nn en el nombre de restricción</a:t>
            </a:r>
            <a:endParaRPr sz="2800">
              <a:latin typeface="Calibri"/>
              <a:ea typeface="Calibri"/>
              <a:cs typeface="Calibri"/>
              <a:sym typeface="Calibri"/>
            </a:endParaRPr>
          </a:p>
          <a:p>
            <a:pPr indent="-177800" lvl="0" marL="184785"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el nombre de restricción para la columna  de correo electrónico NOT NULL de la tabla de  empleados podría ser emp_email_nn</a:t>
            </a:r>
            <a:endParaRPr sz="28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392112" y="748031"/>
            <a:ext cx="3384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Restricción UNIQUE</a:t>
            </a:r>
            <a:endParaRPr sz="3300"/>
          </a:p>
        </p:txBody>
      </p:sp>
      <p:sp>
        <p:nvSpPr>
          <p:cNvPr id="320" name="Google Shape;320;p37"/>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21" name="Google Shape;321;p3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2" name="Google Shape;322;p3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3" name="Google Shape;323;p37"/>
          <p:cNvSpPr txBox="1"/>
          <p:nvPr/>
        </p:nvSpPr>
        <p:spPr>
          <a:xfrm>
            <a:off x="483552" y="1381889"/>
            <a:ext cx="8051800" cy="4170045"/>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UNIQUE necesita que todos los valores  de una columna o juego de columnas (clave  compuesta) sean únicos; es decir, que dos filas de una  tabla no pueden tener valores duplicados</a:t>
            </a:r>
            <a:endParaRPr sz="2800">
              <a:latin typeface="Calibri"/>
              <a:ea typeface="Calibri"/>
              <a:cs typeface="Calibri"/>
              <a:sym typeface="Calibri"/>
            </a:endParaRPr>
          </a:p>
          <a:p>
            <a:pPr indent="-177800" lvl="0" marL="184785" marR="41592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puede ser importante para un negocio  garantizar que no hay dos personas que tengan la  misma dirección de correo electrónico</a:t>
            </a:r>
            <a:endParaRPr sz="2800">
              <a:latin typeface="Calibri"/>
              <a:ea typeface="Calibri"/>
              <a:cs typeface="Calibri"/>
              <a:sym typeface="Calibri"/>
            </a:endParaRPr>
          </a:p>
          <a:p>
            <a:pPr indent="-177800" lvl="0" marL="184785" marR="3683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columna de correo electrónico se puede definir con  una restricción UNIQUE</a:t>
            </a:r>
            <a:endParaRPr sz="2800">
              <a:latin typeface="Calibri"/>
              <a:ea typeface="Calibri"/>
              <a:cs typeface="Calibri"/>
              <a:sym typeface="Calibri"/>
            </a:endParaRPr>
          </a:p>
          <a:p>
            <a:pPr indent="-177800" lvl="0" marL="184785" marR="24384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columna o juego de columnas que se define como  UNIQUE se denomina una clave única</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8"/>
          <p:cNvSpPr txBox="1"/>
          <p:nvPr>
            <p:ph type="title"/>
          </p:nvPr>
        </p:nvSpPr>
        <p:spPr>
          <a:xfrm>
            <a:off x="392112" y="748031"/>
            <a:ext cx="3384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Restricción UNIQUE</a:t>
            </a:r>
            <a:endParaRPr sz="3300"/>
          </a:p>
        </p:txBody>
      </p:sp>
      <p:sp>
        <p:nvSpPr>
          <p:cNvPr id="329" name="Google Shape;329;p38"/>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30" name="Google Shape;330;p3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1" name="Google Shape;331;p3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2" name="Google Shape;332;p38"/>
          <p:cNvSpPr txBox="1"/>
          <p:nvPr/>
        </p:nvSpPr>
        <p:spPr>
          <a:xfrm>
            <a:off x="483552" y="1415417"/>
            <a:ext cx="8054340" cy="3344545"/>
          </a:xfrm>
          <a:prstGeom prst="rect">
            <a:avLst/>
          </a:prstGeom>
          <a:noFill/>
          <a:ln>
            <a:noFill/>
          </a:ln>
        </p:spPr>
        <p:txBody>
          <a:bodyPr anchorCtr="0" anchor="t" bIns="0" lIns="0" spcFirstLastPara="1" rIns="0" wrap="square" tIns="59675">
            <a:spAutoFit/>
          </a:bodyPr>
          <a:lstStyle/>
          <a:p>
            <a:pPr indent="-177800" lvl="0" marL="184785" marR="2908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combinación de dos o más columnas debe ser  única para cada entrada, se dice que la restricción es  una clave única compuesta</a:t>
            </a:r>
            <a:endParaRPr sz="2800">
              <a:latin typeface="Calibri"/>
              <a:ea typeface="Calibri"/>
              <a:cs typeface="Calibri"/>
              <a:sym typeface="Calibri"/>
            </a:endParaRPr>
          </a:p>
          <a:p>
            <a:pPr indent="-177800" lvl="0" marL="184785" marR="20066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indicación de que todas las combinaciones de  correo electrónico y apellido deben ser ÚNICAS es un  ejemplo de clave única compuesta</a:t>
            </a:r>
            <a:endParaRPr sz="2800">
              <a:latin typeface="Calibri"/>
              <a:ea typeface="Calibri"/>
              <a:cs typeface="Calibri"/>
              <a:sym typeface="Calibri"/>
            </a:endParaRPr>
          </a:p>
          <a:p>
            <a:pPr indent="-177800" lvl="0" marL="184785"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palabra "clave" hace referencia a las columnas, no a  los nombres de restricciones</a:t>
            </a:r>
            <a:endParaRPr sz="28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9"/>
          <p:cNvSpPr txBox="1"/>
          <p:nvPr>
            <p:ph type="title"/>
          </p:nvPr>
        </p:nvSpPr>
        <p:spPr>
          <a:xfrm>
            <a:off x="392112" y="748031"/>
            <a:ext cx="5387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 de Restricción UNIQUE</a:t>
            </a:r>
            <a:endParaRPr sz="3300"/>
          </a:p>
        </p:txBody>
      </p:sp>
      <p:sp>
        <p:nvSpPr>
          <p:cNvPr id="338" name="Google Shape;338;p39"/>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39" name="Google Shape;339;p3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0" name="Google Shape;340;p3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1" name="Google Shape;341;p39"/>
          <p:cNvSpPr txBox="1"/>
          <p:nvPr/>
        </p:nvSpPr>
        <p:spPr>
          <a:xfrm>
            <a:off x="483552" y="1415417"/>
            <a:ext cx="8152765" cy="2474595"/>
          </a:xfrm>
          <a:prstGeom prst="rect">
            <a:avLst/>
          </a:prstGeom>
          <a:noFill/>
          <a:ln>
            <a:noFill/>
          </a:ln>
        </p:spPr>
        <p:txBody>
          <a:bodyPr anchorCtr="0" anchor="t" bIns="0" lIns="0" spcFirstLastPara="1" rIns="0" wrap="square" tIns="59675">
            <a:spAutoFit/>
          </a:bodyPr>
          <a:lstStyle/>
          <a:p>
            <a:pPr indent="-177800" lvl="0" marL="184785" marR="92201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columna de correo electrónico de la tabla se  define con una restricción UNIQUE, ninguna otra  entrada de cliente puede tener el mismo correo  electrónico</a:t>
            </a:r>
            <a:endParaRPr sz="2800">
              <a:latin typeface="Calibri"/>
              <a:ea typeface="Calibri"/>
              <a:cs typeface="Calibri"/>
              <a:sym typeface="Calibri"/>
            </a:endParaRPr>
          </a:p>
          <a:p>
            <a:pPr indent="-177800" lvl="0" marL="18478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ocurre si dos clientes viven en el mismo domicilio  y comparten una dirección de correo electrónico?</a:t>
            </a:r>
            <a:endParaRPr sz="2800">
              <a:latin typeface="Calibri"/>
              <a:ea typeface="Calibri"/>
              <a:cs typeface="Calibri"/>
              <a:sym typeface="Calibri"/>
            </a:endParaRPr>
          </a:p>
        </p:txBody>
      </p:sp>
      <p:sp>
        <p:nvSpPr>
          <p:cNvPr id="342" name="Google Shape;342;p39"/>
          <p:cNvSpPr txBox="1"/>
          <p:nvPr/>
        </p:nvSpPr>
        <p:spPr>
          <a:xfrm>
            <a:off x="1907213" y="5930309"/>
            <a:ext cx="4555490" cy="4216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300">
                <a:solidFill>
                  <a:srgbClr val="FF0000"/>
                </a:solidFill>
                <a:latin typeface="Courier New"/>
                <a:ea typeface="Courier New"/>
                <a:cs typeface="Courier New"/>
                <a:sym typeface="Courier New"/>
              </a:rPr>
              <a:t>ORA-00001: unique constraint  (USWA_SKHS_SQL01_T01.CLIENT_EMAIL_UK) violated</a:t>
            </a:r>
            <a:endParaRPr sz="1300">
              <a:latin typeface="Courier New"/>
              <a:ea typeface="Courier New"/>
              <a:cs typeface="Courier New"/>
              <a:sym typeface="Courier New"/>
            </a:endParaRPr>
          </a:p>
        </p:txBody>
      </p:sp>
      <p:graphicFrame>
        <p:nvGraphicFramePr>
          <p:cNvPr id="343" name="Google Shape;343;p39"/>
          <p:cNvGraphicFramePr/>
          <p:nvPr/>
        </p:nvGraphicFramePr>
        <p:xfrm>
          <a:off x="832591" y="3930531"/>
          <a:ext cx="3000000" cy="3000000"/>
        </p:xfrm>
        <a:graphic>
          <a:graphicData uri="http://schemas.openxmlformats.org/drawingml/2006/table">
            <a:tbl>
              <a:tblPr bandRow="1" firstRow="1">
                <a:noFill/>
                <a:tableStyleId>{3E4AEAC2-790A-4B57-8606-2A313761FCA3}</a:tableStyleId>
              </a:tblPr>
              <a:tblGrid>
                <a:gridCol w="1584950"/>
                <a:gridCol w="1229350"/>
                <a:gridCol w="1177925"/>
                <a:gridCol w="1242050"/>
                <a:gridCol w="2254250"/>
              </a:tblGrid>
              <a:tr h="284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CLIENT_NUMBER</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PHONE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EMAIL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5922</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Hiram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Peters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3715832249</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3"/>
                        </a:rPr>
                        <a:t>hpeters@yahoo.com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5857</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Serena</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Jones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7035335900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4"/>
                        </a:rPr>
                        <a:t>serena.jones@jones.com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6133</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Lauren</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Vigil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4072220090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3335"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5"/>
                        </a:rPr>
                        <a:t>lbv@lbv.net</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44" name="Google Shape;344;p39"/>
          <p:cNvSpPr txBox="1"/>
          <p:nvPr/>
        </p:nvSpPr>
        <p:spPr>
          <a:xfrm>
            <a:off x="417576" y="5186171"/>
            <a:ext cx="8345805" cy="71183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6944"/>
              </a:lnSpc>
              <a:spcBef>
                <a:spcPts val="0"/>
              </a:spcBef>
              <a:spcAft>
                <a:spcPts val="0"/>
              </a:spcAft>
              <a:buNone/>
            </a:pPr>
            <a:r>
              <a:rPr b="1" lang="en-US" sz="1600">
                <a:solidFill>
                  <a:srgbClr val="4E3629"/>
                </a:solidFill>
                <a:latin typeface="Courier New"/>
                <a:ea typeface="Courier New"/>
                <a:cs typeface="Courier New"/>
                <a:sym typeface="Courier New"/>
              </a:rPr>
              <a:t>INSERT INTO </a:t>
            </a:r>
            <a:r>
              <a:rPr b="1" lang="en-US" sz="1800">
                <a:solidFill>
                  <a:srgbClr val="4E3629"/>
                </a:solidFill>
                <a:latin typeface="Courier New"/>
                <a:ea typeface="Courier New"/>
                <a:cs typeface="Courier New"/>
                <a:sym typeface="Courier New"/>
              </a:rPr>
              <a:t>clients </a:t>
            </a:r>
            <a:r>
              <a:rPr b="1" lang="en-US" sz="1600">
                <a:solidFill>
                  <a:srgbClr val="4E3629"/>
                </a:solidFill>
                <a:latin typeface="Courier New"/>
                <a:ea typeface="Courier New"/>
                <a:cs typeface="Courier New"/>
                <a:sym typeface="Courier New"/>
              </a:rPr>
              <a:t>(client_number, first_name, Last_name, phone,</a:t>
            </a:r>
            <a:endParaRPr sz="1600">
              <a:latin typeface="Courier New"/>
              <a:ea typeface="Courier New"/>
              <a:cs typeface="Courier New"/>
              <a:sym typeface="Courier New"/>
            </a:endParaRPr>
          </a:p>
          <a:p>
            <a:pPr indent="0" lvl="0" marL="0" marR="0" rtl="0" algn="l">
              <a:lnSpc>
                <a:spcPct val="100000"/>
              </a:lnSpc>
              <a:spcBef>
                <a:spcPts val="30"/>
              </a:spcBef>
              <a:spcAft>
                <a:spcPts val="0"/>
              </a:spcAft>
              <a:buNone/>
            </a:pPr>
            <a:r>
              <a:rPr b="1" lang="en-US" sz="1600">
                <a:solidFill>
                  <a:srgbClr val="4E3629"/>
                </a:solidFill>
                <a:latin typeface="Courier New"/>
                <a:ea typeface="Courier New"/>
                <a:cs typeface="Courier New"/>
                <a:sym typeface="Courier New"/>
              </a:rPr>
              <a:t>email)</a:t>
            </a:r>
            <a:endParaRPr sz="1600">
              <a:latin typeface="Courier New"/>
              <a:ea typeface="Courier New"/>
              <a:cs typeface="Courier New"/>
              <a:sym typeface="Courier New"/>
            </a:endParaRPr>
          </a:p>
          <a:p>
            <a:pPr indent="0" lvl="0" marL="365125" marR="0" rtl="0" algn="l">
              <a:lnSpc>
                <a:spcPct val="119375"/>
              </a:lnSpc>
              <a:spcBef>
                <a:spcPts val="0"/>
              </a:spcBef>
              <a:spcAft>
                <a:spcPts val="0"/>
              </a:spcAft>
              <a:buNone/>
            </a:pPr>
            <a:r>
              <a:rPr b="1" lang="en-US" sz="1600">
                <a:solidFill>
                  <a:srgbClr val="4E3629"/>
                </a:solidFill>
                <a:latin typeface="Courier New"/>
                <a:ea typeface="Courier New"/>
                <a:cs typeface="Courier New"/>
                <a:sym typeface="Courier New"/>
              </a:rPr>
              <a:t>VALUES (7234, 'Lonny', 'Vigil', 4072220091, '</a:t>
            </a:r>
            <a:r>
              <a:rPr b="1" lang="en-US" sz="1600">
                <a:solidFill>
                  <a:srgbClr val="D1350F"/>
                </a:solidFill>
                <a:latin typeface="Courier New"/>
                <a:ea typeface="Courier New"/>
                <a:cs typeface="Courier New"/>
                <a:sym typeface="Courier New"/>
              </a:rPr>
              <a:t>lbv@lbv.net</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0"/>
          <p:cNvSpPr txBox="1"/>
          <p:nvPr>
            <p:ph type="title"/>
          </p:nvPr>
        </p:nvSpPr>
        <p:spPr>
          <a:xfrm>
            <a:off x="392112" y="748031"/>
            <a:ext cx="6094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Definición de Restricciones UNIQUE</a:t>
            </a:r>
            <a:endParaRPr sz="3300"/>
          </a:p>
        </p:txBody>
      </p:sp>
      <p:sp>
        <p:nvSpPr>
          <p:cNvPr id="350" name="Google Shape;350;p40"/>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51" name="Google Shape;351;p4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2" name="Google Shape;352;p4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3" name="Google Shape;353;p40"/>
          <p:cNvSpPr txBox="1"/>
          <p:nvPr/>
        </p:nvSpPr>
        <p:spPr>
          <a:xfrm>
            <a:off x="483552" y="1415417"/>
            <a:ext cx="8175625" cy="3829050"/>
          </a:xfrm>
          <a:prstGeom prst="rect">
            <a:avLst/>
          </a:prstGeom>
          <a:noFill/>
          <a:ln>
            <a:noFill/>
          </a:ln>
        </p:spPr>
        <p:txBody>
          <a:bodyPr anchorCtr="0" anchor="t" bIns="0" lIns="0" spcFirstLastPara="1" rIns="0" wrap="square" tIns="59675">
            <a:spAutoFit/>
          </a:bodyPr>
          <a:lstStyle/>
          <a:p>
            <a:pPr indent="-177800" lvl="0" marL="184785" marR="3505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definir restricciones UNIQUE, es habitual utilizar el  sufijo _uk en el nombre de restricción</a:t>
            </a:r>
            <a:endParaRPr sz="2800">
              <a:latin typeface="Calibri"/>
              <a:ea typeface="Calibri"/>
              <a:cs typeface="Calibri"/>
              <a:sym typeface="Calibri"/>
            </a:endParaRPr>
          </a:p>
          <a:p>
            <a:pPr indent="-177800" lvl="0" marL="184785" marR="17780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el nombre de restricción para la columna  de correo electrónico UNIQUE de la tabla de  empleados podría ser emp_email_uk</a:t>
            </a:r>
            <a:endParaRPr sz="2800">
              <a:latin typeface="Calibri"/>
              <a:ea typeface="Calibri"/>
              <a:cs typeface="Calibri"/>
              <a:sym typeface="Calibri"/>
            </a:endParaRPr>
          </a:p>
          <a:p>
            <a:pPr indent="-177800" lvl="0" marL="184785" marR="11811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definir una clave única compuesta, debe definir la  restricción en el nivel de tabla en lugar del nivel de  columna</a:t>
            </a:r>
            <a:endParaRPr sz="2800">
              <a:latin typeface="Calibri"/>
              <a:ea typeface="Calibri"/>
              <a:cs typeface="Calibri"/>
              <a:sym typeface="Calibri"/>
            </a:endParaRPr>
          </a:p>
          <a:p>
            <a:pPr indent="-177800" lvl="0" marL="184785" marR="0" rtl="0" algn="l">
              <a:lnSpc>
                <a:spcPct val="100000"/>
              </a:lnSpc>
              <a:spcBef>
                <a:spcPts val="3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ejemplo de nombre de restricción de clave única es:</a:t>
            </a:r>
            <a:endParaRPr sz="2800">
              <a:latin typeface="Calibri"/>
              <a:ea typeface="Calibri"/>
              <a:cs typeface="Calibri"/>
              <a:sym typeface="Calibri"/>
            </a:endParaRPr>
          </a:p>
        </p:txBody>
      </p:sp>
      <p:sp>
        <p:nvSpPr>
          <p:cNvPr id="354" name="Google Shape;354;p40"/>
          <p:cNvSpPr txBox="1"/>
          <p:nvPr/>
        </p:nvSpPr>
        <p:spPr>
          <a:xfrm>
            <a:off x="405384" y="5410200"/>
            <a:ext cx="8345805" cy="411480"/>
          </a:xfrm>
          <a:prstGeom prst="rect">
            <a:avLst/>
          </a:prstGeom>
          <a:solidFill>
            <a:srgbClr val="9DBDC4">
              <a:alpha val="49804"/>
            </a:srgbClr>
          </a:solidFill>
          <a:ln>
            <a:noFill/>
          </a:ln>
        </p:spPr>
        <p:txBody>
          <a:bodyPr anchorCtr="0" anchor="t" bIns="0" lIns="0" spcFirstLastPara="1" rIns="0" wrap="square" tIns="60325">
            <a:spAutoFit/>
          </a:bodyPr>
          <a:lstStyle/>
          <a:p>
            <a:pPr indent="0" lvl="0" marL="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clients_phone_email_uk UNIQUE(email,phone)</a:t>
            </a:r>
            <a:endParaRPr sz="1600">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392112" y="748031"/>
            <a:ext cx="4007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Clave Única Compuesta</a:t>
            </a:r>
            <a:endParaRPr sz="3300"/>
          </a:p>
        </p:txBody>
      </p:sp>
      <p:sp>
        <p:nvSpPr>
          <p:cNvPr id="360" name="Google Shape;360;p41"/>
          <p:cNvSpPr txBox="1"/>
          <p:nvPr>
            <p:ph idx="1" type="body"/>
          </p:nvPr>
        </p:nvSpPr>
        <p:spPr>
          <a:xfrm>
            <a:off x="483552" y="1415417"/>
            <a:ext cx="8164800" cy="3390300"/>
          </a:xfrm>
          <a:prstGeom prst="rect">
            <a:avLst/>
          </a:prstGeom>
          <a:noFill/>
          <a:ln>
            <a:noFill/>
          </a:ln>
        </p:spPr>
        <p:txBody>
          <a:bodyPr anchorCtr="0" anchor="t" bIns="0" lIns="0" spcFirstLastPara="1" rIns="0" wrap="square" tIns="59675">
            <a:spAutoFit/>
          </a:bodyPr>
          <a:lstStyle/>
          <a:p>
            <a:pPr indent="-177800" lvl="0" marL="184785" marR="313055" rtl="0" algn="l">
              <a:lnSpc>
                <a:spcPct val="108214"/>
              </a:lnSpc>
              <a:spcBef>
                <a:spcPts val="0"/>
              </a:spcBef>
              <a:spcAft>
                <a:spcPts val="0"/>
              </a:spcAft>
              <a:buClr>
                <a:srgbClr val="D1350F"/>
              </a:buClr>
              <a:buSzPts val="2800"/>
              <a:buFont typeface="Arial"/>
              <a:buChar char="•"/>
            </a:pPr>
            <a:r>
              <a:rPr lang="en-US"/>
              <a:t>Las restricciones UNIQUE permiten la entrada de  valores nulos a menos que la columna también tenga  definida una restricción NOT NULL</a:t>
            </a:r>
            <a:endParaRPr/>
          </a:p>
          <a:p>
            <a:pPr indent="-177800" lvl="0" marL="184785" marR="5080" rtl="0" algn="l">
              <a:lnSpc>
                <a:spcPct val="108214"/>
              </a:lnSpc>
              <a:spcBef>
                <a:spcPts val="785"/>
              </a:spcBef>
              <a:spcAft>
                <a:spcPts val="1200"/>
              </a:spcAft>
              <a:buClr>
                <a:srgbClr val="D1350F"/>
              </a:buClr>
              <a:buSzPts val="2800"/>
              <a:buFont typeface="Arial"/>
              <a:buChar char="•"/>
            </a:pPr>
            <a:r>
              <a:rPr lang="en-US"/>
              <a:t>Un valor nulo en una columna (o en todas las columnas  de una clave única compuesta) cumple siempre una  restricción UNIQUE porque los valores nulos no se  consideran igual a nada</a:t>
            </a:r>
            <a:endParaRPr/>
          </a:p>
        </p:txBody>
      </p:sp>
      <p:grpSp>
        <p:nvGrpSpPr>
          <p:cNvPr id="361" name="Google Shape;361;p41"/>
          <p:cNvGrpSpPr/>
          <p:nvPr/>
        </p:nvGrpSpPr>
        <p:grpSpPr>
          <a:xfrm>
            <a:off x="5530605" y="5772146"/>
            <a:ext cx="190500" cy="334013"/>
            <a:chOff x="5530605" y="5772146"/>
            <a:chExt cx="190500" cy="334013"/>
          </a:xfrm>
        </p:grpSpPr>
        <p:sp>
          <p:nvSpPr>
            <p:cNvPr id="362" name="Google Shape;362;p41"/>
            <p:cNvSpPr/>
            <p:nvPr/>
          </p:nvSpPr>
          <p:spPr>
            <a:xfrm>
              <a:off x="5625846" y="5943599"/>
              <a:ext cx="0" cy="162560"/>
            </a:xfrm>
            <a:custGeom>
              <a:rect b="b" l="l" r="r" t="t"/>
              <a:pathLst>
                <a:path extrusionOk="0" h="162560" w="120000">
                  <a:moveTo>
                    <a:pt x="0" y="16230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3" name="Google Shape;363;p41"/>
            <p:cNvSpPr/>
            <p:nvPr/>
          </p:nvSpPr>
          <p:spPr>
            <a:xfrm>
              <a:off x="5530605" y="5772146"/>
              <a:ext cx="190500" cy="191135"/>
            </a:xfrm>
            <a:custGeom>
              <a:rect b="b" l="l" r="r" t="t"/>
              <a:pathLst>
                <a:path extrusionOk="0" h="191135" w="190500">
                  <a:moveTo>
                    <a:pt x="95237" y="0"/>
                  </a:moveTo>
                  <a:lnTo>
                    <a:pt x="0" y="190512"/>
                  </a:lnTo>
                  <a:lnTo>
                    <a:pt x="190500" y="190499"/>
                  </a:lnTo>
                  <a:lnTo>
                    <a:pt x="95237"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364" name="Google Shape;364;p41"/>
          <p:cNvGrpSpPr/>
          <p:nvPr/>
        </p:nvGrpSpPr>
        <p:grpSpPr>
          <a:xfrm>
            <a:off x="6597405" y="5772146"/>
            <a:ext cx="190500" cy="334013"/>
            <a:chOff x="6597405" y="5772146"/>
            <a:chExt cx="190500" cy="334013"/>
          </a:xfrm>
        </p:grpSpPr>
        <p:sp>
          <p:nvSpPr>
            <p:cNvPr id="365" name="Google Shape;365;p41"/>
            <p:cNvSpPr/>
            <p:nvPr/>
          </p:nvSpPr>
          <p:spPr>
            <a:xfrm>
              <a:off x="6692646" y="5943599"/>
              <a:ext cx="0" cy="162560"/>
            </a:xfrm>
            <a:custGeom>
              <a:rect b="b" l="l" r="r" t="t"/>
              <a:pathLst>
                <a:path extrusionOk="0" h="162560" w="120000">
                  <a:moveTo>
                    <a:pt x="0" y="16230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6" name="Google Shape;366;p41"/>
            <p:cNvSpPr/>
            <p:nvPr/>
          </p:nvSpPr>
          <p:spPr>
            <a:xfrm>
              <a:off x="6597405" y="5772146"/>
              <a:ext cx="190500" cy="191135"/>
            </a:xfrm>
            <a:custGeom>
              <a:rect b="b" l="l" r="r" t="t"/>
              <a:pathLst>
                <a:path extrusionOk="0" h="191135" w="190500">
                  <a:moveTo>
                    <a:pt x="95237" y="0"/>
                  </a:moveTo>
                  <a:lnTo>
                    <a:pt x="0" y="190512"/>
                  </a:lnTo>
                  <a:lnTo>
                    <a:pt x="190500" y="190499"/>
                  </a:lnTo>
                  <a:lnTo>
                    <a:pt x="95237"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aphicFrame>
        <p:nvGraphicFramePr>
          <p:cNvPr id="367" name="Google Shape;367;p41"/>
          <p:cNvGraphicFramePr/>
          <p:nvPr/>
        </p:nvGraphicFramePr>
        <p:xfrm>
          <a:off x="1018004" y="4248656"/>
          <a:ext cx="3000000" cy="3000000"/>
        </p:xfrm>
        <a:graphic>
          <a:graphicData uri="http://schemas.openxmlformats.org/drawingml/2006/table">
            <a:tbl>
              <a:tblPr bandRow="1" firstRow="1">
                <a:noFill/>
                <a:tableStyleId>{3E4AEAC2-790A-4B57-8606-2A313761FCA3}</a:tableStyleId>
              </a:tblPr>
              <a:tblGrid>
                <a:gridCol w="1579875"/>
                <a:gridCol w="1223000"/>
                <a:gridCol w="1146800"/>
                <a:gridCol w="1223000"/>
                <a:gridCol w="2254875"/>
              </a:tblGrid>
              <a:tr h="284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CLIENT_NUMBER</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PHONE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EMAIL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5922</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Hiram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Peters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3715832249</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3"/>
                        </a:rPr>
                        <a:t>hpeters@yahoo.com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5857</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Serena</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Jones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7035335900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4"/>
                        </a:rPr>
                        <a:t>serena.jones@jones.com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6133</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Lauren</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Vigil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4072220090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5"/>
                        </a:rPr>
                        <a:t>lbv@lbv.net</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7234</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Lonny</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Vigil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4072220091</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6"/>
                        </a:rPr>
                        <a:t>lbv@lbv.net</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68" name="Google Shape;368;p41"/>
          <p:cNvSpPr txBox="1"/>
          <p:nvPr/>
        </p:nvSpPr>
        <p:spPr>
          <a:xfrm>
            <a:off x="3709732" y="6180217"/>
            <a:ext cx="4410710" cy="254000"/>
          </a:xfrm>
          <a:prstGeom prst="rect">
            <a:avLst/>
          </a:prstGeom>
          <a:noFill/>
          <a:ln>
            <a:noFill/>
          </a:ln>
        </p:spPr>
        <p:txBody>
          <a:bodyPr anchorCtr="0" anchor="t" bIns="0" lIns="0" spcFirstLastPara="1" rIns="0" wrap="square" tIns="0">
            <a:spAutoFit/>
          </a:bodyPr>
          <a:lstStyle/>
          <a:p>
            <a:pPr indent="0" lvl="0" marL="12700" marR="0" rtl="0" algn="l">
              <a:lnSpc>
                <a:spcPct val="100555"/>
              </a:lnSpc>
              <a:spcBef>
                <a:spcPts val="0"/>
              </a:spcBef>
              <a:spcAft>
                <a:spcPts val="0"/>
              </a:spcAft>
              <a:buNone/>
            </a:pPr>
            <a:r>
              <a:rPr lang="en-US" sz="1800">
                <a:solidFill>
                  <a:srgbClr val="FF0000"/>
                </a:solidFill>
                <a:latin typeface="Calibri"/>
                <a:ea typeface="Calibri"/>
                <a:cs typeface="Calibri"/>
                <a:sym typeface="Calibri"/>
              </a:rPr>
              <a:t>Esta combinación de columnas debe ser </a:t>
            </a:r>
            <a:r>
              <a:rPr b="1" lang="en-US" sz="1800">
                <a:solidFill>
                  <a:srgbClr val="FF0000"/>
                </a:solidFill>
                <a:latin typeface="Calibri"/>
                <a:ea typeface="Calibri"/>
                <a:cs typeface="Calibri"/>
                <a:sym typeface="Calibri"/>
              </a:rPr>
              <a:t>ÚNICA</a:t>
            </a:r>
            <a:endParaRPr sz="1800">
              <a:latin typeface="Calibri"/>
              <a:ea typeface="Calibri"/>
              <a:cs typeface="Calibri"/>
              <a:sym typeface="Calibri"/>
            </a:endParaRPr>
          </a:p>
        </p:txBody>
      </p:sp>
      <p:sp>
        <p:nvSpPr>
          <p:cNvPr id="369" name="Google Shape;369;p41"/>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70" name="Google Shape;370;p4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1" name="Google Shape;371;p4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392112" y="748031"/>
            <a:ext cx="4007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Clave Única Compuesta</a:t>
            </a:r>
            <a:endParaRPr sz="3300"/>
          </a:p>
        </p:txBody>
      </p:sp>
      <p:sp>
        <p:nvSpPr>
          <p:cNvPr id="377" name="Google Shape;377;p42"/>
          <p:cNvSpPr txBox="1"/>
          <p:nvPr/>
        </p:nvSpPr>
        <p:spPr>
          <a:xfrm>
            <a:off x="483552" y="1415417"/>
            <a:ext cx="8063230" cy="28587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cumplir una restricción que designa una clave  única compuesta, dos filas de la tabla no pueden tener  la misma combinación de valores en las columnas de  clave</a:t>
            </a:r>
            <a:endParaRPr sz="2800">
              <a:latin typeface="Calibri"/>
              <a:ea typeface="Calibri"/>
              <a:cs typeface="Calibri"/>
              <a:sym typeface="Calibri"/>
            </a:endParaRPr>
          </a:p>
          <a:p>
            <a:pPr indent="-177800" lvl="0" marL="184785" marR="9080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Además, cualquier fila que contenga valores nulos en  todas las columnas de clave automáticamente cumple  la restricción</a:t>
            </a:r>
            <a:endParaRPr sz="2800">
              <a:latin typeface="Calibri"/>
              <a:ea typeface="Calibri"/>
              <a:cs typeface="Calibri"/>
              <a:sym typeface="Calibri"/>
            </a:endParaRPr>
          </a:p>
        </p:txBody>
      </p:sp>
      <p:grpSp>
        <p:nvGrpSpPr>
          <p:cNvPr id="378" name="Google Shape;378;p42"/>
          <p:cNvGrpSpPr/>
          <p:nvPr/>
        </p:nvGrpSpPr>
        <p:grpSpPr>
          <a:xfrm>
            <a:off x="5530605" y="5772146"/>
            <a:ext cx="190500" cy="334013"/>
            <a:chOff x="5530605" y="5772146"/>
            <a:chExt cx="190500" cy="334013"/>
          </a:xfrm>
        </p:grpSpPr>
        <p:sp>
          <p:nvSpPr>
            <p:cNvPr id="379" name="Google Shape;379;p42"/>
            <p:cNvSpPr/>
            <p:nvPr/>
          </p:nvSpPr>
          <p:spPr>
            <a:xfrm>
              <a:off x="5625846" y="5943599"/>
              <a:ext cx="0" cy="162560"/>
            </a:xfrm>
            <a:custGeom>
              <a:rect b="b" l="l" r="r" t="t"/>
              <a:pathLst>
                <a:path extrusionOk="0" h="162560" w="120000">
                  <a:moveTo>
                    <a:pt x="0" y="16230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0" name="Google Shape;380;p42"/>
            <p:cNvSpPr/>
            <p:nvPr/>
          </p:nvSpPr>
          <p:spPr>
            <a:xfrm>
              <a:off x="5530605" y="5772146"/>
              <a:ext cx="190500" cy="191135"/>
            </a:xfrm>
            <a:custGeom>
              <a:rect b="b" l="l" r="r" t="t"/>
              <a:pathLst>
                <a:path extrusionOk="0" h="191135" w="190500">
                  <a:moveTo>
                    <a:pt x="95237" y="0"/>
                  </a:moveTo>
                  <a:lnTo>
                    <a:pt x="0" y="190512"/>
                  </a:lnTo>
                  <a:lnTo>
                    <a:pt x="190500" y="190499"/>
                  </a:lnTo>
                  <a:lnTo>
                    <a:pt x="95237"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pSp>
        <p:nvGrpSpPr>
          <p:cNvPr id="381" name="Google Shape;381;p42"/>
          <p:cNvGrpSpPr/>
          <p:nvPr/>
        </p:nvGrpSpPr>
        <p:grpSpPr>
          <a:xfrm>
            <a:off x="6597405" y="5772146"/>
            <a:ext cx="190500" cy="334013"/>
            <a:chOff x="6597405" y="5772146"/>
            <a:chExt cx="190500" cy="334013"/>
          </a:xfrm>
        </p:grpSpPr>
        <p:sp>
          <p:nvSpPr>
            <p:cNvPr id="382" name="Google Shape;382;p42"/>
            <p:cNvSpPr/>
            <p:nvPr/>
          </p:nvSpPr>
          <p:spPr>
            <a:xfrm>
              <a:off x="6692646" y="5943599"/>
              <a:ext cx="0" cy="162560"/>
            </a:xfrm>
            <a:custGeom>
              <a:rect b="b" l="l" r="r" t="t"/>
              <a:pathLst>
                <a:path extrusionOk="0" h="162560" w="120000">
                  <a:moveTo>
                    <a:pt x="0" y="16230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3" name="Google Shape;383;p42"/>
            <p:cNvSpPr/>
            <p:nvPr/>
          </p:nvSpPr>
          <p:spPr>
            <a:xfrm>
              <a:off x="6597405" y="5772146"/>
              <a:ext cx="190500" cy="191135"/>
            </a:xfrm>
            <a:custGeom>
              <a:rect b="b" l="l" r="r" t="t"/>
              <a:pathLst>
                <a:path extrusionOk="0" h="191135" w="190500">
                  <a:moveTo>
                    <a:pt x="95237" y="0"/>
                  </a:moveTo>
                  <a:lnTo>
                    <a:pt x="0" y="190512"/>
                  </a:lnTo>
                  <a:lnTo>
                    <a:pt x="190500" y="190499"/>
                  </a:lnTo>
                  <a:lnTo>
                    <a:pt x="95237"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aphicFrame>
        <p:nvGraphicFramePr>
          <p:cNvPr id="384" name="Google Shape;384;p42"/>
          <p:cNvGraphicFramePr/>
          <p:nvPr/>
        </p:nvGraphicFramePr>
        <p:xfrm>
          <a:off x="1018004" y="4286984"/>
          <a:ext cx="3000000" cy="3000000"/>
        </p:xfrm>
        <a:graphic>
          <a:graphicData uri="http://schemas.openxmlformats.org/drawingml/2006/table">
            <a:tbl>
              <a:tblPr bandRow="1" firstRow="1">
                <a:noFill/>
                <a:tableStyleId>{3E4AEAC2-790A-4B57-8606-2A313761FCA3}</a:tableStyleId>
              </a:tblPr>
              <a:tblGrid>
                <a:gridCol w="1579875"/>
                <a:gridCol w="1223000"/>
                <a:gridCol w="1146800"/>
                <a:gridCol w="1223000"/>
                <a:gridCol w="2254875"/>
              </a:tblGrid>
              <a:tr h="284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CLIENT_NUMBER</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PHONE</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EMAIL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5922</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Hiram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Peters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3715832249</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3"/>
                        </a:rPr>
                        <a:t>hpeters@yahoo.com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5857</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Serena</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Jones</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7035335900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4"/>
                        </a:rPr>
                        <a:t>serena.jones@jones.com</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6133</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Lauren</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Vigil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4072220090</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5"/>
                        </a:rPr>
                        <a:t>lbv@lbv.net</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7234</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Lonny</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Vigil</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4072220091</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sng" cap="none" strike="noStrike">
                          <a:solidFill>
                            <a:schemeClr val="hlink"/>
                          </a:solidFill>
                          <a:latin typeface="Calibri"/>
                          <a:ea typeface="Calibri"/>
                          <a:cs typeface="Calibri"/>
                          <a:sym typeface="Calibri"/>
                          <a:hlinkClick r:id="rId6"/>
                        </a:rPr>
                        <a:t>lbv@lbv.net</a:t>
                      </a:r>
                      <a:endParaRPr sz="1600" u="none" cap="none" strike="noStrike">
                        <a:latin typeface="Calibri"/>
                        <a:ea typeface="Calibri"/>
                        <a:cs typeface="Calibri"/>
                        <a:sym typeface="Calibri"/>
                      </a:endParaRPr>
                    </a:p>
                  </a:txBody>
                  <a:tcPr marT="8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85" name="Google Shape;385;p42"/>
          <p:cNvSpPr txBox="1"/>
          <p:nvPr/>
        </p:nvSpPr>
        <p:spPr>
          <a:xfrm>
            <a:off x="3709732" y="6180217"/>
            <a:ext cx="4410710" cy="254000"/>
          </a:xfrm>
          <a:prstGeom prst="rect">
            <a:avLst/>
          </a:prstGeom>
          <a:noFill/>
          <a:ln>
            <a:noFill/>
          </a:ln>
        </p:spPr>
        <p:txBody>
          <a:bodyPr anchorCtr="0" anchor="t" bIns="0" lIns="0" spcFirstLastPara="1" rIns="0" wrap="square" tIns="0">
            <a:spAutoFit/>
          </a:bodyPr>
          <a:lstStyle/>
          <a:p>
            <a:pPr indent="0" lvl="0" marL="12700" marR="0" rtl="0" algn="l">
              <a:lnSpc>
                <a:spcPct val="100555"/>
              </a:lnSpc>
              <a:spcBef>
                <a:spcPts val="0"/>
              </a:spcBef>
              <a:spcAft>
                <a:spcPts val="0"/>
              </a:spcAft>
              <a:buNone/>
            </a:pPr>
            <a:r>
              <a:rPr lang="en-US" sz="1800">
                <a:solidFill>
                  <a:srgbClr val="FF0000"/>
                </a:solidFill>
                <a:latin typeface="Calibri"/>
                <a:ea typeface="Calibri"/>
                <a:cs typeface="Calibri"/>
                <a:sym typeface="Calibri"/>
              </a:rPr>
              <a:t>Esta combinación de columnas debe ser </a:t>
            </a:r>
            <a:r>
              <a:rPr b="1" lang="en-US" sz="1800">
                <a:solidFill>
                  <a:srgbClr val="FF0000"/>
                </a:solidFill>
                <a:latin typeface="Calibri"/>
                <a:ea typeface="Calibri"/>
                <a:cs typeface="Calibri"/>
                <a:sym typeface="Calibri"/>
              </a:rPr>
              <a:t>ÚNICA</a:t>
            </a:r>
            <a:endParaRPr sz="1800">
              <a:latin typeface="Calibri"/>
              <a:ea typeface="Calibri"/>
              <a:cs typeface="Calibri"/>
              <a:sym typeface="Calibri"/>
            </a:endParaRPr>
          </a:p>
        </p:txBody>
      </p:sp>
      <p:sp>
        <p:nvSpPr>
          <p:cNvPr id="386" name="Google Shape;386;p42"/>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87" name="Google Shape;387;p4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8" name="Google Shape;388;p4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txBox="1"/>
          <p:nvPr>
            <p:ph type="title"/>
          </p:nvPr>
        </p:nvSpPr>
        <p:spPr>
          <a:xfrm>
            <a:off x="392112" y="748031"/>
            <a:ext cx="8110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Restricciones Creadas en la Creación de la Tabla</a:t>
            </a:r>
            <a:endParaRPr sz="3300"/>
          </a:p>
        </p:txBody>
      </p:sp>
      <p:sp>
        <p:nvSpPr>
          <p:cNvPr id="394" name="Google Shape;394;p43"/>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395" name="Google Shape;395;p4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6" name="Google Shape;396;p4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7" name="Google Shape;397;p43"/>
          <p:cNvSpPr txBox="1"/>
          <p:nvPr/>
        </p:nvSpPr>
        <p:spPr>
          <a:xfrm>
            <a:off x="483552" y="1415417"/>
            <a:ext cx="8175625" cy="4112895"/>
          </a:xfrm>
          <a:prstGeom prst="rect">
            <a:avLst/>
          </a:prstGeom>
          <a:noFill/>
          <a:ln>
            <a:noFill/>
          </a:ln>
        </p:spPr>
        <p:txBody>
          <a:bodyPr anchorCtr="0" anchor="t" bIns="0" lIns="0" spcFirstLastPara="1" rIns="0" wrap="square" tIns="59675">
            <a:spAutoFit/>
          </a:bodyPr>
          <a:lstStyle/>
          <a:p>
            <a:pPr indent="-177800" lvl="0" marL="184785" marR="533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agregar una restricción NOT NULL como parte de la  sentencia de creación de una tabla, la base de datos  Oracle creará una restricción Check en la base de datos  para aplicar un valor en la columna NOT NULL</a:t>
            </a:r>
            <a:endParaRPr sz="2800">
              <a:latin typeface="Calibri"/>
              <a:ea typeface="Calibri"/>
              <a:cs typeface="Calibri"/>
              <a:sym typeface="Calibri"/>
            </a:endParaRPr>
          </a:p>
          <a:p>
            <a:pPr indent="-177800" lvl="0" marL="184785" marR="26670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creación de esta restricción puede ser casi invisible  para el usuario al crear la tabla: Oracle solo lo hace</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final de la sentencia de creación de tabla, se muestra  el mensaje "Table created", pero no se proporcionan  detalles sobre el número o tipos de restricciones que  también se han creado</a:t>
            </a:r>
            <a:endParaRPr sz="28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4"/>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403" name="Google Shape;403;p44"/>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404" name="Google Shape;404;p4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05" name="Google Shape;405;p4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6" name="Google Shape;406;p44"/>
          <p:cNvSpPr txBox="1"/>
          <p:nvPr/>
        </p:nvSpPr>
        <p:spPr>
          <a:xfrm>
            <a:off x="483552" y="1415417"/>
            <a:ext cx="7702550" cy="31191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CHECK</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restricción</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Restricciones de nivel de columna</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FOREIGN KEY</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Restricciones NOT NULL</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PRIMARY KEY</a:t>
            </a:r>
            <a:endParaRPr sz="24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5"/>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412" name="Google Shape;412;p45"/>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413" name="Google Shape;413;p4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4" name="Google Shape;414;p4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15" name="Google Shape;415;p45"/>
          <p:cNvSpPr txBox="1"/>
          <p:nvPr/>
        </p:nvSpPr>
        <p:spPr>
          <a:xfrm>
            <a:off x="483552" y="1415417"/>
            <a:ext cx="7702550" cy="19792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de nivel de tabla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Restricciones UNIQUE</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UNIQUE KEY</a:t>
            </a:r>
            <a:endParaRPr sz="24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6"/>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421" name="Google Shape;421;p46"/>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422" name="Google Shape;422;p4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3" name="Google Shape;423;p4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24" name="Google Shape;424;p46"/>
          <p:cNvSpPr txBox="1"/>
          <p:nvPr/>
        </p:nvSpPr>
        <p:spPr>
          <a:xfrm>
            <a:off x="483552" y="1393401"/>
            <a:ext cx="8133080" cy="331533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14732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el término "restricción" relacionado con el modelado  de datos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Establecer cuándo es posible definir una restricción a nivel de  columna y cuándo es posible a nivel de tabla</a:t>
            </a:r>
            <a:endParaRPr sz="2400">
              <a:latin typeface="Calibri"/>
              <a:ea typeface="Calibri"/>
              <a:cs typeface="Calibri"/>
              <a:sym typeface="Calibri"/>
            </a:endParaRPr>
          </a:p>
          <a:p>
            <a:pPr indent="-175260" lvl="0" marL="530860" marR="107061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por qué es importante proporcionar nombres  significativos a las restricciones</a:t>
            </a:r>
            <a:endParaRPr sz="2400">
              <a:latin typeface="Calibri"/>
              <a:ea typeface="Calibri"/>
              <a:cs typeface="Calibri"/>
              <a:sym typeface="Calibri"/>
            </a:endParaRPr>
          </a:p>
          <a:p>
            <a:pPr indent="-175260" lvl="0" marL="530860" marR="122047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qué reglas de integridad de datos aplican las  restricciones NOT NULL y UNIQUE</a:t>
            </a:r>
            <a:endParaRPr sz="2400">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7"/>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430" name="Google Shape;430;p47"/>
          <p:cNvSpPr txBox="1"/>
          <p:nvPr/>
        </p:nvSpPr>
        <p:spPr>
          <a:xfrm>
            <a:off x="483552" y="1393401"/>
            <a:ext cx="7546975" cy="222567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62357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Escribir una sentencia CREATE TABLE que incluya las  restricciones NOT NULL y UNIQUE en los niveles de  tabla y columna</a:t>
            </a:r>
            <a:endParaRPr sz="2400">
              <a:latin typeface="Calibri"/>
              <a:ea typeface="Calibri"/>
              <a:cs typeface="Calibri"/>
              <a:sym typeface="Calibri"/>
            </a:endParaRPr>
          </a:p>
          <a:p>
            <a:pPr indent="-175260" lvl="0" marL="530860" marR="33020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cómo crear restricciones en el momento de la  creación de la tabla</a:t>
            </a:r>
            <a:endParaRPr sz="2400">
              <a:latin typeface="Calibri"/>
              <a:ea typeface="Calibri"/>
              <a:cs typeface="Calibri"/>
              <a:sym typeface="Calibri"/>
            </a:endParaRPr>
          </a:p>
        </p:txBody>
      </p:sp>
      <p:grpSp>
        <p:nvGrpSpPr>
          <p:cNvPr id="431" name="Google Shape;431;p47"/>
          <p:cNvGrpSpPr/>
          <p:nvPr/>
        </p:nvGrpSpPr>
        <p:grpSpPr>
          <a:xfrm>
            <a:off x="4226052" y="3886200"/>
            <a:ext cx="4140707" cy="2261615"/>
            <a:chOff x="4226052" y="3886200"/>
            <a:chExt cx="4140707" cy="2261615"/>
          </a:xfrm>
        </p:grpSpPr>
        <p:pic>
          <p:nvPicPr>
            <p:cNvPr id="432" name="Google Shape;432;p47"/>
            <p:cNvPicPr preferRelativeResize="0"/>
            <p:nvPr/>
          </p:nvPicPr>
          <p:blipFill rotWithShape="1">
            <a:blip r:embed="rId3">
              <a:alphaModFix/>
            </a:blip>
            <a:srcRect b="0" l="0" r="0" t="0"/>
            <a:stretch/>
          </p:blipFill>
          <p:spPr>
            <a:xfrm>
              <a:off x="4226052" y="3886200"/>
              <a:ext cx="4140707" cy="2261615"/>
            </a:xfrm>
            <a:prstGeom prst="rect">
              <a:avLst/>
            </a:prstGeom>
            <a:noFill/>
            <a:ln>
              <a:noFill/>
            </a:ln>
          </p:spPr>
        </p:pic>
        <p:pic>
          <p:nvPicPr>
            <p:cNvPr id="433" name="Google Shape;433;p47"/>
            <p:cNvPicPr preferRelativeResize="0"/>
            <p:nvPr/>
          </p:nvPicPr>
          <p:blipFill rotWithShape="1">
            <a:blip r:embed="rId4">
              <a:alphaModFix/>
            </a:blip>
            <a:srcRect b="0" l="0" r="0" t="0"/>
            <a:stretch/>
          </p:blipFill>
          <p:spPr>
            <a:xfrm>
              <a:off x="4418076" y="4078223"/>
              <a:ext cx="3756659" cy="1877567"/>
            </a:xfrm>
            <a:prstGeom prst="rect">
              <a:avLst/>
            </a:prstGeom>
            <a:noFill/>
            <a:ln>
              <a:noFill/>
            </a:ln>
          </p:spPr>
        </p:pic>
      </p:grpSp>
      <p:sp>
        <p:nvSpPr>
          <p:cNvPr id="434" name="Google Shape;434;p47"/>
          <p:cNvSpPr txBox="1"/>
          <p:nvPr>
            <p:ph idx="10" type="dt"/>
          </p:nvPr>
        </p:nvSpPr>
        <p:spPr>
          <a:xfrm>
            <a:off x="2874191" y="6449092"/>
            <a:ext cx="15432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14-1</a:t>
            </a:r>
            <a:endParaRPr/>
          </a:p>
          <a:p>
            <a:pPr indent="0" lvl="0" marL="12700" marR="5080" rtl="0" algn="l">
              <a:lnSpc>
                <a:spcPct val="114874"/>
              </a:lnSpc>
              <a:spcBef>
                <a:spcPts val="60"/>
              </a:spcBef>
              <a:spcAft>
                <a:spcPts val="0"/>
              </a:spcAft>
              <a:buNone/>
            </a:pPr>
            <a:r>
              <a:rPr lang="en-US"/>
              <a:t>Introducción a las Restricciones;  Restricciones NOT NULL y UNIQUE</a:t>
            </a:r>
            <a:endParaRPr/>
          </a:p>
        </p:txBody>
      </p:sp>
      <p:sp>
        <p:nvSpPr>
          <p:cNvPr id="435" name="Google Shape;435;p4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36" name="Google Shape;436;p4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