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9BEE16A-0F3B-4543-9285-3813047B05FC}">
  <a:tblStyle styleId="{59BEE16A-0F3B-4543-9285-3813047B05FC}"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14:08:59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Aunque una tabla solo puede tener una clave PRIMARIA, puede estar formada por más de una columna. Esto se denomina una CLAVE PRIMARIA compuesta.</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14:09:02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solo se muestran los datos parciales para las dos tablas.</a:t>
            </a:r>
            <a:endParaRPr/>
          </a:p>
        </p:txBody>
      </p:sp>
      <p:sp>
        <p:nvSpPr>
          <p:cNvPr id="150" name="Google Shape;150;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14:09:06</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al definir una clave ajena en el nivel de columna, las palabras "foreign key" NO se incluyen.</a:t>
            </a:r>
            <a:endParaRPr/>
          </a:p>
        </p:txBody>
      </p:sp>
      <p:sp>
        <p:nvSpPr>
          <p:cNvPr id="236" name="Google Shape;236;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14:09:07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al definir una clave ajena en el nivel de columna, las palabras "foreign key" ESTÁN incluidas antes del nombre de la tabla y columna que tiene la restricción.</a:t>
            </a:r>
            <a:endParaRPr/>
          </a:p>
        </p:txBody>
      </p:sp>
      <p:sp>
        <p:nvSpPr>
          <p:cNvPr id="246" name="Google Shape;246;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14:09:09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cuando se ha definido la clave ajena con ON CASCADE DELETE, no se emite ninguna advertencia de que la supresión de filas de la tabla principal significará que las filas dependientes de la tabla secundaria también se suprimirán.</a:t>
            </a:r>
            <a:endParaRPr/>
          </a:p>
        </p:txBody>
      </p:sp>
      <p:sp>
        <p:nvSpPr>
          <p:cNvPr id="298" name="Google Shape;298;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385319"/>
            <a:ext cx="6487800" cy="894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415417"/>
            <a:ext cx="8043600" cy="16695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449092"/>
            <a:ext cx="1254000" cy="3669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7.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6390005"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14-2</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Restricciones PRIMARY KEY, FOREIGN KEY y CHECK</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39853" y="3485388"/>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nvSpPr>
        <p:spPr>
          <a:xfrm>
            <a:off x="483552" y="1393401"/>
            <a:ext cx="8063230" cy="3973829"/>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47561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y dar un ejemplo de una restricción PRIMARY KEY, FOREIGN KEY y CHECK</a:t>
            </a:r>
            <a:endParaRPr sz="2400">
              <a:latin typeface="Calibri"/>
              <a:ea typeface="Calibri"/>
              <a:cs typeface="Calibri"/>
              <a:sym typeface="Calibri"/>
            </a:endParaRPr>
          </a:p>
          <a:p>
            <a:pPr indent="-175260" lvl="0" marL="530860" marR="1193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el objetivo de definir las restricciones PRIMARY KEY, FOREIGN KEY y CHECK</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Demostrar la creación de las restricciones a nivel de columna y a nivel de tabla en una sentencia CREATE TABLE</a:t>
            </a:r>
            <a:endParaRPr sz="2400">
              <a:latin typeface="Calibri"/>
              <a:ea typeface="Calibri"/>
              <a:cs typeface="Calibri"/>
              <a:sym typeface="Calibri"/>
            </a:endParaRPr>
          </a:p>
          <a:p>
            <a:pPr indent="-175260" lvl="0" marL="530860" marR="282575"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Evaluar un problema de negocio que necesita la adición de una restricción PRIMARY KEY y FOREIGN</a:t>
            </a:r>
            <a:endParaRPr sz="2400">
              <a:latin typeface="Calibri"/>
              <a:ea typeface="Calibri"/>
              <a:cs typeface="Calibri"/>
              <a:sym typeface="Calibri"/>
            </a:endParaRPr>
          </a:p>
          <a:p>
            <a:pPr indent="0" lvl="0" marL="530860" marR="2994025" rtl="0" algn="l">
              <a:lnSpc>
                <a:spcPct val="107916"/>
              </a:lnSpc>
              <a:spcBef>
                <a:spcPts val="5"/>
              </a:spcBef>
              <a:spcAft>
                <a:spcPts val="0"/>
              </a:spcAft>
              <a:buNone/>
            </a:pPr>
            <a:r>
              <a:rPr lang="en-US" sz="2400">
                <a:solidFill>
                  <a:srgbClr val="4E3629"/>
                </a:solidFill>
                <a:latin typeface="Calibri"/>
                <a:ea typeface="Calibri"/>
                <a:cs typeface="Calibri"/>
                <a:sym typeface="Calibri"/>
              </a:rPr>
              <a:t>KEY y escribir el código para ejecutar el cambio</a:t>
            </a:r>
            <a:endParaRPr sz="2400">
              <a:latin typeface="Calibri"/>
              <a:ea typeface="Calibri"/>
              <a:cs typeface="Calibri"/>
              <a:sym typeface="Calibri"/>
            </a:endParaRPr>
          </a:p>
        </p:txBody>
      </p:sp>
      <p:grpSp>
        <p:nvGrpSpPr>
          <p:cNvPr id="74" name="Google Shape;74;p15"/>
          <p:cNvGrpSpPr/>
          <p:nvPr/>
        </p:nvGrpSpPr>
        <p:grpSpPr>
          <a:xfrm>
            <a:off x="5923788" y="4223003"/>
            <a:ext cx="2845308" cy="2261615"/>
            <a:chOff x="5923788" y="4223003"/>
            <a:chExt cx="2845308" cy="2261615"/>
          </a:xfrm>
        </p:grpSpPr>
        <p:pic>
          <p:nvPicPr>
            <p:cNvPr id="75" name="Google Shape;75;p15"/>
            <p:cNvPicPr preferRelativeResize="0"/>
            <p:nvPr/>
          </p:nvPicPr>
          <p:blipFill rotWithShape="1">
            <a:blip r:embed="rId3">
              <a:alphaModFix/>
            </a:blip>
            <a:srcRect b="0" l="0" r="0" t="0"/>
            <a:stretch/>
          </p:blipFill>
          <p:spPr>
            <a:xfrm>
              <a:off x="5923788" y="4223003"/>
              <a:ext cx="2845308" cy="2261615"/>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6115812" y="4415027"/>
              <a:ext cx="2461247" cy="1877555"/>
            </a:xfrm>
            <a:prstGeom prst="rect">
              <a:avLst/>
            </a:prstGeom>
            <a:noFill/>
            <a:ln>
              <a:noFill/>
            </a:ln>
          </p:spPr>
        </p:pic>
      </p:grpSp>
      <p:sp>
        <p:nvSpPr>
          <p:cNvPr id="77" name="Google Shape;77;p15"/>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78" name="Google Shape;78;p1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Objetivo</a:t>
            </a:r>
            <a:endParaRPr/>
          </a:p>
        </p:txBody>
      </p:sp>
      <p:sp>
        <p:nvSpPr>
          <p:cNvPr id="85" name="Google Shape;85;p16"/>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86" name="Google Shape;86;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nvSpPr>
        <p:spPr>
          <a:xfrm>
            <a:off x="483552" y="1381889"/>
            <a:ext cx="8074659" cy="4170045"/>
          </a:xfrm>
          <a:prstGeom prst="rect">
            <a:avLst/>
          </a:prstGeom>
          <a:noFill/>
          <a:ln>
            <a:noFill/>
          </a:ln>
        </p:spPr>
        <p:txBody>
          <a:bodyPr anchorCtr="0" anchor="t" bIns="0" lIns="0" spcFirstLastPara="1" rIns="0" wrap="square" tIns="97150">
            <a:spAutoFit/>
          </a:bodyPr>
          <a:lstStyle/>
          <a:p>
            <a:pPr indent="-177800" lvl="0" marL="182880" marR="5016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se ha explicado en la última sección, las 	restricciones se utilizan para evitar la entrada de datos 	no válidos en las tablas de la base de datos</a:t>
            </a:r>
            <a:endParaRPr sz="2800">
              <a:latin typeface="Calibri"/>
              <a:ea typeface="Calibri"/>
              <a:cs typeface="Calibri"/>
              <a:sym typeface="Calibri"/>
            </a:endParaRPr>
          </a:p>
          <a:p>
            <a:pPr indent="-177800" lvl="0" marL="182880" marR="52451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sucedería si, a escondidas o solo por un error 	negligente, su identificación única personal se 	proporcionara a otra persona?</a:t>
            </a:r>
            <a:endParaRPr sz="2800">
              <a:latin typeface="Calibri"/>
              <a:ea typeface="Calibri"/>
              <a:cs typeface="Calibri"/>
              <a:sym typeface="Calibri"/>
            </a:endParaRPr>
          </a:p>
          <a:p>
            <a:pPr indent="-177800" lvl="0" marL="182880" marR="5080" rtl="0" algn="just">
              <a:lnSpc>
                <a:spcPct val="80000"/>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sucedería si mañana en la escuela se atribuyeran 	a otra persona sus clases de graduación o esta pudiera 	almorzar con su número de tarjeta para el almuerzo?</a:t>
            </a:r>
            <a:endParaRPr sz="2800">
              <a:latin typeface="Calibri"/>
              <a:ea typeface="Calibri"/>
              <a:cs typeface="Calibri"/>
              <a:sym typeface="Calibri"/>
            </a:endParaRPr>
          </a:p>
          <a:p>
            <a:pPr indent="-177800" lvl="0" marL="182880" marR="405765" rtl="0" algn="just">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Garantizar la integridad de datos es de lo que tratan 	las. Después de todo, cada uno es único</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Restricciones PRIMARY KEY</a:t>
            </a:r>
            <a:endParaRPr/>
          </a:p>
        </p:txBody>
      </p:sp>
      <p:sp>
        <p:nvSpPr>
          <p:cNvPr id="94" name="Google Shape;94;p17"/>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95" name="Google Shape;95;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7"/>
          <p:cNvSpPr txBox="1"/>
          <p:nvPr/>
        </p:nvSpPr>
        <p:spPr>
          <a:xfrm>
            <a:off x="483552" y="1415417"/>
            <a:ext cx="8134350" cy="4436110"/>
          </a:xfrm>
          <a:prstGeom prst="rect">
            <a:avLst/>
          </a:prstGeom>
          <a:noFill/>
          <a:ln>
            <a:noFill/>
          </a:ln>
        </p:spPr>
        <p:txBody>
          <a:bodyPr anchorCtr="0" anchor="t" bIns="0" lIns="0" spcFirstLastPara="1" rIns="0" wrap="square" tIns="59675">
            <a:spAutoFit/>
          </a:bodyPr>
          <a:lstStyle/>
          <a:p>
            <a:pPr indent="-177800" lvl="0" marL="182880" marR="5651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restricción PRIMARY KEY es una regla de que los 	valores de una columna o una combinación de 	columnas deben identificar de forma única cada fila de 	una tabla</a:t>
            </a:r>
            <a:endParaRPr sz="2800">
              <a:latin typeface="Calibri"/>
              <a:ea typeface="Calibri"/>
              <a:cs typeface="Calibri"/>
              <a:sym typeface="Calibri"/>
            </a:endParaRPr>
          </a:p>
          <a:p>
            <a:pPr indent="-177800" lvl="0" marL="182880" marR="42227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puede aparece ningún valor de clave primaria en 	más de una fila de la tabla</a:t>
            </a:r>
            <a:endParaRPr sz="2800">
              <a:latin typeface="Calibri"/>
              <a:ea typeface="Calibri"/>
              <a:cs typeface="Calibri"/>
              <a:sym typeface="Calibri"/>
            </a:endParaRPr>
          </a:p>
          <a:p>
            <a:pPr indent="-177800" lvl="0" marL="182880" marR="77279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cumplir una restricción PRIMARY KEY, las dos 	condiciones siguientes deben ser verdaderas:</a:t>
            </a:r>
            <a:endParaRPr sz="2800">
              <a:latin typeface="Calibri"/>
              <a:ea typeface="Calibri"/>
              <a:cs typeface="Calibri"/>
              <a:sym typeface="Calibri"/>
            </a:endParaRPr>
          </a:p>
          <a:p>
            <a:pPr indent="-175260" lvl="0" marL="530860" marR="5080"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Ninguna columna que forme parte de la clave primaria puede contener un valor nulo</a:t>
            </a:r>
            <a:endParaRPr sz="2400">
              <a:latin typeface="Calibri"/>
              <a:ea typeface="Calibri"/>
              <a:cs typeface="Calibri"/>
              <a:sym typeface="Calibri"/>
            </a:endParaRPr>
          </a:p>
          <a:p>
            <a:pPr indent="0" lvl="0" marL="35560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tabla solo puede tener una clave primaria</a:t>
            </a:r>
            <a:endParaRPr sz="24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Restricciones PRIMARY KEY</a:t>
            </a:r>
            <a:endParaRPr/>
          </a:p>
        </p:txBody>
      </p:sp>
      <p:sp>
        <p:nvSpPr>
          <p:cNvPr id="103" name="Google Shape;103;p18"/>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104" name="Google Shape;104;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5" name="Google Shape;105;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6" name="Google Shape;106;p18"/>
          <p:cNvSpPr txBox="1"/>
          <p:nvPr/>
        </p:nvSpPr>
        <p:spPr>
          <a:xfrm>
            <a:off x="483552" y="1415417"/>
            <a:ext cx="8003540" cy="4213225"/>
          </a:xfrm>
          <a:prstGeom prst="rect">
            <a:avLst/>
          </a:prstGeom>
          <a:noFill/>
          <a:ln>
            <a:noFill/>
          </a:ln>
        </p:spPr>
        <p:txBody>
          <a:bodyPr anchorCtr="0" anchor="t" bIns="0" lIns="0" spcFirstLastPara="1" rIns="0" wrap="square" tIns="59675">
            <a:spAutoFit/>
          </a:bodyPr>
          <a:lstStyle/>
          <a:p>
            <a:pPr indent="-177800" lvl="0" marL="182880" marR="3657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PRIMARY KEY se pueden definir en 	nivel de columna o de tabla</a:t>
            </a:r>
            <a:endParaRPr sz="2800">
              <a:latin typeface="Calibri"/>
              <a:ea typeface="Calibri"/>
              <a:cs typeface="Calibri"/>
              <a:sym typeface="Calibri"/>
            </a:endParaRPr>
          </a:p>
          <a:p>
            <a:pPr indent="-177800" lvl="0" marL="182880" marR="111061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si se crea una CLAVE PRIMARIA 	compuesta, se debe definir en el nivel de tabla</a:t>
            </a:r>
            <a:endParaRPr sz="2800">
              <a:latin typeface="Calibri"/>
              <a:ea typeface="Calibri"/>
              <a:cs typeface="Calibri"/>
              <a:sym typeface="Calibri"/>
            </a:endParaRPr>
          </a:p>
          <a:p>
            <a:pPr indent="-177800" lvl="0" marL="182880" marR="950594"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definir columnas PRIMARY KEY, es una buena 	práctica utilizar el sufijo _pk en el nombre de 	restricción</a:t>
            </a:r>
            <a:endParaRPr sz="2800">
              <a:latin typeface="Calibri"/>
              <a:ea typeface="Calibri"/>
              <a:cs typeface="Calibri"/>
              <a:sym typeface="Calibri"/>
            </a:endParaRPr>
          </a:p>
          <a:p>
            <a:pPr indent="-177800" lvl="0" marL="182880"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el nombre de restricción para la columna 	PRIMARY KEY denominada client_number de la tabla 	llamada CLIENTS podría ser clients_client_num_pk</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Restricciones PRIMARY KEY</a:t>
            </a:r>
            <a:endParaRPr/>
          </a:p>
        </p:txBody>
      </p:sp>
      <p:sp>
        <p:nvSpPr>
          <p:cNvPr id="112" name="Google Shape;112;p19"/>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113" name="Google Shape;113;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4" name="Google Shape;114;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5" name="Google Shape;115;p19"/>
          <p:cNvSpPr txBox="1"/>
          <p:nvPr/>
        </p:nvSpPr>
        <p:spPr>
          <a:xfrm>
            <a:off x="483552" y="1272435"/>
            <a:ext cx="7770000" cy="1245000"/>
          </a:xfrm>
          <a:prstGeom prst="rect">
            <a:avLst/>
          </a:prstGeom>
          <a:noFill/>
          <a:ln>
            <a:noFill/>
          </a:ln>
        </p:spPr>
        <p:txBody>
          <a:bodyPr anchorCtr="0" anchor="t" bIns="0" lIns="0" spcFirstLastPara="1" rIns="0" wrap="square" tIns="89525">
            <a:spAutoFit/>
          </a:bodyPr>
          <a:lstStyle/>
          <a:p>
            <a:pPr indent="-172720" lvl="0" marL="184785" marR="5080" rtl="0" algn="l">
              <a:lnSpc>
                <a:spcPct val="9615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una sentencia CREATE TABLE, la sintaxis de restricción PRIMARY KEY en el nivel de columna se indica de la siguiente forma:</a:t>
            </a:r>
            <a:endParaRPr sz="2600">
              <a:latin typeface="Calibri"/>
              <a:ea typeface="Calibri"/>
              <a:cs typeface="Calibri"/>
              <a:sym typeface="Calibri"/>
            </a:endParaRPr>
          </a:p>
        </p:txBody>
      </p:sp>
      <p:sp>
        <p:nvSpPr>
          <p:cNvPr id="116" name="Google Shape;116;p19"/>
          <p:cNvSpPr txBox="1"/>
          <p:nvPr/>
        </p:nvSpPr>
        <p:spPr>
          <a:xfrm>
            <a:off x="603825" y="4179139"/>
            <a:ext cx="7839600" cy="2410500"/>
          </a:xfrm>
          <a:prstGeom prst="rect">
            <a:avLst/>
          </a:prstGeom>
          <a:noFill/>
          <a:ln>
            <a:noFill/>
          </a:ln>
        </p:spPr>
        <p:txBody>
          <a:bodyPr anchorCtr="0" anchor="t" bIns="0" lIns="0" spcFirstLastPara="1" rIns="0" wrap="square" tIns="88900">
            <a:spAutoFit/>
          </a:bodyPr>
          <a:lstStyle/>
          <a:p>
            <a:pPr indent="-166370" lvl="0" marL="184785" marR="5080" rtl="0" algn="just">
              <a:lnSpc>
                <a:spcPct val="96153"/>
              </a:lnSpc>
              <a:spcBef>
                <a:spcPts val="0"/>
              </a:spcBef>
              <a:spcAft>
                <a:spcPts val="0"/>
              </a:spcAft>
              <a:buClr>
                <a:srgbClr val="D1350F"/>
              </a:buClr>
              <a:buSzPts val="2500"/>
              <a:buFont typeface="Arial"/>
              <a:buChar char="•"/>
            </a:pPr>
            <a:r>
              <a:rPr lang="en-US" sz="2500">
                <a:solidFill>
                  <a:srgbClr val="4E3629"/>
                </a:solidFill>
                <a:latin typeface="Calibri"/>
                <a:ea typeface="Calibri"/>
                <a:cs typeface="Calibri"/>
                <a:sym typeface="Calibri"/>
              </a:rPr>
              <a:t>Tenga en cuenta que el nivel de columna simplemente se refiere al área de la sentencia CREATE TABLE en el que las columnas están definidas</a:t>
            </a:r>
            <a:endParaRPr sz="2500">
              <a:latin typeface="Calibri"/>
              <a:ea typeface="Calibri"/>
              <a:cs typeface="Calibri"/>
              <a:sym typeface="Calibri"/>
            </a:endParaRPr>
          </a:p>
          <a:p>
            <a:pPr indent="-166370" lvl="0" marL="184785" marR="486409" rtl="0" algn="l">
              <a:lnSpc>
                <a:spcPct val="96153"/>
              </a:lnSpc>
              <a:spcBef>
                <a:spcPts val="785"/>
              </a:spcBef>
              <a:spcAft>
                <a:spcPts val="0"/>
              </a:spcAft>
              <a:buClr>
                <a:srgbClr val="D1350F"/>
              </a:buClr>
              <a:buSzPts val="2500"/>
              <a:buFont typeface="Arial"/>
              <a:buChar char="•"/>
            </a:pPr>
            <a:r>
              <a:rPr lang="en-US" sz="2500">
                <a:solidFill>
                  <a:srgbClr val="4E3629"/>
                </a:solidFill>
                <a:latin typeface="Calibri"/>
                <a:ea typeface="Calibri"/>
                <a:cs typeface="Calibri"/>
                <a:sym typeface="Calibri"/>
              </a:rPr>
              <a:t>El nivel de tabla hace referencia a la última línea de la sentencia debajo de la lista de nombres de columna individuales</a:t>
            </a:r>
            <a:endParaRPr sz="2500">
              <a:latin typeface="Calibri"/>
              <a:ea typeface="Calibri"/>
              <a:cs typeface="Calibri"/>
              <a:sym typeface="Calibri"/>
            </a:endParaRPr>
          </a:p>
        </p:txBody>
      </p:sp>
      <p:sp>
        <p:nvSpPr>
          <p:cNvPr id="117" name="Google Shape;117;p19"/>
          <p:cNvSpPr txBox="1"/>
          <p:nvPr/>
        </p:nvSpPr>
        <p:spPr>
          <a:xfrm>
            <a:off x="399150" y="2600099"/>
            <a:ext cx="8345700" cy="165780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8333"/>
              </a:lnSpc>
              <a:spcBef>
                <a:spcPts val="0"/>
              </a:spcBef>
              <a:spcAft>
                <a:spcPts val="0"/>
              </a:spcAft>
              <a:buNone/>
            </a:pPr>
            <a:r>
              <a:rPr b="1" lang="en-US" sz="1800">
                <a:solidFill>
                  <a:srgbClr val="4E3629"/>
                </a:solidFill>
                <a:latin typeface="Courier New"/>
                <a:ea typeface="Courier New"/>
                <a:cs typeface="Courier New"/>
                <a:sym typeface="Courier New"/>
              </a:rPr>
              <a:t>CREATE TABLE clients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(client_number NUMBER(4) </a:t>
            </a:r>
            <a:r>
              <a:rPr b="1" lang="en-US" sz="1800">
                <a:solidFill>
                  <a:srgbClr val="D1350F"/>
                </a:solidFill>
                <a:latin typeface="Courier New"/>
                <a:ea typeface="Courier New"/>
                <a:cs typeface="Courier New"/>
                <a:sym typeface="Courier New"/>
              </a:rPr>
              <a:t>CONSTRAINT clients_client_num_pk</a:t>
            </a:r>
            <a:endParaRPr sz="1800">
              <a:latin typeface="Courier New"/>
              <a:ea typeface="Courier New"/>
              <a:cs typeface="Courier New"/>
              <a:sym typeface="Courier New"/>
            </a:endParaRPr>
          </a:p>
          <a:p>
            <a:pPr indent="0" lvl="0" marL="607695" rtl="0" algn="ctr">
              <a:lnSpc>
                <a:spcPct val="100000"/>
              </a:lnSpc>
              <a:spcBef>
                <a:spcPts val="0"/>
              </a:spcBef>
              <a:spcAft>
                <a:spcPts val="0"/>
              </a:spcAft>
              <a:buNone/>
            </a:pPr>
            <a:r>
              <a:rPr b="1" lang="en-US" sz="1800">
                <a:solidFill>
                  <a:srgbClr val="D1350F"/>
                </a:solidFill>
                <a:latin typeface="Courier New"/>
                <a:ea typeface="Courier New"/>
                <a:cs typeface="Courier New"/>
                <a:sym typeface="Courier New"/>
              </a:rPr>
              <a:t>PRIMARY KEY</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a:p>
            <a:pPr indent="0" lvl="0" marL="0" marR="50609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first_name VARCHAR2(14), last_name VARCHAR2(13));</a:t>
            </a:r>
            <a:endParaRPr sz="1800">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Restricciones PRIMARY KEY</a:t>
            </a:r>
            <a:endParaRPr/>
          </a:p>
        </p:txBody>
      </p:sp>
      <p:sp>
        <p:nvSpPr>
          <p:cNvPr id="123" name="Google Shape;123;p20"/>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124" name="Google Shape;124;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5" name="Google Shape;125;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6" name="Google Shape;126;p20"/>
          <p:cNvSpPr txBox="1"/>
          <p:nvPr/>
        </p:nvSpPr>
        <p:spPr>
          <a:xfrm>
            <a:off x="483552" y="1415417"/>
            <a:ext cx="759587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crear la restricción PRIMARY KEY en el nivel de 	tabla, la sintaxis es:</a:t>
            </a:r>
            <a:endParaRPr sz="2800">
              <a:latin typeface="Calibri"/>
              <a:ea typeface="Calibri"/>
              <a:cs typeface="Calibri"/>
              <a:sym typeface="Calibri"/>
            </a:endParaRPr>
          </a:p>
        </p:txBody>
      </p:sp>
      <p:sp>
        <p:nvSpPr>
          <p:cNvPr id="127" name="Google Shape;127;p20"/>
          <p:cNvSpPr txBox="1"/>
          <p:nvPr/>
        </p:nvSpPr>
        <p:spPr>
          <a:xfrm>
            <a:off x="483550" y="4677264"/>
            <a:ext cx="7785600" cy="14241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Tenga en cuenta que el nombre de la columna 	PRIMARY KEY sigue el tipo de restricción y está entre 	paréntesis</a:t>
            </a:r>
            <a:endParaRPr sz="2800">
              <a:latin typeface="Calibri"/>
              <a:ea typeface="Calibri"/>
              <a:cs typeface="Calibri"/>
              <a:sym typeface="Calibri"/>
            </a:endParaRPr>
          </a:p>
        </p:txBody>
      </p:sp>
      <p:sp>
        <p:nvSpPr>
          <p:cNvPr id="128" name="Google Shape;128;p20"/>
          <p:cNvSpPr txBox="1"/>
          <p:nvPr/>
        </p:nvSpPr>
        <p:spPr>
          <a:xfrm>
            <a:off x="399150" y="2656502"/>
            <a:ext cx="8345700" cy="191550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just">
              <a:lnSpc>
                <a:spcPct val="91388"/>
              </a:lnSpc>
              <a:spcBef>
                <a:spcPts val="0"/>
              </a:spcBef>
              <a:spcAft>
                <a:spcPts val="0"/>
              </a:spcAft>
              <a:buNone/>
            </a:pPr>
            <a:r>
              <a:rPr b="1" lang="en-US" sz="1800">
                <a:solidFill>
                  <a:srgbClr val="4E3629"/>
                </a:solidFill>
                <a:latin typeface="Courier New"/>
                <a:ea typeface="Courier New"/>
                <a:cs typeface="Courier New"/>
                <a:sym typeface="Courier New"/>
              </a:rPr>
              <a:t>CREATE TABLE clients</a:t>
            </a:r>
            <a:endParaRPr sz="1800">
              <a:latin typeface="Courier New"/>
              <a:ea typeface="Courier New"/>
              <a:cs typeface="Courier New"/>
              <a:sym typeface="Courier New"/>
            </a:endParaRPr>
          </a:p>
          <a:p>
            <a:pPr indent="-136525" lvl="0" marL="136525" marR="4924425"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(client_number NUMBER(4), first_name VARCHAR2(14), last_name VARCHAR2(13),</a:t>
            </a:r>
            <a:endParaRPr sz="1800">
              <a:latin typeface="Courier New"/>
              <a:ea typeface="Courier New"/>
              <a:cs typeface="Courier New"/>
              <a:sym typeface="Courier New"/>
            </a:endParaRPr>
          </a:p>
          <a:p>
            <a:pPr indent="0" lvl="0" marL="0" marR="2331720" rtl="0" algn="just">
              <a:lnSpc>
                <a:spcPct val="100000"/>
              </a:lnSpc>
              <a:spcBef>
                <a:spcPts val="0"/>
              </a:spcBef>
              <a:spcAft>
                <a:spcPts val="0"/>
              </a:spcAft>
              <a:buNone/>
            </a:pPr>
            <a:r>
              <a:rPr b="1" lang="en-US" sz="1800">
                <a:solidFill>
                  <a:srgbClr val="D1350F"/>
                </a:solidFill>
                <a:latin typeface="Courier New"/>
                <a:ea typeface="Courier New"/>
                <a:cs typeface="Courier New"/>
                <a:sym typeface="Courier New"/>
              </a:rPr>
              <a:t>CONSTRAINT clients_client_num_pk PRIMARY KEY (client_number</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Restricciones PRIMARY KEY</a:t>
            </a:r>
            <a:endParaRPr/>
          </a:p>
        </p:txBody>
      </p:sp>
      <p:sp>
        <p:nvSpPr>
          <p:cNvPr id="134" name="Google Shape;134;p21"/>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135" name="Google Shape;135;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6" name="Google Shape;136;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7" name="Google Shape;137;p21"/>
          <p:cNvSpPr txBox="1"/>
          <p:nvPr/>
        </p:nvSpPr>
        <p:spPr>
          <a:xfrm>
            <a:off x="483552" y="1415417"/>
            <a:ext cx="7771130" cy="2090420"/>
          </a:xfrm>
          <a:prstGeom prst="rect">
            <a:avLst/>
          </a:prstGeom>
          <a:noFill/>
          <a:ln>
            <a:noFill/>
          </a:ln>
        </p:spPr>
        <p:txBody>
          <a:bodyPr anchorCtr="0" anchor="t" bIns="0" lIns="0" spcFirstLastPara="1" rIns="0" wrap="square" tIns="59675">
            <a:spAutoFit/>
          </a:bodyPr>
          <a:lstStyle/>
          <a:p>
            <a:pPr indent="-177800" lvl="0" marL="182880" marR="1447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definir una CLAVE PRIMARIA compuesta, debe 	definir la restricción en el nivel de tabla en lugar del 	nivel de columna</a:t>
            </a:r>
            <a:endParaRPr sz="2800">
              <a:latin typeface="Calibri"/>
              <a:ea typeface="Calibri"/>
              <a:cs typeface="Calibri"/>
              <a:sym typeface="Calibri"/>
            </a:endParaRPr>
          </a:p>
          <a:p>
            <a:pPr indent="-177800" lvl="0" marL="182880" marR="508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se muestra un ejemplo de restricción 	de clave primaria compuesta:</a:t>
            </a:r>
            <a:endParaRPr sz="2800">
              <a:latin typeface="Calibri"/>
              <a:ea typeface="Calibri"/>
              <a:cs typeface="Calibri"/>
              <a:sym typeface="Calibri"/>
            </a:endParaRPr>
          </a:p>
        </p:txBody>
      </p:sp>
      <p:sp>
        <p:nvSpPr>
          <p:cNvPr id="138" name="Google Shape;138;p21"/>
          <p:cNvSpPr txBox="1"/>
          <p:nvPr/>
        </p:nvSpPr>
        <p:spPr>
          <a:xfrm>
            <a:off x="399150" y="3926937"/>
            <a:ext cx="8345700" cy="2241600"/>
          </a:xfrm>
          <a:prstGeom prst="rect">
            <a:avLst/>
          </a:prstGeom>
          <a:solidFill>
            <a:srgbClr val="9DBDC4">
              <a:alpha val="49804"/>
            </a:srgbClr>
          </a:solidFill>
          <a:ln>
            <a:noFill/>
          </a:ln>
        </p:spPr>
        <p:txBody>
          <a:bodyPr anchorCtr="0" anchor="t" bIns="0" lIns="0" spcFirstLastPara="1" rIns="0" wrap="square" tIns="24750">
            <a:spAutoFit/>
          </a:bodyPr>
          <a:lstStyle/>
          <a:p>
            <a:pPr indent="0" lvl="0" marL="0" marR="437896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TABLE copy_job_history (employee_id NUMBER(6,0),</a:t>
            </a:r>
            <a:endParaRPr sz="1800">
              <a:latin typeface="Courier New"/>
              <a:ea typeface="Courier New"/>
              <a:cs typeface="Courier New"/>
              <a:sym typeface="Courier New"/>
            </a:endParaRPr>
          </a:p>
          <a:p>
            <a:pPr indent="0" lvl="0" marL="136525" marR="546989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start_date DATE, job_id VARCHAR2(10),</a:t>
            </a:r>
            <a:endParaRPr sz="1800">
              <a:latin typeface="Courier New"/>
              <a:ea typeface="Courier New"/>
              <a:cs typeface="Courier New"/>
              <a:sym typeface="Courier New"/>
            </a:endParaRPr>
          </a:p>
          <a:p>
            <a:pPr indent="0" lvl="0" marL="1365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department_id NUMBER(4,0),</a:t>
            </a:r>
            <a:endParaRPr sz="1800">
              <a:latin typeface="Courier New"/>
              <a:ea typeface="Courier New"/>
              <a:cs typeface="Courier New"/>
              <a:sym typeface="Courier New"/>
            </a:endParaRPr>
          </a:p>
          <a:p>
            <a:pPr indent="0" lvl="0" marL="0" marR="147955"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CONSTRAINT copy_jhist_id_st_date_pk PRIMARY KEY(employee_id, start_date</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392112" y="385319"/>
            <a:ext cx="6487800" cy="1001100"/>
          </a:xfrm>
          <a:prstGeom prst="rect">
            <a:avLst/>
          </a:prstGeom>
          <a:noFill/>
          <a:ln>
            <a:noFill/>
          </a:ln>
        </p:spPr>
        <p:txBody>
          <a:bodyPr anchorCtr="0" anchor="t" bIns="0" lIns="0" spcFirstLastPara="1" rIns="0" wrap="square" tIns="12700">
            <a:spAutoFit/>
          </a:bodyPr>
          <a:lstStyle/>
          <a:p>
            <a:pPr indent="0" lvl="0" marL="12700" rtl="0" algn="l">
              <a:lnSpc>
                <a:spcPct val="114000"/>
              </a:lnSpc>
              <a:spcBef>
                <a:spcPts val="0"/>
              </a:spcBef>
              <a:spcAft>
                <a:spcPts val="0"/>
              </a:spcAft>
              <a:buNone/>
            </a:pPr>
            <a:r>
              <a:rPr lang="en-US" sz="3000"/>
              <a:t>FOREIGN KEY (INTEGRIDAD REFERENCIAL)</a:t>
            </a:r>
            <a:endParaRPr sz="3000"/>
          </a:p>
          <a:p>
            <a:pPr indent="0" lvl="0" marL="12700" rtl="0" algn="l">
              <a:lnSpc>
                <a:spcPct val="114000"/>
              </a:lnSpc>
              <a:spcBef>
                <a:spcPts val="0"/>
              </a:spcBef>
              <a:spcAft>
                <a:spcPts val="0"/>
              </a:spcAft>
              <a:buNone/>
            </a:pPr>
            <a:r>
              <a:rPr lang="en-US" sz="3000"/>
              <a:t>Restricciones</a:t>
            </a:r>
            <a:endParaRPr sz="3000"/>
          </a:p>
        </p:txBody>
      </p:sp>
      <p:sp>
        <p:nvSpPr>
          <p:cNvPr id="144" name="Google Shape;144;p22"/>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145" name="Google Shape;145;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6" name="Google Shape;146;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7" name="Google Shape;147;p22"/>
          <p:cNvSpPr txBox="1"/>
          <p:nvPr/>
        </p:nvSpPr>
        <p:spPr>
          <a:xfrm>
            <a:off x="483552" y="1415417"/>
            <a:ext cx="7966075" cy="29603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FOREIGN KEY también se denominan 	restricciones de "integridad referencial"</a:t>
            </a:r>
            <a:endParaRPr sz="2800">
              <a:latin typeface="Calibri"/>
              <a:ea typeface="Calibri"/>
              <a:cs typeface="Calibri"/>
              <a:sym typeface="Calibri"/>
            </a:endParaRPr>
          </a:p>
          <a:p>
            <a:pPr indent="-177800" lvl="0" marL="182880" marR="58419"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Foreign Key designan una columna o 	una combinación de columnas como una clave ajena</a:t>
            </a:r>
            <a:endParaRPr sz="2800">
              <a:latin typeface="Calibri"/>
              <a:ea typeface="Calibri"/>
              <a:cs typeface="Calibri"/>
              <a:sym typeface="Calibri"/>
            </a:endParaRPr>
          </a:p>
          <a:p>
            <a:pPr indent="-177800" lvl="0" marL="182880" marR="17081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clave ajena enlaza a la clave primaria (o una clave 	única) en otra tabla y este enlace es la base de la 	relación entre las tablas</a:t>
            </a:r>
            <a:endParaRPr sz="28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Visualización de una Clave Ajena</a:t>
            </a:r>
            <a:endParaRPr/>
          </a:p>
        </p:txBody>
      </p:sp>
      <p:sp>
        <p:nvSpPr>
          <p:cNvPr id="153" name="Google Shape;153;p23"/>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154" name="Google Shape;154;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5" name="Google Shape;155;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6" name="Google Shape;156;p23"/>
          <p:cNvSpPr txBox="1"/>
          <p:nvPr>
            <p:ph idx="1" type="body"/>
          </p:nvPr>
        </p:nvSpPr>
        <p:spPr>
          <a:xfrm>
            <a:off x="483552" y="1415417"/>
            <a:ext cx="8043600" cy="19065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a:t>La tabla que contiene la clave ajena se denomina tabla "secundaria" y la tabla que contiene la clave de 	referencia se denomina tabla "principal"</a:t>
            </a:r>
            <a:endParaRPr/>
          </a:p>
          <a:p>
            <a:pPr indent="0" lvl="0" marL="231775" rtl="0" algn="l">
              <a:lnSpc>
                <a:spcPct val="100000"/>
              </a:lnSpc>
              <a:spcBef>
                <a:spcPts val="1565"/>
              </a:spcBef>
              <a:spcAft>
                <a:spcPts val="1200"/>
              </a:spcAft>
              <a:buNone/>
            </a:pPr>
            <a:r>
              <a:rPr b="1" lang="en-US" sz="1600">
                <a:latin typeface="Calibri"/>
                <a:ea typeface="Calibri"/>
                <a:cs typeface="Calibri"/>
                <a:sym typeface="Calibri"/>
              </a:rPr>
              <a:t>DEPARTMENTS: principal</a:t>
            </a:r>
            <a:endParaRPr sz="1600">
              <a:latin typeface="Calibri"/>
              <a:ea typeface="Calibri"/>
              <a:cs typeface="Calibri"/>
              <a:sym typeface="Calibri"/>
            </a:endParaRPr>
          </a:p>
        </p:txBody>
      </p:sp>
      <p:sp>
        <p:nvSpPr>
          <p:cNvPr id="157" name="Google Shape;157;p23"/>
          <p:cNvSpPr txBox="1"/>
          <p:nvPr/>
        </p:nvSpPr>
        <p:spPr>
          <a:xfrm>
            <a:off x="703262" y="4437385"/>
            <a:ext cx="1943700" cy="2583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EMPLOYEE: secundaria</a:t>
            </a:r>
            <a:endParaRPr sz="1600">
              <a:latin typeface="Calibri"/>
              <a:ea typeface="Calibri"/>
              <a:cs typeface="Calibri"/>
              <a:sym typeface="Calibri"/>
            </a:endParaRPr>
          </a:p>
        </p:txBody>
      </p:sp>
      <p:graphicFrame>
        <p:nvGraphicFramePr>
          <p:cNvPr id="158" name="Google Shape;158;p23"/>
          <p:cNvGraphicFramePr/>
          <p:nvPr/>
        </p:nvGraphicFramePr>
        <p:xfrm>
          <a:off x="1013840" y="4939547"/>
          <a:ext cx="3000000" cy="3000000"/>
        </p:xfrm>
        <a:graphic>
          <a:graphicData uri="http://schemas.openxmlformats.org/drawingml/2006/table">
            <a:tbl>
              <a:tblPr bandRow="1" firstRow="1">
                <a:noFill/>
                <a:tableStyleId>{59BEE16A-0F3B-4543-9285-3813047B05FC}</a:tableStyleId>
              </a:tblPr>
              <a:tblGrid>
                <a:gridCol w="1878325"/>
                <a:gridCol w="1878325"/>
                <a:gridCol w="1878325"/>
                <a:gridCol w="1878325"/>
              </a:tblGrid>
              <a:tr h="24320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Lex</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Shelley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206</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William</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159" name="Google Shape;159;p23"/>
          <p:cNvGraphicFramePr/>
          <p:nvPr/>
        </p:nvGraphicFramePr>
        <p:xfrm>
          <a:off x="1532913" y="3391978"/>
          <a:ext cx="3000000" cy="3000000"/>
        </p:xfrm>
        <a:graphic>
          <a:graphicData uri="http://schemas.openxmlformats.org/drawingml/2006/table">
            <a:tbl>
              <a:tblPr bandRow="1" firstRow="1">
                <a:noFill/>
                <a:tableStyleId>{59BEE16A-0F3B-4543-9285-3813047B05FC}</a:tableStyleId>
              </a:tblPr>
              <a:tblGrid>
                <a:gridCol w="1894200"/>
                <a:gridCol w="1872625"/>
                <a:gridCol w="1872625"/>
                <a:gridCol w="1872625"/>
              </a:tblGrid>
              <a:tr h="24320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Executive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Accounting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Contracting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Visualización de una Clave Ajena</a:t>
            </a:r>
            <a:endParaRPr/>
          </a:p>
        </p:txBody>
      </p:sp>
      <p:sp>
        <p:nvSpPr>
          <p:cNvPr id="165" name="Google Shape;165;p24"/>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166" name="Google Shape;166;p2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7" name="Google Shape;167;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8" name="Google Shape;168;p24"/>
          <p:cNvSpPr txBox="1"/>
          <p:nvPr/>
        </p:nvSpPr>
        <p:spPr>
          <a:xfrm>
            <a:off x="483552" y="1415417"/>
            <a:ext cx="8080375"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las tablas mostradas, la clave primaria de la tabla 	DEPARTMENTS, department_id, también aparece en la 	tabla EMPLOYEES como una columna de clave ajena</a:t>
            </a:r>
            <a:endParaRPr sz="2800">
              <a:latin typeface="Calibri"/>
              <a:ea typeface="Calibri"/>
              <a:cs typeface="Calibri"/>
              <a:sym typeface="Calibri"/>
            </a:endParaRPr>
          </a:p>
        </p:txBody>
      </p:sp>
      <p:sp>
        <p:nvSpPr>
          <p:cNvPr id="169" name="Google Shape;169;p24"/>
          <p:cNvSpPr txBox="1"/>
          <p:nvPr/>
        </p:nvSpPr>
        <p:spPr>
          <a:xfrm>
            <a:off x="659720" y="2816059"/>
            <a:ext cx="212217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DEPARTMENTS: principal</a:t>
            </a:r>
            <a:endParaRPr sz="1600">
              <a:latin typeface="Calibri"/>
              <a:ea typeface="Calibri"/>
              <a:cs typeface="Calibri"/>
              <a:sym typeface="Calibri"/>
            </a:endParaRPr>
          </a:p>
        </p:txBody>
      </p:sp>
      <p:sp>
        <p:nvSpPr>
          <p:cNvPr id="170" name="Google Shape;170;p24"/>
          <p:cNvSpPr txBox="1"/>
          <p:nvPr/>
        </p:nvSpPr>
        <p:spPr>
          <a:xfrm>
            <a:off x="587320" y="4437385"/>
            <a:ext cx="1943700" cy="2583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EMPLOYEE: secundaria</a:t>
            </a:r>
            <a:endParaRPr sz="1600">
              <a:latin typeface="Calibri"/>
              <a:ea typeface="Calibri"/>
              <a:cs typeface="Calibri"/>
              <a:sym typeface="Calibri"/>
            </a:endParaRPr>
          </a:p>
        </p:txBody>
      </p:sp>
      <p:graphicFrame>
        <p:nvGraphicFramePr>
          <p:cNvPr id="171" name="Google Shape;171;p24"/>
          <p:cNvGraphicFramePr/>
          <p:nvPr/>
        </p:nvGraphicFramePr>
        <p:xfrm>
          <a:off x="984712" y="4797218"/>
          <a:ext cx="3000000" cy="3000000"/>
        </p:xfrm>
        <a:graphic>
          <a:graphicData uri="http://schemas.openxmlformats.org/drawingml/2006/table">
            <a:tbl>
              <a:tblPr bandRow="1" firstRow="1">
                <a:noFill/>
                <a:tableStyleId>{59BEE16A-0F3B-4543-9285-3813047B05FC}</a:tableStyleId>
              </a:tblPr>
              <a:tblGrid>
                <a:gridCol w="1878325"/>
                <a:gridCol w="1878325"/>
                <a:gridCol w="1878325"/>
                <a:gridCol w="1878325"/>
              </a:tblGrid>
              <a:tr h="24320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D1350F"/>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Lex</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Shelley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206</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William</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172" name="Google Shape;172;p24"/>
          <p:cNvGraphicFramePr/>
          <p:nvPr/>
        </p:nvGraphicFramePr>
        <p:xfrm>
          <a:off x="883238" y="3373083"/>
          <a:ext cx="3000000" cy="3000000"/>
        </p:xfrm>
        <a:graphic>
          <a:graphicData uri="http://schemas.openxmlformats.org/drawingml/2006/table">
            <a:tbl>
              <a:tblPr bandRow="1" firstRow="1">
                <a:noFill/>
                <a:tableStyleId>{59BEE16A-0F3B-4543-9285-3813047B05FC}</a:tableStyleId>
              </a:tblPr>
              <a:tblGrid>
                <a:gridCol w="1894200"/>
                <a:gridCol w="1872625"/>
                <a:gridCol w="1872625"/>
                <a:gridCol w="1872625"/>
              </a:tblGrid>
              <a:tr h="243850">
                <a:tc>
                  <a:txBody>
                    <a:bodyPr/>
                    <a:lstStyle/>
                    <a:p>
                      <a:pPr indent="0" lvl="0" marL="71755" marR="0" rtl="0" algn="l">
                        <a:lnSpc>
                          <a:spcPct val="113750"/>
                        </a:lnSpc>
                        <a:spcBef>
                          <a:spcPts val="0"/>
                        </a:spcBef>
                        <a:spcAft>
                          <a:spcPts val="0"/>
                        </a:spcAft>
                        <a:buNone/>
                      </a:pPr>
                      <a:r>
                        <a:rPr b="1" lang="en-US" sz="1600" u="none" cap="none" strike="noStrike">
                          <a:solidFill>
                            <a:srgbClr val="D1350F"/>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Executive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Accounting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Contracting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txBox="1"/>
          <p:nvPr/>
        </p:nvSpPr>
        <p:spPr>
          <a:xfrm>
            <a:off x="483540" y="4452309"/>
            <a:ext cx="1714500" cy="228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4E3629"/>
                </a:solidFill>
                <a:latin typeface="Calibri"/>
                <a:ea typeface="Calibri"/>
                <a:cs typeface="Calibri"/>
                <a:sym typeface="Calibri"/>
              </a:rPr>
              <a:t>EMPLOYEE: secundaria</a:t>
            </a:r>
            <a:endParaRPr sz="1400">
              <a:latin typeface="Calibri"/>
              <a:ea typeface="Calibri"/>
              <a:cs typeface="Calibri"/>
              <a:sym typeface="Calibri"/>
            </a:endParaRPr>
          </a:p>
        </p:txBody>
      </p:sp>
      <p:sp>
        <p:nvSpPr>
          <p:cNvPr id="178" name="Google Shape;178;p25"/>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Restricción de Integridad Referencial</a:t>
            </a:r>
            <a:endParaRPr/>
          </a:p>
        </p:txBody>
      </p:sp>
      <p:sp>
        <p:nvSpPr>
          <p:cNvPr id="179" name="Google Shape;179;p25"/>
          <p:cNvSpPr txBox="1"/>
          <p:nvPr/>
        </p:nvSpPr>
        <p:spPr>
          <a:xfrm>
            <a:off x="483552" y="1415417"/>
            <a:ext cx="7926070" cy="164020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cumplir una restricción de integridad referencial, 	el valor de clave ajena debe coincidir con un valor 	existente de la tabla principal o ser un valor NULL</a:t>
            </a:r>
            <a:endParaRPr sz="2800">
              <a:latin typeface="Calibri"/>
              <a:ea typeface="Calibri"/>
              <a:cs typeface="Calibri"/>
              <a:sym typeface="Calibri"/>
            </a:endParaRPr>
          </a:p>
          <a:p>
            <a:pPr indent="0" lvl="0" marL="260985" rtl="0" algn="l">
              <a:lnSpc>
                <a:spcPct val="100000"/>
              </a:lnSpc>
              <a:spcBef>
                <a:spcPts val="1570"/>
              </a:spcBef>
              <a:spcAft>
                <a:spcPts val="0"/>
              </a:spcAft>
              <a:buNone/>
            </a:pPr>
            <a:r>
              <a:rPr b="1" lang="en-US" sz="1400">
                <a:solidFill>
                  <a:srgbClr val="4E3629"/>
                </a:solidFill>
                <a:latin typeface="Calibri"/>
                <a:ea typeface="Calibri"/>
                <a:cs typeface="Calibri"/>
                <a:sym typeface="Calibri"/>
              </a:rPr>
              <a:t>DEPARTMENTS: principal</a:t>
            </a:r>
            <a:endParaRPr sz="1400">
              <a:latin typeface="Calibri"/>
              <a:ea typeface="Calibri"/>
              <a:cs typeface="Calibri"/>
              <a:sym typeface="Calibri"/>
            </a:endParaRPr>
          </a:p>
        </p:txBody>
      </p:sp>
      <p:grpSp>
        <p:nvGrpSpPr>
          <p:cNvPr id="180" name="Google Shape;180;p25"/>
          <p:cNvGrpSpPr/>
          <p:nvPr/>
        </p:nvGrpSpPr>
        <p:grpSpPr>
          <a:xfrm>
            <a:off x="118428" y="3460595"/>
            <a:ext cx="1224025" cy="586740"/>
            <a:chOff x="128778" y="3323082"/>
            <a:chExt cx="1224025" cy="586740"/>
          </a:xfrm>
        </p:grpSpPr>
        <p:sp>
          <p:nvSpPr>
            <p:cNvPr id="181" name="Google Shape;181;p25"/>
            <p:cNvSpPr/>
            <p:nvPr/>
          </p:nvSpPr>
          <p:spPr>
            <a:xfrm>
              <a:off x="128778" y="3615690"/>
              <a:ext cx="505459" cy="0"/>
            </a:xfrm>
            <a:custGeom>
              <a:rect b="b" l="l" r="r" t="t"/>
              <a:pathLst>
                <a:path extrusionOk="0" h="120000" w="505459">
                  <a:moveTo>
                    <a:pt x="0" y="0"/>
                  </a:moveTo>
                  <a:lnTo>
                    <a:pt x="505206" y="0"/>
                  </a:lnTo>
                </a:path>
              </a:pathLst>
            </a:custGeom>
            <a:noFill/>
            <a:ln cap="flat" cmpd="sng" w="381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2" name="Google Shape;182;p25"/>
            <p:cNvSpPr/>
            <p:nvPr/>
          </p:nvSpPr>
          <p:spPr>
            <a:xfrm>
              <a:off x="614936" y="3558534"/>
              <a:ext cx="114300" cy="114300"/>
            </a:xfrm>
            <a:custGeom>
              <a:rect b="b" l="l" r="r" t="t"/>
              <a:pathLst>
                <a:path extrusionOk="0" h="114300" w="114300">
                  <a:moveTo>
                    <a:pt x="0" y="0"/>
                  </a:moveTo>
                  <a:lnTo>
                    <a:pt x="0" y="114300"/>
                  </a:lnTo>
                  <a:lnTo>
                    <a:pt x="114300" y="57150"/>
                  </a:lnTo>
                  <a:lnTo>
                    <a:pt x="0" y="0"/>
                  </a:lnTo>
                  <a:close/>
                </a:path>
              </a:pathLst>
            </a:custGeom>
            <a:solidFill>
              <a:srgbClr val="FF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3" name="Google Shape;183;p25"/>
            <p:cNvSpPr/>
            <p:nvPr/>
          </p:nvSpPr>
          <p:spPr>
            <a:xfrm>
              <a:off x="729233" y="3323082"/>
              <a:ext cx="623570" cy="586740"/>
            </a:xfrm>
            <a:custGeom>
              <a:rect b="b" l="l" r="r" t="t"/>
              <a:pathLst>
                <a:path extrusionOk="0" h="586739" w="623569">
                  <a:moveTo>
                    <a:pt x="0" y="293370"/>
                  </a:moveTo>
                  <a:lnTo>
                    <a:pt x="4079" y="245783"/>
                  </a:lnTo>
                  <a:lnTo>
                    <a:pt x="15888" y="200641"/>
                  </a:lnTo>
                  <a:lnTo>
                    <a:pt x="34786" y="158548"/>
                  </a:lnTo>
                  <a:lnTo>
                    <a:pt x="60132" y="120108"/>
                  </a:lnTo>
                  <a:lnTo>
                    <a:pt x="91282" y="85925"/>
                  </a:lnTo>
                  <a:lnTo>
                    <a:pt x="127597" y="56602"/>
                  </a:lnTo>
                  <a:lnTo>
                    <a:pt x="168433" y="32744"/>
                  </a:lnTo>
                  <a:lnTo>
                    <a:pt x="213150" y="14955"/>
                  </a:lnTo>
                  <a:lnTo>
                    <a:pt x="261105" y="3839"/>
                  </a:lnTo>
                  <a:lnTo>
                    <a:pt x="311658" y="0"/>
                  </a:lnTo>
                  <a:lnTo>
                    <a:pt x="362210" y="3839"/>
                  </a:lnTo>
                  <a:lnTo>
                    <a:pt x="410165" y="14955"/>
                  </a:lnTo>
                  <a:lnTo>
                    <a:pt x="454882" y="32744"/>
                  </a:lnTo>
                  <a:lnTo>
                    <a:pt x="495718" y="56602"/>
                  </a:lnTo>
                  <a:lnTo>
                    <a:pt x="532033" y="85925"/>
                  </a:lnTo>
                  <a:lnTo>
                    <a:pt x="563183" y="120108"/>
                  </a:lnTo>
                  <a:lnTo>
                    <a:pt x="588529" y="158548"/>
                  </a:lnTo>
                  <a:lnTo>
                    <a:pt x="607427" y="200641"/>
                  </a:lnTo>
                  <a:lnTo>
                    <a:pt x="619236" y="245783"/>
                  </a:lnTo>
                  <a:lnTo>
                    <a:pt x="623316" y="293370"/>
                  </a:lnTo>
                  <a:lnTo>
                    <a:pt x="619236" y="340956"/>
                  </a:lnTo>
                  <a:lnTo>
                    <a:pt x="607427" y="386098"/>
                  </a:lnTo>
                  <a:lnTo>
                    <a:pt x="588529" y="428191"/>
                  </a:lnTo>
                  <a:lnTo>
                    <a:pt x="563183" y="466631"/>
                  </a:lnTo>
                  <a:lnTo>
                    <a:pt x="532033" y="500814"/>
                  </a:lnTo>
                  <a:lnTo>
                    <a:pt x="495718" y="530137"/>
                  </a:lnTo>
                  <a:lnTo>
                    <a:pt x="454882" y="553995"/>
                  </a:lnTo>
                  <a:lnTo>
                    <a:pt x="410165" y="571784"/>
                  </a:lnTo>
                  <a:lnTo>
                    <a:pt x="362210" y="582900"/>
                  </a:lnTo>
                  <a:lnTo>
                    <a:pt x="311658" y="586740"/>
                  </a:lnTo>
                  <a:lnTo>
                    <a:pt x="261105" y="582900"/>
                  </a:lnTo>
                  <a:lnTo>
                    <a:pt x="213150" y="571784"/>
                  </a:lnTo>
                  <a:lnTo>
                    <a:pt x="168433" y="553995"/>
                  </a:lnTo>
                  <a:lnTo>
                    <a:pt x="127597" y="530137"/>
                  </a:lnTo>
                  <a:lnTo>
                    <a:pt x="91282" y="500814"/>
                  </a:lnTo>
                  <a:lnTo>
                    <a:pt x="60132" y="466631"/>
                  </a:lnTo>
                  <a:lnTo>
                    <a:pt x="34786" y="428191"/>
                  </a:lnTo>
                  <a:lnTo>
                    <a:pt x="15888" y="386098"/>
                  </a:lnTo>
                  <a:lnTo>
                    <a:pt x="4079" y="340956"/>
                  </a:lnTo>
                  <a:lnTo>
                    <a:pt x="0" y="293370"/>
                  </a:lnTo>
                  <a:close/>
                </a:path>
              </a:pathLst>
            </a:custGeom>
            <a:noFill/>
            <a:ln cap="flat" cmpd="sng" w="381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aphicFrame>
        <p:nvGraphicFramePr>
          <p:cNvPr id="184" name="Google Shape;184;p25"/>
          <p:cNvGraphicFramePr/>
          <p:nvPr/>
        </p:nvGraphicFramePr>
        <p:xfrm>
          <a:off x="967539" y="4782328"/>
          <a:ext cx="3000000" cy="3000000"/>
        </p:xfrm>
        <a:graphic>
          <a:graphicData uri="http://schemas.openxmlformats.org/drawingml/2006/table">
            <a:tbl>
              <a:tblPr bandRow="1" firstRow="1">
                <a:noFill/>
                <a:tableStyleId>{59BEE16A-0F3B-4543-9285-3813047B05FC}</a:tableStyleId>
              </a:tblPr>
              <a:tblGrid>
                <a:gridCol w="1878325"/>
                <a:gridCol w="1878325"/>
                <a:gridCol w="1878325"/>
                <a:gridCol w="1878325"/>
              </a:tblGrid>
              <a:tr h="24320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Lex</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Shelley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206</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William</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85" name="Google Shape;185;p25"/>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186" name="Google Shape;186;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7" name="Google Shape;187;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88" name="Google Shape;188;p25"/>
          <p:cNvGraphicFramePr/>
          <p:nvPr/>
        </p:nvGraphicFramePr>
        <p:xfrm>
          <a:off x="883238" y="3431302"/>
          <a:ext cx="3000000" cy="3000000"/>
        </p:xfrm>
        <a:graphic>
          <a:graphicData uri="http://schemas.openxmlformats.org/drawingml/2006/table">
            <a:tbl>
              <a:tblPr bandRow="1" firstRow="1">
                <a:noFill/>
                <a:tableStyleId>{59BEE16A-0F3B-4543-9285-3813047B05FC}</a:tableStyleId>
              </a:tblPr>
              <a:tblGrid>
                <a:gridCol w="1894200"/>
                <a:gridCol w="1872625"/>
                <a:gridCol w="1872625"/>
                <a:gridCol w="1872625"/>
              </a:tblGrid>
              <a:tr h="24320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Executive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Accounting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Contracting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ph type="title"/>
          </p:nvPr>
        </p:nvSpPr>
        <p:spPr>
          <a:xfrm>
            <a:off x="309362" y="13706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Restricción de Integridad Referencial</a:t>
            </a:r>
            <a:endParaRPr/>
          </a:p>
        </p:txBody>
      </p:sp>
      <p:sp>
        <p:nvSpPr>
          <p:cNvPr id="194" name="Google Shape;194;p26"/>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195" name="Google Shape;195;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6" name="Google Shape;196;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7" name="Google Shape;197;p26"/>
          <p:cNvSpPr txBox="1"/>
          <p:nvPr>
            <p:ph idx="1" type="body"/>
          </p:nvPr>
        </p:nvSpPr>
        <p:spPr>
          <a:xfrm>
            <a:off x="535775" y="1024174"/>
            <a:ext cx="8043600" cy="23730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a:t>Puede existir un valor de clave primaria sin un valor de 	clave ajena correspondiente; sin embargo, una clave 	ajena debe tener una clave primaria correspondiente</a:t>
            </a:r>
            <a:endParaRPr/>
          </a:p>
          <a:p>
            <a:pPr indent="0" lvl="0" marL="0" rtl="0" algn="l">
              <a:lnSpc>
                <a:spcPct val="100000"/>
              </a:lnSpc>
              <a:spcBef>
                <a:spcPts val="1565"/>
              </a:spcBef>
              <a:spcAft>
                <a:spcPts val="1200"/>
              </a:spcAft>
              <a:buNone/>
            </a:pPr>
            <a:r>
              <a:rPr b="1" lang="en-US" sz="1600">
                <a:latin typeface="Calibri"/>
                <a:ea typeface="Calibri"/>
                <a:cs typeface="Calibri"/>
                <a:sym typeface="Calibri"/>
              </a:rPr>
              <a:t>DEPARTMENTS: principal</a:t>
            </a:r>
            <a:endParaRPr sz="1600">
              <a:latin typeface="Calibri"/>
              <a:ea typeface="Calibri"/>
              <a:cs typeface="Calibri"/>
              <a:sym typeface="Calibri"/>
            </a:endParaRPr>
          </a:p>
        </p:txBody>
      </p:sp>
      <p:sp>
        <p:nvSpPr>
          <p:cNvPr id="198" name="Google Shape;198;p26"/>
          <p:cNvSpPr txBox="1"/>
          <p:nvPr/>
        </p:nvSpPr>
        <p:spPr>
          <a:xfrm>
            <a:off x="535767" y="4529622"/>
            <a:ext cx="1943700" cy="2583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EMPLOYEE: secundaria</a:t>
            </a:r>
            <a:endParaRPr sz="1600">
              <a:latin typeface="Calibri"/>
              <a:ea typeface="Calibri"/>
              <a:cs typeface="Calibri"/>
              <a:sym typeface="Calibri"/>
            </a:endParaRPr>
          </a:p>
        </p:txBody>
      </p:sp>
      <p:graphicFrame>
        <p:nvGraphicFramePr>
          <p:cNvPr id="199" name="Google Shape;199;p26"/>
          <p:cNvGraphicFramePr/>
          <p:nvPr/>
        </p:nvGraphicFramePr>
        <p:xfrm>
          <a:off x="1081635" y="4940759"/>
          <a:ext cx="3000000" cy="3000000"/>
        </p:xfrm>
        <a:graphic>
          <a:graphicData uri="http://schemas.openxmlformats.org/drawingml/2006/table">
            <a:tbl>
              <a:tblPr bandRow="1" firstRow="1">
                <a:noFill/>
                <a:tableStyleId>{59BEE16A-0F3B-4543-9285-3813047B05FC}</a:tableStyleId>
              </a:tblPr>
              <a:tblGrid>
                <a:gridCol w="1878325"/>
                <a:gridCol w="1878325"/>
                <a:gridCol w="1878325"/>
                <a:gridCol w="1878325"/>
              </a:tblGrid>
              <a:tr h="24320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Lex</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Shelley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206</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William</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200" name="Google Shape;200;p26"/>
          <p:cNvGraphicFramePr/>
          <p:nvPr/>
        </p:nvGraphicFramePr>
        <p:xfrm>
          <a:off x="801547" y="3475731"/>
          <a:ext cx="3000000" cy="3000000"/>
        </p:xfrm>
        <a:graphic>
          <a:graphicData uri="http://schemas.openxmlformats.org/drawingml/2006/table">
            <a:tbl>
              <a:tblPr bandRow="1" firstRow="1">
                <a:noFill/>
                <a:tableStyleId>{59BEE16A-0F3B-4543-9285-3813047B05FC}</a:tableStyleId>
              </a:tblPr>
              <a:tblGrid>
                <a:gridCol w="1894200"/>
                <a:gridCol w="1872625"/>
                <a:gridCol w="1872625"/>
                <a:gridCol w="1872625"/>
              </a:tblGrid>
              <a:tr h="24385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Executive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Accounting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Contracting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7"/>
          <p:cNvSpPr txBox="1"/>
          <p:nvPr>
            <p:ph type="title"/>
          </p:nvPr>
        </p:nvSpPr>
        <p:spPr>
          <a:xfrm>
            <a:off x="381762" y="323931"/>
            <a:ext cx="7779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Regla de Restricción de Integridad Referencial</a:t>
            </a:r>
            <a:endParaRPr/>
          </a:p>
        </p:txBody>
      </p:sp>
      <p:sp>
        <p:nvSpPr>
          <p:cNvPr id="206" name="Google Shape;206;p27"/>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207" name="Google Shape;207;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8" name="Google Shape;208;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9" name="Google Shape;209;p27"/>
          <p:cNvSpPr txBox="1"/>
          <p:nvPr/>
        </p:nvSpPr>
        <p:spPr>
          <a:xfrm>
            <a:off x="493677" y="991317"/>
            <a:ext cx="7818000" cy="22497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regla es: antes de definir una restricción de 	integridad referencial en la tabla secundaria, ya debe 	estar definida la restricción UNIQUE o PRIMARY	a la 	que se hace referencia</a:t>
            </a:r>
            <a:endParaRPr sz="2800">
              <a:latin typeface="Calibri"/>
              <a:ea typeface="Calibri"/>
              <a:cs typeface="Calibri"/>
              <a:sym typeface="Calibri"/>
            </a:endParaRPr>
          </a:p>
          <a:p>
            <a:pPr indent="0" lvl="0" marL="188595" rtl="0" algn="l">
              <a:lnSpc>
                <a:spcPct val="100000"/>
              </a:lnSpc>
              <a:spcBef>
                <a:spcPts val="605"/>
              </a:spcBef>
              <a:spcAft>
                <a:spcPts val="0"/>
              </a:spcAft>
              <a:buNone/>
            </a:pPr>
            <a:r>
              <a:rPr b="1" lang="en-US" sz="1600">
                <a:solidFill>
                  <a:srgbClr val="4E3629"/>
                </a:solidFill>
                <a:latin typeface="Calibri"/>
                <a:ea typeface="Calibri"/>
                <a:cs typeface="Calibri"/>
                <a:sym typeface="Calibri"/>
              </a:rPr>
              <a:t>DEPARTMENTS: principal</a:t>
            </a:r>
            <a:endParaRPr sz="1600">
              <a:latin typeface="Calibri"/>
              <a:ea typeface="Calibri"/>
              <a:cs typeface="Calibri"/>
              <a:sym typeface="Calibri"/>
            </a:endParaRPr>
          </a:p>
        </p:txBody>
      </p:sp>
      <p:sp>
        <p:nvSpPr>
          <p:cNvPr id="210" name="Google Shape;210;p27"/>
          <p:cNvSpPr txBox="1"/>
          <p:nvPr/>
        </p:nvSpPr>
        <p:spPr>
          <a:xfrm>
            <a:off x="659721" y="4348790"/>
            <a:ext cx="194373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EMPLOYEE: secundaria</a:t>
            </a:r>
            <a:endParaRPr sz="1600">
              <a:latin typeface="Calibri"/>
              <a:ea typeface="Calibri"/>
              <a:cs typeface="Calibri"/>
              <a:sym typeface="Calibri"/>
            </a:endParaRPr>
          </a:p>
        </p:txBody>
      </p:sp>
      <p:graphicFrame>
        <p:nvGraphicFramePr>
          <p:cNvPr id="211" name="Google Shape;211;p27"/>
          <p:cNvGraphicFramePr/>
          <p:nvPr/>
        </p:nvGraphicFramePr>
        <p:xfrm>
          <a:off x="798512" y="4624424"/>
          <a:ext cx="3000000" cy="3000000"/>
        </p:xfrm>
        <a:graphic>
          <a:graphicData uri="http://schemas.openxmlformats.org/drawingml/2006/table">
            <a:tbl>
              <a:tblPr bandRow="1" firstRow="1">
                <a:noFill/>
                <a:tableStyleId>{59BEE16A-0F3B-4543-9285-3813047B05FC}</a:tableStyleId>
              </a:tblPr>
              <a:tblGrid>
                <a:gridCol w="1878325"/>
                <a:gridCol w="1878325"/>
                <a:gridCol w="1878325"/>
                <a:gridCol w="1878325"/>
              </a:tblGrid>
              <a:tr h="24320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Lex</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Shelley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206</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William</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212" name="Google Shape;212;p27"/>
          <p:cNvGraphicFramePr/>
          <p:nvPr/>
        </p:nvGraphicFramePr>
        <p:xfrm>
          <a:off x="798512" y="3368060"/>
          <a:ext cx="3000000" cy="3000000"/>
        </p:xfrm>
        <a:graphic>
          <a:graphicData uri="http://schemas.openxmlformats.org/drawingml/2006/table">
            <a:tbl>
              <a:tblPr bandRow="1" firstRow="1">
                <a:noFill/>
                <a:tableStyleId>{59BEE16A-0F3B-4543-9285-3813047B05FC}</a:tableStyleId>
              </a:tblPr>
              <a:tblGrid>
                <a:gridCol w="1894200"/>
                <a:gridCol w="1872625"/>
                <a:gridCol w="1872625"/>
                <a:gridCol w="1872625"/>
              </a:tblGrid>
              <a:tr h="24385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Executive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Accounting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Contracting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ph type="title"/>
          </p:nvPr>
        </p:nvSpPr>
        <p:spPr>
          <a:xfrm>
            <a:off x="433487" y="365306"/>
            <a:ext cx="7779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Regla de Restricción de Integridad Referencial</a:t>
            </a:r>
            <a:endParaRPr/>
          </a:p>
        </p:txBody>
      </p:sp>
      <p:sp>
        <p:nvSpPr>
          <p:cNvPr id="218" name="Google Shape;218;p28"/>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219" name="Google Shape;219;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0" name="Google Shape;220;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1" name="Google Shape;221;p28"/>
          <p:cNvSpPr txBox="1"/>
          <p:nvPr/>
        </p:nvSpPr>
        <p:spPr>
          <a:xfrm>
            <a:off x="485390" y="1040954"/>
            <a:ext cx="8173200" cy="17787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decir, primero debe tener una clave primaria 	principal definida para que pueda crear una clave ajena 	en una tabla secundaria</a:t>
            </a:r>
            <a:endParaRPr sz="2800">
              <a:latin typeface="Calibri"/>
              <a:ea typeface="Calibri"/>
              <a:cs typeface="Calibri"/>
              <a:sym typeface="Calibri"/>
            </a:endParaRPr>
          </a:p>
          <a:p>
            <a:pPr indent="0" lvl="0" marL="159385" rtl="0" algn="l">
              <a:lnSpc>
                <a:spcPct val="100000"/>
              </a:lnSpc>
              <a:spcBef>
                <a:spcPts val="570"/>
              </a:spcBef>
              <a:spcAft>
                <a:spcPts val="0"/>
              </a:spcAft>
              <a:buNone/>
            </a:pPr>
            <a:r>
              <a:rPr b="1" lang="en-US" sz="1600">
                <a:solidFill>
                  <a:srgbClr val="4E3629"/>
                </a:solidFill>
                <a:latin typeface="Calibri"/>
                <a:ea typeface="Calibri"/>
                <a:cs typeface="Calibri"/>
                <a:sym typeface="Calibri"/>
              </a:rPr>
              <a:t>DEPARTMENTS: principal</a:t>
            </a:r>
            <a:endParaRPr sz="1600">
              <a:latin typeface="Calibri"/>
              <a:ea typeface="Calibri"/>
              <a:cs typeface="Calibri"/>
              <a:sym typeface="Calibri"/>
            </a:endParaRPr>
          </a:p>
        </p:txBody>
      </p:sp>
      <p:sp>
        <p:nvSpPr>
          <p:cNvPr id="222" name="Google Shape;222;p28"/>
          <p:cNvSpPr txBox="1"/>
          <p:nvPr/>
        </p:nvSpPr>
        <p:spPr>
          <a:xfrm>
            <a:off x="630692" y="4100644"/>
            <a:ext cx="194373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EMPLOYEE: secundaria</a:t>
            </a:r>
            <a:endParaRPr sz="1600">
              <a:latin typeface="Calibri"/>
              <a:ea typeface="Calibri"/>
              <a:cs typeface="Calibri"/>
              <a:sym typeface="Calibri"/>
            </a:endParaRPr>
          </a:p>
        </p:txBody>
      </p:sp>
      <p:graphicFrame>
        <p:nvGraphicFramePr>
          <p:cNvPr id="223" name="Google Shape;223;p28"/>
          <p:cNvGraphicFramePr/>
          <p:nvPr/>
        </p:nvGraphicFramePr>
        <p:xfrm>
          <a:off x="653371" y="4369743"/>
          <a:ext cx="3000000" cy="3000000"/>
        </p:xfrm>
        <a:graphic>
          <a:graphicData uri="http://schemas.openxmlformats.org/drawingml/2006/table">
            <a:tbl>
              <a:tblPr bandRow="1" firstRow="1">
                <a:noFill/>
                <a:tableStyleId>{59BEE16A-0F3B-4543-9285-3813047B05FC}</a:tableStyleId>
              </a:tblPr>
              <a:tblGrid>
                <a:gridCol w="1878325"/>
                <a:gridCol w="1878325"/>
                <a:gridCol w="1878325"/>
                <a:gridCol w="1878325"/>
              </a:tblGrid>
              <a:tr h="24385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Lex</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Shelley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206</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William</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224" name="Google Shape;224;p28"/>
          <p:cNvGraphicFramePr/>
          <p:nvPr/>
        </p:nvGraphicFramePr>
        <p:xfrm>
          <a:off x="653371" y="2974516"/>
          <a:ext cx="3000000" cy="3000000"/>
        </p:xfrm>
        <a:graphic>
          <a:graphicData uri="http://schemas.openxmlformats.org/drawingml/2006/table">
            <a:tbl>
              <a:tblPr bandRow="1" firstRow="1">
                <a:noFill/>
                <a:tableStyleId>{59BEE16A-0F3B-4543-9285-3813047B05FC}</a:tableStyleId>
              </a:tblPr>
              <a:tblGrid>
                <a:gridCol w="1894200"/>
                <a:gridCol w="1872625"/>
                <a:gridCol w="1872625"/>
                <a:gridCol w="1872625"/>
              </a:tblGrid>
              <a:tr h="243200">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DEPT_NAME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Executive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Accounting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Contracting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Restricción FOREIGN KEY</a:t>
            </a:r>
            <a:endParaRPr/>
          </a:p>
        </p:txBody>
      </p:sp>
      <p:sp>
        <p:nvSpPr>
          <p:cNvPr id="230" name="Google Shape;230;p29"/>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231" name="Google Shape;231;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2" name="Google Shape;232;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3" name="Google Shape;233;p29"/>
          <p:cNvSpPr txBox="1"/>
          <p:nvPr/>
        </p:nvSpPr>
        <p:spPr>
          <a:xfrm>
            <a:off x="483552" y="1415417"/>
            <a:ext cx="8174990" cy="20904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definir una restricción FOREIGN KEY, es una buena 	práctica utilizar el sufijo _fk en el nombre de restricción</a:t>
            </a:r>
            <a:endParaRPr sz="2800">
              <a:latin typeface="Calibri"/>
              <a:ea typeface="Calibri"/>
              <a:cs typeface="Calibri"/>
              <a:sym typeface="Calibri"/>
            </a:endParaRPr>
          </a:p>
          <a:p>
            <a:pPr indent="-177800" lvl="0" marL="182880" marR="17589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el nombre de restricción para la columna 	de CLAVE AJENA department_id de la tabla de 	empleados podría ser emps_dept_id_fk</a:t>
            </a:r>
            <a:endParaRPr sz="28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type="title"/>
          </p:nvPr>
        </p:nvSpPr>
        <p:spPr>
          <a:xfrm>
            <a:off x="405387" y="13706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Sintaxis de Restricción FOREIGN KEY</a:t>
            </a:r>
            <a:endParaRPr/>
          </a:p>
        </p:txBody>
      </p:sp>
      <p:sp>
        <p:nvSpPr>
          <p:cNvPr id="239" name="Google Shape;239;p30"/>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240" name="Google Shape;240;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1" name="Google Shape;241;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2" name="Google Shape;242;p30"/>
          <p:cNvSpPr txBox="1"/>
          <p:nvPr/>
        </p:nvSpPr>
        <p:spPr>
          <a:xfrm>
            <a:off x="483552" y="1136117"/>
            <a:ext cx="8083500" cy="29778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para definir una restricción FOREIGN KEY 	necesita una referencia a la tabla y columna de la tabla 	principal</a:t>
            </a:r>
            <a:endParaRPr sz="2800">
              <a:latin typeface="Calibri"/>
              <a:ea typeface="Calibri"/>
              <a:cs typeface="Calibri"/>
              <a:sym typeface="Calibri"/>
            </a:endParaRPr>
          </a:p>
          <a:p>
            <a:pPr indent="-177800" lvl="0" marL="182880" marR="2413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restricción FOREIGN KEY en una sentencia CREATE 	TABLE se puede definir de la siguiente forma</a:t>
            </a:r>
            <a:endParaRPr sz="2800">
              <a:latin typeface="Calibri"/>
              <a:ea typeface="Calibri"/>
              <a:cs typeface="Calibri"/>
              <a:sym typeface="Calibri"/>
            </a:endParaRPr>
          </a:p>
          <a:p>
            <a:pPr indent="-177800" lvl="0" marL="183515" rtl="0" algn="l">
              <a:lnSpc>
                <a:spcPct val="100000"/>
              </a:lnSpc>
              <a:spcBef>
                <a:spcPts val="42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 de sintaxis de nivel de columna:</a:t>
            </a:r>
            <a:endParaRPr sz="2800">
              <a:latin typeface="Calibri"/>
              <a:ea typeface="Calibri"/>
              <a:cs typeface="Calibri"/>
              <a:sym typeface="Calibri"/>
            </a:endParaRPr>
          </a:p>
        </p:txBody>
      </p:sp>
      <p:sp>
        <p:nvSpPr>
          <p:cNvPr id="243" name="Google Shape;243;p30"/>
          <p:cNvSpPr txBox="1"/>
          <p:nvPr/>
        </p:nvSpPr>
        <p:spPr>
          <a:xfrm>
            <a:off x="399150" y="4151263"/>
            <a:ext cx="8345700" cy="226050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833"/>
              </a:lnSpc>
              <a:spcBef>
                <a:spcPts val="0"/>
              </a:spcBef>
              <a:spcAft>
                <a:spcPts val="0"/>
              </a:spcAft>
              <a:buNone/>
            </a:pPr>
            <a:r>
              <a:rPr b="1" lang="en-US" sz="1800">
                <a:solidFill>
                  <a:srgbClr val="4E3629"/>
                </a:solidFill>
                <a:latin typeface="Courier New"/>
                <a:ea typeface="Courier New"/>
                <a:cs typeface="Courier New"/>
                <a:sym typeface="Courier New"/>
              </a:rPr>
              <a:t>CREATE TABLE copy_employees</a:t>
            </a:r>
            <a:endParaRPr sz="1800">
              <a:latin typeface="Courier New"/>
              <a:ea typeface="Courier New"/>
              <a:cs typeface="Courier New"/>
              <a:sym typeface="Courier New"/>
            </a:endParaRPr>
          </a:p>
          <a:p>
            <a:pPr indent="-136525" lvl="0" marL="136525" marR="14859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(employee_id NUMBER(6,0) CONSTRAINT copy_emp_pk PRIMARY KEY, first_name VARCHAR2(20),</a:t>
            </a:r>
            <a:endParaRPr sz="1800">
              <a:latin typeface="Courier New"/>
              <a:ea typeface="Courier New"/>
              <a:cs typeface="Courier New"/>
              <a:sym typeface="Courier New"/>
            </a:endParaRPr>
          </a:p>
          <a:p>
            <a:pPr indent="0" lvl="0" marL="1365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last_name VARCHAR2(25),</a:t>
            </a:r>
            <a:endParaRPr sz="1800">
              <a:latin typeface="Courier New"/>
              <a:ea typeface="Courier New"/>
              <a:cs typeface="Courier New"/>
              <a:sym typeface="Courier New"/>
            </a:endParaRPr>
          </a:p>
          <a:p>
            <a:pPr indent="0" lvl="0" marL="136525"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department_id NUMBER(4,0) CONSTRAINT c_emps_dept_id_fk</a:t>
            </a:r>
            <a:endParaRPr sz="1800">
              <a:latin typeface="Courier New"/>
              <a:ea typeface="Courier New"/>
              <a:cs typeface="Courier New"/>
              <a:sym typeface="Courier New"/>
            </a:endParaRPr>
          </a:p>
          <a:p>
            <a:pPr indent="0" lvl="0" marL="3152140"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REFERENCES departments(department_id)</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a:p>
            <a:pPr indent="0" lvl="0" marL="13589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email VARCHAR2(25));</a:t>
            </a:r>
            <a:endParaRPr sz="18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1"/>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Sintaxis de Restricción FOREIGN KEY</a:t>
            </a:r>
            <a:endParaRPr/>
          </a:p>
        </p:txBody>
      </p:sp>
      <p:sp>
        <p:nvSpPr>
          <p:cNvPr id="249" name="Google Shape;249;p31"/>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250" name="Google Shape;250;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1" name="Google Shape;251;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2" name="Google Shape;252;p31"/>
          <p:cNvSpPr txBox="1"/>
          <p:nvPr/>
        </p:nvSpPr>
        <p:spPr>
          <a:xfrm>
            <a:off x="483552" y="1415417"/>
            <a:ext cx="8083550" cy="25761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para definir una restricción FOREIGN KEY 	necesita una referencia a la tabla y columna de la tabla 	principal</a:t>
            </a:r>
            <a:endParaRPr sz="2800">
              <a:latin typeface="Calibri"/>
              <a:ea typeface="Calibri"/>
              <a:cs typeface="Calibri"/>
              <a:sym typeface="Calibri"/>
            </a:endParaRPr>
          </a:p>
          <a:p>
            <a:pPr indent="-177800" lvl="0" marL="182880" marR="2413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restricción FOREIGN KEY en una sentencia CREATE 	TABLE se puede definir de la siguiente forma</a:t>
            </a:r>
            <a:endParaRPr sz="2800">
              <a:latin typeface="Calibri"/>
              <a:ea typeface="Calibri"/>
              <a:cs typeface="Calibri"/>
              <a:sym typeface="Calibri"/>
            </a:endParaRPr>
          </a:p>
          <a:p>
            <a:pPr indent="-177800" lvl="0" marL="183515" rtl="0" algn="l">
              <a:lnSpc>
                <a:spcPct val="100000"/>
              </a:lnSpc>
              <a:spcBef>
                <a:spcPts val="42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 de sintaxis de nivel de tabla:</a:t>
            </a:r>
            <a:endParaRPr sz="2800">
              <a:latin typeface="Calibri"/>
              <a:ea typeface="Calibri"/>
              <a:cs typeface="Calibri"/>
              <a:sym typeface="Calibri"/>
            </a:endParaRPr>
          </a:p>
        </p:txBody>
      </p:sp>
      <p:sp>
        <p:nvSpPr>
          <p:cNvPr id="253" name="Google Shape;253;p31"/>
          <p:cNvSpPr txBox="1"/>
          <p:nvPr/>
        </p:nvSpPr>
        <p:spPr>
          <a:xfrm>
            <a:off x="399146" y="4475109"/>
            <a:ext cx="8345700" cy="1974000"/>
          </a:xfrm>
          <a:prstGeom prst="rect">
            <a:avLst/>
          </a:prstGeom>
          <a:solidFill>
            <a:srgbClr val="9DBDC4">
              <a:alpha val="49804"/>
            </a:srgbClr>
          </a:solidFill>
          <a:ln>
            <a:noFill/>
          </a:ln>
        </p:spPr>
        <p:txBody>
          <a:bodyPr anchorCtr="0" anchor="t" bIns="0" lIns="0" spcFirstLastPara="1" rIns="0" wrap="square" tIns="3800">
            <a:spAutoFit/>
          </a:bodyPr>
          <a:lstStyle/>
          <a:p>
            <a:pPr indent="0" lvl="0" marL="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CREATE TABLE copy_employees</a:t>
            </a:r>
            <a:endParaRPr sz="1600">
              <a:latin typeface="Courier New"/>
              <a:ea typeface="Courier New"/>
              <a:cs typeface="Courier New"/>
              <a:sym typeface="Courier New"/>
            </a:endParaRPr>
          </a:p>
          <a:p>
            <a:pPr indent="-120650" lvl="0" marL="120650" marR="101028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(employee_id NUMBER(6,0) CONSTRAINT copy_emp_pk PRIMARY KEY, first_name VARCHAR2(20),</a:t>
            </a:r>
            <a:endParaRPr sz="1600">
              <a:latin typeface="Courier New"/>
              <a:ea typeface="Courier New"/>
              <a:cs typeface="Courier New"/>
              <a:sym typeface="Courier New"/>
            </a:endParaRPr>
          </a:p>
          <a:p>
            <a:pPr indent="0" lvl="0" marL="120650" marR="504126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last_name VARCHAR2(25), department_id NUMBER(4,0), email VARCHAR2(25),</a:t>
            </a:r>
            <a:endParaRPr sz="1600">
              <a:latin typeface="Courier New"/>
              <a:ea typeface="Courier New"/>
              <a:cs typeface="Courier New"/>
              <a:sym typeface="Courier New"/>
            </a:endParaRPr>
          </a:p>
          <a:p>
            <a:pPr indent="0" lvl="0" marL="12065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CONSTRAINT c_emps_dept_id_fk FOREIGN KEY (department_id)</a:t>
            </a:r>
            <a:endParaRPr sz="1600">
              <a:latin typeface="Courier New"/>
              <a:ea typeface="Courier New"/>
              <a:cs typeface="Courier New"/>
              <a:sym typeface="Courier New"/>
            </a:endParaRPr>
          </a:p>
          <a:p>
            <a:pPr indent="0" lvl="0" marL="310769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REFERENCES departments(department_id)</a:t>
            </a:r>
            <a:r>
              <a:rPr b="1" lang="en-US" sz="1600">
                <a:solidFill>
                  <a:srgbClr val="4E3629"/>
                </a:solidFill>
                <a:latin typeface="Courier New"/>
                <a:ea typeface="Courier New"/>
                <a:cs typeface="Courier New"/>
                <a:sym typeface="Courier New"/>
              </a:rPr>
              <a:t>);</a:t>
            </a:r>
            <a:endParaRPr sz="16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2"/>
          <p:cNvSpPr txBox="1"/>
          <p:nvPr>
            <p:ph type="title"/>
          </p:nvPr>
        </p:nvSpPr>
        <p:spPr>
          <a:xfrm>
            <a:off x="392112" y="385319"/>
            <a:ext cx="80169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ON DELETE CASCADE: Mantenimiento de Integridad Referencial</a:t>
            </a:r>
            <a:endParaRPr sz="3000"/>
          </a:p>
        </p:txBody>
      </p:sp>
      <p:sp>
        <p:nvSpPr>
          <p:cNvPr id="259" name="Google Shape;259;p32"/>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260" name="Google Shape;260;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1" name="Google Shape;261;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2" name="Google Shape;262;p32"/>
          <p:cNvSpPr txBox="1"/>
          <p:nvPr/>
        </p:nvSpPr>
        <p:spPr>
          <a:xfrm>
            <a:off x="483552" y="1415417"/>
            <a:ext cx="8133715" cy="4497070"/>
          </a:xfrm>
          <a:prstGeom prst="rect">
            <a:avLst/>
          </a:prstGeom>
          <a:noFill/>
          <a:ln>
            <a:noFill/>
          </a:ln>
        </p:spPr>
        <p:txBody>
          <a:bodyPr anchorCtr="0" anchor="t" bIns="0" lIns="0" spcFirstLastPara="1" rIns="0" wrap="square" tIns="59675">
            <a:spAutoFit/>
          </a:bodyPr>
          <a:lstStyle/>
          <a:p>
            <a:pPr indent="-177800" lvl="0" marL="182880" marR="16129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uso de la opción ON DELETE CASCADE al definir una 	clave ajena permite la supresión de las filas 	dependientes en la tabla secundaria cuando se 	suprime una fila de la tabla principal</a:t>
            </a:r>
            <a:endParaRPr sz="2800">
              <a:latin typeface="Calibri"/>
              <a:ea typeface="Calibri"/>
              <a:cs typeface="Calibri"/>
              <a:sym typeface="Calibri"/>
            </a:endParaRPr>
          </a:p>
          <a:p>
            <a:pPr indent="-177800" lvl="0" marL="182880" marR="54864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la clave ajena no tiene una opción ON DELETE 	CASCADE, las filas a las que se hace referencia de la 	tabla principal no se pueden suprimir</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decir, la restricción FOREIGN KEY de la tabla 	secundaria incluye el permiso ON DELETE CASCADE 	que permite a su principal suprimir las filas a las que se 	hace referencia</a:t>
            </a:r>
            <a:endParaRPr sz="28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3"/>
          <p:cNvSpPr txBox="1"/>
          <p:nvPr>
            <p:ph type="title"/>
          </p:nvPr>
        </p:nvSpPr>
        <p:spPr>
          <a:xfrm>
            <a:off x="392112" y="385319"/>
            <a:ext cx="80169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ON DELETE CASCADE: Mantenimiento de Integridad Referencial</a:t>
            </a:r>
            <a:endParaRPr sz="3000"/>
          </a:p>
        </p:txBody>
      </p:sp>
      <p:sp>
        <p:nvSpPr>
          <p:cNvPr id="268" name="Google Shape;268;p33"/>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269" name="Google Shape;269;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0" name="Google Shape;270;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1" name="Google Shape;271;p33"/>
          <p:cNvSpPr txBox="1"/>
          <p:nvPr/>
        </p:nvSpPr>
        <p:spPr>
          <a:xfrm>
            <a:off x="790347" y="1818924"/>
            <a:ext cx="212217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DEPARTMENTS: principal</a:t>
            </a:r>
            <a:endParaRPr sz="1600">
              <a:latin typeface="Calibri"/>
              <a:ea typeface="Calibri"/>
              <a:cs typeface="Calibri"/>
              <a:sym typeface="Calibri"/>
            </a:endParaRPr>
          </a:p>
        </p:txBody>
      </p:sp>
      <p:sp>
        <p:nvSpPr>
          <p:cNvPr id="272" name="Google Shape;272;p33"/>
          <p:cNvSpPr txBox="1"/>
          <p:nvPr/>
        </p:nvSpPr>
        <p:spPr>
          <a:xfrm>
            <a:off x="790347" y="3421812"/>
            <a:ext cx="194373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EMPLOYEE: secundaria</a:t>
            </a:r>
            <a:endParaRPr sz="1600">
              <a:latin typeface="Calibri"/>
              <a:ea typeface="Calibri"/>
              <a:cs typeface="Calibri"/>
              <a:sym typeface="Calibri"/>
            </a:endParaRPr>
          </a:p>
        </p:txBody>
      </p:sp>
      <p:graphicFrame>
        <p:nvGraphicFramePr>
          <p:cNvPr id="273" name="Google Shape;273;p33"/>
          <p:cNvGraphicFramePr/>
          <p:nvPr/>
        </p:nvGraphicFramePr>
        <p:xfrm>
          <a:off x="579535" y="3712208"/>
          <a:ext cx="3000000" cy="3000000"/>
        </p:xfrm>
        <a:graphic>
          <a:graphicData uri="http://schemas.openxmlformats.org/drawingml/2006/table">
            <a:tbl>
              <a:tblPr bandRow="1" firstRow="1">
                <a:noFill/>
                <a:tableStyleId>{59BEE16A-0F3B-4543-9285-3813047B05FC}</a:tableStyleId>
              </a:tblPr>
              <a:tblGrid>
                <a:gridCol w="1878325"/>
                <a:gridCol w="1878325"/>
                <a:gridCol w="1878325"/>
                <a:gridCol w="1878325"/>
              </a:tblGrid>
              <a:tr h="2692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692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Lex</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Shelley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206</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William</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274" name="Google Shape;274;p33"/>
          <p:cNvGraphicFramePr/>
          <p:nvPr/>
        </p:nvGraphicFramePr>
        <p:xfrm>
          <a:off x="579535" y="2096635"/>
          <a:ext cx="3000000" cy="3000000"/>
        </p:xfrm>
        <a:graphic>
          <a:graphicData uri="http://schemas.openxmlformats.org/drawingml/2006/table">
            <a:tbl>
              <a:tblPr bandRow="1" firstRow="1">
                <a:noFill/>
                <a:tableStyleId>{59BEE16A-0F3B-4543-9285-3813047B05FC}</a:tableStyleId>
              </a:tblPr>
              <a:tblGrid>
                <a:gridCol w="1894200"/>
                <a:gridCol w="1872625"/>
                <a:gridCol w="1872625"/>
                <a:gridCol w="1872625"/>
              </a:tblGrid>
              <a:tr h="2692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692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Executive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Accounting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Contracting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4"/>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ON DELETE CASCADE</a:t>
            </a:r>
            <a:endParaRPr/>
          </a:p>
        </p:txBody>
      </p:sp>
      <p:sp>
        <p:nvSpPr>
          <p:cNvPr id="280" name="Google Shape;280;p34"/>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281" name="Google Shape;281;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2" name="Google Shape;282;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3" name="Google Shape;283;p34"/>
          <p:cNvSpPr txBox="1"/>
          <p:nvPr/>
        </p:nvSpPr>
        <p:spPr>
          <a:xfrm>
            <a:off x="483552" y="1415417"/>
            <a:ext cx="8117205" cy="3242945"/>
          </a:xfrm>
          <a:prstGeom prst="rect">
            <a:avLst/>
          </a:prstGeom>
          <a:noFill/>
          <a:ln>
            <a:noFill/>
          </a:ln>
        </p:spPr>
        <p:txBody>
          <a:bodyPr anchorCtr="0" anchor="t" bIns="0" lIns="0" spcFirstLastPara="1" rIns="0" wrap="square" tIns="59675">
            <a:spAutoFit/>
          </a:bodyPr>
          <a:lstStyle/>
          <a:p>
            <a:pPr indent="-177800" lvl="0" marL="182880" marR="1244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la columna department_id de empleados se ha 	creado con la opción ON DELETE CASCADE 	especificada, se ejecutará la sentencia DELETE emitida 	en la tabla de departamentos</a:t>
            </a:r>
            <a:endParaRPr sz="2800">
              <a:latin typeface="Calibri"/>
              <a:ea typeface="Calibri"/>
              <a:cs typeface="Calibri"/>
              <a:sym typeface="Calibri"/>
            </a:endParaRPr>
          </a:p>
          <a:p>
            <a:pPr indent="-177800" lvl="0" marL="182880"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no se ha especificado la opción ON DELETE CASCADE 	al crear FOREIGN KEY, fallará el intento de supresión de 	un departamento de la tabla de departamentos que 	tiene entradas en la tabla de empleados</a:t>
            </a:r>
            <a:endParaRPr sz="28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5"/>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Sintaxis de ON DELETE CASCADE</a:t>
            </a:r>
            <a:endParaRPr/>
          </a:p>
        </p:txBody>
      </p:sp>
      <p:sp>
        <p:nvSpPr>
          <p:cNvPr id="289" name="Google Shape;289;p35"/>
          <p:cNvSpPr txBox="1"/>
          <p:nvPr/>
        </p:nvSpPr>
        <p:spPr>
          <a:xfrm>
            <a:off x="483552" y="1415417"/>
            <a:ext cx="5701665"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Tabla creada sin ON DELETE CASCADE:</a:t>
            </a:r>
            <a:endParaRPr sz="2800">
              <a:latin typeface="Calibri"/>
              <a:ea typeface="Calibri"/>
              <a:cs typeface="Calibri"/>
              <a:sym typeface="Calibri"/>
            </a:endParaRPr>
          </a:p>
        </p:txBody>
      </p:sp>
      <p:sp>
        <p:nvSpPr>
          <p:cNvPr id="290" name="Google Shape;290;p35"/>
          <p:cNvSpPr txBox="1"/>
          <p:nvPr/>
        </p:nvSpPr>
        <p:spPr>
          <a:xfrm>
            <a:off x="483552" y="3844673"/>
            <a:ext cx="796925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Fallará un intento de supresión de department_id 110 	de la tabla de departamentos ya que hay filas 	dependientes en la tabla de empleados</a:t>
            </a:r>
            <a:endParaRPr sz="2800">
              <a:latin typeface="Calibri"/>
              <a:ea typeface="Calibri"/>
              <a:cs typeface="Calibri"/>
              <a:sym typeface="Calibri"/>
            </a:endParaRPr>
          </a:p>
        </p:txBody>
      </p:sp>
      <p:pic>
        <p:nvPicPr>
          <p:cNvPr id="291" name="Google Shape;291;p35"/>
          <p:cNvPicPr preferRelativeResize="0"/>
          <p:nvPr/>
        </p:nvPicPr>
        <p:blipFill rotWithShape="1">
          <a:blip r:embed="rId3">
            <a:alphaModFix/>
          </a:blip>
          <a:srcRect b="0" l="0" r="0" t="0"/>
          <a:stretch/>
        </p:blipFill>
        <p:spPr>
          <a:xfrm>
            <a:off x="804672" y="5379720"/>
            <a:ext cx="7254239" cy="510539"/>
          </a:xfrm>
          <a:prstGeom prst="rect">
            <a:avLst/>
          </a:prstGeom>
          <a:noFill/>
          <a:ln>
            <a:noFill/>
          </a:ln>
        </p:spPr>
      </p:pic>
      <p:sp>
        <p:nvSpPr>
          <p:cNvPr id="292" name="Google Shape;292;p35"/>
          <p:cNvSpPr txBox="1"/>
          <p:nvPr/>
        </p:nvSpPr>
        <p:spPr>
          <a:xfrm>
            <a:off x="417576" y="1851660"/>
            <a:ext cx="8345805" cy="2007235"/>
          </a:xfrm>
          <a:prstGeom prst="rect">
            <a:avLst/>
          </a:prstGeom>
          <a:solidFill>
            <a:srgbClr val="9DBDC4">
              <a:alpha val="49804"/>
            </a:srgbClr>
          </a:solidFill>
          <a:ln>
            <a:noFill/>
          </a:ln>
        </p:spPr>
        <p:txBody>
          <a:bodyPr anchorCtr="0" anchor="t" bIns="0" lIns="0" spcFirstLastPara="1" rIns="0" wrap="square" tIns="5075">
            <a:spAutoFit/>
          </a:bodyPr>
          <a:lstStyle/>
          <a:p>
            <a:pPr indent="0" lvl="0" marL="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CREATE TABLE copy_employees</a:t>
            </a:r>
            <a:endParaRPr sz="1600">
              <a:latin typeface="Courier New"/>
              <a:ea typeface="Courier New"/>
              <a:cs typeface="Courier New"/>
              <a:sym typeface="Courier New"/>
            </a:endParaRPr>
          </a:p>
          <a:p>
            <a:pPr indent="-121285" lvl="0" marL="121285" marR="101028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(employee_id NUMBER(6,0) CONSTRAINT copy_emp_pk PRIMARY KEY, first_name VARCHAR2(20),</a:t>
            </a:r>
            <a:endParaRPr sz="1600">
              <a:latin typeface="Courier New"/>
              <a:ea typeface="Courier New"/>
              <a:cs typeface="Courier New"/>
              <a:sym typeface="Courier New"/>
            </a:endParaRPr>
          </a:p>
          <a:p>
            <a:pPr indent="0" lvl="0" marL="121285" marR="504126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last_name VARCHAR2(25), department_id NUMBER(4,0), email VARCHAR2(25),</a:t>
            </a:r>
            <a:endParaRPr sz="1600">
              <a:latin typeface="Courier New"/>
              <a:ea typeface="Courier New"/>
              <a:cs typeface="Courier New"/>
              <a:sym typeface="Courier New"/>
            </a:endParaRPr>
          </a:p>
          <a:p>
            <a:pPr indent="-793115" lvl="0" marL="913765" marR="1496695"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CONSTRAINT cdept_dept_id_fk FOREIGN KEY (department_id) REFERENCES copy_departments(department_id)</a:t>
            </a:r>
            <a:r>
              <a:rPr b="1" lang="en-US" sz="1600">
                <a:solidFill>
                  <a:srgbClr val="4E3629"/>
                </a:solidFill>
                <a:latin typeface="Courier New"/>
                <a:ea typeface="Courier New"/>
                <a:cs typeface="Courier New"/>
                <a:sym typeface="Courier New"/>
              </a:rPr>
              <a:t>);</a:t>
            </a:r>
            <a:endParaRPr sz="1600">
              <a:latin typeface="Courier New"/>
              <a:ea typeface="Courier New"/>
              <a:cs typeface="Courier New"/>
              <a:sym typeface="Courier New"/>
            </a:endParaRPr>
          </a:p>
        </p:txBody>
      </p:sp>
      <p:sp>
        <p:nvSpPr>
          <p:cNvPr id="293" name="Google Shape;293;p35"/>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294" name="Google Shape;294;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5" name="Google Shape;295;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6"/>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Sintaxis de ON DELETE CASCADE</a:t>
            </a:r>
            <a:endParaRPr/>
          </a:p>
        </p:txBody>
      </p:sp>
      <p:sp>
        <p:nvSpPr>
          <p:cNvPr id="301" name="Google Shape;301;p36"/>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302" name="Google Shape;302;p3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3" name="Google Shape;303;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4" name="Google Shape;304;p36"/>
          <p:cNvSpPr txBox="1"/>
          <p:nvPr/>
        </p:nvSpPr>
        <p:spPr>
          <a:xfrm>
            <a:off x="483552" y="1415417"/>
            <a:ext cx="5815965"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Tabla creada con ON DELETE CASCADE:</a:t>
            </a:r>
            <a:endParaRPr sz="2800">
              <a:latin typeface="Calibri"/>
              <a:ea typeface="Calibri"/>
              <a:cs typeface="Calibri"/>
              <a:sym typeface="Calibri"/>
            </a:endParaRPr>
          </a:p>
        </p:txBody>
      </p:sp>
      <p:sp>
        <p:nvSpPr>
          <p:cNvPr id="305" name="Google Shape;305;p36"/>
          <p:cNvSpPr txBox="1"/>
          <p:nvPr/>
        </p:nvSpPr>
        <p:spPr>
          <a:xfrm>
            <a:off x="483552" y="3844673"/>
            <a:ext cx="7804784" cy="208851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intento de supresión de department_id 110 de la 	tabla de departamentos se realizará correctamente y 	las filas dependientes en la tabla de empleados 	también se suprimirán</a:t>
            </a:r>
            <a:endParaRPr sz="2800">
              <a:latin typeface="Calibri"/>
              <a:ea typeface="Calibri"/>
              <a:cs typeface="Calibri"/>
              <a:sym typeface="Calibri"/>
            </a:endParaRPr>
          </a:p>
          <a:p>
            <a:pPr indent="-177800" lvl="0" marL="183515" rtl="0" algn="l">
              <a:lnSpc>
                <a:spcPct val="100000"/>
              </a:lnSpc>
              <a:spcBef>
                <a:spcPts val="3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1 fila suprimida</a:t>
            </a:r>
            <a:endParaRPr sz="2800">
              <a:latin typeface="Calibri"/>
              <a:ea typeface="Calibri"/>
              <a:cs typeface="Calibri"/>
              <a:sym typeface="Calibri"/>
            </a:endParaRPr>
          </a:p>
        </p:txBody>
      </p:sp>
      <p:sp>
        <p:nvSpPr>
          <p:cNvPr id="306" name="Google Shape;306;p36"/>
          <p:cNvSpPr txBox="1"/>
          <p:nvPr/>
        </p:nvSpPr>
        <p:spPr>
          <a:xfrm>
            <a:off x="405384" y="1879092"/>
            <a:ext cx="8345805" cy="2005964"/>
          </a:xfrm>
          <a:prstGeom prst="rect">
            <a:avLst/>
          </a:prstGeom>
          <a:solidFill>
            <a:srgbClr val="9DBDC4">
              <a:alpha val="49804"/>
            </a:srgbClr>
          </a:solidFill>
          <a:ln>
            <a:noFill/>
          </a:ln>
        </p:spPr>
        <p:txBody>
          <a:bodyPr anchorCtr="0" anchor="t" bIns="0" lIns="0" spcFirstLastPara="1" rIns="0" wrap="square" tIns="3800">
            <a:spAutoFit/>
          </a:bodyPr>
          <a:lstStyle/>
          <a:p>
            <a:pPr indent="0" lvl="0" marL="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CREATE TABLE copy_employees</a:t>
            </a:r>
            <a:endParaRPr sz="1600">
              <a:latin typeface="Courier New"/>
              <a:ea typeface="Courier New"/>
              <a:cs typeface="Courier New"/>
              <a:sym typeface="Courier New"/>
            </a:endParaRPr>
          </a:p>
          <a:p>
            <a:pPr indent="-120650" lvl="0" marL="120650" marR="101028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(employee_id NUMBER(6,0) CONSTRAINT copy_emp_pk PRIMARY KEY, first_name VARCHAR2(20),</a:t>
            </a:r>
            <a:endParaRPr sz="1600">
              <a:latin typeface="Courier New"/>
              <a:ea typeface="Courier New"/>
              <a:cs typeface="Courier New"/>
              <a:sym typeface="Courier New"/>
            </a:endParaRPr>
          </a:p>
          <a:p>
            <a:pPr indent="0" lvl="0" marL="120650" marR="504126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last_name VARCHAR2(25), department_id NUMBER(4,0), email VARCHAR2(25),</a:t>
            </a:r>
            <a:endParaRPr sz="1600">
              <a:latin typeface="Courier New"/>
              <a:ea typeface="Courier New"/>
              <a:cs typeface="Courier New"/>
              <a:sym typeface="Courier New"/>
            </a:endParaRPr>
          </a:p>
          <a:p>
            <a:pPr indent="-366395" lvl="0" marL="487045" marR="27749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CONSTRAINT cdept_dept_id_fk FOREIGN KEY (department_id) REFERENCES copy_departments(department_id) </a:t>
            </a:r>
            <a:r>
              <a:rPr b="1" lang="en-US" sz="1600">
                <a:solidFill>
                  <a:srgbClr val="D1350F"/>
                </a:solidFill>
                <a:latin typeface="Courier New"/>
                <a:ea typeface="Courier New"/>
                <a:cs typeface="Courier New"/>
                <a:sym typeface="Courier New"/>
              </a:rPr>
              <a:t>ON DELETE CASCADE</a:t>
            </a:r>
            <a:r>
              <a:rPr b="1" lang="en-US" sz="1600">
                <a:solidFill>
                  <a:srgbClr val="4E3629"/>
                </a:solidFill>
                <a:latin typeface="Courier New"/>
                <a:ea typeface="Courier New"/>
                <a:cs typeface="Courier New"/>
                <a:sym typeface="Courier New"/>
              </a:rPr>
              <a:t>);</a:t>
            </a:r>
            <a:endParaRPr sz="16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7"/>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ON DELETE SET NULL</a:t>
            </a:r>
            <a:endParaRPr/>
          </a:p>
        </p:txBody>
      </p:sp>
      <p:sp>
        <p:nvSpPr>
          <p:cNvPr id="312" name="Google Shape;312;p37"/>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313" name="Google Shape;313;p3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14" name="Google Shape;314;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15" name="Google Shape;315;p37"/>
          <p:cNvSpPr txBox="1"/>
          <p:nvPr>
            <p:ph idx="1" type="body"/>
          </p:nvPr>
        </p:nvSpPr>
        <p:spPr>
          <a:xfrm>
            <a:off x="483552" y="1415417"/>
            <a:ext cx="8043600" cy="23568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1200"/>
              </a:spcAft>
              <a:buClr>
                <a:srgbClr val="D1350F"/>
              </a:buClr>
              <a:buSzPts val="2800"/>
              <a:buFont typeface="Arial"/>
              <a:buChar char="•"/>
            </a:pPr>
            <a:r>
              <a:rPr lang="en-US"/>
              <a:t>En lugar de que se supriman las filas de la tabla 	secundaria al utilizar una opción ON DELETE CASCADE, 	las filas secundarias se pueden rellenar con valores 	nulos mediante la opción ON DELETE SET NULL</a:t>
            </a:r>
            <a:endParaRPr/>
          </a:p>
        </p:txBody>
      </p:sp>
      <p:sp>
        <p:nvSpPr>
          <p:cNvPr id="316" name="Google Shape;316;p37"/>
          <p:cNvSpPr txBox="1"/>
          <p:nvPr/>
        </p:nvSpPr>
        <p:spPr>
          <a:xfrm>
            <a:off x="332496" y="3839564"/>
            <a:ext cx="8345700" cy="1975500"/>
          </a:xfrm>
          <a:prstGeom prst="rect">
            <a:avLst/>
          </a:prstGeom>
          <a:solidFill>
            <a:srgbClr val="9DBDC4">
              <a:alpha val="49804"/>
            </a:srgbClr>
          </a:solidFill>
          <a:ln>
            <a:noFill/>
          </a:ln>
        </p:spPr>
        <p:txBody>
          <a:bodyPr anchorCtr="0" anchor="t" bIns="0" lIns="0" spcFirstLastPara="1" rIns="0" wrap="square" tIns="5075">
            <a:spAutoFit/>
          </a:bodyPr>
          <a:lstStyle/>
          <a:p>
            <a:pPr indent="0" lvl="0" marL="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CREATE TABLE copy_employees</a:t>
            </a:r>
            <a:endParaRPr sz="1600">
              <a:latin typeface="Courier New"/>
              <a:ea typeface="Courier New"/>
              <a:cs typeface="Courier New"/>
              <a:sym typeface="Courier New"/>
            </a:endParaRPr>
          </a:p>
          <a:p>
            <a:pPr indent="-120650" lvl="0" marL="120650" marR="101028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(employee_id NUMBER(6,0) CONSTRAINT copy_emp_pk PRIMARY KEY, first_name VARCHAR2(20),</a:t>
            </a:r>
            <a:endParaRPr sz="1600">
              <a:latin typeface="Courier New"/>
              <a:ea typeface="Courier New"/>
              <a:cs typeface="Courier New"/>
              <a:sym typeface="Courier New"/>
            </a:endParaRPr>
          </a:p>
          <a:p>
            <a:pPr indent="0" lvl="0" marL="120650" marR="504126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last_name VARCHAR2(25), department_id NUMBER(4,0), email VARCHAR2(25),</a:t>
            </a:r>
            <a:endParaRPr sz="1600">
              <a:latin typeface="Courier New"/>
              <a:ea typeface="Courier New"/>
              <a:cs typeface="Courier New"/>
              <a:sym typeface="Courier New"/>
            </a:endParaRPr>
          </a:p>
          <a:p>
            <a:pPr indent="-366395" lvl="0" marL="487045" marR="15557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CONSTRAINT cdept_dept_id_fk FOREIGN KEY (department_id)  REFERENCES copy_departments(department_id) </a:t>
            </a:r>
            <a:r>
              <a:rPr b="1" lang="en-US" sz="1600">
                <a:solidFill>
                  <a:srgbClr val="D1350F"/>
                </a:solidFill>
                <a:latin typeface="Courier New"/>
                <a:ea typeface="Courier New"/>
                <a:cs typeface="Courier New"/>
                <a:sym typeface="Courier New"/>
              </a:rPr>
              <a:t>ON DELETE SET NULL</a:t>
            </a:r>
            <a:r>
              <a:rPr b="1" lang="en-US" sz="1600">
                <a:solidFill>
                  <a:srgbClr val="4E3629"/>
                </a:solidFill>
                <a:latin typeface="Courier New"/>
                <a:ea typeface="Courier New"/>
                <a:cs typeface="Courier New"/>
                <a:sym typeface="Courier New"/>
              </a:rPr>
              <a:t>);</a:t>
            </a:r>
            <a:endParaRPr sz="1600">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8"/>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ON DELETE SET NULL</a:t>
            </a:r>
            <a:endParaRPr/>
          </a:p>
        </p:txBody>
      </p:sp>
      <p:sp>
        <p:nvSpPr>
          <p:cNvPr id="322" name="Google Shape;322;p38"/>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323" name="Google Shape;323;p3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4" name="Google Shape;324;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25" name="Google Shape;325;p38"/>
          <p:cNvSpPr txBox="1"/>
          <p:nvPr/>
        </p:nvSpPr>
        <p:spPr>
          <a:xfrm>
            <a:off x="483552" y="1415417"/>
            <a:ext cx="8036559" cy="3728720"/>
          </a:xfrm>
          <a:prstGeom prst="rect">
            <a:avLst/>
          </a:prstGeom>
          <a:noFill/>
          <a:ln>
            <a:noFill/>
          </a:ln>
        </p:spPr>
        <p:txBody>
          <a:bodyPr anchorCtr="0" anchor="t" bIns="0" lIns="0" spcFirstLastPara="1" rIns="0" wrap="square" tIns="59675">
            <a:spAutoFit/>
          </a:bodyPr>
          <a:lstStyle/>
          <a:p>
            <a:pPr indent="-177800" lvl="0" marL="182880" marR="42354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podría resultar útil cuando el valor de la tabla 	principal se va a cambiar a un nuevo número como, 	por ejemplo, al convertir números de inventario a 	números de código de barras</a:t>
            </a:r>
            <a:endParaRPr sz="28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desea suprimir las filas de la tabla secundaria</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se introduzcan los nuevos números de código 	de barras en la tabla principal, se podrán insertar en la 	tabla secundaria sin tener que volver a crear 	totalmente cada una de las filas de la tabla secundaria</a:t>
            </a:r>
            <a:endParaRPr sz="28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9"/>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Restricciones CHECK</a:t>
            </a:r>
            <a:endParaRPr/>
          </a:p>
        </p:txBody>
      </p:sp>
      <p:sp>
        <p:nvSpPr>
          <p:cNvPr id="331" name="Google Shape;331;p39"/>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332" name="Google Shape;332;p3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3" name="Google Shape;333;p3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34" name="Google Shape;334;p39"/>
          <p:cNvSpPr txBox="1"/>
          <p:nvPr/>
        </p:nvSpPr>
        <p:spPr>
          <a:xfrm>
            <a:off x="483552" y="1415417"/>
            <a:ext cx="8175625" cy="3344545"/>
          </a:xfrm>
          <a:prstGeom prst="rect">
            <a:avLst/>
          </a:prstGeom>
          <a:noFill/>
          <a:ln>
            <a:noFill/>
          </a:ln>
        </p:spPr>
        <p:txBody>
          <a:bodyPr anchorCtr="0" anchor="t" bIns="0" lIns="0" spcFirstLastPara="1" rIns="0" wrap="square" tIns="59675">
            <a:spAutoFit/>
          </a:bodyPr>
          <a:lstStyle/>
          <a:p>
            <a:pPr indent="-177800" lvl="0" marL="182880" marR="121221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restricción CHECK define explícitamente una 	condición que se debe cumplir</a:t>
            </a:r>
            <a:endParaRPr sz="2800">
              <a:latin typeface="Calibri"/>
              <a:ea typeface="Calibri"/>
              <a:cs typeface="Calibri"/>
              <a:sym typeface="Calibri"/>
            </a:endParaRPr>
          </a:p>
          <a:p>
            <a:pPr indent="-177800" lvl="0" marL="182880" marR="2095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cumplir la restricción, cada una de las filas de la 	tabla debe hacer que condición sea True o desconocida 	(debido a un valor nulo)</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condición de una restricción de CHECK puede hacer 	referencia a cualquier columna de la tabla especificada, 	pero no a columnas de otras tablas</a:t>
            </a:r>
            <a:endParaRPr sz="28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0"/>
          <p:cNvSpPr txBox="1"/>
          <p:nvPr>
            <p:ph type="title"/>
          </p:nvPr>
        </p:nvSpPr>
        <p:spPr>
          <a:xfrm>
            <a:off x="392112" y="18876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Ejemplo de Restricción CHECK</a:t>
            </a:r>
            <a:endParaRPr/>
          </a:p>
        </p:txBody>
      </p:sp>
      <p:sp>
        <p:nvSpPr>
          <p:cNvPr id="340" name="Google Shape;340;p40"/>
          <p:cNvSpPr txBox="1"/>
          <p:nvPr/>
        </p:nvSpPr>
        <p:spPr>
          <a:xfrm>
            <a:off x="514352" y="1167142"/>
            <a:ext cx="7829400" cy="9576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restricción CHECK garantiza que un valor 	introducido para end_date sea posterior a start_date</a:t>
            </a:r>
            <a:endParaRPr sz="2800">
              <a:latin typeface="Calibri"/>
              <a:ea typeface="Calibri"/>
              <a:cs typeface="Calibri"/>
              <a:sym typeface="Calibri"/>
            </a:endParaRPr>
          </a:p>
        </p:txBody>
      </p:sp>
      <p:sp>
        <p:nvSpPr>
          <p:cNvPr id="341" name="Google Shape;341;p40"/>
          <p:cNvSpPr txBox="1"/>
          <p:nvPr/>
        </p:nvSpPr>
        <p:spPr>
          <a:xfrm>
            <a:off x="405375" y="5024999"/>
            <a:ext cx="7891200" cy="14241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esta RESTRICCIÓN CHECK hace referencia a dos 	columnas de la tabla, se DEBE definir en el nivel de 	tabla</a:t>
            </a:r>
            <a:endParaRPr sz="2800">
              <a:latin typeface="Calibri"/>
              <a:ea typeface="Calibri"/>
              <a:cs typeface="Calibri"/>
              <a:sym typeface="Calibri"/>
            </a:endParaRPr>
          </a:p>
        </p:txBody>
      </p:sp>
      <p:sp>
        <p:nvSpPr>
          <p:cNvPr id="342" name="Google Shape;342;p40"/>
          <p:cNvSpPr/>
          <p:nvPr/>
        </p:nvSpPr>
        <p:spPr>
          <a:xfrm>
            <a:off x="405375" y="2314949"/>
            <a:ext cx="8345805" cy="2787241"/>
          </a:xfrm>
          <a:custGeom>
            <a:rect b="b" l="l" r="r" t="t"/>
            <a:pathLst>
              <a:path extrusionOk="0" h="2472054" w="8345805">
                <a:moveTo>
                  <a:pt x="8345424" y="0"/>
                </a:moveTo>
                <a:lnTo>
                  <a:pt x="0" y="0"/>
                </a:lnTo>
                <a:lnTo>
                  <a:pt x="0" y="2471928"/>
                </a:lnTo>
                <a:lnTo>
                  <a:pt x="8345424" y="2471928"/>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3" name="Google Shape;343;p40"/>
          <p:cNvSpPr txBox="1"/>
          <p:nvPr/>
        </p:nvSpPr>
        <p:spPr>
          <a:xfrm>
            <a:off x="418475" y="2455325"/>
            <a:ext cx="8319600" cy="2506500"/>
          </a:xfrm>
          <a:prstGeom prst="rect">
            <a:avLst/>
          </a:prstGeom>
          <a:noFill/>
          <a:ln>
            <a:noFill/>
          </a:ln>
        </p:spPr>
        <p:txBody>
          <a:bodyPr anchorCtr="0" anchor="t" bIns="0" lIns="0" spcFirstLastPara="1" rIns="0" wrap="square" tIns="12700">
            <a:spAutoFit/>
          </a:bodyPr>
          <a:lstStyle/>
          <a:p>
            <a:pPr indent="0" lvl="0" marL="12700" marR="38252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TABLE copy_job_history (employee_id NUMBER(6,0),</a:t>
            </a:r>
            <a:endParaRPr sz="1800">
              <a:latin typeface="Courier New"/>
              <a:ea typeface="Courier New"/>
              <a:cs typeface="Courier New"/>
              <a:sym typeface="Courier New"/>
            </a:endParaRPr>
          </a:p>
          <a:p>
            <a:pPr indent="0" lvl="0" marL="149860" marR="491680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start_date DATE, end_date DATE, job_id VARCHAR2(10),</a:t>
            </a:r>
            <a:endParaRPr sz="1800">
              <a:latin typeface="Courier New"/>
              <a:ea typeface="Courier New"/>
              <a:cs typeface="Courier New"/>
              <a:sym typeface="Courier New"/>
            </a:endParaRPr>
          </a:p>
          <a:p>
            <a:pPr indent="0" lvl="0" marL="149860" marR="28702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department_id NUMBER(4,0), CONSTRAINT cjhist_emp_id_st_date_pk</a:t>
            </a:r>
            <a:endParaRPr sz="1800">
              <a:latin typeface="Courier New"/>
              <a:ea typeface="Courier New"/>
              <a:cs typeface="Courier New"/>
              <a:sym typeface="Courier New"/>
            </a:endParaRPr>
          </a:p>
          <a:p>
            <a:pPr indent="1363980" lvl="0" marL="14986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PRIMARY KEY(employee_id, start_date), </a:t>
            </a:r>
            <a:r>
              <a:rPr b="1" lang="en-US" sz="1800">
                <a:solidFill>
                  <a:srgbClr val="D1350F"/>
                </a:solidFill>
                <a:latin typeface="Courier New"/>
                <a:ea typeface="Courier New"/>
                <a:cs typeface="Courier New"/>
                <a:sym typeface="Courier New"/>
              </a:rPr>
              <a:t>CONSTRAINT cjhist_end_ck CHECK (end_date &gt; start_date)</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
        <p:nvSpPr>
          <p:cNvPr id="344" name="Google Shape;344;p40"/>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345" name="Google Shape;345;p4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46" name="Google Shape;346;p4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1"/>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Condiciones de la Restricción CHECK</a:t>
            </a:r>
            <a:endParaRPr/>
          </a:p>
        </p:txBody>
      </p:sp>
      <p:sp>
        <p:nvSpPr>
          <p:cNvPr id="352" name="Google Shape;352;p41"/>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353" name="Google Shape;353;p4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54" name="Google Shape;354;p4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55" name="Google Shape;355;p41"/>
          <p:cNvSpPr txBox="1"/>
          <p:nvPr/>
        </p:nvSpPr>
        <p:spPr>
          <a:xfrm>
            <a:off x="483552" y="1415417"/>
            <a:ext cx="8060690" cy="3444875"/>
          </a:xfrm>
          <a:prstGeom prst="rect">
            <a:avLst/>
          </a:prstGeom>
          <a:noFill/>
          <a:ln>
            <a:noFill/>
          </a:ln>
        </p:spPr>
        <p:txBody>
          <a:bodyPr anchorCtr="0" anchor="t" bIns="0" lIns="0" spcFirstLastPara="1" rIns="0" wrap="square" tIns="59675">
            <a:spAutoFit/>
          </a:bodyPr>
          <a:lstStyle/>
          <a:p>
            <a:pPr indent="-177800" lvl="0" marL="182880" marR="29591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restricción CHECK solo debe estar en la fila en la 	que se define la restricción</a:t>
            </a:r>
            <a:endParaRPr sz="2800">
              <a:latin typeface="Calibri"/>
              <a:ea typeface="Calibri"/>
              <a:cs typeface="Calibri"/>
              <a:sym typeface="Calibri"/>
            </a:endParaRPr>
          </a:p>
          <a:p>
            <a:pPr indent="-177800" lvl="0" marL="182880" marR="11811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restricción CHECK no se puede utilizar en 	consultas que hacen referencia a valores de otras filas</a:t>
            </a:r>
            <a:endParaRPr sz="2800">
              <a:latin typeface="Calibri"/>
              <a:ea typeface="Calibri"/>
              <a:cs typeface="Calibri"/>
              <a:sym typeface="Calibri"/>
            </a:endParaRPr>
          </a:p>
          <a:p>
            <a:pPr indent="-177800" lvl="0" marL="182880"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restricción CHECK no puede contener llamadas a las 	funciones SYSDATE, UID, USER o USERENV</a:t>
            </a:r>
            <a:endParaRPr sz="2800">
              <a:latin typeface="Calibri"/>
              <a:ea typeface="Calibri"/>
              <a:cs typeface="Calibri"/>
              <a:sym typeface="Calibri"/>
            </a:endParaRPr>
          </a:p>
          <a:p>
            <a:pPr indent="-177800" lvl="0" marL="182880" marR="80200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CHECK(SYSDATE &gt;'05-May-1999') no 	está permitida</a:t>
            </a:r>
            <a:endParaRPr sz="280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2"/>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Condiciones de la Restricción CHECK</a:t>
            </a:r>
            <a:endParaRPr/>
          </a:p>
        </p:txBody>
      </p:sp>
      <p:sp>
        <p:nvSpPr>
          <p:cNvPr id="361" name="Google Shape;361;p42"/>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362" name="Google Shape;362;p4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63" name="Google Shape;363;p4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64" name="Google Shape;364;p42"/>
          <p:cNvSpPr txBox="1"/>
          <p:nvPr/>
        </p:nvSpPr>
        <p:spPr>
          <a:xfrm>
            <a:off x="483552" y="1415417"/>
            <a:ext cx="8101965" cy="3829050"/>
          </a:xfrm>
          <a:prstGeom prst="rect">
            <a:avLst/>
          </a:prstGeom>
          <a:noFill/>
          <a:ln>
            <a:noFill/>
          </a:ln>
        </p:spPr>
        <p:txBody>
          <a:bodyPr anchorCtr="0" anchor="t" bIns="0" lIns="0" spcFirstLastPara="1" rIns="0" wrap="square" tIns="59675">
            <a:spAutoFit/>
          </a:bodyPr>
          <a:lstStyle/>
          <a:p>
            <a:pPr indent="-177800" lvl="0" marL="182880" marR="127825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restricción USER no puede utilizar las 	pseudocolumnas CURRVAL, NEXTVAL, LEVEL o 	ROWNUM</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CHECK(NEXTVAL &gt; 0) no está permitida</a:t>
            </a:r>
            <a:endParaRPr sz="2800">
              <a:latin typeface="Calibri"/>
              <a:ea typeface="Calibri"/>
              <a:cs typeface="Calibri"/>
              <a:sym typeface="Calibri"/>
            </a:endParaRPr>
          </a:p>
          <a:p>
            <a:pPr indent="-177800" lvl="0" marL="182880" marR="65786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sola columna puede tener varias restricciones 	CHECK que hagan referencia a la columna en su 	definición</a:t>
            </a:r>
            <a:endParaRPr sz="2800">
              <a:latin typeface="Calibri"/>
              <a:ea typeface="Calibri"/>
              <a:cs typeface="Calibri"/>
              <a:sym typeface="Calibri"/>
            </a:endParaRPr>
          </a:p>
          <a:p>
            <a:pPr indent="-177800" lvl="0" marL="182880"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hay ningún límite en cuanto al número de 	restricciones CHECK que puede definir en una columna</a:t>
            </a:r>
            <a:endParaRPr sz="280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3"/>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Sintaxis de Restricción CHECK</a:t>
            </a:r>
            <a:endParaRPr/>
          </a:p>
        </p:txBody>
      </p:sp>
      <p:sp>
        <p:nvSpPr>
          <p:cNvPr id="370" name="Google Shape;370;p43"/>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371" name="Google Shape;371;p4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72" name="Google Shape;372;p4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73" name="Google Shape;373;p43"/>
          <p:cNvSpPr txBox="1"/>
          <p:nvPr/>
        </p:nvSpPr>
        <p:spPr>
          <a:xfrm>
            <a:off x="483552" y="1415417"/>
            <a:ext cx="7746365" cy="208915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CHECK se pueden definir en el nivel 	de tabla o de columna.</a:t>
            </a:r>
            <a:endParaRPr sz="2800">
              <a:latin typeface="Calibri"/>
              <a:ea typeface="Calibri"/>
              <a:cs typeface="Calibri"/>
              <a:sym typeface="Calibri"/>
            </a:endParaRPr>
          </a:p>
          <a:p>
            <a:pPr indent="-177800" lvl="0" marL="182880" marR="36449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para definir una restricción CHECK es la 	siguiente:</a:t>
            </a:r>
            <a:endParaRPr sz="2800">
              <a:latin typeface="Calibri"/>
              <a:ea typeface="Calibri"/>
              <a:cs typeface="Calibri"/>
              <a:sym typeface="Calibri"/>
            </a:endParaRPr>
          </a:p>
          <a:p>
            <a:pPr indent="0" lvl="0" marL="355600" rtl="0" algn="l">
              <a:lnSpc>
                <a:spcPct val="100000"/>
              </a:lnSpc>
              <a:spcBef>
                <a:spcPts val="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Sintaxis de nivel de columna:</a:t>
            </a:r>
            <a:endParaRPr sz="2400">
              <a:latin typeface="Calibri"/>
              <a:ea typeface="Calibri"/>
              <a:cs typeface="Calibri"/>
              <a:sym typeface="Calibri"/>
            </a:endParaRPr>
          </a:p>
        </p:txBody>
      </p:sp>
      <p:sp>
        <p:nvSpPr>
          <p:cNvPr id="374" name="Google Shape;374;p43"/>
          <p:cNvSpPr txBox="1"/>
          <p:nvPr/>
        </p:nvSpPr>
        <p:spPr>
          <a:xfrm>
            <a:off x="807152" y="4529710"/>
            <a:ext cx="3321000" cy="38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Sintaxis de nivel de tabla:</a:t>
            </a:r>
            <a:endParaRPr sz="2400">
              <a:latin typeface="Calibri"/>
              <a:ea typeface="Calibri"/>
              <a:cs typeface="Calibri"/>
              <a:sym typeface="Calibri"/>
            </a:endParaRPr>
          </a:p>
        </p:txBody>
      </p:sp>
      <p:sp>
        <p:nvSpPr>
          <p:cNvPr id="375" name="Google Shape;375;p43"/>
          <p:cNvSpPr txBox="1"/>
          <p:nvPr/>
        </p:nvSpPr>
        <p:spPr>
          <a:xfrm>
            <a:off x="399101" y="3835336"/>
            <a:ext cx="8345700" cy="57480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7500"/>
              </a:lnSpc>
              <a:spcBef>
                <a:spcPts val="0"/>
              </a:spcBef>
              <a:spcAft>
                <a:spcPts val="0"/>
              </a:spcAft>
              <a:buNone/>
            </a:pPr>
            <a:r>
              <a:rPr b="1" lang="en-US" sz="1800">
                <a:solidFill>
                  <a:srgbClr val="4E3629"/>
                </a:solidFill>
                <a:latin typeface="Courier New"/>
                <a:ea typeface="Courier New"/>
                <a:cs typeface="Courier New"/>
                <a:sym typeface="Courier New"/>
              </a:rPr>
              <a:t>salary NUMBER(8,2) CONSTRAINT employees_min_sal_ck CHECK</a:t>
            </a:r>
            <a:endParaRPr sz="1800">
              <a:latin typeface="Courier New"/>
              <a:ea typeface="Courier New"/>
              <a:cs typeface="Courier New"/>
              <a:sym typeface="Courier New"/>
            </a:endParaRPr>
          </a:p>
          <a:p>
            <a:pPr indent="0" lvl="0" marL="45713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(salary &gt; 0)</a:t>
            </a:r>
            <a:endParaRPr sz="1800">
              <a:latin typeface="Courier New"/>
              <a:ea typeface="Courier New"/>
              <a:cs typeface="Courier New"/>
              <a:sym typeface="Courier New"/>
            </a:endParaRPr>
          </a:p>
        </p:txBody>
      </p:sp>
      <p:sp>
        <p:nvSpPr>
          <p:cNvPr id="376" name="Google Shape;376;p43"/>
          <p:cNvSpPr txBox="1"/>
          <p:nvPr/>
        </p:nvSpPr>
        <p:spPr>
          <a:xfrm>
            <a:off x="399101" y="5040458"/>
            <a:ext cx="8345700" cy="386100"/>
          </a:xfrm>
          <a:prstGeom prst="rect">
            <a:avLst/>
          </a:prstGeom>
          <a:solidFill>
            <a:srgbClr val="9DBDC4">
              <a:alpha val="49804"/>
            </a:srgbClr>
          </a:solidFill>
          <a:ln>
            <a:noFill/>
          </a:ln>
        </p:spPr>
        <p:txBody>
          <a:bodyPr anchorCtr="0" anchor="t" bIns="0" lIns="0" spcFirstLastPara="1" rIns="0" wrap="square" tIns="1079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CONSTRAINT employees_min_sal_ck CHECK (salary &gt; 0)</a:t>
            </a:r>
            <a:endParaRPr sz="1800">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4"/>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Terminología</a:t>
            </a:r>
            <a:endParaRPr/>
          </a:p>
        </p:txBody>
      </p:sp>
      <p:sp>
        <p:nvSpPr>
          <p:cNvPr id="382" name="Google Shape;382;p44"/>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383" name="Google Shape;383;p4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84" name="Google Shape;384;p4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85" name="Google Shape;385;p44"/>
          <p:cNvSpPr txBox="1"/>
          <p:nvPr/>
        </p:nvSpPr>
        <p:spPr>
          <a:xfrm>
            <a:off x="483552" y="1415417"/>
            <a:ext cx="7704455" cy="3500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Restricción CHECK</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Restricción FOREIGN KEY</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REFERENCES</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NOT NULL</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ON DELETE CASCADE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ON DELETE SET NULL</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Restricción PRIMARY KEY</a:t>
            </a:r>
            <a:endParaRPr sz="240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5"/>
          <p:cNvSpPr txBox="1"/>
          <p:nvPr>
            <p:ph type="title"/>
          </p:nvPr>
        </p:nvSpPr>
        <p:spPr>
          <a:xfrm>
            <a:off x="392112" y="385319"/>
            <a:ext cx="6487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Resumen</a:t>
            </a:r>
            <a:endParaRPr/>
          </a:p>
        </p:txBody>
      </p:sp>
      <p:sp>
        <p:nvSpPr>
          <p:cNvPr id="391" name="Google Shape;391;p45"/>
          <p:cNvSpPr txBox="1"/>
          <p:nvPr/>
        </p:nvSpPr>
        <p:spPr>
          <a:xfrm>
            <a:off x="483552" y="1393401"/>
            <a:ext cx="8063230" cy="445516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47561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y dar un ejemplo de una restricción PRIMARY KEY, FOREIGN KEY y CHECK</a:t>
            </a:r>
            <a:endParaRPr sz="2400">
              <a:latin typeface="Calibri"/>
              <a:ea typeface="Calibri"/>
              <a:cs typeface="Calibri"/>
              <a:sym typeface="Calibri"/>
            </a:endParaRPr>
          </a:p>
          <a:p>
            <a:pPr indent="-175260" lvl="0" marL="530860" marR="1193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el objetivo de definir las restricciones PRIMARY KEY, FOREIGN KEY y CHECK</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Demostrar la creación de las restricciones a nivel de columna y a nivel de tabla en una sentencia CREATE TABLE</a:t>
            </a:r>
            <a:endParaRPr sz="2400">
              <a:latin typeface="Calibri"/>
              <a:ea typeface="Calibri"/>
              <a:cs typeface="Calibri"/>
              <a:sym typeface="Calibri"/>
            </a:endParaRPr>
          </a:p>
          <a:p>
            <a:pPr indent="-175260" lvl="0" marL="530860" marR="3545204"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Evaluar un problema de negocio que necesita la adición de una</a:t>
            </a:r>
            <a:endParaRPr sz="2400">
              <a:latin typeface="Calibri"/>
              <a:ea typeface="Calibri"/>
              <a:cs typeface="Calibri"/>
              <a:sym typeface="Calibri"/>
            </a:endParaRPr>
          </a:p>
          <a:p>
            <a:pPr indent="0" lvl="0" marL="355600" rtl="0" algn="l">
              <a:lnSpc>
                <a:spcPct val="100000"/>
              </a:lnSpc>
              <a:spcBef>
                <a:spcPts val="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restricción PRIMARY KEY y</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FOREIGN KEY y escribir el</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código para ejecutar el cambio</a:t>
            </a:r>
            <a:endParaRPr sz="2400">
              <a:latin typeface="Calibri"/>
              <a:ea typeface="Calibri"/>
              <a:cs typeface="Calibri"/>
              <a:sym typeface="Calibri"/>
            </a:endParaRPr>
          </a:p>
        </p:txBody>
      </p:sp>
      <p:grpSp>
        <p:nvGrpSpPr>
          <p:cNvPr id="392" name="Google Shape;392;p45"/>
          <p:cNvGrpSpPr/>
          <p:nvPr/>
        </p:nvGrpSpPr>
        <p:grpSpPr>
          <a:xfrm>
            <a:off x="4937772" y="4137659"/>
            <a:ext cx="3857230" cy="2121407"/>
            <a:chOff x="4937772" y="4137659"/>
            <a:chExt cx="3857230" cy="2121407"/>
          </a:xfrm>
        </p:grpSpPr>
        <p:pic>
          <p:nvPicPr>
            <p:cNvPr id="393" name="Google Shape;393;p45"/>
            <p:cNvPicPr preferRelativeResize="0"/>
            <p:nvPr/>
          </p:nvPicPr>
          <p:blipFill rotWithShape="1">
            <a:blip r:embed="rId3">
              <a:alphaModFix/>
            </a:blip>
            <a:srcRect b="0" l="0" r="0" t="0"/>
            <a:stretch/>
          </p:blipFill>
          <p:spPr>
            <a:xfrm>
              <a:off x="4937772" y="4137659"/>
              <a:ext cx="3857230" cy="2121407"/>
            </a:xfrm>
            <a:prstGeom prst="rect">
              <a:avLst/>
            </a:prstGeom>
            <a:noFill/>
            <a:ln>
              <a:noFill/>
            </a:ln>
          </p:spPr>
        </p:pic>
        <p:pic>
          <p:nvPicPr>
            <p:cNvPr id="394" name="Google Shape;394;p45"/>
            <p:cNvPicPr preferRelativeResize="0"/>
            <p:nvPr/>
          </p:nvPicPr>
          <p:blipFill rotWithShape="1">
            <a:blip r:embed="rId4">
              <a:alphaModFix/>
            </a:blip>
            <a:srcRect b="0" l="0" r="0" t="0"/>
            <a:stretch/>
          </p:blipFill>
          <p:spPr>
            <a:xfrm>
              <a:off x="5129784" y="4329683"/>
              <a:ext cx="3473195" cy="1737359"/>
            </a:xfrm>
            <a:prstGeom prst="rect">
              <a:avLst/>
            </a:prstGeom>
            <a:noFill/>
            <a:ln>
              <a:noFill/>
            </a:ln>
          </p:spPr>
        </p:pic>
      </p:grpSp>
      <p:sp>
        <p:nvSpPr>
          <p:cNvPr id="395" name="Google Shape;395;p45"/>
          <p:cNvSpPr txBox="1"/>
          <p:nvPr>
            <p:ph idx="10" type="dt"/>
          </p:nvPr>
        </p:nvSpPr>
        <p:spPr>
          <a:xfrm>
            <a:off x="2874191" y="6449092"/>
            <a:ext cx="12540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14-2</a:t>
            </a:r>
            <a:endParaRPr/>
          </a:p>
          <a:p>
            <a:pPr indent="0" lvl="0" marL="12700" marR="5080" rtl="0" algn="l">
              <a:lnSpc>
                <a:spcPct val="114874"/>
              </a:lnSpc>
              <a:spcBef>
                <a:spcPts val="60"/>
              </a:spcBef>
              <a:spcAft>
                <a:spcPts val="0"/>
              </a:spcAft>
              <a:buNone/>
            </a:pPr>
            <a:r>
              <a:rPr lang="en-US"/>
              <a:t>Restricciones PRIMARY KEY, FOREIGN KEY y CHECK</a:t>
            </a:r>
            <a:endParaRPr/>
          </a:p>
        </p:txBody>
      </p:sp>
      <p:sp>
        <p:nvSpPr>
          <p:cNvPr id="396" name="Google Shape;396;p4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97" name="Google Shape;397;p4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