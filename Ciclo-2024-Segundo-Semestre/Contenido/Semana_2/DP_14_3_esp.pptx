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543424A-9D3B-4828-9936-9AB315360A54}">
  <a:tblStyle styleId="{2543424A-9D3B-4828-9936-9AB315360A54}"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14:09:43</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Aunque se realiza automáticamente, la comprobación de restricción lleva tiempo, especialmente comprobar las restricciones de clave ajena. A veces, los DBA aceleran las operaciones por lotes de gran volumen desactivando las restricciones. El riesgo es que se pueden realizar cambios no válidos en una tabla y no identificarse hasta más adelante, cuando la restricción se vuelva a activar.</a:t>
            </a:r>
            <a:endParaRPr/>
          </a:p>
        </p:txBody>
      </p:sp>
      <p:sp>
        <p:nvSpPr>
          <p:cNvPr id="180" name="Google Shape;180;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14:09:43</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Para borrar la restricción de clave principal en la tabla DEPARTMENTS, se utiliza la palabra CASCADE para borrar la restricción de clave ajena en la tabla secundaria. Por lo tanto, si se borra la restricción PRIMARY KEY en la tabla de departamentos con la opción CASCADA, la restricción FOREIGN KEY en la tabla de empleados también borra. </a:t>
            </a:r>
            <a:endParaRPr/>
          </a:p>
        </p:txBody>
      </p:sp>
      <p:sp>
        <p:nvSpPr>
          <p:cNvPr id="189" name="Google Shape;189;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748031"/>
            <a:ext cx="83598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83552" y="1381889"/>
            <a:ext cx="8086200" cy="45117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0" type="dt"/>
          </p:nvPr>
        </p:nvSpPr>
        <p:spPr>
          <a:xfrm>
            <a:off x="2874191" y="6516395"/>
            <a:ext cx="11043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lvl1pPr indent="0" lvl="0" marL="38100">
              <a:lnSpc>
                <a:spcPct val="104500"/>
              </a:lnSpc>
              <a:spcBef>
                <a:spcPts val="0"/>
              </a:spcBef>
              <a:buNone/>
              <a:defRPr b="1" i="0" sz="1000">
                <a:solidFill>
                  <a:srgbClr val="4E3629"/>
                </a:solidFill>
                <a:latin typeface="Calibri"/>
                <a:ea typeface="Calibri"/>
                <a:cs typeface="Calibri"/>
                <a:sym typeface="Calibri"/>
              </a:defRPr>
            </a:lvl1pPr>
            <a:lvl2pPr indent="0" lvl="1" marL="38100">
              <a:lnSpc>
                <a:spcPct val="104500"/>
              </a:lnSpc>
              <a:spcBef>
                <a:spcPts val="0"/>
              </a:spcBef>
              <a:buNone/>
              <a:defRPr b="1" i="0" sz="1000">
                <a:solidFill>
                  <a:srgbClr val="4E3629"/>
                </a:solidFill>
                <a:latin typeface="Calibri"/>
                <a:ea typeface="Calibri"/>
                <a:cs typeface="Calibri"/>
                <a:sym typeface="Calibri"/>
              </a:defRPr>
            </a:lvl2pPr>
            <a:lvl3pPr indent="0" lvl="2" marL="38100">
              <a:lnSpc>
                <a:spcPct val="104500"/>
              </a:lnSpc>
              <a:spcBef>
                <a:spcPts val="0"/>
              </a:spcBef>
              <a:buNone/>
              <a:defRPr b="1" i="0" sz="1000">
                <a:solidFill>
                  <a:srgbClr val="4E3629"/>
                </a:solidFill>
                <a:latin typeface="Calibri"/>
                <a:ea typeface="Calibri"/>
                <a:cs typeface="Calibri"/>
                <a:sym typeface="Calibri"/>
              </a:defRPr>
            </a:lvl3pPr>
            <a:lvl4pPr indent="0" lvl="3" marL="38100">
              <a:lnSpc>
                <a:spcPct val="104500"/>
              </a:lnSpc>
              <a:spcBef>
                <a:spcPts val="0"/>
              </a:spcBef>
              <a:buNone/>
              <a:defRPr b="1" i="0" sz="1000">
                <a:solidFill>
                  <a:srgbClr val="4E3629"/>
                </a:solidFill>
                <a:latin typeface="Calibri"/>
                <a:ea typeface="Calibri"/>
                <a:cs typeface="Calibri"/>
                <a:sym typeface="Calibri"/>
              </a:defRPr>
            </a:lvl4pPr>
            <a:lvl5pPr indent="0" lvl="4" marL="38100">
              <a:lnSpc>
                <a:spcPct val="104500"/>
              </a:lnSpc>
              <a:spcBef>
                <a:spcPts val="0"/>
              </a:spcBef>
              <a:buNone/>
              <a:defRPr b="1" i="0" sz="1000">
                <a:solidFill>
                  <a:srgbClr val="4E3629"/>
                </a:solidFill>
                <a:latin typeface="Calibri"/>
                <a:ea typeface="Calibri"/>
                <a:cs typeface="Calibri"/>
                <a:sym typeface="Calibri"/>
              </a:defRPr>
            </a:lvl5pPr>
            <a:lvl6pPr indent="0" lvl="5" marL="38100">
              <a:lnSpc>
                <a:spcPct val="104500"/>
              </a:lnSpc>
              <a:spcBef>
                <a:spcPts val="0"/>
              </a:spcBef>
              <a:buNone/>
              <a:defRPr b="1" i="0" sz="1000">
                <a:solidFill>
                  <a:srgbClr val="4E3629"/>
                </a:solidFill>
                <a:latin typeface="Calibri"/>
                <a:ea typeface="Calibri"/>
                <a:cs typeface="Calibri"/>
                <a:sym typeface="Calibri"/>
              </a:defRPr>
            </a:lvl6pPr>
            <a:lvl7pPr indent="0" lvl="6" marL="38100">
              <a:lnSpc>
                <a:spcPct val="104500"/>
              </a:lnSpc>
              <a:spcBef>
                <a:spcPts val="0"/>
              </a:spcBef>
              <a:buNone/>
              <a:defRPr b="1" i="0" sz="1000">
                <a:solidFill>
                  <a:srgbClr val="4E3629"/>
                </a:solidFill>
                <a:latin typeface="Calibri"/>
                <a:ea typeface="Calibri"/>
                <a:cs typeface="Calibri"/>
                <a:sym typeface="Calibri"/>
              </a:defRPr>
            </a:lvl7pPr>
            <a:lvl8pPr indent="0" lvl="7" marL="38100">
              <a:lnSpc>
                <a:spcPct val="104500"/>
              </a:lnSpc>
              <a:spcBef>
                <a:spcPts val="0"/>
              </a:spcBef>
              <a:buNone/>
              <a:defRPr b="1" i="0" sz="1000">
                <a:solidFill>
                  <a:srgbClr val="4E3629"/>
                </a:solidFill>
                <a:latin typeface="Calibri"/>
                <a:ea typeface="Calibri"/>
                <a:cs typeface="Calibri"/>
                <a:sym typeface="Calibri"/>
              </a:defRPr>
            </a:lvl8pPr>
            <a:lvl9pPr indent="0" lvl="8" marL="38100">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9.png"/><Relationship Id="rId4"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62895"/>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66" name="Google Shape;66;p14"/>
          <p:cNvSpPr txBox="1"/>
          <p:nvPr/>
        </p:nvSpPr>
        <p:spPr>
          <a:xfrm>
            <a:off x="962879" y="2400950"/>
            <a:ext cx="3117850"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14-3</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Gestión de Restricciones</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339853" y="3485388"/>
            <a:ext cx="5058157" cy="2965703"/>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73" name="Google Shape;73;p15"/>
          <p:cNvSpPr txBox="1"/>
          <p:nvPr/>
        </p:nvSpPr>
        <p:spPr>
          <a:xfrm>
            <a:off x="483552" y="1393401"/>
            <a:ext cx="8179434" cy="4023995"/>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abordan los siguientes objetivos:</a:t>
            </a:r>
            <a:endParaRPr sz="2800">
              <a:latin typeface="Calibri"/>
              <a:ea typeface="Calibri"/>
              <a:cs typeface="Calibri"/>
              <a:sym typeface="Calibri"/>
            </a:endParaRPr>
          </a:p>
          <a:p>
            <a:pPr indent="-175260" lvl="0" marL="530860" marR="307975"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Enumerar cuatro funciones diferentes que puede realizar la sentencia ALTER en las restricciones</a:t>
            </a:r>
            <a:endParaRPr sz="2400">
              <a:latin typeface="Calibri"/>
              <a:ea typeface="Calibri"/>
              <a:cs typeface="Calibri"/>
              <a:sym typeface="Calibri"/>
            </a:endParaRPr>
          </a:p>
          <a:p>
            <a:pPr indent="-175260" lvl="0" marL="530860" marR="11607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Escribir sentencias ALTER TABLE para agregar, borrar, desactivar y activar restricciones</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Nombrar una función de negocio que necesitaría un DBA para borrar, activar y/o desactivar una restricción o utilizar la sintaxis CASCADE</a:t>
            </a:r>
            <a:endParaRPr sz="2400">
              <a:latin typeface="Calibri"/>
              <a:ea typeface="Calibri"/>
              <a:cs typeface="Calibri"/>
              <a:sym typeface="Calibri"/>
            </a:endParaRPr>
          </a:p>
          <a:p>
            <a:pPr indent="-175260" lvl="0" marL="530860" marR="3219450" rtl="0" algn="l">
              <a:lnSpc>
                <a:spcPct val="107916"/>
              </a:lnSpc>
              <a:spcBef>
                <a:spcPts val="41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Consultar USER_CONSTRAINTS en el diccionario de datos e interpretar</a:t>
            </a:r>
            <a:endParaRPr sz="2400">
              <a:latin typeface="Calibri"/>
              <a:ea typeface="Calibri"/>
              <a:cs typeface="Calibri"/>
              <a:sym typeface="Calibri"/>
            </a:endParaRPr>
          </a:p>
          <a:p>
            <a:pPr indent="0" lvl="0" marL="355600" rtl="0" algn="l">
              <a:lnSpc>
                <a:spcPct val="100000"/>
              </a:lnSpc>
              <a:spcBef>
                <a:spcPts val="7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información devuelta</a:t>
            </a:r>
            <a:endParaRPr sz="2400">
              <a:latin typeface="Calibri"/>
              <a:ea typeface="Calibri"/>
              <a:cs typeface="Calibri"/>
              <a:sym typeface="Calibri"/>
            </a:endParaRPr>
          </a:p>
        </p:txBody>
      </p:sp>
      <p:grpSp>
        <p:nvGrpSpPr>
          <p:cNvPr id="74" name="Google Shape;74;p15"/>
          <p:cNvGrpSpPr/>
          <p:nvPr/>
        </p:nvGrpSpPr>
        <p:grpSpPr>
          <a:xfrm>
            <a:off x="5337047" y="3947159"/>
            <a:ext cx="3230879" cy="2557271"/>
            <a:chOff x="5337047" y="3947159"/>
            <a:chExt cx="3230879" cy="2557271"/>
          </a:xfrm>
        </p:grpSpPr>
        <p:pic>
          <p:nvPicPr>
            <p:cNvPr id="75" name="Google Shape;75;p15"/>
            <p:cNvPicPr preferRelativeResize="0"/>
            <p:nvPr/>
          </p:nvPicPr>
          <p:blipFill rotWithShape="1">
            <a:blip r:embed="rId3">
              <a:alphaModFix/>
            </a:blip>
            <a:srcRect b="0" l="0" r="0" t="0"/>
            <a:stretch/>
          </p:blipFill>
          <p:spPr>
            <a:xfrm>
              <a:off x="5337047" y="3947159"/>
              <a:ext cx="3230879" cy="2557271"/>
            </a:xfrm>
            <a:prstGeom prst="rect">
              <a:avLst/>
            </a:prstGeom>
            <a:noFill/>
            <a:ln>
              <a:noFill/>
            </a:ln>
          </p:spPr>
        </p:pic>
        <p:pic>
          <p:nvPicPr>
            <p:cNvPr id="76" name="Google Shape;76;p15"/>
            <p:cNvPicPr preferRelativeResize="0"/>
            <p:nvPr/>
          </p:nvPicPr>
          <p:blipFill rotWithShape="1">
            <a:blip r:embed="rId4">
              <a:alphaModFix/>
            </a:blip>
            <a:srcRect b="0" l="0" r="0" t="0"/>
            <a:stretch/>
          </p:blipFill>
          <p:spPr>
            <a:xfrm>
              <a:off x="5529072" y="4139183"/>
              <a:ext cx="2846831" cy="2173223"/>
            </a:xfrm>
            <a:prstGeom prst="rect">
              <a:avLst/>
            </a:prstGeom>
            <a:noFill/>
            <a:ln>
              <a:noFill/>
            </a:ln>
          </p:spPr>
        </p:pic>
      </p:grpSp>
      <p:sp>
        <p:nvSpPr>
          <p:cNvPr id="77" name="Google Shape;77;p15"/>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78" name="Google Shape;78;p1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79" name="Google Shape;79;p1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85" name="Google Shape;85;p16"/>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86" name="Google Shape;86;p1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87" name="Google Shape;87;p1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8" name="Google Shape;88;p16"/>
          <p:cNvSpPr txBox="1"/>
          <p:nvPr/>
        </p:nvSpPr>
        <p:spPr>
          <a:xfrm>
            <a:off x="483552" y="1415417"/>
            <a:ext cx="8128634" cy="4497070"/>
          </a:xfrm>
          <a:prstGeom prst="rect">
            <a:avLst/>
          </a:prstGeom>
          <a:noFill/>
          <a:ln>
            <a:noFill/>
          </a:ln>
        </p:spPr>
        <p:txBody>
          <a:bodyPr anchorCtr="0" anchor="t" bIns="0" lIns="0" spcFirstLastPara="1" rIns="0" wrap="square" tIns="59675">
            <a:spAutoFit/>
          </a:bodyPr>
          <a:lstStyle/>
          <a:p>
            <a:pPr indent="-177800" lvl="0" marL="182880" marR="1651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¿Supondría alguna diferencia que un nuevo número de 	identificación de alumno se introdujera en la base de 	datos de la escuela cuando no hubiera ningún alumno 	real inscrito?</a:t>
            </a:r>
            <a:endParaRPr sz="2800">
              <a:latin typeface="Calibri"/>
              <a:ea typeface="Calibri"/>
              <a:cs typeface="Calibri"/>
              <a:sym typeface="Calibri"/>
            </a:endParaRPr>
          </a:p>
          <a:p>
            <a:pPr indent="-177800" lvl="0" marL="182880" marR="102235"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 probable que una compañía de tarjeta de crédito 	emita el mismo número de tarjeta de crédito a más de 	una cuenta o que una empresa contrate a un 	empleado para un departamento que no existe?</a:t>
            </a:r>
            <a:endParaRPr sz="2800">
              <a:latin typeface="Calibri"/>
              <a:ea typeface="Calibri"/>
              <a:cs typeface="Calibri"/>
              <a:sym typeface="Calibri"/>
            </a:endParaRPr>
          </a:p>
          <a:p>
            <a:pPr indent="-177800" lvl="0" marL="182880" marR="5080" rtl="0" algn="just">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¿Qué predice que sucedería si una empresa no pudiera 	confiar en la fiabilidad de la información de su base de 	datos?</a:t>
            </a:r>
            <a:endParaRPr sz="2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94" name="Google Shape;94;p17"/>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95" name="Google Shape;95;p1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6" name="Google Shape;96;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7" name="Google Shape;97;p17"/>
          <p:cNvSpPr txBox="1"/>
          <p:nvPr/>
        </p:nvSpPr>
        <p:spPr>
          <a:xfrm>
            <a:off x="483552" y="1415417"/>
            <a:ext cx="8130540" cy="3626485"/>
          </a:xfrm>
          <a:prstGeom prst="rect">
            <a:avLst/>
          </a:prstGeom>
          <a:noFill/>
          <a:ln>
            <a:noFill/>
          </a:ln>
        </p:spPr>
        <p:txBody>
          <a:bodyPr anchorCtr="0" anchor="t" bIns="0" lIns="0" spcFirstLastPara="1" rIns="0" wrap="square" tIns="59675">
            <a:spAutoFit/>
          </a:bodyPr>
          <a:lstStyle/>
          <a:p>
            <a:pPr indent="-177800" lvl="0" marL="182880" marR="32448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sistema de base tiene que poder aplicar reglas de 	negocio y, al mismo tiempo, evitar la adición, la 	modificación o la supresión de datos que pueda dar 	como resultado una violación de la integridad 	referencial de la base de datos</a:t>
            </a:r>
            <a:endParaRPr sz="2800">
              <a:latin typeface="Calibri"/>
              <a:ea typeface="Calibri"/>
              <a:cs typeface="Calibri"/>
              <a:sym typeface="Calibri"/>
            </a:endParaRPr>
          </a:p>
          <a:p>
            <a:pPr indent="-177800" lvl="0" marL="182880" marR="5080" rtl="0" algn="l">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sección, aprenderá a realizar cambios en las 	restricciones de tabla para que la integridad referencial 	y, a su vez, la fiabilidad de la base de datos se 	mantengan cuando sea necesario cambiar los datos</a:t>
            </a:r>
            <a:endParaRPr sz="28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Gestión de Restricciones</a:t>
            </a:r>
            <a:endParaRPr/>
          </a:p>
        </p:txBody>
      </p:sp>
      <p:sp>
        <p:nvSpPr>
          <p:cNvPr id="103" name="Google Shape;103;p18"/>
          <p:cNvSpPr txBox="1"/>
          <p:nvPr/>
        </p:nvSpPr>
        <p:spPr>
          <a:xfrm>
            <a:off x="483552" y="1415417"/>
            <a:ext cx="8134984" cy="2090420"/>
          </a:xfrm>
          <a:prstGeom prst="rect">
            <a:avLst/>
          </a:prstGeom>
          <a:noFill/>
          <a:ln>
            <a:noFill/>
          </a:ln>
        </p:spPr>
        <p:txBody>
          <a:bodyPr anchorCtr="0" anchor="t" bIns="0" lIns="0" spcFirstLastPara="1" rIns="0" wrap="square" tIns="59675">
            <a:spAutoFit/>
          </a:bodyPr>
          <a:lstStyle/>
          <a:p>
            <a:pPr indent="-177800" lvl="0" marL="182880" marR="1004569"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sentencia ALTER TABLE se utiliza para realizar 	cambios en las restricciones de tablas existentes</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Estos cambios pueden incluir agregar o borrar 	restricciones, activar o desactivar restricciones, así 	como agregar una restricción NOT NULL a una columna</a:t>
            </a:r>
            <a:endParaRPr sz="2800">
              <a:latin typeface="Calibri"/>
              <a:ea typeface="Calibri"/>
              <a:cs typeface="Calibri"/>
              <a:sym typeface="Calibri"/>
            </a:endParaRPr>
          </a:p>
        </p:txBody>
      </p:sp>
      <p:grpSp>
        <p:nvGrpSpPr>
          <p:cNvPr id="104" name="Google Shape;104;p18"/>
          <p:cNvGrpSpPr/>
          <p:nvPr/>
        </p:nvGrpSpPr>
        <p:grpSpPr>
          <a:xfrm>
            <a:off x="5518403" y="3768852"/>
            <a:ext cx="3172967" cy="2487167"/>
            <a:chOff x="5518403" y="3768852"/>
            <a:chExt cx="3172967" cy="2487167"/>
          </a:xfrm>
        </p:grpSpPr>
        <p:pic>
          <p:nvPicPr>
            <p:cNvPr id="105" name="Google Shape;105;p18"/>
            <p:cNvPicPr preferRelativeResize="0"/>
            <p:nvPr/>
          </p:nvPicPr>
          <p:blipFill rotWithShape="1">
            <a:blip r:embed="rId3">
              <a:alphaModFix/>
            </a:blip>
            <a:srcRect b="0" l="0" r="0" t="0"/>
            <a:stretch/>
          </p:blipFill>
          <p:spPr>
            <a:xfrm>
              <a:off x="5518403" y="5545836"/>
              <a:ext cx="3172967" cy="710183"/>
            </a:xfrm>
            <a:prstGeom prst="rect">
              <a:avLst/>
            </a:prstGeom>
            <a:noFill/>
            <a:ln>
              <a:noFill/>
            </a:ln>
          </p:spPr>
        </p:pic>
        <p:pic>
          <p:nvPicPr>
            <p:cNvPr id="106" name="Google Shape;106;p18"/>
            <p:cNvPicPr preferRelativeResize="0"/>
            <p:nvPr/>
          </p:nvPicPr>
          <p:blipFill rotWithShape="1">
            <a:blip r:embed="rId4">
              <a:alphaModFix/>
            </a:blip>
            <a:srcRect b="0" l="0" r="0" t="0"/>
            <a:stretch/>
          </p:blipFill>
          <p:spPr>
            <a:xfrm>
              <a:off x="6472428" y="3768852"/>
              <a:ext cx="2141219" cy="2409443"/>
            </a:xfrm>
            <a:prstGeom prst="rect">
              <a:avLst/>
            </a:prstGeom>
            <a:noFill/>
            <a:ln>
              <a:noFill/>
            </a:ln>
          </p:spPr>
        </p:pic>
      </p:grpSp>
      <p:sp>
        <p:nvSpPr>
          <p:cNvPr id="107" name="Google Shape;107;p18"/>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108" name="Google Shape;108;p1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09" name="Google Shape;109;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Gestión de Restricciones</a:t>
            </a:r>
            <a:endParaRPr/>
          </a:p>
        </p:txBody>
      </p:sp>
      <p:sp>
        <p:nvSpPr>
          <p:cNvPr id="115" name="Google Shape;115;p19"/>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116" name="Google Shape;116;p1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7" name="Google Shape;117;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8" name="Google Shape;118;p19"/>
          <p:cNvSpPr txBox="1"/>
          <p:nvPr/>
        </p:nvSpPr>
        <p:spPr>
          <a:xfrm>
            <a:off x="483552" y="1415417"/>
            <a:ext cx="7842884" cy="4006215"/>
          </a:xfrm>
          <a:prstGeom prst="rect">
            <a:avLst/>
          </a:prstGeom>
          <a:noFill/>
          <a:ln>
            <a:noFill/>
          </a:ln>
        </p:spPr>
        <p:txBody>
          <a:bodyPr anchorCtr="0" anchor="t" bIns="0" lIns="0" spcFirstLastPara="1" rIns="0" wrap="square" tIns="59675">
            <a:spAutoFit/>
          </a:bodyPr>
          <a:lstStyle/>
          <a:p>
            <a:pPr indent="-177800" lvl="0" marL="182880" marR="155067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directrices para realizar cambios en las 	restricciones son:</a:t>
            </a:r>
            <a:endParaRPr sz="2800">
              <a:latin typeface="Calibri"/>
              <a:ea typeface="Calibri"/>
              <a:cs typeface="Calibri"/>
              <a:sym typeface="Calibri"/>
            </a:endParaRPr>
          </a:p>
          <a:p>
            <a:pPr indent="-175260" lvl="0" marL="530860" marR="130175" rtl="0" algn="l">
              <a:lnSpc>
                <a:spcPct val="107916"/>
              </a:lnSpc>
              <a:spcBef>
                <a:spcPts val="42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Puede agregar, borrar, activar o desactivar una restricción, pero no puede modificar su estructura</a:t>
            </a:r>
            <a:endParaRPr sz="2400">
              <a:latin typeface="Calibri"/>
              <a:ea typeface="Calibri"/>
              <a:cs typeface="Calibri"/>
              <a:sym typeface="Calibri"/>
            </a:endParaRPr>
          </a:p>
          <a:p>
            <a:pPr indent="-175260" lvl="0" marL="530860" marR="409575"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Puede agregar una restricción NOT NULL a una columna existente mediante la cláusula MODIFY de la sentencia ALTER TABLE</a:t>
            </a:r>
            <a:endParaRPr sz="2400">
              <a:latin typeface="Calibri"/>
              <a:ea typeface="Calibri"/>
              <a:cs typeface="Calibri"/>
              <a:sym typeface="Calibri"/>
            </a:endParaRPr>
          </a:p>
          <a:p>
            <a:pPr indent="-175260" lvl="0" marL="530860" marR="118745"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MODIFY se utiliza porque NOT NULL es un cambio de nivel de columna</a:t>
            </a:r>
            <a:endParaRPr sz="2400">
              <a:latin typeface="Calibri"/>
              <a:ea typeface="Calibri"/>
              <a:cs typeface="Calibri"/>
              <a:sym typeface="Calibri"/>
            </a:endParaRPr>
          </a:p>
          <a:p>
            <a:pPr indent="-175260" lvl="0" marL="530860" marR="5080" rtl="0" algn="l">
              <a:lnSpc>
                <a:spcPct val="107916"/>
              </a:lnSpc>
              <a:spcBef>
                <a:spcPts val="41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Solo puede definir una restricción NOT NULL si la tabla está vacía o si la columna tiene un valor para cada fila</a:t>
            </a:r>
            <a:endParaRPr sz="24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ph type="title"/>
          </p:nvPr>
        </p:nvSpPr>
        <p:spPr>
          <a:xfrm>
            <a:off x="392112" y="748031"/>
            <a:ext cx="2801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Sentencia ALTER</a:t>
            </a:r>
            <a:endParaRPr/>
          </a:p>
        </p:txBody>
      </p:sp>
      <p:sp>
        <p:nvSpPr>
          <p:cNvPr id="124" name="Google Shape;124;p20"/>
          <p:cNvSpPr/>
          <p:nvPr/>
        </p:nvSpPr>
        <p:spPr>
          <a:xfrm>
            <a:off x="405384" y="5117591"/>
            <a:ext cx="8345805" cy="585470"/>
          </a:xfrm>
          <a:custGeom>
            <a:rect b="b" l="l" r="r" t="t"/>
            <a:pathLst>
              <a:path extrusionOk="0" h="585470" w="8345805">
                <a:moveTo>
                  <a:pt x="8345424" y="0"/>
                </a:moveTo>
                <a:lnTo>
                  <a:pt x="0" y="0"/>
                </a:lnTo>
                <a:lnTo>
                  <a:pt x="0" y="585215"/>
                </a:lnTo>
                <a:lnTo>
                  <a:pt x="8345424" y="585215"/>
                </a:lnTo>
                <a:lnTo>
                  <a:pt x="8345424"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5" name="Google Shape;125;p20"/>
          <p:cNvSpPr txBox="1"/>
          <p:nvPr/>
        </p:nvSpPr>
        <p:spPr>
          <a:xfrm>
            <a:off x="404812" y="1393401"/>
            <a:ext cx="8233409" cy="4276725"/>
          </a:xfrm>
          <a:prstGeom prst="rect">
            <a:avLst/>
          </a:prstGeom>
          <a:noFill/>
          <a:ln>
            <a:noFill/>
          </a:ln>
        </p:spPr>
        <p:txBody>
          <a:bodyPr anchorCtr="0" anchor="t" bIns="0" lIns="0" spcFirstLastPara="1" rIns="0" wrap="square" tIns="34275">
            <a:spAutoFit/>
          </a:bodyPr>
          <a:lstStyle/>
          <a:p>
            <a:pPr indent="-177800" lvl="0" marL="26225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sentencia ALTER necesita lo siguiente:</a:t>
            </a:r>
            <a:endParaRPr sz="2800">
              <a:latin typeface="Calibri"/>
              <a:ea typeface="Calibri"/>
              <a:cs typeface="Calibri"/>
              <a:sym typeface="Calibri"/>
            </a:endParaRPr>
          </a:p>
          <a:p>
            <a:pPr indent="0" lvl="0" marL="43434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nombre de la tabla</a:t>
            </a:r>
            <a:endParaRPr sz="2400">
              <a:latin typeface="Calibri"/>
              <a:ea typeface="Calibri"/>
              <a:cs typeface="Calibri"/>
              <a:sym typeface="Calibri"/>
            </a:endParaRPr>
          </a:p>
          <a:p>
            <a:pPr indent="0" lvl="0" marL="43434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nombre de la restricción</a:t>
            </a:r>
            <a:endParaRPr sz="2400">
              <a:latin typeface="Calibri"/>
              <a:ea typeface="Calibri"/>
              <a:cs typeface="Calibri"/>
              <a:sym typeface="Calibri"/>
            </a:endParaRPr>
          </a:p>
          <a:p>
            <a:pPr indent="0" lvl="0" marL="43434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tipo de restricción</a:t>
            </a:r>
            <a:endParaRPr sz="2400">
              <a:latin typeface="Calibri"/>
              <a:ea typeface="Calibri"/>
              <a:cs typeface="Calibri"/>
              <a:sym typeface="Calibri"/>
            </a:endParaRPr>
          </a:p>
          <a:p>
            <a:pPr indent="0" lvl="0" marL="43434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nombre de la columna a la que afecta la restricción</a:t>
            </a:r>
            <a:endParaRPr sz="2400">
              <a:latin typeface="Calibri"/>
              <a:ea typeface="Calibri"/>
              <a:cs typeface="Calibri"/>
              <a:sym typeface="Calibri"/>
            </a:endParaRPr>
          </a:p>
          <a:p>
            <a:pPr indent="-177800" lvl="0" marL="261620" marR="5080" rtl="0" algn="l">
              <a:lnSpc>
                <a:spcPct val="108214"/>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de código que se muestra a 	continuación, con la tabla de empleados, la restricción 	de clave principal se puede haber agregado después de 	que se creara originalmente la tabla</a:t>
            </a:r>
            <a:endParaRPr sz="2800">
              <a:latin typeface="Calibri"/>
              <a:ea typeface="Calibri"/>
              <a:cs typeface="Calibri"/>
              <a:sym typeface="Calibri"/>
            </a:endParaRPr>
          </a:p>
          <a:p>
            <a:pPr indent="0" lvl="0" marL="0" rtl="0" algn="l">
              <a:lnSpc>
                <a:spcPct val="100000"/>
              </a:lnSpc>
              <a:spcBef>
                <a:spcPts val="695"/>
              </a:spcBef>
              <a:spcAft>
                <a:spcPts val="0"/>
              </a:spcAft>
              <a:buNone/>
            </a:pPr>
            <a:r>
              <a:rPr b="1" lang="en-US" sz="1800">
                <a:solidFill>
                  <a:srgbClr val="4E3629"/>
                </a:solidFill>
                <a:latin typeface="Courier New"/>
                <a:ea typeface="Courier New"/>
                <a:cs typeface="Courier New"/>
                <a:sym typeface="Courier New"/>
              </a:rPr>
              <a:t>ALTER TABLE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ADD CONSTRAINT	emp_id_pk PRIMARY KEY (employee_id);</a:t>
            </a:r>
            <a:endParaRPr sz="1800">
              <a:latin typeface="Courier New"/>
              <a:ea typeface="Courier New"/>
              <a:cs typeface="Courier New"/>
              <a:sym typeface="Courier New"/>
            </a:endParaRPr>
          </a:p>
        </p:txBody>
      </p:sp>
      <p:sp>
        <p:nvSpPr>
          <p:cNvPr id="126" name="Google Shape;126;p20"/>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127" name="Google Shape;127;p2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8" name="Google Shape;128;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Adición de Restricciones</a:t>
            </a:r>
            <a:endParaRPr/>
          </a:p>
        </p:txBody>
      </p:sp>
      <p:sp>
        <p:nvSpPr>
          <p:cNvPr id="134" name="Google Shape;134;p21"/>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135" name="Google Shape;135;p2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6" name="Google Shape;136;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7" name="Google Shape;137;p21"/>
          <p:cNvSpPr txBox="1"/>
          <p:nvPr/>
        </p:nvSpPr>
        <p:spPr>
          <a:xfrm>
            <a:off x="483552" y="1415417"/>
            <a:ext cx="7373620"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agregar una restricción a una tabla existente, 	utilice la siguiente sintaxis SQL:</a:t>
            </a:r>
            <a:endParaRPr sz="2800">
              <a:latin typeface="Calibri"/>
              <a:ea typeface="Calibri"/>
              <a:cs typeface="Calibri"/>
              <a:sym typeface="Calibri"/>
            </a:endParaRPr>
          </a:p>
        </p:txBody>
      </p:sp>
      <p:sp>
        <p:nvSpPr>
          <p:cNvPr id="138" name="Google Shape;138;p21"/>
          <p:cNvSpPr txBox="1"/>
          <p:nvPr/>
        </p:nvSpPr>
        <p:spPr>
          <a:xfrm>
            <a:off x="483552" y="3256409"/>
            <a:ext cx="7355840" cy="17062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la restricción es una restricción FOREIGN KEY, la 	palabra clave REFERENCES se debe incluir en la 	sentencia</a:t>
            </a:r>
            <a:endParaRPr sz="2800">
              <a:latin typeface="Calibri"/>
              <a:ea typeface="Calibri"/>
              <a:cs typeface="Calibri"/>
              <a:sym typeface="Calibri"/>
            </a:endParaRPr>
          </a:p>
          <a:p>
            <a:pPr indent="-177800" lvl="0" marL="183515"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Sintaxis:</a:t>
            </a:r>
            <a:endParaRPr sz="2800">
              <a:latin typeface="Calibri"/>
              <a:ea typeface="Calibri"/>
              <a:cs typeface="Calibri"/>
              <a:sym typeface="Calibri"/>
            </a:endParaRPr>
          </a:p>
        </p:txBody>
      </p:sp>
      <p:sp>
        <p:nvSpPr>
          <p:cNvPr id="139" name="Google Shape;139;p21"/>
          <p:cNvSpPr txBox="1"/>
          <p:nvPr/>
        </p:nvSpPr>
        <p:spPr>
          <a:xfrm>
            <a:off x="405384" y="2360676"/>
            <a:ext cx="8345805" cy="881380"/>
          </a:xfrm>
          <a:prstGeom prst="rect">
            <a:avLst/>
          </a:prstGeom>
          <a:solidFill>
            <a:srgbClr val="9DBDC4">
              <a:alpha val="49804"/>
            </a:srgbClr>
          </a:solidFill>
          <a:ln>
            <a:noFill/>
          </a:ln>
        </p:spPr>
        <p:txBody>
          <a:bodyPr anchorCtr="0" anchor="t" bIns="0" lIns="0" spcFirstLastPara="1" rIns="0" wrap="square" tIns="12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ALTER TABLE table_name</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ADD [CONSTRAINT constraint_name] type of constraint</a:t>
            </a:r>
            <a:endParaRPr sz="1800">
              <a:latin typeface="Courier New"/>
              <a:ea typeface="Courier New"/>
              <a:cs typeface="Courier New"/>
              <a:sym typeface="Courier New"/>
            </a:endParaRPr>
          </a:p>
          <a:p>
            <a:pPr indent="0" lvl="0" marL="457136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(column_name);</a:t>
            </a:r>
            <a:endParaRPr sz="1800">
              <a:latin typeface="Courier New"/>
              <a:ea typeface="Courier New"/>
              <a:cs typeface="Courier New"/>
              <a:sym typeface="Courier New"/>
            </a:endParaRPr>
          </a:p>
        </p:txBody>
      </p:sp>
      <p:sp>
        <p:nvSpPr>
          <p:cNvPr id="140" name="Google Shape;140;p21"/>
          <p:cNvSpPr txBox="1"/>
          <p:nvPr/>
        </p:nvSpPr>
        <p:spPr>
          <a:xfrm>
            <a:off x="405384" y="5035296"/>
            <a:ext cx="8345805" cy="881380"/>
          </a:xfrm>
          <a:prstGeom prst="rect">
            <a:avLst/>
          </a:prstGeom>
          <a:solidFill>
            <a:srgbClr val="9DBDC4">
              <a:alpha val="49804"/>
            </a:srgbClr>
          </a:solidFill>
          <a:ln>
            <a:noFill/>
          </a:ln>
        </p:spPr>
        <p:txBody>
          <a:bodyPr anchorCtr="0" anchor="t" bIns="0" lIns="0" spcFirstLastPara="1" rIns="0" wrap="square" tIns="12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ALTER TABLE tablename</a:t>
            </a:r>
            <a:endParaRPr sz="1800">
              <a:latin typeface="Courier New"/>
              <a:ea typeface="Courier New"/>
              <a:cs typeface="Courier New"/>
              <a:sym typeface="Courier New"/>
            </a:endParaRPr>
          </a:p>
          <a:p>
            <a:pPr indent="-1828164" lvl="0" marL="1828164" marR="8305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ADD CONSTRAINT constraint_name FOREIGN KEY(column_name) REFERENCES tablename(column_name);</a:t>
            </a:r>
            <a:endParaRPr sz="1800">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 de Adición de Restricciones</a:t>
            </a:r>
            <a:endParaRPr/>
          </a:p>
        </p:txBody>
      </p:sp>
      <p:sp>
        <p:nvSpPr>
          <p:cNvPr id="146" name="Google Shape;146;p22"/>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147" name="Google Shape;147;p2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48" name="Google Shape;148;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9" name="Google Shape;149;p22"/>
          <p:cNvSpPr txBox="1"/>
          <p:nvPr/>
        </p:nvSpPr>
        <p:spPr>
          <a:xfrm>
            <a:off x="483552" y="1355371"/>
            <a:ext cx="8150225" cy="1720214"/>
          </a:xfrm>
          <a:prstGeom prst="rect">
            <a:avLst/>
          </a:prstGeom>
          <a:noFill/>
          <a:ln>
            <a:noFill/>
          </a:ln>
        </p:spPr>
        <p:txBody>
          <a:bodyPr anchorCtr="0" anchor="t" bIns="0" lIns="0" spcFirstLastPara="1" rIns="0" wrap="square" tIns="717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Considere la base de datos de empleados</a:t>
            </a:r>
            <a:endParaRPr sz="2800">
              <a:latin typeface="Calibri"/>
              <a:ea typeface="Calibri"/>
              <a:cs typeface="Calibri"/>
              <a:sym typeface="Calibri"/>
            </a:endParaRPr>
          </a:p>
          <a:p>
            <a:pPr indent="-177800" lvl="0" marL="182880" marR="508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clave primaria de la tabla DEPARTMENTS se 	introduce en la tabla EMPLOYEES como una clave ajena</a:t>
            </a:r>
            <a:endParaRPr sz="2800">
              <a:latin typeface="Calibri"/>
              <a:ea typeface="Calibri"/>
              <a:cs typeface="Calibri"/>
              <a:sym typeface="Calibri"/>
            </a:endParaRPr>
          </a:p>
          <a:p>
            <a:pPr indent="0" lvl="0" marL="199390" rtl="0" algn="l">
              <a:lnSpc>
                <a:spcPct val="100000"/>
              </a:lnSpc>
              <a:spcBef>
                <a:spcPts val="690"/>
              </a:spcBef>
              <a:spcAft>
                <a:spcPts val="0"/>
              </a:spcAft>
              <a:buNone/>
            </a:pPr>
            <a:r>
              <a:rPr b="1" lang="en-US" sz="1600">
                <a:solidFill>
                  <a:srgbClr val="4E3629"/>
                </a:solidFill>
                <a:latin typeface="Calibri"/>
                <a:ea typeface="Calibri"/>
                <a:cs typeface="Calibri"/>
                <a:sym typeface="Calibri"/>
              </a:rPr>
              <a:t>DEPARTMENTS: principal</a:t>
            </a:r>
            <a:endParaRPr sz="1600">
              <a:latin typeface="Calibri"/>
              <a:ea typeface="Calibri"/>
              <a:cs typeface="Calibri"/>
              <a:sym typeface="Calibri"/>
            </a:endParaRPr>
          </a:p>
        </p:txBody>
      </p:sp>
      <p:sp>
        <p:nvSpPr>
          <p:cNvPr id="150" name="Google Shape;150;p22"/>
          <p:cNvSpPr txBox="1"/>
          <p:nvPr/>
        </p:nvSpPr>
        <p:spPr>
          <a:xfrm>
            <a:off x="670407" y="4123825"/>
            <a:ext cx="194373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EMPLOYEE: secundaria</a:t>
            </a:r>
            <a:endParaRPr sz="1600">
              <a:latin typeface="Calibri"/>
              <a:ea typeface="Calibri"/>
              <a:cs typeface="Calibri"/>
              <a:sym typeface="Calibri"/>
            </a:endParaRPr>
          </a:p>
        </p:txBody>
      </p:sp>
      <p:graphicFrame>
        <p:nvGraphicFramePr>
          <p:cNvPr id="151" name="Google Shape;151;p22"/>
          <p:cNvGraphicFramePr/>
          <p:nvPr/>
        </p:nvGraphicFramePr>
        <p:xfrm>
          <a:off x="527050" y="4455970"/>
          <a:ext cx="3000000" cy="3000000"/>
        </p:xfrm>
        <a:graphic>
          <a:graphicData uri="http://schemas.openxmlformats.org/drawingml/2006/table">
            <a:tbl>
              <a:tblPr bandRow="1" firstRow="1">
                <a:noFill/>
                <a:tableStyleId>{2543424A-9D3B-4828-9936-9AB315360A54}</a:tableStyleId>
              </a:tblPr>
              <a:tblGrid>
                <a:gridCol w="1861825"/>
                <a:gridCol w="1861825"/>
                <a:gridCol w="1861825"/>
                <a:gridCol w="1861825"/>
              </a:tblGrid>
              <a:tr h="243200">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D1350F"/>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Steven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D1350F"/>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Neena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D1350F"/>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Lex</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D1350F"/>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Shelley</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D1350F"/>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206</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William</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D1350F"/>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152" name="Google Shape;152;p22"/>
          <p:cNvGraphicFramePr/>
          <p:nvPr/>
        </p:nvGraphicFramePr>
        <p:xfrm>
          <a:off x="530934" y="3084038"/>
          <a:ext cx="3000000" cy="3000000"/>
        </p:xfrm>
        <a:graphic>
          <a:graphicData uri="http://schemas.openxmlformats.org/drawingml/2006/table">
            <a:tbl>
              <a:tblPr bandRow="1" firstRow="1">
                <a:noFill/>
                <a:tableStyleId>{2543424A-9D3B-4828-9936-9AB315360A54}</a:tableStyleId>
              </a:tblPr>
              <a:tblGrid>
                <a:gridCol w="1875800"/>
                <a:gridCol w="1854200"/>
                <a:gridCol w="1854200"/>
                <a:gridCol w="1854200"/>
              </a:tblGrid>
              <a:tr h="243200">
                <a:tc>
                  <a:txBody>
                    <a:bodyPr/>
                    <a:lstStyle/>
                    <a:p>
                      <a:pPr indent="0" lvl="0" marL="71755" marR="0" rtl="0" algn="l">
                        <a:lnSpc>
                          <a:spcPct val="113750"/>
                        </a:lnSpc>
                        <a:spcBef>
                          <a:spcPts val="0"/>
                        </a:spcBef>
                        <a:spcAft>
                          <a:spcPts val="0"/>
                        </a:spcAft>
                        <a:buNone/>
                      </a:pPr>
                      <a:r>
                        <a:rPr b="1" lang="en-US" sz="1600" u="none" cap="none" strike="noStrike">
                          <a:solidFill>
                            <a:srgbClr val="D1350F"/>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DEPT_NAME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MANAGER_ID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LOCATION_ID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D1350F"/>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Executive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D1350F"/>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Accounting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D1350F"/>
                          </a:solidFill>
                          <a:latin typeface="Calibri"/>
                          <a:ea typeface="Calibri"/>
                          <a:cs typeface="Calibri"/>
                          <a:sym typeface="Calibri"/>
                        </a:rPr>
                        <a:t>190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Contracting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3"/>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 de Adición de Restricciones</a:t>
            </a:r>
            <a:endParaRPr/>
          </a:p>
        </p:txBody>
      </p:sp>
      <p:sp>
        <p:nvSpPr>
          <p:cNvPr id="158" name="Google Shape;158;p23"/>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159" name="Google Shape;159;p2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60" name="Google Shape;160;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1" name="Google Shape;161;p23"/>
          <p:cNvSpPr txBox="1"/>
          <p:nvPr/>
        </p:nvSpPr>
        <p:spPr>
          <a:xfrm>
            <a:off x="483552" y="1415417"/>
            <a:ext cx="7407275"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siguiente ejemplo se muestra la sintaxis para 	agregar esta clave ajena a la tabla EMPLOYEES:</a:t>
            </a:r>
            <a:endParaRPr sz="2800">
              <a:latin typeface="Calibri"/>
              <a:ea typeface="Calibri"/>
              <a:cs typeface="Calibri"/>
              <a:sym typeface="Calibri"/>
            </a:endParaRPr>
          </a:p>
        </p:txBody>
      </p:sp>
      <p:sp>
        <p:nvSpPr>
          <p:cNvPr id="162" name="Google Shape;162;p23"/>
          <p:cNvSpPr txBox="1"/>
          <p:nvPr/>
        </p:nvSpPr>
        <p:spPr>
          <a:xfrm>
            <a:off x="794655" y="3263563"/>
            <a:ext cx="212217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DEPARTMENTS: principal</a:t>
            </a:r>
            <a:endParaRPr sz="1600">
              <a:latin typeface="Calibri"/>
              <a:ea typeface="Calibri"/>
              <a:cs typeface="Calibri"/>
              <a:sym typeface="Calibri"/>
            </a:endParaRPr>
          </a:p>
        </p:txBody>
      </p:sp>
      <p:sp>
        <p:nvSpPr>
          <p:cNvPr id="163" name="Google Shape;163;p23"/>
          <p:cNvSpPr txBox="1"/>
          <p:nvPr/>
        </p:nvSpPr>
        <p:spPr>
          <a:xfrm>
            <a:off x="794655" y="4416678"/>
            <a:ext cx="194373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EMPLOYEE: secundaria</a:t>
            </a:r>
            <a:endParaRPr sz="1600">
              <a:latin typeface="Calibri"/>
              <a:ea typeface="Calibri"/>
              <a:cs typeface="Calibri"/>
              <a:sym typeface="Calibri"/>
            </a:endParaRPr>
          </a:p>
        </p:txBody>
      </p:sp>
      <p:sp>
        <p:nvSpPr>
          <p:cNvPr id="164" name="Google Shape;164;p23"/>
          <p:cNvSpPr txBox="1"/>
          <p:nvPr/>
        </p:nvSpPr>
        <p:spPr>
          <a:xfrm>
            <a:off x="405384" y="2324100"/>
            <a:ext cx="8345805" cy="948055"/>
          </a:xfrm>
          <a:prstGeom prst="rect">
            <a:avLst/>
          </a:prstGeom>
          <a:solidFill>
            <a:srgbClr val="9DBDC4">
              <a:alpha val="49804"/>
            </a:srgbClr>
          </a:solidFill>
          <a:ln>
            <a:noFill/>
          </a:ln>
        </p:spPr>
        <p:txBody>
          <a:bodyPr anchorCtr="0" anchor="t" bIns="0" lIns="0" spcFirstLastPara="1" rIns="0" wrap="square" tIns="34925">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ALTER TABLE employees</a:t>
            </a:r>
            <a:endParaRPr sz="1800">
              <a:latin typeface="Courier New"/>
              <a:ea typeface="Courier New"/>
              <a:cs typeface="Courier New"/>
              <a:sym typeface="Courier New"/>
            </a:endParaRPr>
          </a:p>
          <a:p>
            <a:pPr indent="-408940" lvl="0" marL="408940" marR="14859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ADD CONSTRAINT emp_dept_fk FOREIGN KEY (department_id) REFERENCES departments (department_id) ON DELETE CASCADE;</a:t>
            </a:r>
            <a:endParaRPr sz="1800">
              <a:latin typeface="Courier New"/>
              <a:ea typeface="Courier New"/>
              <a:cs typeface="Courier New"/>
              <a:sym typeface="Courier New"/>
            </a:endParaRPr>
          </a:p>
        </p:txBody>
      </p:sp>
      <p:graphicFrame>
        <p:nvGraphicFramePr>
          <p:cNvPr id="165" name="Google Shape;165;p23"/>
          <p:cNvGraphicFramePr/>
          <p:nvPr/>
        </p:nvGraphicFramePr>
        <p:xfrm>
          <a:off x="599620" y="4753815"/>
          <a:ext cx="3000000" cy="3000000"/>
        </p:xfrm>
        <a:graphic>
          <a:graphicData uri="http://schemas.openxmlformats.org/drawingml/2006/table">
            <a:tbl>
              <a:tblPr bandRow="1" firstRow="1">
                <a:noFill/>
                <a:tableStyleId>{2543424A-9D3B-4828-9936-9AB315360A54}</a:tableStyleId>
              </a:tblPr>
              <a:tblGrid>
                <a:gridCol w="1901825"/>
                <a:gridCol w="1901825"/>
                <a:gridCol w="1901825"/>
                <a:gridCol w="1901825"/>
              </a:tblGrid>
              <a:tr h="182250">
                <a:tc>
                  <a:txBody>
                    <a:bodyPr/>
                    <a:lstStyle/>
                    <a:p>
                      <a:pPr indent="0" lvl="0" marL="71755" marR="0" rtl="0" algn="l">
                        <a:lnSpc>
                          <a:spcPct val="111666"/>
                        </a:lnSpc>
                        <a:spcBef>
                          <a:spcPts val="0"/>
                        </a:spcBef>
                        <a:spcAft>
                          <a:spcPts val="0"/>
                        </a:spcAft>
                        <a:buNone/>
                      </a:pPr>
                      <a:r>
                        <a:rPr b="1" lang="en-US" sz="1200" u="none" cap="none" strike="noStrike">
                          <a:solidFill>
                            <a:srgbClr val="4E3629"/>
                          </a:solidFill>
                          <a:latin typeface="Calibri"/>
                          <a:ea typeface="Calibri"/>
                          <a:cs typeface="Calibri"/>
                          <a:sym typeface="Calibri"/>
                        </a:rPr>
                        <a:t>EMPLOYEE_ID</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1666"/>
                        </a:lnSpc>
                        <a:spcBef>
                          <a:spcPts val="0"/>
                        </a:spcBef>
                        <a:spcAft>
                          <a:spcPts val="0"/>
                        </a:spcAft>
                        <a:buNone/>
                      </a:pPr>
                      <a:r>
                        <a:rPr b="1" lang="en-US" sz="1200" u="none" cap="none" strike="noStrike">
                          <a:solidFill>
                            <a:srgbClr val="4E3629"/>
                          </a:solidFill>
                          <a:latin typeface="Calibri"/>
                          <a:ea typeface="Calibri"/>
                          <a:cs typeface="Calibri"/>
                          <a:sym typeface="Calibri"/>
                        </a:rPr>
                        <a:t>FIRST_NAME</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1666"/>
                        </a:lnSpc>
                        <a:spcBef>
                          <a:spcPts val="0"/>
                        </a:spcBef>
                        <a:spcAft>
                          <a:spcPts val="0"/>
                        </a:spcAft>
                        <a:buNone/>
                      </a:pPr>
                      <a:r>
                        <a:rPr b="1" lang="en-US" sz="1200" u="none" cap="none" strike="noStrike">
                          <a:solidFill>
                            <a:srgbClr val="4E3629"/>
                          </a:solidFill>
                          <a:latin typeface="Calibri"/>
                          <a:ea typeface="Calibri"/>
                          <a:cs typeface="Calibri"/>
                          <a:sym typeface="Calibri"/>
                        </a:rPr>
                        <a:t>LAST_NAME</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1666"/>
                        </a:lnSpc>
                        <a:spcBef>
                          <a:spcPts val="0"/>
                        </a:spcBef>
                        <a:spcAft>
                          <a:spcPts val="0"/>
                        </a:spcAft>
                        <a:buNone/>
                      </a:pPr>
                      <a:r>
                        <a:rPr b="1" lang="en-US" sz="1200" u="none" cap="none" strike="noStrike">
                          <a:solidFill>
                            <a:srgbClr val="4E3629"/>
                          </a:solidFill>
                          <a:latin typeface="Calibri"/>
                          <a:ea typeface="Calibri"/>
                          <a:cs typeface="Calibri"/>
                          <a:sym typeface="Calibri"/>
                        </a:rPr>
                        <a:t>DEPARTMENT_ID</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100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Steven</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King</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90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82875">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101</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Neena</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Kochhar</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90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82875">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102</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Lex</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De Haan</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90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82250">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205</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Shelley</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Higgins</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110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82875">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206</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William</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Gietz</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110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166" name="Google Shape;166;p23"/>
          <p:cNvGraphicFramePr/>
          <p:nvPr/>
        </p:nvGraphicFramePr>
        <p:xfrm>
          <a:off x="599620" y="3652401"/>
          <a:ext cx="3000000" cy="3000000"/>
        </p:xfrm>
        <a:graphic>
          <a:graphicData uri="http://schemas.openxmlformats.org/drawingml/2006/table">
            <a:tbl>
              <a:tblPr bandRow="1" firstRow="1">
                <a:noFill/>
                <a:tableStyleId>{2543424A-9D3B-4828-9936-9AB315360A54}</a:tableStyleId>
              </a:tblPr>
              <a:tblGrid>
                <a:gridCol w="1916425"/>
                <a:gridCol w="1894200"/>
                <a:gridCol w="1894200"/>
                <a:gridCol w="1894200"/>
              </a:tblGrid>
              <a:tr h="182875">
                <a:tc>
                  <a:txBody>
                    <a:bodyPr/>
                    <a:lstStyle/>
                    <a:p>
                      <a:pPr indent="0" lvl="0" marL="71755" marR="0" rtl="0" algn="l">
                        <a:lnSpc>
                          <a:spcPct val="111666"/>
                        </a:lnSpc>
                        <a:spcBef>
                          <a:spcPts val="0"/>
                        </a:spcBef>
                        <a:spcAft>
                          <a:spcPts val="0"/>
                        </a:spcAft>
                        <a:buNone/>
                      </a:pPr>
                      <a:r>
                        <a:rPr b="1" lang="en-US" sz="1200" u="none" cap="none" strike="noStrike">
                          <a:solidFill>
                            <a:srgbClr val="4E3629"/>
                          </a:solidFill>
                          <a:latin typeface="Calibri"/>
                          <a:ea typeface="Calibri"/>
                          <a:cs typeface="Calibri"/>
                          <a:sym typeface="Calibri"/>
                        </a:rPr>
                        <a:t>DEPARTMENT_ID</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1666"/>
                        </a:lnSpc>
                        <a:spcBef>
                          <a:spcPts val="0"/>
                        </a:spcBef>
                        <a:spcAft>
                          <a:spcPts val="0"/>
                        </a:spcAft>
                        <a:buNone/>
                      </a:pPr>
                      <a:r>
                        <a:rPr b="1" lang="en-US" sz="1200" u="none" cap="none" strike="noStrike">
                          <a:solidFill>
                            <a:srgbClr val="4E3629"/>
                          </a:solidFill>
                          <a:latin typeface="Calibri"/>
                          <a:ea typeface="Calibri"/>
                          <a:cs typeface="Calibri"/>
                          <a:sym typeface="Calibri"/>
                        </a:rPr>
                        <a:t>DEPT_NAME</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1666"/>
                        </a:lnSpc>
                        <a:spcBef>
                          <a:spcPts val="0"/>
                        </a:spcBef>
                        <a:spcAft>
                          <a:spcPts val="0"/>
                        </a:spcAft>
                        <a:buNone/>
                      </a:pPr>
                      <a:r>
                        <a:rPr b="1" lang="en-US" sz="1200" u="none" cap="none" strike="noStrike">
                          <a:solidFill>
                            <a:srgbClr val="4E3629"/>
                          </a:solidFill>
                          <a:latin typeface="Calibri"/>
                          <a:ea typeface="Calibri"/>
                          <a:cs typeface="Calibri"/>
                          <a:sym typeface="Calibri"/>
                        </a:rPr>
                        <a:t>MANAGER_ID</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1666"/>
                        </a:lnSpc>
                        <a:spcBef>
                          <a:spcPts val="0"/>
                        </a:spcBef>
                        <a:spcAft>
                          <a:spcPts val="0"/>
                        </a:spcAft>
                        <a:buNone/>
                      </a:pPr>
                      <a:r>
                        <a:rPr b="1" lang="en-US" sz="1200" u="none" cap="none" strike="noStrike">
                          <a:solidFill>
                            <a:srgbClr val="4E3629"/>
                          </a:solidFill>
                          <a:latin typeface="Calibri"/>
                          <a:ea typeface="Calibri"/>
                          <a:cs typeface="Calibri"/>
                          <a:sym typeface="Calibri"/>
                        </a:rPr>
                        <a:t>LOCATION_ID</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90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Executive</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100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1700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82250">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110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Accounting</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205</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1700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82875">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190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Contracting</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1700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4"/>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Condiciones para la Adición de Restricciones</a:t>
            </a:r>
            <a:endParaRPr/>
          </a:p>
        </p:txBody>
      </p:sp>
      <p:sp>
        <p:nvSpPr>
          <p:cNvPr id="172" name="Google Shape;172;p24"/>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173" name="Google Shape;173;p2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74" name="Google Shape;174;p2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75" name="Google Shape;175;p24"/>
          <p:cNvSpPr txBox="1"/>
          <p:nvPr/>
        </p:nvSpPr>
        <p:spPr>
          <a:xfrm>
            <a:off x="483552" y="1415417"/>
            <a:ext cx="8186420" cy="2090420"/>
          </a:xfrm>
          <a:prstGeom prst="rect">
            <a:avLst/>
          </a:prstGeom>
          <a:noFill/>
          <a:ln>
            <a:noFill/>
          </a:ln>
        </p:spPr>
        <p:txBody>
          <a:bodyPr anchorCtr="0" anchor="t" bIns="0" lIns="0" spcFirstLastPara="1" rIns="0" wrap="square" tIns="59675">
            <a:spAutoFit/>
          </a:bodyPr>
          <a:lstStyle/>
          <a:p>
            <a:pPr indent="-177800" lvl="0" marL="182880" marR="99695"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la restricción es una restricción NOT NULL, la 	sentencia ALTER TABLE utiliza MODIFY en lugar de ADD</a:t>
            </a:r>
            <a:endParaRPr sz="2800">
              <a:latin typeface="Calibri"/>
              <a:ea typeface="Calibri"/>
              <a:cs typeface="Calibri"/>
              <a:sym typeface="Calibri"/>
            </a:endParaRPr>
          </a:p>
          <a:p>
            <a:pPr indent="-177800" lvl="0" marL="182880" marR="5080" rtl="0" algn="just">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restricciones NOT NULL solo se pueden agregar si la 	tabla está vacía o si la columna tiene un valor para cada 	fila:</a:t>
            </a:r>
            <a:endParaRPr sz="2800">
              <a:latin typeface="Calibri"/>
              <a:ea typeface="Calibri"/>
              <a:cs typeface="Calibri"/>
              <a:sym typeface="Calibri"/>
            </a:endParaRPr>
          </a:p>
        </p:txBody>
      </p:sp>
      <p:sp>
        <p:nvSpPr>
          <p:cNvPr id="176" name="Google Shape;176;p24"/>
          <p:cNvSpPr txBox="1"/>
          <p:nvPr/>
        </p:nvSpPr>
        <p:spPr>
          <a:xfrm>
            <a:off x="393191" y="3729228"/>
            <a:ext cx="8345805" cy="55626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9722"/>
              </a:lnSpc>
              <a:spcBef>
                <a:spcPts val="0"/>
              </a:spcBef>
              <a:spcAft>
                <a:spcPts val="0"/>
              </a:spcAft>
              <a:buNone/>
            </a:pPr>
            <a:r>
              <a:rPr b="1" lang="en-US" sz="1800">
                <a:solidFill>
                  <a:srgbClr val="4E3629"/>
                </a:solidFill>
                <a:latin typeface="Courier New"/>
                <a:ea typeface="Courier New"/>
                <a:cs typeface="Courier New"/>
                <a:sym typeface="Courier New"/>
              </a:rPr>
              <a:t>ALTER TABLE table_name</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MODIFY (column_name CONSTRAINT constraint_name NOT NULL);</a:t>
            </a:r>
            <a:endParaRPr sz="1800">
              <a:latin typeface="Courier New"/>
              <a:ea typeface="Courier New"/>
              <a:cs typeface="Courier New"/>
              <a:sym typeface="Courier New"/>
            </a:endParaRPr>
          </a:p>
        </p:txBody>
      </p:sp>
      <p:sp>
        <p:nvSpPr>
          <p:cNvPr id="177" name="Google Shape;177;p24"/>
          <p:cNvSpPr txBox="1"/>
          <p:nvPr/>
        </p:nvSpPr>
        <p:spPr>
          <a:xfrm>
            <a:off x="381000" y="4581144"/>
            <a:ext cx="8347075" cy="55816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0000"/>
              </a:lnSpc>
              <a:spcBef>
                <a:spcPts val="0"/>
              </a:spcBef>
              <a:spcAft>
                <a:spcPts val="0"/>
              </a:spcAft>
              <a:buNone/>
            </a:pPr>
            <a:r>
              <a:rPr b="1" lang="en-US" sz="1800">
                <a:solidFill>
                  <a:srgbClr val="4E3629"/>
                </a:solidFill>
                <a:latin typeface="Courier New"/>
                <a:ea typeface="Courier New"/>
                <a:cs typeface="Courier New"/>
                <a:sym typeface="Courier New"/>
              </a:rPr>
              <a:t>ALTER TABLE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MODIFY (email CONSTRAINT emp_email_nn NOT NULL);</a:t>
            </a:r>
            <a:endParaRPr sz="1800">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5"/>
          <p:cNvSpPr txBox="1"/>
          <p:nvPr>
            <p:ph type="title"/>
          </p:nvPr>
        </p:nvSpPr>
        <p:spPr>
          <a:xfrm>
            <a:off x="392112" y="748031"/>
            <a:ext cx="7556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¿Por Qué Activar y Desactivar Restricciones?</a:t>
            </a:r>
            <a:endParaRPr/>
          </a:p>
        </p:txBody>
      </p:sp>
      <p:sp>
        <p:nvSpPr>
          <p:cNvPr id="183" name="Google Shape;183;p25"/>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184" name="Google Shape;184;p2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5" name="Google Shape;185;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6" name="Google Shape;186;p25"/>
          <p:cNvSpPr txBox="1"/>
          <p:nvPr/>
        </p:nvSpPr>
        <p:spPr>
          <a:xfrm>
            <a:off x="483552" y="1415417"/>
            <a:ext cx="8172450" cy="4225925"/>
          </a:xfrm>
          <a:prstGeom prst="rect">
            <a:avLst/>
          </a:prstGeom>
          <a:noFill/>
          <a:ln>
            <a:noFill/>
          </a:ln>
        </p:spPr>
        <p:txBody>
          <a:bodyPr anchorCtr="0" anchor="t" bIns="0" lIns="0" spcFirstLastPara="1" rIns="0" wrap="square" tIns="59675">
            <a:spAutoFit/>
          </a:bodyPr>
          <a:lstStyle/>
          <a:p>
            <a:pPr indent="-177800" lvl="0" marL="182880" marR="57340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aplicar las reglas definidas por restricciones de 	integridad, las restricciones deben estar siempre 	activadas</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determinadas situaciones, se recomienda desactivar 	temporalmente las restricciones de integridad de una 	tabla por motivos de rendimiento, por ejemplo:</a:t>
            </a:r>
            <a:endParaRPr sz="2800">
              <a:latin typeface="Calibri"/>
              <a:ea typeface="Calibri"/>
              <a:cs typeface="Calibri"/>
              <a:sym typeface="Calibri"/>
            </a:endParaRPr>
          </a:p>
          <a:p>
            <a:pPr indent="0" lvl="0" marL="355600" rtl="0" algn="l">
              <a:lnSpc>
                <a:spcPct val="100000"/>
              </a:lnSpc>
              <a:spcBef>
                <a:spcPts val="8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Al cargar grandes cantidades de datos en una tabla</a:t>
            </a:r>
            <a:endParaRPr sz="2400">
              <a:latin typeface="Calibri"/>
              <a:ea typeface="Calibri"/>
              <a:cs typeface="Calibri"/>
              <a:sym typeface="Calibri"/>
            </a:endParaRPr>
          </a:p>
          <a:p>
            <a:pPr indent="-175260" lvl="0" marL="530860" marR="103505" rtl="0" algn="l">
              <a:lnSpc>
                <a:spcPct val="107916"/>
              </a:lnSpc>
              <a:spcBef>
                <a:spcPts val="45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Al ejecutar operaciones por lotes que realizan cambios masivos en una tabla (como puede ser cambiar el número de empleado de todas las personas agregando 1.000 al número existente)</a:t>
            </a:r>
            <a:endParaRPr sz="24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6"/>
          <p:cNvSpPr txBox="1"/>
          <p:nvPr>
            <p:ph type="title"/>
          </p:nvPr>
        </p:nvSpPr>
        <p:spPr>
          <a:xfrm>
            <a:off x="392112" y="748031"/>
            <a:ext cx="4251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Borrado de Restricciones</a:t>
            </a:r>
            <a:endParaRPr/>
          </a:p>
        </p:txBody>
      </p:sp>
      <p:sp>
        <p:nvSpPr>
          <p:cNvPr id="192" name="Google Shape;192;p26"/>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193" name="Google Shape;193;p2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94" name="Google Shape;194;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5" name="Google Shape;195;p26"/>
          <p:cNvSpPr txBox="1"/>
          <p:nvPr/>
        </p:nvSpPr>
        <p:spPr>
          <a:xfrm>
            <a:off x="483552" y="1415417"/>
            <a:ext cx="8140700" cy="4213225"/>
          </a:xfrm>
          <a:prstGeom prst="rect">
            <a:avLst/>
          </a:prstGeom>
          <a:noFill/>
          <a:ln>
            <a:noFill/>
          </a:ln>
        </p:spPr>
        <p:txBody>
          <a:bodyPr anchorCtr="0" anchor="t" bIns="0" lIns="0" spcFirstLastPara="1" rIns="0" wrap="square" tIns="59675">
            <a:spAutoFit/>
          </a:bodyPr>
          <a:lstStyle/>
          <a:p>
            <a:pPr indent="-177800" lvl="0" marL="182880" marR="32766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borrar una restricción, debe saber el nombre de 	la restricción</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no lo sabe, puede buscar el nombre de la restricción 	en USER_CONSTRAINTS y USER_CONS_COLUMNS en el</a:t>
            </a:r>
            <a:endParaRPr sz="2800">
              <a:latin typeface="Calibri"/>
              <a:ea typeface="Calibri"/>
              <a:cs typeface="Calibri"/>
              <a:sym typeface="Calibri"/>
            </a:endParaRPr>
          </a:p>
          <a:p>
            <a:pPr indent="0" lvl="0" marL="184785" rtl="0" algn="l">
              <a:lnSpc>
                <a:spcPct val="106250"/>
              </a:lnSpc>
              <a:spcBef>
                <a:spcPts val="0"/>
              </a:spcBef>
              <a:spcAft>
                <a:spcPts val="0"/>
              </a:spcAft>
              <a:buNone/>
            </a:pPr>
            <a:r>
              <a:rPr lang="en-US" sz="2800">
                <a:solidFill>
                  <a:srgbClr val="4E3629"/>
                </a:solidFill>
                <a:latin typeface="Calibri"/>
                <a:ea typeface="Calibri"/>
                <a:cs typeface="Calibri"/>
                <a:sym typeface="Calibri"/>
              </a:rPr>
              <a:t>diccionario de datos</a:t>
            </a:r>
            <a:endParaRPr sz="2800">
              <a:latin typeface="Calibri"/>
              <a:ea typeface="Calibri"/>
              <a:cs typeface="Calibri"/>
              <a:sym typeface="Calibri"/>
            </a:endParaRPr>
          </a:p>
          <a:p>
            <a:pPr indent="-177800" lvl="0" marL="182880" marR="340995" rtl="0" algn="l">
              <a:lnSpc>
                <a:spcPct val="108214"/>
              </a:lnSpc>
              <a:spcBef>
                <a:spcPts val="84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opción CASCADE de la cláusula DROP provoca que 	se borren también las restricciones dependientes</a:t>
            </a:r>
            <a:endParaRPr sz="2800">
              <a:latin typeface="Calibri"/>
              <a:ea typeface="Calibri"/>
              <a:cs typeface="Calibri"/>
              <a:sym typeface="Calibri"/>
            </a:endParaRPr>
          </a:p>
          <a:p>
            <a:pPr indent="-177800" lvl="0" marL="182880" marR="19177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Tenga en cuenta que al borrar una restricción de 	integridad, Oracle Server ya no aplica esa restricción y 	deja de estar disponible en el diccionario de datos</a:t>
            </a:r>
            <a:endParaRPr sz="28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7"/>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Borrado de Restricciones</a:t>
            </a:r>
            <a:endParaRPr/>
          </a:p>
        </p:txBody>
      </p:sp>
      <p:sp>
        <p:nvSpPr>
          <p:cNvPr id="201" name="Google Shape;201;p27"/>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202" name="Google Shape;202;p2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03" name="Google Shape;203;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4" name="Google Shape;204;p27"/>
          <p:cNvSpPr txBox="1"/>
          <p:nvPr/>
        </p:nvSpPr>
        <p:spPr>
          <a:xfrm>
            <a:off x="483552" y="1415417"/>
            <a:ext cx="7945755"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se borra ninguna fila ni ningún dato en ninguna de 	las tablas afectadas al borrar una restricción</a:t>
            </a:r>
            <a:endParaRPr sz="2800">
              <a:latin typeface="Calibri"/>
              <a:ea typeface="Calibri"/>
              <a:cs typeface="Calibri"/>
              <a:sym typeface="Calibri"/>
            </a:endParaRPr>
          </a:p>
        </p:txBody>
      </p:sp>
      <p:sp>
        <p:nvSpPr>
          <p:cNvPr id="205" name="Google Shape;205;p27"/>
          <p:cNvSpPr txBox="1"/>
          <p:nvPr/>
        </p:nvSpPr>
        <p:spPr>
          <a:xfrm>
            <a:off x="406908" y="2721864"/>
            <a:ext cx="8345805" cy="55626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0000"/>
              </a:lnSpc>
              <a:spcBef>
                <a:spcPts val="0"/>
              </a:spcBef>
              <a:spcAft>
                <a:spcPts val="0"/>
              </a:spcAft>
              <a:buNone/>
            </a:pPr>
            <a:r>
              <a:rPr b="1" lang="en-US" sz="1800">
                <a:solidFill>
                  <a:srgbClr val="4E3629"/>
                </a:solidFill>
                <a:latin typeface="Courier New"/>
                <a:ea typeface="Courier New"/>
                <a:cs typeface="Courier New"/>
                <a:sym typeface="Courier New"/>
              </a:rPr>
              <a:t>ALTER TABLE table_name</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DROP CONSTRAINT	name [CASCADE}</a:t>
            </a:r>
            <a:endParaRPr sz="1800">
              <a:latin typeface="Courier New"/>
              <a:ea typeface="Courier New"/>
              <a:cs typeface="Courier New"/>
              <a:sym typeface="Courier New"/>
            </a:endParaRPr>
          </a:p>
        </p:txBody>
      </p:sp>
      <p:sp>
        <p:nvSpPr>
          <p:cNvPr id="206" name="Google Shape;206;p27"/>
          <p:cNvSpPr txBox="1"/>
          <p:nvPr/>
        </p:nvSpPr>
        <p:spPr>
          <a:xfrm>
            <a:off x="405384" y="3579876"/>
            <a:ext cx="8347075" cy="55626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9444"/>
              </a:lnSpc>
              <a:spcBef>
                <a:spcPts val="0"/>
              </a:spcBef>
              <a:spcAft>
                <a:spcPts val="0"/>
              </a:spcAft>
              <a:buNone/>
            </a:pPr>
            <a:r>
              <a:rPr b="1" lang="en-US" sz="1800">
                <a:solidFill>
                  <a:srgbClr val="4E3629"/>
                </a:solidFill>
                <a:latin typeface="Courier New"/>
                <a:ea typeface="Courier New"/>
                <a:cs typeface="Courier New"/>
                <a:sym typeface="Courier New"/>
              </a:rPr>
              <a:t>ALTER TABLE copy_departments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DROP CONSTRAINT	c_dept_dept_id_pk CASCADE;</a:t>
            </a:r>
            <a:endParaRPr sz="1800">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8"/>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Desactivación de Restricciones</a:t>
            </a:r>
            <a:endParaRPr/>
          </a:p>
        </p:txBody>
      </p:sp>
      <p:sp>
        <p:nvSpPr>
          <p:cNvPr id="212" name="Google Shape;212;p28"/>
          <p:cNvSpPr txBox="1"/>
          <p:nvPr>
            <p:ph idx="1" type="body"/>
          </p:nvPr>
        </p:nvSpPr>
        <p:spPr>
          <a:xfrm>
            <a:off x="483552" y="1381889"/>
            <a:ext cx="8086200" cy="235680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1200"/>
              </a:spcAft>
              <a:buClr>
                <a:srgbClr val="D1350F"/>
              </a:buClr>
              <a:buSzPts val="2800"/>
              <a:buFont typeface="Arial"/>
              <a:buChar char="•"/>
            </a:pPr>
            <a:r>
              <a:rPr lang="en-US"/>
              <a:t>Por defecto, siempre que una restricción de integridad 	está definida en una sentencia CREATE o ALTER TABLE, 	Oracle activa (aplica) automáticamente la restricción, a 	menos que se cree específicamente con un estado 	desactivado con la cláusula DISABLE</a:t>
            </a:r>
            <a:endParaRPr/>
          </a:p>
        </p:txBody>
      </p:sp>
      <p:grpSp>
        <p:nvGrpSpPr>
          <p:cNvPr id="213" name="Google Shape;213;p28"/>
          <p:cNvGrpSpPr/>
          <p:nvPr/>
        </p:nvGrpSpPr>
        <p:grpSpPr>
          <a:xfrm>
            <a:off x="5053584" y="4006596"/>
            <a:ext cx="2909315" cy="1969007"/>
            <a:chOff x="5053584" y="4006596"/>
            <a:chExt cx="2909315" cy="1969007"/>
          </a:xfrm>
        </p:grpSpPr>
        <p:pic>
          <p:nvPicPr>
            <p:cNvPr id="214" name="Google Shape;214;p28"/>
            <p:cNvPicPr preferRelativeResize="0"/>
            <p:nvPr/>
          </p:nvPicPr>
          <p:blipFill rotWithShape="1">
            <a:blip r:embed="rId3">
              <a:alphaModFix/>
            </a:blip>
            <a:srcRect b="0" l="0" r="0" t="0"/>
            <a:stretch/>
          </p:blipFill>
          <p:spPr>
            <a:xfrm>
              <a:off x="5053584" y="5385816"/>
              <a:ext cx="2909315" cy="589787"/>
            </a:xfrm>
            <a:prstGeom prst="rect">
              <a:avLst/>
            </a:prstGeom>
            <a:noFill/>
            <a:ln>
              <a:noFill/>
            </a:ln>
          </p:spPr>
        </p:pic>
        <p:pic>
          <p:nvPicPr>
            <p:cNvPr id="215" name="Google Shape;215;p28"/>
            <p:cNvPicPr preferRelativeResize="0"/>
            <p:nvPr/>
          </p:nvPicPr>
          <p:blipFill rotWithShape="1">
            <a:blip r:embed="rId4">
              <a:alphaModFix/>
            </a:blip>
            <a:srcRect b="0" l="0" r="0" t="0"/>
            <a:stretch/>
          </p:blipFill>
          <p:spPr>
            <a:xfrm>
              <a:off x="5820155" y="4006596"/>
              <a:ext cx="2065019" cy="1891283"/>
            </a:xfrm>
            <a:prstGeom prst="rect">
              <a:avLst/>
            </a:prstGeom>
            <a:noFill/>
            <a:ln>
              <a:noFill/>
            </a:ln>
          </p:spPr>
        </p:pic>
      </p:grpSp>
      <p:sp>
        <p:nvSpPr>
          <p:cNvPr id="216" name="Google Shape;216;p28"/>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217" name="Google Shape;217;p2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18" name="Google Shape;218;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Desactivación de Restricciones</a:t>
            </a:r>
            <a:endParaRPr/>
          </a:p>
        </p:txBody>
      </p:sp>
      <p:sp>
        <p:nvSpPr>
          <p:cNvPr id="224" name="Google Shape;224;p29"/>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225" name="Google Shape;225;p2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6" name="Google Shape;226;p2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7" name="Google Shape;227;p29"/>
          <p:cNvSpPr txBox="1"/>
          <p:nvPr>
            <p:ph idx="1" type="body"/>
          </p:nvPr>
        </p:nvSpPr>
        <p:spPr>
          <a:xfrm>
            <a:off x="483552" y="1381889"/>
            <a:ext cx="8086200" cy="401070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a:t>Puede desactivar una restricción sin borrarla o volver a 	crearla mediante DISABLE de la opción ALTER TABLE</a:t>
            </a:r>
            <a:endParaRPr/>
          </a:p>
          <a:p>
            <a:pPr indent="-177800" lvl="0" marL="182880" marR="121285" rtl="0" algn="l">
              <a:lnSpc>
                <a:spcPct val="108214"/>
              </a:lnSpc>
              <a:spcBef>
                <a:spcPts val="795"/>
              </a:spcBef>
              <a:spcAft>
                <a:spcPts val="0"/>
              </a:spcAft>
              <a:buClr>
                <a:srgbClr val="D1350F"/>
              </a:buClr>
              <a:buSzPts val="2800"/>
              <a:buFont typeface="Arial"/>
              <a:buChar char="•"/>
            </a:pPr>
            <a:r>
              <a:rPr lang="en-US"/>
              <a:t>DISABLE permite datos entrantes, tanto si se ajustan a 	la restricción como si no</a:t>
            </a:r>
            <a:endParaRPr/>
          </a:p>
          <a:p>
            <a:pPr indent="-177800" lvl="0" marL="182880" marR="7620" rtl="0" algn="l">
              <a:lnSpc>
                <a:spcPct val="108214"/>
              </a:lnSpc>
              <a:spcBef>
                <a:spcPts val="790"/>
              </a:spcBef>
              <a:spcAft>
                <a:spcPts val="0"/>
              </a:spcAft>
              <a:buClr>
                <a:srgbClr val="D1350F"/>
              </a:buClr>
              <a:buSzPts val="2800"/>
              <a:buFont typeface="Arial"/>
              <a:buChar char="•"/>
            </a:pPr>
            <a:r>
              <a:rPr lang="en-US"/>
              <a:t>Esta función permite agregar datos una tabla 	secundaria sin tener los valores correspondientes en la 	tabla principal</a:t>
            </a:r>
            <a:endParaRPr/>
          </a:p>
          <a:p>
            <a:pPr indent="-177800" lvl="0" marL="183515" rtl="0" algn="l">
              <a:lnSpc>
                <a:spcPct val="100000"/>
              </a:lnSpc>
              <a:spcBef>
                <a:spcPts val="400"/>
              </a:spcBef>
              <a:spcAft>
                <a:spcPts val="1200"/>
              </a:spcAft>
              <a:buClr>
                <a:srgbClr val="D1350F"/>
              </a:buClr>
              <a:buSzPts val="2800"/>
              <a:buFont typeface="Arial"/>
              <a:buChar char="•"/>
            </a:pPr>
            <a:r>
              <a:rPr lang="en-US"/>
              <a:t>DISABLE simplemente desactiva la restricción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0"/>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la Cláusula DISABLE</a:t>
            </a:r>
            <a:endParaRPr/>
          </a:p>
        </p:txBody>
      </p:sp>
      <p:sp>
        <p:nvSpPr>
          <p:cNvPr id="233" name="Google Shape;233;p30"/>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234" name="Google Shape;234;p3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5" name="Google Shape;235;p3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6" name="Google Shape;236;p30"/>
          <p:cNvSpPr txBox="1"/>
          <p:nvPr/>
        </p:nvSpPr>
        <p:spPr>
          <a:xfrm>
            <a:off x="483552" y="1415417"/>
            <a:ext cx="8105140"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utilizar la cláusula DISABLE tanto en la sentencia 	ALTER TABLE como en la sentencia CREATE TABLE</a:t>
            </a:r>
            <a:endParaRPr sz="2800">
              <a:latin typeface="Calibri"/>
              <a:ea typeface="Calibri"/>
              <a:cs typeface="Calibri"/>
              <a:sym typeface="Calibri"/>
            </a:endParaRPr>
          </a:p>
        </p:txBody>
      </p:sp>
      <p:sp>
        <p:nvSpPr>
          <p:cNvPr id="237" name="Google Shape;237;p30"/>
          <p:cNvSpPr txBox="1"/>
          <p:nvPr/>
        </p:nvSpPr>
        <p:spPr>
          <a:xfrm>
            <a:off x="483552" y="4228721"/>
            <a:ext cx="8171815"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desactivación de una restricción UNIQUE o PRIMARY 	KEY elimina el índice único</a:t>
            </a:r>
            <a:endParaRPr sz="2800">
              <a:latin typeface="Calibri"/>
              <a:ea typeface="Calibri"/>
              <a:cs typeface="Calibri"/>
              <a:sym typeface="Calibri"/>
            </a:endParaRPr>
          </a:p>
        </p:txBody>
      </p:sp>
      <p:sp>
        <p:nvSpPr>
          <p:cNvPr id="238" name="Google Shape;238;p30"/>
          <p:cNvSpPr txBox="1"/>
          <p:nvPr/>
        </p:nvSpPr>
        <p:spPr>
          <a:xfrm>
            <a:off x="405384" y="2293620"/>
            <a:ext cx="8345805" cy="1991995"/>
          </a:xfrm>
          <a:prstGeom prst="rect">
            <a:avLst/>
          </a:prstGeom>
          <a:solidFill>
            <a:srgbClr val="9DBDC4">
              <a:alpha val="49804"/>
            </a:srgbClr>
          </a:solidFill>
          <a:ln>
            <a:noFill/>
          </a:ln>
        </p:spPr>
        <p:txBody>
          <a:bodyPr anchorCtr="0" anchor="t" bIns="0" lIns="0" spcFirstLastPara="1" rIns="0" wrap="square" tIns="82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TABLE copy_employees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 employee_id NUMBER(6,0) PRIMARY KEY DISABLE,</a:t>
            </a:r>
            <a:endParaRPr sz="1800">
              <a:latin typeface="Courier New"/>
              <a:ea typeface="Courier New"/>
              <a:cs typeface="Courier New"/>
              <a:sym typeface="Courier New"/>
            </a:endParaRPr>
          </a:p>
          <a:p>
            <a:pPr indent="0" lvl="0" marL="4089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a:p>
            <a:pPr indent="0" lvl="0" marL="4089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a:p>
            <a:pPr indent="0" lvl="0" marL="0" rtl="0" algn="l">
              <a:lnSpc>
                <a:spcPct val="100000"/>
              </a:lnSpc>
              <a:spcBef>
                <a:spcPts val="120"/>
              </a:spcBef>
              <a:spcAft>
                <a:spcPts val="0"/>
              </a:spcAft>
              <a:buNone/>
            </a:pPr>
            <a:r>
              <a:t/>
            </a:r>
            <a:endParaRPr sz="1800">
              <a:latin typeface="Courier New"/>
              <a:ea typeface="Courier New"/>
              <a:cs typeface="Courier New"/>
              <a:sym typeface="Courier New"/>
            </a:endParaRPr>
          </a:p>
          <a:p>
            <a:pPr indent="0" lvl="0" marL="0" rtl="0" algn="l">
              <a:lnSpc>
                <a:spcPct val="100000"/>
              </a:lnSpc>
              <a:spcBef>
                <a:spcPts val="5"/>
              </a:spcBef>
              <a:spcAft>
                <a:spcPts val="0"/>
              </a:spcAft>
              <a:buNone/>
            </a:pPr>
            <a:r>
              <a:rPr b="1" lang="en-US" sz="1800">
                <a:solidFill>
                  <a:srgbClr val="4E3629"/>
                </a:solidFill>
                <a:latin typeface="Courier New"/>
                <a:ea typeface="Courier New"/>
                <a:cs typeface="Courier New"/>
                <a:sym typeface="Courier New"/>
              </a:rPr>
              <a:t>ALTER TABLE copy_employees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DISABLE CONSTRAINT c_emp_dept_id_fk;</a:t>
            </a:r>
            <a:endParaRPr sz="1800">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1"/>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la Cláusula CASCADE</a:t>
            </a:r>
            <a:endParaRPr/>
          </a:p>
        </p:txBody>
      </p:sp>
      <p:sp>
        <p:nvSpPr>
          <p:cNvPr id="244" name="Google Shape;244;p31"/>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245" name="Google Shape;245;p3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6" name="Google Shape;246;p3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7" name="Google Shape;247;p31"/>
          <p:cNvSpPr txBox="1"/>
          <p:nvPr/>
        </p:nvSpPr>
        <p:spPr>
          <a:xfrm>
            <a:off x="483552" y="1415417"/>
            <a:ext cx="7828915" cy="20904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cláusula CASCADE desactiva las restricciones de 	integridad dependientes. Si la restricción se activa 	posteriormente, las restricciones dependientes no se 	activan automáticamente</a:t>
            </a:r>
            <a:endParaRPr sz="2800">
              <a:latin typeface="Calibri"/>
              <a:ea typeface="Calibri"/>
              <a:cs typeface="Calibri"/>
              <a:sym typeface="Calibri"/>
            </a:endParaRPr>
          </a:p>
          <a:p>
            <a:pPr indent="-177800" lvl="0" marL="183515" rtl="0" algn="l">
              <a:lnSpc>
                <a:spcPct val="100000"/>
              </a:lnSpc>
              <a:spcBef>
                <a:spcPts val="4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Sintaxis y ejemplo:</a:t>
            </a:r>
            <a:endParaRPr sz="2800">
              <a:latin typeface="Calibri"/>
              <a:ea typeface="Calibri"/>
              <a:cs typeface="Calibri"/>
              <a:sym typeface="Calibri"/>
            </a:endParaRPr>
          </a:p>
        </p:txBody>
      </p:sp>
      <p:sp>
        <p:nvSpPr>
          <p:cNvPr id="248" name="Google Shape;248;p31"/>
          <p:cNvSpPr txBox="1"/>
          <p:nvPr/>
        </p:nvSpPr>
        <p:spPr>
          <a:xfrm>
            <a:off x="393191" y="3723132"/>
            <a:ext cx="8345805" cy="57467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3888"/>
              </a:lnSpc>
              <a:spcBef>
                <a:spcPts val="0"/>
              </a:spcBef>
              <a:spcAft>
                <a:spcPts val="0"/>
              </a:spcAft>
              <a:buNone/>
            </a:pPr>
            <a:r>
              <a:rPr b="1" lang="en-US" sz="1800">
                <a:solidFill>
                  <a:srgbClr val="4E3629"/>
                </a:solidFill>
                <a:latin typeface="Courier New"/>
                <a:ea typeface="Courier New"/>
                <a:cs typeface="Courier New"/>
                <a:sym typeface="Courier New"/>
              </a:rPr>
              <a:t>ALTER TABLE table_name</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DISABLE CONSTRAINT constraint_name [CASCADE];</a:t>
            </a:r>
            <a:endParaRPr sz="1800">
              <a:latin typeface="Courier New"/>
              <a:ea typeface="Courier New"/>
              <a:cs typeface="Courier New"/>
              <a:sym typeface="Courier New"/>
            </a:endParaRPr>
          </a:p>
        </p:txBody>
      </p:sp>
      <p:sp>
        <p:nvSpPr>
          <p:cNvPr id="249" name="Google Shape;249;p31"/>
          <p:cNvSpPr txBox="1"/>
          <p:nvPr/>
        </p:nvSpPr>
        <p:spPr>
          <a:xfrm>
            <a:off x="393191" y="4500371"/>
            <a:ext cx="8345805" cy="57467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3277"/>
              </a:lnSpc>
              <a:spcBef>
                <a:spcPts val="0"/>
              </a:spcBef>
              <a:spcAft>
                <a:spcPts val="0"/>
              </a:spcAft>
              <a:buNone/>
            </a:pPr>
            <a:r>
              <a:rPr b="1" lang="en-US" sz="1800">
                <a:solidFill>
                  <a:srgbClr val="4E3629"/>
                </a:solidFill>
                <a:latin typeface="Courier New"/>
                <a:ea typeface="Courier New"/>
                <a:cs typeface="Courier New"/>
                <a:sym typeface="Courier New"/>
              </a:rPr>
              <a:t>ALTER TABLE copy_departments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DISABLE CONSTRAINT c_dept_dept_id_pk CASCADE;;</a:t>
            </a:r>
            <a:endParaRPr sz="1800">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2"/>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Activación de Restricciones</a:t>
            </a:r>
            <a:endParaRPr/>
          </a:p>
        </p:txBody>
      </p:sp>
      <p:sp>
        <p:nvSpPr>
          <p:cNvPr id="255" name="Google Shape;255;p32"/>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256" name="Google Shape;256;p3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57" name="Google Shape;257;p3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8" name="Google Shape;258;p32"/>
          <p:cNvSpPr txBox="1"/>
          <p:nvPr/>
        </p:nvSpPr>
        <p:spPr>
          <a:xfrm>
            <a:off x="483552" y="1381889"/>
            <a:ext cx="7991475" cy="2361565"/>
          </a:xfrm>
          <a:prstGeom prst="rect">
            <a:avLst/>
          </a:prstGeom>
          <a:noFill/>
          <a:ln>
            <a:noFill/>
          </a:ln>
        </p:spPr>
        <p:txBody>
          <a:bodyPr anchorCtr="0" anchor="t" bIns="0" lIns="0" spcFirstLastPara="1" rIns="0" wrap="square" tIns="97150">
            <a:spAutoFit/>
          </a:bodyPr>
          <a:lstStyle/>
          <a:p>
            <a:pPr indent="-177800" lvl="0" marL="182880" marR="5080" rtl="0" algn="just">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activar una restricción de integridad actualmente 	desactivada, utilice la cláusula ENABLE en la sentencia 	ALTER TABLE</a:t>
            </a:r>
            <a:endParaRPr sz="2800">
              <a:latin typeface="Calibri"/>
              <a:ea typeface="Calibri"/>
              <a:cs typeface="Calibri"/>
              <a:sym typeface="Calibri"/>
            </a:endParaRPr>
          </a:p>
          <a:p>
            <a:pPr indent="-177800" lvl="0" marL="182880" marR="532765"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ENABLE garantiza que todos los datos entrantes se 	ajustan a la restricción</a:t>
            </a:r>
            <a:endParaRPr sz="2800">
              <a:latin typeface="Calibri"/>
              <a:ea typeface="Calibri"/>
              <a:cs typeface="Calibri"/>
              <a:sym typeface="Calibri"/>
            </a:endParaRPr>
          </a:p>
          <a:p>
            <a:pPr indent="-177800" lvl="0" marL="183515" rtl="0" algn="l">
              <a:lnSpc>
                <a:spcPct val="100000"/>
              </a:lnSpc>
              <a:spcBef>
                <a:spcPts val="12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Sintaxis y ejemplo:</a:t>
            </a:r>
            <a:endParaRPr sz="2800">
              <a:latin typeface="Calibri"/>
              <a:ea typeface="Calibri"/>
              <a:cs typeface="Calibri"/>
              <a:sym typeface="Calibri"/>
            </a:endParaRPr>
          </a:p>
        </p:txBody>
      </p:sp>
      <p:sp>
        <p:nvSpPr>
          <p:cNvPr id="259" name="Google Shape;259;p32"/>
          <p:cNvSpPr txBox="1"/>
          <p:nvPr/>
        </p:nvSpPr>
        <p:spPr>
          <a:xfrm>
            <a:off x="483552" y="5063873"/>
            <a:ext cx="8039734" cy="793115"/>
          </a:xfrm>
          <a:prstGeom prst="rect">
            <a:avLst/>
          </a:prstGeom>
          <a:noFill/>
          <a:ln>
            <a:noFill/>
          </a:ln>
        </p:spPr>
        <p:txBody>
          <a:bodyPr anchorCtr="0" anchor="t" bIns="0" lIns="0" spcFirstLastPara="1" rIns="0" wrap="square" tIns="97150">
            <a:spAutoFit/>
          </a:bodyPr>
          <a:lstStyle/>
          <a:p>
            <a:pPr indent="-177800" lvl="0" marL="182880"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utilizar la cláusula ENABLE tanto en la sentencia 	CREATE TABLE como en la sentencia ALTER TABLE</a:t>
            </a:r>
            <a:endParaRPr sz="2800">
              <a:latin typeface="Calibri"/>
              <a:ea typeface="Calibri"/>
              <a:cs typeface="Calibri"/>
              <a:sym typeface="Calibri"/>
            </a:endParaRPr>
          </a:p>
        </p:txBody>
      </p:sp>
      <p:sp>
        <p:nvSpPr>
          <p:cNvPr id="260" name="Google Shape;260;p32"/>
          <p:cNvSpPr txBox="1"/>
          <p:nvPr/>
        </p:nvSpPr>
        <p:spPr>
          <a:xfrm>
            <a:off x="417576" y="3802379"/>
            <a:ext cx="8345805" cy="57467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3888"/>
              </a:lnSpc>
              <a:spcBef>
                <a:spcPts val="0"/>
              </a:spcBef>
              <a:spcAft>
                <a:spcPts val="0"/>
              </a:spcAft>
              <a:buNone/>
            </a:pPr>
            <a:r>
              <a:rPr b="1" lang="en-US" sz="1800">
                <a:solidFill>
                  <a:srgbClr val="4E3629"/>
                </a:solidFill>
                <a:latin typeface="Courier New"/>
                <a:ea typeface="Courier New"/>
                <a:cs typeface="Courier New"/>
                <a:sym typeface="Courier New"/>
              </a:rPr>
              <a:t>ALTER TABLE table_name</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ENABLE CONSTRAINT constraint_name;</a:t>
            </a:r>
            <a:endParaRPr sz="1800">
              <a:latin typeface="Courier New"/>
              <a:ea typeface="Courier New"/>
              <a:cs typeface="Courier New"/>
              <a:sym typeface="Courier New"/>
            </a:endParaRPr>
          </a:p>
        </p:txBody>
      </p:sp>
      <p:sp>
        <p:nvSpPr>
          <p:cNvPr id="261" name="Google Shape;261;p32"/>
          <p:cNvSpPr txBox="1"/>
          <p:nvPr/>
        </p:nvSpPr>
        <p:spPr>
          <a:xfrm>
            <a:off x="405384" y="4488179"/>
            <a:ext cx="8347075" cy="57467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3611"/>
              </a:lnSpc>
              <a:spcBef>
                <a:spcPts val="0"/>
              </a:spcBef>
              <a:spcAft>
                <a:spcPts val="0"/>
              </a:spcAft>
              <a:buNone/>
            </a:pPr>
            <a:r>
              <a:rPr b="1" lang="en-US" sz="1800">
                <a:solidFill>
                  <a:srgbClr val="4E3629"/>
                </a:solidFill>
                <a:latin typeface="Courier New"/>
                <a:ea typeface="Courier New"/>
                <a:cs typeface="Courier New"/>
                <a:sym typeface="Courier New"/>
              </a:rPr>
              <a:t>ALTER TABLE copy_departments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ENABLE CONSTRAINT c_dept_dept_id_pk;</a:t>
            </a:r>
            <a:endParaRPr sz="1800">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3"/>
          <p:cNvSpPr txBox="1"/>
          <p:nvPr>
            <p:ph type="title"/>
          </p:nvPr>
        </p:nvSpPr>
        <p:spPr>
          <a:xfrm>
            <a:off x="392112" y="748031"/>
            <a:ext cx="8359800" cy="523800"/>
          </a:xfrm>
          <a:prstGeom prst="rect">
            <a:avLst/>
          </a:prstGeom>
          <a:noFill/>
          <a:ln>
            <a:noFill/>
          </a:ln>
        </p:spPr>
        <p:txBody>
          <a:bodyPr anchorCtr="0" anchor="t" bIns="0" lIns="0" spcFirstLastPara="1" rIns="0" wrap="square" tIns="61450">
            <a:spAutoFit/>
          </a:bodyPr>
          <a:lstStyle/>
          <a:p>
            <a:pPr indent="0" lvl="0" marL="12700" rtl="0" algn="l">
              <a:lnSpc>
                <a:spcPct val="100000"/>
              </a:lnSpc>
              <a:spcBef>
                <a:spcPts val="0"/>
              </a:spcBef>
              <a:spcAft>
                <a:spcPts val="0"/>
              </a:spcAft>
              <a:buNone/>
            </a:pPr>
            <a:r>
              <a:rPr lang="en-US" sz="3000"/>
              <a:t>Consideraciones sobre la Activación de Restricciones</a:t>
            </a:r>
            <a:endParaRPr sz="3000"/>
          </a:p>
        </p:txBody>
      </p:sp>
      <p:sp>
        <p:nvSpPr>
          <p:cNvPr id="267" name="Google Shape;267;p33"/>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268" name="Google Shape;268;p3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69" name="Google Shape;269;p3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0" name="Google Shape;270;p33"/>
          <p:cNvSpPr txBox="1"/>
          <p:nvPr/>
        </p:nvSpPr>
        <p:spPr>
          <a:xfrm>
            <a:off x="483552" y="1381889"/>
            <a:ext cx="8154034" cy="4272280"/>
          </a:xfrm>
          <a:prstGeom prst="rect">
            <a:avLst/>
          </a:prstGeom>
          <a:noFill/>
          <a:ln>
            <a:noFill/>
          </a:ln>
        </p:spPr>
        <p:txBody>
          <a:bodyPr anchorCtr="0" anchor="t" bIns="0" lIns="0" spcFirstLastPara="1" rIns="0" wrap="square" tIns="97150">
            <a:spAutoFit/>
          </a:bodyPr>
          <a:lstStyle/>
          <a:p>
            <a:pPr indent="-177800" lvl="0" marL="182880" marR="208279"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activa una restricción, se aplica a todos los datos de 	la tabla</a:t>
            </a:r>
            <a:endParaRPr sz="2800">
              <a:latin typeface="Calibri"/>
              <a:ea typeface="Calibri"/>
              <a:cs typeface="Calibri"/>
              <a:sym typeface="Calibri"/>
            </a:endParaRPr>
          </a:p>
          <a:p>
            <a:pPr indent="-177800" lvl="0" marL="183515" rtl="0" algn="l">
              <a:lnSpc>
                <a:spcPct val="100000"/>
              </a:lnSpc>
              <a:spcBef>
                <a:spcPts val="13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Todos los datos de la tabla deben cumplir la restricción</a:t>
            </a:r>
            <a:endParaRPr sz="2800">
              <a:latin typeface="Calibri"/>
              <a:ea typeface="Calibri"/>
              <a:cs typeface="Calibri"/>
              <a:sym typeface="Calibri"/>
            </a:endParaRPr>
          </a:p>
          <a:p>
            <a:pPr indent="-177800" lvl="0" marL="182880" marR="5080" rtl="0" algn="l">
              <a:lnSpc>
                <a:spcPct val="80000"/>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activa una CLAVE UNIQUE o una restricción PRIMARY 	KEY, se crea un índice UNIQUE o PRIMARY KEY 	automáticamente</a:t>
            </a:r>
            <a:endParaRPr sz="2800">
              <a:latin typeface="Calibri"/>
              <a:ea typeface="Calibri"/>
              <a:cs typeface="Calibri"/>
              <a:sym typeface="Calibri"/>
            </a:endParaRPr>
          </a:p>
          <a:p>
            <a:pPr indent="-177800" lvl="0" marL="182880" marR="203835"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activación de una restricción PRIMARY KEY 	desactivada con la opción CASCADE no activa ninguna 	clave ajena dependiente de la clave primaria</a:t>
            </a:r>
            <a:endParaRPr sz="2800">
              <a:latin typeface="Calibri"/>
              <a:ea typeface="Calibri"/>
              <a:cs typeface="Calibri"/>
              <a:sym typeface="Calibri"/>
            </a:endParaRPr>
          </a:p>
          <a:p>
            <a:pPr indent="-177800" lvl="0" marL="182880" marR="1320800"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ENABLE vuelve a activar la restricción después 	de desactivarla</a:t>
            </a:r>
            <a:endParaRPr sz="280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4"/>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Restricciones en Cascada</a:t>
            </a:r>
            <a:endParaRPr/>
          </a:p>
        </p:txBody>
      </p:sp>
      <p:sp>
        <p:nvSpPr>
          <p:cNvPr id="276" name="Google Shape;276;p34"/>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277" name="Google Shape;277;p3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78" name="Google Shape;278;p3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9" name="Google Shape;279;p34"/>
          <p:cNvSpPr txBox="1"/>
          <p:nvPr>
            <p:ph idx="1" type="body"/>
          </p:nvPr>
        </p:nvSpPr>
        <p:spPr>
          <a:xfrm>
            <a:off x="483552" y="1381889"/>
            <a:ext cx="8086200" cy="4889400"/>
          </a:xfrm>
          <a:prstGeom prst="rect">
            <a:avLst/>
          </a:prstGeom>
          <a:noFill/>
          <a:ln>
            <a:noFill/>
          </a:ln>
        </p:spPr>
        <p:txBody>
          <a:bodyPr anchorCtr="0" anchor="t" bIns="0" lIns="0" spcFirstLastPara="1" rIns="0" wrap="square" tIns="97150">
            <a:spAutoFit/>
          </a:bodyPr>
          <a:lstStyle/>
          <a:p>
            <a:pPr indent="-177800" lvl="0" marL="182880" marR="145415" rtl="0" algn="l">
              <a:lnSpc>
                <a:spcPct val="80000"/>
              </a:lnSpc>
              <a:spcBef>
                <a:spcPts val="0"/>
              </a:spcBef>
              <a:spcAft>
                <a:spcPts val="0"/>
              </a:spcAft>
              <a:buClr>
                <a:srgbClr val="D1350F"/>
              </a:buClr>
              <a:buSzPts val="2800"/>
              <a:buFont typeface="Arial"/>
              <a:buChar char="•"/>
            </a:pPr>
            <a:r>
              <a:rPr lang="en-US"/>
              <a:t>Las restricciones de integridad referencial en cascada 	definen las acciones que lleva a cabo el servidor de 	base de datos cuando un usuario intenta suprimir o 	actualizar una clave a la que apuntan las claves ajenas 	existentes</a:t>
            </a:r>
            <a:endParaRPr/>
          </a:p>
          <a:p>
            <a:pPr indent="-177800" lvl="0" marL="182880" marR="5080" rtl="0" algn="l">
              <a:lnSpc>
                <a:spcPct val="80000"/>
              </a:lnSpc>
              <a:spcBef>
                <a:spcPts val="810"/>
              </a:spcBef>
              <a:spcAft>
                <a:spcPts val="0"/>
              </a:spcAft>
              <a:buClr>
                <a:srgbClr val="D1350F"/>
              </a:buClr>
              <a:buSzPts val="2800"/>
              <a:buFont typeface="Arial"/>
              <a:buChar char="•"/>
            </a:pPr>
            <a:r>
              <a:rPr lang="en-US"/>
              <a:t>La cláusula CASCADE CONSTRAINTS se utiliza junto con 	la cláusula DROP COLUMN</a:t>
            </a:r>
            <a:endParaRPr/>
          </a:p>
          <a:p>
            <a:pPr indent="-177800" lvl="0" marL="182880" marR="227965" rtl="0" algn="l">
              <a:lnSpc>
                <a:spcPct val="80000"/>
              </a:lnSpc>
              <a:spcBef>
                <a:spcPts val="795"/>
              </a:spcBef>
              <a:spcAft>
                <a:spcPts val="0"/>
              </a:spcAft>
              <a:buClr>
                <a:srgbClr val="D1350F"/>
              </a:buClr>
              <a:buSzPts val="2800"/>
              <a:buFont typeface="Arial"/>
              <a:buChar char="•"/>
            </a:pPr>
            <a:r>
              <a:rPr lang="en-US"/>
              <a:t>Borra todas las restricciones de integridad referencial 	que hacen referencia a las claves primarias y únicas 	definidas en las columnas borradas</a:t>
            </a:r>
            <a:endParaRPr/>
          </a:p>
          <a:p>
            <a:pPr indent="-177800" lvl="0" marL="182880" marR="1193165" rtl="0" algn="l">
              <a:lnSpc>
                <a:spcPct val="80000"/>
              </a:lnSpc>
              <a:spcBef>
                <a:spcPts val="805"/>
              </a:spcBef>
              <a:spcAft>
                <a:spcPts val="1200"/>
              </a:spcAft>
              <a:buClr>
                <a:srgbClr val="D1350F"/>
              </a:buClr>
              <a:buSzPts val="2800"/>
              <a:buFont typeface="Arial"/>
              <a:buChar char="•"/>
            </a:pPr>
            <a:r>
              <a:rPr lang="en-US"/>
              <a:t>Borra también todas las restricciones de varias 	columnas definidas en las columnas borradas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5"/>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Restricciones en Cascada</a:t>
            </a:r>
            <a:endParaRPr/>
          </a:p>
        </p:txBody>
      </p:sp>
      <p:sp>
        <p:nvSpPr>
          <p:cNvPr id="285" name="Google Shape;285;p35"/>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286" name="Google Shape;286;p3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87" name="Google Shape;287;p3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88" name="Google Shape;288;p35"/>
          <p:cNvSpPr txBox="1"/>
          <p:nvPr/>
        </p:nvSpPr>
        <p:spPr>
          <a:xfrm>
            <a:off x="483552" y="1415417"/>
            <a:ext cx="7815580" cy="2474595"/>
          </a:xfrm>
          <a:prstGeom prst="rect">
            <a:avLst/>
          </a:prstGeom>
          <a:noFill/>
          <a:ln>
            <a:noFill/>
          </a:ln>
        </p:spPr>
        <p:txBody>
          <a:bodyPr anchorCtr="0" anchor="t" bIns="0" lIns="0" spcFirstLastPara="1" rIns="0" wrap="square" tIns="59675">
            <a:spAutoFit/>
          </a:bodyPr>
          <a:lstStyle/>
          <a:p>
            <a:pPr indent="-177800" lvl="0" marL="182880" marR="8445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una sentencia ALTER TABLE no incluye la opción 	CASCADE CONSTRAINTS, cualquier intento de borrar 	una restricción de clave primaria o varias columnas 	fallará</a:t>
            </a:r>
            <a:endParaRPr sz="2800">
              <a:latin typeface="Calibri"/>
              <a:ea typeface="Calibri"/>
              <a:cs typeface="Calibri"/>
              <a:sym typeface="Calibri"/>
            </a:endParaRPr>
          </a:p>
          <a:p>
            <a:pPr indent="-177800" lvl="0" marL="182880" marR="508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Recuerde que no puede suprimir un valor principal si 	existen valores secundarios en otras tablas</a:t>
            </a:r>
            <a:endParaRPr sz="2800">
              <a:latin typeface="Calibri"/>
              <a:ea typeface="Calibri"/>
              <a:cs typeface="Calibri"/>
              <a:sym typeface="Calibri"/>
            </a:endParaRPr>
          </a:p>
        </p:txBody>
      </p:sp>
      <p:sp>
        <p:nvSpPr>
          <p:cNvPr id="289" name="Google Shape;289;p35"/>
          <p:cNvSpPr txBox="1"/>
          <p:nvPr/>
        </p:nvSpPr>
        <p:spPr>
          <a:xfrm>
            <a:off x="405384" y="4072128"/>
            <a:ext cx="8345805" cy="57467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3611"/>
              </a:lnSpc>
              <a:spcBef>
                <a:spcPts val="0"/>
              </a:spcBef>
              <a:spcAft>
                <a:spcPts val="0"/>
              </a:spcAft>
              <a:buNone/>
            </a:pPr>
            <a:r>
              <a:rPr b="1" lang="en-US" sz="1800">
                <a:solidFill>
                  <a:srgbClr val="4E3629"/>
                </a:solidFill>
                <a:latin typeface="Courier New"/>
                <a:ea typeface="Courier New"/>
                <a:cs typeface="Courier New"/>
                <a:sym typeface="Courier New"/>
              </a:rPr>
              <a:t>ALTER TABLE table_name</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DROP(column name(s)) CASCADE CONSTRAINTS;</a:t>
            </a:r>
            <a:endParaRPr sz="1800">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6"/>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Cuando No Es Necesario CASCADE</a:t>
            </a:r>
            <a:endParaRPr/>
          </a:p>
        </p:txBody>
      </p:sp>
      <p:sp>
        <p:nvSpPr>
          <p:cNvPr id="295" name="Google Shape;295;p36"/>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296" name="Google Shape;296;p3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97" name="Google Shape;297;p3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98" name="Google Shape;298;p36"/>
          <p:cNvSpPr txBox="1"/>
          <p:nvPr/>
        </p:nvSpPr>
        <p:spPr>
          <a:xfrm>
            <a:off x="483552" y="1419989"/>
            <a:ext cx="8134984" cy="2307590"/>
          </a:xfrm>
          <a:prstGeom prst="rect">
            <a:avLst/>
          </a:prstGeom>
          <a:noFill/>
          <a:ln>
            <a:noFill/>
          </a:ln>
        </p:spPr>
        <p:txBody>
          <a:bodyPr anchorCtr="0" anchor="t" bIns="0" lIns="0" spcFirstLastPara="1" rIns="0" wrap="square" tIns="57775">
            <a:spAutoFit/>
          </a:bodyPr>
          <a:lstStyle/>
          <a:p>
            <a:pPr indent="-172720" lvl="0" marL="184785" marR="137160" rtl="0" algn="l">
              <a:lnSpc>
                <a:spcPct val="108076"/>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Si las columnas a las que hacen referencia las restricciones definidas en las columnas borradas también se borran, CASCADE CONSTRAINTS no es necesario</a:t>
            </a:r>
            <a:endParaRPr sz="2600">
              <a:latin typeface="Calibri"/>
              <a:ea typeface="Calibri"/>
              <a:cs typeface="Calibri"/>
              <a:sym typeface="Calibri"/>
            </a:endParaRPr>
          </a:p>
          <a:p>
            <a:pPr indent="-172720" lvl="0" marL="184785" marR="5080" rtl="0" algn="l">
              <a:lnSpc>
                <a:spcPct val="108076"/>
              </a:lnSpc>
              <a:spcBef>
                <a:spcPts val="79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Por ejemplo, si ninguna restricción referencial de otras tablas hace referencia a la columna PK, es válido ejecutar la siguiente sentencia sin la cláusula CASCADE CONSTRAINTS:</a:t>
            </a:r>
            <a:endParaRPr sz="2600">
              <a:latin typeface="Calibri"/>
              <a:ea typeface="Calibri"/>
              <a:cs typeface="Calibri"/>
              <a:sym typeface="Calibri"/>
            </a:endParaRPr>
          </a:p>
        </p:txBody>
      </p:sp>
      <p:sp>
        <p:nvSpPr>
          <p:cNvPr id="299" name="Google Shape;299;p36"/>
          <p:cNvSpPr txBox="1"/>
          <p:nvPr/>
        </p:nvSpPr>
        <p:spPr>
          <a:xfrm>
            <a:off x="483552" y="4679825"/>
            <a:ext cx="8119109" cy="1135380"/>
          </a:xfrm>
          <a:prstGeom prst="rect">
            <a:avLst/>
          </a:prstGeom>
          <a:noFill/>
          <a:ln>
            <a:noFill/>
          </a:ln>
        </p:spPr>
        <p:txBody>
          <a:bodyPr anchorCtr="0" anchor="t" bIns="0" lIns="0" spcFirstLastPara="1" rIns="0" wrap="square" tIns="57775">
            <a:spAutoFit/>
          </a:bodyPr>
          <a:lstStyle/>
          <a:p>
            <a:pPr indent="-172720" lvl="0" marL="184785" marR="5080" rtl="0" algn="l">
              <a:lnSpc>
                <a:spcPct val="108076"/>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Sin embargo, si las columnas de otras tablas o las columnas que quedan en la tabla de destino hacen referencia a las restricciones, se debe especificar CASCADE CONSTRAINTS</a:t>
            </a:r>
            <a:endParaRPr sz="2600">
              <a:latin typeface="Calibri"/>
              <a:ea typeface="Calibri"/>
              <a:cs typeface="Calibri"/>
              <a:sym typeface="Calibri"/>
            </a:endParaRPr>
          </a:p>
        </p:txBody>
      </p:sp>
      <p:sp>
        <p:nvSpPr>
          <p:cNvPr id="300" name="Google Shape;300;p36"/>
          <p:cNvSpPr txBox="1"/>
          <p:nvPr/>
        </p:nvSpPr>
        <p:spPr>
          <a:xfrm>
            <a:off x="405384" y="3945635"/>
            <a:ext cx="8345805" cy="57467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3611"/>
              </a:lnSpc>
              <a:spcBef>
                <a:spcPts val="0"/>
              </a:spcBef>
              <a:spcAft>
                <a:spcPts val="0"/>
              </a:spcAft>
              <a:buNone/>
            </a:pPr>
            <a:r>
              <a:rPr b="1" lang="en-US" sz="1800">
                <a:solidFill>
                  <a:srgbClr val="4E3629"/>
                </a:solidFill>
                <a:latin typeface="Courier New"/>
                <a:ea typeface="Courier New"/>
                <a:cs typeface="Courier New"/>
                <a:sym typeface="Courier New"/>
              </a:rPr>
              <a:t>ALTER TABLE tablename DROP</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(pk_column_name(s));</a:t>
            </a:r>
            <a:endParaRPr sz="1800">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7"/>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Visualización de Restricciones</a:t>
            </a:r>
            <a:endParaRPr/>
          </a:p>
        </p:txBody>
      </p:sp>
      <p:sp>
        <p:nvSpPr>
          <p:cNvPr id="306" name="Google Shape;306;p37"/>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307" name="Google Shape;307;p3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08" name="Google Shape;308;p3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09" name="Google Shape;309;p37"/>
          <p:cNvSpPr txBox="1"/>
          <p:nvPr/>
        </p:nvSpPr>
        <p:spPr>
          <a:xfrm>
            <a:off x="483552" y="1415417"/>
            <a:ext cx="7246620" cy="2576195"/>
          </a:xfrm>
          <a:prstGeom prst="rect">
            <a:avLst/>
          </a:prstGeom>
          <a:noFill/>
          <a:ln>
            <a:noFill/>
          </a:ln>
        </p:spPr>
        <p:txBody>
          <a:bodyPr anchorCtr="0" anchor="t" bIns="0" lIns="0" spcFirstLastPara="1" rIns="0" wrap="square" tIns="59675">
            <a:spAutoFit/>
          </a:bodyPr>
          <a:lstStyle/>
          <a:p>
            <a:pPr indent="-177800" lvl="0" marL="182880" marR="14986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Después de crear una tabla, puede confirmar su 	existencia emitiendo un comando DESCRIBE</a:t>
            </a:r>
            <a:endParaRPr sz="2800">
              <a:latin typeface="Calibri"/>
              <a:ea typeface="Calibri"/>
              <a:cs typeface="Calibri"/>
              <a:sym typeface="Calibri"/>
            </a:endParaRPr>
          </a:p>
          <a:p>
            <a:pPr indent="-177800" lvl="0" marL="182880" marR="7112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única restricción que se puede verificar con el 	comando DESCRIBE es la restricción NOT NULL</a:t>
            </a:r>
            <a:endParaRPr sz="2800">
              <a:latin typeface="Calibri"/>
              <a:ea typeface="Calibri"/>
              <a:cs typeface="Calibri"/>
              <a:sym typeface="Calibri"/>
            </a:endParaRPr>
          </a:p>
          <a:p>
            <a:pPr indent="-177800" lvl="0" marL="182880" marR="508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restricción NOT NULL también aparece en el 	diccionario de datos como una restricción CHECK</a:t>
            </a:r>
            <a:endParaRPr sz="28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8"/>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Visualización de Restricciones</a:t>
            </a:r>
            <a:endParaRPr/>
          </a:p>
        </p:txBody>
      </p:sp>
      <p:sp>
        <p:nvSpPr>
          <p:cNvPr id="315" name="Google Shape;315;p38"/>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316" name="Google Shape;316;p3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17" name="Google Shape;317;p3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18" name="Google Shape;318;p38"/>
          <p:cNvSpPr txBox="1"/>
          <p:nvPr/>
        </p:nvSpPr>
        <p:spPr>
          <a:xfrm>
            <a:off x="483552" y="1415417"/>
            <a:ext cx="7931784"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ver todas las restricciones de la tabla, consulte la 	tabla USER_CONSTRAINTS</a:t>
            </a:r>
            <a:endParaRPr sz="2800">
              <a:latin typeface="Calibri"/>
              <a:ea typeface="Calibri"/>
              <a:cs typeface="Calibri"/>
              <a:sym typeface="Calibri"/>
            </a:endParaRPr>
          </a:p>
        </p:txBody>
      </p:sp>
      <p:graphicFrame>
        <p:nvGraphicFramePr>
          <p:cNvPr id="319" name="Google Shape;319;p38"/>
          <p:cNvGraphicFramePr/>
          <p:nvPr/>
        </p:nvGraphicFramePr>
        <p:xfrm>
          <a:off x="798512" y="3668024"/>
          <a:ext cx="3000000" cy="3000000"/>
        </p:xfrm>
        <a:graphic>
          <a:graphicData uri="http://schemas.openxmlformats.org/drawingml/2006/table">
            <a:tbl>
              <a:tblPr bandRow="1" firstRow="1">
                <a:noFill/>
                <a:tableStyleId>{2543424A-9D3B-4828-9936-9AB315360A54}</a:tableStyleId>
              </a:tblPr>
              <a:tblGrid>
                <a:gridCol w="1852925"/>
                <a:gridCol w="1852925"/>
                <a:gridCol w="1852925"/>
                <a:gridCol w="1852925"/>
              </a:tblGrid>
              <a:tr h="34035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CONSTRAINT_NAME</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TABLE_NAME</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CONSTRAINT_TYPE</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STATUS</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403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COPY_EMP_PK</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COPY_EMPLOYEES</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P</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ENABLED</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40350">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CDEPT_DEPT_ID_FK</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COPY_EMPLOYEES</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R</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ENABLED</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320" name="Google Shape;320;p38"/>
          <p:cNvSpPr txBox="1"/>
          <p:nvPr/>
        </p:nvSpPr>
        <p:spPr>
          <a:xfrm>
            <a:off x="405384" y="2459735"/>
            <a:ext cx="8345805" cy="957580"/>
          </a:xfrm>
          <a:prstGeom prst="rect">
            <a:avLst/>
          </a:prstGeom>
          <a:solidFill>
            <a:srgbClr val="9DBDC4">
              <a:alpha val="49804"/>
            </a:srgbClr>
          </a:solidFill>
          <a:ln>
            <a:noFill/>
          </a:ln>
        </p:spPr>
        <p:txBody>
          <a:bodyPr anchorCtr="0" anchor="t" bIns="0" lIns="0" spcFirstLastPara="1" rIns="0" wrap="square" tIns="39350">
            <a:spAutoFit/>
          </a:bodyPr>
          <a:lstStyle/>
          <a:p>
            <a:pPr indent="0" lvl="0" marL="0" marR="28702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constraint_name, table_name, constraint_type, status FROM USER_CONSTRAINTS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table_name ='COPY_EMPLOYEES';</a:t>
            </a:r>
            <a:endParaRPr sz="1800">
              <a:latin typeface="Courier New"/>
              <a:ea typeface="Courier New"/>
              <a:cs typeface="Courier New"/>
              <a:sym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9"/>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Consulta USER_CONSTRAINTS</a:t>
            </a:r>
            <a:endParaRPr/>
          </a:p>
        </p:txBody>
      </p:sp>
      <p:sp>
        <p:nvSpPr>
          <p:cNvPr id="326" name="Google Shape;326;p39"/>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327" name="Google Shape;327;p3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28" name="Google Shape;328;p3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29" name="Google Shape;329;p39"/>
          <p:cNvSpPr txBox="1"/>
          <p:nvPr/>
        </p:nvSpPr>
        <p:spPr>
          <a:xfrm>
            <a:off x="483552" y="1415417"/>
            <a:ext cx="8004175" cy="19792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tipos de restricción que aparecen en el diccionario 	de datos son: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 – PRIMARY KEY; R – REFERENCES (clave ajena);</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 – restricción CHECK (incluida NOT NULL);</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 – UNIQUE</a:t>
            </a:r>
            <a:endParaRPr sz="2400">
              <a:latin typeface="Calibri"/>
              <a:ea typeface="Calibri"/>
              <a:cs typeface="Calibri"/>
              <a:sym typeface="Calibri"/>
            </a:endParaRPr>
          </a:p>
        </p:txBody>
      </p:sp>
      <p:graphicFrame>
        <p:nvGraphicFramePr>
          <p:cNvPr id="330" name="Google Shape;330;p39"/>
          <p:cNvGraphicFramePr/>
          <p:nvPr/>
        </p:nvGraphicFramePr>
        <p:xfrm>
          <a:off x="798512" y="3668024"/>
          <a:ext cx="3000000" cy="3000000"/>
        </p:xfrm>
        <a:graphic>
          <a:graphicData uri="http://schemas.openxmlformats.org/drawingml/2006/table">
            <a:tbl>
              <a:tblPr bandRow="1" firstRow="1">
                <a:noFill/>
                <a:tableStyleId>{2543424A-9D3B-4828-9936-9AB315360A54}</a:tableStyleId>
              </a:tblPr>
              <a:tblGrid>
                <a:gridCol w="1852925"/>
                <a:gridCol w="1852925"/>
                <a:gridCol w="1852925"/>
                <a:gridCol w="1852925"/>
              </a:tblGrid>
              <a:tr h="34035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CONSTRAINT_NAME</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TABLE_NAME</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CONSTRAINT_TYPE</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STATUS</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403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COPY_EMP_PK</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COPY_EMPLOYEES</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P</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ENABLED</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40350">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CDEPT_DEPT_ID_FK</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COPY_EMPLOYEES</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R</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ENABLED</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0"/>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336" name="Google Shape;336;p40"/>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337" name="Google Shape;337;p4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38" name="Google Shape;338;p4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39" name="Google Shape;339;p40"/>
          <p:cNvSpPr txBox="1"/>
          <p:nvPr/>
        </p:nvSpPr>
        <p:spPr>
          <a:xfrm>
            <a:off x="483552" y="1415417"/>
            <a:ext cx="7705725" cy="35001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ALTER TABLE</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Cláusula CASCADE</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Cláusula CASCADE CONSTRAINT</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DISABLE CONSTRAINT</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DROP COLUMN</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DROP CONSTRAINT</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ENABLE CONSTRAINT</a:t>
            </a:r>
            <a:endParaRPr sz="2400">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1"/>
          <p:cNvSpPr txBox="1"/>
          <p:nvPr>
            <p:ph type="title"/>
          </p:nvPr>
        </p:nvSpPr>
        <p:spPr>
          <a:xfrm>
            <a:off x="392112" y="748031"/>
            <a:ext cx="8359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345" name="Google Shape;345;p41"/>
          <p:cNvSpPr txBox="1"/>
          <p:nvPr/>
        </p:nvSpPr>
        <p:spPr>
          <a:xfrm>
            <a:off x="483552" y="1393401"/>
            <a:ext cx="8179434" cy="430276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175260" lvl="0" marL="530860" marR="307975"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Enumerar cuatro funciones diferentes que puede realizar la sentencia ALTER en las restricciones</a:t>
            </a:r>
            <a:endParaRPr sz="2400">
              <a:latin typeface="Calibri"/>
              <a:ea typeface="Calibri"/>
              <a:cs typeface="Calibri"/>
              <a:sym typeface="Calibri"/>
            </a:endParaRPr>
          </a:p>
          <a:p>
            <a:pPr indent="-175260" lvl="0" marL="530860" marR="11607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Escribir sentencias ALTER TABLE para agregar, borrar, desactivar y activar restricciones</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Nombrar una función de negocio que necesitaría un DBA para borrar, activar y/o desactivar una restricción o utilizar la sintaxis CASCADE</a:t>
            </a:r>
            <a:endParaRPr sz="2400">
              <a:latin typeface="Calibri"/>
              <a:ea typeface="Calibri"/>
              <a:cs typeface="Calibri"/>
              <a:sym typeface="Calibri"/>
            </a:endParaRPr>
          </a:p>
          <a:p>
            <a:pPr indent="-175260" lvl="0" marL="530225" marR="3841115" rtl="0" algn="l">
              <a:lnSpc>
                <a:spcPct val="107916"/>
              </a:lnSpc>
              <a:spcBef>
                <a:spcPts val="41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Consultar USER_CONSTRAINTS en el diccionario de datos e interpretar la información devuelta</a:t>
            </a:r>
            <a:endParaRPr sz="2400">
              <a:latin typeface="Calibri"/>
              <a:ea typeface="Calibri"/>
              <a:cs typeface="Calibri"/>
              <a:sym typeface="Calibri"/>
            </a:endParaRPr>
          </a:p>
        </p:txBody>
      </p:sp>
      <p:grpSp>
        <p:nvGrpSpPr>
          <p:cNvPr id="346" name="Google Shape;346;p41"/>
          <p:cNvGrpSpPr/>
          <p:nvPr/>
        </p:nvGrpSpPr>
        <p:grpSpPr>
          <a:xfrm>
            <a:off x="4808220" y="4094988"/>
            <a:ext cx="3944111" cy="2164079"/>
            <a:chOff x="4808220" y="4094988"/>
            <a:chExt cx="3944111" cy="2164079"/>
          </a:xfrm>
        </p:grpSpPr>
        <p:pic>
          <p:nvPicPr>
            <p:cNvPr id="347" name="Google Shape;347;p41"/>
            <p:cNvPicPr preferRelativeResize="0"/>
            <p:nvPr/>
          </p:nvPicPr>
          <p:blipFill rotWithShape="1">
            <a:blip r:embed="rId3">
              <a:alphaModFix/>
            </a:blip>
            <a:srcRect b="0" l="0" r="0" t="0"/>
            <a:stretch/>
          </p:blipFill>
          <p:spPr>
            <a:xfrm>
              <a:off x="4808220" y="4094988"/>
              <a:ext cx="3944111" cy="2164079"/>
            </a:xfrm>
            <a:prstGeom prst="rect">
              <a:avLst/>
            </a:prstGeom>
            <a:noFill/>
            <a:ln>
              <a:noFill/>
            </a:ln>
          </p:spPr>
        </p:pic>
        <p:pic>
          <p:nvPicPr>
            <p:cNvPr id="348" name="Google Shape;348;p41"/>
            <p:cNvPicPr preferRelativeResize="0"/>
            <p:nvPr/>
          </p:nvPicPr>
          <p:blipFill rotWithShape="1">
            <a:blip r:embed="rId4">
              <a:alphaModFix/>
            </a:blip>
            <a:srcRect b="0" l="0" r="0" t="0"/>
            <a:stretch/>
          </p:blipFill>
          <p:spPr>
            <a:xfrm>
              <a:off x="5000244" y="4287012"/>
              <a:ext cx="3560051" cy="1780031"/>
            </a:xfrm>
            <a:prstGeom prst="rect">
              <a:avLst/>
            </a:prstGeom>
            <a:noFill/>
            <a:ln>
              <a:noFill/>
            </a:ln>
          </p:spPr>
        </p:pic>
      </p:grpSp>
      <p:sp>
        <p:nvSpPr>
          <p:cNvPr id="349" name="Google Shape;349;p41"/>
          <p:cNvSpPr txBox="1"/>
          <p:nvPr>
            <p:ph idx="10" type="dt"/>
          </p:nvPr>
        </p:nvSpPr>
        <p:spPr>
          <a:xfrm>
            <a:off x="2874191" y="6516395"/>
            <a:ext cx="110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14-3</a:t>
            </a:r>
            <a:endParaRPr/>
          </a:p>
          <a:p>
            <a:pPr indent="0" lvl="0" marL="12700" rtl="0" algn="l">
              <a:lnSpc>
                <a:spcPct val="120624"/>
              </a:lnSpc>
              <a:spcBef>
                <a:spcPts val="0"/>
              </a:spcBef>
              <a:spcAft>
                <a:spcPts val="0"/>
              </a:spcAft>
              <a:buNone/>
            </a:pPr>
            <a:r>
              <a:rPr lang="en-US"/>
              <a:t>Gestión de Restricciones</a:t>
            </a:r>
            <a:endParaRPr/>
          </a:p>
        </p:txBody>
      </p:sp>
      <p:sp>
        <p:nvSpPr>
          <p:cNvPr id="350" name="Google Shape;350;p4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51" name="Google Shape;351;p4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