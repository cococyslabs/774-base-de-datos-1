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46D660A-8B1D-4A49-A2BC-13A839F240D9}">
  <a:tblStyle styleId="{046D660A-8B1D-4A49-A2BC-13A839F240D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13:54:21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suele preferir una cláusula USING a una unión natural, incluso aunque las columnas tengan el mismo tipo de dato, así como el mismo nombre, debido a que indica claramente exactamente qué columna de unión se está utilizando.</a:t>
            </a:r>
            <a:endParaRPr/>
          </a:p>
        </p:txBody>
      </p:sp>
      <p:sp>
        <p:nvSpPr>
          <p:cNvPr id="91" name="Google Shape;91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13:54:22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 la columna de la cláusula USING tiene un cualificador, se devuelve el siguiente error ORA-25154: column part of USING clause cannot have qualifier.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Nota: La última línea de la salida de ejemplo utiliza ... ... ... ... para indicar que se devuelven más datos de los que se muestran en la diapositiva.</a:t>
            </a:r>
            <a:endParaRPr/>
          </a:p>
        </p:txBody>
      </p:sp>
      <p:sp>
        <p:nvSpPr>
          <p:cNvPr id="100" name="Google Shape;100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13:54:24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Nota: Debido a que la columna job_id de las tablas employees y jobs tienen el mismo nombre y tipo de dato, la consulta anterior también se podría escribir con NATURAL JOIN o JOIN USING.</a:t>
            </a:r>
            <a:endParaRPr/>
          </a:p>
        </p:txBody>
      </p:sp>
      <p:sp>
        <p:nvSpPr>
          <p:cNvPr id="154" name="Google Shape;154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13:54:25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 una cláusula JOIN ON, puede utilizar operadores distintos de "=". Por ejemplo, &gt;=, &lt;=, BETWEEN.</a:t>
            </a:r>
            <a:endParaRPr/>
          </a:p>
        </p:txBody>
      </p:sp>
      <p:sp>
        <p:nvSpPr>
          <p:cNvPr id="178" name="Google Shape;178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92112" y="748031"/>
            <a:ext cx="64695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3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83552" y="1393401"/>
            <a:ext cx="7644000" cy="1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5172119" y="6589648"/>
            <a:ext cx="3223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2874191" y="6516395"/>
            <a:ext cx="6345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61" name="Google Shape;6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4"/>
            <p:cNvSpPr/>
            <p:nvPr/>
          </p:nvSpPr>
          <p:spPr>
            <a:xfrm>
              <a:off x="560831" y="702563"/>
              <a:ext cx="8022590" cy="5453380"/>
            </a:xfrm>
            <a:custGeom>
              <a:rect b="b" l="l" r="r" t="t"/>
              <a:pathLst>
                <a:path extrusionOk="0" h="5453380" w="802259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DFE1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3" name="Google Shape;63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787" y="5570219"/>
              <a:ext cx="1258823" cy="420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4"/>
          <p:cNvSpPr txBox="1"/>
          <p:nvPr/>
        </p:nvSpPr>
        <p:spPr>
          <a:xfrm>
            <a:off x="5057819" y="6562597"/>
            <a:ext cx="3223260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CEFD9"/>
                </a:solidFill>
                <a:latin typeface="Calibri"/>
                <a:ea typeface="Calibri"/>
                <a:cs typeface="Calibri"/>
                <a:sym typeface="Calibri"/>
              </a:rPr>
              <a:t>Copyright © 2020, Oracle y/o sus filiales. Todos los derechos reservados.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958315" y="862895"/>
            <a:ext cx="70479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3650">
            <a:spAutoFit/>
          </a:bodyPr>
          <a:lstStyle/>
          <a:p>
            <a:pPr indent="0" lvl="0" marL="12700" marR="5080" rtl="0" algn="l">
              <a:lnSpc>
                <a:spcPct val="96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Database Programming with SQL</a:t>
            </a:r>
            <a:endParaRPr sz="4800"/>
          </a:p>
        </p:txBody>
      </p:sp>
      <p:sp>
        <p:nvSpPr>
          <p:cNvPr id="66" name="Google Shape;66;p14"/>
          <p:cNvSpPr txBox="1"/>
          <p:nvPr/>
        </p:nvSpPr>
        <p:spPr>
          <a:xfrm>
            <a:off x="962879" y="2400950"/>
            <a:ext cx="1781810" cy="888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6-2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Cláusulas Join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41278" y="3485388"/>
            <a:ext cx="5062726" cy="2965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92112" y="748031"/>
            <a:ext cx="6469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Objetivos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483552" y="1393401"/>
            <a:ext cx="7644000" cy="1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En esta lección se abordan los siguientes objetivos:</a:t>
            </a:r>
            <a:endParaRPr/>
          </a:p>
          <a:p>
            <a:pPr indent="0" lvl="0" marL="3556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Crear y ejecutar una unión con la cláusula ANSI-99 USING</a:t>
            </a:r>
            <a:endParaRPr sz="2400"/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Crear y ejecutar una unión con la cláusula ANSI-99 ON</a:t>
            </a:r>
            <a:endParaRPr sz="2400"/>
          </a:p>
          <a:p>
            <a:pPr indent="0" lvl="0" marL="355600" rtl="0" algn="l">
              <a:lnSpc>
                <a:spcPct val="100000"/>
              </a:lnSpc>
              <a:spcBef>
                <a:spcPts val="105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Crear y ejecutar una consulta ANSI-99 que une tres tablas</a:t>
            </a:r>
            <a:endParaRPr sz="2400"/>
          </a:p>
        </p:txBody>
      </p:sp>
      <p:grpSp>
        <p:nvGrpSpPr>
          <p:cNvPr id="74" name="Google Shape;74;p15"/>
          <p:cNvGrpSpPr/>
          <p:nvPr/>
        </p:nvGrpSpPr>
        <p:grpSpPr>
          <a:xfrm>
            <a:off x="5059679" y="3566160"/>
            <a:ext cx="3337559" cy="2638043"/>
            <a:chOff x="5059679" y="3566160"/>
            <a:chExt cx="3337559" cy="2638043"/>
          </a:xfrm>
        </p:grpSpPr>
        <p:pic>
          <p:nvPicPr>
            <p:cNvPr id="75" name="Google Shape;7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59679" y="3566160"/>
              <a:ext cx="3337559" cy="26380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51703" y="3758184"/>
              <a:ext cx="2953499" cy="22539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2874191" y="6516395"/>
            <a:ext cx="63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Cláusulas Join</a:t>
            </a:r>
            <a:endParaRPr/>
          </a:p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92112" y="748031"/>
            <a:ext cx="6469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</a:t>
            </a:r>
            <a:endParaRPr/>
          </a:p>
        </p:txBody>
      </p:sp>
      <p:sp>
        <p:nvSpPr>
          <p:cNvPr id="85" name="Google Shape;85;p16"/>
          <p:cNvSpPr txBox="1"/>
          <p:nvPr>
            <p:ph idx="10" type="dt"/>
          </p:nvPr>
        </p:nvSpPr>
        <p:spPr>
          <a:xfrm>
            <a:off x="2874191" y="6516395"/>
            <a:ext cx="63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Cláusulas Join</a:t>
            </a:r>
            <a:endParaRPr/>
          </a:p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483552" y="1415417"/>
            <a:ext cx="7964170" cy="2960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just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Al agregar más comandos al vocabulario de la base de 	datos, estará mejor preparado para diseñar consultas 	que devuelvan el resultado deseado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264795" rtl="0" algn="just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objetivo de una unión es enlazar los datos, entre 	tablas, sin repetir todos los datos en todas las tablas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448945" rtl="0" algn="just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¿Para qué solicitar más datos de los que realmente 	necesita?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92112" y="748031"/>
            <a:ext cx="6469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 USING</a:t>
            </a:r>
            <a:endParaRPr/>
          </a:p>
        </p:txBody>
      </p:sp>
      <p:sp>
        <p:nvSpPr>
          <p:cNvPr id="94" name="Google Shape;94;p17"/>
          <p:cNvSpPr txBox="1"/>
          <p:nvPr>
            <p:ph idx="10" type="dt"/>
          </p:nvPr>
        </p:nvSpPr>
        <p:spPr>
          <a:xfrm>
            <a:off x="2874191" y="6516395"/>
            <a:ext cx="63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Cláusulas Join</a:t>
            </a:r>
            <a:endParaRPr/>
          </a:p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483552" y="1415417"/>
            <a:ext cx="8085455" cy="2960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una unión natural, si las tablas tienen columnas con 	los mismos nombres, pero diferentes tipos de dato, la 	unión provoca un error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871855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Para evitar esta situación, la cláusula de unión se 	puede modificar con una cláusula USING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845819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cláusula USING especifica las columnas que se 	deben utilizar para la unión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92112" y="748031"/>
            <a:ext cx="6469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 USING</a:t>
            </a:r>
            <a:endParaRPr/>
          </a:p>
        </p:txBody>
      </p:sp>
      <p:sp>
        <p:nvSpPr>
          <p:cNvPr id="103" name="Google Shape;103;p18"/>
          <p:cNvSpPr txBox="1"/>
          <p:nvPr>
            <p:ph idx="10" type="dt"/>
          </p:nvPr>
        </p:nvSpPr>
        <p:spPr>
          <a:xfrm>
            <a:off x="2874191" y="6516395"/>
            <a:ext cx="63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Cláusulas Join</a:t>
            </a:r>
            <a:endParaRPr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8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06" name="Google Shape;106;p18"/>
          <p:cNvSpPr txBox="1"/>
          <p:nvPr/>
        </p:nvSpPr>
        <p:spPr>
          <a:xfrm>
            <a:off x="483552" y="1415417"/>
            <a:ext cx="8053705" cy="247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106045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consulta que se muestra es un ejemplo de la 	cláusula USING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08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columnas a las que se hace referencia en la 	cláusula USING no deben tener un cualificador 	(nombre o alias de la tabla) en ninguna ubicación de la 	sentencia SQL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7" name="Google Shape;107;p18"/>
          <p:cNvGraphicFramePr/>
          <p:nvPr/>
        </p:nvGraphicFramePr>
        <p:xfrm>
          <a:off x="764179" y="45366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{046D660A-8B1D-4A49-A2BC-13A839F240D9}</a:tableStyleId>
              </a:tblPr>
              <a:tblGrid>
                <a:gridCol w="1903725"/>
                <a:gridCol w="1903725"/>
                <a:gridCol w="1903725"/>
                <a:gridCol w="1903725"/>
              </a:tblGrid>
              <a:tr h="3048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Jennifer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Whalen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Administration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Michael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Hartstein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" name="Google Shape;108;p18"/>
          <p:cNvSpPr txBox="1"/>
          <p:nvPr/>
        </p:nvSpPr>
        <p:spPr>
          <a:xfrm>
            <a:off x="393191" y="3921252"/>
            <a:ext cx="8345805" cy="49403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first_name, last_name, department_id, department_name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 JOIN departments USING (department_id);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92112" y="748031"/>
            <a:ext cx="6469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 USING</a:t>
            </a:r>
            <a:endParaRPr/>
          </a:p>
        </p:txBody>
      </p:sp>
      <p:sp>
        <p:nvSpPr>
          <p:cNvPr id="114" name="Google Shape;114;p19"/>
          <p:cNvSpPr txBox="1"/>
          <p:nvPr>
            <p:ph idx="10" type="dt"/>
          </p:nvPr>
        </p:nvSpPr>
        <p:spPr>
          <a:xfrm>
            <a:off x="2874191" y="6516395"/>
            <a:ext cx="63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Cláusulas Join</a:t>
            </a:r>
            <a:endParaRPr/>
          </a:p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9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17" name="Google Shape;117;p19"/>
          <p:cNvSpPr txBox="1"/>
          <p:nvPr/>
        </p:nvSpPr>
        <p:spPr>
          <a:xfrm>
            <a:off x="483552" y="1415417"/>
            <a:ext cx="7541259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cláusula USING nos permite utilizar WHERE para 	limitar las filas de una o de ambas tablas: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8" name="Google Shape;118;p19"/>
          <p:cNvGraphicFramePr/>
          <p:nvPr/>
        </p:nvGraphicFramePr>
        <p:xfrm>
          <a:off x="798511" y="39713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{046D660A-8B1D-4A49-A2BC-13A839F240D9}</a:tableStyleId>
              </a:tblPr>
              <a:tblGrid>
                <a:gridCol w="1908175"/>
                <a:gridCol w="1908175"/>
                <a:gridCol w="1908175"/>
                <a:gridCol w="1908175"/>
              </a:tblGrid>
              <a:tr h="3295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5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Shelley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Higgins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Accounting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" name="Google Shape;119;p19"/>
          <p:cNvSpPr txBox="1"/>
          <p:nvPr/>
        </p:nvSpPr>
        <p:spPr>
          <a:xfrm>
            <a:off x="393191" y="2761488"/>
            <a:ext cx="8345805" cy="972819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0" lvl="0" marL="0" marR="1479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first_name, last_name, department_id, department_name FROM employees JOIN departments USING (department_id)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last_name = 'Higgins';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92112" y="748031"/>
            <a:ext cx="6469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 ON</a:t>
            </a:r>
            <a:endParaRPr/>
          </a:p>
        </p:txBody>
      </p:sp>
      <p:sp>
        <p:nvSpPr>
          <p:cNvPr id="125" name="Google Shape;125;p20"/>
          <p:cNvSpPr txBox="1"/>
          <p:nvPr>
            <p:ph idx="10" type="dt"/>
          </p:nvPr>
        </p:nvSpPr>
        <p:spPr>
          <a:xfrm>
            <a:off x="2874191" y="6516395"/>
            <a:ext cx="63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Cláusulas Join</a:t>
            </a:r>
            <a:endParaRPr/>
          </a:p>
        </p:txBody>
      </p:sp>
      <p:sp>
        <p:nvSpPr>
          <p:cNvPr id="126" name="Google Shape;126;p20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28" name="Google Shape;128;p20"/>
          <p:cNvSpPr txBox="1"/>
          <p:nvPr/>
        </p:nvSpPr>
        <p:spPr>
          <a:xfrm>
            <a:off x="483552" y="1415417"/>
            <a:ext cx="8151495" cy="4213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¿Qué ocurre si las columnas que se van a unir tienen 	nombres diferentes, o bien si la unión utiliza 	operadores de comparación de distinto de, como &lt;, &gt; o 	BETWEEN?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731520" rtl="0" algn="l">
              <a:lnSpc>
                <a:spcPct val="108214"/>
              </a:lnSpc>
              <a:spcBef>
                <a:spcPts val="78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No podemos utilizar USING, por lo que en su lugar 	utilizamos una cláusula ON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1102995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Esto permite especificar una mayor variedad de 	condiciones de unión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27685" rtl="0" algn="l">
              <a:lnSpc>
                <a:spcPct val="108214"/>
              </a:lnSpc>
              <a:spcBef>
                <a:spcPts val="78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cláusula ON también nos permite utilizar WHERE 	para limitar las filas de una o de ambas tablas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92112" y="748031"/>
            <a:ext cx="6469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 de Cláusula ON</a:t>
            </a:r>
            <a:endParaRPr/>
          </a:p>
        </p:txBody>
      </p:sp>
      <p:sp>
        <p:nvSpPr>
          <p:cNvPr id="134" name="Google Shape;134;p21"/>
          <p:cNvSpPr txBox="1"/>
          <p:nvPr>
            <p:ph idx="10" type="dt"/>
          </p:nvPr>
        </p:nvSpPr>
        <p:spPr>
          <a:xfrm>
            <a:off x="2874191" y="6516395"/>
            <a:ext cx="63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Cláusulas Join</a:t>
            </a:r>
            <a:endParaRPr/>
          </a:p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1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483552" y="1415417"/>
            <a:ext cx="5213350" cy="122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just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este ejemplo, la cláusula ON se 	utiliza para unir la tabla employees 	con la tabla jobs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483552" y="3640457"/>
            <a:ext cx="5005705" cy="1604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 necesita una cláusula ON 	cuando las columnas comunes 	tengan nombres diferentes en las 	dos tablas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" name="Google Shape;139;p21"/>
          <p:cNvGraphicFramePr/>
          <p:nvPr/>
        </p:nvGraphicFramePr>
        <p:xfrm>
          <a:off x="5865808" y="15656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{046D660A-8B1D-4A49-A2BC-13A839F240D9}</a:tableStyleId>
              </a:tblPr>
              <a:tblGrid>
                <a:gridCol w="1393200"/>
                <a:gridCol w="1393200"/>
              </a:tblGrid>
              <a:tr h="3251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7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JOB_TITLE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7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President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0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2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Administration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Vice President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0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2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Administration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Vice President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6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Whalen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2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Administration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Assistant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6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Higgins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2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Accounting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71755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6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Gietz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2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40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Accountant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2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Zlotkey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 Manager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6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Abel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40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Representative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0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Taylor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40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Representative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" name="Google Shape;140;p21"/>
          <p:cNvSpPr txBox="1"/>
          <p:nvPr/>
        </p:nvSpPr>
        <p:spPr>
          <a:xfrm>
            <a:off x="405384" y="2663951"/>
            <a:ext cx="5224780" cy="97091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0" marR="1395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last_name, job_title FROM employees e JOIN jobs j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ON (e.job_id = j.job_id);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392112" y="748031"/>
            <a:ext cx="4095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 de Cláusula ON</a:t>
            </a:r>
            <a:endParaRPr/>
          </a:p>
        </p:txBody>
      </p:sp>
      <p:sp>
        <p:nvSpPr>
          <p:cNvPr id="146" name="Google Shape;146;p22"/>
          <p:cNvSpPr txBox="1"/>
          <p:nvPr>
            <p:ph idx="10" type="dt"/>
          </p:nvPr>
        </p:nvSpPr>
        <p:spPr>
          <a:xfrm>
            <a:off x="2874191" y="6516395"/>
            <a:ext cx="63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Cláusulas Join</a:t>
            </a:r>
            <a:endParaRPr/>
          </a:p>
        </p:txBody>
      </p:sp>
      <p:sp>
        <p:nvSpPr>
          <p:cNvPr id="147" name="Google Shape;147;p22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2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49" name="Google Shape;149;p22"/>
          <p:cNvSpPr txBox="1"/>
          <p:nvPr/>
        </p:nvSpPr>
        <p:spPr>
          <a:xfrm>
            <a:off x="483552" y="1381889"/>
            <a:ext cx="5442585" cy="4205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3515" rtl="0" algn="l">
              <a:lnSpc>
                <a:spcPct val="108035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Al usar una cláusula ON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4785" marR="5080" rtl="0" algn="l">
              <a:lnSpc>
                <a:spcPct val="80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columnas con el mismo nombre en ambas tablas, debe agregar un calificador (ya sea el alias o el nombre de la tabla), de lo contrario se devolverá un error. En el ejemplo, los alias de la tabla se usan como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4785" rtl="0" algn="l">
              <a:lnSpc>
                <a:spcPct val="8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calificador e.job_id = j.job_id,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4785" marR="508000" rtl="0" algn="l">
              <a:lnSpc>
                <a:spcPct val="80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pero también podrían haberse escrito usando los nombres de la tabla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4785" rtl="0" algn="l">
              <a:lnSpc>
                <a:spcPct val="95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(employees.job_id = jobs.job_id)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2"/>
          <p:cNvGraphicFramePr/>
          <p:nvPr/>
        </p:nvGraphicFramePr>
        <p:xfrm>
          <a:off x="5998963" y="19455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{046D660A-8B1D-4A49-A2BC-13A839F240D9}</a:tableStyleId>
              </a:tblPr>
              <a:tblGrid>
                <a:gridCol w="1393200"/>
                <a:gridCol w="1393200"/>
              </a:tblGrid>
              <a:tr h="3251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7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JOB_TITLE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7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4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President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6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2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Administration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Vice President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0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2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Administration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Vice President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6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Whalen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2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Administration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Assistant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6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Higgins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2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Accounting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6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Gietz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2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71755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Accountant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Zlotkey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 Manager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0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Abel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2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40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Representative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6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Taylor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40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Representative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1" name="Google Shape;151;p22"/>
          <p:cNvGraphicFramePr/>
          <p:nvPr/>
        </p:nvGraphicFramePr>
        <p:xfrm>
          <a:off x="4843271" y="8503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{046D660A-8B1D-4A49-A2BC-13A839F240D9}</a:tableStyleId>
              </a:tblPr>
              <a:tblGrid>
                <a:gridCol w="1980575"/>
                <a:gridCol w="272425"/>
                <a:gridCol w="1694825"/>
              </a:tblGrid>
              <a:tr h="626750">
                <a:tc gridSpan="3">
                  <a:txBody>
                    <a:bodyPr/>
                    <a:lstStyle/>
                    <a:p>
                      <a:pPr indent="0" lvl="0" marL="0" marR="11874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 last_name, job_title FROM employees e JOIN jobs j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0" marR="0" marL="0">
                    <a:solidFill>
                      <a:srgbClr val="9DBDC4">
                        <a:alpha val="49804"/>
                      </a:srgbClr>
                    </a:solidFill>
                  </a:tcPr>
                </a:tc>
                <a:tc hMerge="1"/>
                <a:tc hMerge="1"/>
              </a:tr>
              <a:tr h="345450"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 (e.job_id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9DBDC4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7310" marR="0" rtl="0" algn="l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9DBDC4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7310" marR="0" rtl="0" algn="l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j.job_id);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9DBDC4">
                        <a:alpha val="49804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392112" y="748031"/>
            <a:ext cx="6469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 ON con Cláusula WHERE</a:t>
            </a:r>
            <a:endParaRPr/>
          </a:p>
        </p:txBody>
      </p:sp>
      <p:sp>
        <p:nvSpPr>
          <p:cNvPr id="157" name="Google Shape;157;p23"/>
          <p:cNvSpPr txBox="1"/>
          <p:nvPr>
            <p:ph idx="10" type="dt"/>
          </p:nvPr>
        </p:nvSpPr>
        <p:spPr>
          <a:xfrm>
            <a:off x="2874191" y="6516395"/>
            <a:ext cx="63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Cláusulas Join</a:t>
            </a:r>
            <a:endParaRPr/>
          </a:p>
        </p:txBody>
      </p:sp>
      <p:sp>
        <p:nvSpPr>
          <p:cNvPr id="158" name="Google Shape;158;p23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3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60" name="Google Shape;160;p23"/>
          <p:cNvSpPr txBox="1"/>
          <p:nvPr/>
        </p:nvSpPr>
        <p:spPr>
          <a:xfrm>
            <a:off x="483552" y="1415417"/>
            <a:ext cx="7666990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Aquí se muestra la misma consulta con una cláusula 	WHERE para limitar las filas seleccionadas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1" name="Google Shape;161;p23"/>
          <p:cNvGraphicFramePr/>
          <p:nvPr/>
        </p:nvGraphicFramePr>
        <p:xfrm>
          <a:off x="5137389" y="24509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{046D660A-8B1D-4A49-A2BC-13A839F240D9}</a:tableStyleId>
              </a:tblPr>
              <a:tblGrid>
                <a:gridCol w="1372225"/>
                <a:gridCol w="1960875"/>
              </a:tblGrid>
              <a:tr h="4032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JOB_TITLE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Higgins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Accounting Manager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Hunold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Programmer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Hartstein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Marketing Manager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2" name="Google Shape;162;p23"/>
          <p:cNvSpPr txBox="1"/>
          <p:nvPr/>
        </p:nvSpPr>
        <p:spPr>
          <a:xfrm>
            <a:off x="393191" y="2456688"/>
            <a:ext cx="4178935" cy="129540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71750">
            <a:spAutoFit/>
          </a:bodyPr>
          <a:lstStyle/>
          <a:p>
            <a:pPr indent="0" lvl="0" marL="0" marR="34861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last_name, job_title FROM employees e JOIN jobs j ON (e.job_id = j.job_id)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last_name LIKE 'H%';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type="title"/>
          </p:nvPr>
        </p:nvSpPr>
        <p:spPr>
          <a:xfrm>
            <a:off x="392112" y="748031"/>
            <a:ext cx="6469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 ON con Operador Distinto de</a:t>
            </a:r>
            <a:endParaRPr/>
          </a:p>
        </p:txBody>
      </p:sp>
      <p:sp>
        <p:nvSpPr>
          <p:cNvPr id="168" name="Google Shape;168;p24"/>
          <p:cNvSpPr txBox="1"/>
          <p:nvPr>
            <p:ph idx="10" type="dt"/>
          </p:nvPr>
        </p:nvSpPr>
        <p:spPr>
          <a:xfrm>
            <a:off x="2874191" y="6516395"/>
            <a:ext cx="63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Cláusulas Join</a:t>
            </a:r>
            <a:endParaRPr/>
          </a:p>
        </p:txBody>
      </p:sp>
      <p:sp>
        <p:nvSpPr>
          <p:cNvPr id="169" name="Google Shape;169;p24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4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71" name="Google Shape;171;p24"/>
          <p:cNvSpPr txBox="1"/>
          <p:nvPr/>
        </p:nvSpPr>
        <p:spPr>
          <a:xfrm>
            <a:off x="483552" y="1415417"/>
            <a:ext cx="8057515" cy="122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ocasiones puede que tenga que recuperar los datos 	de una tabla que no tenga ninguna columna 	correspondiente en otra tabla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4"/>
          <p:cNvSpPr txBox="1"/>
          <p:nvPr/>
        </p:nvSpPr>
        <p:spPr>
          <a:xfrm>
            <a:off x="483552" y="2643761"/>
            <a:ext cx="458343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Suponga que desea conocer el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4"/>
          <p:cNvSpPr txBox="1"/>
          <p:nvPr/>
        </p:nvSpPr>
        <p:spPr>
          <a:xfrm>
            <a:off x="483552" y="3027971"/>
            <a:ext cx="4396740" cy="29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0" lvl="0" marL="184785" marR="52197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valor grade_level para el salario de cada empleado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439420" rtl="0" algn="l">
              <a:lnSpc>
                <a:spcPct val="108214"/>
              </a:lnSpc>
              <a:spcBef>
                <a:spcPts val="5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tabla job_grades no 	tiene una columna común 	con la tabla employees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080" rtl="0" algn="l">
              <a:lnSpc>
                <a:spcPct val="108214"/>
              </a:lnSpc>
              <a:spcBef>
                <a:spcPts val="5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cláusula ON nos permite 	unir las dos tablas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4"/>
          <p:cNvSpPr txBox="1"/>
          <p:nvPr/>
        </p:nvSpPr>
        <p:spPr>
          <a:xfrm>
            <a:off x="5897096" y="2840584"/>
            <a:ext cx="142303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 job_grades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5" name="Google Shape;175;p24"/>
          <p:cNvGraphicFramePr/>
          <p:nvPr/>
        </p:nvGraphicFramePr>
        <p:xfrm>
          <a:off x="4933724" y="3422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{046D660A-8B1D-4A49-A2BC-13A839F240D9}</a:tableStyleId>
              </a:tblPr>
              <a:tblGrid>
                <a:gridCol w="1303650"/>
                <a:gridCol w="1203950"/>
                <a:gridCol w="1278250"/>
              </a:tblGrid>
              <a:tr h="3810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GRADE_LEVEL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8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LOWEST_SAL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8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HIGHEST_SAL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8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9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93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93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2999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93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1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6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6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5999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6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9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93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93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9999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93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8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14999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8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24999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5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392112" y="748031"/>
            <a:ext cx="6469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 ON con Operador Distinto de</a:t>
            </a:r>
            <a:endParaRPr/>
          </a:p>
        </p:txBody>
      </p:sp>
      <p:sp>
        <p:nvSpPr>
          <p:cNvPr id="181" name="Google Shape;181;p25"/>
          <p:cNvSpPr txBox="1"/>
          <p:nvPr>
            <p:ph idx="10" type="dt"/>
          </p:nvPr>
        </p:nvSpPr>
        <p:spPr>
          <a:xfrm>
            <a:off x="2874191" y="6516395"/>
            <a:ext cx="63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Cláusulas Join</a:t>
            </a:r>
            <a:endParaRPr/>
          </a:p>
        </p:txBody>
      </p:sp>
      <p:sp>
        <p:nvSpPr>
          <p:cNvPr id="182" name="Google Shape;182;p25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5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84" name="Google Shape;184;p25"/>
          <p:cNvSpPr txBox="1"/>
          <p:nvPr/>
        </p:nvSpPr>
        <p:spPr>
          <a:xfrm>
            <a:off x="405384" y="1418844"/>
            <a:ext cx="8345805" cy="122110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0" lvl="0" marL="0" marR="15138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last_name, salary, grade_level, lowest_sal, highest_sal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 JOIN job_grades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ON(salary BETWEEN lowest_sal AND highest_sal);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185" name="Google Shape;185;p25"/>
          <p:cNvGraphicFramePr/>
          <p:nvPr/>
        </p:nvGraphicFramePr>
        <p:xfrm>
          <a:off x="629180" y="29220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{046D660A-8B1D-4A49-A2BC-13A839F240D9}</a:tableStyleId>
              </a:tblPr>
              <a:tblGrid>
                <a:gridCol w="1517650"/>
                <a:gridCol w="1517650"/>
                <a:gridCol w="1517650"/>
                <a:gridCol w="1517650"/>
                <a:gridCol w="1517650"/>
              </a:tblGrid>
              <a:tr h="3848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GRADE_LEVEL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LOWEST_SAL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HIGHEST_SAL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2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Vargas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2999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275"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Matos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2999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275"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Davies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5999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275"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Rajs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5999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275"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Lorentz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5999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275"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Whalen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5999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275"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Mourgos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5999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275"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9999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275"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/>
          <p:nvPr>
            <p:ph type="title"/>
          </p:nvPr>
        </p:nvSpPr>
        <p:spPr>
          <a:xfrm>
            <a:off x="392112" y="748031"/>
            <a:ext cx="6469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Unión de Tres Tablas</a:t>
            </a:r>
            <a:endParaRPr/>
          </a:p>
        </p:txBody>
      </p:sp>
      <p:sp>
        <p:nvSpPr>
          <p:cNvPr id="191" name="Google Shape;191;p26"/>
          <p:cNvSpPr txBox="1"/>
          <p:nvPr/>
        </p:nvSpPr>
        <p:spPr>
          <a:xfrm>
            <a:off x="483552" y="1415417"/>
            <a:ext cx="8106409" cy="2960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Tanto USING como ON se pueden utilizar para unir tres 	o más tablas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93345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Supongamos que necesitamos un informe de nuestros 	empleados, su departamento y la ciudad donde está 	ubicado el departamento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1998345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Necesitamos unir tres tablas: employees, 	departaments y locations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4532" y="4276344"/>
            <a:ext cx="2502407" cy="200101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 txBox="1"/>
          <p:nvPr>
            <p:ph idx="10" type="dt"/>
          </p:nvPr>
        </p:nvSpPr>
        <p:spPr>
          <a:xfrm>
            <a:off x="2874191" y="6516395"/>
            <a:ext cx="63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Cláusulas Join</a:t>
            </a:r>
            <a:endParaRPr/>
          </a:p>
        </p:txBody>
      </p:sp>
      <p:sp>
        <p:nvSpPr>
          <p:cNvPr id="194" name="Google Shape;194;p26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/>
          <p:nvPr>
            <p:ph type="title"/>
          </p:nvPr>
        </p:nvSpPr>
        <p:spPr>
          <a:xfrm>
            <a:off x="392112" y="748031"/>
            <a:ext cx="6469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 de la Unión de Tres Tablas</a:t>
            </a:r>
            <a:endParaRPr/>
          </a:p>
        </p:txBody>
      </p:sp>
      <p:grpSp>
        <p:nvGrpSpPr>
          <p:cNvPr id="201" name="Google Shape;201;p27"/>
          <p:cNvGrpSpPr/>
          <p:nvPr/>
        </p:nvGrpSpPr>
        <p:grpSpPr>
          <a:xfrm>
            <a:off x="1144524" y="3429000"/>
            <a:ext cx="2590799" cy="2139694"/>
            <a:chOff x="1144524" y="3429000"/>
            <a:chExt cx="2590799" cy="2139694"/>
          </a:xfrm>
        </p:grpSpPr>
        <p:pic>
          <p:nvPicPr>
            <p:cNvPr id="202" name="Google Shape;202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4524" y="4939283"/>
              <a:ext cx="2590799" cy="6294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72056" y="3429000"/>
              <a:ext cx="1685543" cy="2061971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04" name="Google Shape;204;p27"/>
          <p:cNvGraphicFramePr/>
          <p:nvPr/>
        </p:nvGraphicFramePr>
        <p:xfrm>
          <a:off x="5121841" y="2458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{046D660A-8B1D-4A49-A2BC-13A839F240D9}</a:tableStyleId>
              </a:tblPr>
              <a:tblGrid>
                <a:gridCol w="1226825"/>
                <a:gridCol w="1219200"/>
                <a:gridCol w="1164600"/>
              </a:tblGrid>
              <a:tr h="328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Departemen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CITY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Hartstein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Toronto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Toronto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Zlotkey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Oxford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Abel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Oxford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Taylor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Oxford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Hunold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Southlake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Ernst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Southlake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Lorentz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Southlake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2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Mourgos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3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Shipping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3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2590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South San Francisco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" name="Google Shape;205;p27"/>
          <p:cNvSpPr txBox="1"/>
          <p:nvPr>
            <p:ph idx="10" type="dt"/>
          </p:nvPr>
        </p:nvSpPr>
        <p:spPr>
          <a:xfrm>
            <a:off x="2874191" y="6516395"/>
            <a:ext cx="63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Cláusulas Join</a:t>
            </a:r>
            <a:endParaRPr/>
          </a:p>
        </p:txBody>
      </p:sp>
      <p:sp>
        <p:nvSpPr>
          <p:cNvPr id="206" name="Google Shape;206;p27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7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08" name="Google Shape;208;p27"/>
          <p:cNvSpPr txBox="1"/>
          <p:nvPr/>
        </p:nvSpPr>
        <p:spPr>
          <a:xfrm>
            <a:off x="405384" y="1397508"/>
            <a:ext cx="8345805" cy="972819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0" lvl="0" marL="0" marR="8331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last_name, department_name AS "Department", city FROM employees JOIN departments USING (department_id)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JOIN locations USING (location_id);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/>
          <p:nvPr>
            <p:ph type="title"/>
          </p:nvPr>
        </p:nvSpPr>
        <p:spPr>
          <a:xfrm>
            <a:off x="392112" y="748031"/>
            <a:ext cx="6469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Terminología</a:t>
            </a:r>
            <a:endParaRPr/>
          </a:p>
        </p:txBody>
      </p:sp>
      <p:sp>
        <p:nvSpPr>
          <p:cNvPr id="214" name="Google Shape;214;p28"/>
          <p:cNvSpPr txBox="1"/>
          <p:nvPr>
            <p:ph idx="10" type="dt"/>
          </p:nvPr>
        </p:nvSpPr>
        <p:spPr>
          <a:xfrm>
            <a:off x="2874191" y="6516395"/>
            <a:ext cx="63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Cláusulas Join</a:t>
            </a:r>
            <a:endParaRPr/>
          </a:p>
        </p:txBody>
      </p:sp>
      <p:sp>
        <p:nvSpPr>
          <p:cNvPr id="215" name="Google Shape;215;p28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8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17" name="Google Shape;217;p28"/>
          <p:cNvSpPr txBox="1"/>
          <p:nvPr/>
        </p:nvSpPr>
        <p:spPr>
          <a:xfrm>
            <a:off x="483552" y="1415417"/>
            <a:ext cx="770445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Entre los términos clave utilizados en esta lección se 	incluyen: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Cláusula ON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Cláusula USING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"/>
          <p:cNvSpPr txBox="1"/>
          <p:nvPr>
            <p:ph type="title"/>
          </p:nvPr>
        </p:nvSpPr>
        <p:spPr>
          <a:xfrm>
            <a:off x="392112" y="748031"/>
            <a:ext cx="6469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Resumen</a:t>
            </a:r>
            <a:endParaRPr/>
          </a:p>
        </p:txBody>
      </p:sp>
      <p:sp>
        <p:nvSpPr>
          <p:cNvPr id="223" name="Google Shape;223;p29"/>
          <p:cNvSpPr txBox="1"/>
          <p:nvPr>
            <p:ph idx="1" type="body"/>
          </p:nvPr>
        </p:nvSpPr>
        <p:spPr>
          <a:xfrm>
            <a:off x="483552" y="1393401"/>
            <a:ext cx="7644000" cy="1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En esta lección, debe haber aprendido lo siguiente:</a:t>
            </a:r>
            <a:endParaRPr/>
          </a:p>
          <a:p>
            <a:pPr indent="0" lvl="0" marL="3556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Crear y ejecutar una unión con la cláusula ANSI-99 USING</a:t>
            </a:r>
            <a:endParaRPr sz="2400"/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Crear y ejecutar una unión con la cláusula ANSI-99 ON</a:t>
            </a:r>
            <a:endParaRPr sz="2400"/>
          </a:p>
          <a:p>
            <a:pPr indent="0" lvl="0" marL="355600" rtl="0" algn="l">
              <a:lnSpc>
                <a:spcPct val="100000"/>
              </a:lnSpc>
              <a:spcBef>
                <a:spcPts val="105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Crear y ejecutar una consulta ANSI-99 que une tres tablas</a:t>
            </a:r>
            <a:endParaRPr sz="2400"/>
          </a:p>
        </p:txBody>
      </p:sp>
      <p:grpSp>
        <p:nvGrpSpPr>
          <p:cNvPr id="224" name="Google Shape;224;p29"/>
          <p:cNvGrpSpPr/>
          <p:nvPr/>
        </p:nvGrpSpPr>
        <p:grpSpPr>
          <a:xfrm>
            <a:off x="4379976" y="3886200"/>
            <a:ext cx="4140707" cy="2261615"/>
            <a:chOff x="4379976" y="3886200"/>
            <a:chExt cx="4140707" cy="2261615"/>
          </a:xfrm>
        </p:grpSpPr>
        <p:pic>
          <p:nvPicPr>
            <p:cNvPr id="225" name="Google Shape;225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79976" y="3886200"/>
              <a:ext cx="4140707" cy="22616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72000" y="4078223"/>
              <a:ext cx="3756659" cy="18775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7" name="Google Shape;227;p29"/>
          <p:cNvSpPr txBox="1"/>
          <p:nvPr>
            <p:ph idx="10" type="dt"/>
          </p:nvPr>
        </p:nvSpPr>
        <p:spPr>
          <a:xfrm>
            <a:off x="2874191" y="6516395"/>
            <a:ext cx="63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Cláusulas Join</a:t>
            </a:r>
            <a:endParaRPr/>
          </a:p>
        </p:txBody>
      </p:sp>
      <p:sp>
        <p:nvSpPr>
          <p:cNvPr id="228" name="Google Shape;228;p29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9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