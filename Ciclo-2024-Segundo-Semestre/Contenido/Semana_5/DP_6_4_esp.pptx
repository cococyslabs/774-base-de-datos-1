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464060-858F-43E6-A949-0B9790BB38E1}">
  <a:tblStyle styleId="{5D464060-858F-43E6-A949-0B9790BB38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Entre las áreas del mundo real donde se podrían utilizar los recorridos por árboles jerárquicos se incluyen: genealogía humana (árboles familiares), ganado (para crianza), gestión corporativa (jerarquías de gestión), fabricación (ensamblaje de productos).</a:t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LEVEL: es una pseudocolumna (lo que significa que no existe realmente) que devuelve 1 para la raíz del árbol, 2 para un nivel inferior, 3 para el tercer nivel, y así sucesivamente.</a:t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8359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7647900" cy="27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1632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4632325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6-4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Autouniones y Consultas Jerárquicas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22999" y="3470563"/>
            <a:ext cx="5070345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3552" y="1393401"/>
            <a:ext cx="76479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 se abordan los siguientes objetivos:</a:t>
            </a:r>
            <a:endParaRPr/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sentencia SELECT para unir una tabla consigo misma mediante una autounión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Interpretar el concepto de una consulta jerárquica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un informe con estructura de árbol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Aplicar formato a datos jerárquicos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Excluir ramas de la estructura de árbol</a:t>
            </a:r>
            <a:endParaRPr sz="2400"/>
          </a:p>
        </p:txBody>
      </p:sp>
      <p:grpSp>
        <p:nvGrpSpPr>
          <p:cNvPr id="74" name="Google Shape;74;p15"/>
          <p:cNvGrpSpPr/>
          <p:nvPr/>
        </p:nvGrpSpPr>
        <p:grpSpPr>
          <a:xfrm>
            <a:off x="5166359" y="3880116"/>
            <a:ext cx="3145535" cy="2490202"/>
            <a:chOff x="5166359" y="3880116"/>
            <a:chExt cx="3145535" cy="2490202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66359" y="3880116"/>
              <a:ext cx="3145535" cy="2490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58384" y="4072127"/>
              <a:ext cx="2761487" cy="21061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83552" y="1415417"/>
            <a:ext cx="8064500" cy="180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modelado de datos, a veces es necesario mostrar 	una entidad con una relación consigo misma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un empleado también puede ser un jefe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Mostramos esto con la relación recursiva o de "oreja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655764" y="3155987"/>
            <a:ext cx="14331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cerdo"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5474208" y="3300978"/>
            <a:ext cx="2727706" cy="2878587"/>
            <a:chOff x="5474208" y="3300978"/>
            <a:chExt cx="2727706" cy="2878587"/>
          </a:xfrm>
        </p:grpSpPr>
        <p:sp>
          <p:nvSpPr>
            <p:cNvPr id="88" name="Google Shape;88;p16"/>
            <p:cNvSpPr/>
            <p:nvPr/>
          </p:nvSpPr>
          <p:spPr>
            <a:xfrm>
              <a:off x="7053834" y="5031485"/>
              <a:ext cx="1148080" cy="1148080"/>
            </a:xfrm>
            <a:custGeom>
              <a:rect b="b" l="l" r="r" t="t"/>
              <a:pathLst>
                <a:path extrusionOk="0" h="1148079" w="1148079">
                  <a:moveTo>
                    <a:pt x="0" y="573785"/>
                  </a:moveTo>
                  <a:lnTo>
                    <a:pt x="1902" y="526727"/>
                  </a:lnTo>
                  <a:lnTo>
                    <a:pt x="7509" y="480715"/>
                  </a:lnTo>
                  <a:lnTo>
                    <a:pt x="16675" y="435899"/>
                  </a:lnTo>
                  <a:lnTo>
                    <a:pt x="29252" y="392426"/>
                  </a:lnTo>
                  <a:lnTo>
                    <a:pt x="45091" y="350443"/>
                  </a:lnTo>
                  <a:lnTo>
                    <a:pt x="64045" y="310099"/>
                  </a:lnTo>
                  <a:lnTo>
                    <a:pt x="85967" y="271541"/>
                  </a:lnTo>
                  <a:lnTo>
                    <a:pt x="110708" y="234916"/>
                  </a:lnTo>
                  <a:lnTo>
                    <a:pt x="138121" y="200373"/>
                  </a:lnTo>
                  <a:lnTo>
                    <a:pt x="168059" y="168059"/>
                  </a:lnTo>
                  <a:lnTo>
                    <a:pt x="200373" y="138121"/>
                  </a:lnTo>
                  <a:lnTo>
                    <a:pt x="234916" y="110708"/>
                  </a:lnTo>
                  <a:lnTo>
                    <a:pt x="271541" y="85967"/>
                  </a:lnTo>
                  <a:lnTo>
                    <a:pt x="310099" y="64045"/>
                  </a:lnTo>
                  <a:lnTo>
                    <a:pt x="350443" y="45091"/>
                  </a:lnTo>
                  <a:lnTo>
                    <a:pt x="392426" y="29252"/>
                  </a:lnTo>
                  <a:lnTo>
                    <a:pt x="435899" y="16675"/>
                  </a:lnTo>
                  <a:lnTo>
                    <a:pt x="480715" y="7509"/>
                  </a:lnTo>
                  <a:lnTo>
                    <a:pt x="526727" y="1902"/>
                  </a:lnTo>
                  <a:lnTo>
                    <a:pt x="573786" y="0"/>
                  </a:lnTo>
                  <a:lnTo>
                    <a:pt x="620844" y="1902"/>
                  </a:lnTo>
                  <a:lnTo>
                    <a:pt x="666856" y="7509"/>
                  </a:lnTo>
                  <a:lnTo>
                    <a:pt x="711672" y="16675"/>
                  </a:lnTo>
                  <a:lnTo>
                    <a:pt x="755145" y="29252"/>
                  </a:lnTo>
                  <a:lnTo>
                    <a:pt x="797128" y="45091"/>
                  </a:lnTo>
                  <a:lnTo>
                    <a:pt x="837472" y="64045"/>
                  </a:lnTo>
                  <a:lnTo>
                    <a:pt x="876030" y="85967"/>
                  </a:lnTo>
                  <a:lnTo>
                    <a:pt x="912655" y="110708"/>
                  </a:lnTo>
                  <a:lnTo>
                    <a:pt x="947198" y="138121"/>
                  </a:lnTo>
                  <a:lnTo>
                    <a:pt x="979512" y="168059"/>
                  </a:lnTo>
                  <a:lnTo>
                    <a:pt x="1009450" y="200373"/>
                  </a:lnTo>
                  <a:lnTo>
                    <a:pt x="1036863" y="234916"/>
                  </a:lnTo>
                  <a:lnTo>
                    <a:pt x="1061604" y="271541"/>
                  </a:lnTo>
                  <a:lnTo>
                    <a:pt x="1083526" y="310099"/>
                  </a:lnTo>
                  <a:lnTo>
                    <a:pt x="1102480" y="350443"/>
                  </a:lnTo>
                  <a:lnTo>
                    <a:pt x="1118319" y="392426"/>
                  </a:lnTo>
                  <a:lnTo>
                    <a:pt x="1130896" y="435899"/>
                  </a:lnTo>
                  <a:lnTo>
                    <a:pt x="1140062" y="480715"/>
                  </a:lnTo>
                  <a:lnTo>
                    <a:pt x="1145669" y="526727"/>
                  </a:lnTo>
                  <a:lnTo>
                    <a:pt x="1147572" y="573785"/>
                  </a:lnTo>
                  <a:lnTo>
                    <a:pt x="1145669" y="620844"/>
                  </a:lnTo>
                  <a:lnTo>
                    <a:pt x="1140062" y="666856"/>
                  </a:lnTo>
                  <a:lnTo>
                    <a:pt x="1130896" y="711672"/>
                  </a:lnTo>
                  <a:lnTo>
                    <a:pt x="1118319" y="755145"/>
                  </a:lnTo>
                  <a:lnTo>
                    <a:pt x="1102480" y="797128"/>
                  </a:lnTo>
                  <a:lnTo>
                    <a:pt x="1083526" y="837472"/>
                  </a:lnTo>
                  <a:lnTo>
                    <a:pt x="1061604" y="876030"/>
                  </a:lnTo>
                  <a:lnTo>
                    <a:pt x="1036863" y="912655"/>
                  </a:lnTo>
                  <a:lnTo>
                    <a:pt x="1009450" y="947198"/>
                  </a:lnTo>
                  <a:lnTo>
                    <a:pt x="979512" y="979512"/>
                  </a:lnTo>
                  <a:lnTo>
                    <a:pt x="947198" y="1009450"/>
                  </a:lnTo>
                  <a:lnTo>
                    <a:pt x="912655" y="1036863"/>
                  </a:lnTo>
                  <a:lnTo>
                    <a:pt x="876030" y="1061604"/>
                  </a:lnTo>
                  <a:lnTo>
                    <a:pt x="837472" y="1083526"/>
                  </a:lnTo>
                  <a:lnTo>
                    <a:pt x="797128" y="1102480"/>
                  </a:lnTo>
                  <a:lnTo>
                    <a:pt x="755145" y="1118319"/>
                  </a:lnTo>
                  <a:lnTo>
                    <a:pt x="711672" y="1130896"/>
                  </a:lnTo>
                  <a:lnTo>
                    <a:pt x="666856" y="1140062"/>
                  </a:lnTo>
                  <a:lnTo>
                    <a:pt x="620844" y="1145669"/>
                  </a:lnTo>
                  <a:lnTo>
                    <a:pt x="573786" y="1147571"/>
                  </a:lnTo>
                  <a:lnTo>
                    <a:pt x="526727" y="1145669"/>
                  </a:lnTo>
                  <a:lnTo>
                    <a:pt x="480715" y="1140062"/>
                  </a:lnTo>
                  <a:lnTo>
                    <a:pt x="435899" y="1130896"/>
                  </a:lnTo>
                  <a:lnTo>
                    <a:pt x="392426" y="1118319"/>
                  </a:lnTo>
                  <a:lnTo>
                    <a:pt x="350443" y="1102480"/>
                  </a:lnTo>
                  <a:lnTo>
                    <a:pt x="310099" y="1083526"/>
                  </a:lnTo>
                  <a:lnTo>
                    <a:pt x="271541" y="1061604"/>
                  </a:lnTo>
                  <a:lnTo>
                    <a:pt x="234916" y="1036863"/>
                  </a:lnTo>
                  <a:lnTo>
                    <a:pt x="200373" y="1009450"/>
                  </a:lnTo>
                  <a:lnTo>
                    <a:pt x="168059" y="979512"/>
                  </a:lnTo>
                  <a:lnTo>
                    <a:pt x="138121" y="947198"/>
                  </a:lnTo>
                  <a:lnTo>
                    <a:pt x="110708" y="912655"/>
                  </a:lnTo>
                  <a:lnTo>
                    <a:pt x="85967" y="876030"/>
                  </a:lnTo>
                  <a:lnTo>
                    <a:pt x="64045" y="837472"/>
                  </a:lnTo>
                  <a:lnTo>
                    <a:pt x="45091" y="797128"/>
                  </a:lnTo>
                  <a:lnTo>
                    <a:pt x="29252" y="755145"/>
                  </a:lnTo>
                  <a:lnTo>
                    <a:pt x="16675" y="711672"/>
                  </a:lnTo>
                  <a:lnTo>
                    <a:pt x="7509" y="666856"/>
                  </a:lnTo>
                  <a:lnTo>
                    <a:pt x="1902" y="620844"/>
                  </a:lnTo>
                  <a:lnTo>
                    <a:pt x="0" y="573785"/>
                  </a:lnTo>
                  <a:close/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5474208" y="3300978"/>
              <a:ext cx="2118360" cy="2161540"/>
            </a:xfrm>
            <a:custGeom>
              <a:rect b="b" l="l" r="r" t="t"/>
              <a:pathLst>
                <a:path extrusionOk="0" h="2161540" w="2118359">
                  <a:moveTo>
                    <a:pt x="1765287" y="0"/>
                  </a:moveTo>
                  <a:lnTo>
                    <a:pt x="353072" y="0"/>
                  </a:lnTo>
                  <a:lnTo>
                    <a:pt x="305163" y="3223"/>
                  </a:lnTo>
                  <a:lnTo>
                    <a:pt x="259212" y="12612"/>
                  </a:lnTo>
                  <a:lnTo>
                    <a:pt x="215641" y="27746"/>
                  </a:lnTo>
                  <a:lnTo>
                    <a:pt x="174870" y="48204"/>
                  </a:lnTo>
                  <a:lnTo>
                    <a:pt x="137320" y="73567"/>
                  </a:lnTo>
                  <a:lnTo>
                    <a:pt x="103412" y="103412"/>
                  </a:lnTo>
                  <a:lnTo>
                    <a:pt x="73567" y="137320"/>
                  </a:lnTo>
                  <a:lnTo>
                    <a:pt x="48204" y="174870"/>
                  </a:lnTo>
                  <a:lnTo>
                    <a:pt x="27746" y="215641"/>
                  </a:lnTo>
                  <a:lnTo>
                    <a:pt x="12612" y="259212"/>
                  </a:lnTo>
                  <a:lnTo>
                    <a:pt x="3223" y="305163"/>
                  </a:lnTo>
                  <a:lnTo>
                    <a:pt x="0" y="353072"/>
                  </a:lnTo>
                  <a:lnTo>
                    <a:pt x="0" y="1807971"/>
                  </a:lnTo>
                  <a:lnTo>
                    <a:pt x="3223" y="1855881"/>
                  </a:lnTo>
                  <a:lnTo>
                    <a:pt x="12612" y="1901831"/>
                  </a:lnTo>
                  <a:lnTo>
                    <a:pt x="27746" y="1945401"/>
                  </a:lnTo>
                  <a:lnTo>
                    <a:pt x="48204" y="1986170"/>
                  </a:lnTo>
                  <a:lnTo>
                    <a:pt x="73567" y="2023719"/>
                  </a:lnTo>
                  <a:lnTo>
                    <a:pt x="103412" y="2057625"/>
                  </a:lnTo>
                  <a:lnTo>
                    <a:pt x="137320" y="2087469"/>
                  </a:lnTo>
                  <a:lnTo>
                    <a:pt x="174870" y="2112830"/>
                  </a:lnTo>
                  <a:lnTo>
                    <a:pt x="215641" y="2133287"/>
                  </a:lnTo>
                  <a:lnTo>
                    <a:pt x="259212" y="2148420"/>
                  </a:lnTo>
                  <a:lnTo>
                    <a:pt x="305163" y="2157809"/>
                  </a:lnTo>
                  <a:lnTo>
                    <a:pt x="353072" y="2161032"/>
                  </a:lnTo>
                  <a:lnTo>
                    <a:pt x="1765287" y="2161032"/>
                  </a:lnTo>
                  <a:lnTo>
                    <a:pt x="1813196" y="2157809"/>
                  </a:lnTo>
                  <a:lnTo>
                    <a:pt x="1859147" y="2148420"/>
                  </a:lnTo>
                  <a:lnTo>
                    <a:pt x="1902718" y="2133287"/>
                  </a:lnTo>
                  <a:lnTo>
                    <a:pt x="1943489" y="2112830"/>
                  </a:lnTo>
                  <a:lnTo>
                    <a:pt x="1981039" y="2087469"/>
                  </a:lnTo>
                  <a:lnTo>
                    <a:pt x="2014947" y="2057625"/>
                  </a:lnTo>
                  <a:lnTo>
                    <a:pt x="2044792" y="2023719"/>
                  </a:lnTo>
                  <a:lnTo>
                    <a:pt x="2070155" y="1986170"/>
                  </a:lnTo>
                  <a:lnTo>
                    <a:pt x="2090613" y="1945401"/>
                  </a:lnTo>
                  <a:lnTo>
                    <a:pt x="2105747" y="1901831"/>
                  </a:lnTo>
                  <a:lnTo>
                    <a:pt x="2115136" y="1855881"/>
                  </a:lnTo>
                  <a:lnTo>
                    <a:pt x="2118360" y="1807971"/>
                  </a:lnTo>
                  <a:lnTo>
                    <a:pt x="2118360" y="353072"/>
                  </a:lnTo>
                  <a:lnTo>
                    <a:pt x="2115136" y="305163"/>
                  </a:lnTo>
                  <a:lnTo>
                    <a:pt x="2105747" y="259212"/>
                  </a:lnTo>
                  <a:lnTo>
                    <a:pt x="2090613" y="215641"/>
                  </a:lnTo>
                  <a:lnTo>
                    <a:pt x="2070155" y="174870"/>
                  </a:lnTo>
                  <a:lnTo>
                    <a:pt x="2044792" y="137320"/>
                  </a:lnTo>
                  <a:lnTo>
                    <a:pt x="2014947" y="103412"/>
                  </a:lnTo>
                  <a:lnTo>
                    <a:pt x="1981039" y="73567"/>
                  </a:lnTo>
                  <a:lnTo>
                    <a:pt x="1943489" y="48204"/>
                  </a:lnTo>
                  <a:lnTo>
                    <a:pt x="1902718" y="27746"/>
                  </a:lnTo>
                  <a:lnTo>
                    <a:pt x="1859147" y="12612"/>
                  </a:lnTo>
                  <a:lnTo>
                    <a:pt x="1813196" y="3223"/>
                  </a:lnTo>
                  <a:lnTo>
                    <a:pt x="1765287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5474208" y="3300978"/>
              <a:ext cx="2118360" cy="2161540"/>
            </a:xfrm>
            <a:custGeom>
              <a:rect b="b" l="l" r="r" t="t"/>
              <a:pathLst>
                <a:path extrusionOk="0" h="2161540" w="2118359">
                  <a:moveTo>
                    <a:pt x="0" y="353072"/>
                  </a:moveTo>
                  <a:lnTo>
                    <a:pt x="3223" y="305163"/>
                  </a:lnTo>
                  <a:lnTo>
                    <a:pt x="12612" y="259212"/>
                  </a:lnTo>
                  <a:lnTo>
                    <a:pt x="27746" y="215641"/>
                  </a:lnTo>
                  <a:lnTo>
                    <a:pt x="48204" y="174870"/>
                  </a:lnTo>
                  <a:lnTo>
                    <a:pt x="73567" y="137320"/>
                  </a:lnTo>
                  <a:lnTo>
                    <a:pt x="103412" y="103412"/>
                  </a:lnTo>
                  <a:lnTo>
                    <a:pt x="137320" y="73567"/>
                  </a:lnTo>
                  <a:lnTo>
                    <a:pt x="174870" y="48204"/>
                  </a:lnTo>
                  <a:lnTo>
                    <a:pt x="215641" y="27746"/>
                  </a:lnTo>
                  <a:lnTo>
                    <a:pt x="259212" y="12612"/>
                  </a:lnTo>
                  <a:lnTo>
                    <a:pt x="305163" y="3223"/>
                  </a:lnTo>
                  <a:lnTo>
                    <a:pt x="353072" y="0"/>
                  </a:lnTo>
                  <a:lnTo>
                    <a:pt x="1765287" y="0"/>
                  </a:lnTo>
                  <a:lnTo>
                    <a:pt x="1813196" y="3223"/>
                  </a:lnTo>
                  <a:lnTo>
                    <a:pt x="1859147" y="12612"/>
                  </a:lnTo>
                  <a:lnTo>
                    <a:pt x="1902718" y="27746"/>
                  </a:lnTo>
                  <a:lnTo>
                    <a:pt x="1943489" y="48204"/>
                  </a:lnTo>
                  <a:lnTo>
                    <a:pt x="1981039" y="73567"/>
                  </a:lnTo>
                  <a:lnTo>
                    <a:pt x="2014947" y="103412"/>
                  </a:lnTo>
                  <a:lnTo>
                    <a:pt x="2044792" y="137320"/>
                  </a:lnTo>
                  <a:lnTo>
                    <a:pt x="2070155" y="174870"/>
                  </a:lnTo>
                  <a:lnTo>
                    <a:pt x="2090613" y="215641"/>
                  </a:lnTo>
                  <a:lnTo>
                    <a:pt x="2105747" y="259212"/>
                  </a:lnTo>
                  <a:lnTo>
                    <a:pt x="2115136" y="305163"/>
                  </a:lnTo>
                  <a:lnTo>
                    <a:pt x="2118360" y="353072"/>
                  </a:lnTo>
                  <a:lnTo>
                    <a:pt x="2118360" y="1807971"/>
                  </a:lnTo>
                  <a:lnTo>
                    <a:pt x="2115136" y="1855881"/>
                  </a:lnTo>
                  <a:lnTo>
                    <a:pt x="2105747" y="1901831"/>
                  </a:lnTo>
                  <a:lnTo>
                    <a:pt x="2090613" y="1945401"/>
                  </a:lnTo>
                  <a:lnTo>
                    <a:pt x="2070155" y="1986170"/>
                  </a:lnTo>
                  <a:lnTo>
                    <a:pt x="2044792" y="2023719"/>
                  </a:lnTo>
                  <a:lnTo>
                    <a:pt x="2014947" y="2057625"/>
                  </a:lnTo>
                  <a:lnTo>
                    <a:pt x="1981039" y="2087469"/>
                  </a:lnTo>
                  <a:lnTo>
                    <a:pt x="1943489" y="2112830"/>
                  </a:lnTo>
                  <a:lnTo>
                    <a:pt x="1902718" y="2133287"/>
                  </a:lnTo>
                  <a:lnTo>
                    <a:pt x="1859147" y="2148420"/>
                  </a:lnTo>
                  <a:lnTo>
                    <a:pt x="1813196" y="2157809"/>
                  </a:lnTo>
                  <a:lnTo>
                    <a:pt x="1765287" y="2161032"/>
                  </a:lnTo>
                  <a:lnTo>
                    <a:pt x="353072" y="2161032"/>
                  </a:lnTo>
                  <a:lnTo>
                    <a:pt x="305163" y="2157809"/>
                  </a:lnTo>
                  <a:lnTo>
                    <a:pt x="259212" y="2148420"/>
                  </a:lnTo>
                  <a:lnTo>
                    <a:pt x="215641" y="2133287"/>
                  </a:lnTo>
                  <a:lnTo>
                    <a:pt x="174870" y="2112830"/>
                  </a:lnTo>
                  <a:lnTo>
                    <a:pt x="137320" y="2087469"/>
                  </a:lnTo>
                  <a:lnTo>
                    <a:pt x="103412" y="2057625"/>
                  </a:lnTo>
                  <a:lnTo>
                    <a:pt x="73567" y="2023719"/>
                  </a:lnTo>
                  <a:lnTo>
                    <a:pt x="48204" y="1986170"/>
                  </a:lnTo>
                  <a:lnTo>
                    <a:pt x="27746" y="1945401"/>
                  </a:lnTo>
                  <a:lnTo>
                    <a:pt x="12612" y="1901831"/>
                  </a:lnTo>
                  <a:lnTo>
                    <a:pt x="3223" y="1855881"/>
                  </a:lnTo>
                  <a:lnTo>
                    <a:pt x="0" y="1807971"/>
                  </a:lnTo>
                  <a:lnTo>
                    <a:pt x="0" y="353072"/>
                  </a:lnTo>
                  <a:close/>
                </a:path>
              </a:pathLst>
            </a:custGeom>
            <a:noFill/>
            <a:ln cap="flat" cmpd="sng" w="12175">
              <a:solidFill>
                <a:srgbClr val="9923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6"/>
          <p:cNvSpPr txBox="1"/>
          <p:nvPr/>
        </p:nvSpPr>
        <p:spPr>
          <a:xfrm>
            <a:off x="5538891" y="3386597"/>
            <a:ext cx="1802130" cy="197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EMPLEADO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 ID del empleado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37160" lvl="0" marL="175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*"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9539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*"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Apellido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37160" lvl="0" marL="175260" marR="541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*"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 de contratación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37160" lvl="0" marL="175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*"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Salario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6"/>
          <p:cNvGrpSpPr/>
          <p:nvPr/>
        </p:nvGrpSpPr>
        <p:grpSpPr>
          <a:xfrm>
            <a:off x="6956298" y="5471921"/>
            <a:ext cx="194690" cy="194310"/>
            <a:chOff x="6956298" y="5471921"/>
            <a:chExt cx="194690" cy="194310"/>
          </a:xfrm>
        </p:grpSpPr>
        <p:sp>
          <p:nvSpPr>
            <p:cNvPr id="93" name="Google Shape;93;p16"/>
            <p:cNvSpPr/>
            <p:nvPr/>
          </p:nvSpPr>
          <p:spPr>
            <a:xfrm>
              <a:off x="6956298" y="5471921"/>
              <a:ext cx="97155" cy="194310"/>
            </a:xfrm>
            <a:custGeom>
              <a:rect b="b" l="l" r="r" t="t"/>
              <a:pathLst>
                <a:path extrusionOk="0" h="194310" w="97154">
                  <a:moveTo>
                    <a:pt x="0" y="0"/>
                  </a:moveTo>
                  <a:lnTo>
                    <a:pt x="96875" y="193827"/>
                  </a:lnTo>
                </a:path>
              </a:pathLst>
            </a:custGeom>
            <a:noFill/>
            <a:ln cap="flat" cmpd="sng" w="19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7053834" y="5471921"/>
              <a:ext cx="0" cy="194310"/>
            </a:xfrm>
            <a:custGeom>
              <a:rect b="b" l="l" r="r" t="t"/>
              <a:pathLst>
                <a:path extrusionOk="0" h="194310" w="12000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noFill/>
            <a:ln cap="flat" cmpd="sng" w="19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7053833" y="5471921"/>
              <a:ext cx="97155" cy="194310"/>
            </a:xfrm>
            <a:custGeom>
              <a:rect b="b" l="l" r="r" t="t"/>
              <a:pathLst>
                <a:path extrusionOk="0" h="194310" w="97154">
                  <a:moveTo>
                    <a:pt x="96875" y="0"/>
                  </a:moveTo>
                  <a:lnTo>
                    <a:pt x="0" y="193827"/>
                  </a:lnTo>
                </a:path>
              </a:pathLst>
            </a:custGeom>
            <a:noFill/>
            <a:ln cap="flat" cmpd="sng" w="19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6"/>
          <p:cNvSpPr txBox="1"/>
          <p:nvPr/>
        </p:nvSpPr>
        <p:spPr>
          <a:xfrm>
            <a:off x="5113897" y="5823925"/>
            <a:ext cx="20472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bajo la supervisión 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7885900" y="4731446"/>
            <a:ext cx="657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jefe de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106" name="Google Shape;106;p17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83552" y="1415417"/>
            <a:ext cx="816546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vez que tengamos una verdadera tabla employees, 	es necesario un tipo especial de unión denominada 	autounión para acceder a esos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842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utiliza una autounión para unir una tabla a sí misma 	como si se tratara de dos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93191" y="3758184"/>
            <a:ext cx="8345805" cy="12179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-136525" lvl="0" marL="136525" marR="12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worker.last_name || ' works for ' || manager.last_name AS "Works for"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197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worker JOIN employees manager ON (worker.manager_id = manager.employee_id);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AUTOUNIÓN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826452" y="5118737"/>
            <a:ext cx="7537450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175260" lvl="0" marL="187325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Manager_id en la tabla worker es igual a employee_id en la tabla manager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18"/>
          <p:cNvGraphicFramePr/>
          <p:nvPr/>
        </p:nvGraphicFramePr>
        <p:xfrm>
          <a:off x="893762" y="2911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182375"/>
                <a:gridCol w="1184275"/>
                <a:gridCol w="1182375"/>
              </a:tblGrid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85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18" name="Google Shape;118;p18"/>
          <p:cNvGraphicFramePr/>
          <p:nvPr/>
        </p:nvGraphicFramePr>
        <p:xfrm>
          <a:off x="5588227" y="2881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256675"/>
                <a:gridCol w="1390650"/>
              </a:tblGrid>
              <a:tr h="2800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9" name="Google Shape;119;p18"/>
          <p:cNvGrpSpPr/>
          <p:nvPr/>
        </p:nvGrpSpPr>
        <p:grpSpPr>
          <a:xfrm>
            <a:off x="5872091" y="5043684"/>
            <a:ext cx="114300" cy="221569"/>
            <a:chOff x="5872091" y="5043684"/>
            <a:chExt cx="114300" cy="221569"/>
          </a:xfrm>
        </p:grpSpPr>
        <p:sp>
          <p:nvSpPr>
            <p:cNvPr id="120" name="Google Shape;120;p18"/>
            <p:cNvSpPr/>
            <p:nvPr/>
          </p:nvSpPr>
          <p:spPr>
            <a:xfrm>
              <a:off x="5928702" y="5138889"/>
              <a:ext cx="3810" cy="126364"/>
            </a:xfrm>
            <a:custGeom>
              <a:rect b="b" l="l" r="r" t="t"/>
              <a:pathLst>
                <a:path extrusionOk="0" h="126364" w="3810">
                  <a:moveTo>
                    <a:pt x="3467" y="125768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5872091" y="5043684"/>
              <a:ext cx="114300" cy="116205"/>
            </a:xfrm>
            <a:custGeom>
              <a:rect b="b" l="l" r="r" t="t"/>
              <a:pathLst>
                <a:path extrusionOk="0" h="116204" w="114300">
                  <a:moveTo>
                    <a:pt x="53987" y="0"/>
                  </a:moveTo>
                  <a:lnTo>
                    <a:pt x="0" y="115824"/>
                  </a:lnTo>
                  <a:lnTo>
                    <a:pt x="114261" y="112674"/>
                  </a:lnTo>
                  <a:lnTo>
                    <a:pt x="53987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3566496" y="5037579"/>
            <a:ext cx="114300" cy="187950"/>
            <a:chOff x="3566496" y="5037579"/>
            <a:chExt cx="114300" cy="187950"/>
          </a:xfrm>
        </p:grpSpPr>
        <p:sp>
          <p:nvSpPr>
            <p:cNvPr id="123" name="Google Shape;123;p18"/>
            <p:cNvSpPr/>
            <p:nvPr/>
          </p:nvSpPr>
          <p:spPr>
            <a:xfrm>
              <a:off x="3623335" y="5132819"/>
              <a:ext cx="1905" cy="92710"/>
            </a:xfrm>
            <a:custGeom>
              <a:rect b="b" l="l" r="r" t="t"/>
              <a:pathLst>
                <a:path extrusionOk="0" h="92710" w="1904">
                  <a:moveTo>
                    <a:pt x="1498" y="92214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3566496" y="5037579"/>
              <a:ext cx="114300" cy="115570"/>
            </a:xfrm>
            <a:custGeom>
              <a:rect b="b" l="l" r="r" t="t"/>
              <a:pathLst>
                <a:path extrusionOk="0" h="115570" w="114300">
                  <a:moveTo>
                    <a:pt x="55295" y="0"/>
                  </a:moveTo>
                  <a:lnTo>
                    <a:pt x="0" y="115214"/>
                  </a:lnTo>
                  <a:lnTo>
                    <a:pt x="114287" y="113360"/>
                  </a:lnTo>
                  <a:lnTo>
                    <a:pt x="55295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8"/>
          <p:cNvSpPr txBox="1"/>
          <p:nvPr/>
        </p:nvSpPr>
        <p:spPr>
          <a:xfrm>
            <a:off x="483552" y="1415417"/>
            <a:ext cx="7904480" cy="1461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unir una tabla a sí misma, a la tabla se le asignan 	dos nombres o alias. Esto hará que la base de datos 	"crea" que hay dos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07490" rtl="0" algn="l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 (worker)	EMPLOYEES (manager)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AUTOUNIÓN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483552" y="4824605"/>
            <a:ext cx="7973059" cy="793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Manager_id en la tabla worker es igual a employee_id 	en la tabla manager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483552" y="1381889"/>
            <a:ext cx="7599045" cy="110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Seleccione los nombres de alias relacionados con la 	asociación de datos con esa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0749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EMPLOYEES (worker)	EMPLOYEES (manager)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19"/>
          <p:cNvGraphicFramePr/>
          <p:nvPr/>
        </p:nvGraphicFramePr>
        <p:xfrm>
          <a:off x="917661" y="26403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182375"/>
                <a:gridCol w="1184275"/>
                <a:gridCol w="1182375"/>
              </a:tblGrid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37" name="Google Shape;137;p19"/>
          <p:cNvGraphicFramePr/>
          <p:nvPr/>
        </p:nvGraphicFramePr>
        <p:xfrm>
          <a:off x="5612122" y="2609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256675"/>
                <a:gridCol w="1390650"/>
              </a:tblGrid>
              <a:tr h="2800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1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8" name="Google Shape;138;p19"/>
          <p:cNvGrpSpPr/>
          <p:nvPr/>
        </p:nvGrpSpPr>
        <p:grpSpPr>
          <a:xfrm>
            <a:off x="5896498" y="4772409"/>
            <a:ext cx="114300" cy="219668"/>
            <a:chOff x="5896498" y="4772409"/>
            <a:chExt cx="114300" cy="219668"/>
          </a:xfrm>
        </p:grpSpPr>
        <p:sp>
          <p:nvSpPr>
            <p:cNvPr id="139" name="Google Shape;139;p19"/>
            <p:cNvSpPr/>
            <p:nvPr/>
          </p:nvSpPr>
          <p:spPr>
            <a:xfrm>
              <a:off x="5953099" y="4867617"/>
              <a:ext cx="3810" cy="124460"/>
            </a:xfrm>
            <a:custGeom>
              <a:rect b="b" l="l" r="r" t="t"/>
              <a:pathLst>
                <a:path extrusionOk="0" h="124460" w="3810">
                  <a:moveTo>
                    <a:pt x="3454" y="124244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5896498" y="4772409"/>
              <a:ext cx="114300" cy="116205"/>
            </a:xfrm>
            <a:custGeom>
              <a:rect b="b" l="l" r="r" t="t"/>
              <a:pathLst>
                <a:path extrusionOk="0" h="116204" w="114300">
                  <a:moveTo>
                    <a:pt x="53962" y="0"/>
                  </a:moveTo>
                  <a:lnTo>
                    <a:pt x="0" y="115836"/>
                  </a:lnTo>
                  <a:lnTo>
                    <a:pt x="114261" y="112674"/>
                  </a:lnTo>
                  <a:lnTo>
                    <a:pt x="53962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3590895" y="4766313"/>
            <a:ext cx="114300" cy="186039"/>
            <a:chOff x="3590895" y="4766313"/>
            <a:chExt cx="114300" cy="186039"/>
          </a:xfrm>
        </p:grpSpPr>
        <p:sp>
          <p:nvSpPr>
            <p:cNvPr id="142" name="Google Shape;142;p19"/>
            <p:cNvSpPr/>
            <p:nvPr/>
          </p:nvSpPr>
          <p:spPr>
            <a:xfrm>
              <a:off x="3647732" y="4861547"/>
              <a:ext cx="1905" cy="90805"/>
            </a:xfrm>
            <a:custGeom>
              <a:rect b="b" l="l" r="r" t="t"/>
              <a:pathLst>
                <a:path extrusionOk="0" h="90804" w="1904">
                  <a:moveTo>
                    <a:pt x="1485" y="90690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590895" y="4766313"/>
              <a:ext cx="114300" cy="115570"/>
            </a:xfrm>
            <a:custGeom>
              <a:rect b="b" l="l" r="r" t="t"/>
              <a:pathLst>
                <a:path extrusionOk="0" h="115570" w="114300">
                  <a:moveTo>
                    <a:pt x="55270" y="0"/>
                  </a:moveTo>
                  <a:lnTo>
                    <a:pt x="0" y="115214"/>
                  </a:lnTo>
                  <a:lnTo>
                    <a:pt x="114287" y="113347"/>
                  </a:lnTo>
                  <a:lnTo>
                    <a:pt x="5527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9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SELF-JOIN</a:t>
            </a:r>
            <a:endParaRPr/>
          </a:p>
        </p:txBody>
      </p:sp>
      <p:sp>
        <p:nvSpPr>
          <p:cNvPr id="152" name="Google Shape;152;p20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1612971" y="27799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849125"/>
                <a:gridCol w="1849125"/>
                <a:gridCol w="1849125"/>
              </a:tblGrid>
              <a:tr h="3079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 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20"/>
          <p:cNvSpPr txBox="1"/>
          <p:nvPr/>
        </p:nvSpPr>
        <p:spPr>
          <a:xfrm>
            <a:off x="405384" y="1368552"/>
            <a:ext cx="8345805" cy="12179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-273050" lvl="0" marL="27305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worker.last_name, worker.manager_id, manager.last_name AS "Manager name"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worker JOIN employees manager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(worker.manager_id = manager.employee_id);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Consultas Jerárquicas</a:t>
            </a:r>
            <a:endParaRPr/>
          </a:p>
        </p:txBody>
      </p:sp>
      <p:sp>
        <p:nvSpPr>
          <p:cNvPr id="162" name="Google Shape;162;p21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483552" y="1415417"/>
            <a:ext cx="8064500" cy="421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44450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Estrechamente relacionadas con las autouniones se 	encuentran las consultas jerárquicas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7556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las páginas anteriores, ha visto cómo puede utilizar 	las autouniones para ver al jefe directo de cada 	empleado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0005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las consultas jerárquicas, también podemos ver 	para quién trabaja ese jefe, y así sucesivamente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este tipo de consulta, podemos crear un diagrama 	de organización que muestre la estructura de una 	compañía o de un departamento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Consultas Jerárquicas</a:t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483552" y="1415417"/>
            <a:ext cx="8024495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Imagine un árbol familiar en el que los miembros más 	mayores de la familia se encuentran cerca de la base o 	el tronco del árbol y los más jóvenes representan las 	ramas del árbol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466215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ramas pueden tener sus propias ramas y 	así sucesivamente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4416" y="3707891"/>
            <a:ext cx="2752343" cy="2776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392112" y="748031"/>
            <a:ext cx="493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 de Consultas Jerárquicas</a:t>
            </a:r>
            <a:endParaRPr/>
          </a:p>
        </p:txBody>
      </p:sp>
      <p:sp>
        <p:nvSpPr>
          <p:cNvPr id="181" name="Google Shape;181;p23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83552" y="1381889"/>
            <a:ext cx="8183245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21399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las consultas jerárquicas, puede recuperar datos 	según una relación jerárquica natural entre las filas de 	una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0795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base de datos relacional no almacena los registros 	de forma jerárquica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62865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cuando existe una relación jerárquica 	entre las filas de una única tabla, un proceso 	denominado recorrido por el árbol permite construir la 	jerarquía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consulta jerárquica es un método de creación de 	informes, con las ramas de un árbol en un determinado 	orden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Datos de Consultas Jerárquicas</a:t>
            </a:r>
            <a:endParaRPr/>
          </a:p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483552" y="1415417"/>
            <a:ext cx="808990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Examine los datos de ejemplo de la tabla EMPLOYEES 	siguiente y observe cómo puede realizar manualmente 	las conexiones para ver quién trabaja para quién, 	empezando por Steven King y desplazándose por el 	árbol desde ahí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24"/>
          <p:cNvGraphicFramePr/>
          <p:nvPr/>
        </p:nvGraphicFramePr>
        <p:xfrm>
          <a:off x="510479" y="3422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854075"/>
                <a:gridCol w="819150"/>
                <a:gridCol w="784225"/>
                <a:gridCol w="737225"/>
                <a:gridCol w="1053475"/>
                <a:gridCol w="819150"/>
                <a:gridCol w="620400"/>
                <a:gridCol w="527050"/>
                <a:gridCol w="737875"/>
                <a:gridCol w="574050"/>
                <a:gridCol w="585475"/>
              </a:tblGrid>
              <a:tr h="447675">
                <a:tc>
                  <a:txBody>
                    <a:bodyPr/>
                    <a:lstStyle/>
                    <a:p>
                      <a:pPr indent="0" lvl="0" marL="139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1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16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9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PHONE_NUMBER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HIRE_DATE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7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COMM_PCT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MGR_ID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31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2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515.123.4567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06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17-Jun-1987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AD_PRES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NKOCHHAR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515.123.4568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35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21-Sep-1989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LDEHAAN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515.123.4569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636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13-Jan-1993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Alexander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AHUNOLD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590.423.4567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69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03-Jan-1990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550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Bruce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BERNST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590.423.4568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32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21-May-1991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KMOURGOS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650.123.5234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4318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16-Nov-1999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ST_MAN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TRAJS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650.121.8009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239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17-Oct-1995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ST_CLERK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(null)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Ilustración de Consultas Jerárquicas</a:t>
            </a:r>
            <a:endParaRPr/>
          </a:p>
        </p:txBody>
      </p:sp>
      <p:grpSp>
        <p:nvGrpSpPr>
          <p:cNvPr id="200" name="Google Shape;200;p25"/>
          <p:cNvGrpSpPr/>
          <p:nvPr/>
        </p:nvGrpSpPr>
        <p:grpSpPr>
          <a:xfrm>
            <a:off x="2202942" y="3195066"/>
            <a:ext cx="4621530" cy="542417"/>
            <a:chOff x="2202942" y="3195066"/>
            <a:chExt cx="4621530" cy="542417"/>
          </a:xfrm>
        </p:grpSpPr>
        <p:sp>
          <p:nvSpPr>
            <p:cNvPr id="201" name="Google Shape;201;p25"/>
            <p:cNvSpPr/>
            <p:nvPr/>
          </p:nvSpPr>
          <p:spPr>
            <a:xfrm>
              <a:off x="3292602" y="3195066"/>
              <a:ext cx="0" cy="330835"/>
            </a:xfrm>
            <a:custGeom>
              <a:rect b="b" l="l" r="r" t="t"/>
              <a:pathLst>
                <a:path extrusionOk="0" h="330835" w="120000">
                  <a:moveTo>
                    <a:pt x="0" y="0"/>
                  </a:moveTo>
                  <a:lnTo>
                    <a:pt x="0" y="330542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2202942" y="3525774"/>
              <a:ext cx="4621530" cy="1905"/>
            </a:xfrm>
            <a:custGeom>
              <a:rect b="b" l="l" r="r" t="t"/>
              <a:pathLst>
                <a:path extrusionOk="0" h="1904" w="4621530">
                  <a:moveTo>
                    <a:pt x="0" y="0"/>
                  </a:moveTo>
                  <a:lnTo>
                    <a:pt x="4621364" y="1854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2218185" y="3527298"/>
              <a:ext cx="2540" cy="210185"/>
            </a:xfrm>
            <a:custGeom>
              <a:rect b="b" l="l" r="r" t="t"/>
              <a:pathLst>
                <a:path extrusionOk="0" h="210185" w="2539">
                  <a:moveTo>
                    <a:pt x="1943" y="0"/>
                  </a:moveTo>
                  <a:lnTo>
                    <a:pt x="0" y="209842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4648965" y="3527298"/>
              <a:ext cx="2540" cy="210185"/>
            </a:xfrm>
            <a:custGeom>
              <a:rect b="b" l="l" r="r" t="t"/>
              <a:pathLst>
                <a:path extrusionOk="0" h="210185" w="2539">
                  <a:moveTo>
                    <a:pt x="1943" y="0"/>
                  </a:moveTo>
                  <a:lnTo>
                    <a:pt x="0" y="209842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6803904" y="3525774"/>
              <a:ext cx="2540" cy="210185"/>
            </a:xfrm>
            <a:custGeom>
              <a:rect b="b" l="l" r="r" t="t"/>
              <a:pathLst>
                <a:path extrusionOk="0" h="210185" w="2540">
                  <a:moveTo>
                    <a:pt x="1943" y="0"/>
                  </a:moveTo>
                  <a:lnTo>
                    <a:pt x="0" y="209842"/>
                  </a:lnTo>
                </a:path>
              </a:pathLst>
            </a:custGeom>
            <a:noFill/>
            <a:ln cap="flat" cmpd="sng" w="380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25"/>
          <p:cNvSpPr/>
          <p:nvPr/>
        </p:nvSpPr>
        <p:spPr>
          <a:xfrm>
            <a:off x="4648961" y="4034790"/>
            <a:ext cx="0" cy="529590"/>
          </a:xfrm>
          <a:custGeom>
            <a:rect b="b" l="l" r="r" t="t"/>
            <a:pathLst>
              <a:path extrusionOk="0" h="529589" w="120000">
                <a:moveTo>
                  <a:pt x="0" y="0"/>
                </a:moveTo>
                <a:lnTo>
                  <a:pt x="0" y="529247"/>
                </a:lnTo>
              </a:path>
            </a:pathLst>
          </a:custGeom>
          <a:noFill/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4664202" y="4874514"/>
            <a:ext cx="0" cy="529590"/>
          </a:xfrm>
          <a:custGeom>
            <a:rect b="b" l="l" r="r" t="t"/>
            <a:pathLst>
              <a:path extrusionOk="0" h="529589" w="120000">
                <a:moveTo>
                  <a:pt x="0" y="0"/>
                </a:moveTo>
                <a:lnTo>
                  <a:pt x="0" y="529247"/>
                </a:lnTo>
              </a:path>
            </a:pathLst>
          </a:custGeom>
          <a:noFill/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6808469" y="4034790"/>
            <a:ext cx="0" cy="529590"/>
          </a:xfrm>
          <a:custGeom>
            <a:rect b="b" l="l" r="r" t="t"/>
            <a:pathLst>
              <a:path extrusionOk="0" h="529589" w="120000">
                <a:moveTo>
                  <a:pt x="0" y="0"/>
                </a:moveTo>
                <a:lnTo>
                  <a:pt x="0" y="529247"/>
                </a:lnTo>
              </a:path>
            </a:pathLst>
          </a:custGeom>
          <a:noFill/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483552" y="1415417"/>
            <a:ext cx="8157845" cy="1723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diagrama de organización que podemos extraer a 	partir de los datos de la tabla EMPLOYEES será similar a 	este: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644775" rtl="0" algn="l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King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11" name="Google Shape;211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1778029" y="3752150"/>
            <a:ext cx="74104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Kochar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4180075" y="3692595"/>
            <a:ext cx="9010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Haan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4237594" y="4524581"/>
            <a:ext cx="77787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Hunold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4390299" y="5406452"/>
            <a:ext cx="55118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Ernst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6289438" y="3660526"/>
            <a:ext cx="94996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Mourgos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6565834" y="4570647"/>
            <a:ext cx="4464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Rajs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92112" y="748031"/>
            <a:ext cx="7262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Palabras Clave de las Consultas Jerárquicas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83552" y="1415417"/>
            <a:ext cx="8121650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consultas jerárquicas tienen sus propias palabras 	clave nuevas: START WITH, CONNECT BY PRIOR y LEVEL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77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START WITH identifica qué fila se va a utilizar como raíz 	del árbol que se está creando; CONNECT BY PRIOR 	explica cómo realizar las uniones entre filas y LEVEL 	especifica cuántas ramas de profundidad recorrerá el 	árbol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59" y="3966971"/>
            <a:ext cx="1469135" cy="221284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392112" y="748031"/>
            <a:ext cx="8359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Ejemplo de Palabras Clave en Consultas Jerárquicas</a:t>
            </a:r>
            <a:endParaRPr sz="3000"/>
          </a:p>
        </p:txBody>
      </p:sp>
      <p:sp>
        <p:nvSpPr>
          <p:cNvPr id="234" name="Google Shape;234;p27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graphicFrame>
        <p:nvGraphicFramePr>
          <p:cNvPr id="237" name="Google Shape;237;p27"/>
          <p:cNvGraphicFramePr/>
          <p:nvPr/>
        </p:nvGraphicFramePr>
        <p:xfrm>
          <a:off x="1326394" y="3040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466225"/>
                <a:gridCol w="1589400"/>
                <a:gridCol w="1578600"/>
                <a:gridCol w="1480825"/>
              </a:tblGrid>
              <a:tr h="3124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16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16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16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16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1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AD_PRES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AC_MGR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AC_ACCOUNT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75"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04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775"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27"/>
          <p:cNvSpPr txBox="1"/>
          <p:nvPr/>
        </p:nvSpPr>
        <p:spPr>
          <a:xfrm>
            <a:off x="393191" y="1447800"/>
            <a:ext cx="8345805" cy="121666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0" marR="164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last_name, job_id, manager_id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	WITH	employee_id = 100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PRIOR employee_id = manager_id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Otro Ejemplo de Consultas Jerárquicas</a:t>
            </a:r>
            <a:endParaRPr/>
          </a:p>
        </p:txBody>
      </p:sp>
      <p:sp>
        <p:nvSpPr>
          <p:cNvPr id="244" name="Google Shape;244;p28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405384" y="1399032"/>
            <a:ext cx="8345805" cy="144526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0" marR="146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||' reports to ' || PRIOR last_name AS "Walk Top Down"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'King'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PRIOR employee_id = manager_id;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48" name="Google Shape;248;p28"/>
          <p:cNvGraphicFramePr/>
          <p:nvPr/>
        </p:nvGraphicFramePr>
        <p:xfrm>
          <a:off x="1517650" y="29449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6096000"/>
              </a:tblGrid>
              <a:tr h="33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 Top Down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 reports 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 reports to 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 reports to 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 reports to 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 reports to 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 reports to 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 reports to 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 reports to 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LEVEL en Consultas Jerárquicas</a:t>
            </a:r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483552" y="1415417"/>
            <a:ext cx="805751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LEVEL es una pseudocolumna que se utiliza con 	consultas jerárquicas y que cuenta el número de pasos 	que ha realizado desde la raíz del árbol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405384" y="2967227"/>
            <a:ext cx="4182110" cy="23793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0" marR="6267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LEVEL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, last_name || ' reports to ' ||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PRIOR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274320" lvl="0" marL="0" marR="14433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 "Walk Top Down"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'King' CONNECT BY PRIOR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employee_id = manager_id;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56" name="Google Shape;256;p29"/>
          <p:cNvGrpSpPr/>
          <p:nvPr/>
        </p:nvGrpSpPr>
        <p:grpSpPr>
          <a:xfrm>
            <a:off x="4983480" y="2947416"/>
            <a:ext cx="842770" cy="3139438"/>
            <a:chOff x="4983480" y="2947416"/>
            <a:chExt cx="842770" cy="3139438"/>
          </a:xfrm>
        </p:grpSpPr>
        <p:pic>
          <p:nvPicPr>
            <p:cNvPr id="257" name="Google Shape;25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8823" y="2947416"/>
              <a:ext cx="757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83480" y="3282695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83480" y="3617976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83480" y="3953255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83480" y="4288536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83480" y="4623816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83480" y="4959095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83480" y="5294376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83480" y="5629655"/>
              <a:ext cx="376427" cy="45719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66" name="Google Shape;266;p29"/>
          <p:cNvGraphicFramePr/>
          <p:nvPr/>
        </p:nvGraphicFramePr>
        <p:xfrm>
          <a:off x="4961255" y="29615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61600"/>
                <a:gridCol w="836300"/>
                <a:gridCol w="2896875"/>
              </a:tblGrid>
              <a:tr h="334650">
                <a:tc rowSpan="9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58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96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 Top Down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 reports 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 reports to 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 reports to 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 reports to 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 reports to 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 reports to 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 reports to 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 vMerge="1"/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1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 reports to Hunold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9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267" name="Google Shape;267;p29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68" name="Google Shape;268;p2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Informe de Consulta Jerárquica</a:t>
            </a:r>
            <a:endParaRPr/>
          </a:p>
        </p:txBody>
      </p:sp>
      <p:sp>
        <p:nvSpPr>
          <p:cNvPr id="275" name="Google Shape;275;p30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76" name="Google Shape;276;p3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8" name="Google Shape;278;p30"/>
          <p:cNvSpPr txBox="1"/>
          <p:nvPr/>
        </p:nvSpPr>
        <p:spPr>
          <a:xfrm>
            <a:off x="483552" y="1415417"/>
            <a:ext cx="8177530" cy="2372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deseara crear un informe que mostrara los niveles de 	dirección de la compañía, empezando por el nivel más 	alto y sangrando cada uno de los siguientes niveles, 	sería fácil hacer esto con la pseudocolumna LEVEL y la 	función LPAD para sangrar los empleados en función 	de su nivel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473963" y="3944111"/>
            <a:ext cx="8277225" cy="14662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-273685" lvl="0" marL="273685" marR="4895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LPAD(last_name, LENGTH(last_name)+(LEVEL*2)-2,'_') AS "Org Chart"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'King'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PRIOR employee_id = manager_id;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392112" y="385319"/>
            <a:ext cx="34467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Niveles de Salida de la Consulta Jerárquica</a:t>
            </a:r>
            <a:endParaRPr sz="3000"/>
          </a:p>
        </p:txBody>
      </p:sp>
      <p:sp>
        <p:nvSpPr>
          <p:cNvPr id="285" name="Google Shape;285;p31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86" name="Google Shape;286;p3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483552" y="1415417"/>
            <a:ext cx="558038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puede ver en el resultado de la 	derecha, cada fila se sangra con dos 	caracteres de subrayado por nivel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405384" y="2965704"/>
            <a:ext cx="6231890" cy="14649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-135890" lvl="0" marL="135890" marR="6267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LPAD(last_name, LENGTH(last_name)+ (LEVEL*2)-2,'_') AS "Org_Chart"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'King'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PRIOR employee_id = manager_id;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90" name="Google Shape;290;p31"/>
          <p:cNvGraphicFramePr/>
          <p:nvPr/>
        </p:nvGraphicFramePr>
        <p:xfrm>
          <a:off x="7245970" y="10943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243975"/>
              </a:tblGrid>
              <a:tr h="258450">
                <a:tc>
                  <a:txBody>
                    <a:bodyPr/>
                    <a:lstStyle/>
                    <a:p>
                      <a:pPr indent="0" lvl="0" marL="3213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Org_Chart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7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Lorentz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7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1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Consulta Jerárquica de Abajo a Arriba</a:t>
            </a:r>
            <a:endParaRPr/>
          </a:p>
        </p:txBody>
      </p:sp>
      <p:sp>
        <p:nvSpPr>
          <p:cNvPr id="296" name="Google Shape;296;p32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297" name="Google Shape;297;p3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99" name="Google Shape;299;p32"/>
          <p:cNvSpPr txBox="1"/>
          <p:nvPr/>
        </p:nvSpPr>
        <p:spPr>
          <a:xfrm>
            <a:off x="483552" y="1415417"/>
            <a:ext cx="8024495" cy="2372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puede ver en el resultado que aparece a 	continuación, en este ejemplo se muestra cómo crear 	una consulta jerárquica de abajo a arriba, moviendo la 	palabra clave PRIOR a la posición posterior al signo 	igual y mediante el uso de 'Grant' en la cláusula START 	WITH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0" name="Google Shape;300;p32"/>
          <p:cNvGraphicFramePr/>
          <p:nvPr/>
        </p:nvGraphicFramePr>
        <p:xfrm>
          <a:off x="6826174" y="3938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{5D464060-858F-43E6-A949-0B9790BB38E1}</a:tableStyleId>
              </a:tblPr>
              <a:tblGrid>
                <a:gridCol w="1464950"/>
              </a:tblGrid>
              <a:tr h="401950"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ORG_CHART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9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9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9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</a:t>
                      </a: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1" name="Google Shape;301;p32"/>
          <p:cNvSpPr txBox="1"/>
          <p:nvPr/>
        </p:nvSpPr>
        <p:spPr>
          <a:xfrm>
            <a:off x="405384" y="3944111"/>
            <a:ext cx="6231890" cy="14662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0" marR="4914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LPAD(last_name, LENGTH(last_name) + (LEVEL*2)-2, '_') AS ORG_CHART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'Grant'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employee_id = PRIOR manager_id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Depuración de Consultas Jerárquicas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483552" y="1415417"/>
            <a:ext cx="8090534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depuración de ramas del árbol se puede realizar 	mediante la cláusula WHERE o la cláusula CONNECT BY 	PRIOR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2100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se utiliza la cláusula WHERE, solo se excluye la fila 	especificada en la sentencia; si se utiliza la cláusula 	CONNECT BY PRIOR, se excluye toda la rama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188" y="4052315"/>
            <a:ext cx="2325623" cy="2321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3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310" name="Google Shape;310;p3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Depuración de Consultas Jerárquicas</a:t>
            </a:r>
            <a:endParaRPr/>
          </a:p>
        </p:txBody>
      </p:sp>
      <p:sp>
        <p:nvSpPr>
          <p:cNvPr id="317" name="Google Shape;317;p34"/>
          <p:cNvSpPr txBox="1"/>
          <p:nvPr/>
        </p:nvSpPr>
        <p:spPr>
          <a:xfrm>
            <a:off x="483552" y="1415417"/>
            <a:ext cx="8004809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si desea excluir una única fila de su 	resultado, debería utilizar la cláusula WHERE para 	excluir esa fila; sin embargo, en el resultado, parecería 	que Gietz hubiera trabajado directamente para 	Kochhar, lo que no refleja la realidad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4"/>
          <p:cNvSpPr txBox="1"/>
          <p:nvPr/>
        </p:nvSpPr>
        <p:spPr>
          <a:xfrm>
            <a:off x="7245287" y="3447097"/>
            <a:ext cx="786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Kochhar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34"/>
          <p:cNvGrpSpPr/>
          <p:nvPr/>
        </p:nvGrpSpPr>
        <p:grpSpPr>
          <a:xfrm>
            <a:off x="7076693" y="3722370"/>
            <a:ext cx="1065530" cy="685800"/>
            <a:chOff x="7076693" y="3722370"/>
            <a:chExt cx="1065530" cy="685800"/>
          </a:xfrm>
        </p:grpSpPr>
        <p:sp>
          <p:nvSpPr>
            <p:cNvPr id="320" name="Google Shape;320;p34"/>
            <p:cNvSpPr/>
            <p:nvPr/>
          </p:nvSpPr>
          <p:spPr>
            <a:xfrm>
              <a:off x="7610093" y="3722370"/>
              <a:ext cx="0" cy="304800"/>
            </a:xfrm>
            <a:custGeom>
              <a:rect b="b" l="l" r="r" t="t"/>
              <a:pathLst>
                <a:path extrusionOk="0" h="304800" w="1200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7076693" y="4027170"/>
              <a:ext cx="1065530" cy="381000"/>
            </a:xfrm>
            <a:custGeom>
              <a:rect b="b" l="l" r="r" t="t"/>
              <a:pathLst>
                <a:path extrusionOk="0" h="381000" w="1065529">
                  <a:moveTo>
                    <a:pt x="0" y="380936"/>
                  </a:moveTo>
                  <a:lnTo>
                    <a:pt x="0" y="0"/>
                  </a:lnTo>
                  <a:lnTo>
                    <a:pt x="1065212" y="0"/>
                  </a:lnTo>
                  <a:lnTo>
                    <a:pt x="1065212" y="380936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34"/>
          <p:cNvSpPr txBox="1"/>
          <p:nvPr/>
        </p:nvSpPr>
        <p:spPr>
          <a:xfrm>
            <a:off x="7828357" y="4426584"/>
            <a:ext cx="698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Higgins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34"/>
          <p:cNvGrpSpPr/>
          <p:nvPr/>
        </p:nvGrpSpPr>
        <p:grpSpPr>
          <a:xfrm>
            <a:off x="7722869" y="4324350"/>
            <a:ext cx="836930" cy="1235963"/>
            <a:chOff x="7722869" y="4324350"/>
            <a:chExt cx="836930" cy="1235963"/>
          </a:xfrm>
        </p:grpSpPr>
        <p:sp>
          <p:nvSpPr>
            <p:cNvPr id="324" name="Google Shape;324;p34"/>
            <p:cNvSpPr/>
            <p:nvPr/>
          </p:nvSpPr>
          <p:spPr>
            <a:xfrm>
              <a:off x="8140445" y="4722113"/>
              <a:ext cx="0" cy="838200"/>
            </a:xfrm>
            <a:custGeom>
              <a:rect b="b" l="l" r="r" t="t"/>
              <a:pathLst>
                <a:path extrusionOk="0" h="838200" w="1200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7722869" y="4324350"/>
              <a:ext cx="836930" cy="533400"/>
            </a:xfrm>
            <a:custGeom>
              <a:rect b="b" l="l" r="r" t="t"/>
              <a:pathLst>
                <a:path extrusionOk="0" h="533400" w="836929">
                  <a:moveTo>
                    <a:pt x="0" y="0"/>
                  </a:moveTo>
                  <a:lnTo>
                    <a:pt x="836676" y="53340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7799069" y="4324350"/>
              <a:ext cx="760730" cy="533400"/>
            </a:xfrm>
            <a:custGeom>
              <a:rect b="b" l="l" r="r" t="t"/>
              <a:pathLst>
                <a:path extrusionOk="0" h="533400" w="760729">
                  <a:moveTo>
                    <a:pt x="0" y="533400"/>
                  </a:moveTo>
                  <a:lnTo>
                    <a:pt x="760476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34"/>
          <p:cNvSpPr txBox="1"/>
          <p:nvPr/>
        </p:nvSpPr>
        <p:spPr>
          <a:xfrm>
            <a:off x="6711887" y="4437697"/>
            <a:ext cx="7448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Whalen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4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329" name="Google Shape;329;p3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7927247" y="5533073"/>
            <a:ext cx="501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Gietz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405384" y="3509771"/>
            <a:ext cx="6231890" cy="158369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marR="4039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854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last_name != 'Higgins'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 WITH last_name = 'Kochhar'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CONNECT BY PRIOR	employee_id = manager_id;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Depuración de Consultas Jerárquicas</a:t>
            </a:r>
            <a:endParaRPr/>
          </a:p>
        </p:txBody>
      </p:sp>
      <p:sp>
        <p:nvSpPr>
          <p:cNvPr id="338" name="Google Shape;338;p35"/>
          <p:cNvSpPr txBox="1"/>
          <p:nvPr/>
        </p:nvSpPr>
        <p:spPr>
          <a:xfrm>
            <a:off x="483552" y="1415417"/>
            <a:ext cx="8021320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si deseara excluir una fila y todas las filas 	por debajo de ella, debería realizar la parte de 	exclusión de la sentencia CONNECT BY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95044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ejemplo que excluye a Higgins, también 	estamos excluyendo a Gietz del resultado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8078890" y="5391967"/>
            <a:ext cx="5016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Gietz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7052705" y="3431951"/>
            <a:ext cx="7867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Kochhar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" name="Google Shape;341;p35"/>
          <p:cNvGrpSpPr/>
          <p:nvPr/>
        </p:nvGrpSpPr>
        <p:grpSpPr>
          <a:xfrm>
            <a:off x="6610350" y="3745229"/>
            <a:ext cx="1682114" cy="620649"/>
            <a:chOff x="6610350" y="3745229"/>
            <a:chExt cx="1682114" cy="620649"/>
          </a:xfrm>
        </p:grpSpPr>
        <p:sp>
          <p:nvSpPr>
            <p:cNvPr id="342" name="Google Shape;342;p35"/>
            <p:cNvSpPr/>
            <p:nvPr/>
          </p:nvSpPr>
          <p:spPr>
            <a:xfrm>
              <a:off x="7451597" y="3745229"/>
              <a:ext cx="0" cy="276225"/>
            </a:xfrm>
            <a:custGeom>
              <a:rect b="b" l="l" r="r" t="t"/>
              <a:pathLst>
                <a:path extrusionOk="0" h="276225" w="120000">
                  <a:moveTo>
                    <a:pt x="0" y="0"/>
                  </a:moveTo>
                  <a:lnTo>
                    <a:pt x="0" y="275844"/>
                  </a:lnTo>
                </a:path>
              </a:pathLst>
            </a:custGeom>
            <a:noFill/>
            <a:ln cap="flat" cmpd="sng" w="259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6610350" y="4021073"/>
              <a:ext cx="1682114" cy="344805"/>
            </a:xfrm>
            <a:custGeom>
              <a:rect b="b" l="l" r="r" t="t"/>
              <a:pathLst>
                <a:path extrusionOk="0" h="344804" w="1682115">
                  <a:moveTo>
                    <a:pt x="0" y="344512"/>
                  </a:moveTo>
                  <a:lnTo>
                    <a:pt x="0" y="0"/>
                  </a:lnTo>
                  <a:lnTo>
                    <a:pt x="1681518" y="0"/>
                  </a:lnTo>
                  <a:lnTo>
                    <a:pt x="1681518" y="344512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35"/>
          <p:cNvSpPr txBox="1"/>
          <p:nvPr/>
        </p:nvSpPr>
        <p:spPr>
          <a:xfrm>
            <a:off x="7939115" y="4363858"/>
            <a:ext cx="698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Higgins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5" name="Google Shape;345;p35"/>
          <p:cNvGrpSpPr/>
          <p:nvPr/>
        </p:nvGrpSpPr>
        <p:grpSpPr>
          <a:xfrm>
            <a:off x="7692390" y="4656582"/>
            <a:ext cx="1205611" cy="759460"/>
            <a:chOff x="7692390" y="4656582"/>
            <a:chExt cx="1205611" cy="759460"/>
          </a:xfrm>
        </p:grpSpPr>
        <p:sp>
          <p:nvSpPr>
            <p:cNvPr id="346" name="Google Shape;346;p35"/>
            <p:cNvSpPr/>
            <p:nvPr/>
          </p:nvSpPr>
          <p:spPr>
            <a:xfrm>
              <a:off x="8294370" y="4656582"/>
              <a:ext cx="0" cy="759460"/>
            </a:xfrm>
            <a:custGeom>
              <a:rect b="b" l="l" r="r" t="t"/>
              <a:pathLst>
                <a:path extrusionOk="0" h="759460" w="120000">
                  <a:moveTo>
                    <a:pt x="0" y="0"/>
                  </a:moveTo>
                  <a:lnTo>
                    <a:pt x="0" y="758952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7713726" y="4805934"/>
              <a:ext cx="1184275" cy="424180"/>
            </a:xfrm>
            <a:custGeom>
              <a:rect b="b" l="l" r="r" t="t"/>
              <a:pathLst>
                <a:path extrusionOk="0" h="424179" w="1184275">
                  <a:moveTo>
                    <a:pt x="0" y="0"/>
                  </a:moveTo>
                  <a:lnTo>
                    <a:pt x="1184148" y="423672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7692390" y="4773930"/>
              <a:ext cx="1202690" cy="483234"/>
            </a:xfrm>
            <a:custGeom>
              <a:rect b="b" l="l" r="r" t="t"/>
              <a:pathLst>
                <a:path extrusionOk="0" h="483235" w="1202690">
                  <a:moveTo>
                    <a:pt x="0" y="483108"/>
                  </a:moveTo>
                  <a:lnTo>
                    <a:pt x="1202436" y="0"/>
                  </a:lnTo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35"/>
          <p:cNvSpPr txBox="1"/>
          <p:nvPr/>
        </p:nvSpPr>
        <p:spPr>
          <a:xfrm>
            <a:off x="6221417" y="4384842"/>
            <a:ext cx="7448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Whalen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402336" y="3662171"/>
            <a:ext cx="5739765" cy="1583690"/>
          </a:xfrm>
          <a:custGeom>
            <a:rect b="b" l="l" r="r" t="t"/>
            <a:pathLst>
              <a:path extrusionOk="0" h="1583689" w="5739765">
                <a:moveTo>
                  <a:pt x="5739384" y="0"/>
                </a:moveTo>
                <a:lnTo>
                  <a:pt x="0" y="0"/>
                </a:lnTo>
                <a:lnTo>
                  <a:pt x="0" y="1583436"/>
                </a:lnTo>
                <a:lnTo>
                  <a:pt x="5739384" y="1583436"/>
                </a:lnTo>
                <a:lnTo>
                  <a:pt x="573938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 txBox="1"/>
          <p:nvPr/>
        </p:nvSpPr>
        <p:spPr>
          <a:xfrm>
            <a:off x="401982" y="3727860"/>
            <a:ext cx="561086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34169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START	WITH last_name = 'Kochhar' CONNECT BY PRIOR employee_id = manager_id AND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last_name != 'Higgins';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" name="Google Shape;352;p35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353" name="Google Shape;353;p3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360" name="Google Shape;360;p36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361" name="Google Shape;361;p3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483552" y="1415417"/>
            <a:ext cx="7704455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Connect By prior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Consultas jerárquicas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Nivel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Autounión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Start with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Estructura del árbol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Recorrido por el árbol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Ramas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483552" y="1393401"/>
            <a:ext cx="76479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y ejecutar una sentencia SELECT para unir una tabla consigo misma mediante una autounión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Interpretar el concepto de una consulta jerárquica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Crear un informe con estructura de árbol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Aplicar formato a datos jerárquicos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Excluir ramas de la estructura de árbol</a:t>
            </a:r>
            <a:endParaRPr sz="2400"/>
          </a:p>
        </p:txBody>
      </p:sp>
      <p:grpSp>
        <p:nvGrpSpPr>
          <p:cNvPr id="370" name="Google Shape;370;p37"/>
          <p:cNvGrpSpPr/>
          <p:nvPr/>
        </p:nvGrpSpPr>
        <p:grpSpPr>
          <a:xfrm>
            <a:off x="4526279" y="4236720"/>
            <a:ext cx="3883139" cy="2133599"/>
            <a:chOff x="4526279" y="4236720"/>
            <a:chExt cx="3883139" cy="2133599"/>
          </a:xfrm>
        </p:grpSpPr>
        <p:pic>
          <p:nvPicPr>
            <p:cNvPr id="371" name="Google Shape;37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26279" y="4236720"/>
              <a:ext cx="3883139" cy="2133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18303" y="4428756"/>
              <a:ext cx="3499103" cy="1749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3" name="Google Shape;373;p37"/>
          <p:cNvSpPr txBox="1"/>
          <p:nvPr>
            <p:ph idx="10" type="dt"/>
          </p:nvPr>
        </p:nvSpPr>
        <p:spPr>
          <a:xfrm>
            <a:off x="2874191" y="6516395"/>
            <a:ext cx="1632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Autouniones y Consultas Jerárquicas</a:t>
            </a:r>
            <a:endParaRPr/>
          </a:p>
        </p:txBody>
      </p:sp>
      <p:sp>
        <p:nvSpPr>
          <p:cNvPr id="374" name="Google Shape;374;p3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