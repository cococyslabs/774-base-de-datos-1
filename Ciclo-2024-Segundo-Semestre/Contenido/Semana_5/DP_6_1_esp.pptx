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126EB8-CC93-4DCB-A0F2-DB34286641EC}">
  <a:tblStyle styleId="{F8126EB8-CC93-4DCB-A0F2-DB34286641EC}"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13:53:13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Algunos nombres de columna en la salida de ejemplo se han abreviado para que quepan en la diapositiva.</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13:53:13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Algunos nombres de columna en la salida de ejemplo se han abreviado para que quepan en la diapositiva.</a:t>
            </a:r>
            <a:endParaRPr/>
          </a:p>
        </p:txBody>
      </p:sp>
      <p:sp>
        <p:nvSpPr>
          <p:cNvPr id="97" name="Google Shape;97;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13:53:14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Algunos nombres de columna en la salida de ejemplo se han abreviado para que quepan en la diapositiva.</a:t>
            </a:r>
            <a:endParaRPr/>
          </a:p>
        </p:txBody>
      </p:sp>
      <p:sp>
        <p:nvSpPr>
          <p:cNvPr id="113" name="Google Shape;113;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13:53:15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Referencia: http://www.ansi.org/default.aspx </a:t>
            </a:r>
            <a:endParaRPr/>
          </a:p>
        </p:txBody>
      </p:sp>
      <p:sp>
        <p:nvSpPr>
          <p:cNvPr id="138" name="Google Shape;138;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13:53:17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cláusula WHERE se ha agregado para aplicar una restricción adicional a una de las tablas, para limitar las filas de la salida.</a:t>
            </a:r>
            <a:endParaRPr/>
          </a:p>
        </p:txBody>
      </p:sp>
      <p:sp>
        <p:nvSpPr>
          <p:cNvPr id="200" name="Google Shape;200;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13:53:18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juego de resultados de una CROSS JOIN aúna datos de dos tablas que no están relacionados de forma lógica entre sí.</a:t>
            </a:r>
            <a:endParaRPr/>
          </a:p>
          <a:p>
            <a:pPr indent="0" lvl="0" marL="0" rtl="0" algn="l">
              <a:spcBef>
                <a:spcPts val="0"/>
              </a:spcBef>
              <a:spcAft>
                <a:spcPts val="0"/>
              </a:spcAft>
              <a:buNone/>
            </a:pPr>
            <a:r>
              <a:rPr lang="en-US"/>
              <a:t>Las uniones cruzadas son útiles durante las pruebas para crear juegos de datos de gran tamaño para medir el rendimiento de la base de datos.</a:t>
            </a:r>
            <a:endParaRPr/>
          </a:p>
        </p:txBody>
      </p:sp>
      <p:sp>
        <p:nvSpPr>
          <p:cNvPr id="242" name="Google Shape;242;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45225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393401"/>
            <a:ext cx="7692900" cy="3973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17220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488061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6-1</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Uniones Cruzadas y Uniones Naturales</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936475" y="3351725"/>
            <a:ext cx="3931926" cy="3506275"/>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nvSpPr>
        <p:spPr>
          <a:xfrm>
            <a:off x="51721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73" name="Google Shape;73;p15"/>
          <p:cNvSpPr txBox="1"/>
          <p:nvPr/>
        </p:nvSpPr>
        <p:spPr>
          <a:xfrm>
            <a:off x="2874191" y="6489343"/>
            <a:ext cx="1722120" cy="271145"/>
          </a:xfrm>
          <a:prstGeom prst="rect">
            <a:avLst/>
          </a:prstGeom>
          <a:noFill/>
          <a:ln>
            <a:noFill/>
          </a:ln>
        </p:spPr>
        <p:txBody>
          <a:bodyPr anchorCtr="0" anchor="t" bIns="0" lIns="0" spcFirstLastPara="1" rIns="0" wrap="square" tIns="12700">
            <a:spAutoFit/>
          </a:bodyPr>
          <a:lstStyle/>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DP 6-1</a:t>
            </a:r>
            <a:endParaRPr sz="850">
              <a:latin typeface="Calibri"/>
              <a:ea typeface="Calibri"/>
              <a:cs typeface="Calibri"/>
              <a:sym typeface="Calibri"/>
            </a:endParaRPr>
          </a:p>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Uniones Cruzadas y Uniones Naturales</a:t>
            </a:r>
            <a:endParaRPr sz="850">
              <a:latin typeface="Calibri"/>
              <a:ea typeface="Calibri"/>
              <a:cs typeface="Calibri"/>
              <a:sym typeface="Calibri"/>
            </a:endParaRPr>
          </a:p>
        </p:txBody>
      </p:sp>
      <p:sp>
        <p:nvSpPr>
          <p:cNvPr id="74" name="Google Shape;74;p15"/>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5" name="Google Shape;75;p15"/>
          <p:cNvSpPr txBox="1"/>
          <p:nvPr>
            <p:ph idx="1" type="body"/>
          </p:nvPr>
        </p:nvSpPr>
        <p:spPr>
          <a:xfrm>
            <a:off x="483552" y="1393401"/>
            <a:ext cx="7692900" cy="42501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se abordan los siguientes objetivos:</a:t>
            </a:r>
            <a:endParaRPr/>
          </a:p>
          <a:p>
            <a:pPr indent="-175260" lvl="0" marL="530860" marR="5080" rtl="0" algn="l">
              <a:lnSpc>
                <a:spcPct val="107916"/>
              </a:lnSpc>
              <a:spcBef>
                <a:spcPts val="475"/>
              </a:spcBef>
              <a:spcAft>
                <a:spcPts val="0"/>
              </a:spcAft>
              <a:buNone/>
            </a:pPr>
            <a:r>
              <a:rPr lang="en-US" sz="2400">
                <a:solidFill>
                  <a:srgbClr val="D1350F"/>
                </a:solidFill>
              </a:rPr>
              <a:t>−</a:t>
            </a:r>
            <a:r>
              <a:rPr lang="en-US" sz="2400"/>
              <a:t>Crear y ejecutar una unión natural utilizando la sintaxis de unión ANSI-99 SQL</a:t>
            </a:r>
            <a:endParaRPr sz="2400"/>
          </a:p>
          <a:p>
            <a:pPr indent="-175260" lvl="0" marL="530860" marR="1593215" rtl="0" algn="l">
              <a:lnSpc>
                <a:spcPct val="107916"/>
              </a:lnSpc>
              <a:spcBef>
                <a:spcPts val="400"/>
              </a:spcBef>
              <a:spcAft>
                <a:spcPts val="0"/>
              </a:spcAft>
              <a:buNone/>
            </a:pPr>
            <a:r>
              <a:rPr lang="en-US" sz="2400">
                <a:solidFill>
                  <a:srgbClr val="D1350F"/>
                </a:solidFill>
              </a:rPr>
              <a:t>−</a:t>
            </a:r>
            <a:r>
              <a:rPr lang="en-US" sz="2400"/>
              <a:t>Crear una unión cruzada utilizando la sintaxis de unión ANSI-99 SQL</a:t>
            </a:r>
            <a:endParaRPr sz="2400"/>
          </a:p>
          <a:p>
            <a:pPr indent="-175260" lvl="0" marL="530860" marR="528320" rtl="0" algn="l">
              <a:lnSpc>
                <a:spcPct val="107916"/>
              </a:lnSpc>
              <a:spcBef>
                <a:spcPts val="400"/>
              </a:spcBef>
              <a:spcAft>
                <a:spcPts val="0"/>
              </a:spcAft>
              <a:buNone/>
            </a:pPr>
            <a:r>
              <a:rPr lang="en-US" sz="2400">
                <a:solidFill>
                  <a:srgbClr val="D1350F"/>
                </a:solidFill>
              </a:rPr>
              <a:t>−</a:t>
            </a:r>
            <a:r>
              <a:rPr lang="en-US" sz="2400"/>
              <a:t>Explicar la importancia de tener un estándar para SQL definido por ANSI</a:t>
            </a:r>
            <a:endParaRPr sz="2400"/>
          </a:p>
          <a:p>
            <a:pPr indent="-175260" lvl="0" marL="530860" marR="2776855" rtl="0" algn="l">
              <a:lnSpc>
                <a:spcPct val="107916"/>
              </a:lnSpc>
              <a:spcBef>
                <a:spcPts val="409"/>
              </a:spcBef>
              <a:spcAft>
                <a:spcPts val="0"/>
              </a:spcAft>
              <a:buNone/>
            </a:pPr>
            <a:r>
              <a:rPr lang="en-US" sz="2400">
                <a:solidFill>
                  <a:srgbClr val="D1350F"/>
                </a:solidFill>
              </a:rPr>
              <a:t>−</a:t>
            </a:r>
            <a:r>
              <a:rPr lang="en-US" sz="2400"/>
              <a:t>Describir una necesidad de negocio para combinar la información de</a:t>
            </a:r>
            <a:endParaRPr sz="2400"/>
          </a:p>
          <a:p>
            <a:pPr indent="0" lvl="0" marL="355600" rtl="0" algn="l">
              <a:lnSpc>
                <a:spcPct val="100000"/>
              </a:lnSpc>
              <a:spcBef>
                <a:spcPts val="75"/>
              </a:spcBef>
              <a:spcAft>
                <a:spcPts val="1200"/>
              </a:spcAft>
              <a:buNone/>
            </a:pPr>
            <a:r>
              <a:rPr lang="en-US" sz="2400">
                <a:solidFill>
                  <a:srgbClr val="D1350F"/>
                </a:solidFill>
              </a:rPr>
              <a:t>−</a:t>
            </a:r>
            <a:r>
              <a:rPr lang="en-US" sz="2400"/>
              <a:t>varios orígenes de datos</a:t>
            </a:r>
            <a:endParaRPr sz="2400"/>
          </a:p>
        </p:txBody>
      </p:sp>
      <p:sp>
        <p:nvSpPr>
          <p:cNvPr id="76" name="Google Shape;76;p15"/>
          <p:cNvSpPr txBox="1"/>
          <p:nvPr/>
        </p:nvSpPr>
        <p:spPr>
          <a:xfrm>
            <a:off x="8750490" y="6536145"/>
            <a:ext cx="8953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000">
                <a:solidFill>
                  <a:srgbClr val="4E3629"/>
                </a:solidFill>
                <a:latin typeface="Calibri"/>
                <a:ea typeface="Calibri"/>
                <a:cs typeface="Calibri"/>
                <a:sym typeface="Calibri"/>
              </a:rPr>
              <a:t>3</a:t>
            </a:r>
            <a:endParaRPr sz="1000">
              <a:latin typeface="Calibri"/>
              <a:ea typeface="Calibri"/>
              <a:cs typeface="Calibri"/>
              <a:sym typeface="Calibri"/>
            </a:endParaRPr>
          </a:p>
        </p:txBody>
      </p:sp>
      <p:grpSp>
        <p:nvGrpSpPr>
          <p:cNvPr id="77" name="Google Shape;77;p15"/>
          <p:cNvGrpSpPr/>
          <p:nvPr/>
        </p:nvGrpSpPr>
        <p:grpSpPr>
          <a:xfrm>
            <a:off x="5301996" y="3732276"/>
            <a:ext cx="3337559" cy="2638043"/>
            <a:chOff x="5301996" y="3732276"/>
            <a:chExt cx="3337559" cy="2638043"/>
          </a:xfrm>
        </p:grpSpPr>
        <p:pic>
          <p:nvPicPr>
            <p:cNvPr id="78" name="Google Shape;78;p15"/>
            <p:cNvPicPr preferRelativeResize="0"/>
            <p:nvPr/>
          </p:nvPicPr>
          <p:blipFill rotWithShape="1">
            <a:blip r:embed="rId3">
              <a:alphaModFix/>
            </a:blip>
            <a:srcRect b="0" l="0" r="0" t="0"/>
            <a:stretch/>
          </p:blipFill>
          <p:spPr>
            <a:xfrm>
              <a:off x="5301996" y="3732276"/>
              <a:ext cx="3337559" cy="2638043"/>
            </a:xfrm>
            <a:prstGeom prst="rect">
              <a:avLst/>
            </a:prstGeom>
            <a:noFill/>
            <a:ln>
              <a:noFill/>
            </a:ln>
          </p:spPr>
        </p:pic>
        <p:pic>
          <p:nvPicPr>
            <p:cNvPr id="79" name="Google Shape;79;p15"/>
            <p:cNvPicPr preferRelativeResize="0"/>
            <p:nvPr/>
          </p:nvPicPr>
          <p:blipFill rotWithShape="1">
            <a:blip r:embed="rId4">
              <a:alphaModFix/>
            </a:blip>
            <a:srcRect b="0" l="0" r="0" t="0"/>
            <a:stretch/>
          </p:blipFill>
          <p:spPr>
            <a:xfrm>
              <a:off x="5494020" y="3924300"/>
              <a:ext cx="2953499" cy="2253995"/>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nvSpPr>
        <p:spPr>
          <a:xfrm>
            <a:off x="51721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85" name="Google Shape;85;p16"/>
          <p:cNvSpPr txBox="1"/>
          <p:nvPr/>
        </p:nvSpPr>
        <p:spPr>
          <a:xfrm>
            <a:off x="2874191" y="6489343"/>
            <a:ext cx="1722120" cy="271145"/>
          </a:xfrm>
          <a:prstGeom prst="rect">
            <a:avLst/>
          </a:prstGeom>
          <a:noFill/>
          <a:ln>
            <a:noFill/>
          </a:ln>
        </p:spPr>
        <p:txBody>
          <a:bodyPr anchorCtr="0" anchor="t" bIns="0" lIns="0" spcFirstLastPara="1" rIns="0" wrap="square" tIns="12700">
            <a:spAutoFit/>
          </a:bodyPr>
          <a:lstStyle/>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DP 6-1</a:t>
            </a:r>
            <a:endParaRPr sz="850">
              <a:latin typeface="Calibri"/>
              <a:ea typeface="Calibri"/>
              <a:cs typeface="Calibri"/>
              <a:sym typeface="Calibri"/>
            </a:endParaRPr>
          </a:p>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Uniones Cruzadas y Uniones Naturales</a:t>
            </a:r>
            <a:endParaRPr sz="850">
              <a:latin typeface="Calibri"/>
              <a:ea typeface="Calibri"/>
              <a:cs typeface="Calibri"/>
              <a:sym typeface="Calibri"/>
            </a:endParaRPr>
          </a:p>
        </p:txBody>
      </p:sp>
      <p:sp>
        <p:nvSpPr>
          <p:cNvPr id="86" name="Google Shape;86;p16"/>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7" name="Google Shape;87;p16"/>
          <p:cNvSpPr txBox="1"/>
          <p:nvPr/>
        </p:nvSpPr>
        <p:spPr>
          <a:xfrm>
            <a:off x="483552" y="1415417"/>
            <a:ext cx="5132705" cy="32429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Hasta ahora, su experiencia con 	SQL se ha limitado a consultar y 	devolver información de una tabla 	de base de datos a la vez</a:t>
            </a:r>
            <a:endParaRPr sz="2800">
              <a:latin typeface="Calibri"/>
              <a:ea typeface="Calibri"/>
              <a:cs typeface="Calibri"/>
              <a:sym typeface="Calibri"/>
            </a:endParaRPr>
          </a:p>
          <a:p>
            <a:pPr indent="-177800" lvl="0" marL="182880" marR="57023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no sería un problema si 	todos los datos de la base de 	datos estuvieran almacenados 	en una sola tabla</a:t>
            </a:r>
            <a:endParaRPr sz="2800">
              <a:latin typeface="Calibri"/>
              <a:ea typeface="Calibri"/>
              <a:cs typeface="Calibri"/>
              <a:sym typeface="Calibri"/>
            </a:endParaRPr>
          </a:p>
        </p:txBody>
      </p:sp>
      <p:sp>
        <p:nvSpPr>
          <p:cNvPr id="88" name="Google Shape;88;p16"/>
          <p:cNvSpPr txBox="1"/>
          <p:nvPr/>
        </p:nvSpPr>
        <p:spPr>
          <a:xfrm>
            <a:off x="8681719" y="6562597"/>
            <a:ext cx="80645"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4</a:t>
            </a:r>
            <a:endParaRPr sz="850">
              <a:latin typeface="Calibri"/>
              <a:ea typeface="Calibri"/>
              <a:cs typeface="Calibri"/>
              <a:sym typeface="Calibri"/>
            </a:endParaRPr>
          </a:p>
        </p:txBody>
      </p:sp>
      <p:graphicFrame>
        <p:nvGraphicFramePr>
          <p:cNvPr id="89" name="Google Shape;89;p16"/>
          <p:cNvGraphicFramePr/>
          <p:nvPr/>
        </p:nvGraphicFramePr>
        <p:xfrm>
          <a:off x="5746289" y="1089365"/>
          <a:ext cx="3000000" cy="3000000"/>
        </p:xfrm>
        <a:graphic>
          <a:graphicData uri="http://schemas.openxmlformats.org/drawingml/2006/table">
            <a:tbl>
              <a:tblPr bandRow="1" firstRow="1">
                <a:noFill/>
                <a:tableStyleId>{F8126EB8-CC93-4DCB-A0F2-DB34286641EC}</a:tableStyleId>
              </a:tblPr>
              <a:tblGrid>
                <a:gridCol w="1129025"/>
                <a:gridCol w="772800"/>
                <a:gridCol w="1251575"/>
              </a:tblGrid>
              <a:tr h="238750">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EMPLOYEE_ID</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DEPT_ID</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DEPT_NAME</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387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Administration</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201</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Marketing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202</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Marketing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125">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102</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90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Executive</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205</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Accounting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206</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Accounting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90" name="Google Shape;90;p16"/>
          <p:cNvGraphicFramePr/>
          <p:nvPr/>
        </p:nvGraphicFramePr>
        <p:xfrm>
          <a:off x="5731188" y="3350895"/>
          <a:ext cx="3000000" cy="3000000"/>
        </p:xfrm>
        <a:graphic>
          <a:graphicData uri="http://schemas.openxmlformats.org/drawingml/2006/table">
            <a:tbl>
              <a:tblPr bandRow="1" firstRow="1">
                <a:noFill/>
                <a:tableStyleId>{F8126EB8-CC93-4DCB-A0F2-DB34286641EC}</a:tableStyleId>
              </a:tblPr>
              <a:tblGrid>
                <a:gridCol w="1241425"/>
                <a:gridCol w="1131575"/>
                <a:gridCol w="748675"/>
              </a:tblGrid>
              <a:tr h="207650">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EMPLOYEE_ID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LAST_NAME</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DEPT_ID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08275">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King</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90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9550">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101</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Kochhar</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90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7650">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202</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Fay</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205</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Higgins</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206</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Gietz</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91" name="Google Shape;91;p16"/>
          <p:cNvSpPr txBox="1"/>
          <p:nvPr/>
        </p:nvSpPr>
        <p:spPr>
          <a:xfrm>
            <a:off x="6797028" y="3098542"/>
            <a:ext cx="1020444"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EMPLOYEES</a:t>
            </a:r>
            <a:endParaRPr sz="1600">
              <a:latin typeface="Calibri"/>
              <a:ea typeface="Calibri"/>
              <a:cs typeface="Calibri"/>
              <a:sym typeface="Calibri"/>
            </a:endParaRPr>
          </a:p>
        </p:txBody>
      </p:sp>
      <p:graphicFrame>
        <p:nvGraphicFramePr>
          <p:cNvPr id="92" name="Google Shape;92;p16"/>
          <p:cNvGraphicFramePr/>
          <p:nvPr/>
        </p:nvGraphicFramePr>
        <p:xfrm>
          <a:off x="5731188" y="5161574"/>
          <a:ext cx="3000000" cy="3000000"/>
        </p:xfrm>
        <a:graphic>
          <a:graphicData uri="http://schemas.openxmlformats.org/drawingml/2006/table">
            <a:tbl>
              <a:tblPr bandRow="1" firstRow="1">
                <a:noFill/>
                <a:tableStyleId>{F8126EB8-CC93-4DCB-A0F2-DB34286641EC}</a:tableStyleId>
              </a:tblPr>
              <a:tblGrid>
                <a:gridCol w="1264275"/>
                <a:gridCol w="954400"/>
                <a:gridCol w="901700"/>
              </a:tblGrid>
              <a:tr h="207650">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DEPARTMENT_ID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DEPT_NAME</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LOCATION_ID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0955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Administration</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Marketing</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1800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765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Accounting</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190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Contracting</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93" name="Google Shape;93;p16"/>
          <p:cNvSpPr txBox="1"/>
          <p:nvPr/>
        </p:nvSpPr>
        <p:spPr>
          <a:xfrm>
            <a:off x="6797028" y="4920118"/>
            <a:ext cx="128905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DEPARTMENTS</a:t>
            </a:r>
            <a:endParaRPr sz="1600">
              <a:latin typeface="Calibri"/>
              <a:ea typeface="Calibri"/>
              <a:cs typeface="Calibri"/>
              <a:sym typeface="Calibri"/>
            </a:endParaRPr>
          </a:p>
        </p:txBody>
      </p:sp>
      <p:sp>
        <p:nvSpPr>
          <p:cNvPr id="94" name="Google Shape;94;p16"/>
          <p:cNvSpPr txBox="1"/>
          <p:nvPr/>
        </p:nvSpPr>
        <p:spPr>
          <a:xfrm>
            <a:off x="5754989" y="753784"/>
            <a:ext cx="308102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Obtención de Datos de Varias Tablas</a:t>
            </a:r>
            <a:endParaRPr sz="1600">
              <a:latin typeface="Calibri"/>
              <a:ea typeface="Calibri"/>
              <a:cs typeface="Calibri"/>
              <a:sym typeface="Calibri"/>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p:nvPr/>
        </p:nvSpPr>
        <p:spPr>
          <a:xfrm>
            <a:off x="4572761" y="1524761"/>
            <a:ext cx="0" cy="4419600"/>
          </a:xfrm>
          <a:custGeom>
            <a:rect b="b" l="l" r="r" t="t"/>
            <a:pathLst>
              <a:path extrusionOk="0" h="4419600" w="120000">
                <a:moveTo>
                  <a:pt x="0" y="0"/>
                </a:moveTo>
                <a:lnTo>
                  <a:pt x="0" y="4419600"/>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 name="Google Shape;100;p17"/>
          <p:cNvSpPr txBox="1"/>
          <p:nvPr/>
        </p:nvSpPr>
        <p:spPr>
          <a:xfrm>
            <a:off x="483552" y="1491489"/>
            <a:ext cx="3838575" cy="3525520"/>
          </a:xfrm>
          <a:prstGeom prst="rect">
            <a:avLst/>
          </a:prstGeom>
          <a:noFill/>
          <a:ln>
            <a:noFill/>
          </a:ln>
        </p:spPr>
        <p:txBody>
          <a:bodyPr anchorCtr="0" anchor="t" bIns="0" lIns="0" spcFirstLastPara="1" rIns="0" wrap="square" tIns="59675">
            <a:spAutoFit/>
          </a:bodyPr>
          <a:lstStyle/>
          <a:p>
            <a:pPr indent="-457200" lvl="0" marL="46990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sabe del modelado de datos que separar los datos en tablas individuales y ser capaz de asociar las tablas entre sí forma parte de la base del diseño de la base de datos</a:t>
            </a:r>
            <a:endParaRPr sz="2800">
              <a:latin typeface="Calibri"/>
              <a:ea typeface="Calibri"/>
              <a:cs typeface="Calibri"/>
              <a:sym typeface="Calibri"/>
            </a:endParaRPr>
          </a:p>
        </p:txBody>
      </p:sp>
      <p:sp>
        <p:nvSpPr>
          <p:cNvPr id="101" name="Google Shape;101;p17"/>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102" name="Google Shape;102;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3" name="Google Shape;103;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4" name="Google Shape;104;p17"/>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graphicFrame>
        <p:nvGraphicFramePr>
          <p:cNvPr id="105" name="Google Shape;105;p17"/>
          <p:cNvGraphicFramePr/>
          <p:nvPr/>
        </p:nvGraphicFramePr>
        <p:xfrm>
          <a:off x="5746289" y="1089365"/>
          <a:ext cx="3000000" cy="3000000"/>
        </p:xfrm>
        <a:graphic>
          <a:graphicData uri="http://schemas.openxmlformats.org/drawingml/2006/table">
            <a:tbl>
              <a:tblPr bandRow="1" firstRow="1">
                <a:noFill/>
                <a:tableStyleId>{F8126EB8-CC93-4DCB-A0F2-DB34286641EC}</a:tableStyleId>
              </a:tblPr>
              <a:tblGrid>
                <a:gridCol w="1129025"/>
                <a:gridCol w="772800"/>
                <a:gridCol w="1251575"/>
              </a:tblGrid>
              <a:tr h="238750">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EMPLOYEE_ID</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DEPT_ID</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DEPT_NAME</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387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Administration</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201</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Marketing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202</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Marketing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125">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102</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90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Executive</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205</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Accounting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206</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Accounting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106" name="Google Shape;106;p17"/>
          <p:cNvGraphicFramePr/>
          <p:nvPr/>
        </p:nvGraphicFramePr>
        <p:xfrm>
          <a:off x="5731188" y="3350895"/>
          <a:ext cx="3000000" cy="3000000"/>
        </p:xfrm>
        <a:graphic>
          <a:graphicData uri="http://schemas.openxmlformats.org/drawingml/2006/table">
            <a:tbl>
              <a:tblPr bandRow="1" firstRow="1">
                <a:noFill/>
                <a:tableStyleId>{F8126EB8-CC93-4DCB-A0F2-DB34286641EC}</a:tableStyleId>
              </a:tblPr>
              <a:tblGrid>
                <a:gridCol w="1241425"/>
                <a:gridCol w="1131575"/>
                <a:gridCol w="748675"/>
              </a:tblGrid>
              <a:tr h="207650">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EMPLOYEE_ID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LAST_NAME</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DEPT_ID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08275">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King</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90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9550">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101</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Kochhar</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90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7650">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202</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Fay</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205</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Higgins</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206</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Gietz</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07" name="Google Shape;107;p17"/>
          <p:cNvSpPr txBox="1"/>
          <p:nvPr/>
        </p:nvSpPr>
        <p:spPr>
          <a:xfrm>
            <a:off x="6797028" y="3098542"/>
            <a:ext cx="1020444"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EMPLOYEES</a:t>
            </a:r>
            <a:endParaRPr sz="1600">
              <a:latin typeface="Calibri"/>
              <a:ea typeface="Calibri"/>
              <a:cs typeface="Calibri"/>
              <a:sym typeface="Calibri"/>
            </a:endParaRPr>
          </a:p>
        </p:txBody>
      </p:sp>
      <p:graphicFrame>
        <p:nvGraphicFramePr>
          <p:cNvPr id="108" name="Google Shape;108;p17"/>
          <p:cNvGraphicFramePr/>
          <p:nvPr/>
        </p:nvGraphicFramePr>
        <p:xfrm>
          <a:off x="5731188" y="5161574"/>
          <a:ext cx="3000000" cy="3000000"/>
        </p:xfrm>
        <a:graphic>
          <a:graphicData uri="http://schemas.openxmlformats.org/drawingml/2006/table">
            <a:tbl>
              <a:tblPr bandRow="1" firstRow="1">
                <a:noFill/>
                <a:tableStyleId>{F8126EB8-CC93-4DCB-A0F2-DB34286641EC}</a:tableStyleId>
              </a:tblPr>
              <a:tblGrid>
                <a:gridCol w="1264275"/>
                <a:gridCol w="954400"/>
                <a:gridCol w="901700"/>
              </a:tblGrid>
              <a:tr h="207650">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DEPARTMENT_ID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DEPT_NAME</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LOCATION_ID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0955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Administration</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Marketing</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1800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765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Accounting</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190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Contracting</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09" name="Google Shape;109;p17"/>
          <p:cNvSpPr txBox="1"/>
          <p:nvPr/>
        </p:nvSpPr>
        <p:spPr>
          <a:xfrm>
            <a:off x="6797028" y="4920118"/>
            <a:ext cx="128905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DEPARTMENTS</a:t>
            </a:r>
            <a:endParaRPr sz="1600">
              <a:latin typeface="Calibri"/>
              <a:ea typeface="Calibri"/>
              <a:cs typeface="Calibri"/>
              <a:sym typeface="Calibri"/>
            </a:endParaRPr>
          </a:p>
        </p:txBody>
      </p:sp>
      <p:sp>
        <p:nvSpPr>
          <p:cNvPr id="110" name="Google Shape;110;p17"/>
          <p:cNvSpPr txBox="1"/>
          <p:nvPr/>
        </p:nvSpPr>
        <p:spPr>
          <a:xfrm>
            <a:off x="5754989" y="753784"/>
            <a:ext cx="308102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Obtención de Datos de Varias Tablas</a:t>
            </a:r>
            <a:endParaRPr sz="16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p:nvPr/>
        </p:nvSpPr>
        <p:spPr>
          <a:xfrm>
            <a:off x="4572761" y="1524761"/>
            <a:ext cx="0" cy="4419600"/>
          </a:xfrm>
          <a:custGeom>
            <a:rect b="b" l="l" r="r" t="t"/>
            <a:pathLst>
              <a:path extrusionOk="0" h="4419600" w="120000">
                <a:moveTo>
                  <a:pt x="0" y="0"/>
                </a:moveTo>
                <a:lnTo>
                  <a:pt x="0" y="4419600"/>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6" name="Google Shape;116;p18"/>
          <p:cNvSpPr txBox="1"/>
          <p:nvPr/>
        </p:nvSpPr>
        <p:spPr>
          <a:xfrm>
            <a:off x="483552" y="1491489"/>
            <a:ext cx="3862070" cy="3141345"/>
          </a:xfrm>
          <a:prstGeom prst="rect">
            <a:avLst/>
          </a:prstGeom>
          <a:noFill/>
          <a:ln>
            <a:noFill/>
          </a:ln>
        </p:spPr>
        <p:txBody>
          <a:bodyPr anchorCtr="0" anchor="t" bIns="0" lIns="0" spcFirstLastPara="1" rIns="0" wrap="square" tIns="59675">
            <a:spAutoFit/>
          </a:bodyPr>
          <a:lstStyle/>
          <a:p>
            <a:pPr indent="-457200" lvl="0" marL="46990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Afortunadamente, SQL proporciona las condiciones de unión que permiten consultar la información de distintas tablas y combinarlas en un informe</a:t>
            </a:r>
            <a:endParaRPr sz="2800">
              <a:latin typeface="Calibri"/>
              <a:ea typeface="Calibri"/>
              <a:cs typeface="Calibri"/>
              <a:sym typeface="Calibri"/>
            </a:endParaRPr>
          </a:p>
        </p:txBody>
      </p:sp>
      <p:sp>
        <p:nvSpPr>
          <p:cNvPr id="117" name="Google Shape;117;p18"/>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118" name="Google Shape;118;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9" name="Google Shape;119;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0" name="Google Shape;120;p18"/>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graphicFrame>
        <p:nvGraphicFramePr>
          <p:cNvPr id="121" name="Google Shape;121;p18"/>
          <p:cNvGraphicFramePr/>
          <p:nvPr/>
        </p:nvGraphicFramePr>
        <p:xfrm>
          <a:off x="5746289" y="1089365"/>
          <a:ext cx="3000000" cy="3000000"/>
        </p:xfrm>
        <a:graphic>
          <a:graphicData uri="http://schemas.openxmlformats.org/drawingml/2006/table">
            <a:tbl>
              <a:tblPr bandRow="1" firstRow="1">
                <a:noFill/>
                <a:tableStyleId>{F8126EB8-CC93-4DCB-A0F2-DB34286641EC}</a:tableStyleId>
              </a:tblPr>
              <a:tblGrid>
                <a:gridCol w="1129025"/>
                <a:gridCol w="772800"/>
                <a:gridCol w="1251575"/>
              </a:tblGrid>
              <a:tr h="238750">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EMPLOYEE_ID</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DEPT_ID</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52069"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DEPT_NAME</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387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Administration</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201</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Marketing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202</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Marketing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125">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102</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90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Executive</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205</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Accounting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38750">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206</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Accounting</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122" name="Google Shape;122;p18"/>
          <p:cNvGraphicFramePr/>
          <p:nvPr/>
        </p:nvGraphicFramePr>
        <p:xfrm>
          <a:off x="5731188" y="3350895"/>
          <a:ext cx="3000000" cy="3000000"/>
        </p:xfrm>
        <a:graphic>
          <a:graphicData uri="http://schemas.openxmlformats.org/drawingml/2006/table">
            <a:tbl>
              <a:tblPr bandRow="1" firstRow="1">
                <a:noFill/>
                <a:tableStyleId>{F8126EB8-CC93-4DCB-A0F2-DB34286641EC}</a:tableStyleId>
              </a:tblPr>
              <a:tblGrid>
                <a:gridCol w="1241425"/>
                <a:gridCol w="1131575"/>
                <a:gridCol w="748675"/>
              </a:tblGrid>
              <a:tr h="207650">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EMPLOYEE_ID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LAST_NAME</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DEPT_ID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08275">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King</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90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9550">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101</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Kochhar</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90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7650">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202</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Fay</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205</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Higgins</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206</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Gietz</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43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23" name="Google Shape;123;p18"/>
          <p:cNvSpPr txBox="1"/>
          <p:nvPr/>
        </p:nvSpPr>
        <p:spPr>
          <a:xfrm>
            <a:off x="6797028" y="3098542"/>
            <a:ext cx="1020444"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EMPLOYEES</a:t>
            </a:r>
            <a:endParaRPr sz="1600">
              <a:latin typeface="Calibri"/>
              <a:ea typeface="Calibri"/>
              <a:cs typeface="Calibri"/>
              <a:sym typeface="Calibri"/>
            </a:endParaRPr>
          </a:p>
        </p:txBody>
      </p:sp>
      <p:graphicFrame>
        <p:nvGraphicFramePr>
          <p:cNvPr id="124" name="Google Shape;124;p18"/>
          <p:cNvGraphicFramePr/>
          <p:nvPr/>
        </p:nvGraphicFramePr>
        <p:xfrm>
          <a:off x="5731188" y="5161574"/>
          <a:ext cx="3000000" cy="3000000"/>
        </p:xfrm>
        <a:graphic>
          <a:graphicData uri="http://schemas.openxmlformats.org/drawingml/2006/table">
            <a:tbl>
              <a:tblPr bandRow="1" firstRow="1">
                <a:noFill/>
                <a:tableStyleId>{F8126EB8-CC93-4DCB-A0F2-DB34286641EC}</a:tableStyleId>
              </a:tblPr>
              <a:tblGrid>
                <a:gridCol w="1264275"/>
                <a:gridCol w="954400"/>
                <a:gridCol w="901700"/>
              </a:tblGrid>
              <a:tr h="207650">
                <a:tc>
                  <a:txBody>
                    <a:bodyPr/>
                    <a:lstStyle/>
                    <a:p>
                      <a:pPr indent="0" lvl="0" marL="1206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DEPARTMENT_ID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DEPT_NAME</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LOCATION_ID</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0955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Administration</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Marketing</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1800</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765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110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Accounting</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08275">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190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Contracting</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1700</a:t>
                      </a:r>
                      <a:endParaRPr sz="12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25" name="Google Shape;125;p18"/>
          <p:cNvSpPr txBox="1"/>
          <p:nvPr/>
        </p:nvSpPr>
        <p:spPr>
          <a:xfrm>
            <a:off x="6797028" y="4920118"/>
            <a:ext cx="128905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DEPARTMENTS</a:t>
            </a:r>
            <a:endParaRPr sz="1600">
              <a:latin typeface="Calibri"/>
              <a:ea typeface="Calibri"/>
              <a:cs typeface="Calibri"/>
              <a:sym typeface="Calibri"/>
            </a:endParaRPr>
          </a:p>
        </p:txBody>
      </p:sp>
      <p:sp>
        <p:nvSpPr>
          <p:cNvPr id="126" name="Google Shape;126;p18"/>
          <p:cNvSpPr txBox="1"/>
          <p:nvPr/>
        </p:nvSpPr>
        <p:spPr>
          <a:xfrm>
            <a:off x="5754989" y="753784"/>
            <a:ext cx="308102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Obtención de Datos de Varias Tablas</a:t>
            </a:r>
            <a:endParaRPr sz="16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Comandos de Unión</a:t>
            </a:r>
            <a:endParaRPr/>
          </a:p>
        </p:txBody>
      </p:sp>
      <p:sp>
        <p:nvSpPr>
          <p:cNvPr id="132" name="Google Shape;132;p19"/>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133" name="Google Shape;133;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4" name="Google Shape;134;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5" name="Google Shape;135;p19"/>
          <p:cNvSpPr txBox="1"/>
          <p:nvPr/>
        </p:nvSpPr>
        <p:spPr>
          <a:xfrm>
            <a:off x="483552" y="1415417"/>
            <a:ext cx="8182609" cy="3719195"/>
          </a:xfrm>
          <a:prstGeom prst="rect">
            <a:avLst/>
          </a:prstGeom>
          <a:noFill/>
          <a:ln>
            <a:noFill/>
          </a:ln>
        </p:spPr>
        <p:txBody>
          <a:bodyPr anchorCtr="0" anchor="t" bIns="0" lIns="0" spcFirstLastPara="1" rIns="0" wrap="square" tIns="59675">
            <a:spAutoFit/>
          </a:bodyPr>
          <a:lstStyle/>
          <a:p>
            <a:pPr indent="-177800" lvl="0" marL="182880" marR="116205"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Hay dos juegos de comandos o sintaxis que se pueden 	utilizar para realizar conexiones entre las tablas de una 	base de datos:</a:t>
            </a:r>
            <a:endParaRPr sz="2800">
              <a:latin typeface="Calibri"/>
              <a:ea typeface="Calibri"/>
              <a:cs typeface="Calibri"/>
              <a:sym typeface="Calibri"/>
            </a:endParaRPr>
          </a:p>
          <a:p>
            <a:pPr indent="0" lvl="0" marL="355600" rtl="0" algn="l">
              <a:lnSpc>
                <a:spcPct val="100000"/>
              </a:lnSpc>
              <a:spcBef>
                <a:spcPts val="9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Uniones propiedad de Oracle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Uniones estándar compatibles con ANSI/ISO SQL 99</a:t>
            </a:r>
            <a:endParaRPr sz="2400">
              <a:latin typeface="Calibri"/>
              <a:ea typeface="Calibri"/>
              <a:cs typeface="Calibri"/>
              <a:sym typeface="Calibri"/>
            </a:endParaRPr>
          </a:p>
          <a:p>
            <a:pPr indent="-177800" lvl="0" marL="182880" marR="603885" rtl="0" algn="l">
              <a:lnSpc>
                <a:spcPct val="108214"/>
              </a:lnSpc>
              <a:spcBef>
                <a:spcPts val="8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curso, aprenderá a utilizar ambos juegos de 	comandos de unión</a:t>
            </a:r>
            <a:endParaRPr sz="2800">
              <a:latin typeface="Calibri"/>
              <a:ea typeface="Calibri"/>
              <a:cs typeface="Calibri"/>
              <a:sym typeface="Calibri"/>
            </a:endParaRPr>
          </a:p>
          <a:p>
            <a:pPr indent="-177800" lvl="0" marL="182880"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uniones propiedad de Oracle se tratarán en el curso 	más adelante</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ANSI</a:t>
            </a:r>
            <a:endParaRPr/>
          </a:p>
        </p:txBody>
      </p:sp>
      <p:sp>
        <p:nvSpPr>
          <p:cNvPr id="141" name="Google Shape;141;p20"/>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142" name="Google Shape;142;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3" name="Google Shape;143;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4" name="Google Shape;144;p20"/>
          <p:cNvSpPr txBox="1"/>
          <p:nvPr/>
        </p:nvSpPr>
        <p:spPr>
          <a:xfrm>
            <a:off x="483552" y="1381889"/>
            <a:ext cx="8155940" cy="4408805"/>
          </a:xfrm>
          <a:prstGeom prst="rect">
            <a:avLst/>
          </a:prstGeom>
          <a:noFill/>
          <a:ln>
            <a:noFill/>
          </a:ln>
        </p:spPr>
        <p:txBody>
          <a:bodyPr anchorCtr="0" anchor="t" bIns="0" lIns="0" spcFirstLastPara="1" rIns="0" wrap="square" tIns="97150">
            <a:spAutoFit/>
          </a:bodyPr>
          <a:lstStyle/>
          <a:p>
            <a:pPr indent="-177800" lvl="0" marL="182880" marR="6273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ANSI son las siglas de American National Standards 	Institute</a:t>
            </a:r>
            <a:endParaRPr sz="2800">
              <a:latin typeface="Calibri"/>
              <a:ea typeface="Calibri"/>
              <a:cs typeface="Calibri"/>
              <a:sym typeface="Calibri"/>
            </a:endParaRPr>
          </a:p>
          <a:p>
            <a:pPr indent="-177800" lvl="0" marL="182880" marR="50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Fundada en 1918, ANSI es una organización privada sin 	ánimo de lucro que administra y coordina el sistema de 	evaluación de conformidad y estandarización 	voluntaria de EE. UU</a:t>
            </a:r>
            <a:endParaRPr sz="2800">
              <a:latin typeface="Calibri"/>
              <a:ea typeface="Calibri"/>
              <a:cs typeface="Calibri"/>
              <a:sym typeface="Calibri"/>
            </a:endParaRPr>
          </a:p>
          <a:p>
            <a:pPr indent="-177800" lvl="0" marL="182880" marR="240029"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misión del Instituto es mejorar tanto la 	competitividad global de negocios de EE. UU. como la 	calidad de vida</a:t>
            </a:r>
            <a:endParaRPr sz="2800">
              <a:latin typeface="Calibri"/>
              <a:ea typeface="Calibri"/>
              <a:cs typeface="Calibri"/>
              <a:sym typeface="Calibri"/>
            </a:endParaRPr>
          </a:p>
          <a:p>
            <a:pPr indent="0" lvl="0" marL="184785" rtl="0" algn="l">
              <a:lnSpc>
                <a:spcPct val="83928"/>
              </a:lnSpc>
              <a:spcBef>
                <a:spcPts val="0"/>
              </a:spcBef>
              <a:spcAft>
                <a:spcPts val="0"/>
              </a:spcAft>
              <a:buNone/>
            </a:pPr>
            <a:r>
              <a:rPr lang="en-US" sz="2800">
                <a:solidFill>
                  <a:srgbClr val="4E3629"/>
                </a:solidFill>
                <a:latin typeface="Calibri"/>
                <a:ea typeface="Calibri"/>
                <a:cs typeface="Calibri"/>
                <a:sym typeface="Calibri"/>
              </a:rPr>
              <a:t>de EE. UU. al promocionar y el facilitar los estándares</a:t>
            </a:r>
            <a:endParaRPr sz="2800">
              <a:latin typeface="Calibri"/>
              <a:ea typeface="Calibri"/>
              <a:cs typeface="Calibri"/>
              <a:sym typeface="Calibri"/>
            </a:endParaRPr>
          </a:p>
          <a:p>
            <a:pPr indent="0" lvl="0" marL="184785" marR="18415" rtl="0" algn="l">
              <a:lnSpc>
                <a:spcPct val="80000"/>
              </a:lnSpc>
              <a:spcBef>
                <a:spcPts val="335"/>
              </a:spcBef>
              <a:spcAft>
                <a:spcPts val="0"/>
              </a:spcAft>
              <a:buNone/>
            </a:pPr>
            <a:r>
              <a:rPr lang="en-US" sz="2800">
                <a:solidFill>
                  <a:srgbClr val="4E3629"/>
                </a:solidFill>
                <a:latin typeface="Calibri"/>
                <a:ea typeface="Calibri"/>
                <a:cs typeface="Calibri"/>
                <a:sym typeface="Calibri"/>
              </a:rPr>
              <a:t>de conformidad voluntaria y los sistemas de evaluación de conformidad, así como al proteger su integridad</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SQL</a:t>
            </a:r>
            <a:endParaRPr/>
          </a:p>
        </p:txBody>
      </p:sp>
      <p:sp>
        <p:nvSpPr>
          <p:cNvPr id="150" name="Google Shape;150;p21"/>
          <p:cNvSpPr txBox="1"/>
          <p:nvPr/>
        </p:nvSpPr>
        <p:spPr>
          <a:xfrm>
            <a:off x="483552" y="1415417"/>
            <a:ext cx="7845425" cy="32429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lenguaje de consulta estructurado (SQL) es el 	lenguaje de estándar del sector de procesamiento de 	información de los sistemas de gestión de bases de 	datos relacionales (RDBMS)</a:t>
            </a:r>
            <a:endParaRPr sz="2800">
              <a:latin typeface="Calibri"/>
              <a:ea typeface="Calibri"/>
              <a:cs typeface="Calibri"/>
              <a:sym typeface="Calibri"/>
            </a:endParaRPr>
          </a:p>
          <a:p>
            <a:pPr indent="-177800" lvl="0" marL="182880" marR="37465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idioma fue diseñado originalmente por IBM a 	mediados de 1970, tuvo un uso generalizado a 	primeros de 1980, y se convirtió en el estándar del 	sector en 1986, cuando fue adoptado por ANSI</a:t>
            </a:r>
            <a:endParaRPr sz="2800">
              <a:latin typeface="Calibri"/>
              <a:ea typeface="Calibri"/>
              <a:cs typeface="Calibri"/>
              <a:sym typeface="Calibri"/>
            </a:endParaRPr>
          </a:p>
        </p:txBody>
      </p:sp>
      <p:grpSp>
        <p:nvGrpSpPr>
          <p:cNvPr id="151" name="Google Shape;151;p21"/>
          <p:cNvGrpSpPr/>
          <p:nvPr/>
        </p:nvGrpSpPr>
        <p:grpSpPr>
          <a:xfrm>
            <a:off x="6163055" y="4770120"/>
            <a:ext cx="2677667" cy="1799842"/>
            <a:chOff x="6163055" y="4770120"/>
            <a:chExt cx="2677667" cy="1799842"/>
          </a:xfrm>
        </p:grpSpPr>
        <p:pic>
          <p:nvPicPr>
            <p:cNvPr id="152" name="Google Shape;152;p21"/>
            <p:cNvPicPr preferRelativeResize="0"/>
            <p:nvPr/>
          </p:nvPicPr>
          <p:blipFill rotWithShape="1">
            <a:blip r:embed="rId3">
              <a:alphaModFix/>
            </a:blip>
            <a:srcRect b="0" l="0" r="0" t="0"/>
            <a:stretch/>
          </p:blipFill>
          <p:spPr>
            <a:xfrm>
              <a:off x="6163055" y="6018275"/>
              <a:ext cx="2677667" cy="551687"/>
            </a:xfrm>
            <a:prstGeom prst="rect">
              <a:avLst/>
            </a:prstGeom>
            <a:noFill/>
            <a:ln>
              <a:noFill/>
            </a:ln>
          </p:spPr>
        </p:pic>
        <p:pic>
          <p:nvPicPr>
            <p:cNvPr id="153" name="Google Shape;153;p21"/>
            <p:cNvPicPr preferRelativeResize="0"/>
            <p:nvPr/>
          </p:nvPicPr>
          <p:blipFill rotWithShape="1">
            <a:blip r:embed="rId4">
              <a:alphaModFix/>
            </a:blip>
            <a:srcRect b="0" l="0" r="0" t="0"/>
            <a:stretch/>
          </p:blipFill>
          <p:spPr>
            <a:xfrm>
              <a:off x="6867143" y="4770120"/>
              <a:ext cx="1895855" cy="1722119"/>
            </a:xfrm>
            <a:prstGeom prst="rect">
              <a:avLst/>
            </a:prstGeom>
            <a:noFill/>
            <a:ln>
              <a:noFill/>
            </a:ln>
          </p:spPr>
        </p:pic>
      </p:grpSp>
      <p:sp>
        <p:nvSpPr>
          <p:cNvPr id="154" name="Google Shape;154;p21"/>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155" name="Google Shape;155;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6" name="Google Shape;156;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SQL</a:t>
            </a:r>
            <a:endParaRPr/>
          </a:p>
        </p:txBody>
      </p:sp>
      <p:sp>
        <p:nvSpPr>
          <p:cNvPr id="162" name="Google Shape;162;p22"/>
          <p:cNvSpPr txBox="1"/>
          <p:nvPr/>
        </p:nvSpPr>
        <p:spPr>
          <a:xfrm>
            <a:off x="483552" y="1415417"/>
            <a:ext cx="7895590" cy="24745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Hasta ahora, ha habido tres estandarizaciones de SQL 	de ANSI, cada una de ellas basada en la anterior</a:t>
            </a:r>
            <a:endParaRPr sz="2800">
              <a:latin typeface="Calibri"/>
              <a:ea typeface="Calibri"/>
              <a:cs typeface="Calibri"/>
              <a:sym typeface="Calibri"/>
            </a:endParaRPr>
          </a:p>
          <a:p>
            <a:pPr indent="-177800" lvl="0" marL="182880" marR="33718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denominan con el nombre del año en el que se 	propusieron por primera vez y son ampliamente 	conocidos por sus abreviaturas: ANSI-86, ANSI-92 y 	ANSI-99</a:t>
            </a:r>
            <a:endParaRPr sz="2800">
              <a:latin typeface="Calibri"/>
              <a:ea typeface="Calibri"/>
              <a:cs typeface="Calibri"/>
              <a:sym typeface="Calibri"/>
            </a:endParaRPr>
          </a:p>
        </p:txBody>
      </p:sp>
      <p:grpSp>
        <p:nvGrpSpPr>
          <p:cNvPr id="163" name="Google Shape;163;p22"/>
          <p:cNvGrpSpPr/>
          <p:nvPr/>
        </p:nvGrpSpPr>
        <p:grpSpPr>
          <a:xfrm>
            <a:off x="6150864" y="4344923"/>
            <a:ext cx="2677667" cy="1799843"/>
            <a:chOff x="6150864" y="4344923"/>
            <a:chExt cx="2677667" cy="1799843"/>
          </a:xfrm>
        </p:grpSpPr>
        <p:pic>
          <p:nvPicPr>
            <p:cNvPr id="164" name="Google Shape;164;p22"/>
            <p:cNvPicPr preferRelativeResize="0"/>
            <p:nvPr/>
          </p:nvPicPr>
          <p:blipFill rotWithShape="1">
            <a:blip r:embed="rId3">
              <a:alphaModFix/>
            </a:blip>
            <a:srcRect b="0" l="0" r="0" t="0"/>
            <a:stretch/>
          </p:blipFill>
          <p:spPr>
            <a:xfrm>
              <a:off x="6150864" y="5593079"/>
              <a:ext cx="2677667" cy="551687"/>
            </a:xfrm>
            <a:prstGeom prst="rect">
              <a:avLst/>
            </a:prstGeom>
            <a:noFill/>
            <a:ln>
              <a:noFill/>
            </a:ln>
          </p:spPr>
        </p:pic>
        <p:pic>
          <p:nvPicPr>
            <p:cNvPr id="165" name="Google Shape;165;p22"/>
            <p:cNvPicPr preferRelativeResize="0"/>
            <p:nvPr/>
          </p:nvPicPr>
          <p:blipFill rotWithShape="1">
            <a:blip r:embed="rId4">
              <a:alphaModFix/>
            </a:blip>
            <a:srcRect b="0" l="0" r="0" t="0"/>
            <a:stretch/>
          </p:blipFill>
          <p:spPr>
            <a:xfrm>
              <a:off x="6854952" y="4344923"/>
              <a:ext cx="1895855" cy="1722120"/>
            </a:xfrm>
            <a:prstGeom prst="rect">
              <a:avLst/>
            </a:prstGeom>
            <a:noFill/>
            <a:ln>
              <a:noFill/>
            </a:ln>
          </p:spPr>
        </p:pic>
      </p:grpSp>
      <p:sp>
        <p:nvSpPr>
          <p:cNvPr id="166" name="Google Shape;166;p22"/>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167" name="Google Shape;167;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8" name="Google Shape;168;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3"/>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UNIÓN NATURAL</a:t>
            </a:r>
            <a:endParaRPr/>
          </a:p>
        </p:txBody>
      </p:sp>
      <p:sp>
        <p:nvSpPr>
          <p:cNvPr id="174" name="Google Shape;174;p23"/>
          <p:cNvSpPr txBox="1"/>
          <p:nvPr/>
        </p:nvSpPr>
        <p:spPr>
          <a:xfrm>
            <a:off x="483552" y="1415417"/>
            <a:ext cx="7802880" cy="2474595"/>
          </a:xfrm>
          <a:prstGeom prst="rect">
            <a:avLst/>
          </a:prstGeom>
          <a:noFill/>
          <a:ln>
            <a:noFill/>
          </a:ln>
        </p:spPr>
        <p:txBody>
          <a:bodyPr anchorCtr="0" anchor="t" bIns="0" lIns="0" spcFirstLastPara="1" rIns="0" wrap="square" tIns="59675">
            <a:spAutoFit/>
          </a:bodyPr>
          <a:lstStyle/>
          <a:p>
            <a:pPr indent="-177800" lvl="0" marL="182880" marR="1803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cláusula de unión SQL combina campos de 2 (o 	más) tablas en una base de datos relacional</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unión natural se basa en todas las columnas de 	dos tablas que tengan el mismo nombre y selecciona 	las filas de las dos tablas que tengan valores 	equivalentes en todas las columnas coincidentes</a:t>
            </a:r>
            <a:endParaRPr sz="2800">
              <a:latin typeface="Calibri"/>
              <a:ea typeface="Calibri"/>
              <a:cs typeface="Calibri"/>
              <a:sym typeface="Calibri"/>
            </a:endParaRPr>
          </a:p>
        </p:txBody>
      </p:sp>
      <p:grpSp>
        <p:nvGrpSpPr>
          <p:cNvPr id="175" name="Google Shape;175;p23"/>
          <p:cNvGrpSpPr/>
          <p:nvPr/>
        </p:nvGrpSpPr>
        <p:grpSpPr>
          <a:xfrm>
            <a:off x="1688592" y="3997452"/>
            <a:ext cx="5199887" cy="1799843"/>
            <a:chOff x="1688592" y="3997452"/>
            <a:chExt cx="5199887" cy="1799843"/>
          </a:xfrm>
        </p:grpSpPr>
        <p:pic>
          <p:nvPicPr>
            <p:cNvPr id="176" name="Google Shape;176;p23"/>
            <p:cNvPicPr preferRelativeResize="0"/>
            <p:nvPr/>
          </p:nvPicPr>
          <p:blipFill rotWithShape="1">
            <a:blip r:embed="rId3">
              <a:alphaModFix/>
            </a:blip>
            <a:srcRect b="0" l="0" r="0" t="0"/>
            <a:stretch/>
          </p:blipFill>
          <p:spPr>
            <a:xfrm>
              <a:off x="4210812" y="5245608"/>
              <a:ext cx="2677667" cy="551687"/>
            </a:xfrm>
            <a:prstGeom prst="rect">
              <a:avLst/>
            </a:prstGeom>
            <a:noFill/>
            <a:ln>
              <a:noFill/>
            </a:ln>
          </p:spPr>
        </p:pic>
        <p:pic>
          <p:nvPicPr>
            <p:cNvPr id="177" name="Google Shape;177;p23"/>
            <p:cNvPicPr preferRelativeResize="0"/>
            <p:nvPr/>
          </p:nvPicPr>
          <p:blipFill rotWithShape="1">
            <a:blip r:embed="rId4">
              <a:alphaModFix/>
            </a:blip>
            <a:srcRect b="0" l="0" r="0" t="0"/>
            <a:stretch/>
          </p:blipFill>
          <p:spPr>
            <a:xfrm>
              <a:off x="4914900" y="3997452"/>
              <a:ext cx="1895855" cy="1722119"/>
            </a:xfrm>
            <a:prstGeom prst="rect">
              <a:avLst/>
            </a:prstGeom>
            <a:noFill/>
            <a:ln>
              <a:noFill/>
            </a:ln>
          </p:spPr>
        </p:pic>
        <p:pic>
          <p:nvPicPr>
            <p:cNvPr id="178" name="Google Shape;178;p23"/>
            <p:cNvPicPr preferRelativeResize="0"/>
            <p:nvPr/>
          </p:nvPicPr>
          <p:blipFill rotWithShape="1">
            <a:blip r:embed="rId3">
              <a:alphaModFix/>
            </a:blip>
            <a:srcRect b="0" l="0" r="0" t="0"/>
            <a:stretch/>
          </p:blipFill>
          <p:spPr>
            <a:xfrm>
              <a:off x="1688592" y="5245608"/>
              <a:ext cx="2677667" cy="551687"/>
            </a:xfrm>
            <a:prstGeom prst="rect">
              <a:avLst/>
            </a:prstGeom>
            <a:noFill/>
            <a:ln>
              <a:noFill/>
            </a:ln>
          </p:spPr>
        </p:pic>
        <p:pic>
          <p:nvPicPr>
            <p:cNvPr id="179" name="Google Shape;179;p23"/>
            <p:cNvPicPr preferRelativeResize="0"/>
            <p:nvPr/>
          </p:nvPicPr>
          <p:blipFill rotWithShape="1">
            <a:blip r:embed="rId4">
              <a:alphaModFix/>
            </a:blip>
            <a:srcRect b="0" l="0" r="0" t="0"/>
            <a:stretch/>
          </p:blipFill>
          <p:spPr>
            <a:xfrm>
              <a:off x="2392680" y="3997452"/>
              <a:ext cx="1895855" cy="1722119"/>
            </a:xfrm>
            <a:prstGeom prst="rect">
              <a:avLst/>
            </a:prstGeom>
            <a:noFill/>
            <a:ln>
              <a:noFill/>
            </a:ln>
          </p:spPr>
        </p:pic>
      </p:grpSp>
      <p:sp>
        <p:nvSpPr>
          <p:cNvPr id="180" name="Google Shape;180;p23"/>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181" name="Google Shape;181;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2" name="Google Shape;182;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nvSpPr>
        <p:spPr>
          <a:xfrm>
            <a:off x="51721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188" name="Google Shape;188;p24"/>
          <p:cNvSpPr txBox="1"/>
          <p:nvPr/>
        </p:nvSpPr>
        <p:spPr>
          <a:xfrm>
            <a:off x="2874191" y="6489343"/>
            <a:ext cx="1722120" cy="271145"/>
          </a:xfrm>
          <a:prstGeom prst="rect">
            <a:avLst/>
          </a:prstGeom>
          <a:noFill/>
          <a:ln>
            <a:noFill/>
          </a:ln>
        </p:spPr>
        <p:txBody>
          <a:bodyPr anchorCtr="0" anchor="t" bIns="0" lIns="0" spcFirstLastPara="1" rIns="0" wrap="square" tIns="12700">
            <a:spAutoFit/>
          </a:bodyPr>
          <a:lstStyle/>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DP 6-1</a:t>
            </a:r>
            <a:endParaRPr sz="850">
              <a:latin typeface="Calibri"/>
              <a:ea typeface="Calibri"/>
              <a:cs typeface="Calibri"/>
              <a:sym typeface="Calibri"/>
            </a:endParaRPr>
          </a:p>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Uniones Cruzadas y Uniones Naturales</a:t>
            </a:r>
            <a:endParaRPr sz="850">
              <a:latin typeface="Calibri"/>
              <a:ea typeface="Calibri"/>
              <a:cs typeface="Calibri"/>
              <a:sym typeface="Calibri"/>
            </a:endParaRPr>
          </a:p>
        </p:txBody>
      </p:sp>
      <p:sp>
        <p:nvSpPr>
          <p:cNvPr id="189" name="Google Shape;189;p24"/>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UNIÓN NATURAL</a:t>
            </a:r>
            <a:endParaRPr/>
          </a:p>
        </p:txBody>
      </p:sp>
      <p:sp>
        <p:nvSpPr>
          <p:cNvPr id="190" name="Google Shape;190;p24"/>
          <p:cNvSpPr txBox="1"/>
          <p:nvPr/>
        </p:nvSpPr>
        <p:spPr>
          <a:xfrm>
            <a:off x="8626856" y="6562597"/>
            <a:ext cx="135255"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12</a:t>
            </a:r>
            <a:endParaRPr sz="850">
              <a:latin typeface="Calibri"/>
              <a:ea typeface="Calibri"/>
              <a:cs typeface="Calibri"/>
              <a:sym typeface="Calibri"/>
            </a:endParaRPr>
          </a:p>
        </p:txBody>
      </p:sp>
      <p:graphicFrame>
        <p:nvGraphicFramePr>
          <p:cNvPr id="191" name="Google Shape;191;p24"/>
          <p:cNvGraphicFramePr/>
          <p:nvPr/>
        </p:nvGraphicFramePr>
        <p:xfrm>
          <a:off x="543863" y="3395111"/>
          <a:ext cx="3000000" cy="3000000"/>
        </p:xfrm>
        <a:graphic>
          <a:graphicData uri="http://schemas.openxmlformats.org/drawingml/2006/table">
            <a:tbl>
              <a:tblPr bandRow="1" firstRow="1">
                <a:noFill/>
                <a:tableStyleId>{F8126EB8-CC93-4DCB-A0F2-DB34286641EC}</a:tableStyleId>
              </a:tblPr>
              <a:tblGrid>
                <a:gridCol w="1250950"/>
                <a:gridCol w="930275"/>
                <a:gridCol w="963300"/>
              </a:tblGrid>
              <a:tr h="307350">
                <a:tc>
                  <a:txBody>
                    <a:bodyPr/>
                    <a:lstStyle/>
                    <a:p>
                      <a:pPr indent="0" lvl="0" marL="4762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EMPLOYEE_ID</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4762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LAST_NAME</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4762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JOB_ID</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0735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100</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King</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AD_PRES</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62575">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101</a:t>
                      </a:r>
                      <a:endParaRPr sz="1200" u="none" cap="none" strike="noStrike">
                        <a:latin typeface="Calibri"/>
                        <a:ea typeface="Calibri"/>
                        <a:cs typeface="Calibri"/>
                        <a:sym typeface="Calibri"/>
                      </a:endParaRPr>
                    </a:p>
                  </a:txBody>
                  <a:tcPr marT="80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Kochhar</a:t>
                      </a:r>
                      <a:endParaRPr sz="1200" u="none" cap="none" strike="noStrike">
                        <a:latin typeface="Calibri"/>
                        <a:ea typeface="Calibri"/>
                        <a:cs typeface="Calibri"/>
                        <a:sym typeface="Calibri"/>
                      </a:endParaRPr>
                    </a:p>
                  </a:txBody>
                  <a:tcPr marT="80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AD_VP</a:t>
                      </a:r>
                      <a:endParaRPr sz="1200" u="none" cap="none" strike="noStrike">
                        <a:latin typeface="Calibri"/>
                        <a:ea typeface="Calibri"/>
                        <a:cs typeface="Calibri"/>
                        <a:sym typeface="Calibri"/>
                      </a:endParaRPr>
                    </a:p>
                  </a:txBody>
                  <a:tcPr marT="80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735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5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5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735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202</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Fay</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MK_REP</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735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205</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Higgins</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AC_MGR</a:t>
                      </a:r>
                      <a:endParaRPr sz="12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800">
                <a:tc>
                  <a:txBody>
                    <a:bodyPr/>
                    <a:lstStyle/>
                    <a:p>
                      <a:pPr indent="0" lvl="0" marL="12700"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206</a:t>
                      </a:r>
                      <a:endParaRPr sz="1200" u="none" cap="none" strike="noStrike">
                        <a:latin typeface="Calibri"/>
                        <a:ea typeface="Calibri"/>
                        <a:cs typeface="Calibri"/>
                        <a:sym typeface="Calibri"/>
                      </a:endParaRPr>
                    </a:p>
                  </a:txBody>
                  <a:tcPr marT="5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Gietz</a:t>
                      </a:r>
                      <a:endParaRPr sz="1200" u="none" cap="none" strike="noStrike">
                        <a:latin typeface="Calibri"/>
                        <a:ea typeface="Calibri"/>
                        <a:cs typeface="Calibri"/>
                        <a:sym typeface="Calibri"/>
                      </a:endParaRPr>
                    </a:p>
                  </a:txBody>
                  <a:tcPr marT="5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AC_ACCOUNT</a:t>
                      </a:r>
                      <a:endParaRPr sz="1200" u="none" cap="none" strike="noStrike">
                        <a:latin typeface="Calibri"/>
                        <a:ea typeface="Calibri"/>
                        <a:cs typeface="Calibri"/>
                        <a:sym typeface="Calibri"/>
                      </a:endParaRPr>
                    </a:p>
                  </a:txBody>
                  <a:tcPr marT="5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192" name="Google Shape;192;p24"/>
          <p:cNvGraphicFramePr/>
          <p:nvPr/>
        </p:nvGraphicFramePr>
        <p:xfrm>
          <a:off x="5144162" y="3379634"/>
          <a:ext cx="3000000" cy="3000000"/>
        </p:xfrm>
        <a:graphic>
          <a:graphicData uri="http://schemas.openxmlformats.org/drawingml/2006/table">
            <a:tbl>
              <a:tblPr bandRow="1" firstRow="1">
                <a:noFill/>
                <a:tableStyleId>{F8126EB8-CC93-4DCB-A0F2-DB34286641EC}</a:tableStyleId>
              </a:tblPr>
              <a:tblGrid>
                <a:gridCol w="1135375"/>
                <a:gridCol w="2083425"/>
              </a:tblGrid>
              <a:tr h="342900">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JOB_ID</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JOB_TITLE</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42900">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AD_PRES</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President</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42900">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AD_VP</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Administration Vice President</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42900">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AD_ASST</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Administration Assistant</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42900">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AC_MGR</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Accounting Manager</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42900">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AC_ACCOUNT</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Public Accountant</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42900">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SA_MAN</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200" u="none" cap="none" strike="noStrike">
                          <a:solidFill>
                            <a:srgbClr val="4E3629"/>
                          </a:solidFill>
                          <a:latin typeface="Calibri"/>
                          <a:ea typeface="Calibri"/>
                          <a:cs typeface="Calibri"/>
                          <a:sym typeface="Calibri"/>
                        </a:rPr>
                        <a:t>Sales Manager</a:t>
                      </a:r>
                      <a:endParaRPr sz="12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pSp>
        <p:nvGrpSpPr>
          <p:cNvPr id="193" name="Google Shape;193;p24"/>
          <p:cNvGrpSpPr/>
          <p:nvPr/>
        </p:nvGrpSpPr>
        <p:grpSpPr>
          <a:xfrm>
            <a:off x="3878959" y="3454674"/>
            <a:ext cx="949476" cy="134084"/>
            <a:chOff x="3878959" y="3454674"/>
            <a:chExt cx="949476" cy="134084"/>
          </a:xfrm>
        </p:grpSpPr>
        <p:sp>
          <p:nvSpPr>
            <p:cNvPr id="194" name="Google Shape;194;p24"/>
            <p:cNvSpPr/>
            <p:nvPr/>
          </p:nvSpPr>
          <p:spPr>
            <a:xfrm>
              <a:off x="3878961" y="3521240"/>
              <a:ext cx="949325" cy="1270"/>
            </a:xfrm>
            <a:custGeom>
              <a:rect b="b" l="l" r="r" t="t"/>
              <a:pathLst>
                <a:path extrusionOk="0" h="1270" w="949325">
                  <a:moveTo>
                    <a:pt x="0" y="0"/>
                  </a:moveTo>
                  <a:lnTo>
                    <a:pt x="948905" y="965"/>
                  </a:lnTo>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5" name="Google Shape;195;p24"/>
            <p:cNvSpPr/>
            <p:nvPr/>
          </p:nvSpPr>
          <p:spPr>
            <a:xfrm>
              <a:off x="4713500" y="3455408"/>
              <a:ext cx="114935" cy="133350"/>
            </a:xfrm>
            <a:custGeom>
              <a:rect b="b" l="l" r="r" t="t"/>
              <a:pathLst>
                <a:path extrusionOk="0" h="133350" w="114935">
                  <a:moveTo>
                    <a:pt x="139" y="0"/>
                  </a:moveTo>
                  <a:lnTo>
                    <a:pt x="114363" y="66802"/>
                  </a:lnTo>
                  <a:lnTo>
                    <a:pt x="0" y="133350"/>
                  </a:lnTo>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6" name="Google Shape;196;p24"/>
            <p:cNvSpPr/>
            <p:nvPr/>
          </p:nvSpPr>
          <p:spPr>
            <a:xfrm>
              <a:off x="3878959" y="3454674"/>
              <a:ext cx="114935" cy="133350"/>
            </a:xfrm>
            <a:custGeom>
              <a:rect b="b" l="l" r="r" t="t"/>
              <a:pathLst>
                <a:path extrusionOk="0" h="133350" w="114935">
                  <a:moveTo>
                    <a:pt x="114236" y="133350"/>
                  </a:moveTo>
                  <a:lnTo>
                    <a:pt x="0" y="66560"/>
                  </a:lnTo>
                  <a:lnTo>
                    <a:pt x="114363" y="0"/>
                  </a:lnTo>
                </a:path>
              </a:pathLst>
            </a:custGeom>
            <a:noFill/>
            <a:ln cap="flat" cmpd="sng" w="38100">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97" name="Google Shape;197;p24"/>
          <p:cNvSpPr txBox="1"/>
          <p:nvPr/>
        </p:nvSpPr>
        <p:spPr>
          <a:xfrm>
            <a:off x="483552" y="1355371"/>
            <a:ext cx="7249795" cy="1883410"/>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tabla employees tiene una columna job_id</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es una referencia a la columna con el mismo 	nombre en la tabla jobs</a:t>
            </a:r>
            <a:endParaRPr sz="2800">
              <a:latin typeface="Calibri"/>
              <a:ea typeface="Calibri"/>
              <a:cs typeface="Calibri"/>
              <a:sym typeface="Calibri"/>
            </a:endParaRPr>
          </a:p>
          <a:p>
            <a:pPr indent="0" lvl="0" marL="27940" rtl="0" algn="ctr">
              <a:lnSpc>
                <a:spcPct val="100000"/>
              </a:lnSpc>
              <a:spcBef>
                <a:spcPts val="1495"/>
              </a:spcBef>
              <a:spcAft>
                <a:spcPts val="0"/>
              </a:spcAft>
              <a:buNone/>
            </a:pPr>
            <a:r>
              <a:rPr lang="en-US" sz="2000">
                <a:solidFill>
                  <a:srgbClr val="4E3629"/>
                </a:solidFill>
                <a:latin typeface="Calibri"/>
                <a:ea typeface="Calibri"/>
                <a:cs typeface="Calibri"/>
                <a:sym typeface="Calibri"/>
              </a:rPr>
              <a:t>employees	jobs</a:t>
            </a:r>
            <a:endParaRPr sz="2000">
              <a:latin typeface="Calibri"/>
              <a:ea typeface="Calibri"/>
              <a:cs typeface="Calibri"/>
              <a:sym typeface="Calibri"/>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5"/>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UNIÓN NATURAL</a:t>
            </a:r>
            <a:endParaRPr/>
          </a:p>
        </p:txBody>
      </p:sp>
      <p:sp>
        <p:nvSpPr>
          <p:cNvPr id="203" name="Google Shape;203;p25"/>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204" name="Google Shape;204;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5" name="Google Shape;205;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6" name="Google Shape;206;p25"/>
          <p:cNvSpPr txBox="1"/>
          <p:nvPr/>
        </p:nvSpPr>
        <p:spPr>
          <a:xfrm>
            <a:off x="483552" y="1381889"/>
            <a:ext cx="8115300" cy="2260600"/>
          </a:xfrm>
          <a:prstGeom prst="rect">
            <a:avLst/>
          </a:prstGeom>
          <a:noFill/>
          <a:ln>
            <a:noFill/>
          </a:ln>
        </p:spPr>
        <p:txBody>
          <a:bodyPr anchorCtr="0" anchor="t" bIns="0" lIns="0" spcFirstLastPara="1" rIns="0" wrap="square" tIns="97150">
            <a:spAutoFit/>
          </a:bodyPr>
          <a:lstStyle/>
          <a:p>
            <a:pPr indent="-177800" lvl="0" marL="182880" marR="255904" rtl="0" algn="just">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se muestra en el código de ejemplo, cuando se 	utiliza una unión natural, es posible unir las tablas sin 	tener que especificar de forma explícita las columnas 	de la tabla correspondiente</a:t>
            </a:r>
            <a:endParaRPr sz="2800">
              <a:latin typeface="Calibri"/>
              <a:ea typeface="Calibri"/>
              <a:cs typeface="Calibri"/>
              <a:sym typeface="Calibri"/>
            </a:endParaRPr>
          </a:p>
          <a:p>
            <a:pPr indent="-177800" lvl="0" marL="182880" marR="5080" rtl="0" algn="just">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los nombres y los tipos de dato de ambas 	columnas deben ser los mismos</a:t>
            </a:r>
            <a:endParaRPr sz="2800">
              <a:latin typeface="Calibri"/>
              <a:ea typeface="Calibri"/>
              <a:cs typeface="Calibri"/>
              <a:sym typeface="Calibri"/>
            </a:endParaRPr>
          </a:p>
        </p:txBody>
      </p:sp>
      <p:sp>
        <p:nvSpPr>
          <p:cNvPr id="207" name="Google Shape;207;p25"/>
          <p:cNvSpPr txBox="1"/>
          <p:nvPr/>
        </p:nvSpPr>
        <p:spPr>
          <a:xfrm>
            <a:off x="483552" y="4519805"/>
            <a:ext cx="7647940" cy="1475740"/>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unión devolverá las columnas de la tabla 	employees y sus valores job_title relacionados de la 	tabla jobs en función del valor job_id de la columna 	común</a:t>
            </a:r>
            <a:endParaRPr sz="2800">
              <a:latin typeface="Calibri"/>
              <a:ea typeface="Calibri"/>
              <a:cs typeface="Calibri"/>
              <a:sym typeface="Calibri"/>
            </a:endParaRPr>
          </a:p>
        </p:txBody>
      </p:sp>
      <p:sp>
        <p:nvSpPr>
          <p:cNvPr id="208" name="Google Shape;208;p25"/>
          <p:cNvSpPr txBox="1"/>
          <p:nvPr/>
        </p:nvSpPr>
        <p:spPr>
          <a:xfrm>
            <a:off x="393191" y="3643884"/>
            <a:ext cx="8345805" cy="852169"/>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4166"/>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 job_id, job_title</a:t>
            </a:r>
            <a:endParaRPr sz="1800">
              <a:latin typeface="Courier New"/>
              <a:ea typeface="Courier New"/>
              <a:cs typeface="Courier New"/>
              <a:sym typeface="Courier New"/>
            </a:endParaRPr>
          </a:p>
          <a:p>
            <a:pPr indent="0" lvl="0" marL="0" marR="39687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NATURAL JOIN jobs WHERE department_id &gt; 80;</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UNIÓN NATURAL</a:t>
            </a:r>
            <a:endParaRPr/>
          </a:p>
        </p:txBody>
      </p:sp>
      <p:sp>
        <p:nvSpPr>
          <p:cNvPr id="214" name="Google Shape;214;p26"/>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215" name="Google Shape;215;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6" name="Google Shape;216;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217" name="Google Shape;217;p26"/>
          <p:cNvGraphicFramePr/>
          <p:nvPr/>
        </p:nvGraphicFramePr>
        <p:xfrm>
          <a:off x="531812" y="2999689"/>
          <a:ext cx="3000000" cy="3000000"/>
        </p:xfrm>
        <a:graphic>
          <a:graphicData uri="http://schemas.openxmlformats.org/drawingml/2006/table">
            <a:tbl>
              <a:tblPr bandRow="1" firstRow="1">
                <a:noFill/>
                <a:tableStyleId>{F8126EB8-CC93-4DCB-A0F2-DB34286641EC}</a:tableStyleId>
              </a:tblPr>
              <a:tblGrid>
                <a:gridCol w="1475100"/>
                <a:gridCol w="1578600"/>
                <a:gridCol w="1698625"/>
                <a:gridCol w="2781925"/>
              </a:tblGrid>
              <a:tr h="4070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JOB_TITLE</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AD_PRES</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President</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Neena</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Administration Vice President</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Administration Vice President</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Shelley</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AC_MGR</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Accounting Manager</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William</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AC_ACCOUNT</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Public Accountant</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18" name="Google Shape;218;p26"/>
          <p:cNvSpPr txBox="1"/>
          <p:nvPr/>
        </p:nvSpPr>
        <p:spPr>
          <a:xfrm>
            <a:off x="405384" y="1664207"/>
            <a:ext cx="8345805" cy="85344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4722"/>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 job_id, job_title</a:t>
            </a:r>
            <a:endParaRPr sz="1800">
              <a:latin typeface="Courier New"/>
              <a:ea typeface="Courier New"/>
              <a:cs typeface="Courier New"/>
              <a:sym typeface="Courier New"/>
            </a:endParaRPr>
          </a:p>
          <a:p>
            <a:pPr indent="0" lvl="0" marL="0" marR="39693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NATURAL JOIN jobs WHERE department_id &gt; 80;</a:t>
            </a:r>
            <a:endParaRPr sz="18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7"/>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UNIÓN NATURAL</a:t>
            </a:r>
            <a:endParaRPr/>
          </a:p>
        </p:txBody>
      </p:sp>
      <p:sp>
        <p:nvSpPr>
          <p:cNvPr id="224" name="Google Shape;224;p27"/>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225" name="Google Shape;225;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6" name="Google Shape;226;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7" name="Google Shape;227;p27"/>
          <p:cNvSpPr txBox="1"/>
          <p:nvPr/>
        </p:nvSpPr>
        <p:spPr>
          <a:xfrm>
            <a:off x="483552" y="1381889"/>
            <a:ext cx="457263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Aquí se muestra otro ejemplo:</a:t>
            </a:r>
            <a:endParaRPr sz="2800">
              <a:latin typeface="Calibri"/>
              <a:ea typeface="Calibri"/>
              <a:cs typeface="Calibri"/>
              <a:sym typeface="Calibri"/>
            </a:endParaRPr>
          </a:p>
        </p:txBody>
      </p:sp>
      <p:sp>
        <p:nvSpPr>
          <p:cNvPr id="228" name="Google Shape;228;p27"/>
          <p:cNvSpPr txBox="1"/>
          <p:nvPr/>
        </p:nvSpPr>
        <p:spPr>
          <a:xfrm>
            <a:off x="483552" y="2710817"/>
            <a:ext cx="4970780" cy="2943225"/>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Tanto la tabla departments como 	la tabla locations tienen una 	columna, location_id,</a:t>
            </a:r>
            <a:endParaRPr sz="2800">
              <a:latin typeface="Calibri"/>
              <a:ea typeface="Calibri"/>
              <a:cs typeface="Calibri"/>
              <a:sym typeface="Calibri"/>
            </a:endParaRPr>
          </a:p>
          <a:p>
            <a:pPr indent="0" lvl="0" marL="184150" rtl="0" algn="l">
              <a:lnSpc>
                <a:spcPct val="83928"/>
              </a:lnSpc>
              <a:spcBef>
                <a:spcPts val="0"/>
              </a:spcBef>
              <a:spcAft>
                <a:spcPts val="0"/>
              </a:spcAft>
              <a:buNone/>
            </a:pPr>
            <a:r>
              <a:rPr lang="en-US" sz="2800">
                <a:solidFill>
                  <a:srgbClr val="4E3629"/>
                </a:solidFill>
                <a:latin typeface="Calibri"/>
                <a:ea typeface="Calibri"/>
                <a:cs typeface="Calibri"/>
                <a:sym typeface="Calibri"/>
              </a:rPr>
              <a:t>que se utiliza para unir las dos</a:t>
            </a:r>
            <a:endParaRPr sz="2800">
              <a:latin typeface="Calibri"/>
              <a:ea typeface="Calibri"/>
              <a:cs typeface="Calibri"/>
              <a:sym typeface="Calibri"/>
            </a:endParaRPr>
          </a:p>
          <a:p>
            <a:pPr indent="0" lvl="0" marL="184150" rtl="0" algn="l">
              <a:lnSpc>
                <a:spcPct val="108035"/>
              </a:lnSpc>
              <a:spcBef>
                <a:spcPts val="0"/>
              </a:spcBef>
              <a:spcAft>
                <a:spcPts val="0"/>
              </a:spcAft>
              <a:buNone/>
            </a:pPr>
            <a:r>
              <a:rPr lang="en-US" sz="2800">
                <a:solidFill>
                  <a:srgbClr val="4E3629"/>
                </a:solidFill>
                <a:latin typeface="Calibri"/>
                <a:ea typeface="Calibri"/>
                <a:cs typeface="Calibri"/>
                <a:sym typeface="Calibri"/>
              </a:rPr>
              <a:t>tablas</a:t>
            </a:r>
            <a:endParaRPr sz="2800">
              <a:latin typeface="Calibri"/>
              <a:ea typeface="Calibri"/>
              <a:cs typeface="Calibri"/>
              <a:sym typeface="Calibri"/>
            </a:endParaRPr>
          </a:p>
          <a:p>
            <a:pPr indent="-177800" lvl="0" marL="182880" marR="380365"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Observe que la columna de la 	unión natural no tiene que 	aparecer en la cláusula SELECT</a:t>
            </a:r>
            <a:endParaRPr sz="2800">
              <a:latin typeface="Calibri"/>
              <a:ea typeface="Calibri"/>
              <a:cs typeface="Calibri"/>
              <a:sym typeface="Calibri"/>
            </a:endParaRPr>
          </a:p>
        </p:txBody>
      </p:sp>
      <p:graphicFrame>
        <p:nvGraphicFramePr>
          <p:cNvPr id="229" name="Google Shape;229;p27"/>
          <p:cNvGraphicFramePr/>
          <p:nvPr/>
        </p:nvGraphicFramePr>
        <p:xfrm>
          <a:off x="5715262" y="1876071"/>
          <a:ext cx="3000000" cy="3000000"/>
        </p:xfrm>
        <a:graphic>
          <a:graphicData uri="http://schemas.openxmlformats.org/drawingml/2006/table">
            <a:tbl>
              <a:tblPr bandRow="1" firstRow="1">
                <a:noFill/>
                <a:tableStyleId>{F8126EB8-CC93-4DCB-A0F2-DB34286641EC}</a:tableStyleId>
              </a:tblPr>
              <a:tblGrid>
                <a:gridCol w="2000250"/>
                <a:gridCol w="1145550"/>
              </a:tblGrid>
              <a:tr h="3879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DEPARTMENT_NAME</a:t>
                      </a:r>
                      <a:endParaRPr sz="1600" u="none" cap="none" strike="noStrike">
                        <a:latin typeface="Calibri"/>
                        <a:ea typeface="Calibri"/>
                        <a:cs typeface="Calibri"/>
                        <a:sym typeface="Calibri"/>
                      </a:endParaRPr>
                    </a:p>
                  </a:txBody>
                  <a:tcPr marT="59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CITY</a:t>
                      </a:r>
                      <a:endParaRPr sz="1600" u="none" cap="none" strike="noStrike">
                        <a:latin typeface="Calibri"/>
                        <a:ea typeface="Calibri"/>
                        <a:cs typeface="Calibri"/>
                        <a:sym typeface="Calibri"/>
                      </a:endParaRPr>
                    </a:p>
                  </a:txBody>
                  <a:tcPr marT="59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879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Marketing</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Toronto</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79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Sales</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Oxford</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79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IT</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Southlake</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00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Shipping</a:t>
                      </a:r>
                      <a:endParaRPr sz="1600" u="none" cap="none" strike="noStrike">
                        <a:latin typeface="Calibri"/>
                        <a:ea typeface="Calibri"/>
                        <a:cs typeface="Calibri"/>
                        <a:sym typeface="Calibri"/>
                      </a:endParaRPr>
                    </a:p>
                  </a:txBody>
                  <a:tcPr marT="115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239395"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South San Francisco</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79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Seattle</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79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Executive</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Seattle</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79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Accounting</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Seattle</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79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Contracting</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Seattle</a:t>
                      </a:r>
                      <a:endParaRPr sz="1600" u="none" cap="none" strike="noStrike">
                        <a:latin typeface="Calibri"/>
                        <a:ea typeface="Calibri"/>
                        <a:cs typeface="Calibri"/>
                        <a:sym typeface="Calibri"/>
                      </a:endParaRPr>
                    </a:p>
                  </a:txBody>
                  <a:tcPr marT="5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30" name="Google Shape;230;p27"/>
          <p:cNvSpPr txBox="1"/>
          <p:nvPr/>
        </p:nvSpPr>
        <p:spPr>
          <a:xfrm>
            <a:off x="658368" y="1885188"/>
            <a:ext cx="4810125" cy="904240"/>
          </a:xfrm>
          <a:prstGeom prst="rect">
            <a:avLst/>
          </a:prstGeom>
          <a:solidFill>
            <a:srgbClr val="9DBDC4">
              <a:alpha val="49804"/>
            </a:srgbClr>
          </a:solidFill>
          <a:ln>
            <a:noFill/>
          </a:ln>
        </p:spPr>
        <p:txBody>
          <a:bodyPr anchorCtr="0" anchor="t" bIns="0" lIns="0" spcFirstLastPara="1" rIns="0" wrap="square" tIns="12700">
            <a:spAutoFit/>
          </a:bodyPr>
          <a:lstStyle/>
          <a:p>
            <a:pPr indent="0" lvl="0" marL="0" marR="8432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department_name, city FROM departments NATURAL JOIN locations;</a:t>
            </a:r>
            <a:endParaRPr sz="18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8"/>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CROSS JOIN</a:t>
            </a:r>
            <a:endParaRPr/>
          </a:p>
        </p:txBody>
      </p:sp>
      <p:sp>
        <p:nvSpPr>
          <p:cNvPr id="236" name="Google Shape;236;p28"/>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237" name="Google Shape;237;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8" name="Google Shape;238;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9" name="Google Shape;239;p28"/>
          <p:cNvSpPr txBox="1"/>
          <p:nvPr/>
        </p:nvSpPr>
        <p:spPr>
          <a:xfrm>
            <a:off x="483552" y="1415417"/>
            <a:ext cx="8161020" cy="3061335"/>
          </a:xfrm>
          <a:prstGeom prst="rect">
            <a:avLst/>
          </a:prstGeom>
          <a:noFill/>
          <a:ln>
            <a:noFill/>
          </a:ln>
        </p:spPr>
        <p:txBody>
          <a:bodyPr anchorCtr="0" anchor="t" bIns="0" lIns="0" spcFirstLastPara="1" rIns="0" wrap="square" tIns="59675">
            <a:spAutoFit/>
          </a:bodyPr>
          <a:lstStyle/>
          <a:p>
            <a:pPr indent="-177800" lvl="0" marL="182880" marR="508634"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valor CROSS JOIN SQL de ANSI/ISO SQL: 1999 une 	cada fila de una tabla a cada fila de la otra tabla</a:t>
            </a:r>
            <a:endParaRPr sz="2800">
              <a:latin typeface="Calibri"/>
              <a:ea typeface="Calibri"/>
              <a:cs typeface="Calibri"/>
              <a:sym typeface="Calibri"/>
            </a:endParaRPr>
          </a:p>
          <a:p>
            <a:pPr indent="-177800" lvl="0" marL="182880" marR="5511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juego de resultados representa todas las posibles 	combinaciones de filas de las dos tablas</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podría ser muy grande</a:t>
            </a:r>
            <a:endParaRPr sz="2800">
              <a:latin typeface="Calibri"/>
              <a:ea typeface="Calibri"/>
              <a:cs typeface="Calibri"/>
              <a:sym typeface="Calibri"/>
            </a:endParaRPr>
          </a:p>
          <a:p>
            <a:pPr indent="-177800" lvl="0" marL="182880" marR="5080" rtl="0" algn="l">
              <a:lnSpc>
                <a:spcPct val="108214"/>
              </a:lnSpc>
              <a:spcBef>
                <a:spcPts val="83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ejecuta CROSS JOIN en una tabla con 20 filas con una 	tabla con 100 filas, la consulta devolverá 2000 filas</a:t>
            </a:r>
            <a:endParaRPr sz="28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9"/>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Unión Cruzada</a:t>
            </a:r>
            <a:endParaRPr/>
          </a:p>
        </p:txBody>
      </p:sp>
      <p:sp>
        <p:nvSpPr>
          <p:cNvPr id="245" name="Google Shape;245;p29"/>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246" name="Google Shape;246;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7" name="Google Shape;247;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8" name="Google Shape;248;p29"/>
          <p:cNvSpPr txBox="1"/>
          <p:nvPr/>
        </p:nvSpPr>
        <p:spPr>
          <a:xfrm>
            <a:off x="483552" y="1415417"/>
            <a:ext cx="6782434" cy="1322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tabla employees contiene 20 filas y la tabla 	departments tiene 8 filas</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realizar un CROSS JOIN, devolverá 160 filas</a:t>
            </a:r>
            <a:endParaRPr sz="2800">
              <a:latin typeface="Calibri"/>
              <a:ea typeface="Calibri"/>
              <a:cs typeface="Calibri"/>
              <a:sym typeface="Calibri"/>
            </a:endParaRPr>
          </a:p>
        </p:txBody>
      </p:sp>
      <p:graphicFrame>
        <p:nvGraphicFramePr>
          <p:cNvPr id="249" name="Google Shape;249;p29"/>
          <p:cNvGraphicFramePr/>
          <p:nvPr/>
        </p:nvGraphicFramePr>
        <p:xfrm>
          <a:off x="5495190" y="3130812"/>
          <a:ext cx="3000000" cy="3000000"/>
        </p:xfrm>
        <a:graphic>
          <a:graphicData uri="http://schemas.openxmlformats.org/drawingml/2006/table">
            <a:tbl>
              <a:tblPr bandRow="1" firstRow="1">
                <a:noFill/>
                <a:tableStyleId>{F8126EB8-CC93-4DCB-A0F2-DB34286641EC}</a:tableStyleId>
              </a:tblPr>
              <a:tblGrid>
                <a:gridCol w="1259200"/>
                <a:gridCol w="1926600"/>
              </a:tblGrid>
              <a:tr h="254625">
                <a:tc>
                  <a:txBody>
                    <a:bodyPr/>
                    <a:lstStyle/>
                    <a:p>
                      <a:pPr indent="0" lvl="0" marL="71755" marR="0" rtl="0" algn="l">
                        <a:lnSpc>
                          <a:spcPct val="1165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65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54625">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Abel</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4625">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4625">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4625">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Ernst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4625">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4625">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650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4625">
                <a:tc>
                  <a:txBody>
                    <a:bodyPr/>
                    <a:lstStyle/>
                    <a:p>
                      <a:pPr indent="0" lvl="0" marL="71755" marR="0" rtl="0" algn="l">
                        <a:lnSpc>
                          <a:spcPct val="116250"/>
                        </a:lnSpc>
                        <a:spcBef>
                          <a:spcPts val="0"/>
                        </a:spcBef>
                        <a:spcAft>
                          <a:spcPts val="0"/>
                        </a:spcAft>
                        <a:buNone/>
                      </a:pPr>
                      <a:r>
                        <a:rPr lang="en-US" sz="1600" u="none" cap="none" strike="noStrike">
                          <a:solidFill>
                            <a:srgbClr val="4E3629"/>
                          </a:solidFill>
                          <a:latin typeface="Calibri"/>
                          <a:ea typeface="Calibri"/>
                          <a:cs typeface="Calibri"/>
                          <a:sym typeface="Calibri"/>
                        </a:rPr>
                        <a:t>Grant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625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4625">
                <a:tc>
                  <a:txBody>
                    <a:bodyPr/>
                    <a:lstStyle/>
                    <a:p>
                      <a:pPr indent="0" lvl="0" marL="71755" marR="0" rtl="0" algn="l">
                        <a:lnSpc>
                          <a:spcPct val="11625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625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4625">
                <a:tc>
                  <a:txBody>
                    <a:bodyPr/>
                    <a:lstStyle/>
                    <a:p>
                      <a:pPr indent="0" lvl="0" marL="71755" marR="0" rtl="0" algn="l">
                        <a:lnSpc>
                          <a:spcPct val="11625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625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4625">
                <a:tc>
                  <a:txBody>
                    <a:bodyPr/>
                    <a:lstStyle/>
                    <a:p>
                      <a:pPr indent="0" lvl="0" marL="71755" marR="0" rtl="0" algn="l">
                        <a:lnSpc>
                          <a:spcPct val="116250"/>
                        </a:lnSpc>
                        <a:spcBef>
                          <a:spcPts val="0"/>
                        </a:spcBef>
                        <a:spcAft>
                          <a:spcPts val="0"/>
                        </a:spcAft>
                        <a:buNone/>
                      </a:pPr>
                      <a:r>
                        <a:rPr lang="en-US" sz="1600" u="none" cap="none" strike="noStrike">
                          <a:solidFill>
                            <a:srgbClr val="4E3629"/>
                          </a:solidFill>
                          <a:latin typeface="Calibri"/>
                          <a:ea typeface="Calibri"/>
                          <a:cs typeface="Calibri"/>
                          <a:sym typeface="Calibri"/>
                        </a:rPr>
                        <a:t>Hunold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6250"/>
                        </a:lnSpc>
                        <a:spcBef>
                          <a:spcPts val="0"/>
                        </a:spcBef>
                        <a:spcAft>
                          <a:spcPts val="0"/>
                        </a:spcAft>
                        <a:buNone/>
                      </a:pPr>
                      <a:r>
                        <a:rPr lang="en-US" sz="1600" u="none" cap="none" strike="noStrike">
                          <a:solidFill>
                            <a:srgbClr val="4E3629"/>
                          </a:solidFill>
                          <a:latin typeface="Calibri"/>
                          <a:ea typeface="Calibri"/>
                          <a:cs typeface="Calibri"/>
                          <a:sym typeface="Calibri"/>
                        </a:rPr>
                        <a:t>Administration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50" name="Google Shape;250;p29"/>
          <p:cNvSpPr txBox="1"/>
          <p:nvPr/>
        </p:nvSpPr>
        <p:spPr>
          <a:xfrm>
            <a:off x="405384" y="3137916"/>
            <a:ext cx="4810125" cy="902335"/>
          </a:xfrm>
          <a:prstGeom prst="rect">
            <a:avLst/>
          </a:prstGeom>
          <a:solidFill>
            <a:srgbClr val="9DBDC4">
              <a:alpha val="49804"/>
            </a:srgbClr>
          </a:solidFill>
          <a:ln>
            <a:noFill/>
          </a:ln>
        </p:spPr>
        <p:txBody>
          <a:bodyPr anchorCtr="0" anchor="t" bIns="0" lIns="0" spcFirstLastPara="1" rIns="0" wrap="square" tIns="11425">
            <a:spAutoFit/>
          </a:bodyPr>
          <a:lstStyle/>
          <a:p>
            <a:pPr indent="0" lvl="0" marL="0" marR="2997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department_name FROM employees CROSS JOIN departments;</a:t>
            </a:r>
            <a:endParaRPr sz="1800">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0"/>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256" name="Google Shape;256;p30"/>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257" name="Google Shape;257;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8" name="Google Shape;258;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9" name="Google Shape;259;p30"/>
          <p:cNvSpPr txBox="1"/>
          <p:nvPr>
            <p:ph idx="1" type="body"/>
          </p:nvPr>
        </p:nvSpPr>
        <p:spPr>
          <a:xfrm>
            <a:off x="483552" y="1393401"/>
            <a:ext cx="7692900" cy="17583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a:t>Entre los términos clave utilizados en esta lección se 	incluyen:</a:t>
            </a:r>
            <a:endParaRPr/>
          </a:p>
          <a:p>
            <a:pPr indent="0" lvl="0" marL="355600" rtl="0" algn="l">
              <a:lnSpc>
                <a:spcPct val="100000"/>
              </a:lnSpc>
              <a:spcBef>
                <a:spcPts val="95"/>
              </a:spcBef>
              <a:spcAft>
                <a:spcPts val="0"/>
              </a:spcAft>
              <a:buNone/>
            </a:pPr>
            <a:r>
              <a:rPr lang="en-US" sz="2400">
                <a:solidFill>
                  <a:srgbClr val="D1350F"/>
                </a:solidFill>
              </a:rPr>
              <a:t>−</a:t>
            </a:r>
            <a:r>
              <a:rPr lang="en-US" sz="2400"/>
              <a:t>Unión cruzada</a:t>
            </a:r>
            <a:endParaRPr sz="2400"/>
          </a:p>
          <a:p>
            <a:pPr indent="0" lvl="0" marL="355600" rtl="0" algn="l">
              <a:lnSpc>
                <a:spcPct val="100000"/>
              </a:lnSpc>
              <a:spcBef>
                <a:spcPts val="110"/>
              </a:spcBef>
              <a:spcAft>
                <a:spcPts val="1200"/>
              </a:spcAft>
              <a:buNone/>
            </a:pPr>
            <a:r>
              <a:rPr lang="en-US" sz="2400">
                <a:solidFill>
                  <a:srgbClr val="D1350F"/>
                </a:solidFill>
              </a:rPr>
              <a:t>−</a:t>
            </a:r>
            <a:r>
              <a:rPr lang="en-US" sz="2400"/>
              <a:t>Unión Natural</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1"/>
          <p:cNvSpPr txBox="1"/>
          <p:nvPr>
            <p:ph type="title"/>
          </p:nvPr>
        </p:nvSpPr>
        <p:spPr>
          <a:xfrm>
            <a:off x="392112" y="748031"/>
            <a:ext cx="4522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265" name="Google Shape;265;p31"/>
          <p:cNvSpPr txBox="1"/>
          <p:nvPr>
            <p:ph idx="1" type="body"/>
          </p:nvPr>
        </p:nvSpPr>
        <p:spPr>
          <a:xfrm>
            <a:off x="483552" y="1393401"/>
            <a:ext cx="7692900" cy="46389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debe haber aprendido lo siguiente:</a:t>
            </a:r>
            <a:endParaRPr/>
          </a:p>
          <a:p>
            <a:pPr indent="-175260" lvl="0" marL="530860" marR="5080" rtl="0" algn="l">
              <a:lnSpc>
                <a:spcPct val="107916"/>
              </a:lnSpc>
              <a:spcBef>
                <a:spcPts val="475"/>
              </a:spcBef>
              <a:spcAft>
                <a:spcPts val="0"/>
              </a:spcAft>
              <a:buNone/>
            </a:pPr>
            <a:r>
              <a:rPr lang="en-US" sz="2400">
                <a:solidFill>
                  <a:srgbClr val="D1350F"/>
                </a:solidFill>
              </a:rPr>
              <a:t>−</a:t>
            </a:r>
            <a:r>
              <a:rPr lang="en-US" sz="2400"/>
              <a:t>Crear y ejecutar una unión natural utilizando la sintaxis de unión ANSI-99 SQL</a:t>
            </a:r>
            <a:endParaRPr sz="2400"/>
          </a:p>
          <a:p>
            <a:pPr indent="-175260" lvl="0" marL="530860" marR="1215390" rtl="0" algn="l">
              <a:lnSpc>
                <a:spcPct val="107916"/>
              </a:lnSpc>
              <a:spcBef>
                <a:spcPts val="400"/>
              </a:spcBef>
              <a:spcAft>
                <a:spcPts val="0"/>
              </a:spcAft>
              <a:buNone/>
            </a:pPr>
            <a:r>
              <a:rPr lang="en-US" sz="2400">
                <a:solidFill>
                  <a:srgbClr val="D1350F"/>
                </a:solidFill>
              </a:rPr>
              <a:t>−</a:t>
            </a:r>
            <a:r>
              <a:rPr lang="en-US" sz="2400"/>
              <a:t>Crear una unión cruzada utilizando la sintaxis de unión ANSI-99 SQL</a:t>
            </a:r>
            <a:endParaRPr sz="2400"/>
          </a:p>
          <a:p>
            <a:pPr indent="-175260" lvl="0" marL="530860" marR="528320" rtl="0" algn="l">
              <a:lnSpc>
                <a:spcPct val="107916"/>
              </a:lnSpc>
              <a:spcBef>
                <a:spcPts val="400"/>
              </a:spcBef>
              <a:spcAft>
                <a:spcPts val="0"/>
              </a:spcAft>
              <a:buNone/>
            </a:pPr>
            <a:r>
              <a:rPr lang="en-US" sz="2400">
                <a:solidFill>
                  <a:srgbClr val="D1350F"/>
                </a:solidFill>
              </a:rPr>
              <a:t>−</a:t>
            </a:r>
            <a:r>
              <a:rPr lang="en-US" sz="2400"/>
              <a:t>Explicar la importancia de tener un estándar para SQL definido por ANSI</a:t>
            </a:r>
            <a:endParaRPr sz="2400"/>
          </a:p>
          <a:p>
            <a:pPr indent="-175260" lvl="0" marL="530860" marR="3820795" rtl="0" algn="l">
              <a:lnSpc>
                <a:spcPct val="107916"/>
              </a:lnSpc>
              <a:spcBef>
                <a:spcPts val="409"/>
              </a:spcBef>
              <a:spcAft>
                <a:spcPts val="1200"/>
              </a:spcAft>
              <a:buNone/>
            </a:pPr>
            <a:r>
              <a:rPr lang="en-US" sz="2400">
                <a:solidFill>
                  <a:srgbClr val="D1350F"/>
                </a:solidFill>
              </a:rPr>
              <a:t>−</a:t>
            </a:r>
            <a:r>
              <a:rPr lang="en-US" sz="2400"/>
              <a:t>Describir una necesidad de negocio para combinar la información de varios orígenes de datos</a:t>
            </a:r>
            <a:endParaRPr sz="2400"/>
          </a:p>
        </p:txBody>
      </p:sp>
      <p:grpSp>
        <p:nvGrpSpPr>
          <p:cNvPr id="266" name="Google Shape;266;p31"/>
          <p:cNvGrpSpPr/>
          <p:nvPr/>
        </p:nvGrpSpPr>
        <p:grpSpPr>
          <a:xfrm>
            <a:off x="4611623" y="3997452"/>
            <a:ext cx="4140707" cy="2261615"/>
            <a:chOff x="4611623" y="3997452"/>
            <a:chExt cx="4140707" cy="2261615"/>
          </a:xfrm>
        </p:grpSpPr>
        <p:pic>
          <p:nvPicPr>
            <p:cNvPr id="267" name="Google Shape;267;p31"/>
            <p:cNvPicPr preferRelativeResize="0"/>
            <p:nvPr/>
          </p:nvPicPr>
          <p:blipFill rotWithShape="1">
            <a:blip r:embed="rId3">
              <a:alphaModFix/>
            </a:blip>
            <a:srcRect b="0" l="0" r="0" t="0"/>
            <a:stretch/>
          </p:blipFill>
          <p:spPr>
            <a:xfrm>
              <a:off x="4611623" y="3997452"/>
              <a:ext cx="4140707" cy="2261615"/>
            </a:xfrm>
            <a:prstGeom prst="rect">
              <a:avLst/>
            </a:prstGeom>
            <a:noFill/>
            <a:ln>
              <a:noFill/>
            </a:ln>
          </p:spPr>
        </p:pic>
        <p:pic>
          <p:nvPicPr>
            <p:cNvPr id="268" name="Google Shape;268;p31"/>
            <p:cNvPicPr preferRelativeResize="0"/>
            <p:nvPr/>
          </p:nvPicPr>
          <p:blipFill rotWithShape="1">
            <a:blip r:embed="rId4">
              <a:alphaModFix/>
            </a:blip>
            <a:srcRect b="0" l="0" r="0" t="0"/>
            <a:stretch/>
          </p:blipFill>
          <p:spPr>
            <a:xfrm>
              <a:off x="4803647" y="4189476"/>
              <a:ext cx="3756647" cy="1877567"/>
            </a:xfrm>
            <a:prstGeom prst="rect">
              <a:avLst/>
            </a:prstGeom>
            <a:noFill/>
            <a:ln>
              <a:noFill/>
            </a:ln>
          </p:spPr>
        </p:pic>
      </p:grpSp>
      <p:sp>
        <p:nvSpPr>
          <p:cNvPr id="269" name="Google Shape;269;p31"/>
          <p:cNvSpPr txBox="1"/>
          <p:nvPr>
            <p:ph idx="10" type="dt"/>
          </p:nvPr>
        </p:nvSpPr>
        <p:spPr>
          <a:xfrm>
            <a:off x="2874191" y="6516395"/>
            <a:ext cx="1722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6-1</a:t>
            </a:r>
            <a:endParaRPr/>
          </a:p>
          <a:p>
            <a:pPr indent="0" lvl="0" marL="12700" rtl="0" algn="l">
              <a:lnSpc>
                <a:spcPct val="120624"/>
              </a:lnSpc>
              <a:spcBef>
                <a:spcPts val="0"/>
              </a:spcBef>
              <a:spcAft>
                <a:spcPts val="0"/>
              </a:spcAft>
              <a:buNone/>
            </a:pPr>
            <a:r>
              <a:rPr lang="en-US"/>
              <a:t>Uniones Cruzadas y Uniones Naturales</a:t>
            </a:r>
            <a:endParaRPr/>
          </a:p>
        </p:txBody>
      </p:sp>
      <p:sp>
        <p:nvSpPr>
          <p:cNvPr id="270" name="Google Shape;270;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1" name="Google Shape;271;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