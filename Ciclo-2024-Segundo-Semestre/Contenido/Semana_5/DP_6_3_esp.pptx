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BFBD12-E46E-43ED-B0B3-94505A784F75}">
  <a:tblStyle styleId="{7FBFBD12-E46E-43ED-B0B3-94505A784F7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13:55:02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NATURAL JOIN, JOIN ON y JOIN  USING son tipos de uniones  internas.</a:t>
            </a:r>
            <a:endParaRPr/>
          </a:p>
        </p:txBody>
      </p:sp>
      <p:sp>
        <p:nvSpPr>
          <p:cNvPr id="91" name="Google Shape;91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13:55:03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nombres de columna en la  salida de ejemplo se han abreviado  para que quepan en la  diapositiva.</a:t>
            </a:r>
            <a:endParaRPr/>
          </a:p>
        </p:txBody>
      </p:sp>
      <p:sp>
        <p:nvSpPr>
          <p:cNvPr id="100" name="Google Shape;100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13:55:03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nombres de columna en la  salida de ejemplo se han abreviado  para que quepan en la  diapositiva.</a:t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13:55:04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nombres de columna en la  salida de ejemplo se han abreviado  para que quepan en la  diapositiva.</a:t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13:55:05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nombres de columna en la  salida de ejemplo se han abreviado  para que quepan en la  diapositiva.</a:t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958315" y="862895"/>
            <a:ext cx="7227300" cy="13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86841" y="3366777"/>
            <a:ext cx="8366100" cy="2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5172119" y="6589648"/>
            <a:ext cx="32220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2874191" y="6516395"/>
            <a:ext cx="15537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61" name="Google Shape;6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4"/>
            <p:cNvSpPr/>
            <p:nvPr/>
          </p:nvSpPr>
          <p:spPr>
            <a:xfrm>
              <a:off x="560831" y="702563"/>
              <a:ext cx="8022590" cy="5453380"/>
            </a:xfrm>
            <a:custGeom>
              <a:rect b="b" l="l" r="r" t="t"/>
              <a:pathLst>
                <a:path extrusionOk="0" h="5453380" w="802259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DFE1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3" name="Google Shape;63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787" y="5570219"/>
              <a:ext cx="1258823" cy="420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4"/>
          <p:cNvSpPr txBox="1"/>
          <p:nvPr/>
        </p:nvSpPr>
        <p:spPr>
          <a:xfrm>
            <a:off x="5057819" y="6562597"/>
            <a:ext cx="322199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CEFD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958315" y="862895"/>
            <a:ext cx="72273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3650">
            <a:spAutoFit/>
          </a:bodyPr>
          <a:lstStyle/>
          <a:p>
            <a:pPr indent="0" lvl="0" marL="12700" marR="5080" rtl="0" algn="l">
              <a:lnSpc>
                <a:spcPct val="9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Programming with  SQL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962879" y="2400950"/>
            <a:ext cx="4394200" cy="888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6-3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Uniones Internas frente a Externas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19324" y="3596888"/>
            <a:ext cx="5058157" cy="2965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92112" y="748031"/>
            <a:ext cx="1636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Objetivos</a:t>
            </a:r>
            <a:endParaRPr sz="3300"/>
          </a:p>
        </p:txBody>
      </p:sp>
      <p:sp>
        <p:nvSpPr>
          <p:cNvPr id="73" name="Google Shape;73;p15"/>
          <p:cNvSpPr txBox="1"/>
          <p:nvPr/>
        </p:nvSpPr>
        <p:spPr>
          <a:xfrm>
            <a:off x="483552" y="1393401"/>
            <a:ext cx="8004175" cy="3315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 se abordan los siguientes objetivos: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1386205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Comparar y contrastar una unión interna con una  unión externa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ejecutar una consulta para utilizar una unión externa  izquierda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ejecutar una consulta para utilizar una unión externa  derecha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3074670" rtl="0" algn="l">
              <a:lnSpc>
                <a:spcPct val="107916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ejecutar una consulta para  utilizar una unión externa completa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" name="Google Shape;74;p15"/>
          <p:cNvGrpSpPr/>
          <p:nvPr/>
        </p:nvGrpSpPr>
        <p:grpSpPr>
          <a:xfrm>
            <a:off x="5679948" y="3998976"/>
            <a:ext cx="2988563" cy="2371331"/>
            <a:chOff x="5679948" y="3998976"/>
            <a:chExt cx="2988563" cy="2371331"/>
          </a:xfrm>
        </p:grpSpPr>
        <p:pic>
          <p:nvPicPr>
            <p:cNvPr id="75" name="Google Shape;7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79948" y="3998976"/>
              <a:ext cx="2988563" cy="2371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71971" y="4191000"/>
              <a:ext cx="2604515" cy="19872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2874191" y="6516395"/>
            <a:ext cx="1553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Uniones Internas frente a Externas</a:t>
            </a:r>
            <a:endParaRPr/>
          </a:p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92112" y="748031"/>
            <a:ext cx="1472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Objetivo</a:t>
            </a:r>
            <a:endParaRPr sz="3300"/>
          </a:p>
        </p:txBody>
      </p:sp>
      <p:sp>
        <p:nvSpPr>
          <p:cNvPr id="85" name="Google Shape;85;p16"/>
          <p:cNvSpPr txBox="1"/>
          <p:nvPr>
            <p:ph idx="10" type="dt"/>
          </p:nvPr>
        </p:nvSpPr>
        <p:spPr>
          <a:xfrm>
            <a:off x="2874191" y="6516395"/>
            <a:ext cx="1553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Uniones Internas frente a Externas</a:t>
            </a:r>
            <a:endParaRPr/>
          </a:p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483552" y="1415417"/>
            <a:ext cx="8072755" cy="2960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just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Hasta ahora, todas las uniones han devuelto datos que  coincidían con la condición de unión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6350" rtl="0" algn="just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Sin embargo, en ocasiones, deseamos recuperar tanto  los datos que cumplan la condición de unión, como los  datos que no cumplan la condición de unión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144270" rtl="0" algn="just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Las uniones externas en ANSI-99 SQL permiten  esta funcionalidad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92112" y="748031"/>
            <a:ext cx="4758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Uniones Internas y Externas</a:t>
            </a:r>
            <a:endParaRPr sz="3300"/>
          </a:p>
        </p:txBody>
      </p:sp>
      <p:sp>
        <p:nvSpPr>
          <p:cNvPr id="94" name="Google Shape;94;p17"/>
          <p:cNvSpPr txBox="1"/>
          <p:nvPr>
            <p:ph idx="10" type="dt"/>
          </p:nvPr>
        </p:nvSpPr>
        <p:spPr>
          <a:xfrm>
            <a:off x="2874191" y="6516395"/>
            <a:ext cx="1553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Uniones Internas frente a Externas</a:t>
            </a:r>
            <a:endParaRPr/>
          </a:p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483552" y="1381889"/>
            <a:ext cx="8097520" cy="417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177800" lvl="0" marL="184785" marR="48577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ANSI-99 SQL, una unión de dos o más tablas que  devuelven solo las filas coincidentes se denomina  unión interna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313690" rtl="0" algn="l">
              <a:lnSpc>
                <a:spcPct val="80000"/>
              </a:lnSpc>
              <a:spcBef>
                <a:spcPts val="81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Cuando una unión devuelve las filas no coincidentes,  así como las filas coincidentes, se denomina unión  externa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604520" rtl="0" algn="l">
              <a:lnSpc>
                <a:spcPct val="80000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la sintaxis de las uniones externas se utilizan los  términos "izquierda, completa y derecha"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80000"/>
              </a:lnSpc>
              <a:spcBef>
                <a:spcPts val="8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Estos nombres están asociados con el orden de los  nombres de tablas en la cláusula FROM de la sentencia  SELECT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92112" y="748031"/>
            <a:ext cx="6764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Uniones Externas Izquierdas y Derechas</a:t>
            </a:r>
            <a:endParaRPr sz="3300"/>
          </a:p>
        </p:txBody>
      </p:sp>
      <p:sp>
        <p:nvSpPr>
          <p:cNvPr id="103" name="Google Shape;103;p18"/>
          <p:cNvSpPr txBox="1"/>
          <p:nvPr/>
        </p:nvSpPr>
        <p:spPr>
          <a:xfrm>
            <a:off x="483552" y="1415417"/>
            <a:ext cx="7767320" cy="1604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el ejemplo mostrado de una unión externa  izquierda, tenga en cuenta que al nombre de la tabla  que aparece a la izquierda de las palabras "left outer  join" se le hace referencia como "tabla izquierda"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5737631" y="5478919"/>
            <a:ext cx="2773680" cy="233679"/>
          </a:xfrm>
          <a:custGeom>
            <a:rect b="b" l="l" r="r" t="t"/>
            <a:pathLst>
              <a:path extrusionOk="0" h="233679" w="2773679">
                <a:moveTo>
                  <a:pt x="1639506" y="0"/>
                </a:moveTo>
                <a:lnTo>
                  <a:pt x="956056" y="0"/>
                </a:lnTo>
                <a:lnTo>
                  <a:pt x="0" y="0"/>
                </a:lnTo>
                <a:lnTo>
                  <a:pt x="0" y="233616"/>
                </a:lnTo>
                <a:lnTo>
                  <a:pt x="956056" y="233616"/>
                </a:lnTo>
                <a:lnTo>
                  <a:pt x="1639506" y="233616"/>
                </a:lnTo>
                <a:lnTo>
                  <a:pt x="1639506" y="0"/>
                </a:lnTo>
                <a:close/>
              </a:path>
              <a:path extrusionOk="0" h="233679" w="2773679">
                <a:moveTo>
                  <a:pt x="2773667" y="0"/>
                </a:moveTo>
                <a:lnTo>
                  <a:pt x="1639519" y="0"/>
                </a:lnTo>
                <a:lnTo>
                  <a:pt x="1639519" y="233616"/>
                </a:lnTo>
                <a:lnTo>
                  <a:pt x="2773667" y="233616"/>
                </a:lnTo>
                <a:lnTo>
                  <a:pt x="2773667" y="0"/>
                </a:lnTo>
                <a:close/>
              </a:path>
            </a:pathLst>
          </a:custGeom>
          <a:solidFill>
            <a:srgbClr val="DFE1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05" name="Google Shape;105;p18"/>
          <p:cNvGraphicFramePr/>
          <p:nvPr/>
        </p:nvGraphicFramePr>
        <p:xfrm>
          <a:off x="5731286" y="30647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{7FBFBD12-E46E-43ED-B0B3-94505A784F75}</a:tableStyleId>
              </a:tblPr>
              <a:tblGrid>
                <a:gridCol w="956300"/>
                <a:gridCol w="683900"/>
                <a:gridCol w="1134750"/>
              </a:tblGrid>
              <a:tr h="240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DEPT_ID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DEPT_NAME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40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40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40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40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Zlotkey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40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Executive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40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Executive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40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Executive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40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Gietz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Accounting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40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Accounting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3600">
                <a:tc>
                  <a:txBody>
                    <a:bodyPr/>
                    <a:lstStyle/>
                    <a:p>
                      <a:pPr indent="0" lvl="0" marL="8890" marR="0" rtl="0" algn="l">
                        <a:lnSpc>
                          <a:spcPct val="118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8260" marR="0" rtl="0" algn="l">
                        <a:lnSpc>
                          <a:spcPct val="118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8260" marR="0" rtl="0" algn="l">
                        <a:lnSpc>
                          <a:spcPct val="118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106" name="Google Shape;106;p18"/>
          <p:cNvSpPr txBox="1"/>
          <p:nvPr/>
        </p:nvSpPr>
        <p:spPr>
          <a:xfrm>
            <a:off x="2698242" y="3633978"/>
            <a:ext cx="2334895" cy="346075"/>
          </a:xfrm>
          <a:prstGeom prst="rect">
            <a:avLst/>
          </a:prstGeom>
          <a:solidFill>
            <a:srgbClr val="9DBDC4">
              <a:alpha val="49804"/>
            </a:srgbClr>
          </a:solidFill>
          <a:ln cap="flat" cmpd="sng" w="38100">
            <a:solidFill>
              <a:srgbClr val="D13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800">
            <a:spAutoFit/>
          </a:bodyPr>
          <a:lstStyle/>
          <a:p>
            <a:pPr indent="0" lvl="0" marL="273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LEFT OUTER JOIN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405384" y="3070860"/>
            <a:ext cx="5209540" cy="1818639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58400">
            <a:spAutoFit/>
          </a:bodyPr>
          <a:lstStyle/>
          <a:p>
            <a:pPr indent="0" lvl="0" marL="0" marR="2870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e.last_name, d.department_id,  d.department_name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30162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 e  departments d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23336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ON (e.department_id =  d.department_id);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08" name="Google Shape;108;p18"/>
          <p:cNvGrpSpPr/>
          <p:nvPr/>
        </p:nvGrpSpPr>
        <p:grpSpPr>
          <a:xfrm>
            <a:off x="4199382" y="5559547"/>
            <a:ext cx="1416525" cy="114300"/>
            <a:chOff x="4199382" y="5559547"/>
            <a:chExt cx="1416525" cy="114300"/>
          </a:xfrm>
        </p:grpSpPr>
        <p:sp>
          <p:nvSpPr>
            <p:cNvPr id="109" name="Google Shape;109;p18"/>
            <p:cNvSpPr/>
            <p:nvPr/>
          </p:nvSpPr>
          <p:spPr>
            <a:xfrm>
              <a:off x="4199382" y="5616702"/>
              <a:ext cx="1321435" cy="0"/>
            </a:xfrm>
            <a:custGeom>
              <a:rect b="b" l="l" r="r" t="t"/>
              <a:pathLst>
                <a:path extrusionOk="0" h="120000" w="1321435">
                  <a:moveTo>
                    <a:pt x="0" y="0"/>
                  </a:moveTo>
                  <a:lnTo>
                    <a:pt x="1321269" y="0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" name="Google Shape;110;p18"/>
            <p:cNvSpPr/>
            <p:nvPr/>
          </p:nvSpPr>
          <p:spPr>
            <a:xfrm>
              <a:off x="5501607" y="5559547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111" name="Google Shape;1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1564" y="365760"/>
            <a:ext cx="797051" cy="1101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2874191" y="6516395"/>
            <a:ext cx="1553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Uniones Internas frente a Externas</a:t>
            </a:r>
            <a:endParaRPr/>
          </a:p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8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392112" y="748031"/>
            <a:ext cx="6764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Uniones Externas Izquierdas y Derechas</a:t>
            </a:r>
            <a:endParaRPr sz="3300"/>
          </a:p>
        </p:txBody>
      </p:sp>
      <p:sp>
        <p:nvSpPr>
          <p:cNvPr id="120" name="Google Shape;120;p19"/>
          <p:cNvSpPr txBox="1"/>
          <p:nvPr/>
        </p:nvSpPr>
        <p:spPr>
          <a:xfrm>
            <a:off x="483552" y="1415417"/>
            <a:ext cx="7734934" cy="122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Esta consulta devolverá los apellidos de todos los  empleados, tanto aquellos que estén asignados a un  departamento como los que no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5737631" y="5478919"/>
            <a:ext cx="2773680" cy="233679"/>
          </a:xfrm>
          <a:custGeom>
            <a:rect b="b" l="l" r="r" t="t"/>
            <a:pathLst>
              <a:path extrusionOk="0" h="233679" w="2773679">
                <a:moveTo>
                  <a:pt x="1639506" y="0"/>
                </a:moveTo>
                <a:lnTo>
                  <a:pt x="956056" y="0"/>
                </a:lnTo>
                <a:lnTo>
                  <a:pt x="0" y="0"/>
                </a:lnTo>
                <a:lnTo>
                  <a:pt x="0" y="233616"/>
                </a:lnTo>
                <a:lnTo>
                  <a:pt x="956056" y="233616"/>
                </a:lnTo>
                <a:lnTo>
                  <a:pt x="1639506" y="233616"/>
                </a:lnTo>
                <a:lnTo>
                  <a:pt x="1639506" y="0"/>
                </a:lnTo>
                <a:close/>
              </a:path>
              <a:path extrusionOk="0" h="233679" w="2773679">
                <a:moveTo>
                  <a:pt x="2773667" y="0"/>
                </a:moveTo>
                <a:lnTo>
                  <a:pt x="1639519" y="0"/>
                </a:lnTo>
                <a:lnTo>
                  <a:pt x="1639519" y="233616"/>
                </a:lnTo>
                <a:lnTo>
                  <a:pt x="2773667" y="233616"/>
                </a:lnTo>
                <a:lnTo>
                  <a:pt x="2773667" y="0"/>
                </a:lnTo>
                <a:close/>
              </a:path>
            </a:pathLst>
          </a:custGeom>
          <a:solidFill>
            <a:srgbClr val="DFE1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122" name="Google Shape;122;p19"/>
          <p:cNvGraphicFramePr/>
          <p:nvPr/>
        </p:nvGraphicFramePr>
        <p:xfrm>
          <a:off x="5731286" y="30647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{7FBFBD12-E46E-43ED-B0B3-94505A784F75}</a:tableStyleId>
              </a:tblPr>
              <a:tblGrid>
                <a:gridCol w="956300"/>
                <a:gridCol w="683900"/>
                <a:gridCol w="1134750"/>
              </a:tblGrid>
              <a:tr h="240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DEPT_ID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DEPT_NAME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40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40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40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40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Zlotkey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40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Executive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40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Executive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40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Executive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40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Gietz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Accounting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40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Accounting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3600">
                <a:tc>
                  <a:txBody>
                    <a:bodyPr/>
                    <a:lstStyle/>
                    <a:p>
                      <a:pPr indent="0" lvl="0" marL="8890" marR="0" rtl="0" algn="l">
                        <a:lnSpc>
                          <a:spcPct val="118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8260" marR="0" rtl="0" algn="l">
                        <a:lnSpc>
                          <a:spcPct val="118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8260" marR="0" rtl="0" algn="l">
                        <a:lnSpc>
                          <a:spcPct val="1182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123" name="Google Shape;123;p19"/>
          <p:cNvSpPr txBox="1"/>
          <p:nvPr/>
        </p:nvSpPr>
        <p:spPr>
          <a:xfrm>
            <a:off x="2698242" y="3633978"/>
            <a:ext cx="2334895" cy="346075"/>
          </a:xfrm>
          <a:prstGeom prst="rect">
            <a:avLst/>
          </a:prstGeom>
          <a:solidFill>
            <a:srgbClr val="9DBDC4">
              <a:alpha val="49804"/>
            </a:srgbClr>
          </a:solidFill>
          <a:ln cap="flat" cmpd="sng" w="38100">
            <a:solidFill>
              <a:srgbClr val="D13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800">
            <a:spAutoFit/>
          </a:bodyPr>
          <a:lstStyle/>
          <a:p>
            <a:pPr indent="0" lvl="0" marL="2730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LEFT OUTER JOIN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405384" y="3070860"/>
            <a:ext cx="5209540" cy="1818639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58400">
            <a:spAutoFit/>
          </a:bodyPr>
          <a:lstStyle/>
          <a:p>
            <a:pPr indent="0" lvl="0" marL="0" marR="2870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e.last_name, d.department_id,  d.department_name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30162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 e  departments d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23336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ON (e.department_id =  d.department_id);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25" name="Google Shape;125;p19"/>
          <p:cNvGrpSpPr/>
          <p:nvPr/>
        </p:nvGrpSpPr>
        <p:grpSpPr>
          <a:xfrm>
            <a:off x="4199382" y="5559547"/>
            <a:ext cx="1416525" cy="114300"/>
            <a:chOff x="4199382" y="5559547"/>
            <a:chExt cx="1416525" cy="114300"/>
          </a:xfrm>
        </p:grpSpPr>
        <p:sp>
          <p:nvSpPr>
            <p:cNvPr id="126" name="Google Shape;126;p19"/>
            <p:cNvSpPr/>
            <p:nvPr/>
          </p:nvSpPr>
          <p:spPr>
            <a:xfrm>
              <a:off x="4199382" y="5616702"/>
              <a:ext cx="1321435" cy="0"/>
            </a:xfrm>
            <a:custGeom>
              <a:rect b="b" l="l" r="r" t="t"/>
              <a:pathLst>
                <a:path extrusionOk="0" h="120000" w="1321435">
                  <a:moveTo>
                    <a:pt x="0" y="0"/>
                  </a:moveTo>
                  <a:lnTo>
                    <a:pt x="1321269" y="0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5501607" y="5559547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128" name="Google Shape;1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1564" y="365759"/>
            <a:ext cx="1040891" cy="143713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>
            <p:ph idx="10" type="dt"/>
          </p:nvPr>
        </p:nvSpPr>
        <p:spPr>
          <a:xfrm>
            <a:off x="2874191" y="6516395"/>
            <a:ext cx="1553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Uniones Internas frente a Externas</a:t>
            </a:r>
            <a:endParaRPr/>
          </a:p>
        </p:txBody>
      </p:sp>
      <p:sp>
        <p:nvSpPr>
          <p:cNvPr id="130" name="Google Shape;130;p19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392112" y="748031"/>
            <a:ext cx="6764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Uniones Externas Izquierdas y Derechas</a:t>
            </a:r>
            <a:endParaRPr sz="3300"/>
          </a:p>
        </p:txBody>
      </p:sp>
      <p:sp>
        <p:nvSpPr>
          <p:cNvPr id="137" name="Google Shape;137;p20"/>
          <p:cNvSpPr txBox="1"/>
          <p:nvPr/>
        </p:nvSpPr>
        <p:spPr>
          <a:xfrm>
            <a:off x="483552" y="1415417"/>
            <a:ext cx="7922259" cy="1604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Esta unión externa derecha devolvería todos los ID de  departamento y los nombres de departamento, tanto  aquellos que tengan empleados asignados como los  que no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8" name="Google Shape;138;p20"/>
          <p:cNvGraphicFramePr/>
          <p:nvPr/>
        </p:nvGraphicFramePr>
        <p:xfrm>
          <a:off x="5555122" y="306472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{7FBFBD12-E46E-43ED-B0B3-94505A784F75}</a:tableStyleId>
              </a:tblPr>
              <a:tblGrid>
                <a:gridCol w="1135375"/>
                <a:gridCol w="932825"/>
                <a:gridCol w="1169675"/>
              </a:tblGrid>
              <a:tr h="238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DEPT_ID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DEPT_NAME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8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8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Hartstein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8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8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Executive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8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Executive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8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Executive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877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Accounting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127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Gietz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Accounting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FE1E0"/>
                    </a:solidFill>
                  </a:tcPr>
                </a:tc>
              </a:tr>
              <a:tr h="244350">
                <a:tc>
                  <a:txBody>
                    <a:bodyPr/>
                    <a:lstStyle/>
                    <a:p>
                      <a:pPr indent="0" lvl="0" marL="482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75" marB="0" marR="0" marL="0">
                    <a:solidFill>
                      <a:srgbClr val="D135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8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75" marB="0" marR="0" marL="0">
                    <a:solidFill>
                      <a:srgbClr val="D135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8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Contracting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75" marB="0" marR="0" marL="0">
                    <a:solidFill>
                      <a:srgbClr val="D1350F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20"/>
          <p:cNvSpPr txBox="1"/>
          <p:nvPr/>
        </p:nvSpPr>
        <p:spPr>
          <a:xfrm>
            <a:off x="405384" y="3070860"/>
            <a:ext cx="5011420" cy="1818639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58400">
            <a:spAutoFit/>
          </a:bodyPr>
          <a:lstStyle/>
          <a:p>
            <a:pPr indent="0" lvl="0" marL="0" marR="88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e.last_name, d.department_id,  d.department_name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5010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 e RIGHT OUTER JOIN  departments d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21355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ON (e.department_id =  d.department_id);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40" name="Google Shape;140;p20"/>
          <p:cNvGrpSpPr/>
          <p:nvPr/>
        </p:nvGrpSpPr>
        <p:grpSpPr>
          <a:xfrm>
            <a:off x="3999738" y="5268462"/>
            <a:ext cx="1416525" cy="114300"/>
            <a:chOff x="3999738" y="5268462"/>
            <a:chExt cx="1416525" cy="114300"/>
          </a:xfrm>
        </p:grpSpPr>
        <p:sp>
          <p:nvSpPr>
            <p:cNvPr id="141" name="Google Shape;141;p20"/>
            <p:cNvSpPr/>
            <p:nvPr/>
          </p:nvSpPr>
          <p:spPr>
            <a:xfrm>
              <a:off x="3999738" y="5325617"/>
              <a:ext cx="1321435" cy="0"/>
            </a:xfrm>
            <a:custGeom>
              <a:rect b="b" l="l" r="r" t="t"/>
              <a:pathLst>
                <a:path extrusionOk="0" h="120000" w="1321435">
                  <a:moveTo>
                    <a:pt x="0" y="0"/>
                  </a:moveTo>
                  <a:lnTo>
                    <a:pt x="1321269" y="0"/>
                  </a:lnTo>
                </a:path>
              </a:pathLst>
            </a:custGeom>
            <a:noFill/>
            <a:ln cap="flat" cmpd="sng" w="38100">
              <a:solidFill>
                <a:srgbClr val="4E36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" name="Google Shape;142;p20"/>
            <p:cNvSpPr/>
            <p:nvPr/>
          </p:nvSpPr>
          <p:spPr>
            <a:xfrm>
              <a:off x="5301963" y="5268462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0" y="0"/>
                  </a:moveTo>
                  <a:lnTo>
                    <a:pt x="0" y="114299"/>
                  </a:lnTo>
                  <a:lnTo>
                    <a:pt x="114300" y="57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36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1564" y="365760"/>
            <a:ext cx="862583" cy="119176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>
            <p:ph idx="10" type="dt"/>
          </p:nvPr>
        </p:nvSpPr>
        <p:spPr>
          <a:xfrm>
            <a:off x="2874191" y="6516395"/>
            <a:ext cx="1553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Uniones Internas frente a Externas</a:t>
            </a:r>
            <a:endParaRPr/>
          </a:p>
        </p:txBody>
      </p:sp>
      <p:sp>
        <p:nvSpPr>
          <p:cNvPr id="145" name="Google Shape;145;p20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0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392112" y="748031"/>
            <a:ext cx="4179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Unión Externa Completa</a:t>
            </a:r>
            <a:endParaRPr sz="3300"/>
          </a:p>
        </p:txBody>
      </p:sp>
      <p:sp>
        <p:nvSpPr>
          <p:cNvPr id="152" name="Google Shape;152;p21"/>
          <p:cNvSpPr txBox="1"/>
          <p:nvPr/>
        </p:nvSpPr>
        <p:spPr>
          <a:xfrm>
            <a:off x="483552" y="1415417"/>
            <a:ext cx="8030845" cy="372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1270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Se puede crear una condición de unión para recuperar  todas las filas coincidentes y todas las filas no  coincidentes de ambas tablas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756920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 una unión externa completa se resuelve este  problema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508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juego de resultados de una unión externa completa  incluye todas las filas de una unión externa izquierda y  todas las filas de una unión externa derecha  combinadas sin duplicación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" name="Google Shape;153;p21"/>
          <p:cNvGrpSpPr/>
          <p:nvPr/>
        </p:nvGrpSpPr>
        <p:grpSpPr>
          <a:xfrm>
            <a:off x="6324600" y="4732020"/>
            <a:ext cx="2165603" cy="1525523"/>
            <a:chOff x="6324600" y="4732020"/>
            <a:chExt cx="2165603" cy="1525523"/>
          </a:xfrm>
        </p:grpSpPr>
        <p:pic>
          <p:nvPicPr>
            <p:cNvPr id="154" name="Google Shape;15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24600" y="4732020"/>
              <a:ext cx="2165603" cy="15255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09944" y="4811268"/>
              <a:ext cx="1994903" cy="13670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21"/>
          <p:cNvSpPr txBox="1"/>
          <p:nvPr>
            <p:ph idx="10" type="dt"/>
          </p:nvPr>
        </p:nvSpPr>
        <p:spPr>
          <a:xfrm>
            <a:off x="2874191" y="6516395"/>
            <a:ext cx="1553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Uniones Internas frente a Externas</a:t>
            </a:r>
            <a:endParaRPr/>
          </a:p>
        </p:txBody>
      </p:sp>
      <p:sp>
        <p:nvSpPr>
          <p:cNvPr id="157" name="Google Shape;157;p21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1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type="title"/>
          </p:nvPr>
        </p:nvSpPr>
        <p:spPr>
          <a:xfrm>
            <a:off x="392112" y="748031"/>
            <a:ext cx="5003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Ejemplo de FULL OUTER JOIN</a:t>
            </a:r>
            <a:endParaRPr sz="3300"/>
          </a:p>
        </p:txBody>
      </p:sp>
      <p:sp>
        <p:nvSpPr>
          <p:cNvPr id="164" name="Google Shape;164;p22"/>
          <p:cNvSpPr txBox="1"/>
          <p:nvPr/>
        </p:nvSpPr>
        <p:spPr>
          <a:xfrm>
            <a:off x="483552" y="1415417"/>
            <a:ext cx="8052434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el ejemplo se muestra una unión externa completa.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5" name="Google Shape;165;p22"/>
          <p:cNvGrpSpPr/>
          <p:nvPr/>
        </p:nvGrpSpPr>
        <p:grpSpPr>
          <a:xfrm>
            <a:off x="6909816" y="288036"/>
            <a:ext cx="1937003" cy="1368551"/>
            <a:chOff x="6909816" y="288036"/>
            <a:chExt cx="1937003" cy="1368551"/>
          </a:xfrm>
        </p:grpSpPr>
        <p:pic>
          <p:nvPicPr>
            <p:cNvPr id="166" name="Google Shape;166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09816" y="288036"/>
              <a:ext cx="1937003" cy="13685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93635" y="365760"/>
              <a:ext cx="1769363" cy="12131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8" name="Google Shape;168;p22"/>
          <p:cNvSpPr txBox="1"/>
          <p:nvPr/>
        </p:nvSpPr>
        <p:spPr>
          <a:xfrm>
            <a:off x="2657094" y="2439161"/>
            <a:ext cx="2188845" cy="250190"/>
          </a:xfrm>
          <a:prstGeom prst="rect">
            <a:avLst/>
          </a:prstGeom>
          <a:solidFill>
            <a:srgbClr val="9DBDC4">
              <a:alpha val="49804"/>
            </a:srgbClr>
          </a:solidFill>
          <a:ln cap="flat" cmpd="sng" w="38100">
            <a:solidFill>
              <a:srgbClr val="D135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6515" marR="0" rtl="0" algn="l">
              <a:lnSpc>
                <a:spcPct val="100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FULL OUTER JOIN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9" name="Google Shape;169;p22"/>
          <p:cNvSpPr txBox="1"/>
          <p:nvPr>
            <p:ph idx="10" type="dt"/>
          </p:nvPr>
        </p:nvSpPr>
        <p:spPr>
          <a:xfrm>
            <a:off x="2874191" y="6516395"/>
            <a:ext cx="1553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Uniones Internas frente a Externas</a:t>
            </a:r>
            <a:endParaRPr/>
          </a:p>
        </p:txBody>
      </p:sp>
      <p:sp>
        <p:nvSpPr>
          <p:cNvPr id="170" name="Google Shape;170;p22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2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72" name="Google Shape;172;p22"/>
          <p:cNvSpPr txBox="1"/>
          <p:nvPr/>
        </p:nvSpPr>
        <p:spPr>
          <a:xfrm>
            <a:off x="393191" y="2054351"/>
            <a:ext cx="8345805" cy="100901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64750">
            <a:spAutoFit/>
          </a:bodyPr>
          <a:lstStyle/>
          <a:p>
            <a:pPr indent="0" lvl="0" marL="0" marR="9658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e.last_name, d.department_id, d.department_name  FROM employees e	departments d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ON (e.department_id = d.department_id);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173" name="Google Shape;173;p22"/>
          <p:cNvGraphicFramePr/>
          <p:nvPr/>
        </p:nvGraphicFramePr>
        <p:xfrm>
          <a:off x="386841" y="33667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{7FBFBD12-E46E-43ED-B0B3-94505A784F75}</a:tableStyleId>
              </a:tblPr>
              <a:tblGrid>
                <a:gridCol w="2738125"/>
                <a:gridCol w="2802900"/>
                <a:gridCol w="2806075"/>
              </a:tblGrid>
              <a:tr h="238775">
                <a:tc>
                  <a:txBody>
                    <a:bodyPr/>
                    <a:lstStyle/>
                    <a:p>
                      <a:pPr indent="0" lvl="0" marL="234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34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DEPT_ID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34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DEPT_NAME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234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34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34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Executive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8775">
                <a:tc>
                  <a:txBody>
                    <a:bodyPr/>
                    <a:lstStyle/>
                    <a:p>
                      <a:pPr indent="0" lvl="0" marL="234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34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34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Executive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9725">
                <a:tc>
                  <a:txBody>
                    <a:bodyPr/>
                    <a:lstStyle/>
                    <a:p>
                      <a:pPr indent="0" lvl="0" marL="234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234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Taylor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34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34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FE1E0"/>
                    </a:solidFill>
                  </a:tcPr>
                </a:tc>
              </a:tr>
              <a:tr h="251475">
                <a:tc>
                  <a:txBody>
                    <a:bodyPr/>
                    <a:lstStyle/>
                    <a:p>
                      <a:pPr indent="0" lvl="0" marL="165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75" marB="0" marR="0" marL="0">
                    <a:solidFill>
                      <a:srgbClr val="D135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65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75" marB="0" marR="0" marL="0">
                    <a:solidFill>
                      <a:srgbClr val="D135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65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75" marB="0" marR="0" marL="0">
                    <a:solidFill>
                      <a:srgbClr val="D1350F"/>
                    </a:solidFill>
                  </a:tcPr>
                </a:tc>
              </a:tr>
              <a:tr h="233375">
                <a:tc>
                  <a:txBody>
                    <a:bodyPr/>
                    <a:lstStyle/>
                    <a:p>
                      <a:pPr indent="0" lvl="0" marL="23495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Mourgos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3495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3495" marR="0" rtl="0" algn="l">
                        <a:lnSpc>
                          <a:spcPct val="117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Shipping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8775">
                <a:tc>
                  <a:txBody>
                    <a:bodyPr/>
                    <a:lstStyle/>
                    <a:p>
                      <a:pPr indent="0" lvl="0" marL="234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33375">
                <a:tc>
                  <a:txBody>
                    <a:bodyPr/>
                    <a:lstStyle/>
                    <a:p>
                      <a:pPr indent="0" lvl="0" marL="234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34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34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FE1E0"/>
                    </a:solidFill>
                  </a:tcPr>
                </a:tc>
              </a:tr>
              <a:tr h="244350">
                <a:tc>
                  <a:txBody>
                    <a:bodyPr/>
                    <a:lstStyle/>
                    <a:p>
                      <a:pPr indent="0" lvl="0" marL="565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" marB="0" marR="0" marL="0">
                    <a:solidFill>
                      <a:srgbClr val="D135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65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190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" marB="0" marR="0" marL="0">
                    <a:solidFill>
                      <a:srgbClr val="D1350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65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Contracting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" marB="0" marR="0" marL="0">
                    <a:solidFill>
                      <a:srgbClr val="D135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392112" y="748031"/>
            <a:ext cx="2477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Caso de Unión</a:t>
            </a:r>
            <a:endParaRPr sz="3300"/>
          </a:p>
        </p:txBody>
      </p:sp>
      <p:sp>
        <p:nvSpPr>
          <p:cNvPr id="179" name="Google Shape;179;p23"/>
          <p:cNvSpPr txBox="1"/>
          <p:nvPr>
            <p:ph idx="10" type="dt"/>
          </p:nvPr>
        </p:nvSpPr>
        <p:spPr>
          <a:xfrm>
            <a:off x="2874191" y="6516395"/>
            <a:ext cx="1553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Uniones Internas frente a Externas</a:t>
            </a:r>
            <a:endParaRPr/>
          </a:p>
        </p:txBody>
      </p:sp>
      <p:sp>
        <p:nvSpPr>
          <p:cNvPr id="180" name="Google Shape;180;p23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3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82" name="Google Shape;182;p23"/>
          <p:cNvSpPr txBox="1"/>
          <p:nvPr/>
        </p:nvSpPr>
        <p:spPr>
          <a:xfrm>
            <a:off x="483552" y="1415417"/>
            <a:ext cx="7922895" cy="2090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just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Cree una unión para mostrar una lista de empleados,  su valor job_id actual y cualquier trabajo anterior que  hayan tenido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4785" marR="162560" rtl="0" algn="just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tabla job_history contiene detalles de los trabajos  anteriores de un empleado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3" name="Google Shape;183;p23"/>
          <p:cNvGraphicFramePr/>
          <p:nvPr/>
        </p:nvGraphicFramePr>
        <p:xfrm>
          <a:off x="2034466" y="46207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{7FBFBD12-E46E-43ED-B0B3-94505A784F75}</a:tableStyleId>
              </a:tblPr>
              <a:tblGrid>
                <a:gridCol w="1677675"/>
                <a:gridCol w="1677675"/>
                <a:gridCol w="1677675"/>
                <a:gridCol w="1677675"/>
              </a:tblGrid>
              <a:tr h="2133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LAST_NAME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Old job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END_DATE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133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AD_PRES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133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AD_VP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AC_MGR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15-Mar-1997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133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AD_VP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AC_ACCOUNT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27-Oct-1993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133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AD_VP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IT_PROG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24-Jul-1998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133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AD_ASST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AD_ASST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17-Jun-1993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133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AD_ASST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AC_ACCOUNT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31-Dec-1998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  <a:tr h="213350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AC_MGR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72390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E1E0"/>
                    </a:solidFill>
                  </a:tcPr>
                </a:tc>
              </a:tr>
            </a:tbl>
          </a:graphicData>
        </a:graphic>
      </p:graphicFrame>
      <p:sp>
        <p:nvSpPr>
          <p:cNvPr id="184" name="Google Shape;184;p23"/>
          <p:cNvSpPr txBox="1"/>
          <p:nvPr/>
        </p:nvSpPr>
        <p:spPr>
          <a:xfrm>
            <a:off x="405384" y="3506723"/>
            <a:ext cx="8345805" cy="112014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last_name, e.job_id AS "Job", jh.job_id AS "Old job",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end_date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3685" lvl="0" marL="273685" marR="19221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 e LEFT OUTER JOIN job_history jh  ON(e.employee_id = jh.employee_id);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392112" y="748031"/>
            <a:ext cx="2229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Terminología</a:t>
            </a:r>
            <a:endParaRPr sz="3300"/>
          </a:p>
        </p:txBody>
      </p:sp>
      <p:sp>
        <p:nvSpPr>
          <p:cNvPr id="190" name="Google Shape;190;p24"/>
          <p:cNvSpPr txBox="1"/>
          <p:nvPr>
            <p:ph idx="10" type="dt"/>
          </p:nvPr>
        </p:nvSpPr>
        <p:spPr>
          <a:xfrm>
            <a:off x="2874191" y="6516395"/>
            <a:ext cx="1553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Uniones Internas frente a Externas</a:t>
            </a:r>
            <a:endParaRPr/>
          </a:p>
        </p:txBody>
      </p:sp>
      <p:sp>
        <p:nvSpPr>
          <p:cNvPr id="191" name="Google Shape;191;p24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4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93" name="Google Shape;193;p24"/>
          <p:cNvSpPr txBox="1"/>
          <p:nvPr/>
        </p:nvSpPr>
        <p:spPr>
          <a:xfrm>
            <a:off x="483552" y="1415417"/>
            <a:ext cx="7702550" cy="274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4785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Entre los términos clave utilizados en esta lección se  incluyen: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FULL OUTER JOIN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Unión interna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LEFT OUTER JOIN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Unión externa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RIGHT OUTER JOIN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/>
          <p:nvPr>
            <p:ph type="title"/>
          </p:nvPr>
        </p:nvSpPr>
        <p:spPr>
          <a:xfrm>
            <a:off x="392112" y="748031"/>
            <a:ext cx="1602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Resumen</a:t>
            </a:r>
            <a:endParaRPr sz="3300"/>
          </a:p>
        </p:txBody>
      </p:sp>
      <p:sp>
        <p:nvSpPr>
          <p:cNvPr id="199" name="Google Shape;199;p25"/>
          <p:cNvSpPr txBox="1"/>
          <p:nvPr/>
        </p:nvSpPr>
        <p:spPr>
          <a:xfrm>
            <a:off x="483552" y="1393401"/>
            <a:ext cx="8004175" cy="3315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4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lección, debe haber aprendido lo siguiente: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607695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Comparar y contrastar una unión interna con una unión  externa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ejecutar una consulta para utilizar una unión externa  izquierda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ejecutar una consulta para utilizar una unión externa  derecha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Crear y ejecutar una consulta para utilizar una unión externa  completa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0" name="Google Shape;200;p25"/>
          <p:cNvGrpSpPr/>
          <p:nvPr/>
        </p:nvGrpSpPr>
        <p:grpSpPr>
          <a:xfrm>
            <a:off x="5009388" y="4230623"/>
            <a:ext cx="3671315" cy="2028443"/>
            <a:chOff x="5009388" y="4230623"/>
            <a:chExt cx="3671315" cy="2028443"/>
          </a:xfrm>
        </p:grpSpPr>
        <p:pic>
          <p:nvPicPr>
            <p:cNvPr id="201" name="Google Shape;201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09388" y="4230623"/>
              <a:ext cx="3671315" cy="20284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01412" y="4422648"/>
              <a:ext cx="3287267" cy="16443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3" name="Google Shape;203;p25"/>
          <p:cNvSpPr txBox="1"/>
          <p:nvPr>
            <p:ph idx="10" type="dt"/>
          </p:nvPr>
        </p:nvSpPr>
        <p:spPr>
          <a:xfrm>
            <a:off x="2874191" y="6516395"/>
            <a:ext cx="15537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6-3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Uniones Internas frente a Externas</a:t>
            </a:r>
            <a:endParaRPr/>
          </a:p>
        </p:txBody>
      </p:sp>
      <p:sp>
        <p:nvSpPr>
          <p:cNvPr id="204" name="Google Shape;204;p25"/>
          <p:cNvSpPr txBox="1"/>
          <p:nvPr>
            <p:ph idx="12" type="sldNum"/>
          </p:nvPr>
        </p:nvSpPr>
        <p:spPr>
          <a:xfrm>
            <a:off x="8725090" y="6567768"/>
            <a:ext cx="20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5"/>
          <p:cNvSpPr txBox="1"/>
          <p:nvPr>
            <p:ph idx="11" type="ftr"/>
          </p:nvPr>
        </p:nvSpPr>
        <p:spPr>
          <a:xfrm>
            <a:off x="5172119" y="6589648"/>
            <a:ext cx="3222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