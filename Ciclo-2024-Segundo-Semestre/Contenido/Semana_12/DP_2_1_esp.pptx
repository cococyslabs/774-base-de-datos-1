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D751FB-160E-4657-9BE4-23A48F419C33}">
  <a:tblStyle styleId="{8DD751FB-160E-4657-9BE4-23A48F419C3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13:46:51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Concatenación: el hecho de estar enlazadas entre sí como en una cadena; unión en una serie enlazada.</a:t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13:46:52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 general, las palabras clave de SQL no se pueden abreviar. DESCRIBE es un comando propiedad de Oracle, que es el motivo por el que se puede abreviar a DESC.</a:t>
            </a:r>
            <a:endParaRPr/>
          </a:p>
        </p:txBody>
      </p:sp>
      <p:sp>
        <p:nvSpPr>
          <p:cNvPr id="102" name="Google Shape;102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2020-08-14 13:46:54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--------------------------------------------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Los literales de número no tienen que estar entre comillas simples.</a:t>
            </a:r>
            <a:endParaRPr/>
          </a:p>
        </p:txBody>
      </p:sp>
      <p:sp>
        <p:nvSpPr>
          <p:cNvPr id="180" name="Google Shape;180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92112" y="748031"/>
            <a:ext cx="83598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3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83552" y="1381889"/>
            <a:ext cx="7985100" cy="42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5172119" y="6589648"/>
            <a:ext cx="3223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2827230" y="6510552"/>
            <a:ext cx="12738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>
              <a:lnSpc>
                <a:spcPct val="104500"/>
              </a:lnSpc>
              <a:spcBef>
                <a:spcPts val="0"/>
              </a:spcBef>
              <a:buNone/>
              <a:defRPr b="1" i="0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4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61" name="Google Shape;6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40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4"/>
            <p:cNvSpPr/>
            <p:nvPr/>
          </p:nvSpPr>
          <p:spPr>
            <a:xfrm>
              <a:off x="560831" y="702563"/>
              <a:ext cx="8022590" cy="5453380"/>
            </a:xfrm>
            <a:custGeom>
              <a:rect b="b" l="l" r="r" t="t"/>
              <a:pathLst>
                <a:path extrusionOk="0" h="5453380" w="8022590">
                  <a:moveTo>
                    <a:pt x="8022335" y="0"/>
                  </a:moveTo>
                  <a:lnTo>
                    <a:pt x="0" y="0"/>
                  </a:lnTo>
                  <a:lnTo>
                    <a:pt x="0" y="5452872"/>
                  </a:lnTo>
                  <a:lnTo>
                    <a:pt x="8022335" y="5452872"/>
                  </a:lnTo>
                  <a:lnTo>
                    <a:pt x="8022335" y="0"/>
                  </a:lnTo>
                  <a:close/>
                </a:path>
              </a:pathLst>
            </a:custGeom>
            <a:solidFill>
              <a:srgbClr val="DFE1E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3" name="Google Shape;63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70787" y="5570219"/>
              <a:ext cx="1258823" cy="420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" name="Google Shape;64;p14"/>
          <p:cNvSpPr txBox="1"/>
          <p:nvPr/>
        </p:nvSpPr>
        <p:spPr>
          <a:xfrm>
            <a:off x="5057819" y="6562597"/>
            <a:ext cx="3223260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CEFD9"/>
                </a:solidFill>
                <a:latin typeface="Calibri"/>
                <a:ea typeface="Calibri"/>
                <a:cs typeface="Calibri"/>
                <a:sym typeface="Calibri"/>
              </a:rPr>
              <a:t>Copyright © 2020, Oracle y/o sus filiales. Todos los derechos reservados.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958315" y="862895"/>
            <a:ext cx="70479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3650">
            <a:spAutoFit/>
          </a:bodyPr>
          <a:lstStyle/>
          <a:p>
            <a:pPr indent="0" lvl="0" marL="12700" marR="5080" rtl="0" algn="l">
              <a:lnSpc>
                <a:spcPct val="96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Database Programming with SQL</a:t>
            </a:r>
            <a:endParaRPr sz="4800"/>
          </a:p>
        </p:txBody>
      </p:sp>
      <p:sp>
        <p:nvSpPr>
          <p:cNvPr id="66" name="Google Shape;66;p14"/>
          <p:cNvSpPr txBox="1"/>
          <p:nvPr/>
        </p:nvSpPr>
        <p:spPr>
          <a:xfrm>
            <a:off x="962879" y="2400950"/>
            <a:ext cx="3592829" cy="888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2-1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Columnas, Caracteres y Filas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370303" y="3596888"/>
            <a:ext cx="5058157" cy="2965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92112" y="748031"/>
            <a:ext cx="16365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Objetivos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483552" y="1381889"/>
            <a:ext cx="7985100" cy="49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800" lvl="0" marL="183515" rtl="0" algn="l">
              <a:lnSpc>
                <a:spcPct val="117107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/>
              <a:t>En esta lección se abordan los siguientes objetivos:</a:t>
            </a:r>
            <a:endParaRPr/>
          </a:p>
          <a:p>
            <a:pPr indent="-175260" lvl="0" marL="530860" marR="5080" rtl="0" algn="l">
              <a:lnSpc>
                <a:spcPct val="95833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Aplicar el operador de concatenación para enlazar columnas a otras columnas, expresiones aritméticas o valores constantes para crear una expresión de caracteres</a:t>
            </a:r>
            <a:endParaRPr sz="2400"/>
          </a:p>
          <a:p>
            <a:pPr indent="-175260" lvl="0" marL="530860" marR="210185" rtl="0" algn="l">
              <a:lnSpc>
                <a:spcPct val="95833"/>
              </a:lnSpc>
              <a:spcBef>
                <a:spcPts val="42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Utilizar los alias de columna para cambiar el nombre de las columnas en el resultado de la consulta</a:t>
            </a:r>
            <a:endParaRPr sz="2400"/>
          </a:p>
          <a:p>
            <a:pPr indent="-175260" lvl="0" marL="530860" marR="503555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Introducir valores literales de tipo de carácter, número o fecha en una sentencia SELECT</a:t>
            </a:r>
            <a:endParaRPr sz="2400"/>
          </a:p>
          <a:p>
            <a:pPr indent="-175260" lvl="0" marL="530860" marR="3669029" rtl="0" algn="l">
              <a:lnSpc>
                <a:spcPct val="95833"/>
              </a:lnSpc>
              <a:spcBef>
                <a:spcPts val="3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Definir y utilizar DISTINCT para eliminar las filas duplicadas</a:t>
            </a:r>
            <a:endParaRPr sz="2400"/>
          </a:p>
          <a:p>
            <a:pPr indent="-175260" lvl="0" marL="530860" marR="2887345" rtl="0" algn="l">
              <a:lnSpc>
                <a:spcPct val="95833"/>
              </a:lnSpc>
              <a:spcBef>
                <a:spcPts val="415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Editar, ejecutar y guardar las sentencias SQL en Oracle Application Express</a:t>
            </a:r>
            <a:endParaRPr sz="2400"/>
          </a:p>
        </p:txBody>
      </p:sp>
      <p:grpSp>
        <p:nvGrpSpPr>
          <p:cNvPr id="74" name="Google Shape;74;p15"/>
          <p:cNvGrpSpPr/>
          <p:nvPr/>
        </p:nvGrpSpPr>
        <p:grpSpPr>
          <a:xfrm>
            <a:off x="5643371" y="4146803"/>
            <a:ext cx="2796539" cy="2223515"/>
            <a:chOff x="5643371" y="4146803"/>
            <a:chExt cx="2796539" cy="2223515"/>
          </a:xfrm>
        </p:grpSpPr>
        <p:pic>
          <p:nvPicPr>
            <p:cNvPr id="75" name="Google Shape;75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643371" y="4146803"/>
              <a:ext cx="2796539" cy="22235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35395" y="4338827"/>
              <a:ext cx="2412491" cy="183946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2827230" y="6510552"/>
            <a:ext cx="1273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Columnas, Caracteres y Filas</a:t>
            </a:r>
            <a:endParaRPr/>
          </a:p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</a:t>
            </a:r>
            <a:endParaRPr/>
          </a:p>
        </p:txBody>
      </p:sp>
      <p:sp>
        <p:nvSpPr>
          <p:cNvPr id="85" name="Google Shape;85;p16"/>
          <p:cNvSpPr txBox="1"/>
          <p:nvPr>
            <p:ph idx="10" type="dt"/>
          </p:nvPr>
        </p:nvSpPr>
        <p:spPr>
          <a:xfrm>
            <a:off x="2827230" y="6510552"/>
            <a:ext cx="1273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Columnas, Caracteres y Filas</a:t>
            </a:r>
            <a:endParaRPr/>
          </a:p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483552" y="1393401"/>
            <a:ext cx="8188959" cy="4023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spAutoFit/>
          </a:bodyPr>
          <a:lstStyle/>
          <a:p>
            <a:pPr indent="-177800" lvl="0" marL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lección se abordan los siguientes objetivos: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328295" rtl="0" algn="l">
              <a:lnSpc>
                <a:spcPct val="107916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está escribiendo un artículo sobre los Juegos Olímpicos, puede que desee saber cuántos países diferentes y cuántos atletas diferentes de cada país fueron representados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5080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Tener que consultar listas y listas de nombres de participantes puede ser muy tedioso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398145" rtl="0" algn="l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Afortunadamente, con SQL, el trabajo puede tardar menos de un minuto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5260" lvl="0" marL="530860" marR="649605" rtl="0" algn="l">
              <a:lnSpc>
                <a:spcPct val="107916"/>
              </a:lnSpc>
              <a:spcBef>
                <a:spcPts val="414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Además, puede formatear la salida para que se lea como una frase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Encontrará muy útiles estas funciones de SQL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DESCRIBE</a:t>
            </a:r>
            <a:endParaRPr/>
          </a:p>
        </p:txBody>
      </p:sp>
      <p:sp>
        <p:nvSpPr>
          <p:cNvPr id="94" name="Google Shape;94;p17"/>
          <p:cNvSpPr txBox="1"/>
          <p:nvPr>
            <p:ph idx="10" type="dt"/>
          </p:nvPr>
        </p:nvSpPr>
        <p:spPr>
          <a:xfrm>
            <a:off x="2827230" y="6510552"/>
            <a:ext cx="1273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Columnas, Caracteres y Filas</a:t>
            </a:r>
            <a:endParaRPr/>
          </a:p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7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483552" y="1415417"/>
            <a:ext cx="7670165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Utilice el comando DESCRIBE (DESC) para mostrar la 	estructura de una tabla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483552" y="2771777"/>
            <a:ext cx="8121015" cy="2472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DESC devuelve el nombre de la tabla, los tipos de dato, 	las claves primarias y ajenas y las columnas con valores 	nulos, así como otros detalles del objeto que se 	tratarán más adelante en el curso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819150" rtl="0" algn="l">
              <a:lnSpc>
                <a:spcPct val="108214"/>
              </a:lnSpc>
              <a:spcBef>
                <a:spcPts val="77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la siguiente diapositiva aparece un ejemplo de 	cómo utilizar el comando DESCRIBE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405384" y="2334767"/>
            <a:ext cx="8214359" cy="38417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27300">
            <a:spAutoFit/>
          </a:bodyPr>
          <a:lstStyle/>
          <a:p>
            <a:pPr indent="0" lvl="0" marL="450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DESCRIBE &lt;table_name&gt;;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92112" y="748031"/>
            <a:ext cx="16644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DESCRIBE</a:t>
            </a:r>
            <a:endParaRPr/>
          </a:p>
        </p:txBody>
      </p:sp>
      <p:sp>
        <p:nvSpPr>
          <p:cNvPr id="105" name="Google Shape;105;p18"/>
          <p:cNvSpPr txBox="1"/>
          <p:nvPr>
            <p:ph idx="10" type="dt"/>
          </p:nvPr>
        </p:nvSpPr>
        <p:spPr>
          <a:xfrm>
            <a:off x="2827230" y="6510552"/>
            <a:ext cx="1273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Columnas, Caracteres y Filas</a:t>
            </a:r>
            <a:endParaRPr/>
          </a:p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8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graphicFrame>
        <p:nvGraphicFramePr>
          <p:cNvPr id="108" name="Google Shape;108;p18"/>
          <p:cNvGraphicFramePr/>
          <p:nvPr/>
        </p:nvGraphicFramePr>
        <p:xfrm>
          <a:off x="400050" y="26775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{8DD751FB-160E-4657-9BE4-23A48F419C33}</a:tableStyleId>
              </a:tblPr>
              <a:tblGrid>
                <a:gridCol w="1100450"/>
                <a:gridCol w="1308100"/>
                <a:gridCol w="942350"/>
                <a:gridCol w="787400"/>
                <a:gridCol w="730875"/>
                <a:gridCol w="604525"/>
                <a:gridCol w="675000"/>
                <a:gridCol w="745500"/>
                <a:gridCol w="647075"/>
                <a:gridCol w="791200"/>
              </a:tblGrid>
              <a:tr h="53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Table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0325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Column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0325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Type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0325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Length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0325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0325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0325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10604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Primary Key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33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4699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Nullable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0325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Default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0325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Comment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0325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8F8"/>
                    </a:solidFill>
                  </a:tcPr>
                </a:tc>
              </a:tr>
              <a:tr h="303525"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36E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90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36E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DEPARTMENT_ID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90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90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90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90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90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90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90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90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90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1555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36E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DEPARTMENT_NA ME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90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VARCHAR2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2875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2875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2875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2875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2875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2875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2875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42875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30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36E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MANAGER_ID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90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90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90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90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90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90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90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90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136E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LOCATION_ID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90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1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NUMBER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90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09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90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09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90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09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90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90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09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90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009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solidFill>
                            <a:srgbClr val="4040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9050" marB="0" marR="0" marL="0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18"/>
          <p:cNvSpPr txBox="1"/>
          <p:nvPr/>
        </p:nvSpPr>
        <p:spPr>
          <a:xfrm>
            <a:off x="393191" y="1860804"/>
            <a:ext cx="8357870" cy="38417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27300">
            <a:spAutoFit/>
          </a:bodyPr>
          <a:lstStyle/>
          <a:p>
            <a:pPr indent="0" lvl="0" marL="450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DESC departments;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DESCRIBE</a:t>
            </a:r>
            <a:endParaRPr/>
          </a:p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483552" y="1381889"/>
            <a:ext cx="7985100" cy="18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120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/>
              <a:t>Esta información es importante al insertar nuevas filas 	en una tabla, ya que debe conocer el tipo de dato que 	acepta cada columna y si la columna puede o no 	quedarse vacía</a:t>
            </a:r>
            <a:endParaRPr/>
          </a:p>
        </p:txBody>
      </p:sp>
      <p:grpSp>
        <p:nvGrpSpPr>
          <p:cNvPr id="116" name="Google Shape;116;p19"/>
          <p:cNvGrpSpPr/>
          <p:nvPr/>
        </p:nvGrpSpPr>
        <p:grpSpPr>
          <a:xfrm>
            <a:off x="2151888" y="3119628"/>
            <a:ext cx="3392423" cy="3270503"/>
            <a:chOff x="2151888" y="3119628"/>
            <a:chExt cx="3392423" cy="3270503"/>
          </a:xfrm>
        </p:grpSpPr>
        <p:pic>
          <p:nvPicPr>
            <p:cNvPr id="117" name="Google Shape;117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51888" y="5500116"/>
              <a:ext cx="3392423" cy="8900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92424" y="3119628"/>
              <a:ext cx="2074163" cy="31927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" name="Google Shape;119;p19"/>
          <p:cNvSpPr txBox="1"/>
          <p:nvPr>
            <p:ph idx="10" type="dt"/>
          </p:nvPr>
        </p:nvSpPr>
        <p:spPr>
          <a:xfrm>
            <a:off x="2827230" y="6510552"/>
            <a:ext cx="1273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Columnas, Caracteres y Filas</a:t>
            </a:r>
            <a:endParaRPr/>
          </a:p>
        </p:txBody>
      </p:sp>
      <p:sp>
        <p:nvSpPr>
          <p:cNvPr id="120" name="Google Shape;120;p19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9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 de Concatenación</a:t>
            </a:r>
            <a:endParaRPr/>
          </a:p>
        </p:txBody>
      </p:sp>
      <p:sp>
        <p:nvSpPr>
          <p:cNvPr id="127" name="Google Shape;127;p20"/>
          <p:cNvSpPr txBox="1"/>
          <p:nvPr>
            <p:ph idx="10" type="dt"/>
          </p:nvPr>
        </p:nvSpPr>
        <p:spPr>
          <a:xfrm>
            <a:off x="2827230" y="6510552"/>
            <a:ext cx="1273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Columnas, Caracteres y Filas</a:t>
            </a:r>
            <a:endParaRPr/>
          </a:p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0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30" name="Google Shape;130;p20"/>
          <p:cNvSpPr txBox="1"/>
          <p:nvPr/>
        </p:nvSpPr>
        <p:spPr>
          <a:xfrm>
            <a:off x="483552" y="1415417"/>
            <a:ext cx="7727950" cy="30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Concatenación significa conectar o enlazar juntos en 	una serie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84455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símbolo de concatenación es 2 barras verticales a 	veces denominadas "líneas verticales"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96265" rtl="0" algn="l">
              <a:lnSpc>
                <a:spcPct val="108214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Los valores a ambos lados del operador || se 	combinan para crear una sola columna de salida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3515" rtl="0" algn="l">
              <a:lnSpc>
                <a:spcPct val="100000"/>
              </a:lnSpc>
              <a:spcBef>
                <a:spcPts val="40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sintaxis es la siguiente: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483552" y="4996817"/>
            <a:ext cx="7821295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Cuando los valores se concatenan, el valor resultante 	es una cadena de caracteres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381000" y="4543044"/>
            <a:ext cx="8357870" cy="38417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27300">
            <a:spAutoFit/>
          </a:bodyPr>
          <a:lstStyle/>
          <a:p>
            <a:pPr indent="0" lvl="0" marL="45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string1 || string2 || string_n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5172119" y="6562597"/>
            <a:ext cx="3223260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Copyright © 2020, Oracle y/o sus filiales. Todos los derechos reservados.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2827230" y="6483500"/>
            <a:ext cx="1273810" cy="271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DP 2-1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1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Columnas, Caracteres y Filas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1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 de Concatenación</a:t>
            </a:r>
            <a:endParaRPr/>
          </a:p>
        </p:txBody>
      </p:sp>
      <p:sp>
        <p:nvSpPr>
          <p:cNvPr id="140" name="Google Shape;140;p21"/>
          <p:cNvSpPr txBox="1"/>
          <p:nvPr/>
        </p:nvSpPr>
        <p:spPr>
          <a:xfrm>
            <a:off x="483552" y="1415417"/>
            <a:ext cx="7958455" cy="3344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SQL, el operador de concatenación puede enlazar 	columnas a otras columnas, expresiones aritméticas o 	valores constantes para crear una expresión de 	caracteres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99440" rtl="0" algn="l">
              <a:lnSpc>
                <a:spcPct val="108214"/>
              </a:lnSpc>
              <a:spcBef>
                <a:spcPts val="78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operador de concatenación se utiliza para crear 	salidas de texto legible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106045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el siguiente ejemplo, el valor de department_id se 	concatena al department_name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8681719" y="6562597"/>
            <a:ext cx="80645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393191" y="4852415"/>
            <a:ext cx="4300855" cy="111569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118725">
            <a:spAutoFit/>
          </a:bodyPr>
          <a:lstStyle/>
          <a:p>
            <a:pPr indent="0" lvl="0" marL="45085" marR="1107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department_id || department_name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0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departments;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143" name="Google Shape;143;p21"/>
          <p:cNvGraphicFramePr/>
          <p:nvPr/>
        </p:nvGraphicFramePr>
        <p:xfrm>
          <a:off x="5369235" y="47209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{8DD751FB-160E-4657-9BE4-23A48F419C33}</a:tableStyleId>
              </a:tblPr>
              <a:tblGrid>
                <a:gridCol w="3620775"/>
              </a:tblGrid>
              <a:tr h="304800">
                <a:tc>
                  <a:txBody>
                    <a:bodyPr/>
                    <a:lstStyle/>
                    <a:p>
                      <a:pPr indent="0" lvl="0" marL="2260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DEPARTMENT_ID||DEPARTMENT_NAME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2260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Administration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2260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2260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Shipping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2260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2260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/>
        </p:nvSpPr>
        <p:spPr>
          <a:xfrm>
            <a:off x="5172119" y="6562597"/>
            <a:ext cx="3223260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Copyright © 2020, Oracle y/o sus filiales. Todos los derechos reservados.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2827230" y="6483500"/>
            <a:ext cx="1273810" cy="271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DP 2-1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1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Columnas, Caracteres y Filas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2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Operador de Concatenación</a:t>
            </a:r>
            <a:endParaRPr/>
          </a:p>
        </p:txBody>
      </p:sp>
      <p:sp>
        <p:nvSpPr>
          <p:cNvPr id="151" name="Google Shape;151;p22"/>
          <p:cNvSpPr txBox="1"/>
          <p:nvPr/>
        </p:nvSpPr>
        <p:spPr>
          <a:xfrm>
            <a:off x="483552" y="1415417"/>
            <a:ext cx="7878445" cy="2090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esta variante del ejemplo anterior, ||' '|| se utiliza 	para introducir un espacio entre department_id y 	department_name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833755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carácter 'espacio' en comillas simples crea un 	espacio entre los valores de la columna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8750490" y="6536145"/>
            <a:ext cx="15367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3" name="Google Shape;153;p22"/>
          <p:cNvGraphicFramePr/>
          <p:nvPr/>
        </p:nvGraphicFramePr>
        <p:xfrm>
          <a:off x="2358177" y="42192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{8DD751FB-160E-4657-9BE4-23A48F419C33}</a:tableStyleId>
              </a:tblPr>
              <a:tblGrid>
                <a:gridCol w="4587875"/>
              </a:tblGrid>
              <a:tr h="335275">
                <a:tc>
                  <a:txBody>
                    <a:bodyPr/>
                    <a:lstStyle/>
                    <a:p>
                      <a:pPr indent="0" lvl="0" marL="20827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DEPARTMENT_ID||' '||DEPARTMENT_NAME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20827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Administration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20827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 Marketing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20827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 Shipping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20827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 IT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20827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4" name="Google Shape;154;p22"/>
          <p:cNvSpPr txBox="1"/>
          <p:nvPr/>
        </p:nvSpPr>
        <p:spPr>
          <a:xfrm>
            <a:off x="405384" y="3555491"/>
            <a:ext cx="8345805" cy="58229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45085" marR="2416175" rtl="0" algn="l">
              <a:lnSpc>
                <a:spcPct val="117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department_id ||' '||department_name FROM departments;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/>
        </p:nvSpPr>
        <p:spPr>
          <a:xfrm>
            <a:off x="5172119" y="6562597"/>
            <a:ext cx="3223260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Copyright © 2020, Oracle y/o sus filiales. Todos los derechos reservados.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3"/>
          <p:cNvSpPr txBox="1"/>
          <p:nvPr/>
        </p:nvSpPr>
        <p:spPr>
          <a:xfrm>
            <a:off x="2827230" y="6483500"/>
            <a:ext cx="1273810" cy="271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DP 2-1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1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Columnas, Caracteres y Filas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3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Concatenación y Alias de Columna</a:t>
            </a:r>
            <a:endParaRPr/>
          </a:p>
        </p:txBody>
      </p:sp>
      <p:sp>
        <p:nvSpPr>
          <p:cNvPr id="162" name="Google Shape;162;p23"/>
          <p:cNvSpPr txBox="1"/>
          <p:nvPr/>
        </p:nvSpPr>
        <p:spPr>
          <a:xfrm>
            <a:off x="483552" y="1415417"/>
            <a:ext cx="7713980" cy="1604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Los alias de columna son útiles cuando se utiliza el 	operador de concatenación para que la línea SELECT 	por defecto no aparezca como la cabecera de la 	columna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3"/>
          <p:cNvSpPr txBox="1"/>
          <p:nvPr/>
        </p:nvSpPr>
        <p:spPr>
          <a:xfrm>
            <a:off x="8626856" y="6562597"/>
            <a:ext cx="135255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4" name="Google Shape;164;p23"/>
          <p:cNvGraphicFramePr/>
          <p:nvPr/>
        </p:nvGraphicFramePr>
        <p:xfrm>
          <a:off x="6782307" y="31097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{8DD751FB-160E-4657-9BE4-23A48F419C33}</a:tableStyleId>
              </a:tblPr>
              <a:tblGrid>
                <a:gridCol w="1962150"/>
              </a:tblGrid>
              <a:tr h="3048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Department Info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0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Administration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 Marketing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 Shipping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 IT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55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9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5" name="Google Shape;165;p23"/>
          <p:cNvGraphicFramePr/>
          <p:nvPr/>
        </p:nvGraphicFramePr>
        <p:xfrm>
          <a:off x="6782307" y="51830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{8DD751FB-160E-4657-9BE4-23A48F419C33}</a:tableStyleId>
              </a:tblPr>
              <a:tblGrid>
                <a:gridCol w="1962150"/>
              </a:tblGrid>
              <a:tr h="2743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Employee Name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Ellen Abel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Curtis Davies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717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Lex De Haan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842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6" name="Google Shape;166;p23"/>
          <p:cNvSpPr/>
          <p:nvPr/>
        </p:nvSpPr>
        <p:spPr>
          <a:xfrm>
            <a:off x="405384" y="3119627"/>
            <a:ext cx="5538470" cy="1207135"/>
          </a:xfrm>
          <a:custGeom>
            <a:rect b="b" l="l" r="r" t="t"/>
            <a:pathLst>
              <a:path extrusionOk="0" h="1207135" w="5538470">
                <a:moveTo>
                  <a:pt x="5538216" y="0"/>
                </a:moveTo>
                <a:lnTo>
                  <a:pt x="0" y="0"/>
                </a:lnTo>
                <a:lnTo>
                  <a:pt x="0" y="1207008"/>
                </a:lnTo>
                <a:lnTo>
                  <a:pt x="5538216" y="1207008"/>
                </a:lnTo>
                <a:lnTo>
                  <a:pt x="5538216" y="0"/>
                </a:lnTo>
                <a:close/>
              </a:path>
            </a:pathLst>
          </a:cu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3"/>
          <p:cNvSpPr txBox="1"/>
          <p:nvPr/>
        </p:nvSpPr>
        <p:spPr>
          <a:xfrm>
            <a:off x="495661" y="3277069"/>
            <a:ext cx="5274310" cy="84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127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department_id ||' '|| department_name	AS </a:t>
            </a:r>
            <a:r>
              <a:rPr b="1" lang="en-US" sz="1800">
                <a:solidFill>
                  <a:srgbClr val="4E3629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Department Info </a:t>
            </a:r>
            <a:r>
              <a:rPr b="1" lang="en-US" sz="1800">
                <a:solidFill>
                  <a:srgbClr val="4E3629"/>
                </a:solidFill>
                <a:latin typeface="Arial"/>
                <a:ea typeface="Arial"/>
                <a:cs typeface="Arial"/>
                <a:sym typeface="Arial"/>
              </a:rPr>
              <a:t>" </a:t>
            </a: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departments;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8" name="Google Shape;168;p23"/>
          <p:cNvSpPr txBox="1"/>
          <p:nvPr/>
        </p:nvSpPr>
        <p:spPr>
          <a:xfrm>
            <a:off x="464819" y="5201411"/>
            <a:ext cx="5478780" cy="78232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4775" rtl="0" algn="l">
              <a:lnSpc>
                <a:spcPct val="9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first_name ||' '||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189865" lvl="0" marL="104775" marR="1350010" rtl="0" algn="l">
              <a:lnSpc>
                <a:spcPct val="117222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last_name AS "Employee Name" FROM employees;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Concatenación y Valores Literales</a:t>
            </a:r>
            <a:endParaRPr/>
          </a:p>
        </p:txBody>
      </p:sp>
      <p:sp>
        <p:nvSpPr>
          <p:cNvPr id="174" name="Google Shape;174;p24"/>
          <p:cNvSpPr txBox="1"/>
          <p:nvPr>
            <p:ph idx="10" type="dt"/>
          </p:nvPr>
        </p:nvSpPr>
        <p:spPr>
          <a:xfrm>
            <a:off x="2827230" y="6510552"/>
            <a:ext cx="1273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Columnas, Caracteres y Filas</a:t>
            </a:r>
            <a:endParaRPr/>
          </a:p>
        </p:txBody>
      </p:sp>
      <p:sp>
        <p:nvSpPr>
          <p:cNvPr id="175" name="Google Shape;175;p24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4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77" name="Google Shape;177;p24"/>
          <p:cNvSpPr txBox="1"/>
          <p:nvPr/>
        </p:nvSpPr>
        <p:spPr>
          <a:xfrm>
            <a:off x="483552" y="1415417"/>
            <a:ext cx="7830184" cy="41008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Un valor literal es un valor de datos fijo, por ejemplo, 	un carácter, número o fecha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8420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 continuación, se muestran ejemplos de valores 	literales: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'dollars'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1000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'January 1, 2009'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248285" rtl="0" algn="l">
              <a:lnSpc>
                <a:spcPct val="108214"/>
              </a:lnSpc>
              <a:spcBef>
                <a:spcPts val="81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Mediante la concatenación y los valores literales, 	puede crear una salida que parezca una frase o una 	sentencia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>
            <p:ph type="title"/>
          </p:nvPr>
        </p:nvSpPr>
        <p:spPr>
          <a:xfrm>
            <a:off x="392112" y="748031"/>
            <a:ext cx="56844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Concatenación y Valores Literales</a:t>
            </a:r>
            <a:endParaRPr/>
          </a:p>
        </p:txBody>
      </p:sp>
      <p:sp>
        <p:nvSpPr>
          <p:cNvPr id="183" name="Google Shape;183;p25"/>
          <p:cNvSpPr txBox="1"/>
          <p:nvPr>
            <p:ph idx="10" type="dt"/>
          </p:nvPr>
        </p:nvSpPr>
        <p:spPr>
          <a:xfrm>
            <a:off x="2827230" y="6510552"/>
            <a:ext cx="1273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Columnas, Caracteres y Filas</a:t>
            </a:r>
            <a:endParaRPr/>
          </a:p>
        </p:txBody>
      </p:sp>
      <p:sp>
        <p:nvSpPr>
          <p:cNvPr id="184" name="Google Shape;184;p25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5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186" name="Google Shape;186;p25"/>
          <p:cNvSpPr txBox="1"/>
          <p:nvPr/>
        </p:nvSpPr>
        <p:spPr>
          <a:xfrm>
            <a:off x="483552" y="1415417"/>
            <a:ext cx="8093075" cy="2576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Los valores literales se pueden incluir en la lista SELECT 	con el operador de concatenación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1095375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Los caracteres y las fechas se deben estar entre 	comillas simples "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34925" rtl="0" algn="l">
              <a:lnSpc>
                <a:spcPct val="108214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Cada fila devuelta de una consulta con valores literales 	tendrá la misma cadena de caracteres en ella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/>
          <p:nvPr/>
        </p:nvSpPr>
        <p:spPr>
          <a:xfrm>
            <a:off x="5172119" y="6562597"/>
            <a:ext cx="3223260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Copyright © 2020, Oracle y/o sus filiales. Todos los derechos reservados.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2827230" y="6483500"/>
            <a:ext cx="1273810" cy="271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DP 2-1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1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Columnas, Caracteres y Filas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6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Concatenación y Valores Literales</a:t>
            </a:r>
            <a:endParaRPr/>
          </a:p>
        </p:txBody>
      </p:sp>
      <p:sp>
        <p:nvSpPr>
          <p:cNvPr id="194" name="Google Shape;194;p26"/>
          <p:cNvSpPr txBox="1"/>
          <p:nvPr/>
        </p:nvSpPr>
        <p:spPr>
          <a:xfrm>
            <a:off x="483552" y="1415417"/>
            <a:ext cx="4277360" cy="4112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49022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el siguiente ejemplo, 	King gana 24 000 dólares 	al mes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3515" rtl="0" algn="l">
              <a:lnSpc>
                <a:spcPct val="114107"/>
              </a:lnSpc>
              <a:spcBef>
                <a:spcPts val="409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'has a monthly salary of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4785" marR="392430" rtl="0" algn="l">
              <a:lnSpc>
                <a:spcPct val="108214"/>
              </a:lnSpc>
              <a:spcBef>
                <a:spcPts val="21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' y 'dollars.', son ejemplos de literales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080" rtl="0" algn="l">
              <a:lnSpc>
                <a:spcPct val="108214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Si desea crear una sentencia 	SQL para generar salidas en 	este formato, se escribiría 	de la siguiente forma: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6"/>
          <p:cNvSpPr txBox="1"/>
          <p:nvPr/>
        </p:nvSpPr>
        <p:spPr>
          <a:xfrm>
            <a:off x="8626856" y="6562597"/>
            <a:ext cx="135255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6" name="Google Shape;196;p26"/>
          <p:cNvGraphicFramePr/>
          <p:nvPr/>
        </p:nvGraphicFramePr>
        <p:xfrm>
          <a:off x="4863758" y="13304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{8DD751FB-160E-4657-9BE4-23A48F419C33}</a:tableStyleId>
              </a:tblPr>
              <a:tblGrid>
                <a:gridCol w="4051925"/>
              </a:tblGrid>
              <a:tr h="365750"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825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975"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 has a monthly salary of 24000 dollars.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975"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 has a monthly salary of 17000 dollars.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975"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Haan has a monthly salary of 17000 dollars.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975"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Whalen has a monthly salary of 4400 dollars.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975"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Higgins has a monthly salary of 12000 dollars.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1975"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Gietz has a monthly salary of 8300 dollars.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66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indent="0" lvl="0" marL="104139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9375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7" name="Google Shape;197;p26"/>
          <p:cNvSpPr txBox="1"/>
          <p:nvPr/>
        </p:nvSpPr>
        <p:spPr>
          <a:xfrm>
            <a:off x="4858511" y="5001767"/>
            <a:ext cx="4064635" cy="107759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90800">
            <a:spAutoFit/>
          </a:bodyPr>
          <a:lstStyle/>
          <a:p>
            <a:pPr indent="-177165" lvl="0" marL="280670" marR="2292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 || ' has a monthly salary of ' || salary || ' dollars.' AS Pay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4139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7"/>
          <p:cNvGrpSpPr/>
          <p:nvPr/>
        </p:nvGrpSpPr>
        <p:grpSpPr>
          <a:xfrm>
            <a:off x="961643" y="3014472"/>
            <a:ext cx="5382767" cy="3130295"/>
            <a:chOff x="961643" y="3014472"/>
            <a:chExt cx="5382767" cy="3130295"/>
          </a:xfrm>
        </p:grpSpPr>
        <p:pic>
          <p:nvPicPr>
            <p:cNvPr id="203" name="Google Shape;203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1643" y="5286756"/>
              <a:ext cx="5382767" cy="8580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150364" y="3014472"/>
              <a:ext cx="4116323" cy="305257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5" name="Google Shape;205;p27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Concatenación y Valores Literales</a:t>
            </a:r>
            <a:endParaRPr/>
          </a:p>
        </p:txBody>
      </p:sp>
      <p:sp>
        <p:nvSpPr>
          <p:cNvPr id="206" name="Google Shape;206;p27"/>
          <p:cNvSpPr txBox="1"/>
          <p:nvPr>
            <p:ph idx="10" type="dt"/>
          </p:nvPr>
        </p:nvSpPr>
        <p:spPr>
          <a:xfrm>
            <a:off x="2827230" y="6510552"/>
            <a:ext cx="1273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Columnas, Caracteres y Filas</a:t>
            </a:r>
            <a:endParaRPr/>
          </a:p>
        </p:txBody>
      </p:sp>
      <p:sp>
        <p:nvSpPr>
          <p:cNvPr id="207" name="Google Shape;207;p27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7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09" name="Google Shape;209;p27"/>
          <p:cNvSpPr txBox="1"/>
          <p:nvPr/>
        </p:nvSpPr>
        <p:spPr>
          <a:xfrm>
            <a:off x="483552" y="1415417"/>
            <a:ext cx="7818120" cy="132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Tenga en cuenta el carácter de espacio tras la comilla 	de apertura y antes de la comilla de cierre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3515" rtl="0" algn="l">
              <a:lnSpc>
                <a:spcPct val="100000"/>
              </a:lnSpc>
              <a:spcBef>
                <a:spcPts val="41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¿Qué sucede si elimina los espacios?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Concatenación y Valores Literales</a:t>
            </a:r>
            <a:endParaRPr/>
          </a:p>
        </p:txBody>
      </p:sp>
      <p:sp>
        <p:nvSpPr>
          <p:cNvPr id="215" name="Google Shape;215;p28"/>
          <p:cNvSpPr txBox="1"/>
          <p:nvPr>
            <p:ph idx="10" type="dt"/>
          </p:nvPr>
        </p:nvSpPr>
        <p:spPr>
          <a:xfrm>
            <a:off x="2827230" y="6510552"/>
            <a:ext cx="1273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Columnas, Caracteres y Filas</a:t>
            </a:r>
            <a:endParaRPr/>
          </a:p>
        </p:txBody>
      </p:sp>
      <p:sp>
        <p:nvSpPr>
          <p:cNvPr id="216" name="Google Shape;216;p28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8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18" name="Google Shape;218;p28"/>
          <p:cNvSpPr txBox="1"/>
          <p:nvPr/>
        </p:nvSpPr>
        <p:spPr>
          <a:xfrm>
            <a:off x="483552" y="1355371"/>
            <a:ext cx="8133080" cy="138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750">
            <a:spAutoFit/>
          </a:bodyPr>
          <a:lstStyle/>
          <a:p>
            <a:pPr indent="-177800" lvl="0" marL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También puede incluir números como valores literales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080" rtl="0" algn="l">
              <a:lnSpc>
                <a:spcPct val="108214"/>
              </a:lnSpc>
              <a:spcBef>
                <a:spcPts val="844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el siguiente ejemplo, el número 1 se concatena a las 	cadenas, 'has a' y 'year salary of '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9" name="Google Shape;219;p28"/>
          <p:cNvGraphicFramePr/>
          <p:nvPr/>
        </p:nvGraphicFramePr>
        <p:xfrm>
          <a:off x="2156985" y="39443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{8DD751FB-160E-4657-9BE4-23A48F419C33}</a:tableStyleId>
              </a:tblPr>
              <a:tblGrid>
                <a:gridCol w="4000500"/>
              </a:tblGrid>
              <a:tr h="335275">
                <a:tc>
                  <a:txBody>
                    <a:bodyPr/>
                    <a:lstStyle/>
                    <a:p>
                      <a:pPr indent="0" lvl="0" marL="0" marR="952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King has a 1 year salary of 288000 dollars.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Kochhar has a 1 year salary of 204000 dollars.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 Haan has a 1 year salary of 204000 dollars.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Whalen has a 1 year salary of 52800 dollars.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Higgins has a 1 year salary of 144000 dollars.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0" name="Google Shape;220;p28"/>
          <p:cNvSpPr txBox="1"/>
          <p:nvPr/>
        </p:nvSpPr>
        <p:spPr>
          <a:xfrm>
            <a:off x="405384" y="2871216"/>
            <a:ext cx="8167370" cy="929640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-177165" lvl="0" marL="280670" marR="5480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last_name ||' has a '|| 1 ||' year salary of '|| salary*12 || ' dollars.' AS Pay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0413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FROM employees;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/>
          <p:nvPr/>
        </p:nvSpPr>
        <p:spPr>
          <a:xfrm>
            <a:off x="5172119" y="6562597"/>
            <a:ext cx="3223260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Copyright © 2020, Oracle y/o sus filiales. Todos los derechos reservados.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9"/>
          <p:cNvSpPr txBox="1"/>
          <p:nvPr/>
        </p:nvSpPr>
        <p:spPr>
          <a:xfrm>
            <a:off x="2827230" y="6483500"/>
            <a:ext cx="1273810" cy="271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DP 2-1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1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Columnas, Caracteres y Filas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9"/>
          <p:cNvSpPr txBox="1"/>
          <p:nvPr>
            <p:ph type="title"/>
          </p:nvPr>
        </p:nvSpPr>
        <p:spPr>
          <a:xfrm>
            <a:off x="392112" y="748031"/>
            <a:ext cx="83598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1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Uso de DISTINCT para Eliminar las Filas Duplicadas</a:t>
            </a:r>
            <a:endParaRPr sz="3000"/>
          </a:p>
        </p:txBody>
      </p:sp>
      <p:sp>
        <p:nvSpPr>
          <p:cNvPr id="228" name="Google Shape;228;p29"/>
          <p:cNvSpPr txBox="1"/>
          <p:nvPr/>
        </p:nvSpPr>
        <p:spPr>
          <a:xfrm>
            <a:off x="483552" y="1415417"/>
            <a:ext cx="6175375" cy="3344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8166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Muchas veces, deseará saber cuántas 	instancias únicas de algo existen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080" rtl="0" algn="l">
              <a:lnSpc>
                <a:spcPct val="108214"/>
              </a:lnSpc>
              <a:spcBef>
                <a:spcPts val="79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Por ejemplo, si deseara una lista de todos 	los departamentos para los que hay 	empleados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12445" rtl="0" algn="l">
              <a:lnSpc>
                <a:spcPct val="108214"/>
              </a:lnSpc>
              <a:spcBef>
                <a:spcPts val="785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Podría escribir una consulta para 	seleccionar los valores department_id 	de la tabla employees: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9"/>
          <p:cNvSpPr txBox="1"/>
          <p:nvPr/>
        </p:nvSpPr>
        <p:spPr>
          <a:xfrm>
            <a:off x="8626856" y="6562597"/>
            <a:ext cx="135255" cy="155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85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0" name="Google Shape;230;p29"/>
          <p:cNvGraphicFramePr/>
          <p:nvPr/>
        </p:nvGraphicFramePr>
        <p:xfrm>
          <a:off x="6965950" y="14415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{8DD751FB-160E-4657-9BE4-23A48F419C33}</a:tableStyleId>
              </a:tblPr>
              <a:tblGrid>
                <a:gridCol w="1767200"/>
              </a:tblGrid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1" name="Google Shape;231;p29"/>
          <p:cNvSpPr txBox="1"/>
          <p:nvPr/>
        </p:nvSpPr>
        <p:spPr>
          <a:xfrm>
            <a:off x="405384" y="4863084"/>
            <a:ext cx="4052570" cy="87058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132700">
            <a:spAutoFit/>
          </a:bodyPr>
          <a:lstStyle/>
          <a:p>
            <a:pPr indent="0" lvl="0" marL="45085" marR="1268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department_id FROM employees;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/>
          <p:nvPr>
            <p:ph type="title"/>
          </p:nvPr>
        </p:nvSpPr>
        <p:spPr>
          <a:xfrm>
            <a:off x="392112" y="748031"/>
            <a:ext cx="83598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1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Uso de DISTINCT para Eliminar las Filas Duplicadas</a:t>
            </a:r>
            <a:endParaRPr sz="3000"/>
          </a:p>
        </p:txBody>
      </p:sp>
      <p:sp>
        <p:nvSpPr>
          <p:cNvPr id="237" name="Google Shape;237;p30"/>
          <p:cNvSpPr txBox="1"/>
          <p:nvPr>
            <p:ph idx="10" type="dt"/>
          </p:nvPr>
        </p:nvSpPr>
        <p:spPr>
          <a:xfrm>
            <a:off x="2827230" y="6510552"/>
            <a:ext cx="1273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Columnas, Caracteres y Filas</a:t>
            </a:r>
            <a:endParaRPr/>
          </a:p>
        </p:txBody>
      </p:sp>
      <p:sp>
        <p:nvSpPr>
          <p:cNvPr id="238" name="Google Shape;238;p30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0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40" name="Google Shape;240;p30"/>
          <p:cNvSpPr txBox="1"/>
          <p:nvPr/>
        </p:nvSpPr>
        <p:spPr>
          <a:xfrm>
            <a:off x="483552" y="1355371"/>
            <a:ext cx="7202170" cy="138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750">
            <a:spAutoFit/>
          </a:bodyPr>
          <a:lstStyle/>
          <a:p>
            <a:pPr indent="-177800" lvl="0" marL="1835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Observe todas las filas duplicadas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5080" rtl="0" algn="l">
              <a:lnSpc>
                <a:spcPct val="108214"/>
              </a:lnSpc>
              <a:spcBef>
                <a:spcPts val="844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¿Cómo se puede modificar la sentencia para que 	elimine las filas duplicadas?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1" name="Google Shape;241;p30"/>
          <p:cNvGraphicFramePr/>
          <p:nvPr/>
        </p:nvGraphicFramePr>
        <p:xfrm>
          <a:off x="6853857" y="24840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{8DD751FB-160E-4657-9BE4-23A48F419C33}</a:tableStyleId>
              </a:tblPr>
              <a:tblGrid>
                <a:gridCol w="1767200"/>
              </a:tblGrid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52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2" name="Google Shape;242;p30"/>
          <p:cNvSpPr txBox="1"/>
          <p:nvPr/>
        </p:nvSpPr>
        <p:spPr>
          <a:xfrm>
            <a:off x="405384" y="3322320"/>
            <a:ext cx="5873750" cy="87058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133350">
            <a:spAutoFit/>
          </a:bodyPr>
          <a:lstStyle/>
          <a:p>
            <a:pPr indent="0" lvl="0" marL="45085" marR="30892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department_id FROM employees;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1"/>
          <p:cNvSpPr txBox="1"/>
          <p:nvPr>
            <p:ph type="title"/>
          </p:nvPr>
        </p:nvSpPr>
        <p:spPr>
          <a:xfrm>
            <a:off x="392112" y="748031"/>
            <a:ext cx="83598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1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Uso de DISTINCT para Eliminar las Filas Duplicadas</a:t>
            </a:r>
            <a:endParaRPr sz="3000"/>
          </a:p>
        </p:txBody>
      </p:sp>
      <p:sp>
        <p:nvSpPr>
          <p:cNvPr id="248" name="Google Shape;248;p31"/>
          <p:cNvSpPr txBox="1"/>
          <p:nvPr>
            <p:ph idx="10" type="dt"/>
          </p:nvPr>
        </p:nvSpPr>
        <p:spPr>
          <a:xfrm>
            <a:off x="2827230" y="6510552"/>
            <a:ext cx="1273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Columnas, Caracteres y Filas</a:t>
            </a:r>
            <a:endParaRPr/>
          </a:p>
        </p:txBody>
      </p:sp>
      <p:sp>
        <p:nvSpPr>
          <p:cNvPr id="249" name="Google Shape;249;p31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1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51" name="Google Shape;251;p31"/>
          <p:cNvSpPr txBox="1"/>
          <p:nvPr/>
        </p:nvSpPr>
        <p:spPr>
          <a:xfrm>
            <a:off x="483552" y="1359029"/>
            <a:ext cx="8182609" cy="1632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172085" lvl="0" marL="184785" rtl="0" algn="l">
              <a:lnSpc>
                <a:spcPct val="101923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 menos que se indique lo contrario, la salida de una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0" lvl="0" marL="184785" marR="651510" rtl="0" algn="l">
              <a:lnSpc>
                <a:spcPct val="70000"/>
              </a:lnSpc>
              <a:spcBef>
                <a:spcPts val="465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consulta SQL mostrará el resultado sin eliminar las filas duplicadas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5080" rtl="0" algn="l">
              <a:lnSpc>
                <a:spcPct val="70000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 SQL, se utiliza la palabra clave DISTINCT para eliminar las filas duplicadas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1"/>
          <p:cNvSpPr txBox="1"/>
          <p:nvPr/>
        </p:nvSpPr>
        <p:spPr>
          <a:xfrm>
            <a:off x="483552" y="3705989"/>
            <a:ext cx="5982335" cy="2188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2075">
            <a:spAutoFit/>
          </a:bodyPr>
          <a:lstStyle/>
          <a:p>
            <a:pPr indent="-172720" lvl="0" marL="184785" marR="508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cualificador DISTINCT afecta a todas las columnas enumeradas y devuelve todas las combinaciones diferentes de las columnas de la cláusula SELECT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84785" marR="255270" rtl="0" algn="just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rgbClr val="D1350F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La palabra clave DISTINCT debe aparecer directamente después de la palabra clave SELECT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1"/>
          <p:cNvSpPr txBox="1"/>
          <p:nvPr/>
        </p:nvSpPr>
        <p:spPr>
          <a:xfrm>
            <a:off x="393191" y="3011423"/>
            <a:ext cx="5984875" cy="626745"/>
          </a:xfrm>
          <a:prstGeom prst="rect">
            <a:avLst/>
          </a:prstGeom>
          <a:solidFill>
            <a:srgbClr val="9DBDC4">
              <a:alpha val="49804"/>
            </a:srgbClr>
          </a:solidFill>
          <a:ln>
            <a:noFill/>
          </a:ln>
        </p:spPr>
        <p:txBody>
          <a:bodyPr anchorCtr="0" anchor="t" bIns="0" lIns="0" spcFirstLastPara="1" rIns="0" wrap="square" tIns="10775">
            <a:spAutoFit/>
          </a:bodyPr>
          <a:lstStyle/>
          <a:p>
            <a:pPr indent="0" lvl="0" marL="45085" marR="19716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E3629"/>
                </a:solidFill>
                <a:latin typeface="Courier New"/>
                <a:ea typeface="Courier New"/>
                <a:cs typeface="Courier New"/>
                <a:sym typeface="Courier New"/>
              </a:rPr>
              <a:t>SELECT DISTINCT department_id FROM employees;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254" name="Google Shape;254;p31"/>
          <p:cNvGraphicFramePr/>
          <p:nvPr/>
        </p:nvGraphicFramePr>
        <p:xfrm>
          <a:off x="7066803" y="30045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{8DD751FB-160E-4657-9BE4-23A48F419C33}</a:tableStyleId>
              </a:tblPr>
              <a:tblGrid>
                <a:gridCol w="1666250"/>
              </a:tblGrid>
              <a:tr h="3346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DEPARTMENT_ID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6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6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6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6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6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6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6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650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4E362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350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"/>
          <p:cNvSpPr txBox="1"/>
          <p:nvPr>
            <p:ph type="title"/>
          </p:nvPr>
        </p:nvSpPr>
        <p:spPr>
          <a:xfrm>
            <a:off x="392112" y="748031"/>
            <a:ext cx="83598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1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EXECUTE, SAVE y EDIT en Oracle Application Express</a:t>
            </a:r>
            <a:endParaRPr sz="3000"/>
          </a:p>
        </p:txBody>
      </p:sp>
      <p:sp>
        <p:nvSpPr>
          <p:cNvPr id="260" name="Google Shape;260;p32"/>
          <p:cNvSpPr txBox="1"/>
          <p:nvPr>
            <p:ph idx="10" type="dt"/>
          </p:nvPr>
        </p:nvSpPr>
        <p:spPr>
          <a:xfrm>
            <a:off x="2827230" y="6510552"/>
            <a:ext cx="1273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Columnas, Caracteres y Filas</a:t>
            </a:r>
            <a:endParaRPr/>
          </a:p>
        </p:txBody>
      </p:sp>
      <p:sp>
        <p:nvSpPr>
          <p:cNvPr id="261" name="Google Shape;261;p32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2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63" name="Google Shape;263;p32"/>
          <p:cNvSpPr txBox="1"/>
          <p:nvPr/>
        </p:nvSpPr>
        <p:spPr>
          <a:xfrm>
            <a:off x="483552" y="1415417"/>
            <a:ext cx="8154034" cy="4497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Ahora que ha estado utilizando Oracle Application 	Express para crear y ejecutar sentencias sería bueno 	poder guardar dichas sentencias para más adelante a 	fin de poder ejecutarlas de nuevo o, quizá, editarlas 	ligeramente y, a continuación, guardar una nueva copia 	de la sentencia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1115060" rtl="0" algn="l">
              <a:lnSpc>
                <a:spcPct val="108214"/>
              </a:lnSpc>
              <a:spcBef>
                <a:spcPts val="77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Oracle Application Express tiene utilidades para 	hacerlo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82880" marR="851535" rtl="0" algn="just">
              <a:lnSpc>
                <a:spcPct val="108214"/>
              </a:lnSpc>
              <a:spcBef>
                <a:spcPts val="79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El profesor le demostrará estas utilidades y podrá 	encontrar más información en Oracle Application 	Express User Guide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3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Terminología</a:t>
            </a:r>
            <a:endParaRPr/>
          </a:p>
        </p:txBody>
      </p:sp>
      <p:sp>
        <p:nvSpPr>
          <p:cNvPr id="269" name="Google Shape;269;p33"/>
          <p:cNvSpPr txBox="1"/>
          <p:nvPr>
            <p:ph idx="10" type="dt"/>
          </p:nvPr>
        </p:nvSpPr>
        <p:spPr>
          <a:xfrm>
            <a:off x="2827230" y="6510552"/>
            <a:ext cx="1273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Columnas, Caracteres y Filas</a:t>
            </a:r>
            <a:endParaRPr/>
          </a:p>
        </p:txBody>
      </p:sp>
      <p:sp>
        <p:nvSpPr>
          <p:cNvPr id="270" name="Google Shape;270;p33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3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  <p:sp>
        <p:nvSpPr>
          <p:cNvPr id="272" name="Google Shape;272;p33"/>
          <p:cNvSpPr txBox="1"/>
          <p:nvPr/>
        </p:nvSpPr>
        <p:spPr>
          <a:xfrm>
            <a:off x="483552" y="1415417"/>
            <a:ext cx="7704455" cy="2360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177800" lvl="0" marL="182880" marR="5080" rtl="0" algn="l">
              <a:lnSpc>
                <a:spcPct val="108214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Entre los términos clave utilizados en esta lección se 	incluyen: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DESCRIBE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Operador de concatenación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Valores literales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r>
              <a:rPr lang="en-US" sz="2400">
                <a:solidFill>
                  <a:srgbClr val="4E3629"/>
                </a:solidFill>
                <a:latin typeface="Calibri"/>
                <a:ea typeface="Calibri"/>
                <a:cs typeface="Calibri"/>
                <a:sym typeface="Calibri"/>
              </a:rPr>
              <a:t>DISTINCT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"/>
          <p:cNvSpPr txBox="1"/>
          <p:nvPr>
            <p:ph type="title"/>
          </p:nvPr>
        </p:nvSpPr>
        <p:spPr>
          <a:xfrm>
            <a:off x="392112" y="748031"/>
            <a:ext cx="83598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Resumen</a:t>
            </a:r>
            <a:endParaRPr/>
          </a:p>
        </p:txBody>
      </p:sp>
      <p:sp>
        <p:nvSpPr>
          <p:cNvPr id="278" name="Google Shape;278;p34"/>
          <p:cNvSpPr txBox="1"/>
          <p:nvPr>
            <p:ph idx="1" type="body"/>
          </p:nvPr>
        </p:nvSpPr>
        <p:spPr>
          <a:xfrm>
            <a:off x="483552" y="1381889"/>
            <a:ext cx="7985100" cy="49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177800" lvl="0" marL="183515" rtl="0" algn="l">
              <a:lnSpc>
                <a:spcPct val="117107"/>
              </a:lnSpc>
              <a:spcBef>
                <a:spcPts val="0"/>
              </a:spcBef>
              <a:spcAft>
                <a:spcPts val="0"/>
              </a:spcAft>
              <a:buClr>
                <a:srgbClr val="D1350F"/>
              </a:buClr>
              <a:buSzPts val="2800"/>
              <a:buFont typeface="Arial"/>
              <a:buChar char="•"/>
            </a:pPr>
            <a:r>
              <a:rPr lang="en-US"/>
              <a:t>En esta lección, debe haber aprendido lo siguiente:</a:t>
            </a:r>
            <a:endParaRPr/>
          </a:p>
          <a:p>
            <a:pPr indent="-175260" lvl="0" marL="530860" marR="5080" rtl="0" algn="l">
              <a:lnSpc>
                <a:spcPct val="95833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Aplicar el operador de concatenación para enlazar columnas a otras columnas, expresiones aritméticas o valores constantes para crear una expresión de caracteres</a:t>
            </a:r>
            <a:endParaRPr sz="2400"/>
          </a:p>
          <a:p>
            <a:pPr indent="-175260" lvl="0" marL="530860" marR="210185" rtl="0" algn="l">
              <a:lnSpc>
                <a:spcPct val="95833"/>
              </a:lnSpc>
              <a:spcBef>
                <a:spcPts val="425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Utilizar los alias de columna para cambiar el nombre de las columnas en el resultado de la consulta</a:t>
            </a:r>
            <a:endParaRPr sz="2400"/>
          </a:p>
          <a:p>
            <a:pPr indent="-175260" lvl="0" marL="530860" marR="503555" rtl="0" algn="l">
              <a:lnSpc>
                <a:spcPct val="80000"/>
              </a:lnSpc>
              <a:spcBef>
                <a:spcPts val="42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Introducir valores literales de tipo de carácter, número o fecha en una sentencia SELECT</a:t>
            </a:r>
            <a:endParaRPr sz="2400"/>
          </a:p>
          <a:p>
            <a:pPr indent="-175260" lvl="0" marL="530860" marR="3669029" rtl="0" algn="l">
              <a:lnSpc>
                <a:spcPct val="95833"/>
              </a:lnSpc>
              <a:spcBef>
                <a:spcPts val="38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Definir y utilizar DISTINCT para eliminar las filas duplicadas</a:t>
            </a:r>
            <a:endParaRPr sz="2400"/>
          </a:p>
          <a:p>
            <a:pPr indent="-175260" lvl="0" marL="530860" marR="3942079" rtl="0" algn="l">
              <a:lnSpc>
                <a:spcPct val="95833"/>
              </a:lnSpc>
              <a:spcBef>
                <a:spcPts val="415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rgbClr val="D1350F"/>
                </a:solidFill>
              </a:rPr>
              <a:t>−</a:t>
            </a:r>
            <a:r>
              <a:rPr lang="en-US" sz="2400"/>
              <a:t>Editar, ejecutar y guardar las sentencias SQL en Oracle Application Express</a:t>
            </a:r>
            <a:endParaRPr sz="2400"/>
          </a:p>
        </p:txBody>
      </p:sp>
      <p:grpSp>
        <p:nvGrpSpPr>
          <p:cNvPr id="279" name="Google Shape;279;p34"/>
          <p:cNvGrpSpPr/>
          <p:nvPr/>
        </p:nvGrpSpPr>
        <p:grpSpPr>
          <a:xfrm>
            <a:off x="5026152" y="4197096"/>
            <a:ext cx="3741419" cy="2061959"/>
            <a:chOff x="5026152" y="4197096"/>
            <a:chExt cx="3741419" cy="2061959"/>
          </a:xfrm>
        </p:grpSpPr>
        <p:pic>
          <p:nvPicPr>
            <p:cNvPr id="280" name="Google Shape;280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026152" y="4197096"/>
              <a:ext cx="3741419" cy="20619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1" name="Google Shape;281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18176" y="4389120"/>
              <a:ext cx="3357371" cy="16779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2" name="Google Shape;282;p34"/>
          <p:cNvSpPr txBox="1"/>
          <p:nvPr>
            <p:ph idx="10" type="dt"/>
          </p:nvPr>
        </p:nvSpPr>
        <p:spPr>
          <a:xfrm>
            <a:off x="2827230" y="6510552"/>
            <a:ext cx="1273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DP 2-1</a:t>
            </a:r>
            <a:endParaRPr/>
          </a:p>
          <a:p>
            <a:pPr indent="0" lvl="0" marL="12700" rtl="0" algn="l">
              <a:lnSpc>
                <a:spcPct val="1206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Columnas, Caracteres y Filas</a:t>
            </a:r>
            <a:endParaRPr/>
          </a:p>
        </p:txBody>
      </p:sp>
      <p:sp>
        <p:nvSpPr>
          <p:cNvPr id="283" name="Google Shape;283;p34"/>
          <p:cNvSpPr txBox="1"/>
          <p:nvPr>
            <p:ph idx="12" type="sldNum"/>
          </p:nvPr>
        </p:nvSpPr>
        <p:spPr>
          <a:xfrm>
            <a:off x="8725090" y="6567768"/>
            <a:ext cx="21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b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4"/>
          <p:cNvSpPr txBox="1"/>
          <p:nvPr>
            <p:ph idx="11" type="ftr"/>
          </p:nvPr>
        </p:nvSpPr>
        <p:spPr>
          <a:xfrm>
            <a:off x="5172119" y="6589648"/>
            <a:ext cx="32232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13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2020, Oracle y/o sus filiales. Todos los derechos reservados.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