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3321FB-1597-4171-B9AA-4C1AA4F55DF8}">
  <a:tblStyle styleId="{9C3321FB-1597-4171-B9AA-4C1AA4F55D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13:47:15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Sintaxis general de la cláusula  SELECT: el uso de [ ] es opcional. El |  significa "o".</a:t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13:47:18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las cadenas de caracteres,  los valores de fecha deben estar  entre comillas simples. Los  formatos aceptables para los  valores de fecha 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Utilizar un guión o una barra inclinada  adelante para separar día, mes y  año, p. ej., ' '20-MAR-1999',  '20/MAR/1999".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Utilizar 3 caracteres para el mes,  ya sea en mayúsculas, minúsculas  o con mayúscula inicial, p. ej.,  '20/MAR/1999', '20/mar/1999',  '20/Mar/1999". Utilizar valores  año de 4 dígitos.</a:t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385319"/>
            <a:ext cx="83598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93401"/>
            <a:ext cx="8176800" cy="39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55904" y="6510552"/>
            <a:ext cx="1472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6858000" w="9144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DFE1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023" y="192023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3" y="5751576"/>
            <a:ext cx="8759950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4895" y="2514600"/>
            <a:ext cx="5474207" cy="18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2855904" y="6510552"/>
            <a:ext cx="1472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9" name="Google Shape;6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1" name="Google Shape;7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5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958315" y="862895"/>
            <a:ext cx="7046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 SQL</a:t>
            </a:r>
            <a:endParaRPr sz="4800"/>
          </a:p>
        </p:txBody>
      </p:sp>
      <p:sp>
        <p:nvSpPr>
          <p:cNvPr id="74" name="Google Shape;74;p15"/>
          <p:cNvSpPr txBox="1"/>
          <p:nvPr/>
        </p:nvSpPr>
        <p:spPr>
          <a:xfrm>
            <a:off x="962879" y="2400950"/>
            <a:ext cx="4189729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2-2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Limitación de Filas Seleccionadas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59778" y="3484988"/>
            <a:ext cx="5058157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81" name="Google Shape;81;p16"/>
          <p:cNvSpPr txBox="1"/>
          <p:nvPr/>
        </p:nvSpPr>
        <p:spPr>
          <a:xfrm>
            <a:off x="483552" y="1393401"/>
            <a:ext cx="7813675" cy="435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7307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sintaxis SQL para restringir las filas devueltas de  una consulta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Demostrar la aplicación de la sintaxis de la cláusula WHERE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3716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el motivo por el que es importante, desde una  perspectiva de negocio, poder limitar fácilmente los datos  recuperados de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1650" rtl="0" algn="l">
              <a:lnSpc>
                <a:spcPct val="107916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generar salidas mediante una consulta SQL que  contenga cadenas de caracteres 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530860" marR="0" rtl="0" algn="l">
              <a:lnSpc>
                <a:spcPct val="1064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valores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63779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¿Ha tenido alguna vez "sobrecarga de  información"?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" name="Google Shape;82;p16"/>
          <p:cNvGrpSpPr/>
          <p:nvPr/>
        </p:nvGrpSpPr>
        <p:grpSpPr>
          <a:xfrm>
            <a:off x="5719572" y="4308347"/>
            <a:ext cx="2720340" cy="2167127"/>
            <a:chOff x="5719572" y="4308347"/>
            <a:chExt cx="2720340" cy="2167127"/>
          </a:xfrm>
        </p:grpSpPr>
        <p:pic>
          <p:nvPicPr>
            <p:cNvPr id="83" name="Google Shape;8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9572" y="4308347"/>
              <a:ext cx="2720340" cy="21671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11596" y="4500371"/>
              <a:ext cx="2336291" cy="17830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483552" y="1393401"/>
            <a:ext cx="8124190" cy="402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92100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televisión está encendida, su madre le pregunta cómo le  ha ido en clase, suena el teléfono y el perro está ladrando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066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¿No sería fantástico poder limitar la cantidad de información  tiene que procesar a la vez?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este es el trabajo de la cláusula WHERE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06680" rtl="0" algn="l">
              <a:lnSpc>
                <a:spcPct val="107916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importante poder seleccionar la información que necesita  ver de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tablas pueden tener millones de filas de datos, y es un  desperdicio de recursos buscar y que devuelvan datos que no  necesite o desee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92112" y="748031"/>
            <a:ext cx="2978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Sentencia SELECT</a:t>
            </a:r>
            <a:endParaRPr sz="3300"/>
          </a:p>
        </p:txBody>
      </p:sp>
      <p:sp>
        <p:nvSpPr>
          <p:cNvPr id="102" name="Google Shape;102;p18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483552" y="1415417"/>
            <a:ext cx="8107680" cy="2192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SELECT se utiliza para recuperar información de la base  de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9210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sentencia SELECT debe incluir como mínimo una  cláusula SELECT y una cláusula FROM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WHERE es opcional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05384" y="3802379"/>
            <a:ext cx="8345805" cy="149542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SELECT*|{[DISTINCT] column | expression alias]..}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table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[WHERE condition(s)];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92112" y="748031"/>
            <a:ext cx="281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Cláusula WHERE</a:t>
            </a:r>
            <a:endParaRPr sz="3300"/>
          </a:p>
        </p:txBody>
      </p:sp>
      <p:sp>
        <p:nvSpPr>
          <p:cNvPr id="112" name="Google Shape;112;p19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483552" y="1415417"/>
            <a:ext cx="7774305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6195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Al recuperar datos de la base de datos, puede que  necesite limitar las filas de datos que se muestran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Esto se consigue con la cláusula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cláusula WHERE contiene una condición que se  debe cumplir e, inmediatamente después, le sigue la  cláusula FROM en una sentencia SQL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sintaxis de la cláusula WHERE 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483552" y="4996817"/>
            <a:ext cx="714057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Nota: No se puede utilizar un alias en la cláusula 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05384" y="4543044"/>
            <a:ext cx="8345805" cy="40259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2525">
            <a:spAutoFit/>
          </a:bodyPr>
          <a:lstStyle/>
          <a:p>
            <a:pPr indent="0" lvl="0" marL="45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column_name comparison_condition comparison_value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92112" y="748031"/>
            <a:ext cx="281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Cláusula WHERE</a:t>
            </a:r>
            <a:endParaRPr sz="3300"/>
          </a:p>
        </p:txBody>
      </p:sp>
      <p:sp>
        <p:nvSpPr>
          <p:cNvPr id="123" name="Google Shape;123;p20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26" name="Google Shape;126;p20"/>
          <p:cNvSpPr txBox="1"/>
          <p:nvPr/>
        </p:nvSpPr>
        <p:spPr>
          <a:xfrm>
            <a:off x="483552" y="1415417"/>
            <a:ext cx="675894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Examine la siguiente sentencia SQL de la base  de datos Employees: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483552" y="3256409"/>
            <a:ext cx="8141334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Mediante la adición de una cláusula WHERE, las filas se  limitan a aquellas filas en las que el valor de  employee_id es 101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5162063" y="2107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{9C3321FB-1597-4171-B9AA-4C1AA4F55DF8}</a:tableStyleId>
              </a:tblPr>
              <a:tblGrid>
                <a:gridCol w="1284600"/>
                <a:gridCol w="1178550"/>
                <a:gridCol w="1131575"/>
              </a:tblGrid>
              <a:tr h="3967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4375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Neena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Google Shape;129;p20"/>
          <p:cNvGraphicFramePr/>
          <p:nvPr/>
        </p:nvGraphicFramePr>
        <p:xfrm>
          <a:off x="5162064" y="47036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{9C3321FB-1597-4171-B9AA-4C1AA4F55DF8}</a:tableStyleId>
              </a:tblPr>
              <a:tblGrid>
                <a:gridCol w="1270000"/>
                <a:gridCol w="1172200"/>
                <a:gridCol w="1140450"/>
              </a:tblGrid>
              <a:tr h="3972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4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4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41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407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Neena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20"/>
          <p:cNvSpPr txBox="1"/>
          <p:nvPr/>
        </p:nvSpPr>
        <p:spPr>
          <a:xfrm>
            <a:off x="393191" y="2398776"/>
            <a:ext cx="4535805" cy="84455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085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 first_name,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last_name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405384" y="4713732"/>
            <a:ext cx="4523740" cy="12192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45085" marR="238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 first_name,  last_name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employee_id = 101;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92112" y="796799"/>
            <a:ext cx="7902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 en la Cláusula WHERE</a:t>
            </a:r>
            <a:endParaRPr/>
          </a:p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483552" y="1415417"/>
            <a:ext cx="7793990" cy="4373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Como ha visto en la diapositiva anterior, el signo = se  puede utilizar en la cláusula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1054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Además del operador "igual que" ( = ), se pueden  utilizar otros operadores de comparación para  comparar una expresión con otra: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= igual que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&gt; mayor que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&gt;= mayor o igual que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&lt; menor que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&lt;= menor o igual que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&lt;&gt; no es igual que (o != o ^=)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92112" y="796799"/>
            <a:ext cx="79026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 en la Cláusula WHERE</a:t>
            </a:r>
            <a:endParaRPr/>
          </a:p>
        </p:txBody>
      </p:sp>
      <p:sp>
        <p:nvSpPr>
          <p:cNvPr id="146" name="Google Shape;146;p22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483552" y="1415417"/>
            <a:ext cx="7933690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siguiente ejemplo, la columna department_id se  utiliza en la cláusula WHERE, con el operador de  comparación =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7195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devuelven todos los empleados con un  department_id de 90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2"/>
          <p:cNvGraphicFramePr/>
          <p:nvPr/>
        </p:nvGraphicFramePr>
        <p:xfrm>
          <a:off x="1815070" y="46487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{9C3321FB-1597-4171-B9AA-4C1AA4F55DF8}</a:tableStyleId>
              </a:tblPr>
              <a:tblGrid>
                <a:gridCol w="1833875"/>
                <a:gridCol w="1833875"/>
                <a:gridCol w="1833875"/>
              </a:tblGrid>
              <a:tr h="2907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07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07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907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51;p22"/>
          <p:cNvSpPr txBox="1"/>
          <p:nvPr/>
        </p:nvSpPr>
        <p:spPr>
          <a:xfrm>
            <a:off x="405384" y="3561588"/>
            <a:ext cx="8345805" cy="84455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085" marR="0" rtl="0" algn="l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employee_id, last_name, department_id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	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= 90;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92112" y="385319"/>
            <a:ext cx="83598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Cadenas de Caracteres y de Fecha en la Cláusula  WHERE</a:t>
            </a:r>
            <a:endParaRPr/>
          </a:p>
        </p:txBody>
      </p:sp>
      <p:sp>
        <p:nvSpPr>
          <p:cNvPr id="157" name="Google Shape;157;p23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483552" y="1415417"/>
            <a:ext cx="7606665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16129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fechas y cadenas de caracteres de la cláusula  WHERE se deben incluir entre comillas simples (' ')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embargo, los números no se deben incluir entre  comillas simples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92112" y="385319"/>
            <a:ext cx="83598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Cadenas de Caracteres y de Fecha en la Cláusula  WHERE</a:t>
            </a:r>
            <a:endParaRPr/>
          </a:p>
        </p:txBody>
      </p:sp>
      <p:sp>
        <p:nvSpPr>
          <p:cNvPr id="166" name="Google Shape;166;p24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483552" y="1415417"/>
            <a:ext cx="7743825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1879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Observe el siguiente ejemplo de la base de datos  Employees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WHERE contiene una cadena y se incluye  entre comillas simples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05384" y="3546347"/>
            <a:ext cx="8345805" cy="84455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4139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first_name, last_name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= 'Taylor';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392112" y="385319"/>
            <a:ext cx="83598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Cadenas de Caracteres y de Fecha en la Cláusula  WHERE</a:t>
            </a:r>
            <a:endParaRPr/>
          </a:p>
        </p:txBody>
      </p:sp>
      <p:sp>
        <p:nvSpPr>
          <p:cNvPr id="176" name="Google Shape;176;p25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483552" y="1415417"/>
            <a:ext cx="808672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Qué cree que pasará si la cláusula WHERE se escribiera  así: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483552" y="2771777"/>
            <a:ext cx="7750175" cy="208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7592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Todas las búsquedas de caracteres son sensibles a  mayúsculas/minúsculas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just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Debido a que la tabla Employees almacena todos los  apellidos con el uso de mayúsculas adecuado, no se  devolverán filas en este ejemplo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405384" y="2330195"/>
            <a:ext cx="8345805" cy="40259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45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last_name = 'jones';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92112" y="385319"/>
            <a:ext cx="83598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Cadenas de Caracteres y de Fecha en la Cláusula  WHERE</a:t>
            </a:r>
            <a:endParaRPr/>
          </a:p>
        </p:txBody>
      </p:sp>
      <p:sp>
        <p:nvSpPr>
          <p:cNvPr id="187" name="Google Shape;187;p26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483552" y="1355371"/>
            <a:ext cx="7408545" cy="21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importante recordar este aspecto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otra lección, aprenderá a utilizar otras palabras  clave SQL como UPPER, LOWER e INITCAP que  facilitarán evitar los errores de la sensibilidad a  mayúsculas/minúsculas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92112" y="796799"/>
            <a:ext cx="79020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Operadores de Comparación en la Cláusula WHERE</a:t>
            </a:r>
            <a:endParaRPr/>
          </a:p>
        </p:txBody>
      </p:sp>
      <p:sp>
        <p:nvSpPr>
          <p:cNvPr id="196" name="Google Shape;196;p27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483552" y="1415417"/>
            <a:ext cx="787717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operadores de comparación se pueden utilizar en  todas las formas siguientes en la cláusula WHERE: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483552" y="3742565"/>
            <a:ext cx="8122284" cy="1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siguiente ejemplo de la base de datos Employees,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filas se seleccionarán?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083310" rtl="0" algn="l">
              <a:lnSpc>
                <a:spcPct val="108214"/>
              </a:lnSpc>
              <a:spcBef>
                <a:spcPts val="84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¿Se incluirán los salarios de 3000 en el juego de  resultados?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416051" y="2307335"/>
            <a:ext cx="8347075" cy="29908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5410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hire_date &lt; '01-Jan-2000'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16051" y="3201923"/>
            <a:ext cx="8347075" cy="29908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5410" marR="0" rtl="0" algn="l">
              <a:lnSpc>
                <a:spcPct val="11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job_id = 'IT_PROG'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399288" y="2726435"/>
            <a:ext cx="8345805" cy="29908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4775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salary &gt;= 6000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4617720" y="5311140"/>
            <a:ext cx="4121150" cy="84455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4775" marR="0" rtl="0" algn="l">
              <a:lnSpc>
                <a:spcPct val="11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salary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salary &lt;= 3000;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210" name="Google Shape;210;p28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483552" y="1415417"/>
            <a:ext cx="770255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Cláusula WHERE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Operadores de comparación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219" name="Google Shape;219;p29"/>
          <p:cNvSpPr txBox="1"/>
          <p:nvPr/>
        </p:nvSpPr>
        <p:spPr>
          <a:xfrm>
            <a:off x="483552" y="1393401"/>
            <a:ext cx="7813675" cy="3973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7307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Aplicar sintaxis SQL para restringir las filas devueltas de  una consulta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Demostrar la aplicación de la sintaxis de la cláusula WHERE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3716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Explicar el motivo por el que es importante, desde una  perspectiva de negocio, poder limitar fácilmente los datos  recuperados de una tabla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721735" rtl="0" algn="l">
              <a:lnSpc>
                <a:spcPct val="107916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generar salidas  mediante una consulta SQL  que contenga cadenas de  caracteres y valores de fecha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29"/>
          <p:cNvGrpSpPr/>
          <p:nvPr/>
        </p:nvGrpSpPr>
        <p:grpSpPr>
          <a:xfrm>
            <a:off x="4693920" y="4235196"/>
            <a:ext cx="3665219" cy="2023871"/>
            <a:chOff x="4693920" y="4235196"/>
            <a:chExt cx="3665219" cy="2023871"/>
          </a:xfrm>
        </p:grpSpPr>
        <p:pic>
          <p:nvPicPr>
            <p:cNvPr id="221" name="Google Shape;221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93920" y="4235196"/>
              <a:ext cx="3665219" cy="20238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85944" y="4427220"/>
              <a:ext cx="3281171" cy="1639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29"/>
          <p:cNvSpPr txBox="1"/>
          <p:nvPr>
            <p:ph idx="10" type="dt"/>
          </p:nvPr>
        </p:nvSpPr>
        <p:spPr>
          <a:xfrm>
            <a:off x="2855904" y="6510552"/>
            <a:ext cx="1472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2-2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Limitación de Filas Seleccionadas</a:t>
            </a:r>
            <a:endParaRPr/>
          </a:p>
        </p:txBody>
      </p:sp>
      <p:sp>
        <p:nvSpPr>
          <p:cNvPr id="224" name="Google Shape;224;p2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