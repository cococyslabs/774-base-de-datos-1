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23CB64-A52B-45A0-8BBF-2CC81346540E}">
  <a:tblStyle styleId="{8423CB64-A52B-45A0-8BBF-2CC8134654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13:45:55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Algunas bases de datos interesantes  encontradas en Internet: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www.rcdb.com (bases de datos de  montaña rusa, mucha  información y apta para la  búsqueda) www.classical.net  (base de datos de música en  línea que enlaza con muchas  otras bases de datos)  www.rangercentral.com (base de  datos de los Power Rangers)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www.museumstuff.com (lista de 1000  museos, gran exploración)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www.drewsullivan.com (la base de  datos de bases de datos del  periodista, súper interesante)</a:t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13:45:56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 de datos relacional: recopilaciones  de objetos o relaciones, juego de  operadores que actúan en esas  relaciones, e integridad de datos  para su precisión y consistencia.  Campo: intersección de una fila y  una columna.</a:t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13:45:56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columna "region_id" columna de  esta tabla es un campo común  con la tabla "regiones"</a:t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13:45:57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RDBMS: un sistema de gestión de  bases de datos relacionales.</a:t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13:46:00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sentencia SELECT es una forma  limitada de sentencia DML ya  que solo puede acceder a los  datos de la base de datos. No  puede manipular los datos de la  base de datos, aunque puede  operar en los datos a los que  accede antes de devolver los  resultados de la consulta.</a:t>
            </a:r>
            <a:endParaRPr/>
          </a:p>
        </p:txBody>
      </p:sp>
      <p:sp>
        <p:nvSpPr>
          <p:cNvPr id="279" name="Google Shape;279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 type="obj">
  <p:cSld name="OBJEC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6858000" w="9144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FE1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023" y="192023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3" y="5751576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4895" y="2514600"/>
            <a:ext cx="5474207" cy="18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2827230" y="6510552"/>
            <a:ext cx="17571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77837" y="1415417"/>
            <a:ext cx="81882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2827230" y="6510552"/>
            <a:ext cx="17571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9" name="Google Shape;6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1" name="Google Shape;7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5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962879" y="2400950"/>
            <a:ext cx="497205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1-2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Tecnología de Base de Datos Relacional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" y="3431575"/>
            <a:ext cx="5058157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81" name="Google Shape;81;p16"/>
          <p:cNvSpPr txBox="1"/>
          <p:nvPr/>
        </p:nvSpPr>
        <p:spPr>
          <a:xfrm>
            <a:off x="483552" y="1393401"/>
            <a:ext cx="7525384" cy="22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Definir y dar un ejemplo de una base de datos relacional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16865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Identificar los términos clave de la tabla, incluidos fila,  columna, campo, clave primaria y clave ajena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6830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Relacionar la importancia de las bases de datos con la  vida diaria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" name="Google Shape;82;p16"/>
          <p:cNvGrpSpPr/>
          <p:nvPr/>
        </p:nvGrpSpPr>
        <p:grpSpPr>
          <a:xfrm>
            <a:off x="5201411" y="3732276"/>
            <a:ext cx="3339083" cy="2638043"/>
            <a:chOff x="5201411" y="3732276"/>
            <a:chExt cx="3339083" cy="2638043"/>
          </a:xfrm>
        </p:grpSpPr>
        <p:pic>
          <p:nvPicPr>
            <p:cNvPr id="83" name="Google Shape;8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01411" y="3732276"/>
              <a:ext cx="3339083" cy="2638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93435" y="3924300"/>
              <a:ext cx="2955036" cy="2253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483552" y="1387985"/>
            <a:ext cx="8155305" cy="4633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-172720" lvl="0" marL="184785" marR="508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bases de datos son parte de nuestra vida diaria, aunque  la mayoría del tiempo ni siquiera pensemos en ellas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265430" rtl="0" algn="l">
              <a:lnSpc>
                <a:spcPct val="96153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alguna vez ha realizado una reserva en una línea aérea,  ha utilizado un cajero automático, o ha realizado una  llamada de teléfono móvil, ha utilizado una base de datos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140970" rtl="0" algn="l">
              <a:lnSpc>
                <a:spcPct val="96153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hecho, muchas ciudades usan bases de datos de  sistemas de dirección de tráfico inteligentes para controlar  los semáforos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29209" rtl="0" algn="just">
              <a:lnSpc>
                <a:spcPct val="96153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Así que, la próxima vez que esté esperando en un semáforo  en rojo puede que una base de datos sea la responsable de  su retraso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712470" rtl="0" algn="just">
              <a:lnSpc>
                <a:spcPct val="96153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aprenderá más sobre bases de datos y  cómo se crean y organizan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92112" y="748031"/>
            <a:ext cx="4785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Bases de Datos Relacionales</a:t>
            </a:r>
            <a:endParaRPr sz="3300"/>
          </a:p>
        </p:txBody>
      </p:sp>
      <p:sp>
        <p:nvSpPr>
          <p:cNvPr id="102" name="Google Shape;102;p18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483552" y="1415417"/>
            <a:ext cx="8037195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base de datos relacional permite relacionar tablas  por medio de un campo común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270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tan solo dos tablas se puede considerar como una  base de datos relacional si comparten un campo  común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18"/>
          <p:cNvGraphicFramePr/>
          <p:nvPr/>
        </p:nvGraphicFramePr>
        <p:xfrm>
          <a:off x="2086231" y="37513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{8423CB64-A52B-45A0-8BBF-2CC81346540E}</a:tableStyleId>
              </a:tblPr>
              <a:tblGrid>
                <a:gridCol w="1344925"/>
                <a:gridCol w="2427600"/>
                <a:gridCol w="1186825"/>
              </a:tblGrid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Canada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Germany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Kingdom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States of America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92112" y="748031"/>
            <a:ext cx="4785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Bases de Datos Relacionales</a:t>
            </a:r>
            <a:endParaRPr sz="3300"/>
          </a:p>
        </p:txBody>
      </p:sp>
      <p:sp>
        <p:nvSpPr>
          <p:cNvPr id="112" name="Google Shape;112;p19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477837" y="1415417"/>
            <a:ext cx="81882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90500" marR="4635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realidad, las bases de datos utilizadas en negocios  tienen muchas tablas, y cada tabla comparte un campo  común con otra tabla</a:t>
            </a:r>
            <a:endParaRPr/>
          </a:p>
          <a:p>
            <a:pPr indent="-177800" lvl="0" marL="190500" marR="5080" rtl="0" algn="l">
              <a:lnSpc>
                <a:spcPct val="108214"/>
              </a:lnSpc>
              <a:spcBef>
                <a:spcPts val="785"/>
              </a:spcBef>
              <a:spcAft>
                <a:spcPts val="120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La tabla "países" que se muestra es una de las diversas  tablas en la base de datos Employees y solo un ejemplo  de las muchas tablas que se usarán en este curso</a:t>
            </a:r>
            <a:endParaRPr/>
          </a:p>
        </p:txBody>
      </p:sp>
      <p:graphicFrame>
        <p:nvGraphicFramePr>
          <p:cNvPr id="116" name="Google Shape;116;p19"/>
          <p:cNvGraphicFramePr/>
          <p:nvPr/>
        </p:nvGraphicFramePr>
        <p:xfrm>
          <a:off x="1942078" y="44858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{8423CB64-A52B-45A0-8BBF-2CC81346540E}</a:tableStyleId>
              </a:tblPr>
              <a:tblGrid>
                <a:gridCol w="1344925"/>
                <a:gridCol w="2427600"/>
                <a:gridCol w="1186825"/>
              </a:tblGrid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Canada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Germany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Kingdom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56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States of America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92112" y="748031"/>
            <a:ext cx="4785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Bases de Datos Relacionales</a:t>
            </a:r>
            <a:endParaRPr sz="3300"/>
          </a:p>
        </p:txBody>
      </p:sp>
      <p:sp>
        <p:nvSpPr>
          <p:cNvPr id="122" name="Google Shape;122;p20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483552" y="1415417"/>
            <a:ext cx="7858125" cy="400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comprender el nivel de importancia de las bases  de datos en el mundo actual, tenga en cuenta las  siguientes estadísticas: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48640" rtl="0" algn="l">
              <a:lnSpc>
                <a:spcPct val="107916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Actualmente, el 20 % de los datos del mundo reside en  RDBMS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667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los próximos dos años, se espera que las bases de datos  crezcan hasta un tamaño superior a 100 terabytes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225" marR="96266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base de datos así de grande podría almacenar  100 000 ejemplares de la Enciclopedia Británica,  200 000 horas de música o unos 10 000 millones de  páginas web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92112" y="748031"/>
            <a:ext cx="4785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Bases de Datos Relacionales</a:t>
            </a:r>
            <a:endParaRPr sz="3300"/>
          </a:p>
        </p:txBody>
      </p:sp>
      <p:sp>
        <p:nvSpPr>
          <p:cNvPr id="131" name="Google Shape;131;p21"/>
          <p:cNvSpPr txBox="1"/>
          <p:nvPr/>
        </p:nvSpPr>
        <p:spPr>
          <a:xfrm>
            <a:off x="483552" y="1415417"/>
            <a:ext cx="8013065" cy="296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Algunas de las 10 principales bases de datos más  grandes del mundo que usan el RDBMS de Oracle son: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03530" rtl="0" algn="l">
              <a:lnSpc>
                <a:spcPct val="107916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France Telecom, 29,2 TB, una empresa de comunicaciones  (un TB es un terabyte, equivalente a 1000 gigabytes)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Amazon.com, 13 TB, venta de libros y mercancías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40665" rtl="0" algn="l">
              <a:lnSpc>
                <a:spcPct val="107916"/>
              </a:lnSpc>
              <a:spcBef>
                <a:spcPts val="43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The Claria Corporation,12 TB, empresa de marketing por  comportamiento en Internet que sigue el comportamiento  en Internet del usuario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1611" y="4178808"/>
            <a:ext cx="2068067" cy="212445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92112" y="748031"/>
            <a:ext cx="4615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Revisión de Términos Clave</a:t>
            </a:r>
            <a:endParaRPr sz="3300"/>
          </a:p>
        </p:txBody>
      </p:sp>
      <p:sp>
        <p:nvSpPr>
          <p:cNvPr id="141" name="Google Shape;141;p22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483552" y="1393401"/>
            <a:ext cx="7909559" cy="3086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Revise los siguientes términos clave: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tabla: estructura básica de almacenamiento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columna: un tipo de dato de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fila: datos de una instancia de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campo: valor de la intersección de una fila y una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clave primaria: identificador único para cada fila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clave ajena: columna que hace referencia a una columna de  clave primaria de otra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92112" y="748031"/>
            <a:ext cx="3814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Propiedades de Tablas</a:t>
            </a:r>
            <a:endParaRPr sz="3300"/>
          </a:p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483552" y="1415417"/>
            <a:ext cx="8131175" cy="3448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6385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Hay seis propiedades de tablas en una base de datos  relacional: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90855" rtl="0" algn="l">
              <a:lnSpc>
                <a:spcPct val="107916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Propiedad 1: las entradas en las columnas tienen un valor  único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Propiedad 2: las entradas en las columnas son del mismo tipo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Propiedad 3: cada fila es única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Propiedad 4: la secuencia de columnas no es significativa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Propiedad 5: la secuencia de filas no es significativa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Propiedad 6: cada columna tiene un nombre único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92112" y="748031"/>
            <a:ext cx="5575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Acceso a los Datos en un RDBMS</a:t>
            </a:r>
            <a:endParaRPr sz="3300"/>
          </a:p>
        </p:txBody>
      </p:sp>
      <p:sp>
        <p:nvSpPr>
          <p:cNvPr id="159" name="Google Shape;159;p24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483550" y="1415427"/>
            <a:ext cx="8172600" cy="3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7150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 sistema de administración de una base de datos  relacional (RDBMS) organiza los datos en filas y  columnas relacionadas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acceder a los datos de una base de datos, no tiene  que saber dónde se ubican los datos físicamente, ni  debe especificar una ruta de acceso a las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052195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Solo tiene que utilizar sentencias de lenguaje de  consulta estructurado (SQL) y operadores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92112" y="748031"/>
            <a:ext cx="5796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Comunicación con Bases de Datos</a:t>
            </a:r>
            <a:endParaRPr sz="3300"/>
          </a:p>
        </p:txBody>
      </p:sp>
      <p:sp>
        <p:nvSpPr>
          <p:cNvPr id="168" name="Google Shape;168;p25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483552" y="1387985"/>
            <a:ext cx="8143875" cy="4439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-172720" lvl="0" marL="184785" marR="687705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Trabajar con la base de datos es muy similar a llamar y  hablar con un amigo por teléfono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107440" rtl="0" algn="l">
              <a:lnSpc>
                <a:spcPct val="95909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primer lugar, debe elegir un método para comunicarse  (el teléfono)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vez conectado, le hace una pregunta a su amigo (una consulta)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715645" rtl="0" algn="l">
              <a:lnSpc>
                <a:spcPct val="95909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respuesta a su pregunta, su amigo le contesta (devolución  de datos).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232410" rtl="0" algn="l">
              <a:lnSpc>
                <a:spcPct val="96153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muy simple, la mayoría de nosotros somos expertos en  esto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17780" rtl="0" algn="l">
              <a:lnSpc>
                <a:spcPct val="96153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clase, nuestro método de comunicación con la base  de datos será a través de Oracle Application Express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227965" rtl="0" algn="l">
              <a:lnSpc>
                <a:spcPct val="96153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formular una pregunta con SQL, la aplicación devolverá  una respuesta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92112" y="748031"/>
            <a:ext cx="5796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Comunicación con Bases de Datos</a:t>
            </a:r>
            <a:endParaRPr sz="3300"/>
          </a:p>
        </p:txBody>
      </p:sp>
      <p:sp>
        <p:nvSpPr>
          <p:cNvPr id="177" name="Google Shape;177;p26"/>
          <p:cNvSpPr txBox="1"/>
          <p:nvPr/>
        </p:nvSpPr>
        <p:spPr>
          <a:xfrm>
            <a:off x="483552" y="1415417"/>
            <a:ext cx="797242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se muestra en el diagrama, comunicarse con un  RDBMS se consigue introduciendo una sentencia SQL  en Oracle Application Express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095376" y="3196741"/>
            <a:ext cx="27984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introduce la sentencia SQL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7276" y="3840479"/>
            <a:ext cx="1056131" cy="915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/>
        </p:nvSpPr>
        <p:spPr>
          <a:xfrm>
            <a:off x="5798992" y="4128603"/>
            <a:ext cx="80835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509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 servidor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4538721" y="3301528"/>
            <a:ext cx="34963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sentencia se envía a Oracle Server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4478370" y="5470028"/>
            <a:ext cx="31013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Server devuelve los datos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" name="Google Shape;183;p26"/>
          <p:cNvGrpSpPr/>
          <p:nvPr/>
        </p:nvGrpSpPr>
        <p:grpSpPr>
          <a:xfrm>
            <a:off x="1101852" y="3649980"/>
            <a:ext cx="2392679" cy="505967"/>
            <a:chOff x="1101852" y="3649980"/>
            <a:chExt cx="2392679" cy="505967"/>
          </a:xfrm>
        </p:grpSpPr>
        <p:pic>
          <p:nvPicPr>
            <p:cNvPr id="184" name="Google Shape;18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58240" y="3712464"/>
              <a:ext cx="2336291" cy="336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64336" y="3649980"/>
              <a:ext cx="2304287" cy="5059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6"/>
            <p:cNvSpPr/>
            <p:nvPr/>
          </p:nvSpPr>
          <p:spPr>
            <a:xfrm>
              <a:off x="1101852" y="3656076"/>
              <a:ext cx="2321560" cy="321945"/>
            </a:xfrm>
            <a:custGeom>
              <a:rect b="b" l="l" r="r" t="t"/>
              <a:pathLst>
                <a:path extrusionOk="0" h="321945" w="2321560">
                  <a:moveTo>
                    <a:pt x="2321052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2321052" y="321563"/>
                  </a:lnTo>
                  <a:lnTo>
                    <a:pt x="2321052" y="0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1101852" y="3656076"/>
              <a:ext cx="2321560" cy="321945"/>
            </a:xfrm>
            <a:custGeom>
              <a:rect b="b" l="l" r="r" t="t"/>
              <a:pathLst>
                <a:path extrusionOk="0" h="321945" w="2321560">
                  <a:moveTo>
                    <a:pt x="0" y="0"/>
                  </a:moveTo>
                  <a:lnTo>
                    <a:pt x="2321052" y="0"/>
                  </a:lnTo>
                  <a:lnTo>
                    <a:pt x="2321052" y="321563"/>
                  </a:lnTo>
                  <a:lnTo>
                    <a:pt x="0" y="32156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DFE1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8" name="Google Shape;188;p26"/>
          <p:cNvSpPr txBox="1"/>
          <p:nvPr/>
        </p:nvSpPr>
        <p:spPr>
          <a:xfrm>
            <a:off x="1181101" y="3602949"/>
            <a:ext cx="204978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SELECT department_name  FROM	departments;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9" name="Google Shape;189;p26"/>
          <p:cNvGrpSpPr/>
          <p:nvPr/>
        </p:nvGrpSpPr>
        <p:grpSpPr>
          <a:xfrm>
            <a:off x="3829597" y="4873285"/>
            <a:ext cx="2348203" cy="630696"/>
            <a:chOff x="3829597" y="4873285"/>
            <a:chExt cx="2348203" cy="630696"/>
          </a:xfrm>
        </p:grpSpPr>
        <p:sp>
          <p:nvSpPr>
            <p:cNvPr id="190" name="Google Shape;190;p26"/>
            <p:cNvSpPr/>
            <p:nvPr/>
          </p:nvSpPr>
          <p:spPr>
            <a:xfrm>
              <a:off x="3945140" y="4873285"/>
              <a:ext cx="2232660" cy="574675"/>
            </a:xfrm>
            <a:custGeom>
              <a:rect b="b" l="l" r="r" t="t"/>
              <a:pathLst>
                <a:path extrusionOk="0" h="574675" w="2232660">
                  <a:moveTo>
                    <a:pt x="2232393" y="0"/>
                  </a:moveTo>
                  <a:lnTo>
                    <a:pt x="2218744" y="37442"/>
                  </a:lnTo>
                  <a:lnTo>
                    <a:pt x="2196520" y="74179"/>
                  </a:lnTo>
                  <a:lnTo>
                    <a:pt x="2165985" y="110146"/>
                  </a:lnTo>
                  <a:lnTo>
                    <a:pt x="2127404" y="145278"/>
                  </a:lnTo>
                  <a:lnTo>
                    <a:pt x="2081040" y="179511"/>
                  </a:lnTo>
                  <a:lnTo>
                    <a:pt x="2027158" y="212779"/>
                  </a:lnTo>
                  <a:lnTo>
                    <a:pt x="1966022" y="245018"/>
                  </a:lnTo>
                  <a:lnTo>
                    <a:pt x="1897897" y="276163"/>
                  </a:lnTo>
                  <a:lnTo>
                    <a:pt x="1861296" y="291305"/>
                  </a:lnTo>
                  <a:lnTo>
                    <a:pt x="1823046" y="306150"/>
                  </a:lnTo>
                  <a:lnTo>
                    <a:pt x="1783182" y="320688"/>
                  </a:lnTo>
                  <a:lnTo>
                    <a:pt x="1741735" y="334912"/>
                  </a:lnTo>
                  <a:lnTo>
                    <a:pt x="1698739" y="348814"/>
                  </a:lnTo>
                  <a:lnTo>
                    <a:pt x="1654227" y="362386"/>
                  </a:lnTo>
                  <a:lnTo>
                    <a:pt x="1608231" y="375620"/>
                  </a:lnTo>
                  <a:lnTo>
                    <a:pt x="1560786" y="388507"/>
                  </a:lnTo>
                  <a:lnTo>
                    <a:pt x="1511923" y="401040"/>
                  </a:lnTo>
                  <a:lnTo>
                    <a:pt x="1461677" y="413210"/>
                  </a:lnTo>
                  <a:lnTo>
                    <a:pt x="1410079" y="425010"/>
                  </a:lnTo>
                  <a:lnTo>
                    <a:pt x="1357164" y="436431"/>
                  </a:lnTo>
                  <a:lnTo>
                    <a:pt x="1302964" y="447465"/>
                  </a:lnTo>
                  <a:lnTo>
                    <a:pt x="1247512" y="458103"/>
                  </a:lnTo>
                  <a:lnTo>
                    <a:pt x="1190841" y="468339"/>
                  </a:lnTo>
                  <a:lnTo>
                    <a:pt x="1132984" y="478164"/>
                  </a:lnTo>
                  <a:lnTo>
                    <a:pt x="1073974" y="487569"/>
                  </a:lnTo>
                  <a:lnTo>
                    <a:pt x="1013845" y="496547"/>
                  </a:lnTo>
                  <a:lnTo>
                    <a:pt x="952629" y="505089"/>
                  </a:lnTo>
                  <a:lnTo>
                    <a:pt x="890359" y="513188"/>
                  </a:lnTo>
                  <a:lnTo>
                    <a:pt x="827069" y="520835"/>
                  </a:lnTo>
                  <a:lnTo>
                    <a:pt x="762791" y="528022"/>
                  </a:lnTo>
                  <a:lnTo>
                    <a:pt x="697558" y="534742"/>
                  </a:lnTo>
                  <a:lnTo>
                    <a:pt x="631404" y="540985"/>
                  </a:lnTo>
                  <a:lnTo>
                    <a:pt x="564362" y="546745"/>
                  </a:lnTo>
                  <a:lnTo>
                    <a:pt x="496464" y="552012"/>
                  </a:lnTo>
                  <a:lnTo>
                    <a:pt x="427743" y="556779"/>
                  </a:lnTo>
                  <a:lnTo>
                    <a:pt x="358233" y="561037"/>
                  </a:lnTo>
                  <a:lnTo>
                    <a:pt x="287967" y="564779"/>
                  </a:lnTo>
                  <a:lnTo>
                    <a:pt x="216978" y="567997"/>
                  </a:lnTo>
                  <a:lnTo>
                    <a:pt x="145298" y="570681"/>
                  </a:lnTo>
                  <a:lnTo>
                    <a:pt x="72961" y="572825"/>
                  </a:lnTo>
                  <a:lnTo>
                    <a:pt x="0" y="574421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3829597" y="5389681"/>
              <a:ext cx="191770" cy="114300"/>
            </a:xfrm>
            <a:custGeom>
              <a:rect b="b" l="l" r="r" t="t"/>
              <a:pathLst>
                <a:path extrusionOk="0" h="114300" w="191770">
                  <a:moveTo>
                    <a:pt x="189801" y="0"/>
                  </a:moveTo>
                  <a:lnTo>
                    <a:pt x="0" y="59410"/>
                  </a:lnTo>
                  <a:lnTo>
                    <a:pt x="191160" y="114287"/>
                  </a:lnTo>
                  <a:lnTo>
                    <a:pt x="114287" y="58051"/>
                  </a:lnTo>
                  <a:lnTo>
                    <a:pt x="189801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92" name="Google Shape;192;p26"/>
          <p:cNvGrpSpPr/>
          <p:nvPr/>
        </p:nvGrpSpPr>
        <p:grpSpPr>
          <a:xfrm>
            <a:off x="1213103" y="3559302"/>
            <a:ext cx="5480304" cy="2202929"/>
            <a:chOff x="1213103" y="3559302"/>
            <a:chExt cx="5480304" cy="2202929"/>
          </a:xfrm>
        </p:grpSpPr>
        <p:sp>
          <p:nvSpPr>
            <p:cNvPr id="193" name="Google Shape;193;p26"/>
            <p:cNvSpPr/>
            <p:nvPr/>
          </p:nvSpPr>
          <p:spPr>
            <a:xfrm>
              <a:off x="3235590" y="3559302"/>
              <a:ext cx="2391410" cy="319405"/>
            </a:xfrm>
            <a:custGeom>
              <a:rect b="b" l="l" r="r" t="t"/>
              <a:pathLst>
                <a:path extrusionOk="0" h="319404" w="2391410">
                  <a:moveTo>
                    <a:pt x="0" y="0"/>
                  </a:moveTo>
                  <a:lnTo>
                    <a:pt x="62671" y="395"/>
                  </a:lnTo>
                  <a:lnTo>
                    <a:pt x="125078" y="1098"/>
                  </a:lnTo>
                  <a:lnTo>
                    <a:pt x="187202" y="2106"/>
                  </a:lnTo>
                  <a:lnTo>
                    <a:pt x="249024" y="3417"/>
                  </a:lnTo>
                  <a:lnTo>
                    <a:pt x="310527" y="5027"/>
                  </a:lnTo>
                  <a:lnTo>
                    <a:pt x="371692" y="6934"/>
                  </a:lnTo>
                  <a:lnTo>
                    <a:pt x="432500" y="9136"/>
                  </a:lnTo>
                  <a:lnTo>
                    <a:pt x="492933" y="11629"/>
                  </a:lnTo>
                  <a:lnTo>
                    <a:pt x="552972" y="14411"/>
                  </a:lnTo>
                  <a:lnTo>
                    <a:pt x="612600" y="17479"/>
                  </a:lnTo>
                  <a:lnTo>
                    <a:pt x="671797" y="20831"/>
                  </a:lnTo>
                  <a:lnTo>
                    <a:pt x="730546" y="24463"/>
                  </a:lnTo>
                  <a:lnTo>
                    <a:pt x="788827" y="28374"/>
                  </a:lnTo>
                  <a:lnTo>
                    <a:pt x="846623" y="32559"/>
                  </a:lnTo>
                  <a:lnTo>
                    <a:pt x="903915" y="37018"/>
                  </a:lnTo>
                  <a:lnTo>
                    <a:pt x="960685" y="41746"/>
                  </a:lnTo>
                  <a:lnTo>
                    <a:pt x="1016914" y="46741"/>
                  </a:lnTo>
                  <a:lnTo>
                    <a:pt x="1072583" y="52001"/>
                  </a:lnTo>
                  <a:lnTo>
                    <a:pt x="1127675" y="57523"/>
                  </a:lnTo>
                  <a:lnTo>
                    <a:pt x="1182171" y="63303"/>
                  </a:lnTo>
                  <a:lnTo>
                    <a:pt x="1236052" y="69341"/>
                  </a:lnTo>
                  <a:lnTo>
                    <a:pt x="1289300" y="75631"/>
                  </a:lnTo>
                  <a:lnTo>
                    <a:pt x="1341897" y="82173"/>
                  </a:lnTo>
                  <a:lnTo>
                    <a:pt x="1393825" y="88963"/>
                  </a:lnTo>
                  <a:lnTo>
                    <a:pt x="1445064" y="95998"/>
                  </a:lnTo>
                  <a:lnTo>
                    <a:pt x="1495596" y="103277"/>
                  </a:lnTo>
                  <a:lnTo>
                    <a:pt x="1545403" y="110795"/>
                  </a:lnTo>
                  <a:lnTo>
                    <a:pt x="1594467" y="118551"/>
                  </a:lnTo>
                  <a:lnTo>
                    <a:pt x="1642770" y="126542"/>
                  </a:lnTo>
                  <a:lnTo>
                    <a:pt x="1690291" y="134764"/>
                  </a:lnTo>
                  <a:lnTo>
                    <a:pt x="1737015" y="143216"/>
                  </a:lnTo>
                  <a:lnTo>
                    <a:pt x="1782921" y="151894"/>
                  </a:lnTo>
                  <a:lnTo>
                    <a:pt x="1827991" y="160797"/>
                  </a:lnTo>
                  <a:lnTo>
                    <a:pt x="1872207" y="169920"/>
                  </a:lnTo>
                  <a:lnTo>
                    <a:pt x="1915552" y="179262"/>
                  </a:lnTo>
                  <a:lnTo>
                    <a:pt x="1958005" y="188820"/>
                  </a:lnTo>
                  <a:lnTo>
                    <a:pt x="1999549" y="198590"/>
                  </a:lnTo>
                  <a:lnTo>
                    <a:pt x="2040165" y="208571"/>
                  </a:lnTo>
                  <a:lnTo>
                    <a:pt x="2079836" y="218760"/>
                  </a:lnTo>
                  <a:lnTo>
                    <a:pt x="2118542" y="229153"/>
                  </a:lnTo>
                  <a:lnTo>
                    <a:pt x="2156265" y="239749"/>
                  </a:lnTo>
                  <a:lnTo>
                    <a:pt x="2192986" y="250544"/>
                  </a:lnTo>
                  <a:lnTo>
                    <a:pt x="2263352" y="272723"/>
                  </a:lnTo>
                  <a:lnTo>
                    <a:pt x="2329491" y="295666"/>
                  </a:lnTo>
                  <a:lnTo>
                    <a:pt x="2360930" y="307418"/>
                  </a:lnTo>
                  <a:lnTo>
                    <a:pt x="2391257" y="319354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5535324" y="3795933"/>
              <a:ext cx="197485" cy="130175"/>
            </a:xfrm>
            <a:custGeom>
              <a:rect b="b" l="l" r="r" t="t"/>
              <a:pathLst>
                <a:path extrusionOk="0" h="130175" w="197485">
                  <a:moveTo>
                    <a:pt x="46812" y="0"/>
                  </a:moveTo>
                  <a:lnTo>
                    <a:pt x="92925" y="83350"/>
                  </a:lnTo>
                  <a:lnTo>
                    <a:pt x="0" y="104279"/>
                  </a:lnTo>
                  <a:lnTo>
                    <a:pt x="197205" y="130162"/>
                  </a:lnTo>
                  <a:lnTo>
                    <a:pt x="46812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5" name="Google Shape;195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37276" y="3840480"/>
              <a:ext cx="1056131" cy="352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13103" y="4415028"/>
              <a:ext cx="2560319" cy="13472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26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92112" y="748031"/>
            <a:ext cx="5796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Comunicación con Bases de Datos</a:t>
            </a:r>
            <a:endParaRPr sz="3300"/>
          </a:p>
        </p:txBody>
      </p:sp>
      <p:sp>
        <p:nvSpPr>
          <p:cNvPr id="205" name="Google Shape;205;p27"/>
          <p:cNvSpPr txBox="1"/>
          <p:nvPr/>
        </p:nvSpPr>
        <p:spPr>
          <a:xfrm>
            <a:off x="483552" y="1415417"/>
            <a:ext cx="8150225" cy="160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se enviará la solicitud a Oracle Server  (una base de datos que se ejecuta en una  computadora), la solicitud se procesa y se muestran los  datos obtenidos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1095376" y="3196741"/>
            <a:ext cx="27984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introduce la sentencia SQL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7276" y="3840479"/>
            <a:ext cx="1056131" cy="91592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5798992" y="4128603"/>
            <a:ext cx="80835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509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 servidor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4538721" y="3301528"/>
            <a:ext cx="34963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sentencia se envía a Oracle Server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4478370" y="5470028"/>
            <a:ext cx="31013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Server devuelve los datos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27"/>
          <p:cNvGrpSpPr/>
          <p:nvPr/>
        </p:nvGrpSpPr>
        <p:grpSpPr>
          <a:xfrm>
            <a:off x="1101852" y="3649980"/>
            <a:ext cx="2392679" cy="505967"/>
            <a:chOff x="1101852" y="3649980"/>
            <a:chExt cx="2392679" cy="505967"/>
          </a:xfrm>
        </p:grpSpPr>
        <p:pic>
          <p:nvPicPr>
            <p:cNvPr id="212" name="Google Shape;21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58240" y="3712464"/>
              <a:ext cx="2336291" cy="336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64336" y="3649980"/>
              <a:ext cx="2304287" cy="5059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7"/>
            <p:cNvSpPr/>
            <p:nvPr/>
          </p:nvSpPr>
          <p:spPr>
            <a:xfrm>
              <a:off x="1101852" y="3656076"/>
              <a:ext cx="2321560" cy="321945"/>
            </a:xfrm>
            <a:custGeom>
              <a:rect b="b" l="l" r="r" t="t"/>
              <a:pathLst>
                <a:path extrusionOk="0" h="321945" w="2321560">
                  <a:moveTo>
                    <a:pt x="2321052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2321052" y="321563"/>
                  </a:lnTo>
                  <a:lnTo>
                    <a:pt x="2321052" y="0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1101852" y="3656076"/>
              <a:ext cx="2321560" cy="321945"/>
            </a:xfrm>
            <a:custGeom>
              <a:rect b="b" l="l" r="r" t="t"/>
              <a:pathLst>
                <a:path extrusionOk="0" h="321945" w="2321560">
                  <a:moveTo>
                    <a:pt x="0" y="0"/>
                  </a:moveTo>
                  <a:lnTo>
                    <a:pt x="2321052" y="0"/>
                  </a:lnTo>
                  <a:lnTo>
                    <a:pt x="2321052" y="321563"/>
                  </a:lnTo>
                  <a:lnTo>
                    <a:pt x="0" y="32156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DFE1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6" name="Google Shape;216;p27"/>
          <p:cNvSpPr txBox="1"/>
          <p:nvPr/>
        </p:nvSpPr>
        <p:spPr>
          <a:xfrm>
            <a:off x="1181101" y="3602949"/>
            <a:ext cx="204978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SELECT department_name  FROM	departments;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17" name="Google Shape;217;p27"/>
          <p:cNvGrpSpPr/>
          <p:nvPr/>
        </p:nvGrpSpPr>
        <p:grpSpPr>
          <a:xfrm>
            <a:off x="3829597" y="4873285"/>
            <a:ext cx="2348203" cy="630696"/>
            <a:chOff x="3829597" y="4873285"/>
            <a:chExt cx="2348203" cy="630696"/>
          </a:xfrm>
        </p:grpSpPr>
        <p:sp>
          <p:nvSpPr>
            <p:cNvPr id="218" name="Google Shape;218;p27"/>
            <p:cNvSpPr/>
            <p:nvPr/>
          </p:nvSpPr>
          <p:spPr>
            <a:xfrm>
              <a:off x="3945140" y="4873285"/>
              <a:ext cx="2232660" cy="574675"/>
            </a:xfrm>
            <a:custGeom>
              <a:rect b="b" l="l" r="r" t="t"/>
              <a:pathLst>
                <a:path extrusionOk="0" h="574675" w="2232660">
                  <a:moveTo>
                    <a:pt x="2232393" y="0"/>
                  </a:moveTo>
                  <a:lnTo>
                    <a:pt x="2218744" y="37442"/>
                  </a:lnTo>
                  <a:lnTo>
                    <a:pt x="2196520" y="74179"/>
                  </a:lnTo>
                  <a:lnTo>
                    <a:pt x="2165985" y="110146"/>
                  </a:lnTo>
                  <a:lnTo>
                    <a:pt x="2127404" y="145278"/>
                  </a:lnTo>
                  <a:lnTo>
                    <a:pt x="2081040" y="179511"/>
                  </a:lnTo>
                  <a:lnTo>
                    <a:pt x="2027158" y="212779"/>
                  </a:lnTo>
                  <a:lnTo>
                    <a:pt x="1966022" y="245018"/>
                  </a:lnTo>
                  <a:lnTo>
                    <a:pt x="1897897" y="276163"/>
                  </a:lnTo>
                  <a:lnTo>
                    <a:pt x="1861296" y="291305"/>
                  </a:lnTo>
                  <a:lnTo>
                    <a:pt x="1823046" y="306150"/>
                  </a:lnTo>
                  <a:lnTo>
                    <a:pt x="1783182" y="320688"/>
                  </a:lnTo>
                  <a:lnTo>
                    <a:pt x="1741735" y="334912"/>
                  </a:lnTo>
                  <a:lnTo>
                    <a:pt x="1698739" y="348814"/>
                  </a:lnTo>
                  <a:lnTo>
                    <a:pt x="1654227" y="362386"/>
                  </a:lnTo>
                  <a:lnTo>
                    <a:pt x="1608231" y="375620"/>
                  </a:lnTo>
                  <a:lnTo>
                    <a:pt x="1560786" y="388507"/>
                  </a:lnTo>
                  <a:lnTo>
                    <a:pt x="1511923" y="401040"/>
                  </a:lnTo>
                  <a:lnTo>
                    <a:pt x="1461677" y="413210"/>
                  </a:lnTo>
                  <a:lnTo>
                    <a:pt x="1410079" y="425010"/>
                  </a:lnTo>
                  <a:lnTo>
                    <a:pt x="1357164" y="436431"/>
                  </a:lnTo>
                  <a:lnTo>
                    <a:pt x="1302964" y="447465"/>
                  </a:lnTo>
                  <a:lnTo>
                    <a:pt x="1247512" y="458103"/>
                  </a:lnTo>
                  <a:lnTo>
                    <a:pt x="1190841" y="468339"/>
                  </a:lnTo>
                  <a:lnTo>
                    <a:pt x="1132984" y="478164"/>
                  </a:lnTo>
                  <a:lnTo>
                    <a:pt x="1073974" y="487569"/>
                  </a:lnTo>
                  <a:lnTo>
                    <a:pt x="1013845" y="496547"/>
                  </a:lnTo>
                  <a:lnTo>
                    <a:pt x="952629" y="505089"/>
                  </a:lnTo>
                  <a:lnTo>
                    <a:pt x="890359" y="513188"/>
                  </a:lnTo>
                  <a:lnTo>
                    <a:pt x="827069" y="520835"/>
                  </a:lnTo>
                  <a:lnTo>
                    <a:pt x="762791" y="528022"/>
                  </a:lnTo>
                  <a:lnTo>
                    <a:pt x="697558" y="534742"/>
                  </a:lnTo>
                  <a:lnTo>
                    <a:pt x="631404" y="540985"/>
                  </a:lnTo>
                  <a:lnTo>
                    <a:pt x="564362" y="546745"/>
                  </a:lnTo>
                  <a:lnTo>
                    <a:pt x="496464" y="552012"/>
                  </a:lnTo>
                  <a:lnTo>
                    <a:pt x="427743" y="556779"/>
                  </a:lnTo>
                  <a:lnTo>
                    <a:pt x="358233" y="561037"/>
                  </a:lnTo>
                  <a:lnTo>
                    <a:pt x="287967" y="564779"/>
                  </a:lnTo>
                  <a:lnTo>
                    <a:pt x="216978" y="567997"/>
                  </a:lnTo>
                  <a:lnTo>
                    <a:pt x="145298" y="570681"/>
                  </a:lnTo>
                  <a:lnTo>
                    <a:pt x="72961" y="572825"/>
                  </a:lnTo>
                  <a:lnTo>
                    <a:pt x="0" y="574421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3829597" y="5389681"/>
              <a:ext cx="191770" cy="114300"/>
            </a:xfrm>
            <a:custGeom>
              <a:rect b="b" l="l" r="r" t="t"/>
              <a:pathLst>
                <a:path extrusionOk="0" h="114300" w="191770">
                  <a:moveTo>
                    <a:pt x="189801" y="0"/>
                  </a:moveTo>
                  <a:lnTo>
                    <a:pt x="0" y="59410"/>
                  </a:lnTo>
                  <a:lnTo>
                    <a:pt x="191160" y="114287"/>
                  </a:lnTo>
                  <a:lnTo>
                    <a:pt x="114287" y="58051"/>
                  </a:lnTo>
                  <a:lnTo>
                    <a:pt x="189801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20" name="Google Shape;220;p27"/>
          <p:cNvGrpSpPr/>
          <p:nvPr/>
        </p:nvGrpSpPr>
        <p:grpSpPr>
          <a:xfrm>
            <a:off x="1213103" y="3559302"/>
            <a:ext cx="5480304" cy="2202929"/>
            <a:chOff x="1213103" y="3559302"/>
            <a:chExt cx="5480304" cy="2202929"/>
          </a:xfrm>
        </p:grpSpPr>
        <p:sp>
          <p:nvSpPr>
            <p:cNvPr id="221" name="Google Shape;221;p27"/>
            <p:cNvSpPr/>
            <p:nvPr/>
          </p:nvSpPr>
          <p:spPr>
            <a:xfrm>
              <a:off x="3235590" y="3559302"/>
              <a:ext cx="2391410" cy="319405"/>
            </a:xfrm>
            <a:custGeom>
              <a:rect b="b" l="l" r="r" t="t"/>
              <a:pathLst>
                <a:path extrusionOk="0" h="319404" w="2391410">
                  <a:moveTo>
                    <a:pt x="0" y="0"/>
                  </a:moveTo>
                  <a:lnTo>
                    <a:pt x="62671" y="395"/>
                  </a:lnTo>
                  <a:lnTo>
                    <a:pt x="125078" y="1098"/>
                  </a:lnTo>
                  <a:lnTo>
                    <a:pt x="187202" y="2106"/>
                  </a:lnTo>
                  <a:lnTo>
                    <a:pt x="249024" y="3417"/>
                  </a:lnTo>
                  <a:lnTo>
                    <a:pt x="310527" y="5027"/>
                  </a:lnTo>
                  <a:lnTo>
                    <a:pt x="371692" y="6934"/>
                  </a:lnTo>
                  <a:lnTo>
                    <a:pt x="432500" y="9136"/>
                  </a:lnTo>
                  <a:lnTo>
                    <a:pt x="492933" y="11629"/>
                  </a:lnTo>
                  <a:lnTo>
                    <a:pt x="552972" y="14411"/>
                  </a:lnTo>
                  <a:lnTo>
                    <a:pt x="612600" y="17479"/>
                  </a:lnTo>
                  <a:lnTo>
                    <a:pt x="671797" y="20831"/>
                  </a:lnTo>
                  <a:lnTo>
                    <a:pt x="730546" y="24463"/>
                  </a:lnTo>
                  <a:lnTo>
                    <a:pt x="788827" y="28374"/>
                  </a:lnTo>
                  <a:lnTo>
                    <a:pt x="846623" y="32559"/>
                  </a:lnTo>
                  <a:lnTo>
                    <a:pt x="903915" y="37018"/>
                  </a:lnTo>
                  <a:lnTo>
                    <a:pt x="960685" y="41746"/>
                  </a:lnTo>
                  <a:lnTo>
                    <a:pt x="1016914" y="46741"/>
                  </a:lnTo>
                  <a:lnTo>
                    <a:pt x="1072583" y="52001"/>
                  </a:lnTo>
                  <a:lnTo>
                    <a:pt x="1127675" y="57523"/>
                  </a:lnTo>
                  <a:lnTo>
                    <a:pt x="1182171" y="63303"/>
                  </a:lnTo>
                  <a:lnTo>
                    <a:pt x="1236052" y="69341"/>
                  </a:lnTo>
                  <a:lnTo>
                    <a:pt x="1289300" y="75631"/>
                  </a:lnTo>
                  <a:lnTo>
                    <a:pt x="1341897" y="82173"/>
                  </a:lnTo>
                  <a:lnTo>
                    <a:pt x="1393825" y="88963"/>
                  </a:lnTo>
                  <a:lnTo>
                    <a:pt x="1445064" y="95998"/>
                  </a:lnTo>
                  <a:lnTo>
                    <a:pt x="1495596" y="103277"/>
                  </a:lnTo>
                  <a:lnTo>
                    <a:pt x="1545403" y="110795"/>
                  </a:lnTo>
                  <a:lnTo>
                    <a:pt x="1594467" y="118551"/>
                  </a:lnTo>
                  <a:lnTo>
                    <a:pt x="1642770" y="126542"/>
                  </a:lnTo>
                  <a:lnTo>
                    <a:pt x="1690291" y="134764"/>
                  </a:lnTo>
                  <a:lnTo>
                    <a:pt x="1737015" y="143216"/>
                  </a:lnTo>
                  <a:lnTo>
                    <a:pt x="1782921" y="151894"/>
                  </a:lnTo>
                  <a:lnTo>
                    <a:pt x="1827991" y="160797"/>
                  </a:lnTo>
                  <a:lnTo>
                    <a:pt x="1872207" y="169920"/>
                  </a:lnTo>
                  <a:lnTo>
                    <a:pt x="1915552" y="179262"/>
                  </a:lnTo>
                  <a:lnTo>
                    <a:pt x="1958005" y="188820"/>
                  </a:lnTo>
                  <a:lnTo>
                    <a:pt x="1999549" y="198590"/>
                  </a:lnTo>
                  <a:lnTo>
                    <a:pt x="2040165" y="208571"/>
                  </a:lnTo>
                  <a:lnTo>
                    <a:pt x="2079836" y="218760"/>
                  </a:lnTo>
                  <a:lnTo>
                    <a:pt x="2118542" y="229153"/>
                  </a:lnTo>
                  <a:lnTo>
                    <a:pt x="2156265" y="239749"/>
                  </a:lnTo>
                  <a:lnTo>
                    <a:pt x="2192986" y="250544"/>
                  </a:lnTo>
                  <a:lnTo>
                    <a:pt x="2263352" y="272723"/>
                  </a:lnTo>
                  <a:lnTo>
                    <a:pt x="2329491" y="295666"/>
                  </a:lnTo>
                  <a:lnTo>
                    <a:pt x="2360930" y="307418"/>
                  </a:lnTo>
                  <a:lnTo>
                    <a:pt x="2391257" y="319354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5535324" y="3795933"/>
              <a:ext cx="197485" cy="130175"/>
            </a:xfrm>
            <a:custGeom>
              <a:rect b="b" l="l" r="r" t="t"/>
              <a:pathLst>
                <a:path extrusionOk="0" h="130175" w="197485">
                  <a:moveTo>
                    <a:pt x="46812" y="0"/>
                  </a:moveTo>
                  <a:lnTo>
                    <a:pt x="92925" y="83350"/>
                  </a:lnTo>
                  <a:lnTo>
                    <a:pt x="0" y="104279"/>
                  </a:lnTo>
                  <a:lnTo>
                    <a:pt x="197205" y="130162"/>
                  </a:lnTo>
                  <a:lnTo>
                    <a:pt x="46812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3" name="Google Shape;223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37276" y="3840480"/>
              <a:ext cx="1056131" cy="352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13103" y="4415028"/>
              <a:ext cx="2560319" cy="13472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27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392112" y="748031"/>
            <a:ext cx="5796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Comunicación con Bases de Datos</a:t>
            </a:r>
            <a:endParaRPr sz="3300"/>
          </a:p>
        </p:txBody>
      </p:sp>
      <p:sp>
        <p:nvSpPr>
          <p:cNvPr id="233" name="Google Shape;233;p28"/>
          <p:cNvSpPr txBox="1"/>
          <p:nvPr/>
        </p:nvSpPr>
        <p:spPr>
          <a:xfrm>
            <a:off x="483552" y="1415417"/>
            <a:ext cx="8103234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sistemas de base de datos de gran tamaño, con  muchos usuarios, servidores y tablas forman el RDBMS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1095376" y="3196741"/>
            <a:ext cx="27984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introduce la sentencia SQL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7276" y="3840479"/>
            <a:ext cx="1056131" cy="91592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5798992" y="4128603"/>
            <a:ext cx="80835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509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 servidor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4538721" y="3301528"/>
            <a:ext cx="34963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sentencia se envía a Oracle Server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4478370" y="5470028"/>
            <a:ext cx="31013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Server devuelve los datos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8"/>
          <p:cNvGrpSpPr/>
          <p:nvPr/>
        </p:nvGrpSpPr>
        <p:grpSpPr>
          <a:xfrm>
            <a:off x="1101852" y="3649980"/>
            <a:ext cx="2392679" cy="505967"/>
            <a:chOff x="1101852" y="3649980"/>
            <a:chExt cx="2392679" cy="505967"/>
          </a:xfrm>
        </p:grpSpPr>
        <p:pic>
          <p:nvPicPr>
            <p:cNvPr id="240" name="Google Shape;24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58240" y="3712464"/>
              <a:ext cx="2336291" cy="336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64336" y="3649980"/>
              <a:ext cx="2304287" cy="5059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8"/>
            <p:cNvSpPr/>
            <p:nvPr/>
          </p:nvSpPr>
          <p:spPr>
            <a:xfrm>
              <a:off x="1101852" y="3656076"/>
              <a:ext cx="2321560" cy="321945"/>
            </a:xfrm>
            <a:custGeom>
              <a:rect b="b" l="l" r="r" t="t"/>
              <a:pathLst>
                <a:path extrusionOk="0" h="321945" w="2321560">
                  <a:moveTo>
                    <a:pt x="2321052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2321052" y="321563"/>
                  </a:lnTo>
                  <a:lnTo>
                    <a:pt x="2321052" y="0"/>
                  </a:lnTo>
                  <a:close/>
                </a:path>
              </a:pathLst>
            </a:custGeom>
            <a:solidFill>
              <a:srgbClr val="FFFF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1101852" y="3656076"/>
              <a:ext cx="2321560" cy="321945"/>
            </a:xfrm>
            <a:custGeom>
              <a:rect b="b" l="l" r="r" t="t"/>
              <a:pathLst>
                <a:path extrusionOk="0" h="321945" w="2321560">
                  <a:moveTo>
                    <a:pt x="0" y="0"/>
                  </a:moveTo>
                  <a:lnTo>
                    <a:pt x="2321052" y="0"/>
                  </a:lnTo>
                  <a:lnTo>
                    <a:pt x="2321052" y="321563"/>
                  </a:lnTo>
                  <a:lnTo>
                    <a:pt x="0" y="32156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DFE1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4" name="Google Shape;244;p28"/>
          <p:cNvSpPr txBox="1"/>
          <p:nvPr/>
        </p:nvSpPr>
        <p:spPr>
          <a:xfrm>
            <a:off x="1181101" y="3602949"/>
            <a:ext cx="204978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SELECT department_name  FROM	departments;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45" name="Google Shape;245;p28"/>
          <p:cNvGrpSpPr/>
          <p:nvPr/>
        </p:nvGrpSpPr>
        <p:grpSpPr>
          <a:xfrm>
            <a:off x="3829597" y="4873285"/>
            <a:ext cx="2348203" cy="630696"/>
            <a:chOff x="3829597" y="4873285"/>
            <a:chExt cx="2348203" cy="630696"/>
          </a:xfrm>
        </p:grpSpPr>
        <p:sp>
          <p:nvSpPr>
            <p:cNvPr id="246" name="Google Shape;246;p28"/>
            <p:cNvSpPr/>
            <p:nvPr/>
          </p:nvSpPr>
          <p:spPr>
            <a:xfrm>
              <a:off x="3945140" y="4873285"/>
              <a:ext cx="2232660" cy="574675"/>
            </a:xfrm>
            <a:custGeom>
              <a:rect b="b" l="l" r="r" t="t"/>
              <a:pathLst>
                <a:path extrusionOk="0" h="574675" w="2232660">
                  <a:moveTo>
                    <a:pt x="2232393" y="0"/>
                  </a:moveTo>
                  <a:lnTo>
                    <a:pt x="2218744" y="37442"/>
                  </a:lnTo>
                  <a:lnTo>
                    <a:pt x="2196520" y="74179"/>
                  </a:lnTo>
                  <a:lnTo>
                    <a:pt x="2165985" y="110146"/>
                  </a:lnTo>
                  <a:lnTo>
                    <a:pt x="2127404" y="145278"/>
                  </a:lnTo>
                  <a:lnTo>
                    <a:pt x="2081040" y="179511"/>
                  </a:lnTo>
                  <a:lnTo>
                    <a:pt x="2027158" y="212779"/>
                  </a:lnTo>
                  <a:lnTo>
                    <a:pt x="1966022" y="245018"/>
                  </a:lnTo>
                  <a:lnTo>
                    <a:pt x="1897897" y="276163"/>
                  </a:lnTo>
                  <a:lnTo>
                    <a:pt x="1861296" y="291305"/>
                  </a:lnTo>
                  <a:lnTo>
                    <a:pt x="1823046" y="306150"/>
                  </a:lnTo>
                  <a:lnTo>
                    <a:pt x="1783182" y="320688"/>
                  </a:lnTo>
                  <a:lnTo>
                    <a:pt x="1741735" y="334912"/>
                  </a:lnTo>
                  <a:lnTo>
                    <a:pt x="1698739" y="348814"/>
                  </a:lnTo>
                  <a:lnTo>
                    <a:pt x="1654227" y="362386"/>
                  </a:lnTo>
                  <a:lnTo>
                    <a:pt x="1608231" y="375620"/>
                  </a:lnTo>
                  <a:lnTo>
                    <a:pt x="1560786" y="388507"/>
                  </a:lnTo>
                  <a:lnTo>
                    <a:pt x="1511923" y="401040"/>
                  </a:lnTo>
                  <a:lnTo>
                    <a:pt x="1461677" y="413210"/>
                  </a:lnTo>
                  <a:lnTo>
                    <a:pt x="1410079" y="425010"/>
                  </a:lnTo>
                  <a:lnTo>
                    <a:pt x="1357164" y="436431"/>
                  </a:lnTo>
                  <a:lnTo>
                    <a:pt x="1302964" y="447465"/>
                  </a:lnTo>
                  <a:lnTo>
                    <a:pt x="1247512" y="458103"/>
                  </a:lnTo>
                  <a:lnTo>
                    <a:pt x="1190841" y="468339"/>
                  </a:lnTo>
                  <a:lnTo>
                    <a:pt x="1132984" y="478164"/>
                  </a:lnTo>
                  <a:lnTo>
                    <a:pt x="1073974" y="487569"/>
                  </a:lnTo>
                  <a:lnTo>
                    <a:pt x="1013845" y="496547"/>
                  </a:lnTo>
                  <a:lnTo>
                    <a:pt x="952629" y="505089"/>
                  </a:lnTo>
                  <a:lnTo>
                    <a:pt x="890359" y="513188"/>
                  </a:lnTo>
                  <a:lnTo>
                    <a:pt x="827069" y="520835"/>
                  </a:lnTo>
                  <a:lnTo>
                    <a:pt x="762791" y="528022"/>
                  </a:lnTo>
                  <a:lnTo>
                    <a:pt x="697558" y="534742"/>
                  </a:lnTo>
                  <a:lnTo>
                    <a:pt x="631404" y="540985"/>
                  </a:lnTo>
                  <a:lnTo>
                    <a:pt x="564362" y="546745"/>
                  </a:lnTo>
                  <a:lnTo>
                    <a:pt x="496464" y="552012"/>
                  </a:lnTo>
                  <a:lnTo>
                    <a:pt x="427743" y="556779"/>
                  </a:lnTo>
                  <a:lnTo>
                    <a:pt x="358233" y="561037"/>
                  </a:lnTo>
                  <a:lnTo>
                    <a:pt x="287967" y="564779"/>
                  </a:lnTo>
                  <a:lnTo>
                    <a:pt x="216978" y="567997"/>
                  </a:lnTo>
                  <a:lnTo>
                    <a:pt x="145298" y="570681"/>
                  </a:lnTo>
                  <a:lnTo>
                    <a:pt x="72961" y="572825"/>
                  </a:lnTo>
                  <a:lnTo>
                    <a:pt x="0" y="574421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3829597" y="5389681"/>
              <a:ext cx="191770" cy="114300"/>
            </a:xfrm>
            <a:custGeom>
              <a:rect b="b" l="l" r="r" t="t"/>
              <a:pathLst>
                <a:path extrusionOk="0" h="114300" w="191770">
                  <a:moveTo>
                    <a:pt x="189801" y="0"/>
                  </a:moveTo>
                  <a:lnTo>
                    <a:pt x="0" y="59410"/>
                  </a:lnTo>
                  <a:lnTo>
                    <a:pt x="191160" y="114287"/>
                  </a:lnTo>
                  <a:lnTo>
                    <a:pt x="114287" y="58051"/>
                  </a:lnTo>
                  <a:lnTo>
                    <a:pt x="189801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48" name="Google Shape;248;p28"/>
          <p:cNvGrpSpPr/>
          <p:nvPr/>
        </p:nvGrpSpPr>
        <p:grpSpPr>
          <a:xfrm>
            <a:off x="1213103" y="3559302"/>
            <a:ext cx="5480304" cy="2202929"/>
            <a:chOff x="1213103" y="3559302"/>
            <a:chExt cx="5480304" cy="2202929"/>
          </a:xfrm>
        </p:grpSpPr>
        <p:sp>
          <p:nvSpPr>
            <p:cNvPr id="249" name="Google Shape;249;p28"/>
            <p:cNvSpPr/>
            <p:nvPr/>
          </p:nvSpPr>
          <p:spPr>
            <a:xfrm>
              <a:off x="3235590" y="3559302"/>
              <a:ext cx="2391410" cy="319405"/>
            </a:xfrm>
            <a:custGeom>
              <a:rect b="b" l="l" r="r" t="t"/>
              <a:pathLst>
                <a:path extrusionOk="0" h="319404" w="2391410">
                  <a:moveTo>
                    <a:pt x="0" y="0"/>
                  </a:moveTo>
                  <a:lnTo>
                    <a:pt x="62671" y="395"/>
                  </a:lnTo>
                  <a:lnTo>
                    <a:pt x="125078" y="1098"/>
                  </a:lnTo>
                  <a:lnTo>
                    <a:pt x="187202" y="2106"/>
                  </a:lnTo>
                  <a:lnTo>
                    <a:pt x="249024" y="3417"/>
                  </a:lnTo>
                  <a:lnTo>
                    <a:pt x="310527" y="5027"/>
                  </a:lnTo>
                  <a:lnTo>
                    <a:pt x="371692" y="6934"/>
                  </a:lnTo>
                  <a:lnTo>
                    <a:pt x="432500" y="9136"/>
                  </a:lnTo>
                  <a:lnTo>
                    <a:pt x="492933" y="11629"/>
                  </a:lnTo>
                  <a:lnTo>
                    <a:pt x="552972" y="14411"/>
                  </a:lnTo>
                  <a:lnTo>
                    <a:pt x="612600" y="17479"/>
                  </a:lnTo>
                  <a:lnTo>
                    <a:pt x="671797" y="20831"/>
                  </a:lnTo>
                  <a:lnTo>
                    <a:pt x="730546" y="24463"/>
                  </a:lnTo>
                  <a:lnTo>
                    <a:pt x="788827" y="28374"/>
                  </a:lnTo>
                  <a:lnTo>
                    <a:pt x="846623" y="32559"/>
                  </a:lnTo>
                  <a:lnTo>
                    <a:pt x="903915" y="37018"/>
                  </a:lnTo>
                  <a:lnTo>
                    <a:pt x="960685" y="41746"/>
                  </a:lnTo>
                  <a:lnTo>
                    <a:pt x="1016914" y="46741"/>
                  </a:lnTo>
                  <a:lnTo>
                    <a:pt x="1072583" y="52001"/>
                  </a:lnTo>
                  <a:lnTo>
                    <a:pt x="1127675" y="57523"/>
                  </a:lnTo>
                  <a:lnTo>
                    <a:pt x="1182171" y="63303"/>
                  </a:lnTo>
                  <a:lnTo>
                    <a:pt x="1236052" y="69341"/>
                  </a:lnTo>
                  <a:lnTo>
                    <a:pt x="1289300" y="75631"/>
                  </a:lnTo>
                  <a:lnTo>
                    <a:pt x="1341897" y="82173"/>
                  </a:lnTo>
                  <a:lnTo>
                    <a:pt x="1393825" y="88963"/>
                  </a:lnTo>
                  <a:lnTo>
                    <a:pt x="1445064" y="95998"/>
                  </a:lnTo>
                  <a:lnTo>
                    <a:pt x="1495596" y="103277"/>
                  </a:lnTo>
                  <a:lnTo>
                    <a:pt x="1545403" y="110795"/>
                  </a:lnTo>
                  <a:lnTo>
                    <a:pt x="1594467" y="118551"/>
                  </a:lnTo>
                  <a:lnTo>
                    <a:pt x="1642770" y="126542"/>
                  </a:lnTo>
                  <a:lnTo>
                    <a:pt x="1690291" y="134764"/>
                  </a:lnTo>
                  <a:lnTo>
                    <a:pt x="1737015" y="143216"/>
                  </a:lnTo>
                  <a:lnTo>
                    <a:pt x="1782921" y="151894"/>
                  </a:lnTo>
                  <a:lnTo>
                    <a:pt x="1827991" y="160797"/>
                  </a:lnTo>
                  <a:lnTo>
                    <a:pt x="1872207" y="169920"/>
                  </a:lnTo>
                  <a:lnTo>
                    <a:pt x="1915552" y="179262"/>
                  </a:lnTo>
                  <a:lnTo>
                    <a:pt x="1958005" y="188820"/>
                  </a:lnTo>
                  <a:lnTo>
                    <a:pt x="1999549" y="198590"/>
                  </a:lnTo>
                  <a:lnTo>
                    <a:pt x="2040165" y="208571"/>
                  </a:lnTo>
                  <a:lnTo>
                    <a:pt x="2079836" y="218760"/>
                  </a:lnTo>
                  <a:lnTo>
                    <a:pt x="2118542" y="229153"/>
                  </a:lnTo>
                  <a:lnTo>
                    <a:pt x="2156265" y="239749"/>
                  </a:lnTo>
                  <a:lnTo>
                    <a:pt x="2192986" y="250544"/>
                  </a:lnTo>
                  <a:lnTo>
                    <a:pt x="2263352" y="272723"/>
                  </a:lnTo>
                  <a:lnTo>
                    <a:pt x="2329491" y="295666"/>
                  </a:lnTo>
                  <a:lnTo>
                    <a:pt x="2360930" y="307418"/>
                  </a:lnTo>
                  <a:lnTo>
                    <a:pt x="2391257" y="319354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5535324" y="3795933"/>
              <a:ext cx="197485" cy="130175"/>
            </a:xfrm>
            <a:custGeom>
              <a:rect b="b" l="l" r="r" t="t"/>
              <a:pathLst>
                <a:path extrusionOk="0" h="130175" w="197485">
                  <a:moveTo>
                    <a:pt x="46812" y="0"/>
                  </a:moveTo>
                  <a:lnTo>
                    <a:pt x="92925" y="83350"/>
                  </a:lnTo>
                  <a:lnTo>
                    <a:pt x="0" y="104279"/>
                  </a:lnTo>
                  <a:lnTo>
                    <a:pt x="197205" y="130162"/>
                  </a:lnTo>
                  <a:lnTo>
                    <a:pt x="46812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1" name="Google Shape;251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37276" y="3840480"/>
              <a:ext cx="1056131" cy="352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13103" y="4415028"/>
              <a:ext cx="2560319" cy="13472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" name="Google Shape;253;p28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254" name="Google Shape;254;p2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392112" y="748031"/>
            <a:ext cx="499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Categorías de Sentencias SQL</a:t>
            </a:r>
            <a:endParaRPr sz="3300"/>
          </a:p>
        </p:txBody>
      </p:sp>
      <p:sp>
        <p:nvSpPr>
          <p:cNvPr id="261" name="Google Shape;261;p29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262" name="Google Shape;262;p2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4" name="Google Shape;264;p29"/>
          <p:cNvSpPr txBox="1"/>
          <p:nvPr/>
        </p:nvSpPr>
        <p:spPr>
          <a:xfrm>
            <a:off x="483552" y="1415417"/>
            <a:ext cx="7956550" cy="257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7879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sentencias SQL se agrupan en varias categorías  dependiendo de las funciones que realizan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6987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curso, aprenderá a utilizar SQL para ejecutar  estas sentencias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sentencia de recuperación de datos recupera datos  de la base de datos mediante la palabra clave SELECT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/>
          <p:nvPr>
            <p:ph type="title"/>
          </p:nvPr>
        </p:nvSpPr>
        <p:spPr>
          <a:xfrm>
            <a:off x="392112" y="748031"/>
            <a:ext cx="499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Categorías de Sentencias SQL</a:t>
            </a:r>
            <a:endParaRPr sz="3300"/>
          </a:p>
        </p:txBody>
      </p:sp>
      <p:sp>
        <p:nvSpPr>
          <p:cNvPr id="270" name="Google Shape;270;p30"/>
          <p:cNvSpPr txBox="1"/>
          <p:nvPr/>
        </p:nvSpPr>
        <p:spPr>
          <a:xfrm>
            <a:off x="483552" y="1393401"/>
            <a:ext cx="7724140" cy="1998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Hay cuatro categorías principales de sentencias SQL: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manipulación de datos (DML)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definición de datos (DDL)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control de transacciones (TCL)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control de datos (DCL)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30"/>
          <p:cNvGrpSpPr/>
          <p:nvPr/>
        </p:nvGrpSpPr>
        <p:grpSpPr>
          <a:xfrm>
            <a:off x="5250179" y="3752088"/>
            <a:ext cx="3041903" cy="2392679"/>
            <a:chOff x="5250179" y="3752088"/>
            <a:chExt cx="3041903" cy="2392679"/>
          </a:xfrm>
        </p:grpSpPr>
        <p:pic>
          <p:nvPicPr>
            <p:cNvPr id="272" name="Google Shape;27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50179" y="5457444"/>
              <a:ext cx="3041903" cy="687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70675" y="3752088"/>
              <a:ext cx="2043671" cy="23149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30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type="title"/>
          </p:nvPr>
        </p:nvSpPr>
        <p:spPr>
          <a:xfrm>
            <a:off x="392112" y="748031"/>
            <a:ext cx="499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Categorías de Sentencias SQL</a:t>
            </a:r>
            <a:endParaRPr sz="3300"/>
          </a:p>
        </p:txBody>
      </p:sp>
      <p:sp>
        <p:nvSpPr>
          <p:cNvPr id="282" name="Google Shape;282;p31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85" name="Google Shape;285;p31"/>
          <p:cNvSpPr txBox="1"/>
          <p:nvPr/>
        </p:nvSpPr>
        <p:spPr>
          <a:xfrm>
            <a:off x="483552" y="1393401"/>
            <a:ext cx="8046720" cy="374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manipulación de datos (DML)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8509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sentencias DML comienzan con INSERT, UPDATE, DELETE  o MERGE y se utilizan para modificar los datos de la tabla  introduciendo nuevas filas, cambiando las filas existentes o  eliminando las filas existentes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definición de datos (DDL)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sentencias DDL crean, cambian y eliminan las estructuras  de datos de la base de datos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15760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palabras clave CREATE, ALTER, DROP, RENAME y  TRUNCATE comienzan las sentencias DDL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>
            <p:ph type="title"/>
          </p:nvPr>
        </p:nvSpPr>
        <p:spPr>
          <a:xfrm>
            <a:off x="392112" y="748031"/>
            <a:ext cx="499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Categorías de Sentencias SQL</a:t>
            </a:r>
            <a:endParaRPr sz="3300"/>
          </a:p>
        </p:txBody>
      </p:sp>
      <p:sp>
        <p:nvSpPr>
          <p:cNvPr id="291" name="Google Shape;291;p32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292" name="Google Shape;292;p3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94" name="Google Shape;294;p32"/>
          <p:cNvSpPr txBox="1"/>
          <p:nvPr/>
        </p:nvSpPr>
        <p:spPr>
          <a:xfrm>
            <a:off x="483552" y="1393401"/>
            <a:ext cx="7882800" cy="4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control de transacciones (TCL)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2227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sentencias TCL se utilizan para gestionar los cambios  realizados por las sentencias DML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479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cambios de los datos se ejecutan mediante COMMIT,  ROLLBACK y SAVEPOINT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5750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cambios del TCL se pueden agrupar en transacciones  lógicas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control de datos (DCL)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palabras clave del DCL GRANT y REVOKE se utilizan para  proporcionar o eliminar derechos de acceso a la base de  datos y las estructuras dentro de ella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300" name="Google Shape;300;p33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301" name="Google Shape;301;p3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03" name="Google Shape;303;p33"/>
          <p:cNvSpPr txBox="1"/>
          <p:nvPr/>
        </p:nvSpPr>
        <p:spPr>
          <a:xfrm>
            <a:off x="483552" y="1415417"/>
            <a:ext cx="7702550" cy="311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control de datos (DCL)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definición de datos (DDL)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Lenguaje de manipulación de datos (DML)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Field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Clave ajena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RDBMS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309" name="Google Shape;309;p34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310" name="Google Shape;310;p3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12" name="Google Shape;312;p34"/>
          <p:cNvSpPr txBox="1"/>
          <p:nvPr/>
        </p:nvSpPr>
        <p:spPr>
          <a:xfrm>
            <a:off x="483552" y="1415417"/>
            <a:ext cx="7702550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Clave primaria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Fila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Control de transacciones (TCL)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318" name="Google Shape;318;p35"/>
          <p:cNvSpPr txBox="1"/>
          <p:nvPr/>
        </p:nvSpPr>
        <p:spPr>
          <a:xfrm>
            <a:off x="483552" y="1393401"/>
            <a:ext cx="7546975" cy="22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Definir y dar un ejemplo de una base de datos relacional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38455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Identificar los términos clave de la tabla, incluidos fila,  columna, campo, clave primaria y clave ajena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8989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Relacionar la importancia de las bases de datos con la  vida diaria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35"/>
          <p:cNvGrpSpPr/>
          <p:nvPr/>
        </p:nvGrpSpPr>
        <p:grpSpPr>
          <a:xfrm>
            <a:off x="4379976" y="3843528"/>
            <a:ext cx="4140707" cy="2261615"/>
            <a:chOff x="4379976" y="3843528"/>
            <a:chExt cx="4140707" cy="2261615"/>
          </a:xfrm>
        </p:grpSpPr>
        <p:pic>
          <p:nvPicPr>
            <p:cNvPr id="320" name="Google Shape;320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79976" y="3843528"/>
              <a:ext cx="4140707" cy="2261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4035552"/>
              <a:ext cx="3756659" cy="18775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2" name="Google Shape;322;p35"/>
          <p:cNvSpPr txBox="1"/>
          <p:nvPr>
            <p:ph idx="10" type="dt"/>
          </p:nvPr>
        </p:nvSpPr>
        <p:spPr>
          <a:xfrm>
            <a:off x="2827230" y="6510552"/>
            <a:ext cx="17571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Tecnología de Base de Datos Relacional</a:t>
            </a:r>
            <a:endParaRPr/>
          </a:p>
        </p:txBody>
      </p:sp>
      <p:sp>
        <p:nvSpPr>
          <p:cNvPr id="323" name="Google Shape;323;p3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