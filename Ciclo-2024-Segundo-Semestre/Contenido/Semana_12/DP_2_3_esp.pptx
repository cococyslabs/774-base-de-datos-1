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DB9B9D-511F-4F92-8031-8E4E92052813}">
  <a:tblStyle styleId="{6CDB9B9D-511F-4F92-8031-8E4E920528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Incluyendo significa que también se  devolverán los valores  coincidentes con los límites  inferior y superior.</a:t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10:10:10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Respuesta: Si ha dicho 1, 2, 3, y  4, ¡es lo correcto!</a:t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 comparar los valores NULL, NO  PUEDE utilizar los operadores  con el signo igual (=) o distinto  de (! =). La consulta se  ejecutará, pero no devolverá  datos, ya que el valor real de  NULL es desconocido, por lo que  ¿cómo podemos comprobar si  algo es igual o distinto a un valor  que desconocemos?</a:t>
            </a:r>
            <a:endParaRPr/>
          </a:p>
        </p:txBody>
      </p:sp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2771777"/>
            <a:ext cx="81585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55904" y="6510552"/>
            <a:ext cx="1289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6858000" w="9144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FE1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023" y="192023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3" y="5751576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4895" y="2514600"/>
            <a:ext cx="5474207" cy="18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2855904" y="6510552"/>
            <a:ext cx="1289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9" name="Google Shape;6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1" name="Google Shape;7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5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962879" y="2400950"/>
            <a:ext cx="3637279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2-3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Operadores de Comparación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58003" y="3411338"/>
            <a:ext cx="5058157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83552" y="1393401"/>
            <a:ext cx="8116570" cy="331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2700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el operador de comparación adecuado para devolver  un resultado deseado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9243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Demostrar un uso adecuado de las condiciones BETWEEN,  IN y LIKE para devolver un resultado deseado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Distinguir entre cero y NULL, el cual significa que no está  disponible, que está sin asignar, que es desconocido o que no  es aplicable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el uso de las condiciones de comparación y NULL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0" name="Google Shape;90;p17"/>
          <p:cNvSpPr txBox="1"/>
          <p:nvPr/>
        </p:nvSpPr>
        <p:spPr>
          <a:xfrm>
            <a:off x="483552" y="1415417"/>
            <a:ext cx="7632700" cy="3954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comparaciones se utilizan en las conversaciones  diarias sin realmente pensar en ello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560955" rtl="0" algn="l">
              <a:lnSpc>
                <a:spcPct val="107916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comparaciones se utilizan en las  conversaciones diarias sin realmente  pensar en ello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56095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comparaciones se utilizan en las  conversaciones diarias sin realmente  pensar en ello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560955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comparaciones se utilizan en las  conversaciones diarias sin realmente  pensar en ello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7"/>
          <p:cNvGrpSpPr/>
          <p:nvPr/>
        </p:nvGrpSpPr>
        <p:grpSpPr>
          <a:xfrm>
            <a:off x="5306568" y="2958084"/>
            <a:ext cx="3257299" cy="3227831"/>
            <a:chOff x="5306568" y="2958084"/>
            <a:chExt cx="3257299" cy="3227831"/>
          </a:xfrm>
        </p:grpSpPr>
        <p:pic>
          <p:nvPicPr>
            <p:cNvPr id="92" name="Google Shape;9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06568" y="5295900"/>
              <a:ext cx="3252215" cy="890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07480" y="3002280"/>
              <a:ext cx="2011679" cy="3017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7"/>
            <p:cNvSpPr/>
            <p:nvPr/>
          </p:nvSpPr>
          <p:spPr>
            <a:xfrm>
              <a:off x="6463287" y="2958084"/>
              <a:ext cx="2100580" cy="3106420"/>
            </a:xfrm>
            <a:custGeom>
              <a:rect b="b" l="l" r="r" t="t"/>
              <a:pathLst>
                <a:path extrusionOk="0" h="3106420" w="2100579">
                  <a:moveTo>
                    <a:pt x="378523" y="0"/>
                  </a:moveTo>
                  <a:lnTo>
                    <a:pt x="2100148" y="0"/>
                  </a:lnTo>
                  <a:lnTo>
                    <a:pt x="2100148" y="2727706"/>
                  </a:lnTo>
                  <a:lnTo>
                    <a:pt x="2092540" y="2803093"/>
                  </a:lnTo>
                  <a:lnTo>
                    <a:pt x="2070506" y="2874543"/>
                  </a:lnTo>
                  <a:lnTo>
                    <a:pt x="2035492" y="2938741"/>
                  </a:lnTo>
                  <a:lnTo>
                    <a:pt x="1989353" y="2994748"/>
                  </a:lnTo>
                  <a:lnTo>
                    <a:pt x="1933054" y="3041573"/>
                  </a:lnTo>
                  <a:lnTo>
                    <a:pt x="1868347" y="3076625"/>
                  </a:lnTo>
                  <a:lnTo>
                    <a:pt x="1797011" y="3098622"/>
                  </a:lnTo>
                  <a:lnTo>
                    <a:pt x="1759140" y="3104489"/>
                  </a:lnTo>
                  <a:lnTo>
                    <a:pt x="1721612" y="3106229"/>
                  </a:lnTo>
                  <a:lnTo>
                    <a:pt x="0" y="3106229"/>
                  </a:lnTo>
                  <a:lnTo>
                    <a:pt x="0" y="378523"/>
                  </a:lnTo>
                  <a:lnTo>
                    <a:pt x="1739" y="341007"/>
                  </a:lnTo>
                  <a:lnTo>
                    <a:pt x="7594" y="303136"/>
                  </a:lnTo>
                  <a:lnTo>
                    <a:pt x="30060" y="231698"/>
                  </a:lnTo>
                  <a:lnTo>
                    <a:pt x="64643" y="167487"/>
                  </a:lnTo>
                  <a:lnTo>
                    <a:pt x="111340" y="111340"/>
                  </a:lnTo>
                  <a:lnTo>
                    <a:pt x="167487" y="64643"/>
                  </a:lnTo>
                  <a:lnTo>
                    <a:pt x="231686" y="30060"/>
                  </a:lnTo>
                  <a:lnTo>
                    <a:pt x="303136" y="7607"/>
                  </a:lnTo>
                  <a:lnTo>
                    <a:pt x="340995" y="1739"/>
                  </a:lnTo>
                  <a:lnTo>
                    <a:pt x="378523" y="0"/>
                  </a:lnTo>
                  <a:close/>
                </a:path>
              </a:pathLst>
            </a:custGeom>
            <a:noFill/>
            <a:ln cap="flat" cmpd="sng" w="88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83552" y="1415417"/>
            <a:ext cx="8159115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necesidad de expresar estos tipos de comparaciones  también existe en SQL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445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condiciones de comparación se utilizan para buscar  datos en una tabla que cumplan determinadas  condiciones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75628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Poder formular una cláusula SELECT para devolver  datos específicos es una función potente de SQL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92112" y="748031"/>
            <a:ext cx="4896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Operadores de Comparación</a:t>
            </a:r>
            <a:endParaRPr sz="3300"/>
          </a:p>
        </p:txBody>
      </p:sp>
      <p:sp>
        <p:nvSpPr>
          <p:cNvPr id="112" name="Google Shape;112;p19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13" name="Google Shape;113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483552" y="1415417"/>
            <a:ext cx="8034020" cy="3719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64579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Ya está familiarizado con los operadores de  comparación, como igual que (=), menor que (&lt;) y  mayor que (&gt;)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SQL tiene otros operadores que agregan funcionalidad  para recuperar juegos específicos de los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Son los siguientes: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BETWEEN…AND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LIKE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92112" y="748031"/>
            <a:ext cx="2805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BETWEEN...AND</a:t>
            </a:r>
            <a:endParaRPr sz="3300"/>
          </a:p>
        </p:txBody>
      </p:sp>
      <p:sp>
        <p:nvSpPr>
          <p:cNvPr id="121" name="Google Shape;121;p20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22" name="Google Shape;122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83552" y="1415417"/>
            <a:ext cx="8068309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operador BETWEEN...AND se utiliza para seleccionar  y mostrar las filas según un rango de valores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01930" rtl="0" algn="just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se utiliza con la cláusula WHERE, la condición  BETWEEN...AND devolverá un rango de valores entre  los límites inferior y superior, incluyendo estos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92112" y="748031"/>
            <a:ext cx="2776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BETWEEN…AND</a:t>
            </a:r>
            <a:endParaRPr sz="3300"/>
          </a:p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83552" y="1387985"/>
            <a:ext cx="8178165" cy="2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Tenga en cuenta que en el ejemplo de la base de datos  Employees, los valores devueltos incluyen el valor del límite  inferior y el valor del límite superior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629285" rtl="0" algn="l">
              <a:lnSpc>
                <a:spcPct val="96153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valores especificados con la condición BETWEEN se  incluyen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300355" rtl="0" algn="l">
              <a:lnSpc>
                <a:spcPct val="96153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Tenga en cuenta también que el valor de límite inferior se  debe enumerar en primer lugar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83552" y="4748405"/>
            <a:ext cx="5354955" cy="1056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Tenga en cuenta también que el valor  de límite inferior se debe enumerar en  primer lugar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21"/>
          <p:cNvGraphicFramePr/>
          <p:nvPr/>
        </p:nvGraphicFramePr>
        <p:xfrm>
          <a:off x="6351588" y="3956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1250325"/>
                <a:gridCol w="868050"/>
              </a:tblGrid>
              <a:tr h="3618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18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18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18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21"/>
          <p:cNvSpPr txBox="1"/>
          <p:nvPr/>
        </p:nvSpPr>
        <p:spPr>
          <a:xfrm>
            <a:off x="405384" y="3956303"/>
            <a:ext cx="5316220" cy="84455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085" marR="0" rtl="0" algn="l">
              <a:lnSpc>
                <a:spcPct val="100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salary BETWEEN 9000 AND 11000;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92112" y="748031"/>
            <a:ext cx="2776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BETWEEN…AND</a:t>
            </a:r>
            <a:endParaRPr sz="3300"/>
          </a:p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483552" y="1415417"/>
            <a:ext cx="712597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Usar BETWEEN...AND es lo mismo que utilizar la  siguiente expresión: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83552" y="2771777"/>
            <a:ext cx="8158500" cy="19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De hecho, no hay ningún beneficio en el rendimiento al  usar una expresión u otra</a:t>
            </a:r>
            <a:endParaRPr/>
          </a:p>
          <a:p>
            <a:pPr indent="-177800" lvl="0" marL="184785" marR="997585" rtl="0" algn="l">
              <a:lnSpc>
                <a:spcPct val="108214"/>
              </a:lnSpc>
              <a:spcBef>
                <a:spcPts val="780"/>
              </a:spcBef>
              <a:spcAft>
                <a:spcPts val="120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Para mayor simplicidad al leer código, utilizamos  BETWEEN...AND</a:t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393191" y="2295144"/>
            <a:ext cx="8345805" cy="4819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salary &gt;= 9000 AND salary &lt;=11000;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92112" y="748031"/>
            <a:ext cx="401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IN</a:t>
            </a:r>
            <a:endParaRPr sz="3300"/>
          </a:p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54" name="Google Shape;154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83552" y="1415417"/>
            <a:ext cx="8068309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826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condición IN también se conoce como la "condición  de miembro"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6512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utiliza para probar si un valor está en un juego de  valores especificado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IN se podría utilizar para identificar a los  alumnos cuyos números de identificación sean 2349,  7354 o 4333, o a las personas cuyos código de llamada  por teléfono internacional sean 1735, 82 o 10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23"/>
          <p:cNvGraphicFramePr/>
          <p:nvPr/>
        </p:nvGraphicFramePr>
        <p:xfrm>
          <a:off x="5165725" y="4787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795025"/>
                <a:gridCol w="1566550"/>
                <a:gridCol w="1216650"/>
              </a:tblGrid>
              <a:tr h="498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STATE_PROVINCE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097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Toronto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Ontario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5097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23"/>
          <p:cNvSpPr txBox="1"/>
          <p:nvPr/>
        </p:nvSpPr>
        <p:spPr>
          <a:xfrm>
            <a:off x="405384" y="4792979"/>
            <a:ext cx="4594860" cy="12744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45085" marR="719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city, state_province,  country_id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locations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country_id IN('UK', 'CA');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92112" y="748031"/>
            <a:ext cx="401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IN</a:t>
            </a:r>
            <a:endParaRPr sz="3300"/>
          </a:p>
        </p:txBody>
      </p:sp>
      <p:sp>
        <p:nvSpPr>
          <p:cNvPr id="164" name="Google Shape;164;p24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65" name="Google Shape;165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83552" y="1415417"/>
            <a:ext cx="799147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ejemplo, la cláusula WHERE también se puede  escribir como un juego de condiciones OR: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483552" y="4228721"/>
            <a:ext cx="761365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igual que con BETWEEN...AND, la condición IN se  puede escribir con sintaxis igual de eficaz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405384" y="2471927"/>
            <a:ext cx="8357870" cy="148463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45720" marR="2980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city, state_province, country_id  FROM locations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country_id IN('UK', 'CA');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country_id = 'UK' OR country_id = 'CA';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sp>
        <p:nvSpPr>
          <p:cNvPr id="175" name="Google Shape;175;p25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76" name="Google Shape;176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483552" y="1381889"/>
            <a:ext cx="7870825" cy="41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¿Alguna vez ha ido de compras buscando algo que ha  visto en una revista o en televisión, pero no estaba  seguro del artículo exacto?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77165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las búsquedas en las bases de datos pasa más o  menos lo mismo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4775" rtl="0" algn="just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administrador puede saber que el apellido de un  empleado empieza por "S", pero no saber el nombre  completo del empleado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589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Afortunadamente, en SQL, la condición LIKE permite  seleccionar las filas que coincidan con caracteres,  fechas o patrones de números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sp>
        <p:nvSpPr>
          <p:cNvPr id="184" name="Google Shape;184;p26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85" name="Google Shape;185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6" name="Google Shape;186;p26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483552" y="1415417"/>
            <a:ext cx="7915275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Dos símbolos, el (%) y el guión bajo (_), llamados  caracteres comodín, se pueden utilizar para crear una  cadena de búsqueda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1155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símbolo del porcentaje (%) se utiliza para  representar cualquier secuencia de cero o más  caracteres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26"/>
          <p:cNvGraphicFramePr/>
          <p:nvPr/>
        </p:nvGraphicFramePr>
        <p:xfrm>
          <a:off x="4924870" y="4157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1299200"/>
              </a:tblGrid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26"/>
          <p:cNvSpPr txBox="1"/>
          <p:nvPr/>
        </p:nvSpPr>
        <p:spPr>
          <a:xfrm>
            <a:off x="405384" y="4163567"/>
            <a:ext cx="4277995" cy="12471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84150">
            <a:spAutoFit/>
          </a:bodyPr>
          <a:lstStyle/>
          <a:p>
            <a:pPr indent="0" lvl="0" marL="104139" marR="19799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LIKE '_o%';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sp>
        <p:nvSpPr>
          <p:cNvPr id="195" name="Google Shape;195;p27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196" name="Google Shape;196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483552" y="1415417"/>
            <a:ext cx="8002270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símbolo del carácter de subrayado (_) se utiliza para  representar un único carácter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7495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ejemplo que se muestra a continuación, se  devolverán todos los empleados cuyos apellidos  empiecen por cualquier letra seguida de una "o" y, a  continuación, seguidos de cualquier otro número de  letras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27"/>
          <p:cNvGraphicFramePr/>
          <p:nvPr/>
        </p:nvGraphicFramePr>
        <p:xfrm>
          <a:off x="4924870" y="4355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1299200"/>
              </a:tblGrid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68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27"/>
          <p:cNvSpPr txBox="1"/>
          <p:nvPr/>
        </p:nvSpPr>
        <p:spPr>
          <a:xfrm>
            <a:off x="405384" y="4361688"/>
            <a:ext cx="4277995" cy="12471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84150">
            <a:spAutoFit/>
          </a:bodyPr>
          <a:lstStyle/>
          <a:p>
            <a:pPr indent="0" lvl="0" marL="104139" marR="19799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LIKE '_o%';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sp>
        <p:nvSpPr>
          <p:cNvPr id="206" name="Google Shape;206;p28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07" name="Google Shape;207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483552" y="2387729"/>
            <a:ext cx="7475220" cy="235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¿Cuáles de los siguientes apellidos se podría haber  devuelto con la consulta anterior?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1. Sommersmith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2. Oog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3. Fong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4. Mo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405384" y="1452372"/>
            <a:ext cx="8345805" cy="84328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4139" marR="0" rtl="0" algn="l">
              <a:lnSpc>
                <a:spcPct val="11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LIKE '_o%';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sp>
        <p:nvSpPr>
          <p:cNvPr id="216" name="Google Shape;216;p29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17" name="Google Shape;217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483552" y="1393401"/>
            <a:ext cx="8014334" cy="1845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opción adicional que es importante: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necesite tener una coincidencia exacta para una  cadena que tenga un carácter % o _, deberá indicar que  dichos caracteres no son comodines sino parte del elemento  que está buscando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sp>
        <p:nvSpPr>
          <p:cNvPr id="225" name="Google Shape;225;p30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26" name="Google Shape;226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7" name="Google Shape;227;p30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483552" y="1387985"/>
            <a:ext cx="8124825" cy="2426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opción ESCAPE se puede utilizar para indicar que los  caracteres _ o % son parte del nombre, no valores comodín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411480" rtl="0" algn="l">
              <a:lnSpc>
                <a:spcPct val="96153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si deseamos recuperar el JOB_ID de un  empleado de la tabla employees que contenga el patrón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150" marR="617855" rtl="0" algn="just">
              <a:lnSpc>
                <a:spcPct val="8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_R, tendríamos que utilizar un carácter de escape para  indicar que estamos buscando un guión bajo, y no solo  cualquier carácter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483552" y="4647821"/>
            <a:ext cx="7181850" cy="1056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172720" lvl="0" marL="184785" marR="508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ejemplo, se utiliza la barra invertida '\' como  carácter de escape, pero se puede utilizar cualquier  carácter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405384" y="3880103"/>
            <a:ext cx="8345805" cy="85851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1285" marR="0" rtl="0" algn="l">
              <a:lnSpc>
                <a:spcPct val="115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job_id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1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1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job_id LIKE '%\_R%' ESCAPE '\';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" name="Google Shape;236;p31"/>
          <p:cNvSpPr txBox="1"/>
          <p:nvPr/>
        </p:nvSpPr>
        <p:spPr>
          <a:xfrm>
            <a:off x="483552" y="1491489"/>
            <a:ext cx="356870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457200" lvl="0" marL="4699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la opción ESCAPE,  se devolverían todos  los empleados que  tuvieran una R en sus  JOB_ID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1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38" name="Google Shape;238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 txBox="1"/>
          <p:nvPr>
            <p:ph type="title"/>
          </p:nvPr>
        </p:nvSpPr>
        <p:spPr>
          <a:xfrm>
            <a:off x="392112" y="748031"/>
            <a:ext cx="730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LIKE</a:t>
            </a:r>
            <a:endParaRPr sz="3300"/>
          </a:p>
        </p:txBody>
      </p:sp>
      <p:graphicFrame>
        <p:nvGraphicFramePr>
          <p:cNvPr id="241" name="Google Shape;241;p31"/>
          <p:cNvGraphicFramePr/>
          <p:nvPr/>
        </p:nvGraphicFramePr>
        <p:xfrm>
          <a:off x="5590292" y="1096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1335400"/>
                <a:gridCol w="1818000"/>
              </a:tblGrid>
              <a:tr h="243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ST_CLERK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MK_REP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AC_MGR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AD_PRES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ST_CLERK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ST_CLERK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8375"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ST_CLERK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31"/>
          <p:cNvSpPr txBox="1"/>
          <p:nvPr/>
        </p:nvSpPr>
        <p:spPr>
          <a:xfrm>
            <a:off x="405384" y="3733800"/>
            <a:ext cx="3839210" cy="85851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1285" marR="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job_id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1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1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job_id LIKE '%_R%'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392112" y="748031"/>
            <a:ext cx="3636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IS NULL, IS NOT NULL</a:t>
            </a:r>
            <a:endParaRPr sz="3300"/>
          </a:p>
        </p:txBody>
      </p:sp>
      <p:sp>
        <p:nvSpPr>
          <p:cNvPr id="248" name="Google Shape;248;p32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49" name="Google Shape;249;p3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0" name="Google Shape;250;p32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483552" y="1355371"/>
            <a:ext cx="8131809" cy="4375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¿Se acuerda de NULL?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39573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el valor que no está disponible, sin asignar,  desconocido o que no es aplicable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Poder probar el valor NULL es a menudo aconsejable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3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posible que desee saber todas las fechas en junio en  las que, ahora mismo, no tenga programado un  concierto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20014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posible que desee saber todos los clientes que no  tengan números de teléfono registrados en su base de 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392112" y="748031"/>
            <a:ext cx="3636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IS NULL, IS NOT NULL</a:t>
            </a:r>
            <a:endParaRPr sz="3300"/>
          </a:p>
        </p:txBody>
      </p:sp>
      <p:sp>
        <p:nvSpPr>
          <p:cNvPr id="257" name="Google Shape;257;p33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58" name="Google Shape;258;p3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483552" y="1415417"/>
            <a:ext cx="8164830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7213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condición IS NULL prueba los datos que no están  disponibles, sin asignar, o datos desconocidos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IS NOT NULL prueba los datos disponibles en la base de 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1275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ejemplo de la siguiente diapositiva, la cláusula  WHERE se escribe para recuperar todos los apellidos  de aquellos empleados que no tengan un jefe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92112" y="748031"/>
            <a:ext cx="3636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IS NULL, IS NOT NULL</a:t>
            </a:r>
            <a:endParaRPr sz="3300"/>
          </a:p>
        </p:txBody>
      </p:sp>
      <p:sp>
        <p:nvSpPr>
          <p:cNvPr id="266" name="Google Shape;266;p34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67" name="Google Shape;267;p3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483552" y="2387729"/>
            <a:ext cx="797369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empleado King es el Presidente de la compañía, por  lo que no tiene jefe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483552" y="4713353"/>
            <a:ext cx="8176259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IS NOT NULL devuelve las filas que tienen un valor en la  columna commission_pct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34"/>
          <p:cNvGraphicFramePr/>
          <p:nvPr/>
        </p:nvGraphicFramePr>
        <p:xfrm>
          <a:off x="5435444" y="32609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1427475"/>
                <a:gridCol w="1817375"/>
              </a:tblGrid>
              <a:tr h="2960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COMMISSION_PCT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0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0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0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0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.15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34"/>
          <p:cNvSpPr txBox="1"/>
          <p:nvPr/>
        </p:nvSpPr>
        <p:spPr>
          <a:xfrm>
            <a:off x="629412" y="1408175"/>
            <a:ext cx="4227830" cy="78359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541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manager_id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54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54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manager_id IS NULL;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629412" y="3267455"/>
            <a:ext cx="4634865" cy="120396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63175">
            <a:spAutoFit/>
          </a:bodyPr>
          <a:lstStyle/>
          <a:p>
            <a:pPr indent="0" lvl="0" marL="45720" marR="210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commission_pct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commission_pct IS NOT NULL;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74" name="Google Shape;274;p34"/>
          <p:cNvGraphicFramePr/>
          <p:nvPr/>
        </p:nvGraphicFramePr>
        <p:xfrm>
          <a:off x="5435444" y="1402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{6CDB9B9D-511F-4F92-8031-8E4E92052813}</a:tableStyleId>
              </a:tblPr>
              <a:tblGrid>
                <a:gridCol w="1622425"/>
                <a:gridCol w="1622425"/>
              </a:tblGrid>
              <a:tr h="3314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14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280" name="Google Shape;280;p35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81" name="Google Shape;281;p3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82" name="Google Shape;282;p35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483552" y="1415417"/>
            <a:ext cx="7702550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BETWEEN…AND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LIKE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IS NULL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IS NOT NULL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289" name="Google Shape;289;p36"/>
          <p:cNvSpPr txBox="1"/>
          <p:nvPr>
            <p:ph idx="10" type="dt"/>
          </p:nvPr>
        </p:nvSpPr>
        <p:spPr>
          <a:xfrm>
            <a:off x="2855904" y="6510552"/>
            <a:ext cx="1289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</a:t>
            </a:r>
            <a:endParaRPr/>
          </a:p>
        </p:txBody>
      </p:sp>
      <p:sp>
        <p:nvSpPr>
          <p:cNvPr id="290" name="Google Shape;290;p3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483552" y="1393401"/>
            <a:ext cx="8113395" cy="298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2382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el operador de comparación adecuado para devolver  un resultado deseado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699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Demostrar un uso adecuado de las condiciones BETWEEN, IN  y LIKE para devolver un resultado deseado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Distinguir entre cero y NULL, este último significa que no está  disponible, sin asignar, desconocido o que no es aplicable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el uso de las condiciones de comparación y NULL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